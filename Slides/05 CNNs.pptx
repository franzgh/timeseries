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68"/>
  </p:notesMasterIdLst>
  <p:sldIdLst>
    <p:sldId id="256" r:id="rId5"/>
    <p:sldId id="270" r:id="rId6"/>
    <p:sldId id="271" r:id="rId7"/>
    <p:sldId id="257" r:id="rId8"/>
    <p:sldId id="272" r:id="rId9"/>
    <p:sldId id="258" r:id="rId10"/>
    <p:sldId id="273" r:id="rId11"/>
    <p:sldId id="274" r:id="rId12"/>
    <p:sldId id="259" r:id="rId13"/>
    <p:sldId id="275" r:id="rId14"/>
    <p:sldId id="260" r:id="rId15"/>
    <p:sldId id="276" r:id="rId16"/>
    <p:sldId id="261" r:id="rId17"/>
    <p:sldId id="277" r:id="rId18"/>
    <p:sldId id="278" r:id="rId19"/>
    <p:sldId id="262" r:id="rId20"/>
    <p:sldId id="279" r:id="rId21"/>
    <p:sldId id="281" r:id="rId22"/>
    <p:sldId id="263" r:id="rId23"/>
    <p:sldId id="280" r:id="rId24"/>
    <p:sldId id="282" r:id="rId25"/>
    <p:sldId id="283" r:id="rId26"/>
    <p:sldId id="264" r:id="rId27"/>
    <p:sldId id="284" r:id="rId28"/>
    <p:sldId id="265" r:id="rId29"/>
    <p:sldId id="285" r:id="rId30"/>
    <p:sldId id="292" r:id="rId31"/>
    <p:sldId id="266" r:id="rId32"/>
    <p:sldId id="286" r:id="rId33"/>
    <p:sldId id="313" r:id="rId34"/>
    <p:sldId id="267" r:id="rId35"/>
    <p:sldId id="287" r:id="rId36"/>
    <p:sldId id="314" r:id="rId37"/>
    <p:sldId id="288" r:id="rId38"/>
    <p:sldId id="289" r:id="rId39"/>
    <p:sldId id="268" r:id="rId40"/>
    <p:sldId id="290" r:id="rId41"/>
    <p:sldId id="269" r:id="rId42"/>
    <p:sldId id="291" r:id="rId43"/>
    <p:sldId id="315" r:id="rId44"/>
    <p:sldId id="316" r:id="rId45"/>
    <p:sldId id="341" r:id="rId46"/>
    <p:sldId id="293" r:id="rId47"/>
    <p:sldId id="317" r:id="rId48"/>
    <p:sldId id="294" r:id="rId49"/>
    <p:sldId id="318" r:id="rId50"/>
    <p:sldId id="342" r:id="rId51"/>
    <p:sldId id="295" r:id="rId52"/>
    <p:sldId id="319" r:id="rId53"/>
    <p:sldId id="343" r:id="rId54"/>
    <p:sldId id="296" r:id="rId55"/>
    <p:sldId id="320" r:id="rId56"/>
    <p:sldId id="344" r:id="rId57"/>
    <p:sldId id="297" r:id="rId58"/>
    <p:sldId id="321" r:id="rId59"/>
    <p:sldId id="345" r:id="rId60"/>
    <p:sldId id="298" r:id="rId61"/>
    <p:sldId id="322" r:id="rId62"/>
    <p:sldId id="346" r:id="rId63"/>
    <p:sldId id="299" r:id="rId64"/>
    <p:sldId id="323" r:id="rId65"/>
    <p:sldId id="300" r:id="rId66"/>
    <p:sldId id="324" r:id="rId67"/>
    <p:sldId id="301" r:id="rId68"/>
    <p:sldId id="325" r:id="rId69"/>
    <p:sldId id="347" r:id="rId70"/>
    <p:sldId id="326" r:id="rId71"/>
    <p:sldId id="327" r:id="rId72"/>
    <p:sldId id="302" r:id="rId73"/>
    <p:sldId id="328" r:id="rId74"/>
    <p:sldId id="348" r:id="rId75"/>
    <p:sldId id="329" r:id="rId76"/>
    <p:sldId id="303" r:id="rId77"/>
    <p:sldId id="330" r:id="rId78"/>
    <p:sldId id="349" r:id="rId79"/>
    <p:sldId id="304" r:id="rId80"/>
    <p:sldId id="331" r:id="rId81"/>
    <p:sldId id="350" r:id="rId82"/>
    <p:sldId id="305" r:id="rId83"/>
    <p:sldId id="332" r:id="rId84"/>
    <p:sldId id="351" r:id="rId85"/>
    <p:sldId id="306" r:id="rId86"/>
    <p:sldId id="333" r:id="rId87"/>
    <p:sldId id="352" r:id="rId88"/>
    <p:sldId id="307" r:id="rId89"/>
    <p:sldId id="334" r:id="rId90"/>
    <p:sldId id="308" r:id="rId91"/>
    <p:sldId id="335" r:id="rId92"/>
    <p:sldId id="336" r:id="rId93"/>
    <p:sldId id="309" r:id="rId94"/>
    <p:sldId id="337" r:id="rId95"/>
    <p:sldId id="353" r:id="rId96"/>
    <p:sldId id="310" r:id="rId97"/>
    <p:sldId id="338" r:id="rId98"/>
    <p:sldId id="354" r:id="rId99"/>
    <p:sldId id="311" r:id="rId100"/>
    <p:sldId id="339" r:id="rId101"/>
    <p:sldId id="340" r:id="rId102"/>
    <p:sldId id="312" r:id="rId103"/>
    <p:sldId id="369" r:id="rId104"/>
    <p:sldId id="370" r:id="rId105"/>
    <p:sldId id="395" r:id="rId106"/>
    <p:sldId id="355" r:id="rId107"/>
    <p:sldId id="371" r:id="rId108"/>
    <p:sldId id="396" r:id="rId109"/>
    <p:sldId id="372" r:id="rId110"/>
    <p:sldId id="356" r:id="rId111"/>
    <p:sldId id="373" r:id="rId112"/>
    <p:sldId id="357" r:id="rId113"/>
    <p:sldId id="374" r:id="rId114"/>
    <p:sldId id="397" r:id="rId115"/>
    <p:sldId id="375" r:id="rId116"/>
    <p:sldId id="358" r:id="rId117"/>
    <p:sldId id="376" r:id="rId118"/>
    <p:sldId id="400" r:id="rId119"/>
    <p:sldId id="359" r:id="rId120"/>
    <p:sldId id="377" r:id="rId121"/>
    <p:sldId id="378" r:id="rId122"/>
    <p:sldId id="360" r:id="rId123"/>
    <p:sldId id="379" r:id="rId124"/>
    <p:sldId id="398" r:id="rId125"/>
    <p:sldId id="380" r:id="rId126"/>
    <p:sldId id="399" r:id="rId127"/>
    <p:sldId id="381" r:id="rId128"/>
    <p:sldId id="382" r:id="rId129"/>
    <p:sldId id="383" r:id="rId130"/>
    <p:sldId id="384" r:id="rId131"/>
    <p:sldId id="385" r:id="rId132"/>
    <p:sldId id="361" r:id="rId133"/>
    <p:sldId id="386" r:id="rId134"/>
    <p:sldId id="362" r:id="rId135"/>
    <p:sldId id="387" r:id="rId136"/>
    <p:sldId id="363" r:id="rId137"/>
    <p:sldId id="388" r:id="rId138"/>
    <p:sldId id="364" r:id="rId139"/>
    <p:sldId id="389" r:id="rId140"/>
    <p:sldId id="365" r:id="rId141"/>
    <p:sldId id="390" r:id="rId142"/>
    <p:sldId id="366" r:id="rId143"/>
    <p:sldId id="391" r:id="rId144"/>
    <p:sldId id="392" r:id="rId145"/>
    <p:sldId id="367" r:id="rId146"/>
    <p:sldId id="368" r:id="rId147"/>
    <p:sldId id="393" r:id="rId148"/>
    <p:sldId id="394" r:id="rId149"/>
    <p:sldId id="415" r:id="rId150"/>
    <p:sldId id="416" r:id="rId151"/>
    <p:sldId id="401" r:id="rId152"/>
    <p:sldId id="417" r:id="rId153"/>
    <p:sldId id="418" r:id="rId154"/>
    <p:sldId id="402" r:id="rId155"/>
    <p:sldId id="419" r:id="rId156"/>
    <p:sldId id="420" r:id="rId157"/>
    <p:sldId id="403" r:id="rId158"/>
    <p:sldId id="421" r:id="rId159"/>
    <p:sldId id="445" r:id="rId160"/>
    <p:sldId id="422" r:id="rId161"/>
    <p:sldId id="404" r:id="rId162"/>
    <p:sldId id="423" r:id="rId163"/>
    <p:sldId id="424" r:id="rId164"/>
    <p:sldId id="405" r:id="rId165"/>
    <p:sldId id="425" r:id="rId166"/>
    <p:sldId id="446" r:id="rId167"/>
    <p:sldId id="406" r:id="rId168"/>
    <p:sldId id="426" r:id="rId169"/>
    <p:sldId id="407" r:id="rId170"/>
    <p:sldId id="427" r:id="rId171"/>
    <p:sldId id="447" r:id="rId172"/>
    <p:sldId id="448" r:id="rId173"/>
    <p:sldId id="428" r:id="rId174"/>
    <p:sldId id="429" r:id="rId175"/>
    <p:sldId id="430" r:id="rId176"/>
    <p:sldId id="449" r:id="rId177"/>
    <p:sldId id="408" r:id="rId178"/>
    <p:sldId id="409" r:id="rId179"/>
    <p:sldId id="432" r:id="rId180"/>
    <p:sldId id="433" r:id="rId181"/>
    <p:sldId id="410" r:id="rId182"/>
    <p:sldId id="434" r:id="rId183"/>
    <p:sldId id="435" r:id="rId184"/>
    <p:sldId id="451" r:id="rId185"/>
    <p:sldId id="411" r:id="rId186"/>
    <p:sldId id="436" r:id="rId187"/>
    <p:sldId id="443" r:id="rId188"/>
    <p:sldId id="413" r:id="rId189"/>
    <p:sldId id="437" r:id="rId190"/>
    <p:sldId id="438" r:id="rId191"/>
    <p:sldId id="439" r:id="rId192"/>
    <p:sldId id="412" r:id="rId193"/>
    <p:sldId id="440" r:id="rId194"/>
    <p:sldId id="441" r:id="rId195"/>
    <p:sldId id="450" r:id="rId196"/>
    <p:sldId id="442" r:id="rId197"/>
    <p:sldId id="444" r:id="rId198"/>
    <p:sldId id="452" r:id="rId199"/>
    <p:sldId id="505" r:id="rId200"/>
    <p:sldId id="506" r:id="rId201"/>
    <p:sldId id="500" r:id="rId202"/>
    <p:sldId id="501" r:id="rId203"/>
    <p:sldId id="470" r:id="rId204"/>
    <p:sldId id="453" r:id="rId205"/>
    <p:sldId id="471" r:id="rId206"/>
    <p:sldId id="503" r:id="rId207"/>
    <p:sldId id="472" r:id="rId208"/>
    <p:sldId id="455" r:id="rId209"/>
    <p:sldId id="473" r:id="rId210"/>
    <p:sldId id="456" r:id="rId211"/>
    <p:sldId id="474" r:id="rId212"/>
    <p:sldId id="457" r:id="rId213"/>
    <p:sldId id="504" r:id="rId214"/>
    <p:sldId id="475" r:id="rId215"/>
    <p:sldId id="458" r:id="rId216"/>
    <p:sldId id="476" r:id="rId217"/>
    <p:sldId id="477" r:id="rId218"/>
    <p:sldId id="459" r:id="rId219"/>
    <p:sldId id="480" r:id="rId220"/>
    <p:sldId id="460" r:id="rId221"/>
    <p:sldId id="481" r:id="rId222"/>
    <p:sldId id="482" r:id="rId223"/>
    <p:sldId id="461" r:id="rId224"/>
    <p:sldId id="483" r:id="rId225"/>
    <p:sldId id="484" r:id="rId226"/>
    <p:sldId id="485" r:id="rId227"/>
    <p:sldId id="462" r:id="rId228"/>
    <p:sldId id="486" r:id="rId229"/>
    <p:sldId id="463" r:id="rId230"/>
    <p:sldId id="487" r:id="rId231"/>
    <p:sldId id="488" r:id="rId232"/>
    <p:sldId id="489" r:id="rId233"/>
    <p:sldId id="490" r:id="rId234"/>
    <p:sldId id="464" r:id="rId235"/>
    <p:sldId id="491" r:id="rId236"/>
    <p:sldId id="492" r:id="rId237"/>
    <p:sldId id="465" r:id="rId238"/>
    <p:sldId id="493" r:id="rId239"/>
    <p:sldId id="466" r:id="rId240"/>
    <p:sldId id="494" r:id="rId241"/>
    <p:sldId id="467" r:id="rId242"/>
    <p:sldId id="495" r:id="rId243"/>
    <p:sldId id="496" r:id="rId244"/>
    <p:sldId id="497" r:id="rId245"/>
    <p:sldId id="498" r:id="rId246"/>
    <p:sldId id="468" r:id="rId247"/>
    <p:sldId id="499" r:id="rId248"/>
    <p:sldId id="469" r:id="rId249"/>
    <p:sldId id="507" r:id="rId250"/>
    <p:sldId id="511" r:id="rId251"/>
    <p:sldId id="508" r:id="rId252"/>
    <p:sldId id="509" r:id="rId253"/>
    <p:sldId id="510" r:id="rId254"/>
    <p:sldId id="512" r:id="rId255"/>
    <p:sldId id="515" r:id="rId256"/>
    <p:sldId id="516" r:id="rId257"/>
    <p:sldId id="517" r:id="rId258"/>
    <p:sldId id="513" r:id="rId259"/>
    <p:sldId id="518" r:id="rId260"/>
    <p:sldId id="519" r:id="rId261"/>
    <p:sldId id="520" r:id="rId262"/>
    <p:sldId id="521" r:id="rId263"/>
    <p:sldId id="514" r:id="rId264"/>
    <p:sldId id="522" r:id="rId265"/>
    <p:sldId id="523" r:id="rId266"/>
    <p:sldId id="524" r:id="rId267"/>
  </p:sldIdLst>
  <p:sldSz cx="12192000" cy="6858000"/>
  <p:notesSz cx="6797675" cy="992822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61908A-1B6A-4D2A-BA81-23ACA28410F1}" v="96" dt="2026-10-12T19:27:20.9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271" autoAdjust="0"/>
    <p:restoredTop sz="94660"/>
  </p:normalViewPr>
  <p:slideViewPr>
    <p:cSldViewPr snapToGrid="0">
      <p:cViewPr varScale="1">
        <p:scale>
          <a:sx n="57" d="100"/>
          <a:sy n="57" d="100"/>
        </p:scale>
        <p:origin x="312" y="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notesMaster" Target="notesMasters/notesMaster1.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181" Type="http://schemas.openxmlformats.org/officeDocument/2006/relationships/slide" Target="slides/slide177.xml"/><Relationship Id="rId216" Type="http://schemas.openxmlformats.org/officeDocument/2006/relationships/slide" Target="slides/slide212.xml"/><Relationship Id="rId237" Type="http://schemas.openxmlformats.org/officeDocument/2006/relationships/slide" Target="slides/slide233.xml"/><Relationship Id="rId258" Type="http://schemas.openxmlformats.org/officeDocument/2006/relationships/slide" Target="slides/slide254.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slide" Target="slides/slide167.xml"/><Relationship Id="rId192" Type="http://schemas.openxmlformats.org/officeDocument/2006/relationships/slide" Target="slides/slide188.xml"/><Relationship Id="rId206" Type="http://schemas.openxmlformats.org/officeDocument/2006/relationships/slide" Target="slides/slide202.xml"/><Relationship Id="rId227" Type="http://schemas.openxmlformats.org/officeDocument/2006/relationships/slide" Target="slides/slide223.xml"/><Relationship Id="rId248" Type="http://schemas.openxmlformats.org/officeDocument/2006/relationships/slide" Target="slides/slide244.xml"/><Relationship Id="rId269" Type="http://schemas.openxmlformats.org/officeDocument/2006/relationships/presProps" Target="presProps.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82" Type="http://schemas.openxmlformats.org/officeDocument/2006/relationships/slide" Target="slides/slide178.xml"/><Relationship Id="rId217" Type="http://schemas.openxmlformats.org/officeDocument/2006/relationships/slide" Target="slides/slide213.xml"/><Relationship Id="rId6" Type="http://schemas.openxmlformats.org/officeDocument/2006/relationships/slide" Target="slides/slide2.xml"/><Relationship Id="rId238" Type="http://schemas.openxmlformats.org/officeDocument/2006/relationships/slide" Target="slides/slide234.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viewProps" Target="viewProps.xml"/><Relationship Id="rId44" Type="http://schemas.openxmlformats.org/officeDocument/2006/relationships/slide" Target="slides/slide40.xml"/><Relationship Id="rId65" Type="http://schemas.openxmlformats.org/officeDocument/2006/relationships/slide" Target="slides/slide61.xml"/><Relationship Id="rId86" Type="http://schemas.openxmlformats.org/officeDocument/2006/relationships/slide" Target="slides/slide82.xml"/><Relationship Id="rId130" Type="http://schemas.openxmlformats.org/officeDocument/2006/relationships/slide" Target="slides/slide126.xml"/><Relationship Id="rId151" Type="http://schemas.openxmlformats.org/officeDocument/2006/relationships/slide" Target="slides/slide147.xml"/><Relationship Id="rId172" Type="http://schemas.openxmlformats.org/officeDocument/2006/relationships/slide" Target="slides/slide168.xml"/><Relationship Id="rId193" Type="http://schemas.openxmlformats.org/officeDocument/2006/relationships/slide" Target="slides/slide189.xml"/><Relationship Id="rId207" Type="http://schemas.openxmlformats.org/officeDocument/2006/relationships/slide" Target="slides/slide203.xml"/><Relationship Id="rId228" Type="http://schemas.openxmlformats.org/officeDocument/2006/relationships/slide" Target="slides/slide224.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4" Type="http://schemas.openxmlformats.org/officeDocument/2006/relationships/slide" Target="slides/slide30.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20" Type="http://schemas.openxmlformats.org/officeDocument/2006/relationships/slide" Target="slides/slide116.xml"/><Relationship Id="rId141" Type="http://schemas.openxmlformats.org/officeDocument/2006/relationships/slide" Target="slides/slide137.xml"/><Relationship Id="rId7" Type="http://schemas.openxmlformats.org/officeDocument/2006/relationships/slide" Target="slides/slide3.xml"/><Relationship Id="rId162" Type="http://schemas.openxmlformats.org/officeDocument/2006/relationships/slide" Target="slides/slide158.xml"/><Relationship Id="rId183" Type="http://schemas.openxmlformats.org/officeDocument/2006/relationships/slide" Target="slides/slide179.xml"/><Relationship Id="rId218" Type="http://schemas.openxmlformats.org/officeDocument/2006/relationships/slide" Target="slides/slide214.xml"/><Relationship Id="rId239" Type="http://schemas.openxmlformats.org/officeDocument/2006/relationships/slide" Target="slides/slide235.xml"/><Relationship Id="rId250" Type="http://schemas.openxmlformats.org/officeDocument/2006/relationships/slide" Target="slides/slide246.xml"/><Relationship Id="rId271" Type="http://schemas.openxmlformats.org/officeDocument/2006/relationships/theme" Target="theme/theme1.xml"/><Relationship Id="rId24" Type="http://schemas.openxmlformats.org/officeDocument/2006/relationships/slide" Target="slides/slide20.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31" Type="http://schemas.openxmlformats.org/officeDocument/2006/relationships/slide" Target="slides/slide127.xml"/><Relationship Id="rId152" Type="http://schemas.openxmlformats.org/officeDocument/2006/relationships/slide" Target="slides/slide148.xml"/><Relationship Id="rId173" Type="http://schemas.openxmlformats.org/officeDocument/2006/relationships/slide" Target="slides/slide169.xml"/><Relationship Id="rId194" Type="http://schemas.openxmlformats.org/officeDocument/2006/relationships/slide" Target="slides/slide190.xml"/><Relationship Id="rId208" Type="http://schemas.openxmlformats.org/officeDocument/2006/relationships/slide" Target="slides/slide204.xml"/><Relationship Id="rId229" Type="http://schemas.openxmlformats.org/officeDocument/2006/relationships/slide" Target="slides/slide225.xml"/><Relationship Id="rId240" Type="http://schemas.openxmlformats.org/officeDocument/2006/relationships/slide" Target="slides/slide236.xml"/><Relationship Id="rId261" Type="http://schemas.openxmlformats.org/officeDocument/2006/relationships/slide" Target="slides/slide257.xml"/><Relationship Id="rId14" Type="http://schemas.openxmlformats.org/officeDocument/2006/relationships/slide" Target="slides/slide10.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8" Type="http://schemas.openxmlformats.org/officeDocument/2006/relationships/slide" Target="slides/slide4.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184" Type="http://schemas.openxmlformats.org/officeDocument/2006/relationships/slide" Target="slides/slide180.xml"/><Relationship Id="rId219" Type="http://schemas.openxmlformats.org/officeDocument/2006/relationships/slide" Target="slides/slide215.xml"/><Relationship Id="rId230" Type="http://schemas.openxmlformats.org/officeDocument/2006/relationships/slide" Target="slides/slide226.xml"/><Relationship Id="rId251" Type="http://schemas.openxmlformats.org/officeDocument/2006/relationships/slide" Target="slides/slide247.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72" Type="http://schemas.openxmlformats.org/officeDocument/2006/relationships/tableStyles" Target="tableStyles.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95" Type="http://schemas.openxmlformats.org/officeDocument/2006/relationships/slide" Target="slides/slide191.xml"/><Relationship Id="rId209" Type="http://schemas.openxmlformats.org/officeDocument/2006/relationships/slide" Target="slides/slide205.xml"/><Relationship Id="rId220" Type="http://schemas.openxmlformats.org/officeDocument/2006/relationships/slide" Target="slides/slide216.xml"/><Relationship Id="rId241" Type="http://schemas.openxmlformats.org/officeDocument/2006/relationships/slide" Target="slides/slide23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262" Type="http://schemas.openxmlformats.org/officeDocument/2006/relationships/slide" Target="slides/slide258.xml"/><Relationship Id="rId78" Type="http://schemas.openxmlformats.org/officeDocument/2006/relationships/slide" Target="slides/slide74.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64" Type="http://schemas.openxmlformats.org/officeDocument/2006/relationships/slide" Target="slides/slide160.xml"/><Relationship Id="rId185" Type="http://schemas.openxmlformats.org/officeDocument/2006/relationships/slide" Target="slides/slide181.xml"/><Relationship Id="rId9" Type="http://schemas.openxmlformats.org/officeDocument/2006/relationships/slide" Target="slides/slide5.xml"/><Relationship Id="rId210" Type="http://schemas.openxmlformats.org/officeDocument/2006/relationships/slide" Target="slides/slide206.xml"/><Relationship Id="rId26" Type="http://schemas.openxmlformats.org/officeDocument/2006/relationships/slide" Target="slides/slide22.xml"/><Relationship Id="rId231" Type="http://schemas.openxmlformats.org/officeDocument/2006/relationships/slide" Target="slides/slide227.xml"/><Relationship Id="rId252" Type="http://schemas.openxmlformats.org/officeDocument/2006/relationships/slide" Target="slides/slide248.xml"/><Relationship Id="rId273" Type="http://schemas.microsoft.com/office/2016/11/relationships/changesInfo" Target="changesInfos/changesInfo1.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263" Type="http://schemas.openxmlformats.org/officeDocument/2006/relationships/slide" Target="slides/slide259.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microsoft.com/office/2015/10/relationships/revisionInfo" Target="revisionInfo.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cesco Bellotti" userId="f453232b-f87d-4756-9d8b-c09bc835cc42" providerId="ADAL" clId="{C7FEA3FA-4936-41E1-B7FA-CA082069F7F7}"/>
    <pc:docChg chg="undo redo custSel addSld delSld modSld sldOrd modNotesMaster">
      <pc:chgData name="Francesco Bellotti" userId="f453232b-f87d-4756-9d8b-c09bc835cc42" providerId="ADAL" clId="{C7FEA3FA-4936-41E1-B7FA-CA082069F7F7}" dt="2026-10-12T19:28:05.757" v="10690" actId="13926"/>
      <pc:docMkLst>
        <pc:docMk/>
      </pc:docMkLst>
      <pc:sldChg chg="modSp mod">
        <pc:chgData name="Francesco Bellotti" userId="f453232b-f87d-4756-9d8b-c09bc835cc42" providerId="ADAL" clId="{C7FEA3FA-4936-41E1-B7FA-CA082069F7F7}" dt="2026-10-06T20:42:10.144" v="6035" actId="20577"/>
        <pc:sldMkLst>
          <pc:docMk/>
          <pc:sldMk cId="783246927" sldId="256"/>
        </pc:sldMkLst>
        <pc:spChg chg="mod">
          <ac:chgData name="Francesco Bellotti" userId="f453232b-f87d-4756-9d8b-c09bc835cc42" providerId="ADAL" clId="{C7FEA3FA-4936-41E1-B7FA-CA082069F7F7}" dt="2026-10-06T20:42:10.144" v="6035" actId="20577"/>
          <ac:spMkLst>
            <pc:docMk/>
            <pc:sldMk cId="783246927" sldId="256"/>
            <ac:spMk id="2" creationId="{21831838-57B7-AE67-BA9E-3B0B7A9312B6}"/>
          </ac:spMkLst>
        </pc:spChg>
      </pc:sldChg>
      <pc:sldChg chg="modSp mod">
        <pc:chgData name="Francesco Bellotti" userId="f453232b-f87d-4756-9d8b-c09bc835cc42" providerId="ADAL" clId="{C7FEA3FA-4936-41E1-B7FA-CA082069F7F7}" dt="2026-10-06T21:21:39.607" v="6040" actId="13926"/>
        <pc:sldMkLst>
          <pc:docMk/>
          <pc:sldMk cId="0" sldId="257"/>
        </pc:sldMkLst>
        <pc:spChg chg="mod">
          <ac:chgData name="Francesco Bellotti" userId="f453232b-f87d-4756-9d8b-c09bc835cc42" providerId="ADAL" clId="{C7FEA3FA-4936-41E1-B7FA-CA082069F7F7}" dt="2026-10-06T21:21:35.775" v="6039" actId="13926"/>
          <ac:spMkLst>
            <pc:docMk/>
            <pc:sldMk cId="0" sldId="257"/>
            <ac:spMk id="6" creationId="{00000000-0000-0000-0000-000000000000}"/>
          </ac:spMkLst>
        </pc:spChg>
        <pc:spChg chg="mod">
          <ac:chgData name="Francesco Bellotti" userId="f453232b-f87d-4756-9d8b-c09bc835cc42" providerId="ADAL" clId="{C7FEA3FA-4936-41E1-B7FA-CA082069F7F7}" dt="2026-10-06T21:21:30.302" v="6038" actId="13926"/>
          <ac:spMkLst>
            <pc:docMk/>
            <pc:sldMk cId="0" sldId="257"/>
            <ac:spMk id="31" creationId="{00000000-0000-0000-0000-000000000000}"/>
          </ac:spMkLst>
        </pc:spChg>
        <pc:spChg chg="mod">
          <ac:chgData name="Francesco Bellotti" userId="f453232b-f87d-4756-9d8b-c09bc835cc42" providerId="ADAL" clId="{C7FEA3FA-4936-41E1-B7FA-CA082069F7F7}" dt="2026-10-06T21:21:39.607" v="6040" actId="13926"/>
          <ac:spMkLst>
            <pc:docMk/>
            <pc:sldMk cId="0" sldId="257"/>
            <ac:spMk id="56" creationId="{00000000-0000-0000-0000-000000000000}"/>
          </ac:spMkLst>
        </pc:spChg>
      </pc:sldChg>
      <pc:sldChg chg="delSp modSp mod">
        <pc:chgData name="Francesco Bellotti" userId="f453232b-f87d-4756-9d8b-c09bc835cc42" providerId="ADAL" clId="{C7FEA3FA-4936-41E1-B7FA-CA082069F7F7}" dt="2026-10-06T21:22:31.271" v="6044" actId="113"/>
        <pc:sldMkLst>
          <pc:docMk/>
          <pc:sldMk cId="0" sldId="258"/>
        </pc:sldMkLst>
        <pc:spChg chg="mod">
          <ac:chgData name="Francesco Bellotti" userId="f453232b-f87d-4756-9d8b-c09bc835cc42" providerId="ADAL" clId="{C7FEA3FA-4936-41E1-B7FA-CA082069F7F7}" dt="2026-10-06T21:22:31.271" v="6044" actId="113"/>
          <ac:spMkLst>
            <pc:docMk/>
            <pc:sldMk cId="0" sldId="258"/>
            <ac:spMk id="5" creationId="{00000000-0000-0000-0000-000000000000}"/>
          </ac:spMkLst>
        </pc:spChg>
        <pc:spChg chg="mod">
          <ac:chgData name="Francesco Bellotti" userId="f453232b-f87d-4756-9d8b-c09bc835cc42" providerId="ADAL" clId="{C7FEA3FA-4936-41E1-B7FA-CA082069F7F7}" dt="2026-10-06T21:22:10.917" v="6041" actId="13926"/>
          <ac:spMkLst>
            <pc:docMk/>
            <pc:sldMk cId="0" sldId="258"/>
            <ac:spMk id="163" creationId="{00000000-0000-0000-0000-000000000000}"/>
          </ac:spMkLst>
        </pc:spChg>
      </pc:sldChg>
      <pc:sldChg chg="modSp mod">
        <pc:chgData name="Francesco Bellotti" userId="f453232b-f87d-4756-9d8b-c09bc835cc42" providerId="ADAL" clId="{C7FEA3FA-4936-41E1-B7FA-CA082069F7F7}" dt="2026-10-07T05:34:35.848" v="6082" actId="113"/>
        <pc:sldMkLst>
          <pc:docMk/>
          <pc:sldMk cId="0" sldId="259"/>
        </pc:sldMkLst>
        <pc:spChg chg="mod">
          <ac:chgData name="Francesco Bellotti" userId="f453232b-f87d-4756-9d8b-c09bc835cc42" providerId="ADAL" clId="{C7FEA3FA-4936-41E1-B7FA-CA082069F7F7}" dt="2026-10-07T05:34:35.848" v="6082" actId="113"/>
          <ac:spMkLst>
            <pc:docMk/>
            <pc:sldMk cId="0" sldId="259"/>
            <ac:spMk id="5" creationId="{00000000-0000-0000-0000-000000000000}"/>
          </ac:spMkLst>
        </pc:spChg>
        <pc:spChg chg="mod">
          <ac:chgData name="Francesco Bellotti" userId="f453232b-f87d-4756-9d8b-c09bc835cc42" providerId="ADAL" clId="{C7FEA3FA-4936-41E1-B7FA-CA082069F7F7}" dt="2026-10-07T05:34:11.317" v="6077" actId="1076"/>
          <ac:spMkLst>
            <pc:docMk/>
            <pc:sldMk cId="0" sldId="259"/>
            <ac:spMk id="18" creationId="{00000000-0000-0000-0000-000000000000}"/>
          </ac:spMkLst>
        </pc:spChg>
        <pc:spChg chg="mod">
          <ac:chgData name="Francesco Bellotti" userId="f453232b-f87d-4756-9d8b-c09bc835cc42" providerId="ADAL" clId="{C7FEA3FA-4936-41E1-B7FA-CA082069F7F7}" dt="2026-10-07T05:34:11.317" v="6077" actId="1076"/>
          <ac:spMkLst>
            <pc:docMk/>
            <pc:sldMk cId="0" sldId="259"/>
            <ac:spMk id="19" creationId="{00000000-0000-0000-0000-000000000000}"/>
          </ac:spMkLst>
        </pc:spChg>
        <pc:spChg chg="mod">
          <ac:chgData name="Francesco Bellotti" userId="f453232b-f87d-4756-9d8b-c09bc835cc42" providerId="ADAL" clId="{C7FEA3FA-4936-41E1-B7FA-CA082069F7F7}" dt="2026-10-07T05:34:11.317" v="6077" actId="1076"/>
          <ac:spMkLst>
            <pc:docMk/>
            <pc:sldMk cId="0" sldId="259"/>
            <ac:spMk id="23" creationId="{00000000-0000-0000-0000-000000000000}"/>
          </ac:spMkLst>
        </pc:spChg>
        <pc:spChg chg="mod">
          <ac:chgData name="Francesco Bellotti" userId="f453232b-f87d-4756-9d8b-c09bc835cc42" providerId="ADAL" clId="{C7FEA3FA-4936-41E1-B7FA-CA082069F7F7}" dt="2026-10-07T05:34:11.317" v="6077" actId="1076"/>
          <ac:spMkLst>
            <pc:docMk/>
            <pc:sldMk cId="0" sldId="259"/>
            <ac:spMk id="24" creationId="{00000000-0000-0000-0000-000000000000}"/>
          </ac:spMkLst>
        </pc:spChg>
        <pc:spChg chg="mod">
          <ac:chgData name="Francesco Bellotti" userId="f453232b-f87d-4756-9d8b-c09bc835cc42" providerId="ADAL" clId="{C7FEA3FA-4936-41E1-B7FA-CA082069F7F7}" dt="2026-10-07T05:34:11.317" v="6077" actId="1076"/>
          <ac:spMkLst>
            <pc:docMk/>
            <pc:sldMk cId="0" sldId="259"/>
            <ac:spMk id="25" creationId="{00000000-0000-0000-0000-000000000000}"/>
          </ac:spMkLst>
        </pc:spChg>
        <pc:spChg chg="mod">
          <ac:chgData name="Francesco Bellotti" userId="f453232b-f87d-4756-9d8b-c09bc835cc42" providerId="ADAL" clId="{C7FEA3FA-4936-41E1-B7FA-CA082069F7F7}" dt="2026-10-07T05:34:11.317" v="6077" actId="1076"/>
          <ac:spMkLst>
            <pc:docMk/>
            <pc:sldMk cId="0" sldId="259"/>
            <ac:spMk id="26" creationId="{00000000-0000-0000-0000-000000000000}"/>
          </ac:spMkLst>
        </pc:spChg>
        <pc:spChg chg="mod">
          <ac:chgData name="Francesco Bellotti" userId="f453232b-f87d-4756-9d8b-c09bc835cc42" providerId="ADAL" clId="{C7FEA3FA-4936-41E1-B7FA-CA082069F7F7}" dt="2026-10-07T05:34:11.317" v="6077" actId="1076"/>
          <ac:spMkLst>
            <pc:docMk/>
            <pc:sldMk cId="0" sldId="259"/>
            <ac:spMk id="27" creationId="{00000000-0000-0000-0000-000000000000}"/>
          </ac:spMkLst>
        </pc:spChg>
        <pc:spChg chg="mod">
          <ac:chgData name="Francesco Bellotti" userId="f453232b-f87d-4756-9d8b-c09bc835cc42" providerId="ADAL" clId="{C7FEA3FA-4936-41E1-B7FA-CA082069F7F7}" dt="2026-10-07T05:34:29.509" v="6081" actId="13926"/>
          <ac:spMkLst>
            <pc:docMk/>
            <pc:sldMk cId="0" sldId="259"/>
            <ac:spMk id="54" creationId="{00000000-0000-0000-0000-000000000000}"/>
          </ac:spMkLst>
        </pc:spChg>
      </pc:sldChg>
      <pc:sldChg chg="modSp mod">
        <pc:chgData name="Francesco Bellotti" userId="f453232b-f87d-4756-9d8b-c09bc835cc42" providerId="ADAL" clId="{C7FEA3FA-4936-41E1-B7FA-CA082069F7F7}" dt="2026-10-07T05:36:11.171" v="6102" actId="13926"/>
        <pc:sldMkLst>
          <pc:docMk/>
          <pc:sldMk cId="0" sldId="260"/>
        </pc:sldMkLst>
        <pc:spChg chg="mod">
          <ac:chgData name="Francesco Bellotti" userId="f453232b-f87d-4756-9d8b-c09bc835cc42" providerId="ADAL" clId="{C7FEA3FA-4936-41E1-B7FA-CA082069F7F7}" dt="2026-10-07T05:36:03.846" v="6101" actId="13926"/>
          <ac:spMkLst>
            <pc:docMk/>
            <pc:sldMk cId="0" sldId="260"/>
            <ac:spMk id="4" creationId="{00000000-0000-0000-0000-000000000000}"/>
          </ac:spMkLst>
        </pc:spChg>
        <pc:spChg chg="mod">
          <ac:chgData name="Francesco Bellotti" userId="f453232b-f87d-4756-9d8b-c09bc835cc42" providerId="ADAL" clId="{C7FEA3FA-4936-41E1-B7FA-CA082069F7F7}" dt="2026-10-07T05:36:11.171" v="6102" actId="13926"/>
          <ac:spMkLst>
            <pc:docMk/>
            <pc:sldMk cId="0" sldId="260"/>
            <ac:spMk id="5" creationId="{00000000-0000-0000-0000-000000000000}"/>
          </ac:spMkLst>
        </pc:spChg>
      </pc:sldChg>
      <pc:sldChg chg="modSp mod">
        <pc:chgData name="Francesco Bellotti" userId="f453232b-f87d-4756-9d8b-c09bc835cc42" providerId="ADAL" clId="{C7FEA3FA-4936-41E1-B7FA-CA082069F7F7}" dt="2026-10-07T05:38:20.929" v="6107" actId="403"/>
        <pc:sldMkLst>
          <pc:docMk/>
          <pc:sldMk cId="0" sldId="261"/>
        </pc:sldMkLst>
        <pc:spChg chg="mod">
          <ac:chgData name="Francesco Bellotti" userId="f453232b-f87d-4756-9d8b-c09bc835cc42" providerId="ADAL" clId="{C7FEA3FA-4936-41E1-B7FA-CA082069F7F7}" dt="2026-10-07T05:38:05.657" v="6103" actId="13926"/>
          <ac:spMkLst>
            <pc:docMk/>
            <pc:sldMk cId="0" sldId="261"/>
            <ac:spMk id="8" creationId="{00000000-0000-0000-0000-000000000000}"/>
          </ac:spMkLst>
        </pc:spChg>
        <pc:spChg chg="mod">
          <ac:chgData name="Francesco Bellotti" userId="f453232b-f87d-4756-9d8b-c09bc835cc42" providerId="ADAL" clId="{C7FEA3FA-4936-41E1-B7FA-CA082069F7F7}" dt="2026-10-07T05:38:10.065" v="6104" actId="13926"/>
          <ac:spMkLst>
            <pc:docMk/>
            <pc:sldMk cId="0" sldId="261"/>
            <ac:spMk id="40" creationId="{00000000-0000-0000-0000-000000000000}"/>
          </ac:spMkLst>
        </pc:spChg>
        <pc:spChg chg="mod">
          <ac:chgData name="Francesco Bellotti" userId="f453232b-f87d-4756-9d8b-c09bc835cc42" providerId="ADAL" clId="{C7FEA3FA-4936-41E1-B7FA-CA082069F7F7}" dt="2026-10-07T05:38:20.929" v="6107" actId="403"/>
          <ac:spMkLst>
            <pc:docMk/>
            <pc:sldMk cId="0" sldId="261"/>
            <ac:spMk id="56" creationId="{00000000-0000-0000-0000-000000000000}"/>
          </ac:spMkLst>
        </pc:spChg>
      </pc:sldChg>
      <pc:sldChg chg="delSp modSp mod">
        <pc:chgData name="Francesco Bellotti" userId="f453232b-f87d-4756-9d8b-c09bc835cc42" providerId="ADAL" clId="{C7FEA3FA-4936-41E1-B7FA-CA082069F7F7}" dt="2026-10-07T05:44:52.516" v="6257" actId="478"/>
        <pc:sldMkLst>
          <pc:docMk/>
          <pc:sldMk cId="0" sldId="262"/>
        </pc:sldMkLst>
        <pc:spChg chg="mod">
          <ac:chgData name="Francesco Bellotti" userId="f453232b-f87d-4756-9d8b-c09bc835cc42" providerId="ADAL" clId="{C7FEA3FA-4936-41E1-B7FA-CA082069F7F7}" dt="2026-10-07T05:40:08.648" v="6112" actId="13926"/>
          <ac:spMkLst>
            <pc:docMk/>
            <pc:sldMk cId="0" sldId="262"/>
            <ac:spMk id="5" creationId="{00000000-0000-0000-0000-000000000000}"/>
          </ac:spMkLst>
        </pc:spChg>
        <pc:spChg chg="mod">
          <ac:chgData name="Francesco Bellotti" userId="f453232b-f87d-4756-9d8b-c09bc835cc42" providerId="ADAL" clId="{C7FEA3FA-4936-41E1-B7FA-CA082069F7F7}" dt="2026-10-07T05:39:58.461" v="6110" actId="13926"/>
          <ac:spMkLst>
            <pc:docMk/>
            <pc:sldMk cId="0" sldId="262"/>
            <ac:spMk id="6" creationId="{00000000-0000-0000-0000-000000000000}"/>
          </ac:spMkLst>
        </pc:spChg>
        <pc:spChg chg="mod">
          <ac:chgData name="Francesco Bellotti" userId="f453232b-f87d-4756-9d8b-c09bc835cc42" providerId="ADAL" clId="{C7FEA3FA-4936-41E1-B7FA-CA082069F7F7}" dt="2026-10-07T05:40:03.003" v="6111" actId="13926"/>
          <ac:spMkLst>
            <pc:docMk/>
            <pc:sldMk cId="0" sldId="262"/>
            <ac:spMk id="24" creationId="{00000000-0000-0000-0000-000000000000}"/>
          </ac:spMkLst>
        </pc:spChg>
        <pc:spChg chg="mod">
          <ac:chgData name="Francesco Bellotti" userId="f453232b-f87d-4756-9d8b-c09bc835cc42" providerId="ADAL" clId="{C7FEA3FA-4936-41E1-B7FA-CA082069F7F7}" dt="2026-10-07T05:44:30.942" v="6255" actId="20577"/>
          <ac:spMkLst>
            <pc:docMk/>
            <pc:sldMk cId="0" sldId="262"/>
            <ac:spMk id="67" creationId="{F483DCC1-EA1C-7D2F-AA63-CA318E5A9454}"/>
          </ac:spMkLst>
        </pc:spChg>
      </pc:sldChg>
      <pc:sldChg chg="modSp mod">
        <pc:chgData name="Francesco Bellotti" userId="f453232b-f87d-4756-9d8b-c09bc835cc42" providerId="ADAL" clId="{C7FEA3FA-4936-41E1-B7FA-CA082069F7F7}" dt="2026-10-07T05:50:57.377" v="6343" actId="403"/>
        <pc:sldMkLst>
          <pc:docMk/>
          <pc:sldMk cId="0" sldId="263"/>
        </pc:sldMkLst>
        <pc:spChg chg="mod">
          <ac:chgData name="Francesco Bellotti" userId="f453232b-f87d-4756-9d8b-c09bc835cc42" providerId="ADAL" clId="{C7FEA3FA-4936-41E1-B7FA-CA082069F7F7}" dt="2026-10-07T05:50:34.437" v="6337" actId="1076"/>
          <ac:spMkLst>
            <pc:docMk/>
            <pc:sldMk cId="0" sldId="263"/>
            <ac:spMk id="19" creationId="{00000000-0000-0000-0000-000000000000}"/>
          </ac:spMkLst>
        </pc:spChg>
        <pc:spChg chg="mod">
          <ac:chgData name="Francesco Bellotti" userId="f453232b-f87d-4756-9d8b-c09bc835cc42" providerId="ADAL" clId="{C7FEA3FA-4936-41E1-B7FA-CA082069F7F7}" dt="2026-10-07T05:50:45.139" v="6339" actId="1076"/>
          <ac:spMkLst>
            <pc:docMk/>
            <pc:sldMk cId="0" sldId="263"/>
            <ac:spMk id="20" creationId="{00000000-0000-0000-0000-000000000000}"/>
          </ac:spMkLst>
        </pc:spChg>
        <pc:spChg chg="mod">
          <ac:chgData name="Francesco Bellotti" userId="f453232b-f87d-4756-9d8b-c09bc835cc42" providerId="ADAL" clId="{C7FEA3FA-4936-41E1-B7FA-CA082069F7F7}" dt="2026-10-07T05:50:40.584" v="6338" actId="1076"/>
          <ac:spMkLst>
            <pc:docMk/>
            <pc:sldMk cId="0" sldId="263"/>
            <ac:spMk id="22" creationId="{00000000-0000-0000-0000-000000000000}"/>
          </ac:spMkLst>
        </pc:spChg>
        <pc:spChg chg="mod">
          <ac:chgData name="Francesco Bellotti" userId="f453232b-f87d-4756-9d8b-c09bc835cc42" providerId="ADAL" clId="{C7FEA3FA-4936-41E1-B7FA-CA082069F7F7}" dt="2026-10-07T05:50:21.992" v="6335" actId="403"/>
          <ac:spMkLst>
            <pc:docMk/>
            <pc:sldMk cId="0" sldId="263"/>
            <ac:spMk id="25" creationId="{00000000-0000-0000-0000-000000000000}"/>
          </ac:spMkLst>
        </pc:spChg>
        <pc:spChg chg="mod">
          <ac:chgData name="Francesco Bellotti" userId="f453232b-f87d-4756-9d8b-c09bc835cc42" providerId="ADAL" clId="{C7FEA3FA-4936-41E1-B7FA-CA082069F7F7}" dt="2026-10-07T05:50:57.377" v="6343" actId="403"/>
          <ac:spMkLst>
            <pc:docMk/>
            <pc:sldMk cId="0" sldId="263"/>
            <ac:spMk id="30" creationId="{00000000-0000-0000-0000-000000000000}"/>
          </ac:spMkLst>
        </pc:spChg>
      </pc:sldChg>
      <pc:sldChg chg="modSp mod">
        <pc:chgData name="Francesco Bellotti" userId="f453232b-f87d-4756-9d8b-c09bc835cc42" providerId="ADAL" clId="{C7FEA3FA-4936-41E1-B7FA-CA082069F7F7}" dt="2026-10-07T05:52:10.369" v="6358" actId="13926"/>
        <pc:sldMkLst>
          <pc:docMk/>
          <pc:sldMk cId="0" sldId="264"/>
        </pc:sldMkLst>
        <pc:spChg chg="mod">
          <ac:chgData name="Francesco Bellotti" userId="f453232b-f87d-4756-9d8b-c09bc835cc42" providerId="ADAL" clId="{C7FEA3FA-4936-41E1-B7FA-CA082069F7F7}" dt="2026-10-07T05:52:10.369" v="6358" actId="13926"/>
          <ac:spMkLst>
            <pc:docMk/>
            <pc:sldMk cId="0" sldId="264"/>
            <ac:spMk id="4" creationId="{00000000-0000-0000-0000-000000000000}"/>
          </ac:spMkLst>
        </pc:spChg>
        <pc:spChg chg="mod">
          <ac:chgData name="Francesco Bellotti" userId="f453232b-f87d-4756-9d8b-c09bc835cc42" providerId="ADAL" clId="{C7FEA3FA-4936-41E1-B7FA-CA082069F7F7}" dt="2026-10-07T05:52:02.275" v="6357" actId="20577"/>
          <ac:spMkLst>
            <pc:docMk/>
            <pc:sldMk cId="0" sldId="264"/>
            <ac:spMk id="47" creationId="{00000000-0000-0000-0000-000000000000}"/>
          </ac:spMkLst>
        </pc:spChg>
      </pc:sldChg>
      <pc:sldChg chg="modSp mod">
        <pc:chgData name="Francesco Bellotti" userId="f453232b-f87d-4756-9d8b-c09bc835cc42" providerId="ADAL" clId="{C7FEA3FA-4936-41E1-B7FA-CA082069F7F7}" dt="2026-10-07T05:54:00.916" v="6380" actId="113"/>
        <pc:sldMkLst>
          <pc:docMk/>
          <pc:sldMk cId="0" sldId="265"/>
        </pc:sldMkLst>
        <pc:spChg chg="mod">
          <ac:chgData name="Francesco Bellotti" userId="f453232b-f87d-4756-9d8b-c09bc835cc42" providerId="ADAL" clId="{C7FEA3FA-4936-41E1-B7FA-CA082069F7F7}" dt="2026-10-07T05:54:00.916" v="6380" actId="113"/>
          <ac:spMkLst>
            <pc:docMk/>
            <pc:sldMk cId="0" sldId="265"/>
            <ac:spMk id="34" creationId="{00000000-0000-0000-0000-000000000000}"/>
          </ac:spMkLst>
        </pc:spChg>
      </pc:sldChg>
      <pc:sldChg chg="modSp mod">
        <pc:chgData name="Francesco Bellotti" userId="f453232b-f87d-4756-9d8b-c09bc835cc42" providerId="ADAL" clId="{C7FEA3FA-4936-41E1-B7FA-CA082069F7F7}" dt="2026-10-07T06:14:50.281" v="6672" actId="1076"/>
        <pc:sldMkLst>
          <pc:docMk/>
          <pc:sldMk cId="0" sldId="266"/>
        </pc:sldMkLst>
        <pc:spChg chg="mod">
          <ac:chgData name="Francesco Bellotti" userId="f453232b-f87d-4756-9d8b-c09bc835cc42" providerId="ADAL" clId="{C7FEA3FA-4936-41E1-B7FA-CA082069F7F7}" dt="2026-10-07T05:56:14.939" v="6387" actId="13926"/>
          <ac:spMkLst>
            <pc:docMk/>
            <pc:sldMk cId="0" sldId="266"/>
            <ac:spMk id="5" creationId="{00000000-0000-0000-0000-000000000000}"/>
          </ac:spMkLst>
        </pc:spChg>
        <pc:spChg chg="mod">
          <ac:chgData name="Francesco Bellotti" userId="f453232b-f87d-4756-9d8b-c09bc835cc42" providerId="ADAL" clId="{C7FEA3FA-4936-41E1-B7FA-CA082069F7F7}" dt="2026-10-07T06:14:50.281" v="6672" actId="1076"/>
          <ac:spMkLst>
            <pc:docMk/>
            <pc:sldMk cId="0" sldId="266"/>
            <ac:spMk id="14" creationId="{00000000-0000-0000-0000-000000000000}"/>
          </ac:spMkLst>
        </pc:spChg>
        <pc:spChg chg="mod">
          <ac:chgData name="Francesco Bellotti" userId="f453232b-f87d-4756-9d8b-c09bc835cc42" providerId="ADAL" clId="{C7FEA3FA-4936-41E1-B7FA-CA082069F7F7}" dt="2026-10-07T05:56:34.187" v="6391" actId="403"/>
          <ac:spMkLst>
            <pc:docMk/>
            <pc:sldMk cId="0" sldId="266"/>
            <ac:spMk id="21" creationId="{00000000-0000-0000-0000-000000000000}"/>
          </ac:spMkLst>
        </pc:spChg>
      </pc:sldChg>
      <pc:sldChg chg="modSp mod">
        <pc:chgData name="Francesco Bellotti" userId="f453232b-f87d-4756-9d8b-c09bc835cc42" providerId="ADAL" clId="{C7FEA3FA-4936-41E1-B7FA-CA082069F7F7}" dt="2026-10-07T05:58:49.590" v="6422" actId="20577"/>
        <pc:sldMkLst>
          <pc:docMk/>
          <pc:sldMk cId="0" sldId="267"/>
        </pc:sldMkLst>
        <pc:spChg chg="mod">
          <ac:chgData name="Francesco Bellotti" userId="f453232b-f87d-4756-9d8b-c09bc835cc42" providerId="ADAL" clId="{C7FEA3FA-4936-41E1-B7FA-CA082069F7F7}" dt="2026-10-07T05:58:49.590" v="6422" actId="20577"/>
          <ac:spMkLst>
            <pc:docMk/>
            <pc:sldMk cId="0" sldId="267"/>
            <ac:spMk id="15" creationId="{00000000-0000-0000-0000-000000000000}"/>
          </ac:spMkLst>
        </pc:spChg>
      </pc:sldChg>
      <pc:sldChg chg="addSp delSp modSp mod">
        <pc:chgData name="Francesco Bellotti" userId="f453232b-f87d-4756-9d8b-c09bc835cc42" providerId="ADAL" clId="{C7FEA3FA-4936-41E1-B7FA-CA082069F7F7}" dt="2026-10-07T06:08:02.154" v="6551" actId="113"/>
        <pc:sldMkLst>
          <pc:docMk/>
          <pc:sldMk cId="0" sldId="268"/>
        </pc:sldMkLst>
        <pc:spChg chg="mod">
          <ac:chgData name="Francesco Bellotti" userId="f453232b-f87d-4756-9d8b-c09bc835cc42" providerId="ADAL" clId="{C7FEA3FA-4936-41E1-B7FA-CA082069F7F7}" dt="2026-10-07T06:07:51.468" v="6550" actId="403"/>
          <ac:spMkLst>
            <pc:docMk/>
            <pc:sldMk cId="0" sldId="268"/>
            <ac:spMk id="5" creationId="{00000000-0000-0000-0000-000000000000}"/>
          </ac:spMkLst>
        </pc:spChg>
        <pc:spChg chg="mod">
          <ac:chgData name="Francesco Bellotti" userId="f453232b-f87d-4756-9d8b-c09bc835cc42" providerId="ADAL" clId="{C7FEA3FA-4936-41E1-B7FA-CA082069F7F7}" dt="2026-10-07T06:05:13.613" v="6517" actId="164"/>
          <ac:spMkLst>
            <pc:docMk/>
            <pc:sldMk cId="0" sldId="268"/>
            <ac:spMk id="6" creationId="{00000000-0000-0000-0000-000000000000}"/>
          </ac:spMkLst>
        </pc:spChg>
        <pc:spChg chg="mod">
          <ac:chgData name="Francesco Bellotti" userId="f453232b-f87d-4756-9d8b-c09bc835cc42" providerId="ADAL" clId="{C7FEA3FA-4936-41E1-B7FA-CA082069F7F7}" dt="2026-10-07T06:05:13.613" v="6517" actId="164"/>
          <ac:spMkLst>
            <pc:docMk/>
            <pc:sldMk cId="0" sldId="268"/>
            <ac:spMk id="7" creationId="{00000000-0000-0000-0000-000000000000}"/>
          </ac:spMkLst>
        </pc:spChg>
        <pc:spChg chg="mod">
          <ac:chgData name="Francesco Bellotti" userId="f453232b-f87d-4756-9d8b-c09bc835cc42" providerId="ADAL" clId="{C7FEA3FA-4936-41E1-B7FA-CA082069F7F7}" dt="2026-10-07T06:07:01.406" v="6535" actId="1076"/>
          <ac:spMkLst>
            <pc:docMk/>
            <pc:sldMk cId="0" sldId="268"/>
            <ac:spMk id="8" creationId="{00000000-0000-0000-0000-000000000000}"/>
          </ac:spMkLst>
        </pc:spChg>
        <pc:spChg chg="mod">
          <ac:chgData name="Francesco Bellotti" userId="f453232b-f87d-4756-9d8b-c09bc835cc42" providerId="ADAL" clId="{C7FEA3FA-4936-41E1-B7FA-CA082069F7F7}" dt="2026-10-07T06:05:25.147" v="6518" actId="164"/>
          <ac:spMkLst>
            <pc:docMk/>
            <pc:sldMk cId="0" sldId="268"/>
            <ac:spMk id="9" creationId="{00000000-0000-0000-0000-000000000000}"/>
          </ac:spMkLst>
        </pc:spChg>
        <pc:spChg chg="mod">
          <ac:chgData name="Francesco Bellotti" userId="f453232b-f87d-4756-9d8b-c09bc835cc42" providerId="ADAL" clId="{C7FEA3FA-4936-41E1-B7FA-CA082069F7F7}" dt="2026-10-07T06:05:25.147" v="6518" actId="164"/>
          <ac:spMkLst>
            <pc:docMk/>
            <pc:sldMk cId="0" sldId="268"/>
            <ac:spMk id="10" creationId="{00000000-0000-0000-0000-000000000000}"/>
          </ac:spMkLst>
        </pc:spChg>
        <pc:spChg chg="mod">
          <ac:chgData name="Francesco Bellotti" userId="f453232b-f87d-4756-9d8b-c09bc835cc42" providerId="ADAL" clId="{C7FEA3FA-4936-41E1-B7FA-CA082069F7F7}" dt="2026-10-07T06:05:33.058" v="6519" actId="164"/>
          <ac:spMkLst>
            <pc:docMk/>
            <pc:sldMk cId="0" sldId="268"/>
            <ac:spMk id="12" creationId="{00000000-0000-0000-0000-000000000000}"/>
          </ac:spMkLst>
        </pc:spChg>
        <pc:spChg chg="mod">
          <ac:chgData name="Francesco Bellotti" userId="f453232b-f87d-4756-9d8b-c09bc835cc42" providerId="ADAL" clId="{C7FEA3FA-4936-41E1-B7FA-CA082069F7F7}" dt="2026-10-07T06:05:33.058" v="6519" actId="164"/>
          <ac:spMkLst>
            <pc:docMk/>
            <pc:sldMk cId="0" sldId="268"/>
            <ac:spMk id="13" creationId="{00000000-0000-0000-0000-000000000000}"/>
          </ac:spMkLst>
        </pc:spChg>
        <pc:spChg chg="mod">
          <ac:chgData name="Francesco Bellotti" userId="f453232b-f87d-4756-9d8b-c09bc835cc42" providerId="ADAL" clId="{C7FEA3FA-4936-41E1-B7FA-CA082069F7F7}" dt="2026-10-07T06:05:49.909" v="6520" actId="164"/>
          <ac:spMkLst>
            <pc:docMk/>
            <pc:sldMk cId="0" sldId="268"/>
            <ac:spMk id="15" creationId="{00000000-0000-0000-0000-000000000000}"/>
          </ac:spMkLst>
        </pc:spChg>
        <pc:spChg chg="mod">
          <ac:chgData name="Francesco Bellotti" userId="f453232b-f87d-4756-9d8b-c09bc835cc42" providerId="ADAL" clId="{C7FEA3FA-4936-41E1-B7FA-CA082069F7F7}" dt="2026-10-07T06:05:49.909" v="6520" actId="164"/>
          <ac:spMkLst>
            <pc:docMk/>
            <pc:sldMk cId="0" sldId="268"/>
            <ac:spMk id="16" creationId="{00000000-0000-0000-0000-000000000000}"/>
          </ac:spMkLst>
        </pc:spChg>
        <pc:spChg chg="add del mod">
          <ac:chgData name="Francesco Bellotti" userId="f453232b-f87d-4756-9d8b-c09bc835cc42" providerId="ADAL" clId="{C7FEA3FA-4936-41E1-B7FA-CA082069F7F7}" dt="2026-10-07T06:07:30.881" v="6544" actId="478"/>
          <ac:spMkLst>
            <pc:docMk/>
            <pc:sldMk cId="0" sldId="268"/>
            <ac:spMk id="17" creationId="{00000000-0000-0000-0000-000000000000}"/>
          </ac:spMkLst>
        </pc:spChg>
        <pc:spChg chg="add del mod">
          <ac:chgData name="Francesco Bellotti" userId="f453232b-f87d-4756-9d8b-c09bc835cc42" providerId="ADAL" clId="{C7FEA3FA-4936-41E1-B7FA-CA082069F7F7}" dt="2026-10-07T06:07:30.881" v="6544" actId="478"/>
          <ac:spMkLst>
            <pc:docMk/>
            <pc:sldMk cId="0" sldId="268"/>
            <ac:spMk id="18" creationId="{00000000-0000-0000-0000-000000000000}"/>
          </ac:spMkLst>
        </pc:spChg>
        <pc:spChg chg="add del mod">
          <ac:chgData name="Francesco Bellotti" userId="f453232b-f87d-4756-9d8b-c09bc835cc42" providerId="ADAL" clId="{C7FEA3FA-4936-41E1-B7FA-CA082069F7F7}" dt="2026-10-07T06:07:30.346" v="6543" actId="478"/>
          <ac:spMkLst>
            <pc:docMk/>
            <pc:sldMk cId="0" sldId="268"/>
            <ac:spMk id="19" creationId="{00000000-0000-0000-0000-000000000000}"/>
          </ac:spMkLst>
        </pc:spChg>
        <pc:spChg chg="mod">
          <ac:chgData name="Francesco Bellotti" userId="f453232b-f87d-4756-9d8b-c09bc835cc42" providerId="ADAL" clId="{C7FEA3FA-4936-41E1-B7FA-CA082069F7F7}" dt="2026-10-07T06:08:02.154" v="6551" actId="113"/>
          <ac:spMkLst>
            <pc:docMk/>
            <pc:sldMk cId="0" sldId="268"/>
            <ac:spMk id="21" creationId="{00000000-0000-0000-0000-000000000000}"/>
          </ac:spMkLst>
        </pc:spChg>
        <pc:spChg chg="add mod">
          <ac:chgData name="Francesco Bellotti" userId="f453232b-f87d-4756-9d8b-c09bc835cc42" providerId="ADAL" clId="{C7FEA3FA-4936-41E1-B7FA-CA082069F7F7}" dt="2026-10-07T06:07:06.767" v="6537" actId="1076"/>
          <ac:spMkLst>
            <pc:docMk/>
            <pc:sldMk cId="0" sldId="268"/>
            <ac:spMk id="27" creationId="{8B90590F-7949-E7B8-9B81-081720E8D8FD}"/>
          </ac:spMkLst>
        </pc:spChg>
        <pc:spChg chg="add mod">
          <ac:chgData name="Francesco Bellotti" userId="f453232b-f87d-4756-9d8b-c09bc835cc42" providerId="ADAL" clId="{C7FEA3FA-4936-41E1-B7FA-CA082069F7F7}" dt="2026-10-07T06:07:12.378" v="6539" actId="1076"/>
          <ac:spMkLst>
            <pc:docMk/>
            <pc:sldMk cId="0" sldId="268"/>
            <ac:spMk id="29" creationId="{95EA96A3-C7C9-83F6-B0E7-2090C3CD9FFA}"/>
          </ac:spMkLst>
        </pc:spChg>
        <pc:grpChg chg="add mod">
          <ac:chgData name="Francesco Bellotti" userId="f453232b-f87d-4756-9d8b-c09bc835cc42" providerId="ADAL" clId="{C7FEA3FA-4936-41E1-B7FA-CA082069F7F7}" dt="2026-10-07T06:07:16.207" v="6540" actId="1076"/>
          <ac:grpSpMkLst>
            <pc:docMk/>
            <pc:sldMk cId="0" sldId="268"/>
            <ac:grpSpMk id="22" creationId="{E1BD0312-DB9E-8FD9-3957-F4F711DF6ED3}"/>
          </ac:grpSpMkLst>
        </pc:grpChg>
        <pc:grpChg chg="add mod">
          <ac:chgData name="Francesco Bellotti" userId="f453232b-f87d-4756-9d8b-c09bc835cc42" providerId="ADAL" clId="{C7FEA3FA-4936-41E1-B7FA-CA082069F7F7}" dt="2026-10-07T06:06:18.280" v="6527" actId="1076"/>
          <ac:grpSpMkLst>
            <pc:docMk/>
            <pc:sldMk cId="0" sldId="268"/>
            <ac:grpSpMk id="23" creationId="{0A2A9E73-33D1-4669-FF52-DD539EC43E26}"/>
          </ac:grpSpMkLst>
        </pc:grpChg>
        <pc:grpChg chg="add mod">
          <ac:chgData name="Francesco Bellotti" userId="f453232b-f87d-4756-9d8b-c09bc835cc42" providerId="ADAL" clId="{C7FEA3FA-4936-41E1-B7FA-CA082069F7F7}" dt="2026-10-07T06:06:22.829" v="6528" actId="1076"/>
          <ac:grpSpMkLst>
            <pc:docMk/>
            <pc:sldMk cId="0" sldId="268"/>
            <ac:grpSpMk id="24" creationId="{B2774334-669B-A723-8813-44E637E225EB}"/>
          </ac:grpSpMkLst>
        </pc:grpChg>
        <pc:grpChg chg="add mod">
          <ac:chgData name="Francesco Bellotti" userId="f453232b-f87d-4756-9d8b-c09bc835cc42" providerId="ADAL" clId="{C7FEA3FA-4936-41E1-B7FA-CA082069F7F7}" dt="2026-10-07T06:06:29.654" v="6529" actId="1076"/>
          <ac:grpSpMkLst>
            <pc:docMk/>
            <pc:sldMk cId="0" sldId="268"/>
            <ac:grpSpMk id="25" creationId="{EF7C0E72-EEE1-AF89-CC91-CE1D678A20AB}"/>
          </ac:grpSpMkLst>
        </pc:grpChg>
      </pc:sldChg>
      <pc:sldChg chg="mod modShow">
        <pc:chgData name="Francesco Bellotti" userId="f453232b-f87d-4756-9d8b-c09bc835cc42" providerId="ADAL" clId="{C7FEA3FA-4936-41E1-B7FA-CA082069F7F7}" dt="2026-10-07T06:08:48.356" v="6553" actId="729"/>
        <pc:sldMkLst>
          <pc:docMk/>
          <pc:sldMk cId="0" sldId="269"/>
        </pc:sldMkLst>
      </pc:sldChg>
      <pc:sldChg chg="modSp mod">
        <pc:chgData name="Francesco Bellotti" userId="f453232b-f87d-4756-9d8b-c09bc835cc42" providerId="ADAL" clId="{C7FEA3FA-4936-41E1-B7FA-CA082069F7F7}" dt="2026-10-06T21:18:51.121" v="6037" actId="13926"/>
        <pc:sldMkLst>
          <pc:docMk/>
          <pc:sldMk cId="238951223" sldId="271"/>
        </pc:sldMkLst>
        <pc:spChg chg="mod">
          <ac:chgData name="Francesco Bellotti" userId="f453232b-f87d-4756-9d8b-c09bc835cc42" providerId="ADAL" clId="{C7FEA3FA-4936-41E1-B7FA-CA082069F7F7}" dt="2026-10-06T21:18:51.121" v="6037" actId="13926"/>
          <ac:spMkLst>
            <pc:docMk/>
            <pc:sldMk cId="238951223" sldId="271"/>
            <ac:spMk id="3" creationId="{9509E53A-0A97-321A-9F04-636041CEF070}"/>
          </ac:spMkLst>
        </pc:spChg>
      </pc:sldChg>
      <pc:sldChg chg="modSp mod">
        <pc:chgData name="Francesco Bellotti" userId="f453232b-f87d-4756-9d8b-c09bc835cc42" providerId="ADAL" clId="{C7FEA3FA-4936-41E1-B7FA-CA082069F7F7}" dt="2026-10-07T05:32:29.229" v="6046" actId="13926"/>
        <pc:sldMkLst>
          <pc:docMk/>
          <pc:sldMk cId="2683559224" sldId="273"/>
        </pc:sldMkLst>
        <pc:spChg chg="mod">
          <ac:chgData name="Francesco Bellotti" userId="f453232b-f87d-4756-9d8b-c09bc835cc42" providerId="ADAL" clId="{C7FEA3FA-4936-41E1-B7FA-CA082069F7F7}" dt="2026-10-07T05:32:29.229" v="6046" actId="13926"/>
          <ac:spMkLst>
            <pc:docMk/>
            <pc:sldMk cId="2683559224" sldId="273"/>
            <ac:spMk id="3" creationId="{7B9E44AE-D500-C92E-219D-FF69C95EA4A0}"/>
          </ac:spMkLst>
        </pc:spChg>
      </pc:sldChg>
      <pc:sldChg chg="modSp mod">
        <pc:chgData name="Francesco Bellotti" userId="f453232b-f87d-4756-9d8b-c09bc835cc42" providerId="ADAL" clId="{C7FEA3FA-4936-41E1-B7FA-CA082069F7F7}" dt="2026-10-07T05:33:32.226" v="6076" actId="20577"/>
        <pc:sldMkLst>
          <pc:docMk/>
          <pc:sldMk cId="2790023836" sldId="274"/>
        </pc:sldMkLst>
        <pc:spChg chg="mod">
          <ac:chgData name="Francesco Bellotti" userId="f453232b-f87d-4756-9d8b-c09bc835cc42" providerId="ADAL" clId="{C7FEA3FA-4936-41E1-B7FA-CA082069F7F7}" dt="2026-10-07T05:33:32.226" v="6076" actId="20577"/>
          <ac:spMkLst>
            <pc:docMk/>
            <pc:sldMk cId="2790023836" sldId="274"/>
            <ac:spMk id="3" creationId="{1E6E3625-16D8-DE90-D15F-2317F53703D1}"/>
          </ac:spMkLst>
        </pc:spChg>
      </pc:sldChg>
      <pc:sldChg chg="modSp mod">
        <pc:chgData name="Francesco Bellotti" userId="f453232b-f87d-4756-9d8b-c09bc835cc42" providerId="ADAL" clId="{C7FEA3FA-4936-41E1-B7FA-CA082069F7F7}" dt="2026-10-07T05:35:48.456" v="6100" actId="13926"/>
        <pc:sldMkLst>
          <pc:docMk/>
          <pc:sldMk cId="928543162" sldId="275"/>
        </pc:sldMkLst>
        <pc:spChg chg="mod">
          <ac:chgData name="Francesco Bellotti" userId="f453232b-f87d-4756-9d8b-c09bc835cc42" providerId="ADAL" clId="{C7FEA3FA-4936-41E1-B7FA-CA082069F7F7}" dt="2026-10-07T05:35:48.456" v="6100" actId="13926"/>
          <ac:spMkLst>
            <pc:docMk/>
            <pc:sldMk cId="928543162" sldId="275"/>
            <ac:spMk id="3" creationId="{631DEF20-B204-97B0-CD1F-EDC48FDC12A4}"/>
          </ac:spMkLst>
        </pc:spChg>
      </pc:sldChg>
      <pc:sldChg chg="modSp mod">
        <pc:chgData name="Francesco Bellotti" userId="f453232b-f87d-4756-9d8b-c09bc835cc42" providerId="ADAL" clId="{C7FEA3FA-4936-41E1-B7FA-CA082069F7F7}" dt="2026-10-07T05:39:18.634" v="6109" actId="13926"/>
        <pc:sldMkLst>
          <pc:docMk/>
          <pc:sldMk cId="582652260" sldId="278"/>
        </pc:sldMkLst>
        <pc:spChg chg="mod">
          <ac:chgData name="Francesco Bellotti" userId="f453232b-f87d-4756-9d8b-c09bc835cc42" providerId="ADAL" clId="{C7FEA3FA-4936-41E1-B7FA-CA082069F7F7}" dt="2026-10-07T05:38:49.202" v="6108" actId="13926"/>
          <ac:spMkLst>
            <pc:docMk/>
            <pc:sldMk cId="582652260" sldId="278"/>
            <ac:spMk id="3" creationId="{6849B969-9CBC-AF58-F033-50245EFD176C}"/>
          </ac:spMkLst>
        </pc:spChg>
        <pc:spChg chg="mod">
          <ac:chgData name="Francesco Bellotti" userId="f453232b-f87d-4756-9d8b-c09bc835cc42" providerId="ADAL" clId="{C7FEA3FA-4936-41E1-B7FA-CA082069F7F7}" dt="2026-10-07T05:39:18.634" v="6109" actId="13926"/>
          <ac:spMkLst>
            <pc:docMk/>
            <pc:sldMk cId="582652260" sldId="278"/>
            <ac:spMk id="4" creationId="{C69980AA-D55B-88A0-E72F-1CCAC9EF0991}"/>
          </ac:spMkLst>
        </pc:spChg>
      </pc:sldChg>
      <pc:sldChg chg="addSp modSp mod">
        <pc:chgData name="Francesco Bellotti" userId="f453232b-f87d-4756-9d8b-c09bc835cc42" providerId="ADAL" clId="{C7FEA3FA-4936-41E1-B7FA-CA082069F7F7}" dt="2026-10-07T05:49:12.569" v="6316" actId="1076"/>
        <pc:sldMkLst>
          <pc:docMk/>
          <pc:sldMk cId="21637793" sldId="279"/>
        </pc:sldMkLst>
        <pc:spChg chg="mod">
          <ac:chgData name="Francesco Bellotti" userId="f453232b-f87d-4756-9d8b-c09bc835cc42" providerId="ADAL" clId="{C7FEA3FA-4936-41E1-B7FA-CA082069F7F7}" dt="2026-10-07T05:45:55.284" v="6259" actId="13926"/>
          <ac:spMkLst>
            <pc:docMk/>
            <pc:sldMk cId="21637793" sldId="279"/>
            <ac:spMk id="3" creationId="{DD2546D6-2783-E9C9-E52F-AE423C8AC439}"/>
          </ac:spMkLst>
        </pc:spChg>
        <pc:spChg chg="add mod">
          <ac:chgData name="Francesco Bellotti" userId="f453232b-f87d-4756-9d8b-c09bc835cc42" providerId="ADAL" clId="{C7FEA3FA-4936-41E1-B7FA-CA082069F7F7}" dt="2026-10-07T05:43:04.023" v="6201" actId="20577"/>
          <ac:spMkLst>
            <pc:docMk/>
            <pc:sldMk cId="21637793" sldId="279"/>
            <ac:spMk id="4" creationId="{D813F817-4DD5-7150-5F0E-7EB21D0EB9CE}"/>
          </ac:spMkLst>
        </pc:spChg>
        <pc:spChg chg="add mod">
          <ac:chgData name="Francesco Bellotti" userId="f453232b-f87d-4756-9d8b-c09bc835cc42" providerId="ADAL" clId="{C7FEA3FA-4936-41E1-B7FA-CA082069F7F7}" dt="2026-10-07T05:49:12.569" v="6316" actId="1076"/>
          <ac:spMkLst>
            <pc:docMk/>
            <pc:sldMk cId="21637793" sldId="279"/>
            <ac:spMk id="6" creationId="{8B6947E6-495C-3FA8-4564-23BBD5806855}"/>
          </ac:spMkLst>
        </pc:spChg>
      </pc:sldChg>
      <pc:sldChg chg="modSp mod">
        <pc:chgData name="Francesco Bellotti" userId="f453232b-f87d-4756-9d8b-c09bc835cc42" providerId="ADAL" clId="{C7FEA3FA-4936-41E1-B7FA-CA082069F7F7}" dt="2026-10-07T05:49:47.507" v="6319" actId="13926"/>
        <pc:sldMkLst>
          <pc:docMk/>
          <pc:sldMk cId="3096628543" sldId="281"/>
        </pc:sldMkLst>
        <pc:spChg chg="mod">
          <ac:chgData name="Francesco Bellotti" userId="f453232b-f87d-4756-9d8b-c09bc835cc42" providerId="ADAL" clId="{C7FEA3FA-4936-41E1-B7FA-CA082069F7F7}" dt="2026-10-07T05:49:47.507" v="6319" actId="13926"/>
          <ac:spMkLst>
            <pc:docMk/>
            <pc:sldMk cId="3096628543" sldId="281"/>
            <ac:spMk id="3" creationId="{E6C54E94-8136-1A1F-CE03-8ED81B8D4DAD}"/>
          </ac:spMkLst>
        </pc:spChg>
      </pc:sldChg>
      <pc:sldChg chg="addSp modSp mod">
        <pc:chgData name="Francesco Bellotti" userId="f453232b-f87d-4756-9d8b-c09bc835cc42" providerId="ADAL" clId="{C7FEA3FA-4936-41E1-B7FA-CA082069F7F7}" dt="2026-10-12T17:43:38.630" v="10385" actId="20577"/>
        <pc:sldMkLst>
          <pc:docMk/>
          <pc:sldMk cId="1467282175" sldId="283"/>
        </pc:sldMkLst>
        <pc:spChg chg="mod">
          <ac:chgData name="Francesco Bellotti" userId="f453232b-f87d-4756-9d8b-c09bc835cc42" providerId="ADAL" clId="{C7FEA3FA-4936-41E1-B7FA-CA082069F7F7}" dt="2026-10-07T15:40:27.375" v="7335" actId="13926"/>
          <ac:spMkLst>
            <pc:docMk/>
            <pc:sldMk cId="1467282175" sldId="283"/>
            <ac:spMk id="3" creationId="{08C0EC01-206A-7884-56ED-88C84046456C}"/>
          </ac:spMkLst>
        </pc:spChg>
        <pc:spChg chg="add mod">
          <ac:chgData name="Francesco Bellotti" userId="f453232b-f87d-4756-9d8b-c09bc835cc42" providerId="ADAL" clId="{C7FEA3FA-4936-41E1-B7FA-CA082069F7F7}" dt="2026-10-12T17:43:38.630" v="10385" actId="20577"/>
          <ac:spMkLst>
            <pc:docMk/>
            <pc:sldMk cId="1467282175" sldId="283"/>
            <ac:spMk id="5" creationId="{7A8FFE35-458A-9A3D-C307-569F2B2A0477}"/>
          </ac:spMkLst>
        </pc:spChg>
      </pc:sldChg>
      <pc:sldChg chg="modSp mod">
        <pc:chgData name="Francesco Bellotti" userId="f453232b-f87d-4756-9d8b-c09bc835cc42" providerId="ADAL" clId="{C7FEA3FA-4936-41E1-B7FA-CA082069F7F7}" dt="2026-10-07T05:53:34.309" v="6376" actId="13926"/>
        <pc:sldMkLst>
          <pc:docMk/>
          <pc:sldMk cId="549060177" sldId="284"/>
        </pc:sldMkLst>
        <pc:spChg chg="mod">
          <ac:chgData name="Francesco Bellotti" userId="f453232b-f87d-4756-9d8b-c09bc835cc42" providerId="ADAL" clId="{C7FEA3FA-4936-41E1-B7FA-CA082069F7F7}" dt="2026-10-07T05:52:57.989" v="6373" actId="13926"/>
          <ac:spMkLst>
            <pc:docMk/>
            <pc:sldMk cId="549060177" sldId="284"/>
            <ac:spMk id="2" creationId="{3F0C4C8B-AC29-B370-B1AC-144F06616EBD}"/>
          </ac:spMkLst>
        </pc:spChg>
        <pc:spChg chg="mod">
          <ac:chgData name="Francesco Bellotti" userId="f453232b-f87d-4756-9d8b-c09bc835cc42" providerId="ADAL" clId="{C7FEA3FA-4936-41E1-B7FA-CA082069F7F7}" dt="2026-10-07T05:52:49.458" v="6372" actId="13926"/>
          <ac:spMkLst>
            <pc:docMk/>
            <pc:sldMk cId="549060177" sldId="284"/>
            <ac:spMk id="3" creationId="{502BDD6A-A3FC-4425-BB50-E9DDAF9AD244}"/>
          </ac:spMkLst>
        </pc:spChg>
        <pc:spChg chg="mod">
          <ac:chgData name="Francesco Bellotti" userId="f453232b-f87d-4756-9d8b-c09bc835cc42" providerId="ADAL" clId="{C7FEA3FA-4936-41E1-B7FA-CA082069F7F7}" dt="2026-10-07T05:53:34.309" v="6376" actId="13926"/>
          <ac:spMkLst>
            <pc:docMk/>
            <pc:sldMk cId="549060177" sldId="284"/>
            <ac:spMk id="4" creationId="{D2DCDEED-15E5-D749-5425-1291C0096142}"/>
          </ac:spMkLst>
        </pc:spChg>
      </pc:sldChg>
      <pc:sldChg chg="modSp mod">
        <pc:chgData name="Francesco Bellotti" userId="f453232b-f87d-4756-9d8b-c09bc835cc42" providerId="ADAL" clId="{C7FEA3FA-4936-41E1-B7FA-CA082069F7F7}" dt="2026-10-07T05:56:58.658" v="6407" actId="20577"/>
        <pc:sldMkLst>
          <pc:docMk/>
          <pc:sldMk cId="2264435684" sldId="285"/>
        </pc:sldMkLst>
        <pc:spChg chg="mod">
          <ac:chgData name="Francesco Bellotti" userId="f453232b-f87d-4756-9d8b-c09bc835cc42" providerId="ADAL" clId="{C7FEA3FA-4936-41E1-B7FA-CA082069F7F7}" dt="2026-10-07T05:56:58.658" v="6407" actId="20577"/>
          <ac:spMkLst>
            <pc:docMk/>
            <pc:sldMk cId="2264435684" sldId="285"/>
            <ac:spMk id="3" creationId="{CB157CE6-1BD1-0877-B2CE-478D5E591E9C}"/>
          </ac:spMkLst>
        </pc:spChg>
        <pc:spChg chg="mod">
          <ac:chgData name="Francesco Bellotti" userId="f453232b-f87d-4756-9d8b-c09bc835cc42" providerId="ADAL" clId="{C7FEA3FA-4936-41E1-B7FA-CA082069F7F7}" dt="2026-10-07T05:55:22.072" v="6383" actId="13926"/>
          <ac:spMkLst>
            <pc:docMk/>
            <pc:sldMk cId="2264435684" sldId="285"/>
            <ac:spMk id="4" creationId="{EEA402CE-610D-3360-88D0-C884A13A6D10}"/>
          </ac:spMkLst>
        </pc:spChg>
      </pc:sldChg>
      <pc:sldChg chg="modSp mod">
        <pc:chgData name="Francesco Bellotti" userId="f453232b-f87d-4756-9d8b-c09bc835cc42" providerId="ADAL" clId="{C7FEA3FA-4936-41E1-B7FA-CA082069F7F7}" dt="2026-10-07T05:57:53.689" v="6411" actId="13926"/>
        <pc:sldMkLst>
          <pc:docMk/>
          <pc:sldMk cId="2223382473" sldId="286"/>
        </pc:sldMkLst>
        <pc:spChg chg="mod">
          <ac:chgData name="Francesco Bellotti" userId="f453232b-f87d-4756-9d8b-c09bc835cc42" providerId="ADAL" clId="{C7FEA3FA-4936-41E1-B7FA-CA082069F7F7}" dt="2026-10-07T05:57:53.689" v="6411" actId="13926"/>
          <ac:spMkLst>
            <pc:docMk/>
            <pc:sldMk cId="2223382473" sldId="286"/>
            <ac:spMk id="2" creationId="{0D007C3C-1E68-B3C8-5A37-F558293CC72E}"/>
          </ac:spMkLst>
        </pc:spChg>
        <pc:spChg chg="mod">
          <ac:chgData name="Francesco Bellotti" userId="f453232b-f87d-4756-9d8b-c09bc835cc42" providerId="ADAL" clId="{C7FEA3FA-4936-41E1-B7FA-CA082069F7F7}" dt="2026-10-07T05:57:47.560" v="6410" actId="13926"/>
          <ac:spMkLst>
            <pc:docMk/>
            <pc:sldMk cId="2223382473" sldId="286"/>
            <ac:spMk id="3" creationId="{4A02E282-B0A1-7F83-B108-18D3C94F10BC}"/>
          </ac:spMkLst>
        </pc:spChg>
      </pc:sldChg>
      <pc:sldChg chg="modSp mod">
        <pc:chgData name="Francesco Bellotti" userId="f453232b-f87d-4756-9d8b-c09bc835cc42" providerId="ADAL" clId="{C7FEA3FA-4936-41E1-B7FA-CA082069F7F7}" dt="2026-10-07T05:59:59.670" v="6424" actId="113"/>
        <pc:sldMkLst>
          <pc:docMk/>
          <pc:sldMk cId="754612367" sldId="287"/>
        </pc:sldMkLst>
        <pc:spChg chg="mod">
          <ac:chgData name="Francesco Bellotti" userId="f453232b-f87d-4756-9d8b-c09bc835cc42" providerId="ADAL" clId="{C7FEA3FA-4936-41E1-B7FA-CA082069F7F7}" dt="2026-10-07T05:59:55.024" v="6423" actId="113"/>
          <ac:spMkLst>
            <pc:docMk/>
            <pc:sldMk cId="754612367" sldId="287"/>
            <ac:spMk id="3" creationId="{0D60491F-DD92-A130-B961-9F7A3104C556}"/>
          </ac:spMkLst>
        </pc:spChg>
        <pc:spChg chg="mod">
          <ac:chgData name="Francesco Bellotti" userId="f453232b-f87d-4756-9d8b-c09bc835cc42" providerId="ADAL" clId="{C7FEA3FA-4936-41E1-B7FA-CA082069F7F7}" dt="2026-10-07T05:59:59.670" v="6424" actId="113"/>
          <ac:spMkLst>
            <pc:docMk/>
            <pc:sldMk cId="754612367" sldId="287"/>
            <ac:spMk id="4" creationId="{94C18707-9CD5-419C-E263-C505BB2CAAAD}"/>
          </ac:spMkLst>
        </pc:spChg>
      </pc:sldChg>
      <pc:sldChg chg="modSp mod">
        <pc:chgData name="Francesco Bellotti" userId="f453232b-f87d-4756-9d8b-c09bc835cc42" providerId="ADAL" clId="{C7FEA3FA-4936-41E1-B7FA-CA082069F7F7}" dt="2026-10-07T06:02:07.857" v="6508" actId="113"/>
        <pc:sldMkLst>
          <pc:docMk/>
          <pc:sldMk cId="1407114158" sldId="288"/>
        </pc:sldMkLst>
        <pc:spChg chg="mod">
          <ac:chgData name="Francesco Bellotti" userId="f453232b-f87d-4756-9d8b-c09bc835cc42" providerId="ADAL" clId="{C7FEA3FA-4936-41E1-B7FA-CA082069F7F7}" dt="2026-10-07T06:02:07.857" v="6508" actId="113"/>
          <ac:spMkLst>
            <pc:docMk/>
            <pc:sldMk cId="1407114158" sldId="288"/>
            <ac:spMk id="5" creationId="{0591354C-2470-FE0B-1177-36E8B493ED47}"/>
          </ac:spMkLst>
        </pc:spChg>
      </pc:sldChg>
      <pc:sldChg chg="modSp mod">
        <pc:chgData name="Francesco Bellotti" userId="f453232b-f87d-4756-9d8b-c09bc835cc42" providerId="ADAL" clId="{C7FEA3FA-4936-41E1-B7FA-CA082069F7F7}" dt="2026-10-07T06:04:13.424" v="6514" actId="13926"/>
        <pc:sldMkLst>
          <pc:docMk/>
          <pc:sldMk cId="2175240754" sldId="289"/>
        </pc:sldMkLst>
        <pc:spChg chg="mod">
          <ac:chgData name="Francesco Bellotti" userId="f453232b-f87d-4756-9d8b-c09bc835cc42" providerId="ADAL" clId="{C7FEA3FA-4936-41E1-B7FA-CA082069F7F7}" dt="2026-10-07T06:04:13.424" v="6514" actId="13926"/>
          <ac:spMkLst>
            <pc:docMk/>
            <pc:sldMk cId="2175240754" sldId="289"/>
            <ac:spMk id="4" creationId="{6B11C1E1-3370-B0A7-AF1E-96F103F11E10}"/>
          </ac:spMkLst>
        </pc:spChg>
      </pc:sldChg>
      <pc:sldChg chg="mod modShow">
        <pc:chgData name="Francesco Bellotti" userId="f453232b-f87d-4756-9d8b-c09bc835cc42" providerId="ADAL" clId="{C7FEA3FA-4936-41E1-B7FA-CA082069F7F7}" dt="2026-10-07T06:08:40.809" v="6552" actId="729"/>
        <pc:sldMkLst>
          <pc:docMk/>
          <pc:sldMk cId="4243716377" sldId="290"/>
        </pc:sldMkLst>
      </pc:sldChg>
      <pc:sldChg chg="modSp mod">
        <pc:chgData name="Francesco Bellotti" userId="f453232b-f87d-4756-9d8b-c09bc835cc42" providerId="ADAL" clId="{C7FEA3FA-4936-41E1-B7FA-CA082069F7F7}" dt="2026-10-07T06:10:25.296" v="6581" actId="20577"/>
        <pc:sldMkLst>
          <pc:docMk/>
          <pc:sldMk cId="2210487157" sldId="291"/>
        </pc:sldMkLst>
        <pc:spChg chg="mod">
          <ac:chgData name="Francesco Bellotti" userId="f453232b-f87d-4756-9d8b-c09bc835cc42" providerId="ADAL" clId="{C7FEA3FA-4936-41E1-B7FA-CA082069F7F7}" dt="2026-10-07T06:09:50.531" v="6555" actId="13926"/>
          <ac:spMkLst>
            <pc:docMk/>
            <pc:sldMk cId="2210487157" sldId="291"/>
            <ac:spMk id="3" creationId="{97AD4D3F-7C34-87C8-6885-4086470D4F19}"/>
          </ac:spMkLst>
        </pc:spChg>
        <pc:spChg chg="mod">
          <ac:chgData name="Francesco Bellotti" userId="f453232b-f87d-4756-9d8b-c09bc835cc42" providerId="ADAL" clId="{C7FEA3FA-4936-41E1-B7FA-CA082069F7F7}" dt="2026-10-07T06:10:25.296" v="6581" actId="20577"/>
          <ac:spMkLst>
            <pc:docMk/>
            <pc:sldMk cId="2210487157" sldId="291"/>
            <ac:spMk id="4" creationId="{5722A8BA-6220-BEC3-A384-C0062A985868}"/>
          </ac:spMkLst>
        </pc:spChg>
      </pc:sldChg>
      <pc:sldChg chg="modSp add mod setBg modNotes">
        <pc:chgData name="Francesco Bellotti" userId="f453232b-f87d-4756-9d8b-c09bc835cc42" providerId="ADAL" clId="{C7FEA3FA-4936-41E1-B7FA-CA082069F7F7}" dt="2026-10-06T07:38:53.886" v="5989"/>
        <pc:sldMkLst>
          <pc:docMk/>
          <pc:sldMk cId="0" sldId="293"/>
        </pc:sldMkLst>
      </pc:sldChg>
      <pc:sldChg chg="addSp delSp modSp add mod setBg modNotes">
        <pc:chgData name="Francesco Bellotti" userId="f453232b-f87d-4756-9d8b-c09bc835cc42" providerId="ADAL" clId="{C7FEA3FA-4936-41E1-B7FA-CA082069F7F7}" dt="2026-10-07T06:15:56.545" v="6681" actId="13926"/>
        <pc:sldMkLst>
          <pc:docMk/>
          <pc:sldMk cId="0" sldId="294"/>
        </pc:sldMkLst>
        <pc:spChg chg="mod">
          <ac:chgData name="Francesco Bellotti" userId="f453232b-f87d-4756-9d8b-c09bc835cc42" providerId="ADAL" clId="{C7FEA3FA-4936-41E1-B7FA-CA082069F7F7}" dt="2026-10-07T06:15:56.545" v="6681" actId="13926"/>
          <ac:spMkLst>
            <pc:docMk/>
            <pc:sldMk cId="0" sldId="294"/>
            <ac:spMk id="60" creationId="{00000000-0000-0000-0000-000000000000}"/>
          </ac:spMkLst>
        </pc:spChg>
      </pc:sldChg>
      <pc:sldChg chg="modSp add mod setBg modNotes">
        <pc:chgData name="Francesco Bellotti" userId="f453232b-f87d-4756-9d8b-c09bc835cc42" providerId="ADAL" clId="{C7FEA3FA-4936-41E1-B7FA-CA082069F7F7}" dt="2026-10-07T06:16:19.940" v="6682" actId="13926"/>
        <pc:sldMkLst>
          <pc:docMk/>
          <pc:sldMk cId="0" sldId="295"/>
        </pc:sldMkLst>
        <pc:spChg chg="mod">
          <ac:chgData name="Francesco Bellotti" userId="f453232b-f87d-4756-9d8b-c09bc835cc42" providerId="ADAL" clId="{C7FEA3FA-4936-41E1-B7FA-CA082069F7F7}" dt="2026-10-07T06:16:19.940" v="6682" actId="13926"/>
          <ac:spMkLst>
            <pc:docMk/>
            <pc:sldMk cId="0" sldId="295"/>
            <ac:spMk id="93" creationId="{00000000-0000-0000-0000-000000000000}"/>
          </ac:spMkLst>
        </pc:spChg>
      </pc:sldChg>
      <pc:sldChg chg="modSp add mod setBg modNotes">
        <pc:chgData name="Francesco Bellotti" userId="f453232b-f87d-4756-9d8b-c09bc835cc42" providerId="ADAL" clId="{C7FEA3FA-4936-41E1-B7FA-CA082069F7F7}" dt="2026-10-07T06:18:18.063" v="6693" actId="13926"/>
        <pc:sldMkLst>
          <pc:docMk/>
          <pc:sldMk cId="0" sldId="296"/>
        </pc:sldMkLst>
        <pc:spChg chg="mod">
          <ac:chgData name="Francesco Bellotti" userId="f453232b-f87d-4756-9d8b-c09bc835cc42" providerId="ADAL" clId="{C7FEA3FA-4936-41E1-B7FA-CA082069F7F7}" dt="2026-10-07T06:18:18.063" v="6693" actId="13926"/>
          <ac:spMkLst>
            <pc:docMk/>
            <pc:sldMk cId="0" sldId="296"/>
            <ac:spMk id="149" creationId="{00000000-0000-0000-0000-000000000000}"/>
          </ac:spMkLst>
        </pc:spChg>
        <pc:spChg chg="mod">
          <ac:chgData name="Francesco Bellotti" userId="f453232b-f87d-4756-9d8b-c09bc835cc42" providerId="ADAL" clId="{C7FEA3FA-4936-41E1-B7FA-CA082069F7F7}" dt="2026-10-07T06:17:06.567" v="6685" actId="403"/>
          <ac:spMkLst>
            <pc:docMk/>
            <pc:sldMk cId="0" sldId="296"/>
            <ac:spMk id="150" creationId="{00000000-0000-0000-0000-000000000000}"/>
          </ac:spMkLst>
        </pc:spChg>
        <pc:spChg chg="mod">
          <ac:chgData name="Francesco Bellotti" userId="f453232b-f87d-4756-9d8b-c09bc835cc42" providerId="ADAL" clId="{C7FEA3FA-4936-41E1-B7FA-CA082069F7F7}" dt="2026-10-07T06:17:19.787" v="6686" actId="113"/>
          <ac:spMkLst>
            <pc:docMk/>
            <pc:sldMk cId="0" sldId="296"/>
            <ac:spMk id="152" creationId="{00000000-0000-0000-0000-000000000000}"/>
          </ac:spMkLst>
        </pc:spChg>
        <pc:spChg chg="mod">
          <ac:chgData name="Francesco Bellotti" userId="f453232b-f87d-4756-9d8b-c09bc835cc42" providerId="ADAL" clId="{C7FEA3FA-4936-41E1-B7FA-CA082069F7F7}" dt="2026-10-07T06:18:09.419" v="6692" actId="1076"/>
          <ac:spMkLst>
            <pc:docMk/>
            <pc:sldMk cId="0" sldId="296"/>
            <ac:spMk id="163" creationId="{00000000-0000-0000-0000-000000000000}"/>
          </ac:spMkLst>
        </pc:spChg>
      </pc:sldChg>
      <pc:sldChg chg="modSp add mod setBg modNotes">
        <pc:chgData name="Francesco Bellotti" userId="f453232b-f87d-4756-9d8b-c09bc835cc42" providerId="ADAL" clId="{C7FEA3FA-4936-41E1-B7FA-CA082069F7F7}" dt="2026-10-12T11:57:11.636" v="10299" actId="20577"/>
        <pc:sldMkLst>
          <pc:docMk/>
          <pc:sldMk cId="0" sldId="297"/>
        </pc:sldMkLst>
        <pc:spChg chg="mod">
          <ac:chgData name="Francesco Bellotti" userId="f453232b-f87d-4756-9d8b-c09bc835cc42" providerId="ADAL" clId="{C7FEA3FA-4936-41E1-B7FA-CA082069F7F7}" dt="2026-10-07T06:20:48.562" v="6706" actId="403"/>
          <ac:spMkLst>
            <pc:docMk/>
            <pc:sldMk cId="0" sldId="297"/>
            <ac:spMk id="169" creationId="{00000000-0000-0000-0000-000000000000}"/>
          </ac:spMkLst>
        </pc:spChg>
        <pc:spChg chg="mod">
          <ac:chgData name="Francesco Bellotti" userId="f453232b-f87d-4756-9d8b-c09bc835cc42" providerId="ADAL" clId="{C7FEA3FA-4936-41E1-B7FA-CA082069F7F7}" dt="2026-10-07T06:20:56.461" v="6707" actId="113"/>
          <ac:spMkLst>
            <pc:docMk/>
            <pc:sldMk cId="0" sldId="297"/>
            <ac:spMk id="171" creationId="{00000000-0000-0000-0000-000000000000}"/>
          </ac:spMkLst>
        </pc:spChg>
        <pc:spChg chg="mod">
          <ac:chgData name="Francesco Bellotti" userId="f453232b-f87d-4756-9d8b-c09bc835cc42" providerId="ADAL" clId="{C7FEA3FA-4936-41E1-B7FA-CA082069F7F7}" dt="2026-10-07T06:20:26.061" v="6702" actId="1076"/>
          <ac:spMkLst>
            <pc:docMk/>
            <pc:sldMk cId="0" sldId="297"/>
            <ac:spMk id="173" creationId="{00000000-0000-0000-0000-000000000000}"/>
          </ac:spMkLst>
        </pc:spChg>
        <pc:spChg chg="mod">
          <ac:chgData name="Francesco Bellotti" userId="f453232b-f87d-4756-9d8b-c09bc835cc42" providerId="ADAL" clId="{C7FEA3FA-4936-41E1-B7FA-CA082069F7F7}" dt="2026-10-07T06:20:33.104" v="6703" actId="1076"/>
          <ac:spMkLst>
            <pc:docMk/>
            <pc:sldMk cId="0" sldId="297"/>
            <ac:spMk id="174" creationId="{00000000-0000-0000-0000-000000000000}"/>
          </ac:spMkLst>
        </pc:spChg>
        <pc:spChg chg="mod">
          <ac:chgData name="Francesco Bellotti" userId="f453232b-f87d-4756-9d8b-c09bc835cc42" providerId="ADAL" clId="{C7FEA3FA-4936-41E1-B7FA-CA082069F7F7}" dt="2026-10-12T11:57:11.636" v="10299" actId="20577"/>
          <ac:spMkLst>
            <pc:docMk/>
            <pc:sldMk cId="0" sldId="297"/>
            <ac:spMk id="197" creationId="{00000000-0000-0000-0000-000000000000}"/>
          </ac:spMkLst>
        </pc:spChg>
      </pc:sldChg>
      <pc:sldChg chg="modSp add mod setBg modNotes">
        <pc:chgData name="Francesco Bellotti" userId="f453232b-f87d-4756-9d8b-c09bc835cc42" providerId="ADAL" clId="{C7FEA3FA-4936-41E1-B7FA-CA082069F7F7}" dt="2026-10-07T06:21:58.094" v="6711" actId="113"/>
        <pc:sldMkLst>
          <pc:docMk/>
          <pc:sldMk cId="0" sldId="298"/>
        </pc:sldMkLst>
        <pc:spChg chg="mod">
          <ac:chgData name="Francesco Bellotti" userId="f453232b-f87d-4756-9d8b-c09bc835cc42" providerId="ADAL" clId="{C7FEA3FA-4936-41E1-B7FA-CA082069F7F7}" dt="2026-10-07T06:21:58.094" v="6711" actId="113"/>
          <ac:spMkLst>
            <pc:docMk/>
            <pc:sldMk cId="0" sldId="298"/>
            <ac:spMk id="204" creationId="{00000000-0000-0000-0000-000000000000}"/>
          </ac:spMkLst>
        </pc:spChg>
        <pc:spChg chg="mod">
          <ac:chgData name="Francesco Bellotti" userId="f453232b-f87d-4756-9d8b-c09bc835cc42" providerId="ADAL" clId="{C7FEA3FA-4936-41E1-B7FA-CA082069F7F7}" dt="2026-10-07T06:21:52.382" v="6710" actId="113"/>
          <ac:spMkLst>
            <pc:docMk/>
            <pc:sldMk cId="0" sldId="298"/>
            <ac:spMk id="206" creationId="{00000000-0000-0000-0000-000000000000}"/>
          </ac:spMkLst>
        </pc:spChg>
        <pc:spChg chg="mod">
          <ac:chgData name="Francesco Bellotti" userId="f453232b-f87d-4756-9d8b-c09bc835cc42" providerId="ADAL" clId="{C7FEA3FA-4936-41E1-B7FA-CA082069F7F7}" dt="2026-10-07T06:21:34.358" v="6709" actId="13926"/>
          <ac:spMkLst>
            <pc:docMk/>
            <pc:sldMk cId="0" sldId="298"/>
            <ac:spMk id="231" creationId="{00000000-0000-0000-0000-000000000000}"/>
          </ac:spMkLst>
        </pc:spChg>
      </pc:sldChg>
      <pc:sldChg chg="addSp delSp modSp add mod setBg modNotes">
        <pc:chgData name="Francesco Bellotti" userId="f453232b-f87d-4756-9d8b-c09bc835cc42" providerId="ADAL" clId="{C7FEA3FA-4936-41E1-B7FA-CA082069F7F7}" dt="2026-10-07T06:24:32.932" v="6722"/>
        <pc:sldMkLst>
          <pc:docMk/>
          <pc:sldMk cId="0" sldId="299"/>
        </pc:sldMkLst>
        <pc:spChg chg="mod">
          <ac:chgData name="Francesco Bellotti" userId="f453232b-f87d-4756-9d8b-c09bc835cc42" providerId="ADAL" clId="{C7FEA3FA-4936-41E1-B7FA-CA082069F7F7}" dt="2026-10-07T06:24:32.932" v="6722"/>
          <ac:spMkLst>
            <pc:docMk/>
            <pc:sldMk cId="0" sldId="299"/>
            <ac:spMk id="235" creationId="{00000000-0000-0000-0000-000000000000}"/>
          </ac:spMkLst>
        </pc:spChg>
        <pc:spChg chg="mod">
          <ac:chgData name="Francesco Bellotti" userId="f453232b-f87d-4756-9d8b-c09bc835cc42" providerId="ADAL" clId="{C7FEA3FA-4936-41E1-B7FA-CA082069F7F7}" dt="2026-10-07T06:23:53.948" v="6717" actId="403"/>
          <ac:spMkLst>
            <pc:docMk/>
            <pc:sldMk cId="0" sldId="299"/>
            <ac:spMk id="237" creationId="{00000000-0000-0000-0000-000000000000}"/>
          </ac:spMkLst>
        </pc:spChg>
      </pc:sldChg>
      <pc:sldChg chg="addSp delSp modSp add mod setBg chgLayout modNotes">
        <pc:chgData name="Francesco Bellotti" userId="f453232b-f87d-4756-9d8b-c09bc835cc42" providerId="ADAL" clId="{C7FEA3FA-4936-41E1-B7FA-CA082069F7F7}" dt="2026-10-10T10:01:00.292" v="8049" actId="20577"/>
        <pc:sldMkLst>
          <pc:docMk/>
          <pc:sldMk cId="0" sldId="300"/>
        </pc:sldMkLst>
        <pc:spChg chg="mod">
          <ac:chgData name="Francesco Bellotti" userId="f453232b-f87d-4756-9d8b-c09bc835cc42" providerId="ADAL" clId="{C7FEA3FA-4936-41E1-B7FA-CA082069F7F7}" dt="2026-10-10T10:01:00.292" v="8049" actId="20577"/>
          <ac:spMkLst>
            <pc:docMk/>
            <pc:sldMk cId="0" sldId="300"/>
            <ac:spMk id="256" creationId="{00000000-0000-0000-0000-000000000000}"/>
          </ac:spMkLst>
        </pc:spChg>
        <pc:spChg chg="mod">
          <ac:chgData name="Francesco Bellotti" userId="f453232b-f87d-4756-9d8b-c09bc835cc42" providerId="ADAL" clId="{C7FEA3FA-4936-41E1-B7FA-CA082069F7F7}" dt="2026-10-10T10:00:47.053" v="8015" actId="20577"/>
          <ac:spMkLst>
            <pc:docMk/>
            <pc:sldMk cId="0" sldId="300"/>
            <ac:spMk id="282" creationId="{00000000-0000-0000-0000-000000000000}"/>
          </ac:spMkLst>
        </pc:spChg>
      </pc:sldChg>
      <pc:sldChg chg="modSp add mod setBg modNotes">
        <pc:chgData name="Francesco Bellotti" userId="f453232b-f87d-4756-9d8b-c09bc835cc42" providerId="ADAL" clId="{C7FEA3FA-4936-41E1-B7FA-CA082069F7F7}" dt="2026-10-07T06:27:55.674" v="6729" actId="113"/>
        <pc:sldMkLst>
          <pc:docMk/>
          <pc:sldMk cId="0" sldId="301"/>
        </pc:sldMkLst>
        <pc:spChg chg="mod">
          <ac:chgData name="Francesco Bellotti" userId="f453232b-f87d-4756-9d8b-c09bc835cc42" providerId="ADAL" clId="{C7FEA3FA-4936-41E1-B7FA-CA082069F7F7}" dt="2026-10-07T06:27:55.674" v="6729" actId="113"/>
          <ac:spMkLst>
            <pc:docMk/>
            <pc:sldMk cId="0" sldId="301"/>
            <ac:spMk id="288" creationId="{00000000-0000-0000-0000-000000000000}"/>
          </ac:spMkLst>
        </pc:spChg>
        <pc:spChg chg="mod">
          <ac:chgData name="Francesco Bellotti" userId="f453232b-f87d-4756-9d8b-c09bc835cc42" providerId="ADAL" clId="{C7FEA3FA-4936-41E1-B7FA-CA082069F7F7}" dt="2026-10-07T06:27:11.122" v="6727" actId="113"/>
          <ac:spMkLst>
            <pc:docMk/>
            <pc:sldMk cId="0" sldId="301"/>
            <ac:spMk id="315" creationId="{00000000-0000-0000-0000-000000000000}"/>
          </ac:spMkLst>
        </pc:spChg>
        <pc:spChg chg="mod">
          <ac:chgData name="Francesco Bellotti" userId="f453232b-f87d-4756-9d8b-c09bc835cc42" providerId="ADAL" clId="{C7FEA3FA-4936-41E1-B7FA-CA082069F7F7}" dt="2026-10-07T06:27:16.098" v="6728" actId="113"/>
          <ac:spMkLst>
            <pc:docMk/>
            <pc:sldMk cId="0" sldId="301"/>
            <ac:spMk id="340" creationId="{00000000-0000-0000-0000-000000000000}"/>
          </ac:spMkLst>
        </pc:spChg>
      </pc:sldChg>
      <pc:sldChg chg="modSp add mod setBg modNotes">
        <pc:chgData name="Francesco Bellotti" userId="f453232b-f87d-4756-9d8b-c09bc835cc42" providerId="ADAL" clId="{C7FEA3FA-4936-41E1-B7FA-CA082069F7F7}" dt="2026-10-06T07:38:53.886" v="5989"/>
        <pc:sldMkLst>
          <pc:docMk/>
          <pc:sldMk cId="0" sldId="302"/>
        </pc:sldMkLst>
      </pc:sldChg>
      <pc:sldChg chg="modSp add mod setBg modNotes">
        <pc:chgData name="Francesco Bellotti" userId="f453232b-f87d-4756-9d8b-c09bc835cc42" providerId="ADAL" clId="{C7FEA3FA-4936-41E1-B7FA-CA082069F7F7}" dt="2026-10-07T06:39:19.680" v="6780" actId="113"/>
        <pc:sldMkLst>
          <pc:docMk/>
          <pc:sldMk cId="0" sldId="303"/>
        </pc:sldMkLst>
        <pc:spChg chg="mod">
          <ac:chgData name="Francesco Bellotti" userId="f453232b-f87d-4756-9d8b-c09bc835cc42" providerId="ADAL" clId="{C7FEA3FA-4936-41E1-B7FA-CA082069F7F7}" dt="2026-10-07T06:39:19.680" v="6780" actId="113"/>
          <ac:spMkLst>
            <pc:docMk/>
            <pc:sldMk cId="0" sldId="303"/>
            <ac:spMk id="361" creationId="{00000000-0000-0000-0000-000000000000}"/>
          </ac:spMkLst>
        </pc:spChg>
        <pc:spChg chg="mod">
          <ac:chgData name="Francesco Bellotti" userId="f453232b-f87d-4756-9d8b-c09bc835cc42" providerId="ADAL" clId="{C7FEA3FA-4936-41E1-B7FA-CA082069F7F7}" dt="2026-10-07T06:39:15.461" v="6779" actId="403"/>
          <ac:spMkLst>
            <pc:docMk/>
            <pc:sldMk cId="0" sldId="303"/>
            <ac:spMk id="363" creationId="{00000000-0000-0000-0000-000000000000}"/>
          </ac:spMkLst>
        </pc:spChg>
        <pc:spChg chg="mod">
          <ac:chgData name="Francesco Bellotti" userId="f453232b-f87d-4756-9d8b-c09bc835cc42" providerId="ADAL" clId="{C7FEA3FA-4936-41E1-B7FA-CA082069F7F7}" dt="2026-10-07T06:38:56.320" v="6777" actId="1076"/>
          <ac:spMkLst>
            <pc:docMk/>
            <pc:sldMk cId="0" sldId="303"/>
            <ac:spMk id="384" creationId="{00000000-0000-0000-0000-000000000000}"/>
          </ac:spMkLst>
        </pc:spChg>
        <pc:spChg chg="mod">
          <ac:chgData name="Francesco Bellotti" userId="f453232b-f87d-4756-9d8b-c09bc835cc42" providerId="ADAL" clId="{C7FEA3FA-4936-41E1-B7FA-CA082069F7F7}" dt="2026-10-07T06:38:56.320" v="6777" actId="1076"/>
          <ac:spMkLst>
            <pc:docMk/>
            <pc:sldMk cId="0" sldId="303"/>
            <ac:spMk id="385" creationId="{00000000-0000-0000-0000-000000000000}"/>
          </ac:spMkLst>
        </pc:spChg>
        <pc:spChg chg="mod">
          <ac:chgData name="Francesco Bellotti" userId="f453232b-f87d-4756-9d8b-c09bc835cc42" providerId="ADAL" clId="{C7FEA3FA-4936-41E1-B7FA-CA082069F7F7}" dt="2026-10-07T06:38:56.320" v="6777" actId="1076"/>
          <ac:spMkLst>
            <pc:docMk/>
            <pc:sldMk cId="0" sldId="303"/>
            <ac:spMk id="386" creationId="{00000000-0000-0000-0000-000000000000}"/>
          </ac:spMkLst>
        </pc:spChg>
        <pc:spChg chg="mod">
          <ac:chgData name="Francesco Bellotti" userId="f453232b-f87d-4756-9d8b-c09bc835cc42" providerId="ADAL" clId="{C7FEA3FA-4936-41E1-B7FA-CA082069F7F7}" dt="2026-10-07T06:38:56.320" v="6777" actId="1076"/>
          <ac:spMkLst>
            <pc:docMk/>
            <pc:sldMk cId="0" sldId="303"/>
            <ac:spMk id="387" creationId="{00000000-0000-0000-0000-000000000000}"/>
          </ac:spMkLst>
        </pc:spChg>
        <pc:spChg chg="mod">
          <ac:chgData name="Francesco Bellotti" userId="f453232b-f87d-4756-9d8b-c09bc835cc42" providerId="ADAL" clId="{C7FEA3FA-4936-41E1-B7FA-CA082069F7F7}" dt="2026-10-07T06:38:56.320" v="6777" actId="1076"/>
          <ac:spMkLst>
            <pc:docMk/>
            <pc:sldMk cId="0" sldId="303"/>
            <ac:spMk id="388" creationId="{00000000-0000-0000-0000-000000000000}"/>
          </ac:spMkLst>
        </pc:spChg>
        <pc:spChg chg="mod">
          <ac:chgData name="Francesco Bellotti" userId="f453232b-f87d-4756-9d8b-c09bc835cc42" providerId="ADAL" clId="{C7FEA3FA-4936-41E1-B7FA-CA082069F7F7}" dt="2026-10-07T06:38:56.320" v="6777" actId="1076"/>
          <ac:spMkLst>
            <pc:docMk/>
            <pc:sldMk cId="0" sldId="303"/>
            <ac:spMk id="389" creationId="{00000000-0000-0000-0000-000000000000}"/>
          </ac:spMkLst>
        </pc:spChg>
        <pc:spChg chg="mod">
          <ac:chgData name="Francesco Bellotti" userId="f453232b-f87d-4756-9d8b-c09bc835cc42" providerId="ADAL" clId="{C7FEA3FA-4936-41E1-B7FA-CA082069F7F7}" dt="2026-10-07T06:38:45.964" v="6776" actId="1076"/>
          <ac:spMkLst>
            <pc:docMk/>
            <pc:sldMk cId="0" sldId="303"/>
            <ac:spMk id="390" creationId="{00000000-0000-0000-0000-000000000000}"/>
          </ac:spMkLst>
        </pc:spChg>
        <pc:spChg chg="mod">
          <ac:chgData name="Francesco Bellotti" userId="f453232b-f87d-4756-9d8b-c09bc835cc42" providerId="ADAL" clId="{C7FEA3FA-4936-41E1-B7FA-CA082069F7F7}" dt="2026-10-07T06:38:45.964" v="6776" actId="1076"/>
          <ac:spMkLst>
            <pc:docMk/>
            <pc:sldMk cId="0" sldId="303"/>
            <ac:spMk id="391" creationId="{00000000-0000-0000-0000-000000000000}"/>
          </ac:spMkLst>
        </pc:spChg>
        <pc:spChg chg="mod">
          <ac:chgData name="Francesco Bellotti" userId="f453232b-f87d-4756-9d8b-c09bc835cc42" providerId="ADAL" clId="{C7FEA3FA-4936-41E1-B7FA-CA082069F7F7}" dt="2026-10-07T06:38:39.843" v="6775" actId="1076"/>
          <ac:spMkLst>
            <pc:docMk/>
            <pc:sldMk cId="0" sldId="303"/>
            <ac:spMk id="392" creationId="{00000000-0000-0000-0000-000000000000}"/>
          </ac:spMkLst>
        </pc:spChg>
      </pc:sldChg>
      <pc:sldChg chg="modSp add mod setBg modNotes">
        <pc:chgData name="Francesco Bellotti" userId="f453232b-f87d-4756-9d8b-c09bc835cc42" providerId="ADAL" clId="{C7FEA3FA-4936-41E1-B7FA-CA082069F7F7}" dt="2026-10-10T12:36:06.882" v="8066" actId="113"/>
        <pc:sldMkLst>
          <pc:docMk/>
          <pc:sldMk cId="0" sldId="304"/>
        </pc:sldMkLst>
        <pc:spChg chg="mod">
          <ac:chgData name="Francesco Bellotti" userId="f453232b-f87d-4756-9d8b-c09bc835cc42" providerId="ADAL" clId="{C7FEA3FA-4936-41E1-B7FA-CA082069F7F7}" dt="2026-10-10T12:36:06.882" v="8066" actId="113"/>
          <ac:spMkLst>
            <pc:docMk/>
            <pc:sldMk cId="0" sldId="304"/>
            <ac:spMk id="395" creationId="{00000000-0000-0000-0000-000000000000}"/>
          </ac:spMkLst>
        </pc:spChg>
        <pc:spChg chg="mod">
          <ac:chgData name="Francesco Bellotti" userId="f453232b-f87d-4756-9d8b-c09bc835cc42" providerId="ADAL" clId="{C7FEA3FA-4936-41E1-B7FA-CA082069F7F7}" dt="2026-10-07T06:39:39.626" v="6781" actId="113"/>
          <ac:spMkLst>
            <pc:docMk/>
            <pc:sldMk cId="0" sldId="304"/>
            <ac:spMk id="396" creationId="{00000000-0000-0000-0000-000000000000}"/>
          </ac:spMkLst>
        </pc:spChg>
        <pc:spChg chg="mod">
          <ac:chgData name="Francesco Bellotti" userId="f453232b-f87d-4756-9d8b-c09bc835cc42" providerId="ADAL" clId="{C7FEA3FA-4936-41E1-B7FA-CA082069F7F7}" dt="2026-10-07T06:40:20.883" v="6795" actId="1076"/>
          <ac:spMkLst>
            <pc:docMk/>
            <pc:sldMk cId="0" sldId="304"/>
            <ac:spMk id="417" creationId="{00000000-0000-0000-0000-000000000000}"/>
          </ac:spMkLst>
        </pc:spChg>
        <pc:spChg chg="mod">
          <ac:chgData name="Francesco Bellotti" userId="f453232b-f87d-4756-9d8b-c09bc835cc42" providerId="ADAL" clId="{C7FEA3FA-4936-41E1-B7FA-CA082069F7F7}" dt="2026-10-07T06:40:13.760" v="6794" actId="1076"/>
          <ac:spMkLst>
            <pc:docMk/>
            <pc:sldMk cId="0" sldId="304"/>
            <ac:spMk id="418" creationId="{00000000-0000-0000-0000-000000000000}"/>
          </ac:spMkLst>
        </pc:spChg>
        <pc:spChg chg="mod">
          <ac:chgData name="Francesco Bellotti" userId="f453232b-f87d-4756-9d8b-c09bc835cc42" providerId="ADAL" clId="{C7FEA3FA-4936-41E1-B7FA-CA082069F7F7}" dt="2026-10-07T06:40:13.760" v="6794" actId="1076"/>
          <ac:spMkLst>
            <pc:docMk/>
            <pc:sldMk cId="0" sldId="304"/>
            <ac:spMk id="419" creationId="{00000000-0000-0000-0000-000000000000}"/>
          </ac:spMkLst>
        </pc:spChg>
        <pc:spChg chg="mod">
          <ac:chgData name="Francesco Bellotti" userId="f453232b-f87d-4756-9d8b-c09bc835cc42" providerId="ADAL" clId="{C7FEA3FA-4936-41E1-B7FA-CA082069F7F7}" dt="2026-10-07T06:40:13.760" v="6794" actId="1076"/>
          <ac:spMkLst>
            <pc:docMk/>
            <pc:sldMk cId="0" sldId="304"/>
            <ac:spMk id="420" creationId="{00000000-0000-0000-0000-000000000000}"/>
          </ac:spMkLst>
        </pc:spChg>
        <pc:spChg chg="mod">
          <ac:chgData name="Francesco Bellotti" userId="f453232b-f87d-4756-9d8b-c09bc835cc42" providerId="ADAL" clId="{C7FEA3FA-4936-41E1-B7FA-CA082069F7F7}" dt="2026-10-07T06:40:13.760" v="6794" actId="1076"/>
          <ac:spMkLst>
            <pc:docMk/>
            <pc:sldMk cId="0" sldId="304"/>
            <ac:spMk id="421" creationId="{00000000-0000-0000-0000-000000000000}"/>
          </ac:spMkLst>
        </pc:spChg>
        <pc:spChg chg="mod">
          <ac:chgData name="Francesco Bellotti" userId="f453232b-f87d-4756-9d8b-c09bc835cc42" providerId="ADAL" clId="{C7FEA3FA-4936-41E1-B7FA-CA082069F7F7}" dt="2026-10-07T06:40:13.760" v="6794" actId="1076"/>
          <ac:spMkLst>
            <pc:docMk/>
            <pc:sldMk cId="0" sldId="304"/>
            <ac:spMk id="422" creationId="{00000000-0000-0000-0000-000000000000}"/>
          </ac:spMkLst>
        </pc:spChg>
        <pc:spChg chg="mod">
          <ac:chgData name="Francesco Bellotti" userId="f453232b-f87d-4756-9d8b-c09bc835cc42" providerId="ADAL" clId="{C7FEA3FA-4936-41E1-B7FA-CA082069F7F7}" dt="2026-10-07T06:40:13.760" v="6794" actId="1076"/>
          <ac:spMkLst>
            <pc:docMk/>
            <pc:sldMk cId="0" sldId="304"/>
            <ac:spMk id="423" creationId="{00000000-0000-0000-0000-000000000000}"/>
          </ac:spMkLst>
        </pc:spChg>
        <pc:spChg chg="mod">
          <ac:chgData name="Francesco Bellotti" userId="f453232b-f87d-4756-9d8b-c09bc835cc42" providerId="ADAL" clId="{C7FEA3FA-4936-41E1-B7FA-CA082069F7F7}" dt="2026-10-07T06:40:30.621" v="6796" actId="1076"/>
          <ac:spMkLst>
            <pc:docMk/>
            <pc:sldMk cId="0" sldId="304"/>
            <ac:spMk id="424" creationId="{00000000-0000-0000-0000-000000000000}"/>
          </ac:spMkLst>
        </pc:spChg>
        <pc:spChg chg="mod">
          <ac:chgData name="Francesco Bellotti" userId="f453232b-f87d-4756-9d8b-c09bc835cc42" providerId="ADAL" clId="{C7FEA3FA-4936-41E1-B7FA-CA082069F7F7}" dt="2026-10-07T06:40:30.621" v="6796" actId="1076"/>
          <ac:spMkLst>
            <pc:docMk/>
            <pc:sldMk cId="0" sldId="304"/>
            <ac:spMk id="425" creationId="{00000000-0000-0000-0000-000000000000}"/>
          </ac:spMkLst>
        </pc:spChg>
        <pc:spChg chg="mod">
          <ac:chgData name="Francesco Bellotti" userId="f453232b-f87d-4756-9d8b-c09bc835cc42" providerId="ADAL" clId="{C7FEA3FA-4936-41E1-B7FA-CA082069F7F7}" dt="2026-10-07T06:40:42.760" v="6798" actId="1076"/>
          <ac:spMkLst>
            <pc:docMk/>
            <pc:sldMk cId="0" sldId="304"/>
            <ac:spMk id="426" creationId="{00000000-0000-0000-0000-000000000000}"/>
          </ac:spMkLst>
        </pc:spChg>
      </pc:sldChg>
      <pc:sldChg chg="modSp add mod setBg modNotes">
        <pc:chgData name="Francesco Bellotti" userId="f453232b-f87d-4756-9d8b-c09bc835cc42" providerId="ADAL" clId="{C7FEA3FA-4936-41E1-B7FA-CA082069F7F7}" dt="2026-10-06T07:38:53.886" v="5989"/>
        <pc:sldMkLst>
          <pc:docMk/>
          <pc:sldMk cId="0" sldId="305"/>
        </pc:sldMkLst>
      </pc:sldChg>
      <pc:sldChg chg="addSp modSp add mod setBg modNotes">
        <pc:chgData name="Francesco Bellotti" userId="f453232b-f87d-4756-9d8b-c09bc835cc42" providerId="ADAL" clId="{C7FEA3FA-4936-41E1-B7FA-CA082069F7F7}" dt="2026-10-12T12:14:12.268" v="10301" actId="1076"/>
        <pc:sldMkLst>
          <pc:docMk/>
          <pc:sldMk cId="0" sldId="306"/>
        </pc:sldMkLst>
        <pc:spChg chg="add mod">
          <ac:chgData name="Francesco Bellotti" userId="f453232b-f87d-4756-9d8b-c09bc835cc42" providerId="ADAL" clId="{C7FEA3FA-4936-41E1-B7FA-CA082069F7F7}" dt="2026-10-12T12:14:12.268" v="10301" actId="1076"/>
          <ac:spMkLst>
            <pc:docMk/>
            <pc:sldMk cId="0" sldId="306"/>
            <ac:spMk id="2" creationId="{CD82F328-5AA6-32C5-A8F6-B9A0F6D7A5D9}"/>
          </ac:spMkLst>
        </pc:spChg>
        <pc:spChg chg="mod">
          <ac:chgData name="Francesco Bellotti" userId="f453232b-f87d-4756-9d8b-c09bc835cc42" providerId="ADAL" clId="{C7FEA3FA-4936-41E1-B7FA-CA082069F7F7}" dt="2026-10-10T12:38:08.412" v="8067"/>
          <ac:spMkLst>
            <pc:docMk/>
            <pc:sldMk cId="0" sldId="306"/>
            <ac:spMk id="445" creationId="{00000000-0000-0000-0000-000000000000}"/>
          </ac:spMkLst>
        </pc:spChg>
        <pc:spChg chg="mod">
          <ac:chgData name="Francesco Bellotti" userId="f453232b-f87d-4756-9d8b-c09bc835cc42" providerId="ADAL" clId="{C7FEA3FA-4936-41E1-B7FA-CA082069F7F7}" dt="2026-10-10T12:38:29.327" v="8068" actId="1076"/>
          <ac:spMkLst>
            <pc:docMk/>
            <pc:sldMk cId="0" sldId="306"/>
            <ac:spMk id="448" creationId="{00000000-0000-0000-0000-000000000000}"/>
          </ac:spMkLst>
        </pc:spChg>
        <pc:spChg chg="mod">
          <ac:chgData name="Francesco Bellotti" userId="f453232b-f87d-4756-9d8b-c09bc835cc42" providerId="ADAL" clId="{C7FEA3FA-4936-41E1-B7FA-CA082069F7F7}" dt="2026-10-10T12:38:29.327" v="8068" actId="1076"/>
          <ac:spMkLst>
            <pc:docMk/>
            <pc:sldMk cId="0" sldId="306"/>
            <ac:spMk id="449" creationId="{00000000-0000-0000-0000-000000000000}"/>
          </ac:spMkLst>
        </pc:spChg>
        <pc:spChg chg="mod">
          <ac:chgData name="Francesco Bellotti" userId="f453232b-f87d-4756-9d8b-c09bc835cc42" providerId="ADAL" clId="{C7FEA3FA-4936-41E1-B7FA-CA082069F7F7}" dt="2026-10-10T12:38:29.327" v="8068" actId="1076"/>
          <ac:spMkLst>
            <pc:docMk/>
            <pc:sldMk cId="0" sldId="306"/>
            <ac:spMk id="450" creationId="{00000000-0000-0000-0000-000000000000}"/>
          </ac:spMkLst>
        </pc:spChg>
        <pc:spChg chg="mod">
          <ac:chgData name="Francesco Bellotti" userId="f453232b-f87d-4756-9d8b-c09bc835cc42" providerId="ADAL" clId="{C7FEA3FA-4936-41E1-B7FA-CA082069F7F7}" dt="2026-10-10T12:38:29.327" v="8068" actId="1076"/>
          <ac:spMkLst>
            <pc:docMk/>
            <pc:sldMk cId="0" sldId="306"/>
            <ac:spMk id="451" creationId="{00000000-0000-0000-0000-000000000000}"/>
          </ac:spMkLst>
        </pc:spChg>
        <pc:spChg chg="mod">
          <ac:chgData name="Francesco Bellotti" userId="f453232b-f87d-4756-9d8b-c09bc835cc42" providerId="ADAL" clId="{C7FEA3FA-4936-41E1-B7FA-CA082069F7F7}" dt="2026-10-10T12:38:29.327" v="8068" actId="1076"/>
          <ac:spMkLst>
            <pc:docMk/>
            <pc:sldMk cId="0" sldId="306"/>
            <ac:spMk id="452" creationId="{00000000-0000-0000-0000-000000000000}"/>
          </ac:spMkLst>
        </pc:spChg>
        <pc:spChg chg="mod">
          <ac:chgData name="Francesco Bellotti" userId="f453232b-f87d-4756-9d8b-c09bc835cc42" providerId="ADAL" clId="{C7FEA3FA-4936-41E1-B7FA-CA082069F7F7}" dt="2026-10-10T12:38:29.327" v="8068" actId="1076"/>
          <ac:spMkLst>
            <pc:docMk/>
            <pc:sldMk cId="0" sldId="306"/>
            <ac:spMk id="453" creationId="{00000000-0000-0000-0000-000000000000}"/>
          </ac:spMkLst>
        </pc:spChg>
        <pc:spChg chg="mod">
          <ac:chgData name="Francesco Bellotti" userId="f453232b-f87d-4756-9d8b-c09bc835cc42" providerId="ADAL" clId="{C7FEA3FA-4936-41E1-B7FA-CA082069F7F7}" dt="2026-10-10T12:38:29.327" v="8068" actId="1076"/>
          <ac:spMkLst>
            <pc:docMk/>
            <pc:sldMk cId="0" sldId="306"/>
            <ac:spMk id="454" creationId="{00000000-0000-0000-0000-000000000000}"/>
          </ac:spMkLst>
        </pc:spChg>
        <pc:spChg chg="mod">
          <ac:chgData name="Francesco Bellotti" userId="f453232b-f87d-4756-9d8b-c09bc835cc42" providerId="ADAL" clId="{C7FEA3FA-4936-41E1-B7FA-CA082069F7F7}" dt="2026-10-10T12:38:29.327" v="8068" actId="1076"/>
          <ac:spMkLst>
            <pc:docMk/>
            <pc:sldMk cId="0" sldId="306"/>
            <ac:spMk id="455" creationId="{00000000-0000-0000-0000-000000000000}"/>
          </ac:spMkLst>
        </pc:spChg>
        <pc:spChg chg="mod">
          <ac:chgData name="Francesco Bellotti" userId="f453232b-f87d-4756-9d8b-c09bc835cc42" providerId="ADAL" clId="{C7FEA3FA-4936-41E1-B7FA-CA082069F7F7}" dt="2026-10-10T12:38:29.327" v="8068" actId="1076"/>
          <ac:spMkLst>
            <pc:docMk/>
            <pc:sldMk cId="0" sldId="306"/>
            <ac:spMk id="456" creationId="{00000000-0000-0000-0000-000000000000}"/>
          </ac:spMkLst>
        </pc:spChg>
        <pc:spChg chg="mod">
          <ac:chgData name="Francesco Bellotti" userId="f453232b-f87d-4756-9d8b-c09bc835cc42" providerId="ADAL" clId="{C7FEA3FA-4936-41E1-B7FA-CA082069F7F7}" dt="2026-10-10T12:52:34.359" v="8296" actId="20577"/>
          <ac:spMkLst>
            <pc:docMk/>
            <pc:sldMk cId="0" sldId="306"/>
            <ac:spMk id="457"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59"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60"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61"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63"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66"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70"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73"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74"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77" creationId="{00000000-0000-0000-0000-000000000000}"/>
          </ac:spMkLst>
        </pc:spChg>
        <pc:spChg chg="mod">
          <ac:chgData name="Francesco Bellotti" userId="f453232b-f87d-4756-9d8b-c09bc835cc42" providerId="ADAL" clId="{C7FEA3FA-4936-41E1-B7FA-CA082069F7F7}" dt="2026-10-10T12:52:17.076" v="8291" actId="164"/>
          <ac:spMkLst>
            <pc:docMk/>
            <pc:sldMk cId="0" sldId="306"/>
            <ac:spMk id="481" creationId="{00000000-0000-0000-0000-000000000000}"/>
          </ac:spMkLst>
        </pc:spChg>
        <pc:grpChg chg="mod">
          <ac:chgData name="Francesco Bellotti" userId="f453232b-f87d-4756-9d8b-c09bc835cc42" providerId="ADAL" clId="{C7FEA3FA-4936-41E1-B7FA-CA082069F7F7}" dt="2026-10-10T12:52:20.251" v="8292" actId="1076"/>
          <ac:grpSpMkLst>
            <pc:docMk/>
            <pc:sldMk cId="0" sldId="306"/>
            <ac:grpSpMk id="3" creationId="{3435FF8F-D6EA-AE6B-9E18-5C1C8E1B1864}"/>
          </ac:grpSpMkLst>
        </pc:grpChg>
      </pc:sldChg>
      <pc:sldChg chg="addSp modSp add mod setBg modNotes">
        <pc:chgData name="Francesco Bellotti" userId="f453232b-f87d-4756-9d8b-c09bc835cc42" providerId="ADAL" clId="{C7FEA3FA-4936-41E1-B7FA-CA082069F7F7}" dt="2026-10-12T12:18:22.313" v="10320" actId="404"/>
        <pc:sldMkLst>
          <pc:docMk/>
          <pc:sldMk cId="0" sldId="307"/>
        </pc:sldMkLst>
        <pc:spChg chg="add mod">
          <ac:chgData name="Francesco Bellotti" userId="f453232b-f87d-4756-9d8b-c09bc835cc42" providerId="ADAL" clId="{C7FEA3FA-4936-41E1-B7FA-CA082069F7F7}" dt="2026-10-12T12:18:22.313" v="10320" actId="404"/>
          <ac:spMkLst>
            <pc:docMk/>
            <pc:sldMk cId="0" sldId="307"/>
            <ac:spMk id="2" creationId="{655D3C5D-95D4-639F-AD25-26AE278A7E06}"/>
          </ac:spMkLst>
        </pc:spChg>
        <pc:spChg chg="mod">
          <ac:chgData name="Francesco Bellotti" userId="f453232b-f87d-4756-9d8b-c09bc835cc42" providerId="ADAL" clId="{C7FEA3FA-4936-41E1-B7FA-CA082069F7F7}" dt="2026-10-07T06:48:09.352" v="6835" actId="1076"/>
          <ac:spMkLst>
            <pc:docMk/>
            <pc:sldMk cId="0" sldId="307"/>
            <ac:spMk id="513" creationId="{00000000-0000-0000-0000-000000000000}"/>
          </ac:spMkLst>
        </pc:spChg>
      </pc:sldChg>
      <pc:sldChg chg="modSp add mod setBg modNotes">
        <pc:chgData name="Francesco Bellotti" userId="f453232b-f87d-4756-9d8b-c09bc835cc42" providerId="ADAL" clId="{C7FEA3FA-4936-41E1-B7FA-CA082069F7F7}" dt="2026-10-07T06:50:06.186" v="6839" actId="113"/>
        <pc:sldMkLst>
          <pc:docMk/>
          <pc:sldMk cId="0" sldId="308"/>
        </pc:sldMkLst>
        <pc:spChg chg="mod">
          <ac:chgData name="Francesco Bellotti" userId="f453232b-f87d-4756-9d8b-c09bc835cc42" providerId="ADAL" clId="{C7FEA3FA-4936-41E1-B7FA-CA082069F7F7}" dt="2026-10-07T06:50:06.186" v="6839" actId="113"/>
          <ac:spMkLst>
            <pc:docMk/>
            <pc:sldMk cId="0" sldId="308"/>
            <ac:spMk id="522" creationId="{00000000-0000-0000-0000-000000000000}"/>
          </ac:spMkLst>
        </pc:spChg>
      </pc:sldChg>
      <pc:sldChg chg="modSp add mod setBg modNotes">
        <pc:chgData name="Francesco Bellotti" userId="f453232b-f87d-4756-9d8b-c09bc835cc42" providerId="ADAL" clId="{C7FEA3FA-4936-41E1-B7FA-CA082069F7F7}" dt="2026-10-12T12:21:06.275" v="10323" actId="13926"/>
        <pc:sldMkLst>
          <pc:docMk/>
          <pc:sldMk cId="0" sldId="309"/>
        </pc:sldMkLst>
        <pc:spChg chg="mod">
          <ac:chgData name="Francesco Bellotti" userId="f453232b-f87d-4756-9d8b-c09bc835cc42" providerId="ADAL" clId="{C7FEA3FA-4936-41E1-B7FA-CA082069F7F7}" dt="2026-10-12T12:21:06.275" v="10323" actId="13926"/>
          <ac:spMkLst>
            <pc:docMk/>
            <pc:sldMk cId="0" sldId="309"/>
            <ac:spMk id="551" creationId="{00000000-0000-0000-0000-000000000000}"/>
          </ac:spMkLst>
        </pc:spChg>
        <pc:spChg chg="mod">
          <ac:chgData name="Francesco Bellotti" userId="f453232b-f87d-4756-9d8b-c09bc835cc42" providerId="ADAL" clId="{C7FEA3FA-4936-41E1-B7FA-CA082069F7F7}" dt="2026-10-07T06:53:07.341" v="6851" actId="1076"/>
          <ac:spMkLst>
            <pc:docMk/>
            <pc:sldMk cId="0" sldId="309"/>
            <ac:spMk id="563" creationId="{00000000-0000-0000-0000-000000000000}"/>
          </ac:spMkLst>
        </pc:spChg>
        <pc:spChg chg="mod">
          <ac:chgData name="Francesco Bellotti" userId="f453232b-f87d-4756-9d8b-c09bc835cc42" providerId="ADAL" clId="{C7FEA3FA-4936-41E1-B7FA-CA082069F7F7}" dt="2026-10-07T06:53:01.299" v="6850" actId="1076"/>
          <ac:spMkLst>
            <pc:docMk/>
            <pc:sldMk cId="0" sldId="309"/>
            <ac:spMk id="564" creationId="{00000000-0000-0000-0000-000000000000}"/>
          </ac:spMkLst>
        </pc:spChg>
      </pc:sldChg>
      <pc:sldChg chg="addSp modSp add mod setBg modNotes">
        <pc:chgData name="Francesco Bellotti" userId="f453232b-f87d-4756-9d8b-c09bc835cc42" providerId="ADAL" clId="{C7FEA3FA-4936-41E1-B7FA-CA082069F7F7}" dt="2026-10-06T07:38:53.886" v="5989"/>
        <pc:sldMkLst>
          <pc:docMk/>
          <pc:sldMk cId="0" sldId="310"/>
        </pc:sldMkLst>
      </pc:sldChg>
      <pc:sldChg chg="delSp modSp add mod setBg modNotes">
        <pc:chgData name="Francesco Bellotti" userId="f453232b-f87d-4756-9d8b-c09bc835cc42" providerId="ADAL" clId="{C7FEA3FA-4936-41E1-B7FA-CA082069F7F7}" dt="2026-10-07T06:57:22.421" v="6873" actId="113"/>
        <pc:sldMkLst>
          <pc:docMk/>
          <pc:sldMk cId="0" sldId="311"/>
        </pc:sldMkLst>
        <pc:spChg chg="mod">
          <ac:chgData name="Francesco Bellotti" userId="f453232b-f87d-4756-9d8b-c09bc835cc42" providerId="ADAL" clId="{C7FEA3FA-4936-41E1-B7FA-CA082069F7F7}" dt="2026-10-07T06:57:22.421" v="6873" actId="113"/>
          <ac:spMkLst>
            <pc:docMk/>
            <pc:sldMk cId="0" sldId="311"/>
            <ac:spMk id="592" creationId="{00000000-0000-0000-0000-000000000000}"/>
          </ac:spMkLst>
        </pc:spChg>
        <pc:spChg chg="mod">
          <ac:chgData name="Francesco Bellotti" userId="f453232b-f87d-4756-9d8b-c09bc835cc42" providerId="ADAL" clId="{C7FEA3FA-4936-41E1-B7FA-CA082069F7F7}" dt="2026-10-07T06:57:15.979" v="6872" actId="403"/>
          <ac:spMkLst>
            <pc:docMk/>
            <pc:sldMk cId="0" sldId="311"/>
            <ac:spMk id="594" creationId="{00000000-0000-0000-0000-000000000000}"/>
          </ac:spMkLst>
        </pc:spChg>
        <pc:spChg chg="mod">
          <ac:chgData name="Francesco Bellotti" userId="f453232b-f87d-4756-9d8b-c09bc835cc42" providerId="ADAL" clId="{C7FEA3FA-4936-41E1-B7FA-CA082069F7F7}" dt="2026-10-07T06:56:35.655" v="6862" actId="1076"/>
          <ac:spMkLst>
            <pc:docMk/>
            <pc:sldMk cId="0" sldId="311"/>
            <ac:spMk id="600" creationId="{00000000-0000-0000-0000-000000000000}"/>
          </ac:spMkLst>
        </pc:spChg>
        <pc:spChg chg="mod">
          <ac:chgData name="Francesco Bellotti" userId="f453232b-f87d-4756-9d8b-c09bc835cc42" providerId="ADAL" clId="{C7FEA3FA-4936-41E1-B7FA-CA082069F7F7}" dt="2026-10-07T06:56:50.883" v="6865" actId="1076"/>
          <ac:spMkLst>
            <pc:docMk/>
            <pc:sldMk cId="0" sldId="311"/>
            <ac:spMk id="609" creationId="{00000000-0000-0000-0000-000000000000}"/>
          </ac:spMkLst>
        </pc:spChg>
      </pc:sldChg>
      <pc:sldChg chg="delSp modSp add mod setBg modNotes">
        <pc:chgData name="Francesco Bellotti" userId="f453232b-f87d-4756-9d8b-c09bc835cc42" providerId="ADAL" clId="{C7FEA3FA-4936-41E1-B7FA-CA082069F7F7}" dt="2026-10-07T07:00:30.065" v="6927" actId="478"/>
        <pc:sldMkLst>
          <pc:docMk/>
          <pc:sldMk cId="0" sldId="312"/>
        </pc:sldMkLst>
        <pc:spChg chg="mod">
          <ac:chgData name="Francesco Bellotti" userId="f453232b-f87d-4756-9d8b-c09bc835cc42" providerId="ADAL" clId="{C7FEA3FA-4936-41E1-B7FA-CA082069F7F7}" dt="2026-10-07T07:00:04.253" v="6926" actId="20577"/>
          <ac:spMkLst>
            <pc:docMk/>
            <pc:sldMk cId="0" sldId="312"/>
            <ac:spMk id="624" creationId="{00000000-0000-0000-0000-000000000000}"/>
          </ac:spMkLst>
        </pc:spChg>
      </pc:sldChg>
      <pc:sldChg chg="modSp mod">
        <pc:chgData name="Francesco Bellotti" userId="f453232b-f87d-4756-9d8b-c09bc835cc42" providerId="ADAL" clId="{C7FEA3FA-4936-41E1-B7FA-CA082069F7F7}" dt="2026-10-07T05:58:24.877" v="6416" actId="113"/>
        <pc:sldMkLst>
          <pc:docMk/>
          <pc:sldMk cId="826823834" sldId="313"/>
        </pc:sldMkLst>
        <pc:spChg chg="mod">
          <ac:chgData name="Francesco Bellotti" userId="f453232b-f87d-4756-9d8b-c09bc835cc42" providerId="ADAL" clId="{C7FEA3FA-4936-41E1-B7FA-CA082069F7F7}" dt="2026-10-07T05:58:24.877" v="6416" actId="113"/>
          <ac:spMkLst>
            <pc:docMk/>
            <pc:sldMk cId="826823834" sldId="313"/>
            <ac:spMk id="3" creationId="{9A473440-99C0-A752-B1E5-E59093F3B14E}"/>
          </ac:spMkLst>
        </pc:spChg>
      </pc:sldChg>
      <pc:sldChg chg="modSp mod">
        <pc:chgData name="Francesco Bellotti" userId="f453232b-f87d-4756-9d8b-c09bc835cc42" providerId="ADAL" clId="{C7FEA3FA-4936-41E1-B7FA-CA082069F7F7}" dt="2026-10-07T06:00:58.972" v="6496" actId="113"/>
        <pc:sldMkLst>
          <pc:docMk/>
          <pc:sldMk cId="49087715" sldId="314"/>
        </pc:sldMkLst>
        <pc:spChg chg="mod">
          <ac:chgData name="Francesco Bellotti" userId="f453232b-f87d-4756-9d8b-c09bc835cc42" providerId="ADAL" clId="{C7FEA3FA-4936-41E1-B7FA-CA082069F7F7}" dt="2026-10-07T06:00:58.972" v="6496" actId="113"/>
          <ac:spMkLst>
            <pc:docMk/>
            <pc:sldMk cId="49087715" sldId="314"/>
            <ac:spMk id="3" creationId="{6901DAC6-9E2F-D4ED-FE22-7C6B2DC80695}"/>
          </ac:spMkLst>
        </pc:spChg>
      </pc:sldChg>
      <pc:sldChg chg="addSp modSp mod">
        <pc:chgData name="Francesco Bellotti" userId="f453232b-f87d-4756-9d8b-c09bc835cc42" providerId="ADAL" clId="{C7FEA3FA-4936-41E1-B7FA-CA082069F7F7}" dt="2026-10-07T06:13:57.058" v="6646" actId="1076"/>
        <pc:sldMkLst>
          <pc:docMk/>
          <pc:sldMk cId="3925621374" sldId="316"/>
        </pc:sldMkLst>
        <pc:spChg chg="mod">
          <ac:chgData name="Francesco Bellotti" userId="f453232b-f87d-4756-9d8b-c09bc835cc42" providerId="ADAL" clId="{C7FEA3FA-4936-41E1-B7FA-CA082069F7F7}" dt="2026-10-07T06:13:01.534" v="6618" actId="20577"/>
          <ac:spMkLst>
            <pc:docMk/>
            <pc:sldMk cId="3925621374" sldId="316"/>
            <ac:spMk id="3" creationId="{F7B17177-4F41-3698-2D0F-F790497B0ADD}"/>
          </ac:spMkLst>
        </pc:spChg>
        <pc:spChg chg="add mod">
          <ac:chgData name="Francesco Bellotti" userId="f453232b-f87d-4756-9d8b-c09bc835cc42" providerId="ADAL" clId="{C7FEA3FA-4936-41E1-B7FA-CA082069F7F7}" dt="2026-10-07T06:13:57.058" v="6646" actId="1076"/>
          <ac:spMkLst>
            <pc:docMk/>
            <pc:sldMk cId="3925621374" sldId="316"/>
            <ac:spMk id="5" creationId="{24FCB5D6-A373-5099-DF5E-2024AEA85D90}"/>
          </ac:spMkLst>
        </pc:spChg>
        <pc:spChg chg="add mod">
          <ac:chgData name="Francesco Bellotti" userId="f453232b-f87d-4756-9d8b-c09bc835cc42" providerId="ADAL" clId="{C7FEA3FA-4936-41E1-B7FA-CA082069F7F7}" dt="2026-10-07T06:13:34.862" v="6642" actId="1076"/>
          <ac:spMkLst>
            <pc:docMk/>
            <pc:sldMk cId="3925621374" sldId="316"/>
            <ac:spMk id="7" creationId="{42694521-B3BB-40F5-7E16-4CAD7AA50374}"/>
          </ac:spMkLst>
        </pc:spChg>
        <pc:spChg chg="add mod">
          <ac:chgData name="Francesco Bellotti" userId="f453232b-f87d-4756-9d8b-c09bc835cc42" providerId="ADAL" clId="{C7FEA3FA-4936-41E1-B7FA-CA082069F7F7}" dt="2026-10-07T06:12:57.974" v="6617" actId="1076"/>
          <ac:spMkLst>
            <pc:docMk/>
            <pc:sldMk cId="3925621374" sldId="316"/>
            <ac:spMk id="9" creationId="{CE61BACF-27BE-5B72-DBA9-D79BF9A265AC}"/>
          </ac:spMkLst>
        </pc:spChg>
      </pc:sldChg>
      <pc:sldChg chg="modSp mod">
        <pc:chgData name="Francesco Bellotti" userId="f453232b-f87d-4756-9d8b-c09bc835cc42" providerId="ADAL" clId="{C7FEA3FA-4936-41E1-B7FA-CA082069F7F7}" dt="2026-10-07T06:19:33.419" v="6699" actId="113"/>
        <pc:sldMkLst>
          <pc:docMk/>
          <pc:sldMk cId="2266772865" sldId="320"/>
        </pc:sldMkLst>
        <pc:spChg chg="mod">
          <ac:chgData name="Francesco Bellotti" userId="f453232b-f87d-4756-9d8b-c09bc835cc42" providerId="ADAL" clId="{C7FEA3FA-4936-41E1-B7FA-CA082069F7F7}" dt="2026-10-07T06:19:25.646" v="6698" actId="13926"/>
          <ac:spMkLst>
            <pc:docMk/>
            <pc:sldMk cId="2266772865" sldId="320"/>
            <ac:spMk id="2" creationId="{C154DC37-DA20-8722-EB5F-7A7C6F5A8459}"/>
          </ac:spMkLst>
        </pc:spChg>
        <pc:spChg chg="mod">
          <ac:chgData name="Francesco Bellotti" userId="f453232b-f87d-4756-9d8b-c09bc835cc42" providerId="ADAL" clId="{C7FEA3FA-4936-41E1-B7FA-CA082069F7F7}" dt="2026-10-07T06:19:33.419" v="6699" actId="113"/>
          <ac:spMkLst>
            <pc:docMk/>
            <pc:sldMk cId="2266772865" sldId="320"/>
            <ac:spMk id="3" creationId="{55866395-61CD-39CC-E0EE-2B7967938C34}"/>
          </ac:spMkLst>
        </pc:spChg>
      </pc:sldChg>
      <pc:sldChg chg="modSp mod">
        <pc:chgData name="Francesco Bellotti" userId="f453232b-f87d-4756-9d8b-c09bc835cc42" providerId="ADAL" clId="{C7FEA3FA-4936-41E1-B7FA-CA082069F7F7}" dt="2026-10-10T10:00:06.384" v="7977" actId="20577"/>
        <pc:sldMkLst>
          <pc:docMk/>
          <pc:sldMk cId="2229856518" sldId="323"/>
        </pc:sldMkLst>
        <pc:spChg chg="mod">
          <ac:chgData name="Francesco Bellotti" userId="f453232b-f87d-4756-9d8b-c09bc835cc42" providerId="ADAL" clId="{C7FEA3FA-4936-41E1-B7FA-CA082069F7F7}" dt="2026-10-10T10:00:06.384" v="7977" actId="20577"/>
          <ac:spMkLst>
            <pc:docMk/>
            <pc:sldMk cId="2229856518" sldId="323"/>
            <ac:spMk id="2" creationId="{3DD7E02C-7C5B-9E60-F168-418A927D9D95}"/>
          </ac:spMkLst>
        </pc:spChg>
      </pc:sldChg>
      <pc:sldChg chg="delSp modSp mod">
        <pc:chgData name="Francesco Bellotti" userId="f453232b-f87d-4756-9d8b-c09bc835cc42" providerId="ADAL" clId="{C7FEA3FA-4936-41E1-B7FA-CA082069F7F7}" dt="2026-10-07T06:26:39.666" v="6726" actId="13926"/>
        <pc:sldMkLst>
          <pc:docMk/>
          <pc:sldMk cId="697788154" sldId="324"/>
        </pc:sldMkLst>
        <pc:spChg chg="mod">
          <ac:chgData name="Francesco Bellotti" userId="f453232b-f87d-4756-9d8b-c09bc835cc42" providerId="ADAL" clId="{C7FEA3FA-4936-41E1-B7FA-CA082069F7F7}" dt="2026-10-07T06:26:39.666" v="6726" actId="13926"/>
          <ac:spMkLst>
            <pc:docMk/>
            <pc:sldMk cId="697788154" sldId="324"/>
            <ac:spMk id="2" creationId="{CB9D6281-ABAE-E0EB-380F-2F7EDB8CAB15}"/>
          </ac:spMkLst>
        </pc:spChg>
      </pc:sldChg>
      <pc:sldChg chg="modSp mod">
        <pc:chgData name="Francesco Bellotti" userId="f453232b-f87d-4756-9d8b-c09bc835cc42" providerId="ADAL" clId="{C7FEA3FA-4936-41E1-B7FA-CA082069F7F7}" dt="2026-10-10T12:29:54.641" v="8062" actId="20577"/>
        <pc:sldMkLst>
          <pc:docMk/>
          <pc:sldMk cId="3660563507" sldId="325"/>
        </pc:sldMkLst>
        <pc:spChg chg="mod">
          <ac:chgData name="Francesco Bellotti" userId="f453232b-f87d-4756-9d8b-c09bc835cc42" providerId="ADAL" clId="{C7FEA3FA-4936-41E1-B7FA-CA082069F7F7}" dt="2026-10-10T12:29:54.641" v="8062" actId="20577"/>
          <ac:spMkLst>
            <pc:docMk/>
            <pc:sldMk cId="3660563507" sldId="325"/>
            <ac:spMk id="4" creationId="{E5496631-F91E-D882-928D-A206E574B3D3}"/>
          </ac:spMkLst>
        </pc:spChg>
      </pc:sldChg>
      <pc:sldChg chg="modSp mod">
        <pc:chgData name="Francesco Bellotti" userId="f453232b-f87d-4756-9d8b-c09bc835cc42" providerId="ADAL" clId="{C7FEA3FA-4936-41E1-B7FA-CA082069F7F7}" dt="2026-10-07T06:36:07.025" v="6739" actId="13926"/>
        <pc:sldMkLst>
          <pc:docMk/>
          <pc:sldMk cId="2120659926" sldId="327"/>
        </pc:sldMkLst>
        <pc:spChg chg="mod">
          <ac:chgData name="Francesco Bellotti" userId="f453232b-f87d-4756-9d8b-c09bc835cc42" providerId="ADAL" clId="{C7FEA3FA-4936-41E1-B7FA-CA082069F7F7}" dt="2026-10-07T06:36:00.925" v="6737" actId="27636"/>
          <ac:spMkLst>
            <pc:docMk/>
            <pc:sldMk cId="2120659926" sldId="327"/>
            <ac:spMk id="3" creationId="{0DF852EB-1FDE-C5FD-4840-AE9D47FF0CDC}"/>
          </ac:spMkLst>
        </pc:spChg>
        <pc:spChg chg="mod">
          <ac:chgData name="Francesco Bellotti" userId="f453232b-f87d-4756-9d8b-c09bc835cc42" providerId="ADAL" clId="{C7FEA3FA-4936-41E1-B7FA-CA082069F7F7}" dt="2026-10-07T06:36:00.932" v="6738" actId="27636"/>
          <ac:spMkLst>
            <pc:docMk/>
            <pc:sldMk cId="2120659926" sldId="327"/>
            <ac:spMk id="4" creationId="{553BAFCD-4D42-57E4-F7AF-EC8EFEB5E70B}"/>
          </ac:spMkLst>
        </pc:spChg>
        <pc:spChg chg="mod">
          <ac:chgData name="Francesco Bellotti" userId="f453232b-f87d-4756-9d8b-c09bc835cc42" providerId="ADAL" clId="{C7FEA3FA-4936-41E1-B7FA-CA082069F7F7}" dt="2026-10-07T06:36:07.025" v="6739" actId="13926"/>
          <ac:spMkLst>
            <pc:docMk/>
            <pc:sldMk cId="2120659926" sldId="327"/>
            <ac:spMk id="6" creationId="{C43C51EF-E447-B1FB-CE65-5D74E7791061}"/>
          </ac:spMkLst>
        </pc:spChg>
      </pc:sldChg>
      <pc:sldChg chg="modSp mod">
        <pc:chgData name="Francesco Bellotti" userId="f453232b-f87d-4756-9d8b-c09bc835cc42" providerId="ADAL" clId="{C7FEA3FA-4936-41E1-B7FA-CA082069F7F7}" dt="2026-10-07T06:37:10.738" v="6741" actId="13926"/>
        <pc:sldMkLst>
          <pc:docMk/>
          <pc:sldMk cId="1597001309" sldId="328"/>
        </pc:sldMkLst>
        <pc:spChg chg="mod">
          <ac:chgData name="Francesco Bellotti" userId="f453232b-f87d-4756-9d8b-c09bc835cc42" providerId="ADAL" clId="{C7FEA3FA-4936-41E1-B7FA-CA082069F7F7}" dt="2026-10-07T06:37:10.738" v="6741" actId="13926"/>
          <ac:spMkLst>
            <pc:docMk/>
            <pc:sldMk cId="1597001309" sldId="328"/>
            <ac:spMk id="2" creationId="{3EABB787-DD6F-2EF4-4F94-07A38774CC25}"/>
          </ac:spMkLst>
        </pc:spChg>
        <pc:spChg chg="mod">
          <ac:chgData name="Francesco Bellotti" userId="f453232b-f87d-4756-9d8b-c09bc835cc42" providerId="ADAL" clId="{C7FEA3FA-4936-41E1-B7FA-CA082069F7F7}" dt="2026-10-07T06:36:52.848" v="6740" actId="13926"/>
          <ac:spMkLst>
            <pc:docMk/>
            <pc:sldMk cId="1597001309" sldId="328"/>
            <ac:spMk id="3" creationId="{48FC9461-C945-D12B-D838-B7FD9B446535}"/>
          </ac:spMkLst>
        </pc:spChg>
      </pc:sldChg>
      <pc:sldChg chg="modSp mod">
        <pc:chgData name="Francesco Bellotti" userId="f453232b-f87d-4756-9d8b-c09bc835cc42" providerId="ADAL" clId="{C7FEA3FA-4936-41E1-B7FA-CA082069F7F7}" dt="2026-10-10T12:35:17.844" v="8064" actId="113"/>
        <pc:sldMkLst>
          <pc:docMk/>
          <pc:sldMk cId="2283685381" sldId="329"/>
        </pc:sldMkLst>
        <pc:spChg chg="mod">
          <ac:chgData name="Francesco Bellotti" userId="f453232b-f87d-4756-9d8b-c09bc835cc42" providerId="ADAL" clId="{C7FEA3FA-4936-41E1-B7FA-CA082069F7F7}" dt="2026-10-07T06:37:54.563" v="6746" actId="27636"/>
          <ac:spMkLst>
            <pc:docMk/>
            <pc:sldMk cId="2283685381" sldId="329"/>
            <ac:spMk id="3" creationId="{8144638D-CB99-882C-C0ED-408530E1E129}"/>
          </ac:spMkLst>
        </pc:spChg>
        <pc:spChg chg="mod">
          <ac:chgData name="Francesco Bellotti" userId="f453232b-f87d-4756-9d8b-c09bc835cc42" providerId="ADAL" clId="{C7FEA3FA-4936-41E1-B7FA-CA082069F7F7}" dt="2026-10-10T12:35:17.844" v="8064" actId="113"/>
          <ac:spMkLst>
            <pc:docMk/>
            <pc:sldMk cId="2283685381" sldId="329"/>
            <ac:spMk id="4" creationId="{D292038F-52C9-2B57-F37F-108C6119BF5A}"/>
          </ac:spMkLst>
        </pc:spChg>
      </pc:sldChg>
      <pc:sldChg chg="modSp mod">
        <pc:chgData name="Francesco Bellotti" userId="f453232b-f87d-4756-9d8b-c09bc835cc42" providerId="ADAL" clId="{C7FEA3FA-4936-41E1-B7FA-CA082069F7F7}" dt="2026-10-07T06:40:59.907" v="6799" actId="113"/>
        <pc:sldMkLst>
          <pc:docMk/>
          <pc:sldMk cId="3864299925" sldId="331"/>
        </pc:sldMkLst>
        <pc:spChg chg="mod">
          <ac:chgData name="Francesco Bellotti" userId="f453232b-f87d-4756-9d8b-c09bc835cc42" providerId="ADAL" clId="{C7FEA3FA-4936-41E1-B7FA-CA082069F7F7}" dt="2026-10-07T06:40:59.907" v="6799" actId="113"/>
          <ac:spMkLst>
            <pc:docMk/>
            <pc:sldMk cId="3864299925" sldId="331"/>
            <ac:spMk id="3" creationId="{89A3B1FA-0F52-FE22-8391-0FFCD74EC7B1}"/>
          </ac:spMkLst>
        </pc:spChg>
      </pc:sldChg>
      <pc:sldChg chg="modSp mod">
        <pc:chgData name="Francesco Bellotti" userId="f453232b-f87d-4756-9d8b-c09bc835cc42" providerId="ADAL" clId="{C7FEA3FA-4936-41E1-B7FA-CA082069F7F7}" dt="2026-10-12T12:13:31.974" v="10300" actId="113"/>
        <pc:sldMkLst>
          <pc:docMk/>
          <pc:sldMk cId="2737591008" sldId="332"/>
        </pc:sldMkLst>
        <pc:spChg chg="mod">
          <ac:chgData name="Francesco Bellotti" userId="f453232b-f87d-4756-9d8b-c09bc835cc42" providerId="ADAL" clId="{C7FEA3FA-4936-41E1-B7FA-CA082069F7F7}" dt="2026-10-10T12:46:05.003" v="8141" actId="27636"/>
          <ac:spMkLst>
            <pc:docMk/>
            <pc:sldMk cId="2737591008" sldId="332"/>
            <ac:spMk id="2" creationId="{E8E43A33-14CD-61A5-416D-40D7752DDBE7}"/>
          </ac:spMkLst>
        </pc:spChg>
        <pc:spChg chg="mod">
          <ac:chgData name="Francesco Bellotti" userId="f453232b-f87d-4756-9d8b-c09bc835cc42" providerId="ADAL" clId="{C7FEA3FA-4936-41E1-B7FA-CA082069F7F7}" dt="2026-10-12T12:13:31.974" v="10300" actId="113"/>
          <ac:spMkLst>
            <pc:docMk/>
            <pc:sldMk cId="2737591008" sldId="332"/>
            <ac:spMk id="3" creationId="{D1E94EF9-9BDA-2590-C56F-E0829A5B7B55}"/>
          </ac:spMkLst>
        </pc:spChg>
      </pc:sldChg>
      <pc:sldChg chg="modSp mod">
        <pc:chgData name="Francesco Bellotti" userId="f453232b-f87d-4756-9d8b-c09bc835cc42" providerId="ADAL" clId="{C7FEA3FA-4936-41E1-B7FA-CA082069F7F7}" dt="2026-10-07T06:45:41.564" v="6834" actId="20577"/>
        <pc:sldMkLst>
          <pc:docMk/>
          <pc:sldMk cId="4033642218" sldId="333"/>
        </pc:sldMkLst>
        <pc:spChg chg="mod">
          <ac:chgData name="Francesco Bellotti" userId="f453232b-f87d-4756-9d8b-c09bc835cc42" providerId="ADAL" clId="{C7FEA3FA-4936-41E1-B7FA-CA082069F7F7}" dt="2026-10-07T06:45:41.564" v="6834" actId="20577"/>
          <ac:spMkLst>
            <pc:docMk/>
            <pc:sldMk cId="4033642218" sldId="333"/>
            <ac:spMk id="2" creationId="{D2096C06-3D3C-FA9B-16D7-D96BCB2CDB51}"/>
          </ac:spMkLst>
        </pc:spChg>
      </pc:sldChg>
      <pc:sldChg chg="modSp mod">
        <pc:chgData name="Francesco Bellotti" userId="f453232b-f87d-4756-9d8b-c09bc835cc42" providerId="ADAL" clId="{C7FEA3FA-4936-41E1-B7FA-CA082069F7F7}" dt="2026-10-07T06:49:40.648" v="6838" actId="13926"/>
        <pc:sldMkLst>
          <pc:docMk/>
          <pc:sldMk cId="1467709667" sldId="334"/>
        </pc:sldMkLst>
        <pc:spChg chg="mod">
          <ac:chgData name="Francesco Bellotti" userId="f453232b-f87d-4756-9d8b-c09bc835cc42" providerId="ADAL" clId="{C7FEA3FA-4936-41E1-B7FA-CA082069F7F7}" dt="2026-10-07T06:48:52.186" v="6837" actId="13926"/>
          <ac:spMkLst>
            <pc:docMk/>
            <pc:sldMk cId="1467709667" sldId="334"/>
            <ac:spMk id="3" creationId="{BC9FD407-AF7B-21EF-16C6-4E9D28CB46E1}"/>
          </ac:spMkLst>
        </pc:spChg>
        <pc:spChg chg="mod">
          <ac:chgData name="Francesco Bellotti" userId="f453232b-f87d-4756-9d8b-c09bc835cc42" providerId="ADAL" clId="{C7FEA3FA-4936-41E1-B7FA-CA082069F7F7}" dt="2026-10-07T06:49:40.648" v="6838" actId="13926"/>
          <ac:spMkLst>
            <pc:docMk/>
            <pc:sldMk cId="1467709667" sldId="334"/>
            <ac:spMk id="4" creationId="{CB384348-E243-18F0-DF45-D4AF3A4F46A2}"/>
          </ac:spMkLst>
        </pc:spChg>
        <pc:spChg chg="mod">
          <ac:chgData name="Francesco Bellotti" userId="f453232b-f87d-4756-9d8b-c09bc835cc42" providerId="ADAL" clId="{C7FEA3FA-4936-41E1-B7FA-CA082069F7F7}" dt="2026-10-07T06:48:32.373" v="6836" actId="13926"/>
          <ac:spMkLst>
            <pc:docMk/>
            <pc:sldMk cId="1467709667" sldId="334"/>
            <ac:spMk id="6" creationId="{D8C4E32F-1A36-304A-0EB1-996BF3FC52F8}"/>
          </ac:spMkLst>
        </pc:spChg>
      </pc:sldChg>
      <pc:sldChg chg="modSp mod">
        <pc:chgData name="Francesco Bellotti" userId="f453232b-f87d-4756-9d8b-c09bc835cc42" providerId="ADAL" clId="{C7FEA3FA-4936-41E1-B7FA-CA082069F7F7}" dt="2026-10-12T12:20:24.234" v="10322" actId="13926"/>
        <pc:sldMkLst>
          <pc:docMk/>
          <pc:sldMk cId="601889228" sldId="335"/>
        </pc:sldMkLst>
        <pc:spChg chg="mod">
          <ac:chgData name="Francesco Bellotti" userId="f453232b-f87d-4756-9d8b-c09bc835cc42" providerId="ADAL" clId="{C7FEA3FA-4936-41E1-B7FA-CA082069F7F7}" dt="2026-10-07T06:51:49.260" v="6841" actId="13926"/>
          <ac:spMkLst>
            <pc:docMk/>
            <pc:sldMk cId="601889228" sldId="335"/>
            <ac:spMk id="2" creationId="{F68044E9-ABAD-495D-292F-BD063C19626F}"/>
          </ac:spMkLst>
        </pc:spChg>
        <pc:spChg chg="mod">
          <ac:chgData name="Francesco Bellotti" userId="f453232b-f87d-4756-9d8b-c09bc835cc42" providerId="ADAL" clId="{C7FEA3FA-4936-41E1-B7FA-CA082069F7F7}" dt="2026-10-12T12:20:24.234" v="10322" actId="13926"/>
          <ac:spMkLst>
            <pc:docMk/>
            <pc:sldMk cId="601889228" sldId="335"/>
            <ac:spMk id="3" creationId="{36960E51-029E-F970-8114-D17790448473}"/>
          </ac:spMkLst>
        </pc:spChg>
        <pc:spChg chg="mod">
          <ac:chgData name="Francesco Bellotti" userId="f453232b-f87d-4756-9d8b-c09bc835cc42" providerId="ADAL" clId="{C7FEA3FA-4936-41E1-B7FA-CA082069F7F7}" dt="2026-10-07T06:52:09.089" v="6844" actId="113"/>
          <ac:spMkLst>
            <pc:docMk/>
            <pc:sldMk cId="601889228" sldId="335"/>
            <ac:spMk id="4" creationId="{56CDD897-A342-345F-D001-9938AEE55A6C}"/>
          </ac:spMkLst>
        </pc:spChg>
      </pc:sldChg>
      <pc:sldChg chg="modSp mod">
        <pc:chgData name="Francesco Bellotti" userId="f453232b-f87d-4756-9d8b-c09bc835cc42" providerId="ADAL" clId="{C7FEA3FA-4936-41E1-B7FA-CA082069F7F7}" dt="2026-10-07T06:52:45.078" v="6849" actId="113"/>
        <pc:sldMkLst>
          <pc:docMk/>
          <pc:sldMk cId="1119020416" sldId="336"/>
        </pc:sldMkLst>
        <pc:spChg chg="mod">
          <ac:chgData name="Francesco Bellotti" userId="f453232b-f87d-4756-9d8b-c09bc835cc42" providerId="ADAL" clId="{C7FEA3FA-4936-41E1-B7FA-CA082069F7F7}" dt="2026-10-07T06:52:23.356" v="6846" actId="13926"/>
          <ac:spMkLst>
            <pc:docMk/>
            <pc:sldMk cId="1119020416" sldId="336"/>
            <ac:spMk id="3" creationId="{DC4ED0D8-6C36-478D-5573-79511973D7AF}"/>
          </ac:spMkLst>
        </pc:spChg>
        <pc:spChg chg="mod">
          <ac:chgData name="Francesco Bellotti" userId="f453232b-f87d-4756-9d8b-c09bc835cc42" providerId="ADAL" clId="{C7FEA3FA-4936-41E1-B7FA-CA082069F7F7}" dt="2026-10-07T06:52:45.078" v="6849" actId="113"/>
          <ac:spMkLst>
            <pc:docMk/>
            <pc:sldMk cId="1119020416" sldId="336"/>
            <ac:spMk id="4" creationId="{8F1DED26-45B9-8DD9-7DEB-EFF0E9BE8235}"/>
          </ac:spMkLst>
        </pc:spChg>
      </pc:sldChg>
      <pc:sldChg chg="modSp mod">
        <pc:chgData name="Francesco Bellotti" userId="f453232b-f87d-4756-9d8b-c09bc835cc42" providerId="ADAL" clId="{C7FEA3FA-4936-41E1-B7FA-CA082069F7F7}" dt="2026-10-07T06:55:51.897" v="6859" actId="13926"/>
        <pc:sldMkLst>
          <pc:docMk/>
          <pc:sldMk cId="1382198095" sldId="338"/>
        </pc:sldMkLst>
        <pc:spChg chg="mod">
          <ac:chgData name="Francesco Bellotti" userId="f453232b-f87d-4756-9d8b-c09bc835cc42" providerId="ADAL" clId="{C7FEA3FA-4936-41E1-B7FA-CA082069F7F7}" dt="2026-10-07T06:55:51.897" v="6859" actId="13926"/>
          <ac:spMkLst>
            <pc:docMk/>
            <pc:sldMk cId="1382198095" sldId="338"/>
            <ac:spMk id="3" creationId="{420B147F-7C01-886D-F7D3-C930D353B86B}"/>
          </ac:spMkLst>
        </pc:spChg>
      </pc:sldChg>
      <pc:sldChg chg="modSp mod">
        <pc:chgData name="Francesco Bellotti" userId="f453232b-f87d-4756-9d8b-c09bc835cc42" providerId="ADAL" clId="{C7FEA3FA-4936-41E1-B7FA-CA082069F7F7}" dt="2026-10-07T06:57:48.014" v="6874" actId="13926"/>
        <pc:sldMkLst>
          <pc:docMk/>
          <pc:sldMk cId="2152776416" sldId="339"/>
        </pc:sldMkLst>
        <pc:spChg chg="mod">
          <ac:chgData name="Francesco Bellotti" userId="f453232b-f87d-4756-9d8b-c09bc835cc42" providerId="ADAL" clId="{C7FEA3FA-4936-41E1-B7FA-CA082069F7F7}" dt="2026-10-07T06:57:48.014" v="6874" actId="13926"/>
          <ac:spMkLst>
            <pc:docMk/>
            <pc:sldMk cId="2152776416" sldId="339"/>
            <ac:spMk id="6" creationId="{242AF5CA-04FD-9167-57A9-92C201A0F376}"/>
          </ac:spMkLst>
        </pc:spChg>
      </pc:sldChg>
      <pc:sldChg chg="modSp mod">
        <pc:chgData name="Francesco Bellotti" userId="f453232b-f87d-4756-9d8b-c09bc835cc42" providerId="ADAL" clId="{C7FEA3FA-4936-41E1-B7FA-CA082069F7F7}" dt="2026-10-07T06:59:47.386" v="6917" actId="13926"/>
        <pc:sldMkLst>
          <pc:docMk/>
          <pc:sldMk cId="2863979447" sldId="340"/>
        </pc:sldMkLst>
        <pc:spChg chg="mod">
          <ac:chgData name="Francesco Bellotti" userId="f453232b-f87d-4756-9d8b-c09bc835cc42" providerId="ADAL" clId="{C7FEA3FA-4936-41E1-B7FA-CA082069F7F7}" dt="2026-10-07T06:59:38.035" v="6916" actId="20577"/>
          <ac:spMkLst>
            <pc:docMk/>
            <pc:sldMk cId="2863979447" sldId="340"/>
            <ac:spMk id="2" creationId="{CB55A08F-751D-F316-F3E7-33164CD2EC57}"/>
          </ac:spMkLst>
        </pc:spChg>
        <pc:spChg chg="mod">
          <ac:chgData name="Francesco Bellotti" userId="f453232b-f87d-4756-9d8b-c09bc835cc42" providerId="ADAL" clId="{C7FEA3FA-4936-41E1-B7FA-CA082069F7F7}" dt="2026-10-07T06:59:47.386" v="6917" actId="13926"/>
          <ac:spMkLst>
            <pc:docMk/>
            <pc:sldMk cId="2863979447" sldId="340"/>
            <ac:spMk id="3" creationId="{3FD44B1E-CCA6-FCE2-7CB0-56B617A93269}"/>
          </ac:spMkLst>
        </pc:spChg>
      </pc:sldChg>
      <pc:sldChg chg="modSp mod">
        <pc:chgData name="Francesco Bellotti" userId="f453232b-f87d-4756-9d8b-c09bc835cc42" providerId="ADAL" clId="{C7FEA3FA-4936-41E1-B7FA-CA082069F7F7}" dt="2026-10-07T06:20:05.402" v="6701" actId="13926"/>
        <pc:sldMkLst>
          <pc:docMk/>
          <pc:sldMk cId="243148251" sldId="344"/>
        </pc:sldMkLst>
        <pc:spChg chg="mod">
          <ac:chgData name="Francesco Bellotti" userId="f453232b-f87d-4756-9d8b-c09bc835cc42" providerId="ADAL" clId="{C7FEA3FA-4936-41E1-B7FA-CA082069F7F7}" dt="2026-10-07T06:20:05.402" v="6701" actId="13926"/>
          <ac:spMkLst>
            <pc:docMk/>
            <pc:sldMk cId="243148251" sldId="344"/>
            <ac:spMk id="3" creationId="{32318DB9-DCA8-4251-8277-C1D1A909F375}"/>
          </ac:spMkLst>
        </pc:spChg>
      </pc:sldChg>
      <pc:sldChg chg="modSp mod">
        <pc:chgData name="Francesco Bellotti" userId="f453232b-f87d-4756-9d8b-c09bc835cc42" providerId="ADAL" clId="{C7FEA3FA-4936-41E1-B7FA-CA082069F7F7}" dt="2026-10-07T06:23:35.561" v="6713" actId="13926"/>
        <pc:sldMkLst>
          <pc:docMk/>
          <pc:sldMk cId="3773352420" sldId="346"/>
        </pc:sldMkLst>
        <pc:spChg chg="mod">
          <ac:chgData name="Francesco Bellotti" userId="f453232b-f87d-4756-9d8b-c09bc835cc42" providerId="ADAL" clId="{C7FEA3FA-4936-41E1-B7FA-CA082069F7F7}" dt="2026-10-07T06:23:35.561" v="6713" actId="13926"/>
          <ac:spMkLst>
            <pc:docMk/>
            <pc:sldMk cId="3773352420" sldId="346"/>
            <ac:spMk id="3" creationId="{849D5CEC-2CC8-B3F7-76B5-C0548B94F923}"/>
          </ac:spMkLst>
        </pc:spChg>
      </pc:sldChg>
      <pc:sldChg chg="modSp mod">
        <pc:chgData name="Francesco Bellotti" userId="f453232b-f87d-4756-9d8b-c09bc835cc42" providerId="ADAL" clId="{C7FEA3FA-4936-41E1-B7FA-CA082069F7F7}" dt="2026-10-07T06:30:20.004" v="6731" actId="13926"/>
        <pc:sldMkLst>
          <pc:docMk/>
          <pc:sldMk cId="1881384902" sldId="347"/>
        </pc:sldMkLst>
        <pc:spChg chg="mod">
          <ac:chgData name="Francesco Bellotti" userId="f453232b-f87d-4756-9d8b-c09bc835cc42" providerId="ADAL" clId="{C7FEA3FA-4936-41E1-B7FA-CA082069F7F7}" dt="2026-10-07T06:30:20.004" v="6731" actId="13926"/>
          <ac:spMkLst>
            <pc:docMk/>
            <pc:sldMk cId="1881384902" sldId="347"/>
            <ac:spMk id="6" creationId="{816AE70A-0FD3-B2BB-438E-F08B798CD0DE}"/>
          </ac:spMkLst>
        </pc:spChg>
      </pc:sldChg>
      <pc:sldChg chg="modSp mod">
        <pc:chgData name="Francesco Bellotti" userId="f453232b-f87d-4756-9d8b-c09bc835cc42" providerId="ADAL" clId="{C7FEA3FA-4936-41E1-B7FA-CA082069F7F7}" dt="2026-10-07T06:37:27.935" v="6743" actId="113"/>
        <pc:sldMkLst>
          <pc:docMk/>
          <pc:sldMk cId="2704023557" sldId="348"/>
        </pc:sldMkLst>
        <pc:spChg chg="mod">
          <ac:chgData name="Francesco Bellotti" userId="f453232b-f87d-4756-9d8b-c09bc835cc42" providerId="ADAL" clId="{C7FEA3FA-4936-41E1-B7FA-CA082069F7F7}" dt="2026-10-07T06:37:27.935" v="6743" actId="113"/>
          <ac:spMkLst>
            <pc:docMk/>
            <pc:sldMk cId="2704023557" sldId="348"/>
            <ac:spMk id="3" creationId="{1569F3D7-4239-7AC7-B6D8-EDB62C7C9288}"/>
          </ac:spMkLst>
        </pc:spChg>
      </pc:sldChg>
      <pc:sldChg chg="modSp mod">
        <pc:chgData name="Francesco Bellotti" userId="f453232b-f87d-4756-9d8b-c09bc835cc42" providerId="ADAL" clId="{C7FEA3FA-4936-41E1-B7FA-CA082069F7F7}" dt="2026-10-07T06:41:26.502" v="6817" actId="20577"/>
        <pc:sldMkLst>
          <pc:docMk/>
          <pc:sldMk cId="1510785851" sldId="350"/>
        </pc:sldMkLst>
        <pc:spChg chg="mod">
          <ac:chgData name="Francesco Bellotti" userId="f453232b-f87d-4756-9d8b-c09bc835cc42" providerId="ADAL" clId="{C7FEA3FA-4936-41E1-B7FA-CA082069F7F7}" dt="2026-10-07T06:41:26.502" v="6817" actId="20577"/>
          <ac:spMkLst>
            <pc:docMk/>
            <pc:sldMk cId="1510785851" sldId="350"/>
            <ac:spMk id="3" creationId="{EF351A63-587D-4726-72C1-9742CF462983}"/>
          </ac:spMkLst>
        </pc:spChg>
      </pc:sldChg>
      <pc:sldChg chg="modSp mod">
        <pc:chgData name="Francesco Bellotti" userId="f453232b-f87d-4756-9d8b-c09bc835cc42" providerId="ADAL" clId="{C7FEA3FA-4936-41E1-B7FA-CA082069F7F7}" dt="2026-10-10T12:50:48.926" v="8288" actId="20577"/>
        <pc:sldMkLst>
          <pc:docMk/>
          <pc:sldMk cId="3273551048" sldId="351"/>
        </pc:sldMkLst>
        <pc:spChg chg="mod">
          <ac:chgData name="Francesco Bellotti" userId="f453232b-f87d-4756-9d8b-c09bc835cc42" providerId="ADAL" clId="{C7FEA3FA-4936-41E1-B7FA-CA082069F7F7}" dt="2026-10-10T12:50:48.926" v="8288" actId="20577"/>
          <ac:spMkLst>
            <pc:docMk/>
            <pc:sldMk cId="3273551048" sldId="351"/>
            <ac:spMk id="3" creationId="{5D69A0D2-9827-5F5F-0044-C653406AAADF}"/>
          </ac:spMkLst>
        </pc:spChg>
      </pc:sldChg>
      <pc:sldChg chg="modSp mod">
        <pc:chgData name="Francesco Bellotti" userId="f453232b-f87d-4756-9d8b-c09bc835cc42" providerId="ADAL" clId="{C7FEA3FA-4936-41E1-B7FA-CA082069F7F7}" dt="2026-10-07T06:53:59.345" v="6854" actId="113"/>
        <pc:sldMkLst>
          <pc:docMk/>
          <pc:sldMk cId="329853352" sldId="353"/>
        </pc:sldMkLst>
        <pc:spChg chg="mod">
          <ac:chgData name="Francesco Bellotti" userId="f453232b-f87d-4756-9d8b-c09bc835cc42" providerId="ADAL" clId="{C7FEA3FA-4936-41E1-B7FA-CA082069F7F7}" dt="2026-10-07T06:53:59.345" v="6854" actId="113"/>
          <ac:spMkLst>
            <pc:docMk/>
            <pc:sldMk cId="329853352" sldId="353"/>
            <ac:spMk id="3" creationId="{6D8ABC89-930A-ADC1-9698-ACD76CDC47DB}"/>
          </ac:spMkLst>
        </pc:spChg>
      </pc:sldChg>
      <pc:sldChg chg="delSp modSp mod">
        <pc:chgData name="Francesco Bellotti" userId="f453232b-f87d-4756-9d8b-c09bc835cc42" providerId="ADAL" clId="{C7FEA3FA-4936-41E1-B7FA-CA082069F7F7}" dt="2026-10-07T07:01:50.111" v="6938" actId="478"/>
        <pc:sldMkLst>
          <pc:docMk/>
          <pc:sldMk cId="0" sldId="355"/>
        </pc:sldMkLst>
        <pc:spChg chg="mod">
          <ac:chgData name="Francesco Bellotti" userId="f453232b-f87d-4756-9d8b-c09bc835cc42" providerId="ADAL" clId="{C7FEA3FA-4936-41E1-B7FA-CA082069F7F7}" dt="2026-10-07T07:01:13.118" v="6929" actId="13926"/>
          <ac:spMkLst>
            <pc:docMk/>
            <pc:sldMk cId="0" sldId="355"/>
            <ac:spMk id="5" creationId="{00000000-0000-0000-0000-000000000000}"/>
          </ac:spMkLst>
        </pc:spChg>
        <pc:spChg chg="mod">
          <ac:chgData name="Francesco Bellotti" userId="f453232b-f87d-4756-9d8b-c09bc835cc42" providerId="ADAL" clId="{C7FEA3FA-4936-41E1-B7FA-CA082069F7F7}" dt="2026-10-07T07:01:39.944" v="6936" actId="1076"/>
          <ac:spMkLst>
            <pc:docMk/>
            <pc:sldMk cId="0" sldId="355"/>
            <ac:spMk id="27" creationId="{00000000-0000-0000-0000-000000000000}"/>
          </ac:spMkLst>
        </pc:spChg>
        <pc:spChg chg="mod">
          <ac:chgData name="Francesco Bellotti" userId="f453232b-f87d-4756-9d8b-c09bc835cc42" providerId="ADAL" clId="{C7FEA3FA-4936-41E1-B7FA-CA082069F7F7}" dt="2026-10-07T07:01:45.026" v="6937" actId="1076"/>
          <ac:spMkLst>
            <pc:docMk/>
            <pc:sldMk cId="0" sldId="355"/>
            <ac:spMk id="28" creationId="{00000000-0000-0000-0000-000000000000}"/>
          </ac:spMkLst>
        </pc:spChg>
        <pc:spChg chg="mod">
          <ac:chgData name="Francesco Bellotti" userId="f453232b-f87d-4756-9d8b-c09bc835cc42" providerId="ADAL" clId="{C7FEA3FA-4936-41E1-B7FA-CA082069F7F7}" dt="2026-10-07T07:01:29.625" v="6930" actId="1076"/>
          <ac:spMkLst>
            <pc:docMk/>
            <pc:sldMk cId="0" sldId="355"/>
            <ac:spMk id="30" creationId="{00000000-0000-0000-0000-000000000000}"/>
          </ac:spMkLst>
        </pc:spChg>
        <pc:spChg chg="mod">
          <ac:chgData name="Francesco Bellotti" userId="f453232b-f87d-4756-9d8b-c09bc835cc42" providerId="ADAL" clId="{C7FEA3FA-4936-41E1-B7FA-CA082069F7F7}" dt="2026-10-07T07:00:59.950" v="6928" actId="13926"/>
          <ac:spMkLst>
            <pc:docMk/>
            <pc:sldMk cId="0" sldId="355"/>
            <ac:spMk id="32" creationId="{00000000-0000-0000-0000-000000000000}"/>
          </ac:spMkLst>
        </pc:spChg>
      </pc:sldChg>
      <pc:sldChg chg="addSp modSp mod">
        <pc:chgData name="Francesco Bellotti" userId="f453232b-f87d-4756-9d8b-c09bc835cc42" providerId="ADAL" clId="{C7FEA3FA-4936-41E1-B7FA-CA082069F7F7}" dt="2026-10-12T12:37:46.295" v="10334" actId="13926"/>
        <pc:sldMkLst>
          <pc:docMk/>
          <pc:sldMk cId="0" sldId="356"/>
        </pc:sldMkLst>
        <pc:spChg chg="mod">
          <ac:chgData name="Francesco Bellotti" userId="f453232b-f87d-4756-9d8b-c09bc835cc42" providerId="ADAL" clId="{C7FEA3FA-4936-41E1-B7FA-CA082069F7F7}" dt="2026-10-07T11:17:39.089" v="6941" actId="13926"/>
          <ac:spMkLst>
            <pc:docMk/>
            <pc:sldMk cId="0" sldId="356"/>
            <ac:spMk id="4" creationId="{00000000-0000-0000-0000-000000000000}"/>
          </ac:spMkLst>
        </pc:spChg>
        <pc:spChg chg="mod">
          <ac:chgData name="Francesco Bellotti" userId="f453232b-f87d-4756-9d8b-c09bc835cc42" providerId="ADAL" clId="{C7FEA3FA-4936-41E1-B7FA-CA082069F7F7}" dt="2026-10-07T11:17:56.523" v="6943" actId="14100"/>
          <ac:spMkLst>
            <pc:docMk/>
            <pc:sldMk cId="0" sldId="356"/>
            <ac:spMk id="51" creationId="{00000000-0000-0000-0000-000000000000}"/>
          </ac:spMkLst>
        </pc:spChg>
        <pc:spChg chg="mod">
          <ac:chgData name="Francesco Bellotti" userId="f453232b-f87d-4756-9d8b-c09bc835cc42" providerId="ADAL" clId="{C7FEA3FA-4936-41E1-B7FA-CA082069F7F7}" dt="2026-10-07T11:18:14.143" v="6946" actId="14100"/>
          <ac:spMkLst>
            <pc:docMk/>
            <pc:sldMk cId="0" sldId="356"/>
            <ac:spMk id="57" creationId="{00000000-0000-0000-0000-000000000000}"/>
          </ac:spMkLst>
        </pc:spChg>
        <pc:spChg chg="add mod">
          <ac:chgData name="Francesco Bellotti" userId="f453232b-f87d-4756-9d8b-c09bc835cc42" providerId="ADAL" clId="{C7FEA3FA-4936-41E1-B7FA-CA082069F7F7}" dt="2026-10-07T11:18:37.473" v="6949" actId="14100"/>
          <ac:spMkLst>
            <pc:docMk/>
            <pc:sldMk cId="0" sldId="356"/>
            <ac:spMk id="66" creationId="{8BF3558E-BBC2-24B9-86CA-0D117E9CC787}"/>
          </ac:spMkLst>
        </pc:spChg>
        <pc:spChg chg="add mod">
          <ac:chgData name="Francesco Bellotti" userId="f453232b-f87d-4756-9d8b-c09bc835cc42" providerId="ADAL" clId="{C7FEA3FA-4936-41E1-B7FA-CA082069F7F7}" dt="2026-10-12T12:37:46.295" v="10334" actId="13926"/>
          <ac:spMkLst>
            <pc:docMk/>
            <pc:sldMk cId="0" sldId="356"/>
            <ac:spMk id="68" creationId="{379BEC87-9638-8F74-0087-839D6F7478C8}"/>
          </ac:spMkLst>
        </pc:spChg>
      </pc:sldChg>
      <pc:sldChg chg="addSp delSp modSp mod">
        <pc:chgData name="Francesco Bellotti" userId="f453232b-f87d-4756-9d8b-c09bc835cc42" providerId="ADAL" clId="{C7FEA3FA-4936-41E1-B7FA-CA082069F7F7}" dt="2026-10-10T21:56:12.081" v="8337" actId="27636"/>
        <pc:sldMkLst>
          <pc:docMk/>
          <pc:sldMk cId="0" sldId="359"/>
        </pc:sldMkLst>
        <pc:spChg chg="mod">
          <ac:chgData name="Francesco Bellotti" userId="f453232b-f87d-4756-9d8b-c09bc835cc42" providerId="ADAL" clId="{C7FEA3FA-4936-41E1-B7FA-CA082069F7F7}" dt="2026-10-10T21:55:36.213" v="8330" actId="1076"/>
          <ac:spMkLst>
            <pc:docMk/>
            <pc:sldMk cId="0" sldId="359"/>
            <ac:spMk id="8" creationId="{00000000-0000-0000-0000-000000000000}"/>
          </ac:spMkLst>
        </pc:spChg>
        <pc:spChg chg="mod">
          <ac:chgData name="Francesco Bellotti" userId="f453232b-f87d-4756-9d8b-c09bc835cc42" providerId="ADAL" clId="{C7FEA3FA-4936-41E1-B7FA-CA082069F7F7}" dt="2026-10-10T21:54:50.308" v="8326" actId="1076"/>
          <ac:spMkLst>
            <pc:docMk/>
            <pc:sldMk cId="0" sldId="359"/>
            <ac:spMk id="13" creationId="{00000000-0000-0000-0000-000000000000}"/>
          </ac:spMkLst>
        </pc:spChg>
        <pc:spChg chg="mod">
          <ac:chgData name="Francesco Bellotti" userId="f453232b-f87d-4756-9d8b-c09bc835cc42" providerId="ADAL" clId="{C7FEA3FA-4936-41E1-B7FA-CA082069F7F7}" dt="2026-10-07T11:29:17.084" v="6994" actId="1076"/>
          <ac:spMkLst>
            <pc:docMk/>
            <pc:sldMk cId="0" sldId="359"/>
            <ac:spMk id="14" creationId="{00000000-0000-0000-0000-000000000000}"/>
          </ac:spMkLst>
        </pc:spChg>
        <pc:spChg chg="mod">
          <ac:chgData name="Francesco Bellotti" userId="f453232b-f87d-4756-9d8b-c09bc835cc42" providerId="ADAL" clId="{C7FEA3FA-4936-41E1-B7FA-CA082069F7F7}" dt="2026-10-10T21:56:12.081" v="8337" actId="27636"/>
          <ac:spMkLst>
            <pc:docMk/>
            <pc:sldMk cId="0" sldId="359"/>
            <ac:spMk id="15" creationId="{00000000-0000-0000-0000-000000000000}"/>
          </ac:spMkLst>
        </pc:spChg>
        <pc:spChg chg="mod">
          <ac:chgData name="Francesco Bellotti" userId="f453232b-f87d-4756-9d8b-c09bc835cc42" providerId="ADAL" clId="{C7FEA3FA-4936-41E1-B7FA-CA082069F7F7}" dt="2026-10-10T21:55:07.286" v="8327"/>
          <ac:spMkLst>
            <pc:docMk/>
            <pc:sldMk cId="0" sldId="359"/>
            <ac:spMk id="17" creationId="{00000000-0000-0000-0000-000000000000}"/>
          </ac:spMkLst>
        </pc:spChg>
      </pc:sldChg>
      <pc:sldChg chg="modSp mod">
        <pc:chgData name="Francesco Bellotti" userId="f453232b-f87d-4756-9d8b-c09bc835cc42" providerId="ADAL" clId="{C7FEA3FA-4936-41E1-B7FA-CA082069F7F7}" dt="2026-10-10T21:54:05.079" v="8321" actId="207"/>
        <pc:sldMkLst>
          <pc:docMk/>
          <pc:sldMk cId="0" sldId="360"/>
        </pc:sldMkLst>
        <pc:spChg chg="mod">
          <ac:chgData name="Francesco Bellotti" userId="f453232b-f87d-4756-9d8b-c09bc835cc42" providerId="ADAL" clId="{C7FEA3FA-4936-41E1-B7FA-CA082069F7F7}" dt="2026-10-07T11:30:02.697" v="6997" actId="13926"/>
          <ac:spMkLst>
            <pc:docMk/>
            <pc:sldMk cId="0" sldId="360"/>
            <ac:spMk id="4" creationId="{00000000-0000-0000-0000-000000000000}"/>
          </ac:spMkLst>
        </pc:spChg>
        <pc:spChg chg="mod">
          <ac:chgData name="Francesco Bellotti" userId="f453232b-f87d-4756-9d8b-c09bc835cc42" providerId="ADAL" clId="{C7FEA3FA-4936-41E1-B7FA-CA082069F7F7}" dt="2026-10-07T11:31:01.474" v="6998" actId="13926"/>
          <ac:spMkLst>
            <pc:docMk/>
            <pc:sldMk cId="0" sldId="360"/>
            <ac:spMk id="5" creationId="{00000000-0000-0000-0000-000000000000}"/>
          </ac:spMkLst>
        </pc:spChg>
        <pc:spChg chg="mod">
          <ac:chgData name="Francesco Bellotti" userId="f453232b-f87d-4756-9d8b-c09bc835cc42" providerId="ADAL" clId="{C7FEA3FA-4936-41E1-B7FA-CA082069F7F7}" dt="2026-10-10T21:53:37.071" v="8316" actId="207"/>
          <ac:spMkLst>
            <pc:docMk/>
            <pc:sldMk cId="0" sldId="360"/>
            <ac:spMk id="11" creationId="{00000000-0000-0000-0000-000000000000}"/>
          </ac:spMkLst>
        </pc:spChg>
        <pc:spChg chg="mod">
          <ac:chgData name="Francesco Bellotti" userId="f453232b-f87d-4756-9d8b-c09bc835cc42" providerId="ADAL" clId="{C7FEA3FA-4936-41E1-B7FA-CA082069F7F7}" dt="2026-10-10T21:53:46.189" v="8317" actId="207"/>
          <ac:spMkLst>
            <pc:docMk/>
            <pc:sldMk cId="0" sldId="360"/>
            <ac:spMk id="17" creationId="{00000000-0000-0000-0000-000000000000}"/>
          </ac:spMkLst>
        </pc:spChg>
        <pc:spChg chg="mod">
          <ac:chgData name="Francesco Bellotti" userId="f453232b-f87d-4756-9d8b-c09bc835cc42" providerId="ADAL" clId="{C7FEA3FA-4936-41E1-B7FA-CA082069F7F7}" dt="2026-10-10T21:53:55.726" v="8318" actId="207"/>
          <ac:spMkLst>
            <pc:docMk/>
            <pc:sldMk cId="0" sldId="360"/>
            <ac:spMk id="23" creationId="{00000000-0000-0000-0000-000000000000}"/>
          </ac:spMkLst>
        </pc:spChg>
        <pc:spChg chg="mod">
          <ac:chgData name="Francesco Bellotti" userId="f453232b-f87d-4756-9d8b-c09bc835cc42" providerId="ADAL" clId="{C7FEA3FA-4936-41E1-B7FA-CA082069F7F7}" dt="2026-10-10T21:54:05.079" v="8321" actId="207"/>
          <ac:spMkLst>
            <pc:docMk/>
            <pc:sldMk cId="0" sldId="360"/>
            <ac:spMk id="29" creationId="{00000000-0000-0000-0000-000000000000}"/>
          </ac:spMkLst>
        </pc:spChg>
      </pc:sldChg>
      <pc:sldChg chg="modSp mod">
        <pc:chgData name="Francesco Bellotti" userId="f453232b-f87d-4756-9d8b-c09bc835cc42" providerId="ADAL" clId="{C7FEA3FA-4936-41E1-B7FA-CA082069F7F7}" dt="2026-10-10T21:59:44.189" v="8346" actId="207"/>
        <pc:sldMkLst>
          <pc:docMk/>
          <pc:sldMk cId="0" sldId="361"/>
        </pc:sldMkLst>
        <pc:spChg chg="mod">
          <ac:chgData name="Francesco Bellotti" userId="f453232b-f87d-4756-9d8b-c09bc835cc42" providerId="ADAL" clId="{C7FEA3FA-4936-41E1-B7FA-CA082069F7F7}" dt="2026-10-07T11:46:02.718" v="7036" actId="13926"/>
          <ac:spMkLst>
            <pc:docMk/>
            <pc:sldMk cId="0" sldId="361"/>
            <ac:spMk id="4" creationId="{00000000-0000-0000-0000-000000000000}"/>
          </ac:spMkLst>
        </pc:spChg>
        <pc:spChg chg="mod">
          <ac:chgData name="Francesco Bellotti" userId="f453232b-f87d-4756-9d8b-c09bc835cc42" providerId="ADAL" clId="{C7FEA3FA-4936-41E1-B7FA-CA082069F7F7}" dt="2026-10-10T21:59:44.189" v="8346" actId="207"/>
          <ac:spMkLst>
            <pc:docMk/>
            <pc:sldMk cId="0" sldId="361"/>
            <ac:spMk id="8" creationId="{00000000-0000-0000-0000-000000000000}"/>
          </ac:spMkLst>
        </pc:spChg>
        <pc:spChg chg="mod">
          <ac:chgData name="Francesco Bellotti" userId="f453232b-f87d-4756-9d8b-c09bc835cc42" providerId="ADAL" clId="{C7FEA3FA-4936-41E1-B7FA-CA082069F7F7}" dt="2026-10-07T11:44:02.750" v="7034" actId="1076"/>
          <ac:spMkLst>
            <pc:docMk/>
            <pc:sldMk cId="0" sldId="361"/>
            <ac:spMk id="24" creationId="{00000000-0000-0000-0000-000000000000}"/>
          </ac:spMkLst>
        </pc:spChg>
      </pc:sldChg>
      <pc:sldChg chg="addSp modSp mod">
        <pc:chgData name="Francesco Bellotti" userId="f453232b-f87d-4756-9d8b-c09bc835cc42" providerId="ADAL" clId="{C7FEA3FA-4936-41E1-B7FA-CA082069F7F7}" dt="2026-10-12T19:28:05.757" v="10690" actId="13926"/>
        <pc:sldMkLst>
          <pc:docMk/>
          <pc:sldMk cId="0" sldId="362"/>
        </pc:sldMkLst>
        <pc:spChg chg="mod">
          <ac:chgData name="Francesco Bellotti" userId="f453232b-f87d-4756-9d8b-c09bc835cc42" providerId="ADAL" clId="{C7FEA3FA-4936-41E1-B7FA-CA082069F7F7}" dt="2026-10-07T11:46:07.781" v="7037" actId="13926"/>
          <ac:spMkLst>
            <pc:docMk/>
            <pc:sldMk cId="0" sldId="362"/>
            <ac:spMk id="4" creationId="{00000000-0000-0000-0000-000000000000}"/>
          </ac:spMkLst>
        </pc:spChg>
        <pc:spChg chg="mod">
          <ac:chgData name="Francesco Bellotti" userId="f453232b-f87d-4756-9d8b-c09bc835cc42" providerId="ADAL" clId="{C7FEA3FA-4936-41E1-B7FA-CA082069F7F7}" dt="2026-10-10T21:59:55.271" v="8347" actId="207"/>
          <ac:spMkLst>
            <pc:docMk/>
            <pc:sldMk cId="0" sldId="362"/>
            <ac:spMk id="7" creationId="{00000000-0000-0000-0000-000000000000}"/>
          </ac:spMkLst>
        </pc:spChg>
        <pc:spChg chg="mod">
          <ac:chgData name="Francesco Bellotti" userId="f453232b-f87d-4756-9d8b-c09bc835cc42" providerId="ADAL" clId="{C7FEA3FA-4936-41E1-B7FA-CA082069F7F7}" dt="2026-10-10T22:00:04.586" v="8348" actId="208"/>
          <ac:spMkLst>
            <pc:docMk/>
            <pc:sldMk cId="0" sldId="362"/>
            <ac:spMk id="22" creationId="{00000000-0000-0000-0000-000000000000}"/>
          </ac:spMkLst>
        </pc:spChg>
        <pc:spChg chg="mod">
          <ac:chgData name="Francesco Bellotti" userId="f453232b-f87d-4756-9d8b-c09bc835cc42" providerId="ADAL" clId="{C7FEA3FA-4936-41E1-B7FA-CA082069F7F7}" dt="2026-10-10T22:00:16.047" v="8351" actId="207"/>
          <ac:spMkLst>
            <pc:docMk/>
            <pc:sldMk cId="0" sldId="362"/>
            <ac:spMk id="23" creationId="{00000000-0000-0000-0000-000000000000}"/>
          </ac:spMkLst>
        </pc:spChg>
        <pc:spChg chg="add mod">
          <ac:chgData name="Francesco Bellotti" userId="f453232b-f87d-4756-9d8b-c09bc835cc42" providerId="ADAL" clId="{C7FEA3FA-4936-41E1-B7FA-CA082069F7F7}" dt="2026-10-12T19:28:05.757" v="10690" actId="13926"/>
          <ac:spMkLst>
            <pc:docMk/>
            <pc:sldMk cId="0" sldId="362"/>
            <ac:spMk id="31" creationId="{114B12FE-870B-1D5C-3EF2-732DDB988758}"/>
          </ac:spMkLst>
        </pc:spChg>
      </pc:sldChg>
      <pc:sldChg chg="modSp mod">
        <pc:chgData name="Francesco Bellotti" userId="f453232b-f87d-4756-9d8b-c09bc835cc42" providerId="ADAL" clId="{C7FEA3FA-4936-41E1-B7FA-CA082069F7F7}" dt="2026-10-07T11:48:54.742" v="7044" actId="403"/>
        <pc:sldMkLst>
          <pc:docMk/>
          <pc:sldMk cId="0" sldId="363"/>
        </pc:sldMkLst>
        <pc:spChg chg="mod">
          <ac:chgData name="Francesco Bellotti" userId="f453232b-f87d-4756-9d8b-c09bc835cc42" providerId="ADAL" clId="{C7FEA3FA-4936-41E1-B7FA-CA082069F7F7}" dt="2026-10-07T11:48:54.742" v="7044" actId="403"/>
          <ac:spMkLst>
            <pc:docMk/>
            <pc:sldMk cId="0" sldId="363"/>
            <ac:spMk id="31" creationId="{00000000-0000-0000-0000-000000000000}"/>
          </ac:spMkLst>
        </pc:spChg>
      </pc:sldChg>
      <pc:sldChg chg="modSp mod">
        <pc:chgData name="Francesco Bellotti" userId="f453232b-f87d-4756-9d8b-c09bc835cc42" providerId="ADAL" clId="{C7FEA3FA-4936-41E1-B7FA-CA082069F7F7}" dt="2026-10-07T11:58:57.793" v="7045" actId="113"/>
        <pc:sldMkLst>
          <pc:docMk/>
          <pc:sldMk cId="0" sldId="364"/>
        </pc:sldMkLst>
        <pc:spChg chg="mod">
          <ac:chgData name="Francesco Bellotti" userId="f453232b-f87d-4756-9d8b-c09bc835cc42" providerId="ADAL" clId="{C7FEA3FA-4936-41E1-B7FA-CA082069F7F7}" dt="2026-10-07T11:58:57.793" v="7045" actId="113"/>
          <ac:spMkLst>
            <pc:docMk/>
            <pc:sldMk cId="0" sldId="364"/>
            <ac:spMk id="5" creationId="{00000000-0000-0000-0000-000000000000}"/>
          </ac:spMkLst>
        </pc:spChg>
      </pc:sldChg>
      <pc:sldChg chg="modSp mod ord">
        <pc:chgData name="Francesco Bellotti" userId="f453232b-f87d-4756-9d8b-c09bc835cc42" providerId="ADAL" clId="{C7FEA3FA-4936-41E1-B7FA-CA082069F7F7}" dt="2026-10-12T17:57:33.937" v="10689" actId="13926"/>
        <pc:sldMkLst>
          <pc:docMk/>
          <pc:sldMk cId="0" sldId="365"/>
        </pc:sldMkLst>
        <pc:spChg chg="mod">
          <ac:chgData name="Francesco Bellotti" userId="f453232b-f87d-4756-9d8b-c09bc835cc42" providerId="ADAL" clId="{C7FEA3FA-4936-41E1-B7FA-CA082069F7F7}" dt="2026-10-12T17:57:33.937" v="10689" actId="13926"/>
          <ac:spMkLst>
            <pc:docMk/>
            <pc:sldMk cId="0" sldId="365"/>
            <ac:spMk id="4" creationId="{00000000-0000-0000-0000-000000000000}"/>
          </ac:spMkLst>
        </pc:spChg>
      </pc:sldChg>
      <pc:sldChg chg="modSp mod">
        <pc:chgData name="Francesco Bellotti" userId="f453232b-f87d-4756-9d8b-c09bc835cc42" providerId="ADAL" clId="{C7FEA3FA-4936-41E1-B7FA-CA082069F7F7}" dt="2026-10-07T12:01:04.186" v="7058" actId="113"/>
        <pc:sldMkLst>
          <pc:docMk/>
          <pc:sldMk cId="0" sldId="366"/>
        </pc:sldMkLst>
        <pc:spChg chg="mod">
          <ac:chgData name="Francesco Bellotti" userId="f453232b-f87d-4756-9d8b-c09bc835cc42" providerId="ADAL" clId="{C7FEA3FA-4936-41E1-B7FA-CA082069F7F7}" dt="2026-10-07T12:01:04.186" v="7058" actId="113"/>
          <ac:spMkLst>
            <pc:docMk/>
            <pc:sldMk cId="0" sldId="366"/>
            <ac:spMk id="5" creationId="{00000000-0000-0000-0000-000000000000}"/>
          </ac:spMkLst>
        </pc:spChg>
      </pc:sldChg>
      <pc:sldChg chg="delSp modSp mod">
        <pc:chgData name="Francesco Bellotti" userId="f453232b-f87d-4756-9d8b-c09bc835cc42" providerId="ADAL" clId="{C7FEA3FA-4936-41E1-B7FA-CA082069F7F7}" dt="2026-10-07T12:04:55.140" v="7129" actId="20577"/>
        <pc:sldMkLst>
          <pc:docMk/>
          <pc:sldMk cId="0" sldId="368"/>
        </pc:sldMkLst>
        <pc:spChg chg="mod">
          <ac:chgData name="Francesco Bellotti" userId="f453232b-f87d-4756-9d8b-c09bc835cc42" providerId="ADAL" clId="{C7FEA3FA-4936-41E1-B7FA-CA082069F7F7}" dt="2026-10-07T12:04:55.140" v="7129" actId="20577"/>
          <ac:spMkLst>
            <pc:docMk/>
            <pc:sldMk cId="0" sldId="368"/>
            <ac:spMk id="36" creationId="{B81BA28C-648F-A194-9691-05A0A48DA073}"/>
          </ac:spMkLst>
        </pc:spChg>
      </pc:sldChg>
      <pc:sldChg chg="modSp mod">
        <pc:chgData name="Francesco Bellotti" userId="f453232b-f87d-4756-9d8b-c09bc835cc42" providerId="ADAL" clId="{C7FEA3FA-4936-41E1-B7FA-CA082069F7F7}" dt="2026-10-07T07:02:02.523" v="6939" actId="13926"/>
        <pc:sldMkLst>
          <pc:docMk/>
          <pc:sldMk cId="3026766227" sldId="370"/>
        </pc:sldMkLst>
        <pc:spChg chg="mod">
          <ac:chgData name="Francesco Bellotti" userId="f453232b-f87d-4756-9d8b-c09bc835cc42" providerId="ADAL" clId="{C7FEA3FA-4936-41E1-B7FA-CA082069F7F7}" dt="2026-10-07T07:02:02.523" v="6939" actId="13926"/>
          <ac:spMkLst>
            <pc:docMk/>
            <pc:sldMk cId="3026766227" sldId="370"/>
            <ac:spMk id="3" creationId="{1894FC09-0715-C26E-2208-DCCA39897144}"/>
          </ac:spMkLst>
        </pc:spChg>
      </pc:sldChg>
      <pc:sldChg chg="modSp mod">
        <pc:chgData name="Francesco Bellotti" userId="f453232b-f87d-4756-9d8b-c09bc835cc42" providerId="ADAL" clId="{C7FEA3FA-4936-41E1-B7FA-CA082069F7F7}" dt="2026-10-07T11:19:05.694" v="6952" actId="20577"/>
        <pc:sldMkLst>
          <pc:docMk/>
          <pc:sldMk cId="1581367185" sldId="372"/>
        </pc:sldMkLst>
        <pc:spChg chg="mod">
          <ac:chgData name="Francesco Bellotti" userId="f453232b-f87d-4756-9d8b-c09bc835cc42" providerId="ADAL" clId="{C7FEA3FA-4936-41E1-B7FA-CA082069F7F7}" dt="2026-10-07T11:19:05.694" v="6952" actId="20577"/>
          <ac:spMkLst>
            <pc:docMk/>
            <pc:sldMk cId="1581367185" sldId="372"/>
            <ac:spMk id="4" creationId="{B5A14495-D945-DC2C-356F-AE259A7B632F}"/>
          </ac:spMkLst>
        </pc:spChg>
      </pc:sldChg>
      <pc:sldChg chg="mod modShow">
        <pc:chgData name="Francesco Bellotti" userId="f453232b-f87d-4756-9d8b-c09bc835cc42" providerId="ADAL" clId="{C7FEA3FA-4936-41E1-B7FA-CA082069F7F7}" dt="2026-10-07T11:20:57.122" v="6962" actId="729"/>
        <pc:sldMkLst>
          <pc:docMk/>
          <pc:sldMk cId="2310245722" sldId="373"/>
        </pc:sldMkLst>
      </pc:sldChg>
      <pc:sldChg chg="modSp mod">
        <pc:chgData name="Francesco Bellotti" userId="f453232b-f87d-4756-9d8b-c09bc835cc42" providerId="ADAL" clId="{C7FEA3FA-4936-41E1-B7FA-CA082069F7F7}" dt="2026-10-12T12:36:16.177" v="10333" actId="20577"/>
        <pc:sldMkLst>
          <pc:docMk/>
          <pc:sldMk cId="532791983" sldId="375"/>
        </pc:sldMkLst>
        <pc:spChg chg="mod">
          <ac:chgData name="Francesco Bellotti" userId="f453232b-f87d-4756-9d8b-c09bc835cc42" providerId="ADAL" clId="{C7FEA3FA-4936-41E1-B7FA-CA082069F7F7}" dt="2026-10-12T12:36:16.177" v="10333" actId="20577"/>
          <ac:spMkLst>
            <pc:docMk/>
            <pc:sldMk cId="532791983" sldId="375"/>
            <ac:spMk id="3" creationId="{C4B4AF48-A276-926E-E683-5527C4B756E4}"/>
          </ac:spMkLst>
        </pc:spChg>
        <pc:spChg chg="mod">
          <ac:chgData name="Francesco Bellotti" userId="f453232b-f87d-4756-9d8b-c09bc835cc42" providerId="ADAL" clId="{C7FEA3FA-4936-41E1-B7FA-CA082069F7F7}" dt="2026-10-07T11:24:22.527" v="6967" actId="13926"/>
          <ac:spMkLst>
            <pc:docMk/>
            <pc:sldMk cId="532791983" sldId="375"/>
            <ac:spMk id="4" creationId="{9B0DB639-A479-D2FE-1EBF-A58218F17064}"/>
          </ac:spMkLst>
        </pc:spChg>
      </pc:sldChg>
      <pc:sldChg chg="modSp mod">
        <pc:chgData name="Francesco Bellotti" userId="f453232b-f87d-4756-9d8b-c09bc835cc42" providerId="ADAL" clId="{C7FEA3FA-4936-41E1-B7FA-CA082069F7F7}" dt="2026-10-07T11:26:27.641" v="6970" actId="13926"/>
        <pc:sldMkLst>
          <pc:docMk/>
          <pc:sldMk cId="28467829" sldId="376"/>
        </pc:sldMkLst>
        <pc:spChg chg="mod">
          <ac:chgData name="Francesco Bellotti" userId="f453232b-f87d-4756-9d8b-c09bc835cc42" providerId="ADAL" clId="{C7FEA3FA-4936-41E1-B7FA-CA082069F7F7}" dt="2026-10-07T11:26:27.641" v="6970" actId="13926"/>
          <ac:spMkLst>
            <pc:docMk/>
            <pc:sldMk cId="28467829" sldId="376"/>
            <ac:spMk id="3" creationId="{3E1B9BE6-8E5A-F39F-8A90-3217DDCDC190}"/>
          </ac:spMkLst>
        </pc:spChg>
      </pc:sldChg>
      <pc:sldChg chg="modSp mod">
        <pc:chgData name="Francesco Bellotti" userId="f453232b-f87d-4756-9d8b-c09bc835cc42" providerId="ADAL" clId="{C7FEA3FA-4936-41E1-B7FA-CA082069F7F7}" dt="2026-10-07T11:29:39.897" v="6996" actId="13926"/>
        <pc:sldMkLst>
          <pc:docMk/>
          <pc:sldMk cId="1835786380" sldId="377"/>
        </pc:sldMkLst>
        <pc:spChg chg="mod">
          <ac:chgData name="Francesco Bellotti" userId="f453232b-f87d-4756-9d8b-c09bc835cc42" providerId="ADAL" clId="{C7FEA3FA-4936-41E1-B7FA-CA082069F7F7}" dt="2026-10-07T11:29:39.897" v="6996" actId="13926"/>
          <ac:spMkLst>
            <pc:docMk/>
            <pc:sldMk cId="1835786380" sldId="377"/>
            <ac:spMk id="4" creationId="{80DB23ED-2639-ADBB-5F4F-967D9BF0D742}"/>
          </ac:spMkLst>
        </pc:spChg>
      </pc:sldChg>
      <pc:sldChg chg="modSp mod">
        <pc:chgData name="Francesco Bellotti" userId="f453232b-f87d-4756-9d8b-c09bc835cc42" providerId="ADAL" clId="{C7FEA3FA-4936-41E1-B7FA-CA082069F7F7}" dt="2026-10-12T12:41:52.678" v="10335" actId="13926"/>
        <pc:sldMkLst>
          <pc:docMk/>
          <pc:sldMk cId="3144320917" sldId="378"/>
        </pc:sldMkLst>
        <pc:spChg chg="mod">
          <ac:chgData name="Francesco Bellotti" userId="f453232b-f87d-4756-9d8b-c09bc835cc42" providerId="ADAL" clId="{C7FEA3FA-4936-41E1-B7FA-CA082069F7F7}" dt="2026-10-12T12:41:52.678" v="10335" actId="13926"/>
          <ac:spMkLst>
            <pc:docMk/>
            <pc:sldMk cId="3144320917" sldId="378"/>
            <ac:spMk id="4" creationId="{787A091A-0AE1-9DB2-7A75-2AE6B13BBA87}"/>
          </ac:spMkLst>
        </pc:spChg>
      </pc:sldChg>
      <pc:sldChg chg="modSp mod">
        <pc:chgData name="Francesco Bellotti" userId="f453232b-f87d-4756-9d8b-c09bc835cc42" providerId="ADAL" clId="{C7FEA3FA-4936-41E1-B7FA-CA082069F7F7}" dt="2026-10-10T21:58:56.901" v="8343" actId="27636"/>
        <pc:sldMkLst>
          <pc:docMk/>
          <pc:sldMk cId="2312316822" sldId="379"/>
        </pc:sldMkLst>
        <pc:spChg chg="mod">
          <ac:chgData name="Francesco Bellotti" userId="f453232b-f87d-4756-9d8b-c09bc835cc42" providerId="ADAL" clId="{C7FEA3FA-4936-41E1-B7FA-CA082069F7F7}" dt="2026-10-10T21:58:56.901" v="8343" actId="27636"/>
          <ac:spMkLst>
            <pc:docMk/>
            <pc:sldMk cId="2312316822" sldId="379"/>
            <ac:spMk id="3" creationId="{B7802759-DF73-C1EF-2431-2B8F1B76F29C}"/>
          </ac:spMkLst>
        </pc:spChg>
      </pc:sldChg>
      <pc:sldChg chg="modSp mod">
        <pc:chgData name="Francesco Bellotti" userId="f453232b-f87d-4756-9d8b-c09bc835cc42" providerId="ADAL" clId="{C7FEA3FA-4936-41E1-B7FA-CA082069F7F7}" dt="2026-10-07T11:39:46.956" v="7006" actId="13926"/>
        <pc:sldMkLst>
          <pc:docMk/>
          <pc:sldMk cId="4214933141" sldId="380"/>
        </pc:sldMkLst>
        <pc:spChg chg="mod">
          <ac:chgData name="Francesco Bellotti" userId="f453232b-f87d-4756-9d8b-c09bc835cc42" providerId="ADAL" clId="{C7FEA3FA-4936-41E1-B7FA-CA082069F7F7}" dt="2026-10-07T11:39:37.710" v="7004" actId="13926"/>
          <ac:spMkLst>
            <pc:docMk/>
            <pc:sldMk cId="4214933141" sldId="380"/>
            <ac:spMk id="2" creationId="{FE147FD4-B52F-859B-8350-171F9C7E47AD}"/>
          </ac:spMkLst>
        </pc:spChg>
        <pc:spChg chg="mod">
          <ac:chgData name="Francesco Bellotti" userId="f453232b-f87d-4756-9d8b-c09bc835cc42" providerId="ADAL" clId="{C7FEA3FA-4936-41E1-B7FA-CA082069F7F7}" dt="2026-10-07T11:39:46.956" v="7006" actId="13926"/>
          <ac:spMkLst>
            <pc:docMk/>
            <pc:sldMk cId="4214933141" sldId="380"/>
            <ac:spMk id="3" creationId="{5462B126-2B61-86FA-AB29-A93CCE3FE1FE}"/>
          </ac:spMkLst>
        </pc:spChg>
      </pc:sldChg>
      <pc:sldChg chg="modSp mod">
        <pc:chgData name="Francesco Bellotti" userId="f453232b-f87d-4756-9d8b-c09bc835cc42" providerId="ADAL" clId="{C7FEA3FA-4936-41E1-B7FA-CA082069F7F7}" dt="2026-10-07T11:41:57.257" v="7015" actId="13926"/>
        <pc:sldMkLst>
          <pc:docMk/>
          <pc:sldMk cId="4032876451" sldId="381"/>
        </pc:sldMkLst>
        <pc:spChg chg="mod">
          <ac:chgData name="Francesco Bellotti" userId="f453232b-f87d-4756-9d8b-c09bc835cc42" providerId="ADAL" clId="{C7FEA3FA-4936-41E1-B7FA-CA082069F7F7}" dt="2026-10-07T11:41:57.257" v="7015" actId="13926"/>
          <ac:spMkLst>
            <pc:docMk/>
            <pc:sldMk cId="4032876451" sldId="381"/>
            <ac:spMk id="3" creationId="{60AFDC18-4966-C77F-2E3E-B84B1CD7B6F9}"/>
          </ac:spMkLst>
        </pc:spChg>
      </pc:sldChg>
      <pc:sldChg chg="modSp mod">
        <pc:chgData name="Francesco Bellotti" userId="f453232b-f87d-4756-9d8b-c09bc835cc42" providerId="ADAL" clId="{C7FEA3FA-4936-41E1-B7FA-CA082069F7F7}" dt="2026-10-07T11:31:38.378" v="6999" actId="13926"/>
        <pc:sldMkLst>
          <pc:docMk/>
          <pc:sldMk cId="261264088" sldId="382"/>
        </pc:sldMkLst>
        <pc:spChg chg="mod">
          <ac:chgData name="Francesco Bellotti" userId="f453232b-f87d-4756-9d8b-c09bc835cc42" providerId="ADAL" clId="{C7FEA3FA-4936-41E1-B7FA-CA082069F7F7}" dt="2026-10-07T11:31:38.378" v="6999" actId="13926"/>
          <ac:spMkLst>
            <pc:docMk/>
            <pc:sldMk cId="261264088" sldId="382"/>
            <ac:spMk id="3" creationId="{CF652E91-475F-654D-D4CA-CAA42D1DD8B2}"/>
          </ac:spMkLst>
        </pc:spChg>
      </pc:sldChg>
      <pc:sldChg chg="modSp mod">
        <pc:chgData name="Francesco Bellotti" userId="f453232b-f87d-4756-9d8b-c09bc835cc42" providerId="ADAL" clId="{C7FEA3FA-4936-41E1-B7FA-CA082069F7F7}" dt="2026-10-07T11:42:45.762" v="7018" actId="13926"/>
        <pc:sldMkLst>
          <pc:docMk/>
          <pc:sldMk cId="244204693" sldId="384"/>
        </pc:sldMkLst>
        <pc:spChg chg="mod">
          <ac:chgData name="Francesco Bellotti" userId="f453232b-f87d-4756-9d8b-c09bc835cc42" providerId="ADAL" clId="{C7FEA3FA-4936-41E1-B7FA-CA082069F7F7}" dt="2026-10-07T11:42:31.634" v="7016" actId="13926"/>
          <ac:spMkLst>
            <pc:docMk/>
            <pc:sldMk cId="244204693" sldId="384"/>
            <ac:spMk id="3" creationId="{EFA40C0F-56B0-3793-71C8-50DEB6097FA9}"/>
          </ac:spMkLst>
        </pc:spChg>
        <pc:spChg chg="mod">
          <ac:chgData name="Francesco Bellotti" userId="f453232b-f87d-4756-9d8b-c09bc835cc42" providerId="ADAL" clId="{C7FEA3FA-4936-41E1-B7FA-CA082069F7F7}" dt="2026-10-07T11:42:45.762" v="7018" actId="13926"/>
          <ac:spMkLst>
            <pc:docMk/>
            <pc:sldMk cId="244204693" sldId="384"/>
            <ac:spMk id="4" creationId="{7B5C80C6-2B66-4A24-A8A0-0FED7A23098A}"/>
          </ac:spMkLst>
        </pc:spChg>
      </pc:sldChg>
      <pc:sldChg chg="modSp mod">
        <pc:chgData name="Francesco Bellotti" userId="f453232b-f87d-4756-9d8b-c09bc835cc42" providerId="ADAL" clId="{C7FEA3FA-4936-41E1-B7FA-CA082069F7F7}" dt="2026-10-07T11:43:50.344" v="7033" actId="13926"/>
        <pc:sldMkLst>
          <pc:docMk/>
          <pc:sldMk cId="3146893580" sldId="385"/>
        </pc:sldMkLst>
        <pc:spChg chg="mod">
          <ac:chgData name="Francesco Bellotti" userId="f453232b-f87d-4756-9d8b-c09bc835cc42" providerId="ADAL" clId="{C7FEA3FA-4936-41E1-B7FA-CA082069F7F7}" dt="2026-10-07T11:43:04.866" v="7031" actId="20577"/>
          <ac:spMkLst>
            <pc:docMk/>
            <pc:sldMk cId="3146893580" sldId="385"/>
            <ac:spMk id="3" creationId="{5C3F66CA-CBFF-411B-D60E-5BDDA2DA3384}"/>
          </ac:spMkLst>
        </pc:spChg>
        <pc:spChg chg="mod">
          <ac:chgData name="Francesco Bellotti" userId="f453232b-f87d-4756-9d8b-c09bc835cc42" providerId="ADAL" clId="{C7FEA3FA-4936-41E1-B7FA-CA082069F7F7}" dt="2026-10-07T11:43:50.344" v="7033" actId="13926"/>
          <ac:spMkLst>
            <pc:docMk/>
            <pc:sldMk cId="3146893580" sldId="385"/>
            <ac:spMk id="4" creationId="{E38EDBCC-FC96-A4C3-F641-E36F7A558347}"/>
          </ac:spMkLst>
        </pc:spChg>
      </pc:sldChg>
      <pc:sldChg chg="modSp mod">
        <pc:chgData name="Francesco Bellotti" userId="f453232b-f87d-4756-9d8b-c09bc835cc42" providerId="ADAL" clId="{C7FEA3FA-4936-41E1-B7FA-CA082069F7F7}" dt="2026-10-07T11:45:45.437" v="7035" actId="13926"/>
        <pc:sldMkLst>
          <pc:docMk/>
          <pc:sldMk cId="2351455085" sldId="386"/>
        </pc:sldMkLst>
        <pc:spChg chg="mod">
          <ac:chgData name="Francesco Bellotti" userId="f453232b-f87d-4756-9d8b-c09bc835cc42" providerId="ADAL" clId="{C7FEA3FA-4936-41E1-B7FA-CA082069F7F7}" dt="2026-10-07T11:45:45.437" v="7035" actId="13926"/>
          <ac:spMkLst>
            <pc:docMk/>
            <pc:sldMk cId="2351455085" sldId="386"/>
            <ac:spMk id="4" creationId="{A36834F2-10D7-B35D-0820-681465E0AC5C}"/>
          </ac:spMkLst>
        </pc:spChg>
      </pc:sldChg>
      <pc:sldChg chg="modSp mod">
        <pc:chgData name="Francesco Bellotti" userId="f453232b-f87d-4756-9d8b-c09bc835cc42" providerId="ADAL" clId="{C7FEA3FA-4936-41E1-B7FA-CA082069F7F7}" dt="2026-10-07T11:48:35.105" v="7043" actId="13926"/>
        <pc:sldMkLst>
          <pc:docMk/>
          <pc:sldMk cId="4270430494" sldId="387"/>
        </pc:sldMkLst>
        <pc:spChg chg="mod">
          <ac:chgData name="Francesco Bellotti" userId="f453232b-f87d-4756-9d8b-c09bc835cc42" providerId="ADAL" clId="{C7FEA3FA-4936-41E1-B7FA-CA082069F7F7}" dt="2026-10-07T11:47:39.659" v="7039" actId="115"/>
          <ac:spMkLst>
            <pc:docMk/>
            <pc:sldMk cId="4270430494" sldId="387"/>
            <ac:spMk id="2" creationId="{F5DD7D58-F9E3-294D-ADD3-EA7F6BB37F98}"/>
          </ac:spMkLst>
        </pc:spChg>
        <pc:spChg chg="mod">
          <ac:chgData name="Francesco Bellotti" userId="f453232b-f87d-4756-9d8b-c09bc835cc42" providerId="ADAL" clId="{C7FEA3FA-4936-41E1-B7FA-CA082069F7F7}" dt="2026-10-07T11:48:23.654" v="7041" actId="13926"/>
          <ac:spMkLst>
            <pc:docMk/>
            <pc:sldMk cId="4270430494" sldId="387"/>
            <ac:spMk id="3" creationId="{1C3B2042-DDDC-45F4-5D04-17E33FB358EB}"/>
          </ac:spMkLst>
        </pc:spChg>
        <pc:spChg chg="mod">
          <ac:chgData name="Francesco Bellotti" userId="f453232b-f87d-4756-9d8b-c09bc835cc42" providerId="ADAL" clId="{C7FEA3FA-4936-41E1-B7FA-CA082069F7F7}" dt="2026-10-07T11:48:35.105" v="7043" actId="13926"/>
          <ac:spMkLst>
            <pc:docMk/>
            <pc:sldMk cId="4270430494" sldId="387"/>
            <ac:spMk id="4" creationId="{C644F014-2766-FF4C-6EC1-F16C60B817BC}"/>
          </ac:spMkLst>
        </pc:spChg>
        <pc:spChg chg="mod">
          <ac:chgData name="Francesco Bellotti" userId="f453232b-f87d-4756-9d8b-c09bc835cc42" providerId="ADAL" clId="{C7FEA3FA-4936-41E1-B7FA-CA082069F7F7}" dt="2026-10-07T11:48:27.063" v="7042" actId="13926"/>
          <ac:spMkLst>
            <pc:docMk/>
            <pc:sldMk cId="4270430494" sldId="387"/>
            <ac:spMk id="7" creationId="{9BB95004-2298-2C5E-1C9E-A783A22995EE}"/>
          </ac:spMkLst>
        </pc:spChg>
      </pc:sldChg>
      <pc:sldChg chg="modSp mod">
        <pc:chgData name="Francesco Bellotti" userId="f453232b-f87d-4756-9d8b-c09bc835cc42" providerId="ADAL" clId="{C7FEA3FA-4936-41E1-B7FA-CA082069F7F7}" dt="2026-10-07T12:00:04.713" v="7055" actId="20577"/>
        <pc:sldMkLst>
          <pc:docMk/>
          <pc:sldMk cId="769377120" sldId="389"/>
        </pc:sldMkLst>
        <pc:spChg chg="mod">
          <ac:chgData name="Francesco Bellotti" userId="f453232b-f87d-4756-9d8b-c09bc835cc42" providerId="ADAL" clId="{C7FEA3FA-4936-41E1-B7FA-CA082069F7F7}" dt="2026-10-07T12:00:04.713" v="7055" actId="20577"/>
          <ac:spMkLst>
            <pc:docMk/>
            <pc:sldMk cId="769377120" sldId="389"/>
            <ac:spMk id="3" creationId="{9548B63E-CEFB-8661-8CF7-C898987ADA25}"/>
          </ac:spMkLst>
        </pc:spChg>
        <pc:spChg chg="mod">
          <ac:chgData name="Francesco Bellotti" userId="f453232b-f87d-4756-9d8b-c09bc835cc42" providerId="ADAL" clId="{C7FEA3FA-4936-41E1-B7FA-CA082069F7F7}" dt="2026-10-07T11:59:17.359" v="7046" actId="13926"/>
          <ac:spMkLst>
            <pc:docMk/>
            <pc:sldMk cId="769377120" sldId="389"/>
            <ac:spMk id="4" creationId="{84AD3482-C9C2-8BC4-314D-F1EC62C44339}"/>
          </ac:spMkLst>
        </pc:spChg>
      </pc:sldChg>
      <pc:sldChg chg="modSp mod">
        <pc:chgData name="Francesco Bellotti" userId="f453232b-f87d-4756-9d8b-c09bc835cc42" providerId="ADAL" clId="{C7FEA3FA-4936-41E1-B7FA-CA082069F7F7}" dt="2026-10-07T12:02:02.258" v="7063" actId="13926"/>
        <pc:sldMkLst>
          <pc:docMk/>
          <pc:sldMk cId="2758736647" sldId="391"/>
        </pc:sldMkLst>
        <pc:spChg chg="mod">
          <ac:chgData name="Francesco Bellotti" userId="f453232b-f87d-4756-9d8b-c09bc835cc42" providerId="ADAL" clId="{C7FEA3FA-4936-41E1-B7FA-CA082069F7F7}" dt="2026-10-07T12:01:21.487" v="7059" actId="13926"/>
          <ac:spMkLst>
            <pc:docMk/>
            <pc:sldMk cId="2758736647" sldId="391"/>
            <ac:spMk id="2" creationId="{5F0324BA-1772-8F90-D7B8-0BC1D06BBA67}"/>
          </ac:spMkLst>
        </pc:spChg>
        <pc:spChg chg="mod">
          <ac:chgData name="Francesco Bellotti" userId="f453232b-f87d-4756-9d8b-c09bc835cc42" providerId="ADAL" clId="{C7FEA3FA-4936-41E1-B7FA-CA082069F7F7}" dt="2026-10-07T12:01:29.116" v="7060" actId="13926"/>
          <ac:spMkLst>
            <pc:docMk/>
            <pc:sldMk cId="2758736647" sldId="391"/>
            <ac:spMk id="3" creationId="{2BAEFA1F-531A-7C23-ACA5-7E18072240F0}"/>
          </ac:spMkLst>
        </pc:spChg>
        <pc:spChg chg="mod">
          <ac:chgData name="Francesco Bellotti" userId="f453232b-f87d-4756-9d8b-c09bc835cc42" providerId="ADAL" clId="{C7FEA3FA-4936-41E1-B7FA-CA082069F7F7}" dt="2026-10-07T12:02:02.258" v="7063" actId="13926"/>
          <ac:spMkLst>
            <pc:docMk/>
            <pc:sldMk cId="2758736647" sldId="391"/>
            <ac:spMk id="4" creationId="{B83E0B1B-4F67-BE04-A55E-8D12BBEBC7E0}"/>
          </ac:spMkLst>
        </pc:spChg>
      </pc:sldChg>
      <pc:sldChg chg="addSp modSp mod">
        <pc:chgData name="Francesco Bellotti" userId="f453232b-f87d-4756-9d8b-c09bc835cc42" providerId="ADAL" clId="{C7FEA3FA-4936-41E1-B7FA-CA082069F7F7}" dt="2026-10-07T12:03:26.675" v="7108" actId="1076"/>
        <pc:sldMkLst>
          <pc:docMk/>
          <pc:sldMk cId="184050551" sldId="392"/>
        </pc:sldMkLst>
        <pc:spChg chg="mod">
          <ac:chgData name="Francesco Bellotti" userId="f453232b-f87d-4756-9d8b-c09bc835cc42" providerId="ADAL" clId="{C7FEA3FA-4936-41E1-B7FA-CA082069F7F7}" dt="2026-10-07T12:02:30.383" v="7067" actId="20577"/>
          <ac:spMkLst>
            <pc:docMk/>
            <pc:sldMk cId="184050551" sldId="392"/>
            <ac:spMk id="2" creationId="{995006E9-08A1-5FC7-6037-CD4C27975DDE}"/>
          </ac:spMkLst>
        </pc:spChg>
        <pc:spChg chg="mod">
          <ac:chgData name="Francesco Bellotti" userId="f453232b-f87d-4756-9d8b-c09bc835cc42" providerId="ADAL" clId="{C7FEA3FA-4936-41E1-B7FA-CA082069F7F7}" dt="2026-10-07T12:02:26.705" v="7065" actId="13926"/>
          <ac:spMkLst>
            <pc:docMk/>
            <pc:sldMk cId="184050551" sldId="392"/>
            <ac:spMk id="4" creationId="{DF075992-2DA4-1C4F-A87D-95D1F8F414CC}"/>
          </ac:spMkLst>
        </pc:spChg>
        <pc:spChg chg="add mod">
          <ac:chgData name="Francesco Bellotti" userId="f453232b-f87d-4756-9d8b-c09bc835cc42" providerId="ADAL" clId="{C7FEA3FA-4936-41E1-B7FA-CA082069F7F7}" dt="2026-10-07T12:03:10.403" v="7106" actId="1076"/>
          <ac:spMkLst>
            <pc:docMk/>
            <pc:sldMk cId="184050551" sldId="392"/>
            <ac:spMk id="5" creationId="{7564E325-F40B-5023-B70E-11C3C3D20A33}"/>
          </ac:spMkLst>
        </pc:spChg>
        <pc:spChg chg="mod">
          <ac:chgData name="Francesco Bellotti" userId="f453232b-f87d-4756-9d8b-c09bc835cc42" providerId="ADAL" clId="{C7FEA3FA-4936-41E1-B7FA-CA082069F7F7}" dt="2026-10-07T12:03:26.675" v="7108" actId="1076"/>
          <ac:spMkLst>
            <pc:docMk/>
            <pc:sldMk cId="184050551" sldId="392"/>
            <ac:spMk id="6" creationId="{1E4D60D6-85F9-97F8-68A7-70705C2F2C87}"/>
          </ac:spMkLst>
        </pc:spChg>
      </pc:sldChg>
      <pc:sldChg chg="modSp mod">
        <pc:chgData name="Francesco Bellotti" userId="f453232b-f87d-4756-9d8b-c09bc835cc42" providerId="ADAL" clId="{C7FEA3FA-4936-41E1-B7FA-CA082069F7F7}" dt="2026-10-07T12:06:25.693" v="7203" actId="20577"/>
        <pc:sldMkLst>
          <pc:docMk/>
          <pc:sldMk cId="2146626683" sldId="393"/>
        </pc:sldMkLst>
        <pc:spChg chg="mod">
          <ac:chgData name="Francesco Bellotti" userId="f453232b-f87d-4756-9d8b-c09bc835cc42" providerId="ADAL" clId="{C7FEA3FA-4936-41E1-B7FA-CA082069F7F7}" dt="2026-10-07T12:06:25.693" v="7203" actId="20577"/>
          <ac:spMkLst>
            <pc:docMk/>
            <pc:sldMk cId="2146626683" sldId="393"/>
            <ac:spMk id="2" creationId="{A7EE84BB-02D3-A6FE-D89E-E071A68AE670}"/>
          </ac:spMkLst>
        </pc:spChg>
        <pc:spChg chg="mod">
          <ac:chgData name="Francesco Bellotti" userId="f453232b-f87d-4756-9d8b-c09bc835cc42" providerId="ADAL" clId="{C7FEA3FA-4936-41E1-B7FA-CA082069F7F7}" dt="2026-10-07T12:05:20.795" v="7130" actId="13926"/>
          <ac:spMkLst>
            <pc:docMk/>
            <pc:sldMk cId="2146626683" sldId="393"/>
            <ac:spMk id="4" creationId="{2B63E6CB-8DD7-A598-F97B-A4548F7D0F5C}"/>
          </ac:spMkLst>
        </pc:spChg>
      </pc:sldChg>
      <pc:sldChg chg="modSp mod">
        <pc:chgData name="Francesco Bellotti" userId="f453232b-f87d-4756-9d8b-c09bc835cc42" providerId="ADAL" clId="{C7FEA3FA-4936-41E1-B7FA-CA082069F7F7}" dt="2026-10-07T12:07:22.152" v="7207" actId="13926"/>
        <pc:sldMkLst>
          <pc:docMk/>
          <pc:sldMk cId="560600140" sldId="394"/>
        </pc:sldMkLst>
        <pc:spChg chg="mod">
          <ac:chgData name="Francesco Bellotti" userId="f453232b-f87d-4756-9d8b-c09bc835cc42" providerId="ADAL" clId="{C7FEA3FA-4936-41E1-B7FA-CA082069F7F7}" dt="2026-10-07T12:07:22.152" v="7207" actId="13926"/>
          <ac:spMkLst>
            <pc:docMk/>
            <pc:sldMk cId="560600140" sldId="394"/>
            <ac:spMk id="2" creationId="{9D743B98-62CB-A24E-71C7-DE1760DE3A8F}"/>
          </ac:spMkLst>
        </pc:spChg>
        <pc:spChg chg="mod">
          <ac:chgData name="Francesco Bellotti" userId="f453232b-f87d-4756-9d8b-c09bc835cc42" providerId="ADAL" clId="{C7FEA3FA-4936-41E1-B7FA-CA082069F7F7}" dt="2026-10-07T12:07:13.340" v="7206" actId="13926"/>
          <ac:spMkLst>
            <pc:docMk/>
            <pc:sldMk cId="560600140" sldId="394"/>
            <ac:spMk id="3" creationId="{60747B43-CD06-5DEF-BFD8-C8C2D45817D3}"/>
          </ac:spMkLst>
        </pc:spChg>
        <pc:spChg chg="mod">
          <ac:chgData name="Francesco Bellotti" userId="f453232b-f87d-4756-9d8b-c09bc835cc42" providerId="ADAL" clId="{C7FEA3FA-4936-41E1-B7FA-CA082069F7F7}" dt="2026-10-07T12:07:02.235" v="7205" actId="13926"/>
          <ac:spMkLst>
            <pc:docMk/>
            <pc:sldMk cId="560600140" sldId="394"/>
            <ac:spMk id="4" creationId="{95F46FB6-BFEB-D42D-5F5C-820ED12B71F4}"/>
          </ac:spMkLst>
        </pc:spChg>
      </pc:sldChg>
      <pc:sldChg chg="modSp mod">
        <pc:chgData name="Francesco Bellotti" userId="f453232b-f87d-4756-9d8b-c09bc835cc42" providerId="ADAL" clId="{C7FEA3FA-4936-41E1-B7FA-CA082069F7F7}" dt="2026-10-07T07:02:54.996" v="6940" actId="13926"/>
        <pc:sldMkLst>
          <pc:docMk/>
          <pc:sldMk cId="1724414524" sldId="396"/>
        </pc:sldMkLst>
        <pc:spChg chg="mod">
          <ac:chgData name="Francesco Bellotti" userId="f453232b-f87d-4756-9d8b-c09bc835cc42" providerId="ADAL" clId="{C7FEA3FA-4936-41E1-B7FA-CA082069F7F7}" dt="2026-10-07T07:02:54.996" v="6940" actId="13926"/>
          <ac:spMkLst>
            <pc:docMk/>
            <pc:sldMk cId="1724414524" sldId="396"/>
            <ac:spMk id="3" creationId="{05B96A8D-4013-16F6-5D24-E31E9D963814}"/>
          </ac:spMkLst>
        </pc:spChg>
      </pc:sldChg>
      <pc:sldChg chg="modSp mod">
        <pc:chgData name="Francesco Bellotti" userId="f453232b-f87d-4756-9d8b-c09bc835cc42" providerId="ADAL" clId="{C7FEA3FA-4936-41E1-B7FA-CA082069F7F7}" dt="2026-10-07T11:24:54.407" v="6968" actId="13926"/>
        <pc:sldMkLst>
          <pc:docMk/>
          <pc:sldMk cId="159246458" sldId="397"/>
        </pc:sldMkLst>
        <pc:spChg chg="mod">
          <ac:chgData name="Francesco Bellotti" userId="f453232b-f87d-4756-9d8b-c09bc835cc42" providerId="ADAL" clId="{C7FEA3FA-4936-41E1-B7FA-CA082069F7F7}" dt="2026-10-07T11:24:54.407" v="6968" actId="13926"/>
          <ac:spMkLst>
            <pc:docMk/>
            <pc:sldMk cId="159246458" sldId="397"/>
            <ac:spMk id="3" creationId="{D12BC83A-D7AB-725F-83DC-27ECDBDDA7FA}"/>
          </ac:spMkLst>
        </pc:spChg>
      </pc:sldChg>
      <pc:sldChg chg="modSp mod">
        <pc:chgData name="Francesco Bellotti" userId="f453232b-f87d-4756-9d8b-c09bc835cc42" providerId="ADAL" clId="{C7FEA3FA-4936-41E1-B7FA-CA082069F7F7}" dt="2026-10-10T21:59:19.797" v="8345" actId="13926"/>
        <pc:sldMkLst>
          <pc:docMk/>
          <pc:sldMk cId="1366107149" sldId="398"/>
        </pc:sldMkLst>
        <pc:spChg chg="mod">
          <ac:chgData name="Francesco Bellotti" userId="f453232b-f87d-4756-9d8b-c09bc835cc42" providerId="ADAL" clId="{C7FEA3FA-4936-41E1-B7FA-CA082069F7F7}" dt="2026-10-07T11:33:02.005" v="7002" actId="13926"/>
          <ac:spMkLst>
            <pc:docMk/>
            <pc:sldMk cId="1366107149" sldId="398"/>
            <ac:spMk id="2" creationId="{397274AF-2132-C065-2B41-1AB074F6E326}"/>
          </ac:spMkLst>
        </pc:spChg>
        <pc:spChg chg="mod">
          <ac:chgData name="Francesco Bellotti" userId="f453232b-f87d-4756-9d8b-c09bc835cc42" providerId="ADAL" clId="{C7FEA3FA-4936-41E1-B7FA-CA082069F7F7}" dt="2026-10-10T21:59:19.797" v="8345" actId="13926"/>
          <ac:spMkLst>
            <pc:docMk/>
            <pc:sldMk cId="1366107149" sldId="398"/>
            <ac:spMk id="3" creationId="{FB91B38E-6718-F987-DB34-083E9F105041}"/>
          </ac:spMkLst>
        </pc:spChg>
      </pc:sldChg>
      <pc:sldChg chg="modSp mod">
        <pc:chgData name="Francesco Bellotti" userId="f453232b-f87d-4756-9d8b-c09bc835cc42" providerId="ADAL" clId="{C7FEA3FA-4936-41E1-B7FA-CA082069F7F7}" dt="2026-10-07T11:40:58.575" v="7009" actId="113"/>
        <pc:sldMkLst>
          <pc:docMk/>
          <pc:sldMk cId="408617577" sldId="399"/>
        </pc:sldMkLst>
        <pc:spChg chg="mod">
          <ac:chgData name="Francesco Bellotti" userId="f453232b-f87d-4756-9d8b-c09bc835cc42" providerId="ADAL" clId="{C7FEA3FA-4936-41E1-B7FA-CA082069F7F7}" dt="2026-10-07T11:40:18.437" v="7008" actId="13926"/>
          <ac:spMkLst>
            <pc:docMk/>
            <pc:sldMk cId="408617577" sldId="399"/>
            <ac:spMk id="3" creationId="{AFEEA17F-CE43-26B0-2A7C-8CFD960D7C9D}"/>
          </ac:spMkLst>
        </pc:spChg>
        <pc:spChg chg="mod">
          <ac:chgData name="Francesco Bellotti" userId="f453232b-f87d-4756-9d8b-c09bc835cc42" providerId="ADAL" clId="{C7FEA3FA-4936-41E1-B7FA-CA082069F7F7}" dt="2026-10-07T11:40:58.575" v="7009" actId="113"/>
          <ac:spMkLst>
            <pc:docMk/>
            <pc:sldMk cId="408617577" sldId="399"/>
            <ac:spMk id="5" creationId="{20A2AD61-D985-557A-B647-AC67FC5467F7}"/>
          </ac:spMkLst>
        </pc:spChg>
      </pc:sldChg>
      <pc:sldChg chg="modSp mod">
        <pc:chgData name="Francesco Bellotti" userId="f453232b-f87d-4756-9d8b-c09bc835cc42" providerId="ADAL" clId="{C7FEA3FA-4936-41E1-B7FA-CA082069F7F7}" dt="2026-10-07T11:27:45.918" v="6987" actId="13926"/>
        <pc:sldMkLst>
          <pc:docMk/>
          <pc:sldMk cId="2052466221" sldId="400"/>
        </pc:sldMkLst>
        <pc:spChg chg="mod">
          <ac:chgData name="Francesco Bellotti" userId="f453232b-f87d-4756-9d8b-c09bc835cc42" providerId="ADAL" clId="{C7FEA3FA-4936-41E1-B7FA-CA082069F7F7}" dt="2026-10-07T11:27:45.918" v="6987" actId="13926"/>
          <ac:spMkLst>
            <pc:docMk/>
            <pc:sldMk cId="2052466221" sldId="400"/>
            <ac:spMk id="3" creationId="{69C3E16D-7565-0221-F1BE-63726BD3570F}"/>
          </ac:spMkLst>
        </pc:spChg>
      </pc:sldChg>
      <pc:sldChg chg="modSp mod">
        <pc:chgData name="Francesco Bellotti" userId="f453232b-f87d-4756-9d8b-c09bc835cc42" providerId="ADAL" clId="{C7FEA3FA-4936-41E1-B7FA-CA082069F7F7}" dt="2026-10-07T12:19:48.050" v="7258" actId="403"/>
        <pc:sldMkLst>
          <pc:docMk/>
          <pc:sldMk cId="0" sldId="406"/>
        </pc:sldMkLst>
        <pc:spChg chg="mod">
          <ac:chgData name="Francesco Bellotti" userId="f453232b-f87d-4756-9d8b-c09bc835cc42" providerId="ADAL" clId="{C7FEA3FA-4936-41E1-B7FA-CA082069F7F7}" dt="2026-10-07T12:19:48.050" v="7258" actId="403"/>
          <ac:spMkLst>
            <pc:docMk/>
            <pc:sldMk cId="0" sldId="406"/>
            <ac:spMk id="45" creationId="{00000000-0000-0000-0000-000000000000}"/>
          </ac:spMkLst>
        </pc:spChg>
      </pc:sldChg>
      <pc:sldChg chg="modSp mod">
        <pc:chgData name="Francesco Bellotti" userId="f453232b-f87d-4756-9d8b-c09bc835cc42" providerId="ADAL" clId="{C7FEA3FA-4936-41E1-B7FA-CA082069F7F7}" dt="2026-10-07T12:20:23.423" v="7260" actId="113"/>
        <pc:sldMkLst>
          <pc:docMk/>
          <pc:sldMk cId="0" sldId="407"/>
        </pc:sldMkLst>
        <pc:spChg chg="mod">
          <ac:chgData name="Francesco Bellotti" userId="f453232b-f87d-4756-9d8b-c09bc835cc42" providerId="ADAL" clId="{C7FEA3FA-4936-41E1-B7FA-CA082069F7F7}" dt="2026-10-07T12:20:23.423" v="7260" actId="113"/>
          <ac:spMkLst>
            <pc:docMk/>
            <pc:sldMk cId="0" sldId="407"/>
            <ac:spMk id="7" creationId="{00000000-0000-0000-0000-000000000000}"/>
          </ac:spMkLst>
        </pc:spChg>
      </pc:sldChg>
      <pc:sldChg chg="modSp mod">
        <pc:chgData name="Francesco Bellotti" userId="f453232b-f87d-4756-9d8b-c09bc835cc42" providerId="ADAL" clId="{C7FEA3FA-4936-41E1-B7FA-CA082069F7F7}" dt="2026-10-10T22:07:46.400" v="8413" actId="20577"/>
        <pc:sldMkLst>
          <pc:docMk/>
          <pc:sldMk cId="0" sldId="408"/>
        </pc:sldMkLst>
        <pc:spChg chg="mod">
          <ac:chgData name="Francesco Bellotti" userId="f453232b-f87d-4756-9d8b-c09bc835cc42" providerId="ADAL" clId="{C7FEA3FA-4936-41E1-B7FA-CA082069F7F7}" dt="2026-10-07T15:15:59.232" v="7286" actId="13926"/>
          <ac:spMkLst>
            <pc:docMk/>
            <pc:sldMk cId="0" sldId="408"/>
            <ac:spMk id="6" creationId="{00000000-0000-0000-0000-000000000000}"/>
          </ac:spMkLst>
        </pc:spChg>
        <pc:spChg chg="mod">
          <ac:chgData name="Francesco Bellotti" userId="f453232b-f87d-4756-9d8b-c09bc835cc42" providerId="ADAL" clId="{C7FEA3FA-4936-41E1-B7FA-CA082069F7F7}" dt="2026-10-07T15:15:07.772" v="7281" actId="403"/>
          <ac:spMkLst>
            <pc:docMk/>
            <pc:sldMk cId="0" sldId="408"/>
            <ac:spMk id="7" creationId="{00000000-0000-0000-0000-000000000000}"/>
          </ac:spMkLst>
        </pc:spChg>
        <pc:spChg chg="mod">
          <ac:chgData name="Francesco Bellotti" userId="f453232b-f87d-4756-9d8b-c09bc835cc42" providerId="ADAL" clId="{C7FEA3FA-4936-41E1-B7FA-CA082069F7F7}" dt="2026-10-10T22:07:46.400" v="8413" actId="20577"/>
          <ac:spMkLst>
            <pc:docMk/>
            <pc:sldMk cId="0" sldId="408"/>
            <ac:spMk id="25" creationId="{00000000-0000-0000-0000-000000000000}"/>
          </ac:spMkLst>
        </pc:spChg>
        <pc:spChg chg="mod">
          <ac:chgData name="Francesco Bellotti" userId="f453232b-f87d-4756-9d8b-c09bc835cc42" providerId="ADAL" clId="{C7FEA3FA-4936-41E1-B7FA-CA082069F7F7}" dt="2026-10-07T15:15:54.229" v="7285" actId="113"/>
          <ac:spMkLst>
            <pc:docMk/>
            <pc:sldMk cId="0" sldId="408"/>
            <ac:spMk id="26" creationId="{00000000-0000-0000-0000-000000000000}"/>
          </ac:spMkLst>
        </pc:spChg>
      </pc:sldChg>
      <pc:sldChg chg="modSp mod">
        <pc:chgData name="Francesco Bellotti" userId="f453232b-f87d-4756-9d8b-c09bc835cc42" providerId="ADAL" clId="{C7FEA3FA-4936-41E1-B7FA-CA082069F7F7}" dt="2026-10-10T22:08:10.437" v="8414" actId="207"/>
        <pc:sldMkLst>
          <pc:docMk/>
          <pc:sldMk cId="0" sldId="409"/>
        </pc:sldMkLst>
        <pc:spChg chg="mod">
          <ac:chgData name="Francesco Bellotti" userId="f453232b-f87d-4756-9d8b-c09bc835cc42" providerId="ADAL" clId="{C7FEA3FA-4936-41E1-B7FA-CA082069F7F7}" dt="2026-10-07T15:17:23.289" v="7290" actId="113"/>
          <ac:spMkLst>
            <pc:docMk/>
            <pc:sldMk cId="0" sldId="409"/>
            <ac:spMk id="7" creationId="{00000000-0000-0000-0000-000000000000}"/>
          </ac:spMkLst>
        </pc:spChg>
        <pc:spChg chg="mod">
          <ac:chgData name="Francesco Bellotti" userId="f453232b-f87d-4756-9d8b-c09bc835cc42" providerId="ADAL" clId="{C7FEA3FA-4936-41E1-B7FA-CA082069F7F7}" dt="2026-10-10T22:08:10.437" v="8414" actId="207"/>
          <ac:spMkLst>
            <pc:docMk/>
            <pc:sldMk cId="0" sldId="409"/>
            <ac:spMk id="12" creationId="{00000000-0000-0000-0000-000000000000}"/>
          </ac:spMkLst>
        </pc:spChg>
      </pc:sldChg>
      <pc:sldChg chg="modSp mod">
        <pc:chgData name="Francesco Bellotti" userId="f453232b-f87d-4756-9d8b-c09bc835cc42" providerId="ADAL" clId="{C7FEA3FA-4936-41E1-B7FA-CA082069F7F7}" dt="2026-10-07T15:23:57.399" v="7312" actId="207"/>
        <pc:sldMkLst>
          <pc:docMk/>
          <pc:sldMk cId="0" sldId="411"/>
        </pc:sldMkLst>
        <pc:spChg chg="mod">
          <ac:chgData name="Francesco Bellotti" userId="f453232b-f87d-4756-9d8b-c09bc835cc42" providerId="ADAL" clId="{C7FEA3FA-4936-41E1-B7FA-CA082069F7F7}" dt="2026-10-07T15:23:57.399" v="7312" actId="207"/>
          <ac:spMkLst>
            <pc:docMk/>
            <pc:sldMk cId="0" sldId="411"/>
            <ac:spMk id="57" creationId="{00000000-0000-0000-0000-000000000000}"/>
          </ac:spMkLst>
        </pc:spChg>
      </pc:sldChg>
      <pc:sldChg chg="modSp mod">
        <pc:chgData name="Francesco Bellotti" userId="f453232b-f87d-4756-9d8b-c09bc835cc42" providerId="ADAL" clId="{C7FEA3FA-4936-41E1-B7FA-CA082069F7F7}" dt="2026-10-09T13:36:12.727" v="7352" actId="113"/>
        <pc:sldMkLst>
          <pc:docMk/>
          <pc:sldMk cId="0" sldId="412"/>
        </pc:sldMkLst>
        <pc:spChg chg="mod">
          <ac:chgData name="Francesco Bellotti" userId="f453232b-f87d-4756-9d8b-c09bc835cc42" providerId="ADAL" clId="{C7FEA3FA-4936-41E1-B7FA-CA082069F7F7}" dt="2026-10-09T13:36:12.727" v="7352" actId="113"/>
          <ac:spMkLst>
            <pc:docMk/>
            <pc:sldMk cId="0" sldId="412"/>
            <ac:spMk id="7" creationId="{00000000-0000-0000-0000-000000000000}"/>
          </ac:spMkLst>
        </pc:spChg>
      </pc:sldChg>
      <pc:sldChg chg="modSp mod">
        <pc:chgData name="Francesco Bellotti" userId="f453232b-f87d-4756-9d8b-c09bc835cc42" providerId="ADAL" clId="{C7FEA3FA-4936-41E1-B7FA-CA082069F7F7}" dt="2026-10-07T15:26:46.826" v="7332" actId="113"/>
        <pc:sldMkLst>
          <pc:docMk/>
          <pc:sldMk cId="0" sldId="413"/>
        </pc:sldMkLst>
        <pc:spChg chg="mod">
          <ac:chgData name="Francesco Bellotti" userId="f453232b-f87d-4756-9d8b-c09bc835cc42" providerId="ADAL" clId="{C7FEA3FA-4936-41E1-B7FA-CA082069F7F7}" dt="2026-10-07T15:26:46.826" v="7332" actId="113"/>
          <ac:spMkLst>
            <pc:docMk/>
            <pc:sldMk cId="0" sldId="413"/>
            <ac:spMk id="60" creationId="{00000000-0000-0000-0000-000000000000}"/>
          </ac:spMkLst>
        </pc:spChg>
      </pc:sldChg>
      <pc:sldChg chg="modSp mod">
        <pc:chgData name="Francesco Bellotti" userId="f453232b-f87d-4756-9d8b-c09bc835cc42" providerId="ADAL" clId="{C7FEA3FA-4936-41E1-B7FA-CA082069F7F7}" dt="2026-10-07T12:11:11.484" v="7210" actId="13926"/>
        <pc:sldMkLst>
          <pc:docMk/>
          <pc:sldMk cId="896565581" sldId="416"/>
        </pc:sldMkLst>
        <pc:spChg chg="mod">
          <ac:chgData name="Francesco Bellotti" userId="f453232b-f87d-4756-9d8b-c09bc835cc42" providerId="ADAL" clId="{C7FEA3FA-4936-41E1-B7FA-CA082069F7F7}" dt="2026-10-07T12:11:11.484" v="7210" actId="13926"/>
          <ac:spMkLst>
            <pc:docMk/>
            <pc:sldMk cId="896565581" sldId="416"/>
            <ac:spMk id="4" creationId="{E6841F3B-383C-58EF-BED6-1A3A602775F2}"/>
          </ac:spMkLst>
        </pc:spChg>
      </pc:sldChg>
      <pc:sldChg chg="modSp mod">
        <pc:chgData name="Francesco Bellotti" userId="f453232b-f87d-4756-9d8b-c09bc835cc42" providerId="ADAL" clId="{C7FEA3FA-4936-41E1-B7FA-CA082069F7F7}" dt="2026-10-07T12:12:00.971" v="7211" actId="13926"/>
        <pc:sldMkLst>
          <pc:docMk/>
          <pc:sldMk cId="1478570440" sldId="418"/>
        </pc:sldMkLst>
        <pc:spChg chg="mod">
          <ac:chgData name="Francesco Bellotti" userId="f453232b-f87d-4756-9d8b-c09bc835cc42" providerId="ADAL" clId="{C7FEA3FA-4936-41E1-B7FA-CA082069F7F7}" dt="2026-10-07T12:12:00.971" v="7211" actId="13926"/>
          <ac:spMkLst>
            <pc:docMk/>
            <pc:sldMk cId="1478570440" sldId="418"/>
            <ac:spMk id="2" creationId="{004A7E09-C9BD-08F7-DE33-296D7ADD9A9B}"/>
          </ac:spMkLst>
        </pc:spChg>
      </pc:sldChg>
      <pc:sldChg chg="modSp mod">
        <pc:chgData name="Francesco Bellotti" userId="f453232b-f87d-4756-9d8b-c09bc835cc42" providerId="ADAL" clId="{C7FEA3FA-4936-41E1-B7FA-CA082069F7F7}" dt="2026-10-07T12:12:50.125" v="7229" actId="20577"/>
        <pc:sldMkLst>
          <pc:docMk/>
          <pc:sldMk cId="889180471" sldId="419"/>
        </pc:sldMkLst>
        <pc:spChg chg="mod">
          <ac:chgData name="Francesco Bellotti" userId="f453232b-f87d-4756-9d8b-c09bc835cc42" providerId="ADAL" clId="{C7FEA3FA-4936-41E1-B7FA-CA082069F7F7}" dt="2026-10-07T12:12:40.885" v="7213" actId="27636"/>
          <ac:spMkLst>
            <pc:docMk/>
            <pc:sldMk cId="889180471" sldId="419"/>
            <ac:spMk id="3" creationId="{ED7A2628-CB37-F40F-2BCD-8C9AD5285ECF}"/>
          </ac:spMkLst>
        </pc:spChg>
        <pc:spChg chg="mod">
          <ac:chgData name="Francesco Bellotti" userId="f453232b-f87d-4756-9d8b-c09bc835cc42" providerId="ADAL" clId="{C7FEA3FA-4936-41E1-B7FA-CA082069F7F7}" dt="2026-10-07T12:12:50.125" v="7229" actId="20577"/>
          <ac:spMkLst>
            <pc:docMk/>
            <pc:sldMk cId="889180471" sldId="419"/>
            <ac:spMk id="4" creationId="{9EDA3DA0-7B36-C2E5-B9B7-49B216F81205}"/>
          </ac:spMkLst>
        </pc:spChg>
      </pc:sldChg>
      <pc:sldChg chg="modSp mod">
        <pc:chgData name="Francesco Bellotti" userId="f453232b-f87d-4756-9d8b-c09bc835cc42" providerId="ADAL" clId="{C7FEA3FA-4936-41E1-B7FA-CA082069F7F7}" dt="2026-10-07T12:13:41.225" v="7234" actId="113"/>
        <pc:sldMkLst>
          <pc:docMk/>
          <pc:sldMk cId="753363720" sldId="420"/>
        </pc:sldMkLst>
        <pc:spChg chg="mod">
          <ac:chgData name="Francesco Bellotti" userId="f453232b-f87d-4756-9d8b-c09bc835cc42" providerId="ADAL" clId="{C7FEA3FA-4936-41E1-B7FA-CA082069F7F7}" dt="2026-10-07T12:13:21.710" v="7232" actId="1076"/>
          <ac:spMkLst>
            <pc:docMk/>
            <pc:sldMk cId="753363720" sldId="420"/>
            <ac:spMk id="2" creationId="{0ABD8E78-A4B5-6AEC-851C-B07B23502552}"/>
          </ac:spMkLst>
        </pc:spChg>
        <pc:spChg chg="mod">
          <ac:chgData name="Francesco Bellotti" userId="f453232b-f87d-4756-9d8b-c09bc835cc42" providerId="ADAL" clId="{C7FEA3FA-4936-41E1-B7FA-CA082069F7F7}" dt="2026-10-07T12:13:41.225" v="7234" actId="113"/>
          <ac:spMkLst>
            <pc:docMk/>
            <pc:sldMk cId="753363720" sldId="420"/>
            <ac:spMk id="3" creationId="{9A2C8876-66B7-9C53-21D9-7B41EBD7560A}"/>
          </ac:spMkLst>
        </pc:spChg>
      </pc:sldChg>
      <pc:sldChg chg="modSp mod">
        <pc:chgData name="Francesco Bellotti" userId="f453232b-f87d-4756-9d8b-c09bc835cc42" providerId="ADAL" clId="{C7FEA3FA-4936-41E1-B7FA-CA082069F7F7}" dt="2026-10-07T12:14:20.295" v="7236" actId="113"/>
        <pc:sldMkLst>
          <pc:docMk/>
          <pc:sldMk cId="3578145917" sldId="421"/>
        </pc:sldMkLst>
        <pc:spChg chg="mod">
          <ac:chgData name="Francesco Bellotti" userId="f453232b-f87d-4756-9d8b-c09bc835cc42" providerId="ADAL" clId="{C7FEA3FA-4936-41E1-B7FA-CA082069F7F7}" dt="2026-10-07T12:14:20.295" v="7236" actId="113"/>
          <ac:spMkLst>
            <pc:docMk/>
            <pc:sldMk cId="3578145917" sldId="421"/>
            <ac:spMk id="3" creationId="{F4281DF5-990D-4A2A-1926-8AEE65661F16}"/>
          </ac:spMkLst>
        </pc:spChg>
      </pc:sldChg>
      <pc:sldChg chg="modSp mod">
        <pc:chgData name="Francesco Bellotti" userId="f453232b-f87d-4756-9d8b-c09bc835cc42" providerId="ADAL" clId="{C7FEA3FA-4936-41E1-B7FA-CA082069F7F7}" dt="2026-10-07T12:15:19.722" v="7240" actId="13926"/>
        <pc:sldMkLst>
          <pc:docMk/>
          <pc:sldMk cId="162846657" sldId="422"/>
        </pc:sldMkLst>
        <pc:spChg chg="mod">
          <ac:chgData name="Francesco Bellotti" userId="f453232b-f87d-4756-9d8b-c09bc835cc42" providerId="ADAL" clId="{C7FEA3FA-4936-41E1-B7FA-CA082069F7F7}" dt="2026-10-07T12:15:19.722" v="7240" actId="13926"/>
          <ac:spMkLst>
            <pc:docMk/>
            <pc:sldMk cId="162846657" sldId="422"/>
            <ac:spMk id="4" creationId="{20C00B19-5C20-23B1-7D09-6CAE43E99A5F}"/>
          </ac:spMkLst>
        </pc:spChg>
      </pc:sldChg>
      <pc:sldChg chg="modSp mod">
        <pc:chgData name="Francesco Bellotti" userId="f453232b-f87d-4756-9d8b-c09bc835cc42" providerId="ADAL" clId="{C7FEA3FA-4936-41E1-B7FA-CA082069F7F7}" dt="2026-10-07T12:16:47.918" v="7251" actId="113"/>
        <pc:sldMkLst>
          <pc:docMk/>
          <pc:sldMk cId="3969670919" sldId="423"/>
        </pc:sldMkLst>
        <pc:spChg chg="mod">
          <ac:chgData name="Francesco Bellotti" userId="f453232b-f87d-4756-9d8b-c09bc835cc42" providerId="ADAL" clId="{C7FEA3FA-4936-41E1-B7FA-CA082069F7F7}" dt="2026-10-07T12:16:31.607" v="7249" actId="20577"/>
          <ac:spMkLst>
            <pc:docMk/>
            <pc:sldMk cId="3969670919" sldId="423"/>
            <ac:spMk id="2" creationId="{404E0086-EAED-4775-AF8D-B5F5EF68171B}"/>
          </ac:spMkLst>
        </pc:spChg>
        <pc:spChg chg="mod">
          <ac:chgData name="Francesco Bellotti" userId="f453232b-f87d-4756-9d8b-c09bc835cc42" providerId="ADAL" clId="{C7FEA3FA-4936-41E1-B7FA-CA082069F7F7}" dt="2026-10-07T12:16:47.918" v="7251" actId="113"/>
          <ac:spMkLst>
            <pc:docMk/>
            <pc:sldMk cId="3969670919" sldId="423"/>
            <ac:spMk id="4" creationId="{FCFF346F-CDDA-9D45-4272-BDF80597B18B}"/>
          </ac:spMkLst>
        </pc:spChg>
      </pc:sldChg>
      <pc:sldChg chg="modSp mod">
        <pc:chgData name="Francesco Bellotti" userId="f453232b-f87d-4756-9d8b-c09bc835cc42" providerId="ADAL" clId="{C7FEA3FA-4936-41E1-B7FA-CA082069F7F7}" dt="2026-10-10T22:03:18.266" v="8361" actId="13926"/>
        <pc:sldMkLst>
          <pc:docMk/>
          <pc:sldMk cId="1374202784" sldId="424"/>
        </pc:sldMkLst>
        <pc:spChg chg="mod">
          <ac:chgData name="Francesco Bellotti" userId="f453232b-f87d-4756-9d8b-c09bc835cc42" providerId="ADAL" clId="{C7FEA3FA-4936-41E1-B7FA-CA082069F7F7}" dt="2026-10-10T22:02:40.032" v="8357" actId="27636"/>
          <ac:spMkLst>
            <pc:docMk/>
            <pc:sldMk cId="1374202784" sldId="424"/>
            <ac:spMk id="3" creationId="{12B880C4-AED6-1C6C-14EE-3336BACA99B9}"/>
          </ac:spMkLst>
        </pc:spChg>
        <pc:spChg chg="mod">
          <ac:chgData name="Francesco Bellotti" userId="f453232b-f87d-4756-9d8b-c09bc835cc42" providerId="ADAL" clId="{C7FEA3FA-4936-41E1-B7FA-CA082069F7F7}" dt="2026-10-10T22:03:18.266" v="8361" actId="13926"/>
          <ac:spMkLst>
            <pc:docMk/>
            <pc:sldMk cId="1374202784" sldId="424"/>
            <ac:spMk id="4" creationId="{BB09A67B-BA4B-7F72-E436-306AED70CA81}"/>
          </ac:spMkLst>
        </pc:spChg>
      </pc:sldChg>
      <pc:sldChg chg="modSp mod">
        <pc:chgData name="Francesco Bellotti" userId="f453232b-f87d-4756-9d8b-c09bc835cc42" providerId="ADAL" clId="{C7FEA3FA-4936-41E1-B7FA-CA082069F7F7}" dt="2026-10-07T12:18:06.531" v="7255" actId="13926"/>
        <pc:sldMkLst>
          <pc:docMk/>
          <pc:sldMk cId="2279420097" sldId="425"/>
        </pc:sldMkLst>
        <pc:spChg chg="mod">
          <ac:chgData name="Francesco Bellotti" userId="f453232b-f87d-4756-9d8b-c09bc835cc42" providerId="ADAL" clId="{C7FEA3FA-4936-41E1-B7FA-CA082069F7F7}" dt="2026-10-07T12:18:06.531" v="7255" actId="13926"/>
          <ac:spMkLst>
            <pc:docMk/>
            <pc:sldMk cId="2279420097" sldId="425"/>
            <ac:spMk id="2" creationId="{750B7EB2-6773-68FF-6214-05B57B1E8AF0}"/>
          </ac:spMkLst>
        </pc:spChg>
      </pc:sldChg>
      <pc:sldChg chg="modSp mod">
        <pc:chgData name="Francesco Bellotti" userId="f453232b-f87d-4756-9d8b-c09bc835cc42" providerId="ADAL" clId="{C7FEA3FA-4936-41E1-B7FA-CA082069F7F7}" dt="2026-10-07T12:20:10.795" v="7259" actId="13926"/>
        <pc:sldMkLst>
          <pc:docMk/>
          <pc:sldMk cId="2464871777" sldId="426"/>
        </pc:sldMkLst>
        <pc:spChg chg="mod">
          <ac:chgData name="Francesco Bellotti" userId="f453232b-f87d-4756-9d8b-c09bc835cc42" providerId="ADAL" clId="{C7FEA3FA-4936-41E1-B7FA-CA082069F7F7}" dt="2026-10-07T12:20:10.795" v="7259" actId="13926"/>
          <ac:spMkLst>
            <pc:docMk/>
            <pc:sldMk cId="2464871777" sldId="426"/>
            <ac:spMk id="4" creationId="{DED75D5B-FE0F-94B7-8D41-2C9751247779}"/>
          </ac:spMkLst>
        </pc:spChg>
      </pc:sldChg>
      <pc:sldChg chg="modSp mod">
        <pc:chgData name="Francesco Bellotti" userId="f453232b-f87d-4756-9d8b-c09bc835cc42" providerId="ADAL" clId="{C7FEA3FA-4936-41E1-B7FA-CA082069F7F7}" dt="2026-10-07T12:21:56.844" v="7263" actId="13926"/>
        <pc:sldMkLst>
          <pc:docMk/>
          <pc:sldMk cId="1956005274" sldId="427"/>
        </pc:sldMkLst>
        <pc:spChg chg="mod">
          <ac:chgData name="Francesco Bellotti" userId="f453232b-f87d-4756-9d8b-c09bc835cc42" providerId="ADAL" clId="{C7FEA3FA-4936-41E1-B7FA-CA082069F7F7}" dt="2026-10-07T12:21:56.844" v="7263" actId="13926"/>
          <ac:spMkLst>
            <pc:docMk/>
            <pc:sldMk cId="1956005274" sldId="427"/>
            <ac:spMk id="2" creationId="{71E99804-6D61-0977-EDCC-F4D071937444}"/>
          </ac:spMkLst>
        </pc:spChg>
        <pc:spChg chg="mod">
          <ac:chgData name="Francesco Bellotti" userId="f453232b-f87d-4756-9d8b-c09bc835cc42" providerId="ADAL" clId="{C7FEA3FA-4936-41E1-B7FA-CA082069F7F7}" dt="2026-10-07T12:21:47.028" v="7262" actId="13926"/>
          <ac:spMkLst>
            <pc:docMk/>
            <pc:sldMk cId="1956005274" sldId="427"/>
            <ac:spMk id="3" creationId="{99B146BB-646F-1D74-D6C4-0D49A0016ABE}"/>
          </ac:spMkLst>
        </pc:spChg>
      </pc:sldChg>
      <pc:sldChg chg="modSp mod">
        <pc:chgData name="Francesco Bellotti" userId="f453232b-f87d-4756-9d8b-c09bc835cc42" providerId="ADAL" clId="{C7FEA3FA-4936-41E1-B7FA-CA082069F7F7}" dt="2026-10-07T15:13:28.917" v="7270" actId="13926"/>
        <pc:sldMkLst>
          <pc:docMk/>
          <pc:sldMk cId="865209300" sldId="429"/>
        </pc:sldMkLst>
        <pc:spChg chg="mod">
          <ac:chgData name="Francesco Bellotti" userId="f453232b-f87d-4756-9d8b-c09bc835cc42" providerId="ADAL" clId="{C7FEA3FA-4936-41E1-B7FA-CA082069F7F7}" dt="2026-10-07T15:13:15.209" v="7268" actId="13926"/>
          <ac:spMkLst>
            <pc:docMk/>
            <pc:sldMk cId="865209300" sldId="429"/>
            <ac:spMk id="3" creationId="{BC3E412E-E842-017C-235D-1543B1B0B7DA}"/>
          </ac:spMkLst>
        </pc:spChg>
        <pc:spChg chg="mod">
          <ac:chgData name="Francesco Bellotti" userId="f453232b-f87d-4756-9d8b-c09bc835cc42" providerId="ADAL" clId="{C7FEA3FA-4936-41E1-B7FA-CA082069F7F7}" dt="2026-10-07T15:13:28.917" v="7270" actId="13926"/>
          <ac:spMkLst>
            <pc:docMk/>
            <pc:sldMk cId="865209300" sldId="429"/>
            <ac:spMk id="4" creationId="{801FE181-51E2-0EA3-6447-A2343110FBFE}"/>
          </ac:spMkLst>
        </pc:spChg>
      </pc:sldChg>
      <pc:sldChg chg="modSp mod">
        <pc:chgData name="Francesco Bellotti" userId="f453232b-f87d-4756-9d8b-c09bc835cc42" providerId="ADAL" clId="{C7FEA3FA-4936-41E1-B7FA-CA082069F7F7}" dt="2026-10-10T22:06:19.662" v="8377" actId="20577"/>
        <pc:sldMkLst>
          <pc:docMk/>
          <pc:sldMk cId="54759106" sldId="430"/>
        </pc:sldMkLst>
        <pc:spChg chg="mod">
          <ac:chgData name="Francesco Bellotti" userId="f453232b-f87d-4756-9d8b-c09bc835cc42" providerId="ADAL" clId="{C7FEA3FA-4936-41E1-B7FA-CA082069F7F7}" dt="2026-10-10T22:06:19.662" v="8377" actId="20577"/>
          <ac:spMkLst>
            <pc:docMk/>
            <pc:sldMk cId="54759106" sldId="430"/>
            <ac:spMk id="2" creationId="{A34A45B3-8143-5453-101E-9191C5512A37}"/>
          </ac:spMkLst>
        </pc:spChg>
      </pc:sldChg>
      <pc:sldChg chg="modSp mod">
        <pc:chgData name="Francesco Bellotti" userId="f453232b-f87d-4756-9d8b-c09bc835cc42" providerId="ADAL" clId="{C7FEA3FA-4936-41E1-B7FA-CA082069F7F7}" dt="2026-10-07T15:17:59.984" v="7293" actId="13926"/>
        <pc:sldMkLst>
          <pc:docMk/>
          <pc:sldMk cId="269516" sldId="432"/>
        </pc:sldMkLst>
        <pc:spChg chg="mod">
          <ac:chgData name="Francesco Bellotti" userId="f453232b-f87d-4756-9d8b-c09bc835cc42" providerId="ADAL" clId="{C7FEA3FA-4936-41E1-B7FA-CA082069F7F7}" dt="2026-10-07T15:17:59.984" v="7293" actId="13926"/>
          <ac:spMkLst>
            <pc:docMk/>
            <pc:sldMk cId="269516" sldId="432"/>
            <ac:spMk id="4" creationId="{ACF3DBAC-482B-62D3-B839-19728E5640B2}"/>
          </ac:spMkLst>
        </pc:spChg>
      </pc:sldChg>
      <pc:sldChg chg="addSp modSp mod">
        <pc:chgData name="Francesco Bellotti" userId="f453232b-f87d-4756-9d8b-c09bc835cc42" providerId="ADAL" clId="{C7FEA3FA-4936-41E1-B7FA-CA082069F7F7}" dt="2026-10-10T22:11:47.566" v="8476" actId="108"/>
        <pc:sldMkLst>
          <pc:docMk/>
          <pc:sldMk cId="3416492718" sldId="433"/>
        </pc:sldMkLst>
        <pc:spChg chg="mod">
          <ac:chgData name="Francesco Bellotti" userId="f453232b-f87d-4756-9d8b-c09bc835cc42" providerId="ADAL" clId="{C7FEA3FA-4936-41E1-B7FA-CA082069F7F7}" dt="2026-10-10T22:11:47.566" v="8476" actId="108"/>
          <ac:spMkLst>
            <pc:docMk/>
            <pc:sldMk cId="3416492718" sldId="433"/>
            <ac:spMk id="2" creationId="{6C29A2E8-1470-432F-07FD-6D01ABB7D4A6}"/>
          </ac:spMkLst>
        </pc:spChg>
        <pc:spChg chg="mod">
          <ac:chgData name="Francesco Bellotti" userId="f453232b-f87d-4756-9d8b-c09bc835cc42" providerId="ADAL" clId="{C7FEA3FA-4936-41E1-B7FA-CA082069F7F7}" dt="2026-10-07T15:18:22.382" v="7295" actId="113"/>
          <ac:spMkLst>
            <pc:docMk/>
            <pc:sldMk cId="3416492718" sldId="433"/>
            <ac:spMk id="3" creationId="{134223EB-5E84-4AE5-8320-15E6A3668842}"/>
          </ac:spMkLst>
        </pc:spChg>
        <pc:spChg chg="mod">
          <ac:chgData name="Francesco Bellotti" userId="f453232b-f87d-4756-9d8b-c09bc835cc42" providerId="ADAL" clId="{C7FEA3FA-4936-41E1-B7FA-CA082069F7F7}" dt="2026-10-10T22:10:24.944" v="8415" actId="207"/>
          <ac:spMkLst>
            <pc:docMk/>
            <pc:sldMk cId="3416492718" sldId="433"/>
            <ac:spMk id="4" creationId="{8B24C7CA-580F-A2C6-A81F-61485B296DFE}"/>
          </ac:spMkLst>
        </pc:spChg>
        <pc:spChg chg="add mod">
          <ac:chgData name="Francesco Bellotti" userId="f453232b-f87d-4756-9d8b-c09bc835cc42" providerId="ADAL" clId="{C7FEA3FA-4936-41E1-B7FA-CA082069F7F7}" dt="2026-10-10T22:11:12.013" v="8470" actId="1076"/>
          <ac:spMkLst>
            <pc:docMk/>
            <pc:sldMk cId="3416492718" sldId="433"/>
            <ac:spMk id="5" creationId="{E5A08AAF-5384-0EED-818C-317A596649CA}"/>
          </ac:spMkLst>
        </pc:spChg>
        <pc:cxnChg chg="add mod">
          <ac:chgData name="Francesco Bellotti" userId="f453232b-f87d-4756-9d8b-c09bc835cc42" providerId="ADAL" clId="{C7FEA3FA-4936-41E1-B7FA-CA082069F7F7}" dt="2026-10-10T22:11:20.457" v="8472" actId="14100"/>
          <ac:cxnSpMkLst>
            <pc:docMk/>
            <pc:sldMk cId="3416492718" sldId="433"/>
            <ac:cxnSpMk id="7" creationId="{C217DB32-733B-0503-BBDE-7C7E33C2818B}"/>
          </ac:cxnSpMkLst>
        </pc:cxnChg>
        <pc:cxnChg chg="add mod">
          <ac:chgData name="Francesco Bellotti" userId="f453232b-f87d-4756-9d8b-c09bc835cc42" providerId="ADAL" clId="{C7FEA3FA-4936-41E1-B7FA-CA082069F7F7}" dt="2026-10-10T22:11:29.179" v="8475" actId="14100"/>
          <ac:cxnSpMkLst>
            <pc:docMk/>
            <pc:sldMk cId="3416492718" sldId="433"/>
            <ac:cxnSpMk id="9" creationId="{55036307-CCE2-96F4-A8F2-663604075291}"/>
          </ac:cxnSpMkLst>
        </pc:cxnChg>
      </pc:sldChg>
      <pc:sldChg chg="modSp mod">
        <pc:chgData name="Francesco Bellotti" userId="f453232b-f87d-4756-9d8b-c09bc835cc42" providerId="ADAL" clId="{C7FEA3FA-4936-41E1-B7FA-CA082069F7F7}" dt="2026-10-07T15:21:35.161" v="7304" actId="13926"/>
        <pc:sldMkLst>
          <pc:docMk/>
          <pc:sldMk cId="4004356196" sldId="434"/>
        </pc:sldMkLst>
        <pc:spChg chg="mod">
          <ac:chgData name="Francesco Bellotti" userId="f453232b-f87d-4756-9d8b-c09bc835cc42" providerId="ADAL" clId="{C7FEA3FA-4936-41E1-B7FA-CA082069F7F7}" dt="2026-10-07T15:21:35.161" v="7304" actId="13926"/>
          <ac:spMkLst>
            <pc:docMk/>
            <pc:sldMk cId="4004356196" sldId="434"/>
            <ac:spMk id="4" creationId="{8F9FEF18-F818-A2F0-F999-B042CBFE8A01}"/>
          </ac:spMkLst>
        </pc:spChg>
      </pc:sldChg>
      <pc:sldChg chg="modSp mod">
        <pc:chgData name="Francesco Bellotti" userId="f453232b-f87d-4756-9d8b-c09bc835cc42" providerId="ADAL" clId="{C7FEA3FA-4936-41E1-B7FA-CA082069F7F7}" dt="2026-10-07T15:23:00.315" v="7309" actId="13926"/>
        <pc:sldMkLst>
          <pc:docMk/>
          <pc:sldMk cId="1222769705" sldId="435"/>
        </pc:sldMkLst>
        <pc:spChg chg="mod">
          <ac:chgData name="Francesco Bellotti" userId="f453232b-f87d-4756-9d8b-c09bc835cc42" providerId="ADAL" clId="{C7FEA3FA-4936-41E1-B7FA-CA082069F7F7}" dt="2026-10-07T15:22:47.260" v="7306" actId="13926"/>
          <ac:spMkLst>
            <pc:docMk/>
            <pc:sldMk cId="1222769705" sldId="435"/>
            <ac:spMk id="3" creationId="{8E035E24-A6CF-6450-75F2-B20ADCAFA458}"/>
          </ac:spMkLst>
        </pc:spChg>
        <pc:spChg chg="mod">
          <ac:chgData name="Francesco Bellotti" userId="f453232b-f87d-4756-9d8b-c09bc835cc42" providerId="ADAL" clId="{C7FEA3FA-4936-41E1-B7FA-CA082069F7F7}" dt="2026-10-07T15:23:00.315" v="7309" actId="13926"/>
          <ac:spMkLst>
            <pc:docMk/>
            <pc:sldMk cId="1222769705" sldId="435"/>
            <ac:spMk id="4" creationId="{98C925AE-522D-202E-C165-A61A502F92C6}"/>
          </ac:spMkLst>
        </pc:spChg>
      </pc:sldChg>
      <pc:sldChg chg="modSp mod">
        <pc:chgData name="Francesco Bellotti" userId="f453232b-f87d-4756-9d8b-c09bc835cc42" providerId="ADAL" clId="{C7FEA3FA-4936-41E1-B7FA-CA082069F7F7}" dt="2026-10-10T22:12:17.761" v="8479" actId="207"/>
        <pc:sldMkLst>
          <pc:docMk/>
          <pc:sldMk cId="3511716005" sldId="436"/>
        </pc:sldMkLst>
        <pc:spChg chg="mod">
          <ac:chgData name="Francesco Bellotti" userId="f453232b-f87d-4756-9d8b-c09bc835cc42" providerId="ADAL" clId="{C7FEA3FA-4936-41E1-B7FA-CA082069F7F7}" dt="2026-10-10T22:12:12.880" v="8478" actId="207"/>
          <ac:spMkLst>
            <pc:docMk/>
            <pc:sldMk cId="3511716005" sldId="436"/>
            <ac:spMk id="3" creationId="{DC19CCF3-FCE9-D776-FD24-2B60C92BFCB5}"/>
          </ac:spMkLst>
        </pc:spChg>
        <pc:spChg chg="mod">
          <ac:chgData name="Francesco Bellotti" userId="f453232b-f87d-4756-9d8b-c09bc835cc42" providerId="ADAL" clId="{C7FEA3FA-4936-41E1-B7FA-CA082069F7F7}" dt="2026-10-10T22:12:17.761" v="8479" actId="207"/>
          <ac:spMkLst>
            <pc:docMk/>
            <pc:sldMk cId="3511716005" sldId="436"/>
            <ac:spMk id="4" creationId="{9AB364C2-BCE9-A7E5-4ADE-BAA05D298C47}"/>
          </ac:spMkLst>
        </pc:spChg>
        <pc:spChg chg="mod">
          <ac:chgData name="Francesco Bellotti" userId="f453232b-f87d-4756-9d8b-c09bc835cc42" providerId="ADAL" clId="{C7FEA3FA-4936-41E1-B7FA-CA082069F7F7}" dt="2026-10-07T15:25:16.183" v="7320" actId="113"/>
          <ac:spMkLst>
            <pc:docMk/>
            <pc:sldMk cId="3511716005" sldId="436"/>
            <ac:spMk id="6" creationId="{7F2F5046-E75F-FE36-6589-8A171937CF05}"/>
          </ac:spMkLst>
        </pc:spChg>
      </pc:sldChg>
      <pc:sldChg chg="modSp mod">
        <pc:chgData name="Francesco Bellotti" userId="f453232b-f87d-4756-9d8b-c09bc835cc42" providerId="ADAL" clId="{C7FEA3FA-4936-41E1-B7FA-CA082069F7F7}" dt="2026-10-09T13:32:51.699" v="7340" actId="113"/>
        <pc:sldMkLst>
          <pc:docMk/>
          <pc:sldMk cId="2775160245" sldId="437"/>
        </pc:sldMkLst>
        <pc:spChg chg="mod">
          <ac:chgData name="Francesco Bellotti" userId="f453232b-f87d-4756-9d8b-c09bc835cc42" providerId="ADAL" clId="{C7FEA3FA-4936-41E1-B7FA-CA082069F7F7}" dt="2026-10-09T13:32:51.699" v="7340" actId="113"/>
          <ac:spMkLst>
            <pc:docMk/>
            <pc:sldMk cId="2775160245" sldId="437"/>
            <ac:spMk id="3" creationId="{68B6DDB2-1AC5-49B0-8BC7-AA939ACB912C}"/>
          </ac:spMkLst>
        </pc:spChg>
      </pc:sldChg>
      <pc:sldChg chg="modSp mod">
        <pc:chgData name="Francesco Bellotti" userId="f453232b-f87d-4756-9d8b-c09bc835cc42" providerId="ADAL" clId="{C7FEA3FA-4936-41E1-B7FA-CA082069F7F7}" dt="2026-10-09T13:34:02.172" v="7347" actId="20577"/>
        <pc:sldMkLst>
          <pc:docMk/>
          <pc:sldMk cId="420482092" sldId="438"/>
        </pc:sldMkLst>
        <pc:spChg chg="mod">
          <ac:chgData name="Francesco Bellotti" userId="f453232b-f87d-4756-9d8b-c09bc835cc42" providerId="ADAL" clId="{C7FEA3FA-4936-41E1-B7FA-CA082069F7F7}" dt="2026-10-09T13:34:02.172" v="7347" actId="20577"/>
          <ac:spMkLst>
            <pc:docMk/>
            <pc:sldMk cId="420482092" sldId="438"/>
            <ac:spMk id="4" creationId="{44A5AEBF-6F70-08B8-036F-A5B18693DE37}"/>
          </ac:spMkLst>
        </pc:spChg>
      </pc:sldChg>
      <pc:sldChg chg="modSp mod">
        <pc:chgData name="Francesco Bellotti" userId="f453232b-f87d-4756-9d8b-c09bc835cc42" providerId="ADAL" clId="{C7FEA3FA-4936-41E1-B7FA-CA082069F7F7}" dt="2026-10-09T13:35:17.367" v="7351" actId="13926"/>
        <pc:sldMkLst>
          <pc:docMk/>
          <pc:sldMk cId="2452159053" sldId="439"/>
        </pc:sldMkLst>
        <pc:spChg chg="mod">
          <ac:chgData name="Francesco Bellotti" userId="f453232b-f87d-4756-9d8b-c09bc835cc42" providerId="ADAL" clId="{C7FEA3FA-4936-41E1-B7FA-CA082069F7F7}" dt="2026-10-09T13:35:17.367" v="7351" actId="13926"/>
          <ac:spMkLst>
            <pc:docMk/>
            <pc:sldMk cId="2452159053" sldId="439"/>
            <ac:spMk id="4" creationId="{547FEBD2-CEA8-2988-6C0D-826921B70A44}"/>
          </ac:spMkLst>
        </pc:spChg>
      </pc:sldChg>
      <pc:sldChg chg="modSp mod">
        <pc:chgData name="Francesco Bellotti" userId="f453232b-f87d-4756-9d8b-c09bc835cc42" providerId="ADAL" clId="{C7FEA3FA-4936-41E1-B7FA-CA082069F7F7}" dt="2026-10-10T22:14:14.261" v="8527" actId="27636"/>
        <pc:sldMkLst>
          <pc:docMk/>
          <pc:sldMk cId="2019661679" sldId="440"/>
        </pc:sldMkLst>
        <pc:spChg chg="mod">
          <ac:chgData name="Francesco Bellotti" userId="f453232b-f87d-4756-9d8b-c09bc835cc42" providerId="ADAL" clId="{C7FEA3FA-4936-41E1-B7FA-CA082069F7F7}" dt="2026-10-10T22:14:14.261" v="8526" actId="27636"/>
          <ac:spMkLst>
            <pc:docMk/>
            <pc:sldMk cId="2019661679" sldId="440"/>
            <ac:spMk id="3" creationId="{9226A73C-70B0-43B3-7A98-0209652D82FB}"/>
          </ac:spMkLst>
        </pc:spChg>
        <pc:spChg chg="mod">
          <ac:chgData name="Francesco Bellotti" userId="f453232b-f87d-4756-9d8b-c09bc835cc42" providerId="ADAL" clId="{C7FEA3FA-4936-41E1-B7FA-CA082069F7F7}" dt="2026-10-10T22:14:14.261" v="8527" actId="27636"/>
          <ac:spMkLst>
            <pc:docMk/>
            <pc:sldMk cId="2019661679" sldId="440"/>
            <ac:spMk id="4" creationId="{28A8F827-3614-1D4E-A651-F0352E911042}"/>
          </ac:spMkLst>
        </pc:spChg>
      </pc:sldChg>
      <pc:sldChg chg="modSp mod">
        <pc:chgData name="Francesco Bellotti" userId="f453232b-f87d-4756-9d8b-c09bc835cc42" providerId="ADAL" clId="{C7FEA3FA-4936-41E1-B7FA-CA082069F7F7}" dt="2026-10-10T22:20:34.674" v="8544" actId="1076"/>
        <pc:sldMkLst>
          <pc:docMk/>
          <pc:sldMk cId="2444319482" sldId="442"/>
        </pc:sldMkLst>
        <pc:spChg chg="mod">
          <ac:chgData name="Francesco Bellotti" userId="f453232b-f87d-4756-9d8b-c09bc835cc42" providerId="ADAL" clId="{C7FEA3FA-4936-41E1-B7FA-CA082069F7F7}" dt="2026-10-10T22:20:17.582" v="8541" actId="27636"/>
          <ac:spMkLst>
            <pc:docMk/>
            <pc:sldMk cId="2444319482" sldId="442"/>
            <ac:spMk id="3" creationId="{F3BA3BC2-3A86-767A-DFF5-4FD51A1516BD}"/>
          </ac:spMkLst>
        </pc:spChg>
        <pc:spChg chg="mod">
          <ac:chgData name="Francesco Bellotti" userId="f453232b-f87d-4756-9d8b-c09bc835cc42" providerId="ADAL" clId="{C7FEA3FA-4936-41E1-B7FA-CA082069F7F7}" dt="2026-10-10T22:20:27.570" v="8543" actId="13926"/>
          <ac:spMkLst>
            <pc:docMk/>
            <pc:sldMk cId="2444319482" sldId="442"/>
            <ac:spMk id="4" creationId="{ADD6AE5A-AF51-4B5D-0FEB-33CF04A25A42}"/>
          </ac:spMkLst>
        </pc:spChg>
        <pc:spChg chg="mod">
          <ac:chgData name="Francesco Bellotti" userId="f453232b-f87d-4756-9d8b-c09bc835cc42" providerId="ADAL" clId="{C7FEA3FA-4936-41E1-B7FA-CA082069F7F7}" dt="2026-10-10T22:20:34.674" v="8544" actId="1076"/>
          <ac:spMkLst>
            <pc:docMk/>
            <pc:sldMk cId="2444319482" sldId="442"/>
            <ac:spMk id="6" creationId="{2419692D-DE7F-52E4-6805-CA43319BC33B}"/>
          </ac:spMkLst>
        </pc:spChg>
      </pc:sldChg>
      <pc:sldChg chg="modSp mod">
        <pc:chgData name="Francesco Bellotti" userId="f453232b-f87d-4756-9d8b-c09bc835cc42" providerId="ADAL" clId="{C7FEA3FA-4936-41E1-B7FA-CA082069F7F7}" dt="2026-10-07T15:26:12.036" v="7329" actId="113"/>
        <pc:sldMkLst>
          <pc:docMk/>
          <pc:sldMk cId="3214956456" sldId="443"/>
        </pc:sldMkLst>
        <pc:spChg chg="mod">
          <ac:chgData name="Francesco Bellotti" userId="f453232b-f87d-4756-9d8b-c09bc835cc42" providerId="ADAL" clId="{C7FEA3FA-4936-41E1-B7FA-CA082069F7F7}" dt="2026-10-07T15:26:12.036" v="7329" actId="113"/>
          <ac:spMkLst>
            <pc:docMk/>
            <pc:sldMk cId="3214956456" sldId="443"/>
            <ac:spMk id="3" creationId="{70DE6BF6-9889-72D5-2062-D33812A9FF75}"/>
          </ac:spMkLst>
        </pc:spChg>
        <pc:spChg chg="mod">
          <ac:chgData name="Francesco Bellotti" userId="f453232b-f87d-4756-9d8b-c09bc835cc42" providerId="ADAL" clId="{C7FEA3FA-4936-41E1-B7FA-CA082069F7F7}" dt="2026-10-07T15:26:03.690" v="7328" actId="13926"/>
          <ac:spMkLst>
            <pc:docMk/>
            <pc:sldMk cId="3214956456" sldId="443"/>
            <ac:spMk id="4" creationId="{4711508B-5919-C3E0-D7E4-C54917BA1E03}"/>
          </ac:spMkLst>
        </pc:spChg>
      </pc:sldChg>
      <pc:sldChg chg="modSp mod">
        <pc:chgData name="Francesco Bellotti" userId="f453232b-f87d-4756-9d8b-c09bc835cc42" providerId="ADAL" clId="{C7FEA3FA-4936-41E1-B7FA-CA082069F7F7}" dt="2026-10-10T22:22:47.206" v="8580" actId="20577"/>
        <pc:sldMkLst>
          <pc:docMk/>
          <pc:sldMk cId="2051480685" sldId="444"/>
        </pc:sldMkLst>
        <pc:spChg chg="mod">
          <ac:chgData name="Francesco Bellotti" userId="f453232b-f87d-4756-9d8b-c09bc835cc42" providerId="ADAL" clId="{C7FEA3FA-4936-41E1-B7FA-CA082069F7F7}" dt="2026-10-10T22:22:47.206" v="8580" actId="20577"/>
          <ac:spMkLst>
            <pc:docMk/>
            <pc:sldMk cId="2051480685" sldId="444"/>
            <ac:spMk id="3" creationId="{EC52302C-E7C3-D28E-8327-B39D5D3675C8}"/>
          </ac:spMkLst>
        </pc:spChg>
      </pc:sldChg>
      <pc:sldChg chg="modSp mod">
        <pc:chgData name="Francesco Bellotti" userId="f453232b-f87d-4756-9d8b-c09bc835cc42" providerId="ADAL" clId="{C7FEA3FA-4936-41E1-B7FA-CA082069F7F7}" dt="2026-10-07T12:14:45.885" v="7237" actId="13926"/>
        <pc:sldMkLst>
          <pc:docMk/>
          <pc:sldMk cId="3798864367" sldId="445"/>
        </pc:sldMkLst>
        <pc:spChg chg="mod">
          <ac:chgData name="Francesco Bellotti" userId="f453232b-f87d-4756-9d8b-c09bc835cc42" providerId="ADAL" clId="{C7FEA3FA-4936-41E1-B7FA-CA082069F7F7}" dt="2026-10-07T12:14:45.885" v="7237" actId="13926"/>
          <ac:spMkLst>
            <pc:docMk/>
            <pc:sldMk cId="3798864367" sldId="445"/>
            <ac:spMk id="4" creationId="{B5832E62-8792-8D75-D8D3-B01EF41EF372}"/>
          </ac:spMkLst>
        </pc:spChg>
      </pc:sldChg>
      <pc:sldChg chg="modSp mod">
        <pc:chgData name="Francesco Bellotti" userId="f453232b-f87d-4756-9d8b-c09bc835cc42" providerId="ADAL" clId="{C7FEA3FA-4936-41E1-B7FA-CA082069F7F7}" dt="2026-10-07T12:18:47.105" v="7257" actId="13926"/>
        <pc:sldMkLst>
          <pc:docMk/>
          <pc:sldMk cId="1270981713" sldId="446"/>
        </pc:sldMkLst>
        <pc:spChg chg="mod">
          <ac:chgData name="Francesco Bellotti" userId="f453232b-f87d-4756-9d8b-c09bc835cc42" providerId="ADAL" clId="{C7FEA3FA-4936-41E1-B7FA-CA082069F7F7}" dt="2026-10-07T12:18:47.105" v="7257" actId="13926"/>
          <ac:spMkLst>
            <pc:docMk/>
            <pc:sldMk cId="1270981713" sldId="446"/>
            <ac:spMk id="3" creationId="{C9FF336D-F394-9A7C-B7EA-8D8D494857D9}"/>
          </ac:spMkLst>
        </pc:spChg>
      </pc:sldChg>
      <pc:sldChg chg="modSp mod">
        <pc:chgData name="Francesco Bellotti" userId="f453232b-f87d-4756-9d8b-c09bc835cc42" providerId="ADAL" clId="{C7FEA3FA-4936-41E1-B7FA-CA082069F7F7}" dt="2026-10-07T12:22:09.432" v="7264" actId="13926"/>
        <pc:sldMkLst>
          <pc:docMk/>
          <pc:sldMk cId="1294244157" sldId="447"/>
        </pc:sldMkLst>
        <pc:spChg chg="mod">
          <ac:chgData name="Francesco Bellotti" userId="f453232b-f87d-4756-9d8b-c09bc835cc42" providerId="ADAL" clId="{C7FEA3FA-4936-41E1-B7FA-CA082069F7F7}" dt="2026-10-07T12:22:09.432" v="7264" actId="13926"/>
          <ac:spMkLst>
            <pc:docMk/>
            <pc:sldMk cId="1294244157" sldId="447"/>
            <ac:spMk id="3" creationId="{758138AC-F7B6-E626-2935-01DD66F825ED}"/>
          </ac:spMkLst>
        </pc:spChg>
      </pc:sldChg>
      <pc:sldChg chg="modSp mod">
        <pc:chgData name="Francesco Bellotti" userId="f453232b-f87d-4756-9d8b-c09bc835cc42" providerId="ADAL" clId="{C7FEA3FA-4936-41E1-B7FA-CA082069F7F7}" dt="2026-10-07T12:22:31.646" v="7267" actId="13926"/>
        <pc:sldMkLst>
          <pc:docMk/>
          <pc:sldMk cId="2723204341" sldId="448"/>
        </pc:sldMkLst>
        <pc:spChg chg="mod">
          <ac:chgData name="Francesco Bellotti" userId="f453232b-f87d-4756-9d8b-c09bc835cc42" providerId="ADAL" clId="{C7FEA3FA-4936-41E1-B7FA-CA082069F7F7}" dt="2026-10-07T12:22:31.646" v="7267" actId="13926"/>
          <ac:spMkLst>
            <pc:docMk/>
            <pc:sldMk cId="2723204341" sldId="448"/>
            <ac:spMk id="3" creationId="{B6B2C49B-F099-72D4-A941-FD3D1C4D11E0}"/>
          </ac:spMkLst>
        </pc:spChg>
      </pc:sldChg>
      <pc:sldChg chg="modSp mod">
        <pc:chgData name="Francesco Bellotti" userId="f453232b-f87d-4756-9d8b-c09bc835cc42" providerId="ADAL" clId="{C7FEA3FA-4936-41E1-B7FA-CA082069F7F7}" dt="2026-10-07T15:14:30.323" v="7278" actId="13926"/>
        <pc:sldMkLst>
          <pc:docMk/>
          <pc:sldMk cId="1960044243" sldId="449"/>
        </pc:sldMkLst>
        <pc:spChg chg="mod">
          <ac:chgData name="Francesco Bellotti" userId="f453232b-f87d-4756-9d8b-c09bc835cc42" providerId="ADAL" clId="{C7FEA3FA-4936-41E1-B7FA-CA082069F7F7}" dt="2026-10-07T15:14:30.323" v="7278" actId="13926"/>
          <ac:spMkLst>
            <pc:docMk/>
            <pc:sldMk cId="1960044243" sldId="449"/>
            <ac:spMk id="3" creationId="{C9FABF6A-2C56-D7E4-E84C-74834064B4A2}"/>
          </ac:spMkLst>
        </pc:spChg>
      </pc:sldChg>
      <pc:sldChg chg="modSp mod">
        <pc:chgData name="Francesco Bellotti" userId="f453232b-f87d-4756-9d8b-c09bc835cc42" providerId="ADAL" clId="{C7FEA3FA-4936-41E1-B7FA-CA082069F7F7}" dt="2026-10-07T15:23:39.509" v="7311" actId="13926"/>
        <pc:sldMkLst>
          <pc:docMk/>
          <pc:sldMk cId="3024998459" sldId="451"/>
        </pc:sldMkLst>
        <pc:spChg chg="mod">
          <ac:chgData name="Francesco Bellotti" userId="f453232b-f87d-4756-9d8b-c09bc835cc42" providerId="ADAL" clId="{C7FEA3FA-4936-41E1-B7FA-CA082069F7F7}" dt="2026-10-07T15:23:39.509" v="7311" actId="13926"/>
          <ac:spMkLst>
            <pc:docMk/>
            <pc:sldMk cId="3024998459" sldId="451"/>
            <ac:spMk id="3" creationId="{F58D2086-6B8E-00EF-00A1-EDA23B5C707E}"/>
          </ac:spMkLst>
        </pc:spChg>
      </pc:sldChg>
      <pc:sldChg chg="modSp mod">
        <pc:chgData name="Francesco Bellotti" userId="f453232b-f87d-4756-9d8b-c09bc835cc42" providerId="ADAL" clId="{C7FEA3FA-4936-41E1-B7FA-CA082069F7F7}" dt="2026-10-09T13:48:27.262" v="7362" actId="113"/>
        <pc:sldMkLst>
          <pc:docMk/>
          <pc:sldMk cId="2060776453" sldId="452"/>
        </pc:sldMkLst>
        <pc:spChg chg="mod">
          <ac:chgData name="Francesco Bellotti" userId="f453232b-f87d-4756-9d8b-c09bc835cc42" providerId="ADAL" clId="{C7FEA3FA-4936-41E1-B7FA-CA082069F7F7}" dt="2026-10-09T13:48:27.262" v="7362" actId="113"/>
          <ac:spMkLst>
            <pc:docMk/>
            <pc:sldMk cId="2060776453" sldId="452"/>
            <ac:spMk id="6" creationId="{00000000-0000-0000-0000-000000000000}"/>
          </ac:spMkLst>
        </pc:spChg>
        <pc:spChg chg="mod">
          <ac:chgData name="Francesco Bellotti" userId="f453232b-f87d-4756-9d8b-c09bc835cc42" providerId="ADAL" clId="{C7FEA3FA-4936-41E1-B7FA-CA082069F7F7}" dt="2026-10-09T13:47:39.520" v="7360" actId="13926"/>
          <ac:spMkLst>
            <pc:docMk/>
            <pc:sldMk cId="2060776453" sldId="452"/>
            <ac:spMk id="19" creationId="{FDDD6A30-C532-1EFC-74BA-51C1A481540A}"/>
          </ac:spMkLst>
        </pc:spChg>
      </pc:sldChg>
      <pc:sldChg chg="addSp delSp modSp add mod setBg modNotes">
        <pc:chgData name="Francesco Bellotti" userId="f453232b-f87d-4756-9d8b-c09bc835cc42" providerId="ADAL" clId="{C7FEA3FA-4936-41E1-B7FA-CA082069F7F7}" dt="2026-10-06T07:38:53.886" v="5989"/>
        <pc:sldMkLst>
          <pc:docMk/>
          <pc:sldMk cId="0" sldId="453"/>
        </pc:sldMkLst>
      </pc:sldChg>
      <pc:sldChg chg="modSp add mod setBg modNotes">
        <pc:chgData name="Francesco Bellotti" userId="f453232b-f87d-4756-9d8b-c09bc835cc42" providerId="ADAL" clId="{C7FEA3FA-4936-41E1-B7FA-CA082069F7F7}" dt="2026-10-06T07:38:53.886" v="5989"/>
        <pc:sldMkLst>
          <pc:docMk/>
          <pc:sldMk cId="0" sldId="455"/>
        </pc:sldMkLst>
      </pc:sldChg>
      <pc:sldChg chg="addSp delSp modSp add mod setBg modNotes">
        <pc:chgData name="Francesco Bellotti" userId="f453232b-f87d-4756-9d8b-c09bc835cc42" providerId="ADAL" clId="{C7FEA3FA-4936-41E1-B7FA-CA082069F7F7}" dt="2026-10-09T16:49:05.524" v="7677" actId="11529"/>
        <pc:sldMkLst>
          <pc:docMk/>
          <pc:sldMk cId="0" sldId="456"/>
        </pc:sldMkLst>
        <pc:spChg chg="add mod">
          <ac:chgData name="Francesco Bellotti" userId="f453232b-f87d-4756-9d8b-c09bc835cc42" providerId="ADAL" clId="{C7FEA3FA-4936-41E1-B7FA-CA082069F7F7}" dt="2026-10-09T16:28:16.958" v="7612" actId="20577"/>
          <ac:spMkLst>
            <pc:docMk/>
            <pc:sldMk cId="0" sldId="456"/>
            <ac:spMk id="2" creationId="{8A864340-DFE3-45F4-C1AA-E5928DFC08F0}"/>
          </ac:spMkLst>
        </pc:spChg>
        <pc:spChg chg="add mod">
          <ac:chgData name="Francesco Bellotti" userId="f453232b-f87d-4756-9d8b-c09bc835cc42" providerId="ADAL" clId="{C7FEA3FA-4936-41E1-B7FA-CA082069F7F7}" dt="2026-10-09T16:48:59.449" v="7676" actId="14100"/>
          <ac:spMkLst>
            <pc:docMk/>
            <pc:sldMk cId="0" sldId="456"/>
            <ac:spMk id="4" creationId="{F479898F-4F29-F053-2117-503FA363D74E}"/>
          </ac:spMkLst>
        </pc:spChg>
        <pc:spChg chg="mod">
          <ac:chgData name="Francesco Bellotti" userId="f453232b-f87d-4756-9d8b-c09bc835cc42" providerId="ADAL" clId="{C7FEA3FA-4936-41E1-B7FA-CA082069F7F7}" dt="2026-10-09T16:08:36.164" v="7556" actId="20577"/>
          <ac:spMkLst>
            <pc:docMk/>
            <pc:sldMk cId="0" sldId="456"/>
            <ac:spMk id="241" creationId="{00000000-0000-0000-0000-000000000000}"/>
          </ac:spMkLst>
        </pc:spChg>
        <pc:spChg chg="mod">
          <ac:chgData name="Francesco Bellotti" userId="f453232b-f87d-4756-9d8b-c09bc835cc42" providerId="ADAL" clId="{C7FEA3FA-4936-41E1-B7FA-CA082069F7F7}" dt="2026-10-09T14:30:39.236" v="7476" actId="1076"/>
          <ac:spMkLst>
            <pc:docMk/>
            <pc:sldMk cId="0" sldId="456"/>
            <ac:spMk id="249" creationId="{00000000-0000-0000-0000-000000000000}"/>
          </ac:spMkLst>
        </pc:spChg>
        <pc:spChg chg="mod">
          <ac:chgData name="Francesco Bellotti" userId="f453232b-f87d-4756-9d8b-c09bc835cc42" providerId="ADAL" clId="{C7FEA3FA-4936-41E1-B7FA-CA082069F7F7}" dt="2026-10-09T14:30:45.224" v="7477" actId="14100"/>
          <ac:spMkLst>
            <pc:docMk/>
            <pc:sldMk cId="0" sldId="456"/>
            <ac:spMk id="250" creationId="{00000000-0000-0000-0000-000000000000}"/>
          </ac:spMkLst>
        </pc:spChg>
        <pc:spChg chg="mod">
          <ac:chgData name="Francesco Bellotti" userId="f453232b-f87d-4756-9d8b-c09bc835cc42" providerId="ADAL" clId="{C7FEA3FA-4936-41E1-B7FA-CA082069F7F7}" dt="2026-10-09T14:28:08.269" v="7472" actId="113"/>
          <ac:spMkLst>
            <pc:docMk/>
            <pc:sldMk cId="0" sldId="456"/>
            <ac:spMk id="252" creationId="{00000000-0000-0000-0000-000000000000}"/>
          </ac:spMkLst>
        </pc:spChg>
        <pc:spChg chg="mod">
          <ac:chgData name="Francesco Bellotti" userId="f453232b-f87d-4756-9d8b-c09bc835cc42" providerId="ADAL" clId="{C7FEA3FA-4936-41E1-B7FA-CA082069F7F7}" dt="2026-10-09T15:51:51.344" v="7480" actId="1076"/>
          <ac:spMkLst>
            <pc:docMk/>
            <pc:sldMk cId="0" sldId="456"/>
            <ac:spMk id="266" creationId="{00000000-0000-0000-0000-000000000000}"/>
          </ac:spMkLst>
        </pc:spChg>
        <pc:spChg chg="mod">
          <ac:chgData name="Francesco Bellotti" userId="f453232b-f87d-4756-9d8b-c09bc835cc42" providerId="ADAL" clId="{C7FEA3FA-4936-41E1-B7FA-CA082069F7F7}" dt="2026-10-09T15:51:56.429" v="7483" actId="20577"/>
          <ac:spMkLst>
            <pc:docMk/>
            <pc:sldMk cId="0" sldId="456"/>
            <ac:spMk id="267" creationId="{00000000-0000-0000-0000-000000000000}"/>
          </ac:spMkLst>
        </pc:spChg>
        <pc:spChg chg="mod">
          <ac:chgData name="Francesco Bellotti" userId="f453232b-f87d-4756-9d8b-c09bc835cc42" providerId="ADAL" clId="{C7FEA3FA-4936-41E1-B7FA-CA082069F7F7}" dt="2026-10-09T15:53:16.495" v="7547" actId="20577"/>
          <ac:spMkLst>
            <pc:docMk/>
            <pc:sldMk cId="0" sldId="456"/>
            <ac:spMk id="271" creationId="{00000000-0000-0000-0000-000000000000}"/>
          </ac:spMkLst>
        </pc:spChg>
        <pc:cxnChg chg="add">
          <ac:chgData name="Francesco Bellotti" userId="f453232b-f87d-4756-9d8b-c09bc835cc42" providerId="ADAL" clId="{C7FEA3FA-4936-41E1-B7FA-CA082069F7F7}" dt="2026-10-09T16:49:05.524" v="7677" actId="11529"/>
          <ac:cxnSpMkLst>
            <pc:docMk/>
            <pc:sldMk cId="0" sldId="456"/>
            <ac:cxnSpMk id="6" creationId="{7E1F0FB3-7ADF-107A-D0B0-AC00CA96A31D}"/>
          </ac:cxnSpMkLst>
        </pc:cxnChg>
      </pc:sldChg>
      <pc:sldChg chg="addSp delSp modSp add mod setBg modNotes">
        <pc:chgData name="Francesco Bellotti" userId="f453232b-f87d-4756-9d8b-c09bc835cc42" providerId="ADAL" clId="{C7FEA3FA-4936-41E1-B7FA-CA082069F7F7}" dt="2026-10-09T17:21:14.194" v="7729" actId="478"/>
        <pc:sldMkLst>
          <pc:docMk/>
          <pc:sldMk cId="0" sldId="457"/>
        </pc:sldMkLst>
        <pc:spChg chg="mod">
          <ac:chgData name="Francesco Bellotti" userId="f453232b-f87d-4756-9d8b-c09bc835cc42" providerId="ADAL" clId="{C7FEA3FA-4936-41E1-B7FA-CA082069F7F7}" dt="2026-10-09T17:10:55.661" v="7709" actId="1076"/>
          <ac:spMkLst>
            <pc:docMk/>
            <pc:sldMk cId="0" sldId="457"/>
            <ac:spMk id="9" creationId="{E37EB69D-7FD8-1CA0-0471-4F250C0637E7}"/>
          </ac:spMkLst>
        </pc:spChg>
        <pc:spChg chg="mod">
          <ac:chgData name="Francesco Bellotti" userId="f453232b-f87d-4756-9d8b-c09bc835cc42" providerId="ADAL" clId="{C7FEA3FA-4936-41E1-B7FA-CA082069F7F7}" dt="2026-10-09T16:55:45.388" v="7692" actId="947"/>
          <ac:spMkLst>
            <pc:docMk/>
            <pc:sldMk cId="0" sldId="457"/>
            <ac:spMk id="15" creationId="{91AAED90-7C10-7164-33C8-A7D04F894553}"/>
          </ac:spMkLst>
        </pc:spChg>
        <pc:spChg chg="mod">
          <ac:chgData name="Francesco Bellotti" userId="f453232b-f87d-4756-9d8b-c09bc835cc42" providerId="ADAL" clId="{C7FEA3FA-4936-41E1-B7FA-CA082069F7F7}" dt="2026-10-09T16:56:23.025" v="7697" actId="20577"/>
          <ac:spMkLst>
            <pc:docMk/>
            <pc:sldMk cId="0" sldId="457"/>
            <ac:spMk id="17" creationId="{62911262-01A0-7CFF-F60E-B633B95497A1}"/>
          </ac:spMkLst>
        </pc:spChg>
        <pc:spChg chg="mod">
          <ac:chgData name="Francesco Bellotti" userId="f453232b-f87d-4756-9d8b-c09bc835cc42" providerId="ADAL" clId="{C7FEA3FA-4936-41E1-B7FA-CA082069F7F7}" dt="2026-10-09T17:11:00.936" v="7712" actId="27636"/>
          <ac:spMkLst>
            <pc:docMk/>
            <pc:sldMk cId="0" sldId="457"/>
            <ac:spMk id="276" creationId="{00000000-0000-0000-0000-000000000000}"/>
          </ac:spMkLst>
        </pc:spChg>
        <pc:spChg chg="mod">
          <ac:chgData name="Francesco Bellotti" userId="f453232b-f87d-4756-9d8b-c09bc835cc42" providerId="ADAL" clId="{C7FEA3FA-4936-41E1-B7FA-CA082069F7F7}" dt="2026-10-09T17:10:48.965" v="7708" actId="20577"/>
          <ac:spMkLst>
            <pc:docMk/>
            <pc:sldMk cId="0" sldId="457"/>
            <ac:spMk id="284" creationId="{00000000-0000-0000-0000-000000000000}"/>
          </ac:spMkLst>
        </pc:spChg>
        <pc:spChg chg="mod">
          <ac:chgData name="Francesco Bellotti" userId="f453232b-f87d-4756-9d8b-c09bc835cc42" providerId="ADAL" clId="{C7FEA3FA-4936-41E1-B7FA-CA082069F7F7}" dt="2026-10-09T16:52:19.141" v="7689" actId="13926"/>
          <ac:spMkLst>
            <pc:docMk/>
            <pc:sldMk cId="0" sldId="457"/>
            <ac:spMk id="293" creationId="{00000000-0000-0000-0000-000000000000}"/>
          </ac:spMkLst>
        </pc:spChg>
        <pc:spChg chg="mod">
          <ac:chgData name="Francesco Bellotti" userId="f453232b-f87d-4756-9d8b-c09bc835cc42" providerId="ADAL" clId="{C7FEA3FA-4936-41E1-B7FA-CA082069F7F7}" dt="2026-10-09T16:52:24.453" v="7690" actId="13926"/>
          <ac:spMkLst>
            <pc:docMk/>
            <pc:sldMk cId="0" sldId="457"/>
            <ac:spMk id="294" creationId="{00000000-0000-0000-0000-000000000000}"/>
          </ac:spMkLst>
        </pc:spChg>
      </pc:sldChg>
      <pc:sldChg chg="modSp add mod setBg modNotes">
        <pc:chgData name="Francesco Bellotti" userId="f453232b-f87d-4756-9d8b-c09bc835cc42" providerId="ADAL" clId="{C7FEA3FA-4936-41E1-B7FA-CA082069F7F7}" dt="2026-10-09T16:31:18.757" v="7631" actId="1076"/>
        <pc:sldMkLst>
          <pc:docMk/>
          <pc:sldMk cId="0" sldId="458"/>
        </pc:sldMkLst>
        <pc:spChg chg="mod">
          <ac:chgData name="Francesco Bellotti" userId="f453232b-f87d-4756-9d8b-c09bc835cc42" providerId="ADAL" clId="{C7FEA3FA-4936-41E1-B7FA-CA082069F7F7}" dt="2026-10-09T16:31:12.402" v="7630" actId="1076"/>
          <ac:spMkLst>
            <pc:docMk/>
            <pc:sldMk cId="0" sldId="458"/>
            <ac:spMk id="314" creationId="{00000000-0000-0000-0000-000000000000}"/>
          </ac:spMkLst>
        </pc:spChg>
        <pc:spChg chg="mod">
          <ac:chgData name="Francesco Bellotti" userId="f453232b-f87d-4756-9d8b-c09bc835cc42" providerId="ADAL" clId="{C7FEA3FA-4936-41E1-B7FA-CA082069F7F7}" dt="2026-10-09T16:31:18.757" v="7631" actId="1076"/>
          <ac:spMkLst>
            <pc:docMk/>
            <pc:sldMk cId="0" sldId="458"/>
            <ac:spMk id="315" creationId="{00000000-0000-0000-0000-000000000000}"/>
          </ac:spMkLst>
        </pc:spChg>
        <pc:spChg chg="mod">
          <ac:chgData name="Francesco Bellotti" userId="f453232b-f87d-4756-9d8b-c09bc835cc42" providerId="ADAL" clId="{C7FEA3FA-4936-41E1-B7FA-CA082069F7F7}" dt="2026-10-09T16:31:08.306" v="7629" actId="1076"/>
          <ac:spMkLst>
            <pc:docMk/>
            <pc:sldMk cId="0" sldId="458"/>
            <ac:spMk id="316" creationId="{00000000-0000-0000-0000-000000000000}"/>
          </ac:spMkLst>
        </pc:spChg>
      </pc:sldChg>
      <pc:sldChg chg="delSp modSp add mod ord setBg modNotes">
        <pc:chgData name="Francesco Bellotti" userId="f453232b-f87d-4756-9d8b-c09bc835cc42" providerId="ADAL" clId="{C7FEA3FA-4936-41E1-B7FA-CA082069F7F7}" dt="2026-10-09T17:14:43.699" v="7725" actId="478"/>
        <pc:sldMkLst>
          <pc:docMk/>
          <pc:sldMk cId="0" sldId="459"/>
        </pc:sldMkLst>
        <pc:spChg chg="mod">
          <ac:chgData name="Francesco Bellotti" userId="f453232b-f87d-4756-9d8b-c09bc835cc42" providerId="ADAL" clId="{C7FEA3FA-4936-41E1-B7FA-CA082069F7F7}" dt="2026-10-09T17:14:25.065" v="7723" actId="20577"/>
          <ac:spMkLst>
            <pc:docMk/>
            <pc:sldMk cId="0" sldId="459"/>
            <ac:spMk id="337" creationId="{00000000-0000-0000-0000-000000000000}"/>
          </ac:spMkLst>
        </pc:spChg>
      </pc:sldChg>
      <pc:sldChg chg="modSp add mod setBg modNotes">
        <pc:chgData name="Francesco Bellotti" userId="f453232b-f87d-4756-9d8b-c09bc835cc42" providerId="ADAL" clId="{C7FEA3FA-4936-41E1-B7FA-CA082069F7F7}" dt="2026-10-06T07:38:53.886" v="5989"/>
        <pc:sldMkLst>
          <pc:docMk/>
          <pc:sldMk cId="0" sldId="460"/>
        </pc:sldMkLst>
      </pc:sldChg>
      <pc:sldChg chg="modSp add mod ord setBg modNotes">
        <pc:chgData name="Francesco Bellotti" userId="f453232b-f87d-4756-9d8b-c09bc835cc42" providerId="ADAL" clId="{C7FEA3FA-4936-41E1-B7FA-CA082069F7F7}" dt="2026-10-06T07:38:53.886" v="5989"/>
        <pc:sldMkLst>
          <pc:docMk/>
          <pc:sldMk cId="0" sldId="461"/>
        </pc:sldMkLst>
      </pc:sldChg>
      <pc:sldChg chg="addSp delSp modSp add mod setBg modNotes">
        <pc:chgData name="Francesco Bellotti" userId="f453232b-f87d-4756-9d8b-c09bc835cc42" providerId="ADAL" clId="{C7FEA3FA-4936-41E1-B7FA-CA082069F7F7}" dt="2026-10-09T17:41:49.525" v="7820"/>
        <pc:sldMkLst>
          <pc:docMk/>
          <pc:sldMk cId="0" sldId="462"/>
        </pc:sldMkLst>
        <pc:spChg chg="mod">
          <ac:chgData name="Francesco Bellotti" userId="f453232b-f87d-4756-9d8b-c09bc835cc42" providerId="ADAL" clId="{C7FEA3FA-4936-41E1-B7FA-CA082069F7F7}" dt="2026-10-09T17:41:39.101" v="7817" actId="5793"/>
          <ac:spMkLst>
            <pc:docMk/>
            <pc:sldMk cId="0" sldId="462"/>
            <ac:spMk id="476" creationId="{00000000-0000-0000-0000-000000000000}"/>
          </ac:spMkLst>
        </pc:spChg>
      </pc:sldChg>
      <pc:sldChg chg="modSp add mod ord setBg modNotes">
        <pc:chgData name="Francesco Bellotti" userId="f453232b-f87d-4756-9d8b-c09bc835cc42" providerId="ADAL" clId="{C7FEA3FA-4936-41E1-B7FA-CA082069F7F7}" dt="2026-10-06T07:38:53.886" v="5989"/>
        <pc:sldMkLst>
          <pc:docMk/>
          <pc:sldMk cId="0" sldId="463"/>
        </pc:sldMkLst>
      </pc:sldChg>
      <pc:sldChg chg="modSp add mod setBg modNotes">
        <pc:chgData name="Francesco Bellotti" userId="f453232b-f87d-4756-9d8b-c09bc835cc42" providerId="ADAL" clId="{C7FEA3FA-4936-41E1-B7FA-CA082069F7F7}" dt="2026-10-06T07:38:53.886" v="5989"/>
        <pc:sldMkLst>
          <pc:docMk/>
          <pc:sldMk cId="0" sldId="464"/>
        </pc:sldMkLst>
      </pc:sldChg>
      <pc:sldChg chg="modSp add mod setBg modNotes">
        <pc:chgData name="Francesco Bellotti" userId="f453232b-f87d-4756-9d8b-c09bc835cc42" providerId="ADAL" clId="{C7FEA3FA-4936-41E1-B7FA-CA082069F7F7}" dt="2026-10-09T22:30:26.870" v="7854" actId="13926"/>
        <pc:sldMkLst>
          <pc:docMk/>
          <pc:sldMk cId="0" sldId="465"/>
        </pc:sldMkLst>
        <pc:spChg chg="mod">
          <ac:chgData name="Francesco Bellotti" userId="f453232b-f87d-4756-9d8b-c09bc835cc42" providerId="ADAL" clId="{C7FEA3FA-4936-41E1-B7FA-CA082069F7F7}" dt="2026-10-09T22:30:26.870" v="7854" actId="13926"/>
          <ac:spMkLst>
            <pc:docMk/>
            <pc:sldMk cId="0" sldId="465"/>
            <ac:spMk id="602" creationId="{00000000-0000-0000-0000-000000000000}"/>
          </ac:spMkLst>
        </pc:spChg>
      </pc:sldChg>
      <pc:sldChg chg="modSp add mod setBg modNotes">
        <pc:chgData name="Francesco Bellotti" userId="f453232b-f87d-4756-9d8b-c09bc835cc42" providerId="ADAL" clId="{C7FEA3FA-4936-41E1-B7FA-CA082069F7F7}" dt="2026-10-06T07:38:53.886" v="5989"/>
        <pc:sldMkLst>
          <pc:docMk/>
          <pc:sldMk cId="0" sldId="466"/>
        </pc:sldMkLst>
      </pc:sldChg>
      <pc:sldChg chg="addSp modSp add mod setBg modNotes">
        <pc:chgData name="Francesco Bellotti" userId="f453232b-f87d-4756-9d8b-c09bc835cc42" providerId="ADAL" clId="{C7FEA3FA-4936-41E1-B7FA-CA082069F7F7}" dt="2026-10-06T07:38:53.886" v="5989"/>
        <pc:sldMkLst>
          <pc:docMk/>
          <pc:sldMk cId="0" sldId="467"/>
        </pc:sldMkLst>
      </pc:sldChg>
      <pc:sldChg chg="modSp add mod setBg modNotes">
        <pc:chgData name="Francesco Bellotti" userId="f453232b-f87d-4756-9d8b-c09bc835cc42" providerId="ADAL" clId="{C7FEA3FA-4936-41E1-B7FA-CA082069F7F7}" dt="2026-10-10T08:34:41.138" v="7877" actId="13926"/>
        <pc:sldMkLst>
          <pc:docMk/>
          <pc:sldMk cId="0" sldId="468"/>
        </pc:sldMkLst>
        <pc:spChg chg="mod">
          <ac:chgData name="Francesco Bellotti" userId="f453232b-f87d-4756-9d8b-c09bc835cc42" providerId="ADAL" clId="{C7FEA3FA-4936-41E1-B7FA-CA082069F7F7}" dt="2026-10-10T08:34:41.138" v="7877" actId="13926"/>
          <ac:spMkLst>
            <pc:docMk/>
            <pc:sldMk cId="0" sldId="468"/>
            <ac:spMk id="693" creationId="{00000000-0000-0000-0000-000000000000}"/>
          </ac:spMkLst>
        </pc:spChg>
      </pc:sldChg>
      <pc:sldChg chg="delSp modSp add mod setBg modNotes">
        <pc:chgData name="Francesco Bellotti" userId="f453232b-f87d-4756-9d8b-c09bc835cc42" providerId="ADAL" clId="{C7FEA3FA-4936-41E1-B7FA-CA082069F7F7}" dt="2026-10-10T08:37:04.005" v="7906" actId="13926"/>
        <pc:sldMkLst>
          <pc:docMk/>
          <pc:sldMk cId="0" sldId="469"/>
        </pc:sldMkLst>
        <pc:spChg chg="mod">
          <ac:chgData name="Francesco Bellotti" userId="f453232b-f87d-4756-9d8b-c09bc835cc42" providerId="ADAL" clId="{C7FEA3FA-4936-41E1-B7FA-CA082069F7F7}" dt="2026-10-10T08:36:53.736" v="7905" actId="20577"/>
          <ac:spMkLst>
            <pc:docMk/>
            <pc:sldMk cId="0" sldId="469"/>
            <ac:spMk id="716" creationId="{00000000-0000-0000-0000-000000000000}"/>
          </ac:spMkLst>
        </pc:spChg>
        <pc:spChg chg="mod">
          <ac:chgData name="Francesco Bellotti" userId="f453232b-f87d-4756-9d8b-c09bc835cc42" providerId="ADAL" clId="{C7FEA3FA-4936-41E1-B7FA-CA082069F7F7}" dt="2026-10-10T08:37:04.005" v="7906" actId="13926"/>
          <ac:spMkLst>
            <pc:docMk/>
            <pc:sldMk cId="0" sldId="469"/>
            <ac:spMk id="732" creationId="{00000000-0000-0000-0000-000000000000}"/>
          </ac:spMkLst>
        </pc:spChg>
      </pc:sldChg>
      <pc:sldChg chg="modSp mod">
        <pc:chgData name="Francesco Bellotti" userId="f453232b-f87d-4756-9d8b-c09bc835cc42" providerId="ADAL" clId="{C7FEA3FA-4936-41E1-B7FA-CA082069F7F7}" dt="2026-10-09T14:18:10.661" v="7405" actId="113"/>
        <pc:sldMkLst>
          <pc:docMk/>
          <pc:sldMk cId="1725002924" sldId="470"/>
        </pc:sldMkLst>
        <pc:spChg chg="mod">
          <ac:chgData name="Francesco Bellotti" userId="f453232b-f87d-4756-9d8b-c09bc835cc42" providerId="ADAL" clId="{C7FEA3FA-4936-41E1-B7FA-CA082069F7F7}" dt="2026-10-09T14:18:10.661" v="7405" actId="113"/>
          <ac:spMkLst>
            <pc:docMk/>
            <pc:sldMk cId="1725002924" sldId="470"/>
            <ac:spMk id="3" creationId="{C0A8C7E5-53E3-B25D-EFAA-0CF10EB6ECFC}"/>
          </ac:spMkLst>
        </pc:spChg>
        <pc:spChg chg="mod">
          <ac:chgData name="Francesco Bellotti" userId="f453232b-f87d-4756-9d8b-c09bc835cc42" providerId="ADAL" clId="{C7FEA3FA-4936-41E1-B7FA-CA082069F7F7}" dt="2026-10-09T14:17:52.326" v="7401" actId="113"/>
          <ac:spMkLst>
            <pc:docMk/>
            <pc:sldMk cId="1725002924" sldId="470"/>
            <ac:spMk id="4" creationId="{2C6B29FD-91E1-A31E-BAF9-CDF78C5143F0}"/>
          </ac:spMkLst>
        </pc:spChg>
      </pc:sldChg>
      <pc:sldChg chg="modSp mod">
        <pc:chgData name="Francesco Bellotti" userId="f453232b-f87d-4756-9d8b-c09bc835cc42" providerId="ADAL" clId="{C7FEA3FA-4936-41E1-B7FA-CA082069F7F7}" dt="2026-10-10T22:23:04.305" v="8581" actId="207"/>
        <pc:sldMkLst>
          <pc:docMk/>
          <pc:sldMk cId="2295196963" sldId="472"/>
        </pc:sldMkLst>
        <pc:spChg chg="mod">
          <ac:chgData name="Francesco Bellotti" userId="f453232b-f87d-4756-9d8b-c09bc835cc42" providerId="ADAL" clId="{C7FEA3FA-4936-41E1-B7FA-CA082069F7F7}" dt="2026-10-10T22:23:04.305" v="8581" actId="207"/>
          <ac:spMkLst>
            <pc:docMk/>
            <pc:sldMk cId="2295196963" sldId="472"/>
            <ac:spMk id="4" creationId="{B42B7E63-241E-1DBD-467E-3EF9E3381A52}"/>
          </ac:spMkLst>
        </pc:spChg>
      </pc:sldChg>
      <pc:sldChg chg="modSp mod">
        <pc:chgData name="Francesco Bellotti" userId="f453232b-f87d-4756-9d8b-c09bc835cc42" providerId="ADAL" clId="{C7FEA3FA-4936-41E1-B7FA-CA082069F7F7}" dt="2026-10-09T14:27:57.345" v="7471" actId="1076"/>
        <pc:sldMkLst>
          <pc:docMk/>
          <pc:sldMk cId="2676833424" sldId="473"/>
        </pc:sldMkLst>
        <pc:spChg chg="mod">
          <ac:chgData name="Francesco Bellotti" userId="f453232b-f87d-4756-9d8b-c09bc835cc42" providerId="ADAL" clId="{C7FEA3FA-4936-41E1-B7FA-CA082069F7F7}" dt="2026-10-09T14:27:07.298" v="7456" actId="27636"/>
          <ac:spMkLst>
            <pc:docMk/>
            <pc:sldMk cId="2676833424" sldId="473"/>
            <ac:spMk id="3" creationId="{35E91759-6941-7E93-BFBF-C2CC96822995}"/>
          </ac:spMkLst>
        </pc:spChg>
        <pc:spChg chg="mod">
          <ac:chgData name="Francesco Bellotti" userId="f453232b-f87d-4756-9d8b-c09bc835cc42" providerId="ADAL" clId="{C7FEA3FA-4936-41E1-B7FA-CA082069F7F7}" dt="2026-10-09T14:27:18.805" v="7461" actId="113"/>
          <ac:spMkLst>
            <pc:docMk/>
            <pc:sldMk cId="2676833424" sldId="473"/>
            <ac:spMk id="6" creationId="{8CA2C66D-168C-DAB1-1444-8297A313C57F}"/>
          </ac:spMkLst>
        </pc:spChg>
        <pc:spChg chg="mod">
          <ac:chgData name="Francesco Bellotti" userId="f453232b-f87d-4756-9d8b-c09bc835cc42" providerId="ADAL" clId="{C7FEA3FA-4936-41E1-B7FA-CA082069F7F7}" dt="2026-10-09T14:27:57.345" v="7471" actId="1076"/>
          <ac:spMkLst>
            <pc:docMk/>
            <pc:sldMk cId="2676833424" sldId="473"/>
            <ac:spMk id="8" creationId="{B64607ED-A556-A806-2450-39EF757704E3}"/>
          </ac:spMkLst>
        </pc:spChg>
      </pc:sldChg>
      <pc:sldChg chg="addSp delSp modSp mod">
        <pc:chgData name="Francesco Bellotti" userId="f453232b-f87d-4756-9d8b-c09bc835cc42" providerId="ADAL" clId="{C7FEA3FA-4936-41E1-B7FA-CA082069F7F7}" dt="2026-10-09T16:51:19.256" v="7687" actId="1076"/>
        <pc:sldMkLst>
          <pc:docMk/>
          <pc:sldMk cId="4037213394" sldId="474"/>
        </pc:sldMkLst>
        <pc:spChg chg="mod">
          <ac:chgData name="Francesco Bellotti" userId="f453232b-f87d-4756-9d8b-c09bc835cc42" providerId="ADAL" clId="{C7FEA3FA-4936-41E1-B7FA-CA082069F7F7}" dt="2026-10-09T16:51:12.095" v="7685" actId="113"/>
          <ac:spMkLst>
            <pc:docMk/>
            <pc:sldMk cId="4037213394" sldId="474"/>
            <ac:spMk id="3" creationId="{AE030905-6872-60FB-F682-E02BF80E413B}"/>
          </ac:spMkLst>
        </pc:spChg>
        <pc:picChg chg="add mod">
          <ac:chgData name="Francesco Bellotti" userId="f453232b-f87d-4756-9d8b-c09bc835cc42" providerId="ADAL" clId="{C7FEA3FA-4936-41E1-B7FA-CA082069F7F7}" dt="2026-10-09T16:51:19.256" v="7687" actId="1076"/>
          <ac:picMkLst>
            <pc:docMk/>
            <pc:sldMk cId="4037213394" sldId="474"/>
            <ac:picMk id="5" creationId="{37D34A2F-F069-0E82-1E78-514D05CA8B78}"/>
          </ac:picMkLst>
        </pc:picChg>
      </pc:sldChg>
      <pc:sldChg chg="modSp mod">
        <pc:chgData name="Francesco Bellotti" userId="f453232b-f87d-4756-9d8b-c09bc835cc42" providerId="ADAL" clId="{C7FEA3FA-4936-41E1-B7FA-CA082069F7F7}" dt="2026-10-09T16:40:50.437" v="7635" actId="113"/>
        <pc:sldMkLst>
          <pc:docMk/>
          <pc:sldMk cId="240193466" sldId="476"/>
        </pc:sldMkLst>
        <pc:spChg chg="mod">
          <ac:chgData name="Francesco Bellotti" userId="f453232b-f87d-4756-9d8b-c09bc835cc42" providerId="ADAL" clId="{C7FEA3FA-4936-41E1-B7FA-CA082069F7F7}" dt="2026-10-09T16:40:50.437" v="7635" actId="113"/>
          <ac:spMkLst>
            <pc:docMk/>
            <pc:sldMk cId="240193466" sldId="476"/>
            <ac:spMk id="3" creationId="{72D578F6-EDF3-2C9B-FD6A-CE36A28A5532}"/>
          </ac:spMkLst>
        </pc:spChg>
      </pc:sldChg>
      <pc:sldChg chg="modSp mod">
        <pc:chgData name="Francesco Bellotti" userId="f453232b-f87d-4756-9d8b-c09bc835cc42" providerId="ADAL" clId="{C7FEA3FA-4936-41E1-B7FA-CA082069F7F7}" dt="2026-10-09T17:35:01.966" v="7805" actId="113"/>
        <pc:sldMkLst>
          <pc:docMk/>
          <pc:sldMk cId="3493370717" sldId="481"/>
        </pc:sldMkLst>
        <pc:spChg chg="mod">
          <ac:chgData name="Francesco Bellotti" userId="f453232b-f87d-4756-9d8b-c09bc835cc42" providerId="ADAL" clId="{C7FEA3FA-4936-41E1-B7FA-CA082069F7F7}" dt="2026-10-09T17:35:01.966" v="7805" actId="113"/>
          <ac:spMkLst>
            <pc:docMk/>
            <pc:sldMk cId="3493370717" sldId="481"/>
            <ac:spMk id="6" creationId="{21B65AB4-59C5-CDF3-4C09-52DDC2D33ABD}"/>
          </ac:spMkLst>
        </pc:spChg>
      </pc:sldChg>
      <pc:sldChg chg="modSp mod">
        <pc:chgData name="Francesco Bellotti" userId="f453232b-f87d-4756-9d8b-c09bc835cc42" providerId="ADAL" clId="{C7FEA3FA-4936-41E1-B7FA-CA082069F7F7}" dt="2026-10-09T17:35:42.204" v="7807" actId="113"/>
        <pc:sldMkLst>
          <pc:docMk/>
          <pc:sldMk cId="4225101461" sldId="482"/>
        </pc:sldMkLst>
        <pc:spChg chg="mod">
          <ac:chgData name="Francesco Bellotti" userId="f453232b-f87d-4756-9d8b-c09bc835cc42" providerId="ADAL" clId="{C7FEA3FA-4936-41E1-B7FA-CA082069F7F7}" dt="2026-10-09T17:35:35" v="7806" actId="13926"/>
          <ac:spMkLst>
            <pc:docMk/>
            <pc:sldMk cId="4225101461" sldId="482"/>
            <ac:spMk id="3" creationId="{494565F2-4C1E-0BA6-A5B3-9B3C247547F6}"/>
          </ac:spMkLst>
        </pc:spChg>
        <pc:spChg chg="mod">
          <ac:chgData name="Francesco Bellotti" userId="f453232b-f87d-4756-9d8b-c09bc835cc42" providerId="ADAL" clId="{C7FEA3FA-4936-41E1-B7FA-CA082069F7F7}" dt="2026-10-09T17:35:42.204" v="7807" actId="113"/>
          <ac:spMkLst>
            <pc:docMk/>
            <pc:sldMk cId="4225101461" sldId="482"/>
            <ac:spMk id="4" creationId="{D8F55F39-33BF-89BE-4B1A-71982D106798}"/>
          </ac:spMkLst>
        </pc:spChg>
      </pc:sldChg>
      <pc:sldChg chg="modSp mod">
        <pc:chgData name="Francesco Bellotti" userId="f453232b-f87d-4756-9d8b-c09bc835cc42" providerId="ADAL" clId="{C7FEA3FA-4936-41E1-B7FA-CA082069F7F7}" dt="2026-10-09T17:37:36.798" v="7809" actId="20577"/>
        <pc:sldMkLst>
          <pc:docMk/>
          <pc:sldMk cId="1866504401" sldId="483"/>
        </pc:sldMkLst>
        <pc:spChg chg="mod">
          <ac:chgData name="Francesco Bellotti" userId="f453232b-f87d-4756-9d8b-c09bc835cc42" providerId="ADAL" clId="{C7FEA3FA-4936-41E1-B7FA-CA082069F7F7}" dt="2026-10-09T17:37:36.798" v="7809" actId="20577"/>
          <ac:spMkLst>
            <pc:docMk/>
            <pc:sldMk cId="1866504401" sldId="483"/>
            <ac:spMk id="4" creationId="{DB6A4C4E-E293-BE04-63D8-D3A7E2D53E91}"/>
          </ac:spMkLst>
        </pc:spChg>
      </pc:sldChg>
      <pc:sldChg chg="modSp mod">
        <pc:chgData name="Francesco Bellotti" userId="f453232b-f87d-4756-9d8b-c09bc835cc42" providerId="ADAL" clId="{C7FEA3FA-4936-41E1-B7FA-CA082069F7F7}" dt="2026-10-10T22:26:28.195" v="8590" actId="13926"/>
        <pc:sldMkLst>
          <pc:docMk/>
          <pc:sldMk cId="1287656630" sldId="484"/>
        </pc:sldMkLst>
        <pc:spChg chg="mod">
          <ac:chgData name="Francesco Bellotti" userId="f453232b-f87d-4756-9d8b-c09bc835cc42" providerId="ADAL" clId="{C7FEA3FA-4936-41E1-B7FA-CA082069F7F7}" dt="2026-10-10T22:26:28.195" v="8590" actId="13926"/>
          <ac:spMkLst>
            <pc:docMk/>
            <pc:sldMk cId="1287656630" sldId="484"/>
            <ac:spMk id="4" creationId="{4A23BA87-F261-C522-1931-22A173594174}"/>
          </ac:spMkLst>
        </pc:spChg>
      </pc:sldChg>
      <pc:sldChg chg="modSp mod">
        <pc:chgData name="Francesco Bellotti" userId="f453232b-f87d-4756-9d8b-c09bc835cc42" providerId="ADAL" clId="{C7FEA3FA-4936-41E1-B7FA-CA082069F7F7}" dt="2026-10-09T17:42:12.748" v="7821" actId="13926"/>
        <pc:sldMkLst>
          <pc:docMk/>
          <pc:sldMk cId="2721696616" sldId="486"/>
        </pc:sldMkLst>
        <pc:spChg chg="mod">
          <ac:chgData name="Francesco Bellotti" userId="f453232b-f87d-4756-9d8b-c09bc835cc42" providerId="ADAL" clId="{C7FEA3FA-4936-41E1-B7FA-CA082069F7F7}" dt="2026-10-09T17:42:12.748" v="7821" actId="13926"/>
          <ac:spMkLst>
            <pc:docMk/>
            <pc:sldMk cId="2721696616" sldId="486"/>
            <ac:spMk id="4" creationId="{7336C995-770F-CC43-1019-A719CC730DA7}"/>
          </ac:spMkLst>
        </pc:spChg>
      </pc:sldChg>
      <pc:sldChg chg="modSp mod">
        <pc:chgData name="Francesco Bellotti" userId="f453232b-f87d-4756-9d8b-c09bc835cc42" providerId="ADAL" clId="{C7FEA3FA-4936-41E1-B7FA-CA082069F7F7}" dt="2026-10-10T22:27:00.382" v="8592" actId="207"/>
        <pc:sldMkLst>
          <pc:docMk/>
          <pc:sldMk cId="1644574023" sldId="487"/>
        </pc:sldMkLst>
        <pc:spChg chg="mod">
          <ac:chgData name="Francesco Bellotti" userId="f453232b-f87d-4756-9d8b-c09bc835cc42" providerId="ADAL" clId="{C7FEA3FA-4936-41E1-B7FA-CA082069F7F7}" dt="2026-10-09T17:43:29.619" v="7832" actId="20577"/>
          <ac:spMkLst>
            <pc:docMk/>
            <pc:sldMk cId="1644574023" sldId="487"/>
            <ac:spMk id="2" creationId="{8EC7F93B-C763-EAA6-9815-41D8BD01F5C2}"/>
          </ac:spMkLst>
        </pc:spChg>
        <pc:spChg chg="mod">
          <ac:chgData name="Francesco Bellotti" userId="f453232b-f87d-4756-9d8b-c09bc835cc42" providerId="ADAL" clId="{C7FEA3FA-4936-41E1-B7FA-CA082069F7F7}" dt="2026-10-10T22:27:00.382" v="8592" actId="207"/>
          <ac:spMkLst>
            <pc:docMk/>
            <pc:sldMk cId="1644574023" sldId="487"/>
            <ac:spMk id="4" creationId="{DFA6BE33-81D6-7192-EC7F-DB52D9142F3C}"/>
          </ac:spMkLst>
        </pc:spChg>
      </pc:sldChg>
      <pc:sldChg chg="addSp modSp mod">
        <pc:chgData name="Francesco Bellotti" userId="f453232b-f87d-4756-9d8b-c09bc835cc42" providerId="ADAL" clId="{C7FEA3FA-4936-41E1-B7FA-CA082069F7F7}" dt="2026-10-10T22:28:47.887" v="8608" actId="13926"/>
        <pc:sldMkLst>
          <pc:docMk/>
          <pc:sldMk cId="3977574308" sldId="490"/>
        </pc:sldMkLst>
        <pc:spChg chg="add mod">
          <ac:chgData name="Francesco Bellotti" userId="f453232b-f87d-4756-9d8b-c09bc835cc42" providerId="ADAL" clId="{C7FEA3FA-4936-41E1-B7FA-CA082069F7F7}" dt="2026-10-10T22:28:47.887" v="8608" actId="13926"/>
          <ac:spMkLst>
            <pc:docMk/>
            <pc:sldMk cId="3977574308" sldId="490"/>
            <ac:spMk id="5" creationId="{406FECCB-3FB2-AD64-90AB-AE5FC7B1A8FE}"/>
          </ac:spMkLst>
        </pc:spChg>
      </pc:sldChg>
      <pc:sldChg chg="modSp mod ord">
        <pc:chgData name="Francesco Bellotti" userId="f453232b-f87d-4756-9d8b-c09bc835cc42" providerId="ADAL" clId="{C7FEA3FA-4936-41E1-B7FA-CA082069F7F7}" dt="2026-10-09T22:36:24.545" v="7861" actId="113"/>
        <pc:sldMkLst>
          <pc:docMk/>
          <pc:sldMk cId="1013271233" sldId="493"/>
        </pc:sldMkLst>
        <pc:spChg chg="mod">
          <ac:chgData name="Francesco Bellotti" userId="f453232b-f87d-4756-9d8b-c09bc835cc42" providerId="ADAL" clId="{C7FEA3FA-4936-41E1-B7FA-CA082069F7F7}" dt="2026-10-09T22:35:44.558" v="7857" actId="113"/>
          <ac:spMkLst>
            <pc:docMk/>
            <pc:sldMk cId="1013271233" sldId="493"/>
            <ac:spMk id="3" creationId="{CBB5C851-834B-A744-8402-EC5B0967AA6E}"/>
          </ac:spMkLst>
        </pc:spChg>
        <pc:spChg chg="mod">
          <ac:chgData name="Francesco Bellotti" userId="f453232b-f87d-4756-9d8b-c09bc835cc42" providerId="ADAL" clId="{C7FEA3FA-4936-41E1-B7FA-CA082069F7F7}" dt="2026-10-09T22:36:24.545" v="7861" actId="113"/>
          <ac:spMkLst>
            <pc:docMk/>
            <pc:sldMk cId="1013271233" sldId="493"/>
            <ac:spMk id="4" creationId="{3A92D5BC-C372-3018-6AD0-E601F85C5111}"/>
          </ac:spMkLst>
        </pc:spChg>
      </pc:sldChg>
      <pc:sldChg chg="modSp mod">
        <pc:chgData name="Francesco Bellotti" userId="f453232b-f87d-4756-9d8b-c09bc835cc42" providerId="ADAL" clId="{C7FEA3FA-4936-41E1-B7FA-CA082069F7F7}" dt="2026-10-09T22:37:26.126" v="7864" actId="13926"/>
        <pc:sldMkLst>
          <pc:docMk/>
          <pc:sldMk cId="141386819" sldId="494"/>
        </pc:sldMkLst>
        <pc:spChg chg="mod">
          <ac:chgData name="Francesco Bellotti" userId="f453232b-f87d-4756-9d8b-c09bc835cc42" providerId="ADAL" clId="{C7FEA3FA-4936-41E1-B7FA-CA082069F7F7}" dt="2026-10-09T22:37:26.126" v="7864" actId="13926"/>
          <ac:spMkLst>
            <pc:docMk/>
            <pc:sldMk cId="141386819" sldId="494"/>
            <ac:spMk id="3" creationId="{EE6BD6DB-536A-BE1E-C3A1-5C1C3DD5392F}"/>
          </ac:spMkLst>
        </pc:spChg>
      </pc:sldChg>
      <pc:sldChg chg="modSp mod">
        <pc:chgData name="Francesco Bellotti" userId="f453232b-f87d-4756-9d8b-c09bc835cc42" providerId="ADAL" clId="{C7FEA3FA-4936-41E1-B7FA-CA082069F7F7}" dt="2026-10-10T08:16:21.456" v="7867" actId="113"/>
        <pc:sldMkLst>
          <pc:docMk/>
          <pc:sldMk cId="2180139813" sldId="495"/>
        </pc:sldMkLst>
        <pc:spChg chg="mod">
          <ac:chgData name="Francesco Bellotti" userId="f453232b-f87d-4756-9d8b-c09bc835cc42" providerId="ADAL" clId="{C7FEA3FA-4936-41E1-B7FA-CA082069F7F7}" dt="2026-10-10T08:16:21.456" v="7867" actId="113"/>
          <ac:spMkLst>
            <pc:docMk/>
            <pc:sldMk cId="2180139813" sldId="495"/>
            <ac:spMk id="3" creationId="{D8A31AD5-70A4-B6E5-94AF-5E0292300616}"/>
          </ac:spMkLst>
        </pc:spChg>
      </pc:sldChg>
      <pc:sldChg chg="modSp mod">
        <pc:chgData name="Francesco Bellotti" userId="f453232b-f87d-4756-9d8b-c09bc835cc42" providerId="ADAL" clId="{C7FEA3FA-4936-41E1-B7FA-CA082069F7F7}" dt="2026-10-10T08:33:45.742" v="7874" actId="113"/>
        <pc:sldMkLst>
          <pc:docMk/>
          <pc:sldMk cId="3210242575" sldId="497"/>
        </pc:sldMkLst>
        <pc:spChg chg="mod">
          <ac:chgData name="Francesco Bellotti" userId="f453232b-f87d-4756-9d8b-c09bc835cc42" providerId="ADAL" clId="{C7FEA3FA-4936-41E1-B7FA-CA082069F7F7}" dt="2026-10-10T08:32:37.852" v="7868" actId="13926"/>
          <ac:spMkLst>
            <pc:docMk/>
            <pc:sldMk cId="3210242575" sldId="497"/>
            <ac:spMk id="2" creationId="{9C171DC7-D139-8332-1673-35CD6A314BE3}"/>
          </ac:spMkLst>
        </pc:spChg>
        <pc:spChg chg="mod">
          <ac:chgData name="Francesco Bellotti" userId="f453232b-f87d-4756-9d8b-c09bc835cc42" providerId="ADAL" clId="{C7FEA3FA-4936-41E1-B7FA-CA082069F7F7}" dt="2026-10-10T08:33:45.742" v="7874" actId="113"/>
          <ac:spMkLst>
            <pc:docMk/>
            <pc:sldMk cId="3210242575" sldId="497"/>
            <ac:spMk id="3" creationId="{B540595C-D055-B4BD-D8CB-1D6309458807}"/>
          </ac:spMkLst>
        </pc:spChg>
      </pc:sldChg>
      <pc:sldChg chg="modSp mod">
        <pc:chgData name="Francesco Bellotti" userId="f453232b-f87d-4756-9d8b-c09bc835cc42" providerId="ADAL" clId="{C7FEA3FA-4936-41E1-B7FA-CA082069F7F7}" dt="2026-10-10T08:34:19.532" v="7876" actId="13926"/>
        <pc:sldMkLst>
          <pc:docMk/>
          <pc:sldMk cId="2685610392" sldId="498"/>
        </pc:sldMkLst>
        <pc:spChg chg="mod">
          <ac:chgData name="Francesco Bellotti" userId="f453232b-f87d-4756-9d8b-c09bc835cc42" providerId="ADAL" clId="{C7FEA3FA-4936-41E1-B7FA-CA082069F7F7}" dt="2026-10-10T08:34:19.532" v="7876" actId="13926"/>
          <ac:spMkLst>
            <pc:docMk/>
            <pc:sldMk cId="2685610392" sldId="498"/>
            <ac:spMk id="3" creationId="{4A510C7E-07D0-1AA6-2761-67BA7F4C5B67}"/>
          </ac:spMkLst>
        </pc:spChg>
      </pc:sldChg>
      <pc:sldChg chg="modSp mod">
        <pc:chgData name="Francesco Bellotti" userId="f453232b-f87d-4756-9d8b-c09bc835cc42" providerId="ADAL" clId="{C7FEA3FA-4936-41E1-B7FA-CA082069F7F7}" dt="2026-10-09T16:46:36.347" v="7637" actId="1076"/>
        <pc:sldMkLst>
          <pc:docMk/>
          <pc:sldMk cId="4066008060" sldId="501"/>
        </pc:sldMkLst>
        <pc:picChg chg="mod">
          <ac:chgData name="Francesco Bellotti" userId="f453232b-f87d-4756-9d8b-c09bc835cc42" providerId="ADAL" clId="{C7FEA3FA-4936-41E1-B7FA-CA082069F7F7}" dt="2026-10-09T16:46:36.347" v="7637" actId="1076"/>
          <ac:picMkLst>
            <pc:docMk/>
            <pc:sldMk cId="4066008060" sldId="501"/>
            <ac:picMk id="9" creationId="{D58EC6B1-825E-666E-96C7-85FA8A237F12}"/>
          </ac:picMkLst>
        </pc:picChg>
      </pc:sldChg>
      <pc:sldChg chg="delSp modSp add mod setBg modNotes modNotesTx">
        <pc:chgData name="Francesco Bellotti" userId="f453232b-f87d-4756-9d8b-c09bc835cc42" providerId="ADAL" clId="{C7FEA3FA-4936-41E1-B7FA-CA082069F7F7}" dt="2026-10-09T14:22:12.116" v="7430" actId="20577"/>
        <pc:sldMkLst>
          <pc:docMk/>
          <pc:sldMk cId="0" sldId="503"/>
        </pc:sldMkLst>
        <pc:spChg chg="mod">
          <ac:chgData name="Francesco Bellotti" userId="f453232b-f87d-4756-9d8b-c09bc835cc42" providerId="ADAL" clId="{C7FEA3FA-4936-41E1-B7FA-CA082069F7F7}" dt="2026-10-09T14:21:15.910" v="7427" actId="20577"/>
          <ac:spMkLst>
            <pc:docMk/>
            <pc:sldMk cId="0" sldId="503"/>
            <ac:spMk id="3337" creationId="{F53C95C7-2F48-428A-9C26-4B554286E149}"/>
          </ac:spMkLst>
        </pc:spChg>
        <pc:spChg chg="mod">
          <ac:chgData name="Francesco Bellotti" userId="f453232b-f87d-4756-9d8b-c09bc835cc42" providerId="ADAL" clId="{C7FEA3FA-4936-41E1-B7FA-CA082069F7F7}" dt="2026-10-09T14:21:07.503" v="7407" actId="113"/>
          <ac:spMkLst>
            <pc:docMk/>
            <pc:sldMk cId="0" sldId="503"/>
            <ac:spMk id="3338" creationId="{E11FC509-88A3-6CF4-C6EC-D2A1E50D9CB4}"/>
          </ac:spMkLst>
        </pc:spChg>
      </pc:sldChg>
      <pc:sldChg chg="addSp delSp modSp mod">
        <pc:chgData name="Francesco Bellotti" userId="f453232b-f87d-4756-9d8b-c09bc835cc42" providerId="ADAL" clId="{C7FEA3FA-4936-41E1-B7FA-CA082069F7F7}" dt="2026-10-09T17:31:06.868" v="7802" actId="11529"/>
        <pc:sldMkLst>
          <pc:docMk/>
          <pc:sldMk cId="12471223" sldId="504"/>
        </pc:sldMkLst>
        <pc:spChg chg="add mod">
          <ac:chgData name="Francesco Bellotti" userId="f453232b-f87d-4756-9d8b-c09bc835cc42" providerId="ADAL" clId="{C7FEA3FA-4936-41E1-B7FA-CA082069F7F7}" dt="2026-10-09T17:23:18.807" v="7760" actId="14100"/>
          <ac:spMkLst>
            <pc:docMk/>
            <pc:sldMk cId="12471223" sldId="504"/>
            <ac:spMk id="8" creationId="{8F84824A-9FBF-4969-27D6-8218DC576BEB}"/>
          </ac:spMkLst>
        </pc:spChg>
        <pc:spChg chg="add mod">
          <ac:chgData name="Francesco Bellotti" userId="f453232b-f87d-4756-9d8b-c09bc835cc42" providerId="ADAL" clId="{C7FEA3FA-4936-41E1-B7FA-CA082069F7F7}" dt="2026-10-09T17:28:26.096" v="7768" actId="1076"/>
          <ac:spMkLst>
            <pc:docMk/>
            <pc:sldMk cId="12471223" sldId="504"/>
            <ac:spMk id="12" creationId="{F662E180-BABA-ABCE-20DA-5CF6C994A1AD}"/>
          </ac:spMkLst>
        </pc:spChg>
        <pc:spChg chg="add mod">
          <ac:chgData name="Francesco Bellotti" userId="f453232b-f87d-4756-9d8b-c09bc835cc42" providerId="ADAL" clId="{C7FEA3FA-4936-41E1-B7FA-CA082069F7F7}" dt="2026-10-09T17:31:00.148" v="7801" actId="113"/>
          <ac:spMkLst>
            <pc:docMk/>
            <pc:sldMk cId="12471223" sldId="504"/>
            <ac:spMk id="16" creationId="{C4C1B9CA-2AD4-C1E9-9270-CFEBC5577F03}"/>
          </ac:spMkLst>
        </pc:spChg>
        <pc:picChg chg="add mod ord">
          <ac:chgData name="Francesco Bellotti" userId="f453232b-f87d-4756-9d8b-c09bc835cc42" providerId="ADAL" clId="{C7FEA3FA-4936-41E1-B7FA-CA082069F7F7}" dt="2026-10-09T17:21:37.258" v="7733" actId="14100"/>
          <ac:picMkLst>
            <pc:docMk/>
            <pc:sldMk cId="12471223" sldId="504"/>
            <ac:picMk id="5" creationId="{6B378885-DADB-AF7E-8490-72980C28A531}"/>
          </ac:picMkLst>
        </pc:picChg>
        <pc:cxnChg chg="add">
          <ac:chgData name="Francesco Bellotti" userId="f453232b-f87d-4756-9d8b-c09bc835cc42" providerId="ADAL" clId="{C7FEA3FA-4936-41E1-B7FA-CA082069F7F7}" dt="2026-10-09T17:23:25.097" v="7761" actId="11529"/>
          <ac:cxnSpMkLst>
            <pc:docMk/>
            <pc:sldMk cId="12471223" sldId="504"/>
            <ac:cxnSpMk id="10" creationId="{1DA3BA51-8F6C-9ACC-0E3E-9FAC6505EB26}"/>
          </ac:cxnSpMkLst>
        </pc:cxnChg>
        <pc:cxnChg chg="add mod">
          <ac:chgData name="Francesco Bellotti" userId="f453232b-f87d-4756-9d8b-c09bc835cc42" providerId="ADAL" clId="{C7FEA3FA-4936-41E1-B7FA-CA082069F7F7}" dt="2026-10-09T17:28:35.376" v="7771" actId="14100"/>
          <ac:cxnSpMkLst>
            <pc:docMk/>
            <pc:sldMk cId="12471223" sldId="504"/>
            <ac:cxnSpMk id="13" creationId="{7A22B8A2-626D-6107-5F30-500C47E1496E}"/>
          </ac:cxnSpMkLst>
        </pc:cxnChg>
        <pc:cxnChg chg="add">
          <ac:chgData name="Francesco Bellotti" userId="f453232b-f87d-4756-9d8b-c09bc835cc42" providerId="ADAL" clId="{C7FEA3FA-4936-41E1-B7FA-CA082069F7F7}" dt="2026-10-09T17:31:06.868" v="7802" actId="11529"/>
          <ac:cxnSpMkLst>
            <pc:docMk/>
            <pc:sldMk cId="12471223" sldId="504"/>
            <ac:cxnSpMk id="18" creationId="{8A94A9A8-C989-9B22-70C3-154152D71D3D}"/>
          </ac:cxnSpMkLst>
        </pc:cxnChg>
      </pc:sldChg>
      <pc:sldChg chg="modSp add mod">
        <pc:chgData name="Francesco Bellotti" userId="f453232b-f87d-4756-9d8b-c09bc835cc42" providerId="ADAL" clId="{C7FEA3FA-4936-41E1-B7FA-CA082069F7F7}" dt="2026-10-06T18:50:00.809" v="5998" actId="13926"/>
        <pc:sldMkLst>
          <pc:docMk/>
          <pc:sldMk cId="3903502458" sldId="505"/>
        </pc:sldMkLst>
        <pc:spChg chg="mod">
          <ac:chgData name="Francesco Bellotti" userId="f453232b-f87d-4756-9d8b-c09bc835cc42" providerId="ADAL" clId="{C7FEA3FA-4936-41E1-B7FA-CA082069F7F7}" dt="2026-10-06T18:50:00.809" v="5998" actId="13926"/>
          <ac:spMkLst>
            <pc:docMk/>
            <pc:sldMk cId="3903502458" sldId="505"/>
            <ac:spMk id="3" creationId="{00000000-0000-0000-0000-000000000000}"/>
          </ac:spMkLst>
        </pc:spChg>
      </pc:sldChg>
      <pc:sldChg chg="delSp modSp add mod">
        <pc:chgData name="Francesco Bellotti" userId="f453232b-f87d-4756-9d8b-c09bc835cc42" providerId="ADAL" clId="{C7FEA3FA-4936-41E1-B7FA-CA082069F7F7}" dt="2026-10-09T14:14:30.097" v="7398" actId="478"/>
        <pc:sldMkLst>
          <pc:docMk/>
          <pc:sldMk cId="3953919856" sldId="506"/>
        </pc:sldMkLst>
        <pc:spChg chg="mod">
          <ac:chgData name="Francesco Bellotti" userId="f453232b-f87d-4756-9d8b-c09bc835cc42" providerId="ADAL" clId="{C7FEA3FA-4936-41E1-B7FA-CA082069F7F7}" dt="2026-10-09T14:14:15.695" v="7397" actId="404"/>
          <ac:spMkLst>
            <pc:docMk/>
            <pc:sldMk cId="3953919856" sldId="506"/>
            <ac:spMk id="18" creationId="{00000000-0000-0000-0000-000000000000}"/>
          </ac:spMkLst>
        </pc:spChg>
      </pc:sldChg>
      <pc:sldChg chg="addSp modSp new mod">
        <pc:chgData name="Francesco Bellotti" userId="f453232b-f87d-4756-9d8b-c09bc835cc42" providerId="ADAL" clId="{C7FEA3FA-4936-41E1-B7FA-CA082069F7F7}" dt="2026-10-11T18:15:55.746" v="9621" actId="404"/>
        <pc:sldMkLst>
          <pc:docMk/>
          <pc:sldMk cId="4261206315" sldId="507"/>
        </pc:sldMkLst>
        <pc:spChg chg="mod">
          <ac:chgData name="Francesco Bellotti" userId="f453232b-f87d-4756-9d8b-c09bc835cc42" providerId="ADAL" clId="{C7FEA3FA-4936-41E1-B7FA-CA082069F7F7}" dt="2026-10-10T22:32:51.225" v="8622" actId="20577"/>
          <ac:spMkLst>
            <pc:docMk/>
            <pc:sldMk cId="4261206315" sldId="507"/>
            <ac:spMk id="2" creationId="{676452A1-2838-180C-BC0D-4E34C82C5E81}"/>
          </ac:spMkLst>
        </pc:spChg>
        <pc:spChg chg="mod">
          <ac:chgData name="Francesco Bellotti" userId="f453232b-f87d-4756-9d8b-c09bc835cc42" providerId="ADAL" clId="{C7FEA3FA-4936-41E1-B7FA-CA082069F7F7}" dt="2026-10-11T18:15:55.746" v="9621" actId="404"/>
          <ac:spMkLst>
            <pc:docMk/>
            <pc:sldMk cId="4261206315" sldId="507"/>
            <ac:spMk id="3" creationId="{3CC44DFF-1530-CCF2-60DA-7169BAA4D3C5}"/>
          </ac:spMkLst>
        </pc:spChg>
        <pc:spChg chg="add mod">
          <ac:chgData name="Francesco Bellotti" userId="f453232b-f87d-4756-9d8b-c09bc835cc42" providerId="ADAL" clId="{C7FEA3FA-4936-41E1-B7FA-CA082069F7F7}" dt="2026-10-11T17:52:19.497" v="9133" actId="1076"/>
          <ac:spMkLst>
            <pc:docMk/>
            <pc:sldMk cId="4261206315" sldId="507"/>
            <ac:spMk id="5" creationId="{DB60B8A5-EB5B-95E9-86CE-F261B51BB642}"/>
          </ac:spMkLst>
        </pc:spChg>
      </pc:sldChg>
      <pc:sldChg chg="addSp modSp new mod">
        <pc:chgData name="Francesco Bellotti" userId="f453232b-f87d-4756-9d8b-c09bc835cc42" providerId="ADAL" clId="{C7FEA3FA-4936-41E1-B7FA-CA082069F7F7}" dt="2026-10-11T17:58:07.021" v="9219" actId="404"/>
        <pc:sldMkLst>
          <pc:docMk/>
          <pc:sldMk cId="2358296391" sldId="508"/>
        </pc:sldMkLst>
        <pc:spChg chg="mod">
          <ac:chgData name="Francesco Bellotti" userId="f453232b-f87d-4756-9d8b-c09bc835cc42" providerId="ADAL" clId="{C7FEA3FA-4936-41E1-B7FA-CA082069F7F7}" dt="2026-10-10T22:40:34.365" v="8833" actId="20577"/>
          <ac:spMkLst>
            <pc:docMk/>
            <pc:sldMk cId="2358296391" sldId="508"/>
            <ac:spMk id="2" creationId="{B7F0CE48-AB51-B014-9A95-720D9D59644A}"/>
          </ac:spMkLst>
        </pc:spChg>
        <pc:spChg chg="mod">
          <ac:chgData name="Francesco Bellotti" userId="f453232b-f87d-4756-9d8b-c09bc835cc42" providerId="ADAL" clId="{C7FEA3FA-4936-41E1-B7FA-CA082069F7F7}" dt="2026-10-11T17:58:07.021" v="9219" actId="404"/>
          <ac:spMkLst>
            <pc:docMk/>
            <pc:sldMk cId="2358296391" sldId="508"/>
            <ac:spMk id="3" creationId="{F18FF9F5-C7EB-8AD8-A9A1-5F93FF997331}"/>
          </ac:spMkLst>
        </pc:spChg>
        <pc:spChg chg="add mod">
          <ac:chgData name="Francesco Bellotti" userId="f453232b-f87d-4756-9d8b-c09bc835cc42" providerId="ADAL" clId="{C7FEA3FA-4936-41E1-B7FA-CA082069F7F7}" dt="2026-10-10T22:43:33.866" v="8932" actId="1076"/>
          <ac:spMkLst>
            <pc:docMk/>
            <pc:sldMk cId="2358296391" sldId="508"/>
            <ac:spMk id="5" creationId="{169DD700-9BF4-A6BE-BAF8-D2F5E1976E64}"/>
          </ac:spMkLst>
        </pc:spChg>
      </pc:sldChg>
      <pc:sldChg chg="modSp new mod">
        <pc:chgData name="Francesco Bellotti" userId="f453232b-f87d-4756-9d8b-c09bc835cc42" providerId="ADAL" clId="{C7FEA3FA-4936-41E1-B7FA-CA082069F7F7}" dt="2026-10-11T17:58:19.075" v="9220" actId="20577"/>
        <pc:sldMkLst>
          <pc:docMk/>
          <pc:sldMk cId="2205225287" sldId="509"/>
        </pc:sldMkLst>
        <pc:spChg chg="mod">
          <ac:chgData name="Francesco Bellotti" userId="f453232b-f87d-4756-9d8b-c09bc835cc42" providerId="ADAL" clId="{C7FEA3FA-4936-41E1-B7FA-CA082069F7F7}" dt="2026-10-10T22:43:07.211" v="8920" actId="20577"/>
          <ac:spMkLst>
            <pc:docMk/>
            <pc:sldMk cId="2205225287" sldId="509"/>
            <ac:spMk id="2" creationId="{BD325EAE-2768-8AFB-719C-8504BFFD6D24}"/>
          </ac:spMkLst>
        </pc:spChg>
        <pc:spChg chg="mod">
          <ac:chgData name="Francesco Bellotti" userId="f453232b-f87d-4756-9d8b-c09bc835cc42" providerId="ADAL" clId="{C7FEA3FA-4936-41E1-B7FA-CA082069F7F7}" dt="2026-10-11T17:58:19.075" v="9220" actId="20577"/>
          <ac:spMkLst>
            <pc:docMk/>
            <pc:sldMk cId="2205225287" sldId="509"/>
            <ac:spMk id="3" creationId="{F2CE7079-F708-4335-9D85-171C45C18085}"/>
          </ac:spMkLst>
        </pc:spChg>
      </pc:sldChg>
      <pc:sldChg chg="addSp modSp new mod">
        <pc:chgData name="Francesco Bellotti" userId="f453232b-f87d-4756-9d8b-c09bc835cc42" providerId="ADAL" clId="{C7FEA3FA-4936-41E1-B7FA-CA082069F7F7}" dt="2026-10-11T17:58:44.451" v="9221" actId="1076"/>
        <pc:sldMkLst>
          <pc:docMk/>
          <pc:sldMk cId="2085154385" sldId="510"/>
        </pc:sldMkLst>
        <pc:spChg chg="mod">
          <ac:chgData name="Francesco Bellotti" userId="f453232b-f87d-4756-9d8b-c09bc835cc42" providerId="ADAL" clId="{C7FEA3FA-4936-41E1-B7FA-CA082069F7F7}" dt="2026-10-10T22:45:47.275" v="8967"/>
          <ac:spMkLst>
            <pc:docMk/>
            <pc:sldMk cId="2085154385" sldId="510"/>
            <ac:spMk id="2" creationId="{919CC542-2BCA-06EE-5979-CEBE2D351E85}"/>
          </ac:spMkLst>
        </pc:spChg>
        <pc:spChg chg="mod">
          <ac:chgData name="Francesco Bellotti" userId="f453232b-f87d-4756-9d8b-c09bc835cc42" providerId="ADAL" clId="{C7FEA3FA-4936-41E1-B7FA-CA082069F7F7}" dt="2026-10-11T17:57:12.421" v="9185" actId="20577"/>
          <ac:spMkLst>
            <pc:docMk/>
            <pc:sldMk cId="2085154385" sldId="510"/>
            <ac:spMk id="3" creationId="{04C675D9-8AE6-0316-2618-B33459BA96CA}"/>
          </ac:spMkLst>
        </pc:spChg>
        <pc:spChg chg="add mod">
          <ac:chgData name="Francesco Bellotti" userId="f453232b-f87d-4756-9d8b-c09bc835cc42" providerId="ADAL" clId="{C7FEA3FA-4936-41E1-B7FA-CA082069F7F7}" dt="2026-10-11T17:58:44.451" v="9221" actId="1076"/>
          <ac:spMkLst>
            <pc:docMk/>
            <pc:sldMk cId="2085154385" sldId="510"/>
            <ac:spMk id="5" creationId="{81D57E70-79F1-19E5-C05C-AFF6D41444EF}"/>
          </ac:spMkLst>
        </pc:spChg>
        <pc:spChg chg="add mod">
          <ac:chgData name="Francesco Bellotti" userId="f453232b-f87d-4756-9d8b-c09bc835cc42" providerId="ADAL" clId="{C7FEA3FA-4936-41E1-B7FA-CA082069F7F7}" dt="2026-10-10T22:51:37.846" v="9097" actId="1076"/>
          <ac:spMkLst>
            <pc:docMk/>
            <pc:sldMk cId="2085154385" sldId="510"/>
            <ac:spMk id="7" creationId="{F8958C4A-F5E7-3D12-B225-D9B926CDA9AC}"/>
          </ac:spMkLst>
        </pc:spChg>
      </pc:sldChg>
      <pc:sldChg chg="delSp modSp new mod">
        <pc:chgData name="Francesco Bellotti" userId="f453232b-f87d-4756-9d8b-c09bc835cc42" providerId="ADAL" clId="{C7FEA3FA-4936-41E1-B7FA-CA082069F7F7}" dt="2026-10-11T17:59:10.230" v="9223" actId="478"/>
        <pc:sldMkLst>
          <pc:docMk/>
          <pc:sldMk cId="3834519640" sldId="511"/>
        </pc:sldMkLst>
        <pc:spChg chg="mod">
          <ac:chgData name="Francesco Bellotti" userId="f453232b-f87d-4756-9d8b-c09bc835cc42" providerId="ADAL" clId="{C7FEA3FA-4936-41E1-B7FA-CA082069F7F7}" dt="2026-10-10T22:51:54.862" v="9104" actId="20577"/>
          <ac:spMkLst>
            <pc:docMk/>
            <pc:sldMk cId="3834519640" sldId="511"/>
            <ac:spMk id="2" creationId="{07924950-47D9-7E76-D5EF-B79DC05DB68E}"/>
          </ac:spMkLst>
        </pc:spChg>
        <pc:spChg chg="del mod">
          <ac:chgData name="Francesco Bellotti" userId="f453232b-f87d-4756-9d8b-c09bc835cc42" providerId="ADAL" clId="{C7FEA3FA-4936-41E1-B7FA-CA082069F7F7}" dt="2026-10-11T17:59:10.230" v="9223" actId="478"/>
          <ac:spMkLst>
            <pc:docMk/>
            <pc:sldMk cId="3834519640" sldId="511"/>
            <ac:spMk id="3" creationId="{15CD87E6-57BE-1716-19BB-752FCAE27F6B}"/>
          </ac:spMkLst>
        </pc:spChg>
      </pc:sldChg>
      <pc:sldChg chg="delSp modSp new mod">
        <pc:chgData name="Francesco Bellotti" userId="f453232b-f87d-4756-9d8b-c09bc835cc42" providerId="ADAL" clId="{C7FEA3FA-4936-41E1-B7FA-CA082069F7F7}" dt="2026-10-11T17:59:23.142" v="9225" actId="478"/>
        <pc:sldMkLst>
          <pc:docMk/>
          <pc:sldMk cId="2516874098" sldId="512"/>
        </pc:sldMkLst>
        <pc:spChg chg="mod">
          <ac:chgData name="Francesco Bellotti" userId="f453232b-f87d-4756-9d8b-c09bc835cc42" providerId="ADAL" clId="{C7FEA3FA-4936-41E1-B7FA-CA082069F7F7}" dt="2026-10-10T22:52:01.191" v="9108" actId="20577"/>
          <ac:spMkLst>
            <pc:docMk/>
            <pc:sldMk cId="2516874098" sldId="512"/>
            <ac:spMk id="2" creationId="{18E1C21B-D114-56B8-A1F6-9247651D3A5A}"/>
          </ac:spMkLst>
        </pc:spChg>
        <pc:spChg chg="del mod">
          <ac:chgData name="Francesco Bellotti" userId="f453232b-f87d-4756-9d8b-c09bc835cc42" providerId="ADAL" clId="{C7FEA3FA-4936-41E1-B7FA-CA082069F7F7}" dt="2026-10-11T17:59:23.142" v="9225" actId="478"/>
          <ac:spMkLst>
            <pc:docMk/>
            <pc:sldMk cId="2516874098" sldId="512"/>
            <ac:spMk id="3" creationId="{B036429B-DADE-FD88-C3B7-5D42B37CF929}"/>
          </ac:spMkLst>
        </pc:spChg>
      </pc:sldChg>
      <pc:sldChg chg="delSp modSp new mod">
        <pc:chgData name="Francesco Bellotti" userId="f453232b-f87d-4756-9d8b-c09bc835cc42" providerId="ADAL" clId="{C7FEA3FA-4936-41E1-B7FA-CA082069F7F7}" dt="2026-10-11T17:59:28.841" v="9227" actId="478"/>
        <pc:sldMkLst>
          <pc:docMk/>
          <pc:sldMk cId="1357553668" sldId="513"/>
        </pc:sldMkLst>
        <pc:spChg chg="mod">
          <ac:chgData name="Francesco Bellotti" userId="f453232b-f87d-4756-9d8b-c09bc835cc42" providerId="ADAL" clId="{C7FEA3FA-4936-41E1-B7FA-CA082069F7F7}" dt="2026-10-10T22:52:07.253" v="9116" actId="20577"/>
          <ac:spMkLst>
            <pc:docMk/>
            <pc:sldMk cId="1357553668" sldId="513"/>
            <ac:spMk id="2" creationId="{BF0383F8-BDBA-D014-3590-86636E0144D0}"/>
          </ac:spMkLst>
        </pc:spChg>
        <pc:spChg chg="del mod">
          <ac:chgData name="Francesco Bellotti" userId="f453232b-f87d-4756-9d8b-c09bc835cc42" providerId="ADAL" clId="{C7FEA3FA-4936-41E1-B7FA-CA082069F7F7}" dt="2026-10-11T17:59:28.841" v="9227" actId="478"/>
          <ac:spMkLst>
            <pc:docMk/>
            <pc:sldMk cId="1357553668" sldId="513"/>
            <ac:spMk id="3" creationId="{A658E3DB-231E-EBF9-7236-33123A0E0F77}"/>
          </ac:spMkLst>
        </pc:spChg>
      </pc:sldChg>
      <pc:sldChg chg="addSp delSp modSp new mod modClrScheme chgLayout">
        <pc:chgData name="Francesco Bellotti" userId="f453232b-f87d-4756-9d8b-c09bc835cc42" providerId="ADAL" clId="{C7FEA3FA-4936-41E1-B7FA-CA082069F7F7}" dt="2026-10-11T18:17:59.848" v="9649"/>
        <pc:sldMkLst>
          <pc:docMk/>
          <pc:sldMk cId="3445133996" sldId="514"/>
        </pc:sldMkLst>
        <pc:spChg chg="mod ord">
          <ac:chgData name="Francesco Bellotti" userId="f453232b-f87d-4756-9d8b-c09bc835cc42" providerId="ADAL" clId="{C7FEA3FA-4936-41E1-B7FA-CA082069F7F7}" dt="2026-10-11T18:17:58.199" v="9648" actId="700"/>
          <ac:spMkLst>
            <pc:docMk/>
            <pc:sldMk cId="3445133996" sldId="514"/>
            <ac:spMk id="2" creationId="{C9E0B595-449D-13A9-4090-3E4C11388413}"/>
          </ac:spMkLst>
        </pc:spChg>
        <pc:spChg chg="del mod">
          <ac:chgData name="Francesco Bellotti" userId="f453232b-f87d-4756-9d8b-c09bc835cc42" providerId="ADAL" clId="{C7FEA3FA-4936-41E1-B7FA-CA082069F7F7}" dt="2026-10-11T17:59:35.051" v="9229" actId="478"/>
          <ac:spMkLst>
            <pc:docMk/>
            <pc:sldMk cId="3445133996" sldId="514"/>
            <ac:spMk id="3" creationId="{19160A65-5E2B-B461-604F-F35B052CB4D7}"/>
          </ac:spMkLst>
        </pc:spChg>
        <pc:spChg chg="add mod ord">
          <ac:chgData name="Francesco Bellotti" userId="f453232b-f87d-4756-9d8b-c09bc835cc42" providerId="ADAL" clId="{C7FEA3FA-4936-41E1-B7FA-CA082069F7F7}" dt="2026-10-11T18:17:59.848" v="9649"/>
          <ac:spMkLst>
            <pc:docMk/>
            <pc:sldMk cId="3445133996" sldId="514"/>
            <ac:spMk id="4" creationId="{8141988D-EB25-C863-58D9-5523C6AFA80C}"/>
          </ac:spMkLst>
        </pc:spChg>
      </pc:sldChg>
      <pc:sldChg chg="addSp modSp new mod">
        <pc:chgData name="Francesco Bellotti" userId="f453232b-f87d-4756-9d8b-c09bc835cc42" providerId="ADAL" clId="{C7FEA3FA-4936-41E1-B7FA-CA082069F7F7}" dt="2026-10-11T20:54:40.325" v="10155" actId="11529"/>
        <pc:sldMkLst>
          <pc:docMk/>
          <pc:sldMk cId="2004712969" sldId="515"/>
        </pc:sldMkLst>
        <pc:spChg chg="mod">
          <ac:chgData name="Francesco Bellotti" userId="f453232b-f87d-4756-9d8b-c09bc835cc42" providerId="ADAL" clId="{C7FEA3FA-4936-41E1-B7FA-CA082069F7F7}" dt="2026-10-11T18:16:38.731" v="9633" actId="20577"/>
          <ac:spMkLst>
            <pc:docMk/>
            <pc:sldMk cId="2004712969" sldId="515"/>
            <ac:spMk id="2" creationId="{18C3F8DE-26B3-24F3-3F2E-DC6C55AED2B3}"/>
          </ac:spMkLst>
        </pc:spChg>
        <pc:spChg chg="mod">
          <ac:chgData name="Francesco Bellotti" userId="f453232b-f87d-4756-9d8b-c09bc835cc42" providerId="ADAL" clId="{C7FEA3FA-4936-41E1-B7FA-CA082069F7F7}" dt="2026-10-11T20:21:01.958" v="9839" actId="20577"/>
          <ac:spMkLst>
            <pc:docMk/>
            <pc:sldMk cId="2004712969" sldId="515"/>
            <ac:spMk id="3" creationId="{A563CD2D-8E3B-17BB-BBA0-8CB848846248}"/>
          </ac:spMkLst>
        </pc:spChg>
        <pc:spChg chg="add mod">
          <ac:chgData name="Francesco Bellotti" userId="f453232b-f87d-4756-9d8b-c09bc835cc42" providerId="ADAL" clId="{C7FEA3FA-4936-41E1-B7FA-CA082069F7F7}" dt="2026-10-11T20:27:26.794" v="9924" actId="1076"/>
          <ac:spMkLst>
            <pc:docMk/>
            <pc:sldMk cId="2004712969" sldId="515"/>
            <ac:spMk id="4" creationId="{2A2965DC-57BD-B01C-3874-52B5960D8242}"/>
          </ac:spMkLst>
        </pc:spChg>
        <pc:spChg chg="add mod">
          <ac:chgData name="Francesco Bellotti" userId="f453232b-f87d-4756-9d8b-c09bc835cc42" providerId="ADAL" clId="{C7FEA3FA-4936-41E1-B7FA-CA082069F7F7}" dt="2026-10-11T20:37:39.097" v="9991" actId="113"/>
          <ac:spMkLst>
            <pc:docMk/>
            <pc:sldMk cId="2004712969" sldId="515"/>
            <ac:spMk id="5" creationId="{653A3D85-E6F9-DEDB-83FA-E84F4069EAC8}"/>
          </ac:spMkLst>
        </pc:spChg>
        <pc:spChg chg="add mod">
          <ac:chgData name="Francesco Bellotti" userId="f453232b-f87d-4756-9d8b-c09bc835cc42" providerId="ADAL" clId="{C7FEA3FA-4936-41E1-B7FA-CA082069F7F7}" dt="2026-10-11T20:54:32.312" v="10154" actId="20577"/>
          <ac:spMkLst>
            <pc:docMk/>
            <pc:sldMk cId="2004712969" sldId="515"/>
            <ac:spMk id="6" creationId="{0B5D9E64-C81C-5E09-47B6-ED85974F670B}"/>
          </ac:spMkLst>
        </pc:spChg>
        <pc:cxnChg chg="add">
          <ac:chgData name="Francesco Bellotti" userId="f453232b-f87d-4756-9d8b-c09bc835cc42" providerId="ADAL" clId="{C7FEA3FA-4936-41E1-B7FA-CA082069F7F7}" dt="2026-10-11T20:27:23.535" v="9923" actId="11529"/>
          <ac:cxnSpMkLst>
            <pc:docMk/>
            <pc:sldMk cId="2004712969" sldId="515"/>
            <ac:cxnSpMk id="7" creationId="{6492F7BA-1D68-5488-2713-3992B1665105}"/>
          </ac:cxnSpMkLst>
        </pc:cxnChg>
        <pc:cxnChg chg="add">
          <ac:chgData name="Francesco Bellotti" userId="f453232b-f87d-4756-9d8b-c09bc835cc42" providerId="ADAL" clId="{C7FEA3FA-4936-41E1-B7FA-CA082069F7F7}" dt="2026-10-11T20:54:40.325" v="10155" actId="11529"/>
          <ac:cxnSpMkLst>
            <pc:docMk/>
            <pc:sldMk cId="2004712969" sldId="515"/>
            <ac:cxnSpMk id="9" creationId="{9F540F58-FBD2-C082-A1BC-F9B1AE0345A8}"/>
          </ac:cxnSpMkLst>
        </pc:cxnChg>
      </pc:sldChg>
      <pc:sldChg chg="addSp modSp new mod">
        <pc:chgData name="Francesco Bellotti" userId="f453232b-f87d-4756-9d8b-c09bc835cc42" providerId="ADAL" clId="{C7FEA3FA-4936-41E1-B7FA-CA082069F7F7}" dt="2026-10-11T21:01:10.957" v="10271" actId="1076"/>
        <pc:sldMkLst>
          <pc:docMk/>
          <pc:sldMk cId="1109391815" sldId="516"/>
        </pc:sldMkLst>
        <pc:spChg chg="mod">
          <ac:chgData name="Francesco Bellotti" userId="f453232b-f87d-4756-9d8b-c09bc835cc42" providerId="ADAL" clId="{C7FEA3FA-4936-41E1-B7FA-CA082069F7F7}" dt="2026-10-11T18:04:37.223" v="9342" actId="20577"/>
          <ac:spMkLst>
            <pc:docMk/>
            <pc:sldMk cId="1109391815" sldId="516"/>
            <ac:spMk id="2" creationId="{4DC58067-9226-11A9-2ABC-218E79768B49}"/>
          </ac:spMkLst>
        </pc:spChg>
        <pc:spChg chg="mod">
          <ac:chgData name="Francesco Bellotti" userId="f453232b-f87d-4756-9d8b-c09bc835cc42" providerId="ADAL" clId="{C7FEA3FA-4936-41E1-B7FA-CA082069F7F7}" dt="2026-10-11T20:27:51.922" v="9926" actId="108"/>
          <ac:spMkLst>
            <pc:docMk/>
            <pc:sldMk cId="1109391815" sldId="516"/>
            <ac:spMk id="3" creationId="{249D02CC-6CDE-D377-2497-2C1742D7879C}"/>
          </ac:spMkLst>
        </pc:spChg>
        <pc:spChg chg="add mod">
          <ac:chgData name="Francesco Bellotti" userId="f453232b-f87d-4756-9d8b-c09bc835cc42" providerId="ADAL" clId="{C7FEA3FA-4936-41E1-B7FA-CA082069F7F7}" dt="2026-10-11T20:50:53.968" v="10106" actId="1076"/>
          <ac:spMkLst>
            <pc:docMk/>
            <pc:sldMk cId="1109391815" sldId="516"/>
            <ac:spMk id="4" creationId="{51587AA5-CB67-3821-B246-0AFC261D0165}"/>
          </ac:spMkLst>
        </pc:spChg>
        <pc:spChg chg="add mod">
          <ac:chgData name="Francesco Bellotti" userId="f453232b-f87d-4756-9d8b-c09bc835cc42" providerId="ADAL" clId="{C7FEA3FA-4936-41E1-B7FA-CA082069F7F7}" dt="2026-10-11T21:00:25.403" v="10218" actId="1076"/>
          <ac:spMkLst>
            <pc:docMk/>
            <pc:sldMk cId="1109391815" sldId="516"/>
            <ac:spMk id="5" creationId="{74E97428-E34A-4851-BE08-26A6B88D3ADB}"/>
          </ac:spMkLst>
        </pc:spChg>
        <pc:spChg chg="add mod">
          <ac:chgData name="Francesco Bellotti" userId="f453232b-f87d-4756-9d8b-c09bc835cc42" providerId="ADAL" clId="{C7FEA3FA-4936-41E1-B7FA-CA082069F7F7}" dt="2026-10-11T20:56:00.549" v="10189" actId="1076"/>
          <ac:spMkLst>
            <pc:docMk/>
            <pc:sldMk cId="1109391815" sldId="516"/>
            <ac:spMk id="14" creationId="{D1D6D8E7-5EB6-94DD-F7BD-30FE6C94E914}"/>
          </ac:spMkLst>
        </pc:spChg>
        <pc:spChg chg="add mod">
          <ac:chgData name="Francesco Bellotti" userId="f453232b-f87d-4756-9d8b-c09bc835cc42" providerId="ADAL" clId="{C7FEA3FA-4936-41E1-B7FA-CA082069F7F7}" dt="2026-10-11T21:01:10.957" v="10271" actId="1076"/>
          <ac:spMkLst>
            <pc:docMk/>
            <pc:sldMk cId="1109391815" sldId="516"/>
            <ac:spMk id="16" creationId="{BE7179C6-E11D-3579-3780-AFBE756AA59C}"/>
          </ac:spMkLst>
        </pc:spChg>
        <pc:cxnChg chg="add mod">
          <ac:chgData name="Francesco Bellotti" userId="f453232b-f87d-4756-9d8b-c09bc835cc42" providerId="ADAL" clId="{C7FEA3FA-4936-41E1-B7FA-CA082069F7F7}" dt="2026-10-11T21:00:36.444" v="10220" actId="14100"/>
          <ac:cxnSpMkLst>
            <pc:docMk/>
            <pc:sldMk cId="1109391815" sldId="516"/>
            <ac:cxnSpMk id="6" creationId="{EADEB41E-7149-5861-F80B-D9DE3F3EFFA5}"/>
          </ac:cxnSpMkLst>
        </pc:cxnChg>
        <pc:cxnChg chg="add mod">
          <ac:chgData name="Francesco Bellotti" userId="f453232b-f87d-4756-9d8b-c09bc835cc42" providerId="ADAL" clId="{C7FEA3FA-4936-41E1-B7FA-CA082069F7F7}" dt="2026-10-11T20:50:51.016" v="10105" actId="14100"/>
          <ac:cxnSpMkLst>
            <pc:docMk/>
            <pc:sldMk cId="1109391815" sldId="516"/>
            <ac:cxnSpMk id="8" creationId="{6EE0C086-E6B8-64FF-9B39-0D1D627C503E}"/>
          </ac:cxnSpMkLst>
        </pc:cxnChg>
        <pc:cxnChg chg="add mod">
          <ac:chgData name="Francesco Bellotti" userId="f453232b-f87d-4756-9d8b-c09bc835cc42" providerId="ADAL" clId="{C7FEA3FA-4936-41E1-B7FA-CA082069F7F7}" dt="2026-10-11T20:55:17.014" v="10157" actId="14100"/>
          <ac:cxnSpMkLst>
            <pc:docMk/>
            <pc:sldMk cId="1109391815" sldId="516"/>
            <ac:cxnSpMk id="11" creationId="{A59FD172-F49C-2E1A-3FD3-BE784BEAEA7C}"/>
          </ac:cxnSpMkLst>
        </pc:cxnChg>
      </pc:sldChg>
      <pc:sldChg chg="modSp new mod">
        <pc:chgData name="Francesco Bellotti" userId="f453232b-f87d-4756-9d8b-c09bc835cc42" providerId="ADAL" clId="{C7FEA3FA-4936-41E1-B7FA-CA082069F7F7}" dt="2026-10-11T20:51:23.536" v="10110" actId="113"/>
        <pc:sldMkLst>
          <pc:docMk/>
          <pc:sldMk cId="1961789823" sldId="517"/>
        </pc:sldMkLst>
        <pc:spChg chg="mod">
          <ac:chgData name="Francesco Bellotti" userId="f453232b-f87d-4756-9d8b-c09bc835cc42" providerId="ADAL" clId="{C7FEA3FA-4936-41E1-B7FA-CA082069F7F7}" dt="2026-10-11T20:40:19.839" v="9994" actId="21"/>
          <ac:spMkLst>
            <pc:docMk/>
            <pc:sldMk cId="1961789823" sldId="517"/>
            <ac:spMk id="2" creationId="{77E29142-43B0-7348-5182-B24703F3C43A}"/>
          </ac:spMkLst>
        </pc:spChg>
        <pc:spChg chg="mod">
          <ac:chgData name="Francesco Bellotti" userId="f453232b-f87d-4756-9d8b-c09bc835cc42" providerId="ADAL" clId="{C7FEA3FA-4936-41E1-B7FA-CA082069F7F7}" dt="2026-10-11T20:51:23.536" v="10110" actId="113"/>
          <ac:spMkLst>
            <pc:docMk/>
            <pc:sldMk cId="1961789823" sldId="517"/>
            <ac:spMk id="3" creationId="{4E61AD67-98E9-6478-EC02-C8FDA3A15E11}"/>
          </ac:spMkLst>
        </pc:spChg>
      </pc:sldChg>
      <pc:sldChg chg="addSp modSp new mod">
        <pc:chgData name="Francesco Bellotti" userId="f453232b-f87d-4756-9d8b-c09bc835cc42" providerId="ADAL" clId="{C7FEA3FA-4936-41E1-B7FA-CA082069F7F7}" dt="2026-10-11T20:44:12.913" v="10059" actId="1076"/>
        <pc:sldMkLst>
          <pc:docMk/>
          <pc:sldMk cId="1024975017" sldId="518"/>
        </pc:sldMkLst>
        <pc:spChg chg="mod">
          <ac:chgData name="Francesco Bellotti" userId="f453232b-f87d-4756-9d8b-c09bc835cc42" providerId="ADAL" clId="{C7FEA3FA-4936-41E1-B7FA-CA082069F7F7}" dt="2026-10-11T18:08:34.223" v="9429"/>
          <ac:spMkLst>
            <pc:docMk/>
            <pc:sldMk cId="1024975017" sldId="518"/>
            <ac:spMk id="2" creationId="{869DEEF4-BF5C-0101-7265-569138AFA735}"/>
          </ac:spMkLst>
        </pc:spChg>
        <pc:spChg chg="mod">
          <ac:chgData name="Francesco Bellotti" userId="f453232b-f87d-4756-9d8b-c09bc835cc42" providerId="ADAL" clId="{C7FEA3FA-4936-41E1-B7FA-CA082069F7F7}" dt="2026-10-11T20:33:13.374" v="9980" actId="404"/>
          <ac:spMkLst>
            <pc:docMk/>
            <pc:sldMk cId="1024975017" sldId="518"/>
            <ac:spMk id="3" creationId="{E36A698D-5EAF-3ABD-2524-89675592BF55}"/>
          </ac:spMkLst>
        </pc:spChg>
        <pc:spChg chg="add mod">
          <ac:chgData name="Francesco Bellotti" userId="f453232b-f87d-4756-9d8b-c09bc835cc42" providerId="ADAL" clId="{C7FEA3FA-4936-41E1-B7FA-CA082069F7F7}" dt="2026-10-11T20:43:51.587" v="10054" actId="1076"/>
          <ac:spMkLst>
            <pc:docMk/>
            <pc:sldMk cId="1024975017" sldId="518"/>
            <ac:spMk id="6" creationId="{761D20FB-C976-B59B-AFA0-8AF6A7B5DDDF}"/>
          </ac:spMkLst>
        </pc:spChg>
        <pc:picChg chg="add mod">
          <ac:chgData name="Francesco Bellotti" userId="f453232b-f87d-4756-9d8b-c09bc835cc42" providerId="ADAL" clId="{C7FEA3FA-4936-41E1-B7FA-CA082069F7F7}" dt="2026-10-11T20:44:12.913" v="10059" actId="1076"/>
          <ac:picMkLst>
            <pc:docMk/>
            <pc:sldMk cId="1024975017" sldId="518"/>
            <ac:picMk id="8" creationId="{771E9F0E-4C19-95D8-C666-24ADC0A20742}"/>
          </ac:picMkLst>
        </pc:picChg>
        <pc:cxnChg chg="add">
          <ac:chgData name="Francesco Bellotti" userId="f453232b-f87d-4756-9d8b-c09bc835cc42" providerId="ADAL" clId="{C7FEA3FA-4936-41E1-B7FA-CA082069F7F7}" dt="2026-10-11T20:42:45.672" v="10001" actId="11529"/>
          <ac:cxnSpMkLst>
            <pc:docMk/>
            <pc:sldMk cId="1024975017" sldId="518"/>
            <ac:cxnSpMk id="5" creationId="{719FB324-6ECD-4AB4-2629-EC9473C05D45}"/>
          </ac:cxnSpMkLst>
        </pc:cxnChg>
      </pc:sldChg>
      <pc:sldChg chg="new del">
        <pc:chgData name="Francesco Bellotti" userId="f453232b-f87d-4756-9d8b-c09bc835cc42" providerId="ADAL" clId="{C7FEA3FA-4936-41E1-B7FA-CA082069F7F7}" dt="2026-10-11T18:08:20.964" v="9426" actId="47"/>
        <pc:sldMkLst>
          <pc:docMk/>
          <pc:sldMk cId="1741321791" sldId="518"/>
        </pc:sldMkLst>
      </pc:sldChg>
      <pc:sldChg chg="modSp new mod">
        <pc:chgData name="Francesco Bellotti" userId="f453232b-f87d-4756-9d8b-c09bc835cc42" providerId="ADAL" clId="{C7FEA3FA-4936-41E1-B7FA-CA082069F7F7}" dt="2026-10-11T20:32:14.263" v="9953" actId="20577"/>
        <pc:sldMkLst>
          <pc:docMk/>
          <pc:sldMk cId="945533260" sldId="519"/>
        </pc:sldMkLst>
        <pc:spChg chg="mod">
          <ac:chgData name="Francesco Bellotti" userId="f453232b-f87d-4756-9d8b-c09bc835cc42" providerId="ADAL" clId="{C7FEA3FA-4936-41E1-B7FA-CA082069F7F7}" dt="2026-10-11T18:11:07.005" v="9530" actId="20577"/>
          <ac:spMkLst>
            <pc:docMk/>
            <pc:sldMk cId="945533260" sldId="519"/>
            <ac:spMk id="2" creationId="{9374A384-83D2-5074-CB8F-7E5ADBB0F9D7}"/>
          </ac:spMkLst>
        </pc:spChg>
        <pc:spChg chg="mod">
          <ac:chgData name="Francesco Bellotti" userId="f453232b-f87d-4756-9d8b-c09bc835cc42" providerId="ADAL" clId="{C7FEA3FA-4936-41E1-B7FA-CA082069F7F7}" dt="2026-10-11T20:32:14.263" v="9953" actId="20577"/>
          <ac:spMkLst>
            <pc:docMk/>
            <pc:sldMk cId="945533260" sldId="519"/>
            <ac:spMk id="3" creationId="{4C18EA21-F98C-AA9B-828A-B25F928450E7}"/>
          </ac:spMkLst>
        </pc:spChg>
      </pc:sldChg>
      <pc:sldChg chg="addSp modSp new mod">
        <pc:chgData name="Francesco Bellotti" userId="f453232b-f87d-4756-9d8b-c09bc835cc42" providerId="ADAL" clId="{C7FEA3FA-4936-41E1-B7FA-CA082069F7F7}" dt="2026-10-11T20:50:07.150" v="10077" actId="14100"/>
        <pc:sldMkLst>
          <pc:docMk/>
          <pc:sldMk cId="4109680836" sldId="520"/>
        </pc:sldMkLst>
        <pc:spChg chg="mod">
          <ac:chgData name="Francesco Bellotti" userId="f453232b-f87d-4756-9d8b-c09bc835cc42" providerId="ADAL" clId="{C7FEA3FA-4936-41E1-B7FA-CA082069F7F7}" dt="2026-10-11T20:49:16.764" v="10061" actId="113"/>
          <ac:spMkLst>
            <pc:docMk/>
            <pc:sldMk cId="4109680836" sldId="520"/>
            <ac:spMk id="3" creationId="{8980EC0D-8C90-4072-1E2C-6594991B0BA4}"/>
          </ac:spMkLst>
        </pc:spChg>
        <pc:spChg chg="add mod">
          <ac:chgData name="Francesco Bellotti" userId="f453232b-f87d-4756-9d8b-c09bc835cc42" providerId="ADAL" clId="{C7FEA3FA-4936-41E1-B7FA-CA082069F7F7}" dt="2026-10-11T20:49:50.153" v="10073" actId="1076"/>
          <ac:spMkLst>
            <pc:docMk/>
            <pc:sldMk cId="4109680836" sldId="520"/>
            <ac:spMk id="4" creationId="{AC97AE01-DCA7-5C54-4098-8C4A8ED49EE1}"/>
          </ac:spMkLst>
        </pc:spChg>
        <pc:cxnChg chg="add">
          <ac:chgData name="Francesco Bellotti" userId="f453232b-f87d-4756-9d8b-c09bc835cc42" providerId="ADAL" clId="{C7FEA3FA-4936-41E1-B7FA-CA082069F7F7}" dt="2026-10-11T20:49:56.774" v="10074" actId="11529"/>
          <ac:cxnSpMkLst>
            <pc:docMk/>
            <pc:sldMk cId="4109680836" sldId="520"/>
            <ac:cxnSpMk id="6" creationId="{832CB24D-D9AD-2EA9-3B9A-BF68D2E88312}"/>
          </ac:cxnSpMkLst>
        </pc:cxnChg>
        <pc:cxnChg chg="add mod">
          <ac:chgData name="Francesco Bellotti" userId="f453232b-f87d-4756-9d8b-c09bc835cc42" providerId="ADAL" clId="{C7FEA3FA-4936-41E1-B7FA-CA082069F7F7}" dt="2026-10-11T20:50:07.150" v="10077" actId="14100"/>
          <ac:cxnSpMkLst>
            <pc:docMk/>
            <pc:sldMk cId="4109680836" sldId="520"/>
            <ac:cxnSpMk id="7" creationId="{89A6CA6B-D874-7B96-70BE-C143BB5A9D9C}"/>
          </ac:cxnSpMkLst>
        </pc:cxnChg>
      </pc:sldChg>
      <pc:sldChg chg="modSp new mod">
        <pc:chgData name="Francesco Bellotti" userId="f453232b-f87d-4756-9d8b-c09bc835cc42" providerId="ADAL" clId="{C7FEA3FA-4936-41E1-B7FA-CA082069F7F7}" dt="2026-10-11T20:51:53.215" v="10111" actId="113"/>
        <pc:sldMkLst>
          <pc:docMk/>
          <pc:sldMk cId="4084312211" sldId="521"/>
        </pc:sldMkLst>
        <pc:spChg chg="mod">
          <ac:chgData name="Francesco Bellotti" userId="f453232b-f87d-4756-9d8b-c09bc835cc42" providerId="ADAL" clId="{C7FEA3FA-4936-41E1-B7FA-CA082069F7F7}" dt="2026-10-11T20:51:53.215" v="10111" actId="113"/>
          <ac:spMkLst>
            <pc:docMk/>
            <pc:sldMk cId="4084312211" sldId="521"/>
            <ac:spMk id="3" creationId="{1B96623F-CC67-5BE7-8857-76C8DEC34183}"/>
          </ac:spMkLst>
        </pc:spChg>
      </pc:sldChg>
      <pc:sldChg chg="addSp modSp new mod">
        <pc:chgData name="Francesco Bellotti" userId="f453232b-f87d-4756-9d8b-c09bc835cc42" providerId="ADAL" clId="{C7FEA3FA-4936-41E1-B7FA-CA082069F7F7}" dt="2026-10-11T20:58:13.479" v="10206" actId="20577"/>
        <pc:sldMkLst>
          <pc:docMk/>
          <pc:sldMk cId="1483755005" sldId="522"/>
        </pc:sldMkLst>
        <pc:spChg chg="mod">
          <ac:chgData name="Francesco Bellotti" userId="f453232b-f87d-4756-9d8b-c09bc835cc42" providerId="ADAL" clId="{C7FEA3FA-4936-41E1-B7FA-CA082069F7F7}" dt="2026-10-11T20:56:33.898" v="10190" actId="113"/>
          <ac:spMkLst>
            <pc:docMk/>
            <pc:sldMk cId="1483755005" sldId="522"/>
            <ac:spMk id="3" creationId="{21F598C3-E406-2BCA-2CFC-1A3E0442E023}"/>
          </ac:spMkLst>
        </pc:spChg>
        <pc:spChg chg="add mod">
          <ac:chgData name="Francesco Bellotti" userId="f453232b-f87d-4756-9d8b-c09bc835cc42" providerId="ADAL" clId="{C7FEA3FA-4936-41E1-B7FA-CA082069F7F7}" dt="2026-10-11T18:19:32.155" v="9674" actId="1076"/>
          <ac:spMkLst>
            <pc:docMk/>
            <pc:sldMk cId="1483755005" sldId="522"/>
            <ac:spMk id="5" creationId="{24C5A5FC-0FBC-AA94-67AA-FE66522B1617}"/>
          </ac:spMkLst>
        </pc:spChg>
        <pc:spChg chg="add mod">
          <ac:chgData name="Francesco Bellotti" userId="f453232b-f87d-4756-9d8b-c09bc835cc42" providerId="ADAL" clId="{C7FEA3FA-4936-41E1-B7FA-CA082069F7F7}" dt="2026-10-11T20:58:13.479" v="10206" actId="20577"/>
          <ac:spMkLst>
            <pc:docMk/>
            <pc:sldMk cId="1483755005" sldId="522"/>
            <ac:spMk id="6" creationId="{15FB6678-A492-C79C-0BBE-F943D1BFF3D0}"/>
          </ac:spMkLst>
        </pc:spChg>
        <pc:cxnChg chg="add">
          <ac:chgData name="Francesco Bellotti" userId="f453232b-f87d-4756-9d8b-c09bc835cc42" providerId="ADAL" clId="{C7FEA3FA-4936-41E1-B7FA-CA082069F7F7}" dt="2026-10-11T20:57:40.567" v="10198" actId="11529"/>
          <ac:cxnSpMkLst>
            <pc:docMk/>
            <pc:sldMk cId="1483755005" sldId="522"/>
            <ac:cxnSpMk id="8" creationId="{2775D0AA-8EDC-342D-368F-7E297B67EE6C}"/>
          </ac:cxnSpMkLst>
        </pc:cxnChg>
      </pc:sldChg>
      <pc:sldChg chg="addSp modSp new mod">
        <pc:chgData name="Francesco Bellotti" userId="f453232b-f87d-4756-9d8b-c09bc835cc42" providerId="ADAL" clId="{C7FEA3FA-4936-41E1-B7FA-CA082069F7F7}" dt="2026-10-11T21:06:05.359" v="10294" actId="20577"/>
        <pc:sldMkLst>
          <pc:docMk/>
          <pc:sldMk cId="1491362981" sldId="523"/>
        </pc:sldMkLst>
        <pc:spChg chg="mod">
          <ac:chgData name="Francesco Bellotti" userId="f453232b-f87d-4756-9d8b-c09bc835cc42" providerId="ADAL" clId="{C7FEA3FA-4936-41E1-B7FA-CA082069F7F7}" dt="2026-10-11T20:53:00.828" v="10113" actId="113"/>
          <ac:spMkLst>
            <pc:docMk/>
            <pc:sldMk cId="1491362981" sldId="523"/>
            <ac:spMk id="3" creationId="{53ACAD87-D849-F22C-7128-09DE7CFE70D5}"/>
          </ac:spMkLst>
        </pc:spChg>
        <pc:spChg chg="add mod">
          <ac:chgData name="Francesco Bellotti" userId="f453232b-f87d-4756-9d8b-c09bc835cc42" providerId="ADAL" clId="{C7FEA3FA-4936-41E1-B7FA-CA082069F7F7}" dt="2026-10-11T21:05:02.428" v="10273" actId="1076"/>
          <ac:spMkLst>
            <pc:docMk/>
            <pc:sldMk cId="1491362981" sldId="523"/>
            <ac:spMk id="5" creationId="{E4ECDA9C-8E6F-3C3A-FCAE-728AC75F070D}"/>
          </ac:spMkLst>
        </pc:spChg>
        <pc:spChg chg="add mod">
          <ac:chgData name="Francesco Bellotti" userId="f453232b-f87d-4756-9d8b-c09bc835cc42" providerId="ADAL" clId="{C7FEA3FA-4936-41E1-B7FA-CA082069F7F7}" dt="2026-10-11T21:06:05.359" v="10294" actId="20577"/>
          <ac:spMkLst>
            <pc:docMk/>
            <pc:sldMk cId="1491362981" sldId="523"/>
            <ac:spMk id="13" creationId="{C6F79937-8330-2C36-F8BA-81D5A311A88D}"/>
          </ac:spMkLst>
        </pc:spChg>
        <pc:cxnChg chg="add mod">
          <ac:chgData name="Francesco Bellotti" userId="f453232b-f87d-4756-9d8b-c09bc835cc42" providerId="ADAL" clId="{C7FEA3FA-4936-41E1-B7FA-CA082069F7F7}" dt="2026-10-11T21:05:11.083" v="10275" actId="14100"/>
          <ac:cxnSpMkLst>
            <pc:docMk/>
            <pc:sldMk cId="1491362981" sldId="523"/>
            <ac:cxnSpMk id="7" creationId="{C7A171B5-D44D-4BFE-7E4A-654B484CF325}"/>
          </ac:cxnSpMkLst>
        </pc:cxnChg>
        <pc:cxnChg chg="add mod">
          <ac:chgData name="Francesco Bellotti" userId="f453232b-f87d-4756-9d8b-c09bc835cc42" providerId="ADAL" clId="{C7FEA3FA-4936-41E1-B7FA-CA082069F7F7}" dt="2026-10-11T21:05:19.275" v="10278" actId="14100"/>
          <ac:cxnSpMkLst>
            <pc:docMk/>
            <pc:sldMk cId="1491362981" sldId="523"/>
            <ac:cxnSpMk id="9" creationId="{6681A1F3-3E65-0A8E-670A-5ABEC21A41B5}"/>
          </ac:cxnSpMkLst>
        </pc:cxnChg>
        <pc:cxnChg chg="add mod">
          <ac:chgData name="Francesco Bellotti" userId="f453232b-f87d-4756-9d8b-c09bc835cc42" providerId="ADAL" clId="{C7FEA3FA-4936-41E1-B7FA-CA082069F7F7}" dt="2026-10-11T21:05:24.770" v="10279"/>
          <ac:cxnSpMkLst>
            <pc:docMk/>
            <pc:sldMk cId="1491362981" sldId="523"/>
            <ac:cxnSpMk id="11" creationId="{576AA22C-5595-CA9B-E488-8D476831AB6A}"/>
          </ac:cxnSpMkLst>
        </pc:cxnChg>
      </pc:sldChg>
      <pc:sldChg chg="modSp new mod">
        <pc:chgData name="Francesco Bellotti" userId="f453232b-f87d-4756-9d8b-c09bc835cc42" providerId="ADAL" clId="{C7FEA3FA-4936-41E1-B7FA-CA082069F7F7}" dt="2026-10-11T20:58:33.836" v="10214" actId="20577"/>
        <pc:sldMkLst>
          <pc:docMk/>
          <pc:sldMk cId="1785187284" sldId="524"/>
        </pc:sldMkLst>
        <pc:spChg chg="mod">
          <ac:chgData name="Francesco Bellotti" userId="f453232b-f87d-4756-9d8b-c09bc835cc42" providerId="ADAL" clId="{C7FEA3FA-4936-41E1-B7FA-CA082069F7F7}" dt="2026-10-11T20:58:33.836" v="10214" actId="20577"/>
          <ac:spMkLst>
            <pc:docMk/>
            <pc:sldMk cId="1785187284" sldId="524"/>
            <ac:spMk id="3" creationId="{CE99A18F-721C-FF0F-7155-7489EEA75A2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45659" cy="498135"/>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50443" y="0"/>
            <a:ext cx="2945659" cy="498135"/>
          </a:xfrm>
          <a:prstGeom prst="rect">
            <a:avLst/>
          </a:prstGeom>
        </p:spPr>
        <p:txBody>
          <a:bodyPr vert="horz" lIns="91440" tIns="45720" rIns="91440" bIns="45720" rtlCol="0"/>
          <a:lstStyle>
            <a:lvl1pPr algn="r">
              <a:defRPr sz="1200"/>
            </a:lvl1pPr>
          </a:lstStyle>
          <a:p>
            <a:fld id="{4E80C684-3966-410E-B1C0-E14741641190}" type="datetimeFigureOut">
              <a:rPr lang="en-GB" smtClean="0"/>
              <a:t>12/10/2026</a:t>
            </a:fld>
            <a:endParaRPr lang="en-GB"/>
          </a:p>
        </p:txBody>
      </p:sp>
      <p:sp>
        <p:nvSpPr>
          <p:cNvPr id="4" name="Segnaposto immagine diapositiva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79768" y="4777958"/>
            <a:ext cx="5438140" cy="3909239"/>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9430091"/>
            <a:ext cx="2945659" cy="498134"/>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50443" y="9430091"/>
            <a:ext cx="2945659" cy="498134"/>
          </a:xfrm>
          <a:prstGeom prst="rect">
            <a:avLst/>
          </a:prstGeom>
        </p:spPr>
        <p:txBody>
          <a:bodyPr vert="horz" lIns="91440" tIns="45720" rIns="91440" bIns="45720" rtlCol="0" anchor="b"/>
          <a:lstStyle>
            <a:lvl1pPr algn="r">
              <a:defRPr sz="1200"/>
            </a:lvl1pPr>
          </a:lstStyle>
          <a:p>
            <a:fld id="{61F9CD2F-782C-42AC-B06E-49F8C591122F}" type="slidenum">
              <a:rPr lang="en-GB" smtClean="0"/>
              <a:t>‹N›</a:t>
            </a:fld>
            <a:endParaRPr lang="en-GB"/>
          </a:p>
        </p:txBody>
      </p:sp>
    </p:spTree>
    <p:extLst>
      <p:ext uri="{BB962C8B-B14F-4D97-AF65-F5344CB8AC3E}">
        <p14:creationId xmlns:p14="http://schemas.microsoft.com/office/powerpoint/2010/main" val="11567455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9" name="PlaceHolder 1"/>
          <p:cNvSpPr>
            <a:spLocks noGrp="1" noRot="1" noChangeAspect="1"/>
          </p:cNvSpPr>
          <p:nvPr>
            <p:ph type="sldImg"/>
          </p:nvPr>
        </p:nvSpPr>
        <p:spPr>
          <a:xfrm>
            <a:off x="422275" y="1241425"/>
            <a:ext cx="5953125" cy="3349625"/>
          </a:xfrm>
          <a:prstGeom prst="rect">
            <a:avLst/>
          </a:prstGeom>
          <a:ln w="0">
            <a:noFill/>
          </a:ln>
        </p:spPr>
      </p:sp>
      <p:sp>
        <p:nvSpPr>
          <p:cNvPr id="630"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31" name="PlaceHolder 3"/>
          <p:cNvSpPr>
            <a:spLocks noGrp="1"/>
          </p:cNvSpPr>
          <p:nvPr>
            <p:ph type="sldNum" idx="4"/>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563B75F-EEA0-4EA4-A0F8-948715B492FC}" type="slidenum">
              <a:rPr lang="en-US" sz="1200" b="0" u="none" strike="noStrike">
                <a:solidFill>
                  <a:schemeClr val="dk1"/>
                </a:solidFill>
                <a:effectLst/>
                <a:uFillTx/>
                <a:latin typeface="+mn-lt"/>
                <a:ea typeface="+mn-ea"/>
              </a:rPr>
              <a:t>43</a:t>
            </a:fld>
            <a:endParaRPr lang="it-IT"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PlaceHolder 1"/>
          <p:cNvSpPr>
            <a:spLocks noGrp="1" noRot="1" noChangeAspect="1"/>
          </p:cNvSpPr>
          <p:nvPr>
            <p:ph type="sldImg"/>
          </p:nvPr>
        </p:nvSpPr>
        <p:spPr>
          <a:xfrm>
            <a:off x="422275" y="1241425"/>
            <a:ext cx="5953125" cy="3349625"/>
          </a:xfrm>
          <a:prstGeom prst="rect">
            <a:avLst/>
          </a:prstGeom>
          <a:ln w="0">
            <a:noFill/>
          </a:ln>
        </p:spPr>
      </p:sp>
      <p:sp>
        <p:nvSpPr>
          <p:cNvPr id="633"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34" name="PlaceHolder 3"/>
          <p:cNvSpPr>
            <a:spLocks noGrp="1"/>
          </p:cNvSpPr>
          <p:nvPr>
            <p:ph type="sldNum" idx="5"/>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384F240-EEA7-4584-8253-0C592447F6F9}" type="slidenum">
              <a:rPr lang="en-US" sz="1200" b="0" u="none" strike="noStrike">
                <a:solidFill>
                  <a:schemeClr val="dk1"/>
                </a:solidFill>
                <a:effectLst/>
                <a:uFillTx/>
                <a:latin typeface="+mn-lt"/>
                <a:ea typeface="+mn-ea"/>
              </a:rPr>
              <a:t>45</a:t>
            </a:fld>
            <a:endParaRPr lang="it-IT"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PlaceHolder 1"/>
          <p:cNvSpPr>
            <a:spLocks noGrp="1" noRot="1" noChangeAspect="1"/>
          </p:cNvSpPr>
          <p:nvPr>
            <p:ph type="sldImg"/>
          </p:nvPr>
        </p:nvSpPr>
        <p:spPr>
          <a:xfrm>
            <a:off x="422275" y="1241425"/>
            <a:ext cx="5953125" cy="3349625"/>
          </a:xfrm>
          <a:prstGeom prst="rect">
            <a:avLst/>
          </a:prstGeom>
          <a:ln w="0">
            <a:noFill/>
          </a:ln>
        </p:spPr>
      </p:sp>
      <p:sp>
        <p:nvSpPr>
          <p:cNvPr id="636"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37" name="PlaceHolder 3"/>
          <p:cNvSpPr>
            <a:spLocks noGrp="1"/>
          </p:cNvSpPr>
          <p:nvPr>
            <p:ph type="sldNum" idx="6"/>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ADDCFF-5593-4BFA-9788-560867A81133}" type="slidenum">
              <a:rPr lang="en-US" sz="1200" b="0" u="none" strike="noStrike">
                <a:solidFill>
                  <a:schemeClr val="dk1"/>
                </a:solidFill>
                <a:effectLst/>
                <a:uFillTx/>
                <a:latin typeface="+mn-lt"/>
                <a:ea typeface="+mn-ea"/>
              </a:rPr>
              <a:t>48</a:t>
            </a:fld>
            <a:endParaRPr lang="it-IT"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noRot="1" noChangeAspect="1"/>
          </p:cNvSpPr>
          <p:nvPr>
            <p:ph type="sldImg"/>
          </p:nvPr>
        </p:nvSpPr>
        <p:spPr>
          <a:xfrm>
            <a:off x="422275" y="1241425"/>
            <a:ext cx="5953125" cy="3349625"/>
          </a:xfrm>
          <a:prstGeom prst="rect">
            <a:avLst/>
          </a:prstGeom>
          <a:ln w="0">
            <a:noFill/>
          </a:ln>
        </p:spPr>
      </p:sp>
      <p:sp>
        <p:nvSpPr>
          <p:cNvPr id="639"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40" name="PlaceHolder 3"/>
          <p:cNvSpPr>
            <a:spLocks noGrp="1"/>
          </p:cNvSpPr>
          <p:nvPr>
            <p:ph type="sldNum" idx="7"/>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2E2584-F789-4AEC-8BB6-4D3AC9BAF619}" type="slidenum">
              <a:rPr lang="en-US" sz="1200" b="0" u="none" strike="noStrike">
                <a:solidFill>
                  <a:schemeClr val="dk1"/>
                </a:solidFill>
                <a:effectLst/>
                <a:uFillTx/>
                <a:latin typeface="+mn-lt"/>
                <a:ea typeface="+mn-ea"/>
              </a:rPr>
              <a:t>51</a:t>
            </a:fld>
            <a:endParaRPr lang="it-IT"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PlaceHolder 1"/>
          <p:cNvSpPr>
            <a:spLocks noGrp="1" noRot="1" noChangeAspect="1"/>
          </p:cNvSpPr>
          <p:nvPr>
            <p:ph type="sldImg"/>
          </p:nvPr>
        </p:nvSpPr>
        <p:spPr>
          <a:xfrm>
            <a:off x="422275" y="1241425"/>
            <a:ext cx="5953125" cy="3349625"/>
          </a:xfrm>
          <a:prstGeom prst="rect">
            <a:avLst/>
          </a:prstGeom>
          <a:ln w="0">
            <a:noFill/>
          </a:ln>
        </p:spPr>
      </p:sp>
      <p:sp>
        <p:nvSpPr>
          <p:cNvPr id="642"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43" name="PlaceHolder 3"/>
          <p:cNvSpPr>
            <a:spLocks noGrp="1"/>
          </p:cNvSpPr>
          <p:nvPr>
            <p:ph type="sldNum" idx="8"/>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301BC-63EF-4761-9F14-671BE697926D}" type="slidenum">
              <a:rPr lang="en-US" sz="1200" b="0" u="none" strike="noStrike">
                <a:solidFill>
                  <a:schemeClr val="dk1"/>
                </a:solidFill>
                <a:effectLst/>
                <a:uFillTx/>
                <a:latin typeface="+mn-lt"/>
                <a:ea typeface="+mn-ea"/>
              </a:rPr>
              <a:t>54</a:t>
            </a:fld>
            <a:endParaRPr lang="it-IT"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4" name="PlaceHolder 1"/>
          <p:cNvSpPr>
            <a:spLocks noGrp="1" noRot="1" noChangeAspect="1"/>
          </p:cNvSpPr>
          <p:nvPr>
            <p:ph type="sldImg"/>
          </p:nvPr>
        </p:nvSpPr>
        <p:spPr>
          <a:xfrm>
            <a:off x="422275" y="1241425"/>
            <a:ext cx="5953125" cy="3349625"/>
          </a:xfrm>
          <a:prstGeom prst="rect">
            <a:avLst/>
          </a:prstGeom>
          <a:ln w="0">
            <a:noFill/>
          </a:ln>
        </p:spPr>
      </p:sp>
      <p:sp>
        <p:nvSpPr>
          <p:cNvPr id="645"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46" name="PlaceHolder 3"/>
          <p:cNvSpPr>
            <a:spLocks noGrp="1"/>
          </p:cNvSpPr>
          <p:nvPr>
            <p:ph type="sldNum" idx="9"/>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4B0C987-430C-48A8-9025-891CF3B7058B}" type="slidenum">
              <a:rPr lang="en-US" sz="1200" b="0" u="none" strike="noStrike">
                <a:solidFill>
                  <a:schemeClr val="dk1"/>
                </a:solidFill>
                <a:effectLst/>
                <a:uFillTx/>
                <a:latin typeface="+mn-lt"/>
                <a:ea typeface="+mn-ea"/>
              </a:rPr>
              <a:t>57</a:t>
            </a:fld>
            <a:endParaRPr lang="it-IT"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7" name="PlaceHolder 1"/>
          <p:cNvSpPr>
            <a:spLocks noGrp="1" noRot="1" noChangeAspect="1"/>
          </p:cNvSpPr>
          <p:nvPr>
            <p:ph type="sldImg"/>
          </p:nvPr>
        </p:nvSpPr>
        <p:spPr>
          <a:xfrm>
            <a:off x="422275" y="1241425"/>
            <a:ext cx="5953125" cy="3349625"/>
          </a:xfrm>
          <a:prstGeom prst="rect">
            <a:avLst/>
          </a:prstGeom>
          <a:ln w="0">
            <a:noFill/>
          </a:ln>
        </p:spPr>
      </p:sp>
      <p:sp>
        <p:nvSpPr>
          <p:cNvPr id="648"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49" name="PlaceHolder 3"/>
          <p:cNvSpPr>
            <a:spLocks noGrp="1"/>
          </p:cNvSpPr>
          <p:nvPr>
            <p:ph type="sldNum" idx="10"/>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C448561-6EEC-4E05-8A88-8302FD804FA0}" type="slidenum">
              <a:rPr lang="en-US" sz="1200" b="0" u="none" strike="noStrike">
                <a:solidFill>
                  <a:schemeClr val="dk1"/>
                </a:solidFill>
                <a:effectLst/>
                <a:uFillTx/>
                <a:latin typeface="+mn-lt"/>
                <a:ea typeface="+mn-ea"/>
              </a:rPr>
              <a:t>60</a:t>
            </a:fld>
            <a:endParaRPr lang="it-IT"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0" name="PlaceHolder 1"/>
          <p:cNvSpPr>
            <a:spLocks noGrp="1" noRot="1" noChangeAspect="1"/>
          </p:cNvSpPr>
          <p:nvPr>
            <p:ph type="sldImg"/>
          </p:nvPr>
        </p:nvSpPr>
        <p:spPr>
          <a:xfrm>
            <a:off x="422275" y="1241425"/>
            <a:ext cx="5953125" cy="3349625"/>
          </a:xfrm>
          <a:prstGeom prst="rect">
            <a:avLst/>
          </a:prstGeom>
          <a:ln w="0">
            <a:noFill/>
          </a:ln>
        </p:spPr>
      </p:sp>
      <p:sp>
        <p:nvSpPr>
          <p:cNvPr id="651"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52" name="PlaceHolder 3"/>
          <p:cNvSpPr>
            <a:spLocks noGrp="1"/>
          </p:cNvSpPr>
          <p:nvPr>
            <p:ph type="sldNum" idx="11"/>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FDDDEEC-92D4-4823-8041-25A1D6C7B1C8}" type="slidenum">
              <a:rPr lang="en-US" sz="1200" b="0" u="none" strike="noStrike">
                <a:solidFill>
                  <a:schemeClr val="dk1"/>
                </a:solidFill>
                <a:effectLst/>
                <a:uFillTx/>
                <a:latin typeface="+mn-lt"/>
                <a:ea typeface="+mn-ea"/>
              </a:rPr>
              <a:t>62</a:t>
            </a:fld>
            <a:endParaRPr lang="it-IT" sz="12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3" name="PlaceHolder 1"/>
          <p:cNvSpPr>
            <a:spLocks noGrp="1" noRot="1" noChangeAspect="1"/>
          </p:cNvSpPr>
          <p:nvPr>
            <p:ph type="sldImg"/>
          </p:nvPr>
        </p:nvSpPr>
        <p:spPr>
          <a:xfrm>
            <a:off x="422275" y="1241425"/>
            <a:ext cx="5953125" cy="3349625"/>
          </a:xfrm>
          <a:prstGeom prst="rect">
            <a:avLst/>
          </a:prstGeom>
          <a:ln w="0">
            <a:noFill/>
          </a:ln>
        </p:spPr>
      </p:sp>
      <p:sp>
        <p:nvSpPr>
          <p:cNvPr id="654"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55" name="PlaceHolder 3"/>
          <p:cNvSpPr>
            <a:spLocks noGrp="1"/>
          </p:cNvSpPr>
          <p:nvPr>
            <p:ph type="sldNum" idx="12"/>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3C03081-972E-4770-B683-AA59441FCE93}" type="slidenum">
              <a:rPr lang="en-US" sz="1200" b="0" u="none" strike="noStrike">
                <a:solidFill>
                  <a:schemeClr val="dk1"/>
                </a:solidFill>
                <a:effectLst/>
                <a:uFillTx/>
                <a:latin typeface="+mn-lt"/>
                <a:ea typeface="+mn-ea"/>
              </a:rPr>
              <a:t>64</a:t>
            </a:fld>
            <a:endParaRPr lang="it-IT"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PlaceHolder 1"/>
          <p:cNvSpPr>
            <a:spLocks noGrp="1" noRot="1" noChangeAspect="1"/>
          </p:cNvSpPr>
          <p:nvPr>
            <p:ph type="sldImg"/>
          </p:nvPr>
        </p:nvSpPr>
        <p:spPr>
          <a:xfrm>
            <a:off x="422275" y="1241425"/>
            <a:ext cx="5953125" cy="3349625"/>
          </a:xfrm>
          <a:prstGeom prst="rect">
            <a:avLst/>
          </a:prstGeom>
          <a:ln w="0">
            <a:noFill/>
          </a:ln>
        </p:spPr>
      </p:sp>
      <p:sp>
        <p:nvSpPr>
          <p:cNvPr id="657"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58" name="PlaceHolder 3"/>
          <p:cNvSpPr>
            <a:spLocks noGrp="1"/>
          </p:cNvSpPr>
          <p:nvPr>
            <p:ph type="sldNum" idx="13"/>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3B0858-1D02-4B2E-9848-4CB94749DD28}" type="slidenum">
              <a:rPr lang="en-US" sz="1200" b="0" u="none" strike="noStrike">
                <a:solidFill>
                  <a:schemeClr val="dk1"/>
                </a:solidFill>
                <a:effectLst/>
                <a:uFillTx/>
                <a:latin typeface="+mn-lt"/>
                <a:ea typeface="+mn-ea"/>
              </a:rPr>
              <a:t>69</a:t>
            </a:fld>
            <a:endParaRPr lang="it-IT"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noRot="1" noChangeAspect="1"/>
          </p:cNvSpPr>
          <p:nvPr>
            <p:ph type="sldImg"/>
          </p:nvPr>
        </p:nvSpPr>
        <p:spPr>
          <a:xfrm>
            <a:off x="422275" y="1241425"/>
            <a:ext cx="5953125" cy="3349625"/>
          </a:xfrm>
          <a:prstGeom prst="rect">
            <a:avLst/>
          </a:prstGeom>
          <a:ln w="0">
            <a:noFill/>
          </a:ln>
        </p:spPr>
      </p:sp>
      <p:sp>
        <p:nvSpPr>
          <p:cNvPr id="660"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61" name="PlaceHolder 3"/>
          <p:cNvSpPr>
            <a:spLocks noGrp="1"/>
          </p:cNvSpPr>
          <p:nvPr>
            <p:ph type="sldNum" idx="14"/>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877BADA-D93F-46D8-AF33-6DA5DD8E9336}" type="slidenum">
              <a:rPr lang="en-US" sz="1200" b="0" u="none" strike="noStrike">
                <a:solidFill>
                  <a:schemeClr val="dk1"/>
                </a:solidFill>
                <a:effectLst/>
                <a:uFillTx/>
                <a:latin typeface="+mn-lt"/>
                <a:ea typeface="+mn-ea"/>
              </a:rPr>
              <a:t>73</a:t>
            </a:fld>
            <a:endParaRPr lang="it-IT"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2" name="PlaceHolder 1"/>
          <p:cNvSpPr>
            <a:spLocks noGrp="1" noRot="1" noChangeAspect="1"/>
          </p:cNvSpPr>
          <p:nvPr>
            <p:ph type="sldImg"/>
          </p:nvPr>
        </p:nvSpPr>
        <p:spPr>
          <a:xfrm>
            <a:off x="422275" y="1241425"/>
            <a:ext cx="5953125" cy="3349625"/>
          </a:xfrm>
          <a:prstGeom prst="rect">
            <a:avLst/>
          </a:prstGeom>
          <a:ln w="0">
            <a:noFill/>
          </a:ln>
        </p:spPr>
      </p:sp>
      <p:sp>
        <p:nvSpPr>
          <p:cNvPr id="663"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64" name="PlaceHolder 3"/>
          <p:cNvSpPr>
            <a:spLocks noGrp="1"/>
          </p:cNvSpPr>
          <p:nvPr>
            <p:ph type="sldNum" idx="15"/>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D40A9A0-E301-478F-9B84-289868005CF0}" type="slidenum">
              <a:rPr lang="en-US" sz="1200" b="0" u="none" strike="noStrike">
                <a:solidFill>
                  <a:schemeClr val="dk1"/>
                </a:solidFill>
                <a:effectLst/>
                <a:uFillTx/>
                <a:latin typeface="+mn-lt"/>
                <a:ea typeface="+mn-ea"/>
              </a:rPr>
              <a:t>76</a:t>
            </a:fld>
            <a:endParaRPr lang="it-IT" sz="1200" b="0" u="none" strike="noStrike">
              <a:solidFill>
                <a:srgbClr val="000000"/>
              </a:solidFill>
              <a:effectLst/>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 name="PlaceHolder 1"/>
          <p:cNvSpPr>
            <a:spLocks noGrp="1" noRot="1" noChangeAspect="1"/>
          </p:cNvSpPr>
          <p:nvPr>
            <p:ph type="sldImg"/>
          </p:nvPr>
        </p:nvSpPr>
        <p:spPr>
          <a:xfrm>
            <a:off x="422275" y="1241425"/>
            <a:ext cx="5953125" cy="3349625"/>
          </a:xfrm>
          <a:prstGeom prst="rect">
            <a:avLst/>
          </a:prstGeom>
          <a:ln w="0">
            <a:noFill/>
          </a:ln>
        </p:spPr>
      </p:sp>
      <p:sp>
        <p:nvSpPr>
          <p:cNvPr id="666"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67" name="PlaceHolder 3"/>
          <p:cNvSpPr>
            <a:spLocks noGrp="1"/>
          </p:cNvSpPr>
          <p:nvPr>
            <p:ph type="sldNum" idx="16"/>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F562F18-CE66-456D-8B16-CF95B573AD82}" type="slidenum">
              <a:rPr lang="en-US" sz="1200" b="0" u="none" strike="noStrike">
                <a:solidFill>
                  <a:schemeClr val="dk1"/>
                </a:solidFill>
                <a:effectLst/>
                <a:uFillTx/>
                <a:latin typeface="+mn-lt"/>
                <a:ea typeface="+mn-ea"/>
              </a:rPr>
              <a:t>79</a:t>
            </a:fld>
            <a:endParaRPr lang="it-IT"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 name="PlaceHolder 1"/>
          <p:cNvSpPr>
            <a:spLocks noGrp="1" noRot="1" noChangeAspect="1"/>
          </p:cNvSpPr>
          <p:nvPr>
            <p:ph type="sldImg"/>
          </p:nvPr>
        </p:nvSpPr>
        <p:spPr>
          <a:xfrm>
            <a:off x="422275" y="1241425"/>
            <a:ext cx="5953125" cy="3349625"/>
          </a:xfrm>
          <a:prstGeom prst="rect">
            <a:avLst/>
          </a:prstGeom>
          <a:ln w="0">
            <a:noFill/>
          </a:ln>
        </p:spPr>
      </p:sp>
      <p:sp>
        <p:nvSpPr>
          <p:cNvPr id="669"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70" name="PlaceHolder 3"/>
          <p:cNvSpPr>
            <a:spLocks noGrp="1"/>
          </p:cNvSpPr>
          <p:nvPr>
            <p:ph type="sldNum" idx="17"/>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02E6842-D1FE-42CA-87E0-4A9400B0D1A3}" type="slidenum">
              <a:rPr lang="en-US" sz="1200" b="0" u="none" strike="noStrike">
                <a:solidFill>
                  <a:schemeClr val="dk1"/>
                </a:solidFill>
                <a:effectLst/>
                <a:uFillTx/>
                <a:latin typeface="+mn-lt"/>
                <a:ea typeface="+mn-ea"/>
              </a:rPr>
              <a:t>82</a:t>
            </a:fld>
            <a:endParaRPr lang="it-IT"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1" name="PlaceHolder 1"/>
          <p:cNvSpPr>
            <a:spLocks noGrp="1" noRot="1" noChangeAspect="1"/>
          </p:cNvSpPr>
          <p:nvPr>
            <p:ph type="sldImg"/>
          </p:nvPr>
        </p:nvSpPr>
        <p:spPr>
          <a:xfrm>
            <a:off x="422275" y="1241425"/>
            <a:ext cx="5953125" cy="3349625"/>
          </a:xfrm>
          <a:prstGeom prst="rect">
            <a:avLst/>
          </a:prstGeom>
          <a:ln w="0">
            <a:noFill/>
          </a:ln>
        </p:spPr>
      </p:sp>
      <p:sp>
        <p:nvSpPr>
          <p:cNvPr id="672"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73" name="PlaceHolder 3"/>
          <p:cNvSpPr>
            <a:spLocks noGrp="1"/>
          </p:cNvSpPr>
          <p:nvPr>
            <p:ph type="sldNum" idx="18"/>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563A00B-C794-412E-98E9-358A6284E294}" type="slidenum">
              <a:rPr lang="en-US" sz="1200" b="0" u="none" strike="noStrike">
                <a:solidFill>
                  <a:schemeClr val="dk1"/>
                </a:solidFill>
                <a:effectLst/>
                <a:uFillTx/>
                <a:latin typeface="+mn-lt"/>
                <a:ea typeface="+mn-ea"/>
              </a:rPr>
              <a:t>85</a:t>
            </a:fld>
            <a:endParaRPr lang="it-IT" sz="1200" b="0" u="none" strike="noStrike">
              <a:solidFill>
                <a:srgbClr val="000000"/>
              </a:solidFill>
              <a:effectLst/>
              <a:uFillTx/>
              <a:latin typeface="Times New Roman"/>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 name="PlaceHolder 1"/>
          <p:cNvSpPr>
            <a:spLocks noGrp="1" noRot="1" noChangeAspect="1"/>
          </p:cNvSpPr>
          <p:nvPr>
            <p:ph type="sldImg"/>
          </p:nvPr>
        </p:nvSpPr>
        <p:spPr>
          <a:xfrm>
            <a:off x="422275" y="1241425"/>
            <a:ext cx="5953125" cy="3349625"/>
          </a:xfrm>
          <a:prstGeom prst="rect">
            <a:avLst/>
          </a:prstGeom>
          <a:ln w="0">
            <a:noFill/>
          </a:ln>
        </p:spPr>
      </p:sp>
      <p:sp>
        <p:nvSpPr>
          <p:cNvPr id="675"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76" name="PlaceHolder 3"/>
          <p:cNvSpPr>
            <a:spLocks noGrp="1"/>
          </p:cNvSpPr>
          <p:nvPr>
            <p:ph type="sldNum" idx="19"/>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F2D2AA3-9333-4E79-84C1-B4401A187F6C}" type="slidenum">
              <a:rPr lang="en-US" sz="1200" b="0" u="none" strike="noStrike">
                <a:solidFill>
                  <a:schemeClr val="dk1"/>
                </a:solidFill>
                <a:effectLst/>
                <a:uFillTx/>
                <a:latin typeface="+mn-lt"/>
                <a:ea typeface="+mn-ea"/>
              </a:rPr>
              <a:t>87</a:t>
            </a:fld>
            <a:endParaRPr lang="it-IT"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noRot="1" noChangeAspect="1"/>
          </p:cNvSpPr>
          <p:nvPr>
            <p:ph type="sldImg"/>
          </p:nvPr>
        </p:nvSpPr>
        <p:spPr>
          <a:xfrm>
            <a:off x="422275" y="1241425"/>
            <a:ext cx="5953125" cy="3349625"/>
          </a:xfrm>
          <a:prstGeom prst="rect">
            <a:avLst/>
          </a:prstGeom>
          <a:ln w="0">
            <a:noFill/>
          </a:ln>
        </p:spPr>
      </p:sp>
      <p:sp>
        <p:nvSpPr>
          <p:cNvPr id="678"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79" name="PlaceHolder 3"/>
          <p:cNvSpPr>
            <a:spLocks noGrp="1"/>
          </p:cNvSpPr>
          <p:nvPr>
            <p:ph type="sldNum" idx="20"/>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15EAAB5-C41F-442D-9324-7A49F8E2021D}" type="slidenum">
              <a:rPr lang="en-US" sz="1200" b="0" u="none" strike="noStrike">
                <a:solidFill>
                  <a:schemeClr val="dk1"/>
                </a:solidFill>
                <a:effectLst/>
                <a:uFillTx/>
                <a:latin typeface="+mn-lt"/>
                <a:ea typeface="+mn-ea"/>
              </a:rPr>
              <a:t>90</a:t>
            </a:fld>
            <a:endParaRPr lang="it-IT"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0" name="PlaceHolder 1"/>
          <p:cNvSpPr>
            <a:spLocks noGrp="1" noRot="1" noChangeAspect="1"/>
          </p:cNvSpPr>
          <p:nvPr>
            <p:ph type="sldImg"/>
          </p:nvPr>
        </p:nvSpPr>
        <p:spPr>
          <a:xfrm>
            <a:off x="422275" y="1241425"/>
            <a:ext cx="5953125" cy="3349625"/>
          </a:xfrm>
          <a:prstGeom prst="rect">
            <a:avLst/>
          </a:prstGeom>
          <a:ln w="0">
            <a:noFill/>
          </a:ln>
        </p:spPr>
      </p:sp>
      <p:sp>
        <p:nvSpPr>
          <p:cNvPr id="681"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82" name="PlaceHolder 3"/>
          <p:cNvSpPr>
            <a:spLocks noGrp="1"/>
          </p:cNvSpPr>
          <p:nvPr>
            <p:ph type="sldNum" idx="21"/>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7FA3C86-D727-4424-AE50-880523A98F3F}" type="slidenum">
              <a:rPr lang="en-US" sz="1200" b="0" u="none" strike="noStrike">
                <a:solidFill>
                  <a:schemeClr val="dk1"/>
                </a:solidFill>
                <a:effectLst/>
                <a:uFillTx/>
                <a:latin typeface="+mn-lt"/>
                <a:ea typeface="+mn-ea"/>
              </a:rPr>
              <a:t>93</a:t>
            </a:fld>
            <a:endParaRPr lang="it-IT" sz="1200" b="0" u="none" strike="noStrike">
              <a:solidFill>
                <a:srgbClr val="000000"/>
              </a:solidFill>
              <a:effectLst/>
              <a:uFillTx/>
              <a:latin typeface="Times New Roman"/>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 name="PlaceHolder 1"/>
          <p:cNvSpPr>
            <a:spLocks noGrp="1" noRot="1" noChangeAspect="1"/>
          </p:cNvSpPr>
          <p:nvPr>
            <p:ph type="sldImg"/>
          </p:nvPr>
        </p:nvSpPr>
        <p:spPr>
          <a:xfrm>
            <a:off x="422275" y="1241425"/>
            <a:ext cx="5953125" cy="3349625"/>
          </a:xfrm>
          <a:prstGeom prst="rect">
            <a:avLst/>
          </a:prstGeom>
          <a:ln w="0">
            <a:noFill/>
          </a:ln>
        </p:spPr>
      </p:sp>
      <p:sp>
        <p:nvSpPr>
          <p:cNvPr id="684"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85" name="PlaceHolder 3"/>
          <p:cNvSpPr>
            <a:spLocks noGrp="1"/>
          </p:cNvSpPr>
          <p:nvPr>
            <p:ph type="sldNum" idx="22"/>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1DA9820-953F-4681-80D4-E35A50193150}" type="slidenum">
              <a:rPr lang="en-US" sz="1200" b="0" u="none" strike="noStrike">
                <a:solidFill>
                  <a:schemeClr val="dk1"/>
                </a:solidFill>
                <a:effectLst/>
                <a:uFillTx/>
                <a:latin typeface="+mn-lt"/>
                <a:ea typeface="+mn-ea"/>
              </a:rPr>
              <a:t>96</a:t>
            </a:fld>
            <a:endParaRPr lang="it-IT" sz="1200" b="0" u="none" strike="noStrike">
              <a:solidFill>
                <a:srgbClr val="000000"/>
              </a:solidFill>
              <a:effectLst/>
              <a:uFillTx/>
              <a:latin typeface="Times New Roman"/>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 name="PlaceHolder 1"/>
          <p:cNvSpPr>
            <a:spLocks noGrp="1" noRot="1" noChangeAspect="1"/>
          </p:cNvSpPr>
          <p:nvPr>
            <p:ph type="sldImg"/>
          </p:nvPr>
        </p:nvSpPr>
        <p:spPr>
          <a:xfrm>
            <a:off x="422275" y="1241425"/>
            <a:ext cx="5953125" cy="3349625"/>
          </a:xfrm>
          <a:prstGeom prst="rect">
            <a:avLst/>
          </a:prstGeom>
          <a:ln w="0">
            <a:noFill/>
          </a:ln>
        </p:spPr>
      </p:sp>
      <p:sp>
        <p:nvSpPr>
          <p:cNvPr id="687"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688" name="PlaceHolder 3"/>
          <p:cNvSpPr>
            <a:spLocks noGrp="1"/>
          </p:cNvSpPr>
          <p:nvPr>
            <p:ph type="sldNum" idx="23"/>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D490880-7D01-4772-9E6A-C36C7E1EEBE5}" type="slidenum">
              <a:rPr lang="en-US" sz="1200" b="0" u="none" strike="noStrike">
                <a:solidFill>
                  <a:schemeClr val="dk1"/>
                </a:solidFill>
                <a:effectLst/>
                <a:uFillTx/>
                <a:latin typeface="+mn-lt"/>
                <a:ea typeface="+mn-ea"/>
              </a:rPr>
              <a:t>99</a:t>
            </a:fld>
            <a:endParaRPr lang="it-IT" sz="1200" b="0" u="none" strike="noStrike">
              <a:solidFill>
                <a:srgbClr val="000000"/>
              </a:solidFill>
              <a:effectLst/>
              <a:uFillTx/>
              <a:latin typeface="Times New Roman"/>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1024 = 512 (dilation rate) *2, which is the</a:t>
            </a:r>
            <a:r>
              <a:rPr lang="it-IT" baseline="0" dirty="0"/>
              <a:t> total number of covered inputs</a:t>
            </a:r>
            <a:endParaRPr lang="en-US" dirty="0"/>
          </a:p>
        </p:txBody>
      </p:sp>
      <p:sp>
        <p:nvSpPr>
          <p:cNvPr id="4" name="Slide Number Placeholder 3"/>
          <p:cNvSpPr>
            <a:spLocks noGrp="1"/>
          </p:cNvSpPr>
          <p:nvPr>
            <p:ph type="sldNum" sz="quarter" idx="10"/>
          </p:nvPr>
        </p:nvSpPr>
        <p:spPr/>
        <p:txBody>
          <a:bodyPr/>
          <a:lstStyle/>
          <a:p>
            <a:fld id="{7C12A7BB-C806-408E-98F8-F94064009E3A}" type="slidenum">
              <a:rPr lang="en-US" smtClean="0"/>
              <a:t>196</a:t>
            </a:fld>
            <a:endParaRPr lang="en-US"/>
          </a:p>
        </p:txBody>
      </p:sp>
    </p:spTree>
    <p:extLst>
      <p:ext uri="{BB962C8B-B14F-4D97-AF65-F5344CB8AC3E}">
        <p14:creationId xmlns:p14="http://schemas.microsoft.com/office/powerpoint/2010/main" val="257881299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Remember also: [3]*2 + [5]*3 = [3, 3, 5, 5, 5]</a:t>
            </a:r>
          </a:p>
          <a:p>
            <a:endParaRPr lang="it-IT" dirty="0"/>
          </a:p>
          <a:p>
            <a:r>
              <a:rPr lang="en-US" dirty="0"/>
              <a:t>import </a:t>
            </a:r>
            <a:r>
              <a:rPr lang="en-US" dirty="0" err="1"/>
              <a:t>numpy</a:t>
            </a:r>
            <a:r>
              <a:rPr lang="en-US" dirty="0"/>
              <a:t> as np</a:t>
            </a:r>
          </a:p>
          <a:p>
            <a:r>
              <a:rPr lang="en-US" dirty="0"/>
              <a:t>a = </a:t>
            </a:r>
            <a:r>
              <a:rPr lang="en-US" dirty="0" err="1"/>
              <a:t>np.array</a:t>
            </a:r>
            <a:r>
              <a:rPr lang="en-US" dirty="0"/>
              <a:t>([3, 2, 1])</a:t>
            </a:r>
          </a:p>
          <a:p>
            <a:r>
              <a:rPr lang="en-US" dirty="0"/>
              <a:t>print(a*2)</a:t>
            </a:r>
          </a:p>
          <a:p>
            <a:r>
              <a:rPr lang="en-US" dirty="0"/>
              <a:t>a = [3, 2, 1]</a:t>
            </a:r>
          </a:p>
          <a:p>
            <a:r>
              <a:rPr lang="en-US" dirty="0"/>
              <a:t>print(a*2)</a:t>
            </a:r>
          </a:p>
        </p:txBody>
      </p:sp>
      <p:sp>
        <p:nvSpPr>
          <p:cNvPr id="4" name="Slide Number Placeholder 3"/>
          <p:cNvSpPr>
            <a:spLocks noGrp="1"/>
          </p:cNvSpPr>
          <p:nvPr>
            <p:ph type="sldNum" sz="quarter" idx="10"/>
          </p:nvPr>
        </p:nvSpPr>
        <p:spPr/>
        <p:txBody>
          <a:bodyPr/>
          <a:lstStyle/>
          <a:p>
            <a:fld id="{7C12A7BB-C806-408E-98F8-F94064009E3A}" type="slidenum">
              <a:rPr lang="en-US" smtClean="0"/>
              <a:t>197</a:t>
            </a:fld>
            <a:endParaRPr lang="en-US"/>
          </a:p>
        </p:txBody>
      </p:sp>
    </p:spTree>
    <p:extLst>
      <p:ext uri="{BB962C8B-B14F-4D97-AF65-F5344CB8AC3E}">
        <p14:creationId xmlns:p14="http://schemas.microsoft.com/office/powerpoint/2010/main" val="102022239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PlaceHolder 1"/>
          <p:cNvSpPr>
            <a:spLocks noGrp="1" noRot="1" noChangeAspect="1"/>
          </p:cNvSpPr>
          <p:nvPr>
            <p:ph type="sldImg"/>
          </p:nvPr>
        </p:nvSpPr>
        <p:spPr>
          <a:xfrm>
            <a:off x="422275" y="1241425"/>
            <a:ext cx="5953125" cy="3349625"/>
          </a:xfrm>
          <a:prstGeom prst="rect">
            <a:avLst/>
          </a:prstGeom>
          <a:ln w="0">
            <a:noFill/>
          </a:ln>
        </p:spPr>
      </p:sp>
      <p:sp>
        <p:nvSpPr>
          <p:cNvPr id="739"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40" name="PlaceHolder 3"/>
          <p:cNvSpPr>
            <a:spLocks noGrp="1"/>
          </p:cNvSpPr>
          <p:nvPr>
            <p:ph type="sldNum" idx="22"/>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AA660A8-BACB-47F0-8C2C-3714BFF05C8A}" type="slidenum">
              <a:rPr lang="en-US" sz="1200" b="0" u="none" strike="noStrike">
                <a:solidFill>
                  <a:schemeClr val="dk1"/>
                </a:solidFill>
                <a:effectLst/>
                <a:uFillTx/>
                <a:latin typeface="+mn-lt"/>
                <a:ea typeface="+mn-ea"/>
              </a:rPr>
              <a:t>201</a:t>
            </a:fld>
            <a:endParaRPr lang="it-IT" sz="1200" b="0" u="none" strike="noStrike">
              <a:solidFill>
                <a:srgbClr val="000000"/>
              </a:solidFill>
              <a:effectLst/>
              <a:uFillTx/>
              <a:latin typeface="Times New Roman"/>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C53B9FCC-2B9F-4A8A-A0C9-8A20A3F0873B}"/>
              </a:ext>
            </a:extLst>
          </p:cNvPr>
          <p:cNvSpPr>
            <a:spLocks noGrp="1" noChangeArrowheads="1"/>
          </p:cNvSpPr>
          <p:nvPr>
            <p:ph type="sldNum"/>
          </p:nvPr>
        </p:nvSpPr>
        <p:spPr>
          <a:ln/>
        </p:spPr>
        <p:txBody>
          <a:bodyPr/>
          <a:lstStyle/>
          <a:p>
            <a:fld id="{608D7C5F-963B-4107-8188-0FB48FD42570}" type="slidenum">
              <a:rPr lang="it-IT" altLang="en-US"/>
              <a:pPr/>
              <a:t>203</a:t>
            </a:fld>
            <a:endParaRPr lang="it-IT" altLang="en-US"/>
          </a:p>
        </p:txBody>
      </p:sp>
      <p:sp>
        <p:nvSpPr>
          <p:cNvPr id="4097" name="Rectangle 1">
            <a:extLst>
              <a:ext uri="{FF2B5EF4-FFF2-40B4-BE49-F238E27FC236}">
                <a16:creationId xmlns:a16="http://schemas.microsoft.com/office/drawing/2014/main" id="{A59CF56E-3B0E-3E1E-2042-6C2C9598C588}"/>
              </a:ext>
            </a:extLst>
          </p:cNvPr>
          <p:cNvSpPr txBox="1">
            <a:spLocks noGrp="1" noRot="1" noChangeAspect="1" noChangeArrowheads="1"/>
          </p:cNvSpPr>
          <p:nvPr>
            <p:ph type="sldImg"/>
          </p:nvPr>
        </p:nvSpPr>
        <p:spPr bwMode="auto">
          <a:xfrm>
            <a:off x="422275" y="1241425"/>
            <a:ext cx="5953125" cy="3349625"/>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4098" name="Text Box 2">
            <a:extLst>
              <a:ext uri="{FF2B5EF4-FFF2-40B4-BE49-F238E27FC236}">
                <a16:creationId xmlns:a16="http://schemas.microsoft.com/office/drawing/2014/main" id="{7F884A50-70BC-9CD3-4D30-5DD186DDC8F5}"/>
              </a:ext>
            </a:extLst>
          </p:cNvPr>
          <p:cNvSpPr txBox="1">
            <a:spLocks noGrp="1" noChangeArrowheads="1"/>
          </p:cNvSpPr>
          <p:nvPr>
            <p:ph type="body" idx="1"/>
          </p:nvPr>
        </p:nvSpPr>
        <p:spPr bwMode="auto">
          <a:xfrm>
            <a:off x="679768" y="4777958"/>
            <a:ext cx="5438140" cy="39092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eaLnBrk="1">
              <a:spcBef>
                <a:spcPts val="13"/>
              </a:spcBef>
              <a:spcAft>
                <a:spcPts val="13"/>
              </a:spcAft>
              <a:tabLst>
                <a:tab pos="914400" algn="l"/>
                <a:tab pos="1828800" algn="l"/>
                <a:tab pos="2743200" algn="l"/>
                <a:tab pos="3657600" algn="l"/>
                <a:tab pos="4572000" algn="l"/>
                <a:tab pos="5486400" algn="l"/>
              </a:tabLst>
            </a:pPr>
            <a:endParaRPr lang="en-US" altLang="en-US" sz="2000" dirty="0">
              <a:latin typeface="Arial" panose="020B0604020202020204" pitchFamily="34" charset="0"/>
              <a:ea typeface="Microsoft YaHei" panose="020B0503020204020204" pitchFamily="34" charset="-122"/>
            </a:endParaRPr>
          </a:p>
        </p:txBody>
      </p:sp>
      <p:sp>
        <p:nvSpPr>
          <p:cNvPr id="4099" name="Text Box 3">
            <a:extLst>
              <a:ext uri="{FF2B5EF4-FFF2-40B4-BE49-F238E27FC236}">
                <a16:creationId xmlns:a16="http://schemas.microsoft.com/office/drawing/2014/main" id="{D8357F7C-94EB-9AD9-A74D-211E2D7FE889}"/>
              </a:ext>
            </a:extLst>
          </p:cNvPr>
          <p:cNvSpPr txBox="1">
            <a:spLocks noChangeArrowheads="1"/>
          </p:cNvSpPr>
          <p:nvPr/>
        </p:nvSpPr>
        <p:spPr bwMode="auto">
          <a:xfrm>
            <a:off x="3850443" y="9430091"/>
            <a:ext cx="2945659" cy="49813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914400" algn="l"/>
                <a:tab pos="1828800" algn="l"/>
                <a:tab pos="2743200" algn="l"/>
              </a:tabLst>
              <a:defRPr>
                <a:solidFill>
                  <a:srgbClr val="000000"/>
                </a:solidFill>
                <a:latin typeface="Arial" panose="020B0604020202020204" pitchFamily="34" charset="0"/>
                <a:ea typeface="Microsoft YaHei" panose="020B0503020204020204" pitchFamily="34" charset="-122"/>
              </a:defRPr>
            </a:lvl1pPr>
            <a:lvl2pPr>
              <a:tabLst>
                <a:tab pos="914400" algn="l"/>
                <a:tab pos="1828800" algn="l"/>
                <a:tab pos="2743200" algn="l"/>
              </a:tabLst>
              <a:defRPr>
                <a:solidFill>
                  <a:srgbClr val="000000"/>
                </a:solidFill>
                <a:latin typeface="Arial" panose="020B0604020202020204" pitchFamily="34" charset="0"/>
                <a:ea typeface="Microsoft YaHei" panose="020B0503020204020204" pitchFamily="34" charset="-122"/>
              </a:defRPr>
            </a:lvl2pPr>
            <a:lvl3pPr>
              <a:tabLst>
                <a:tab pos="914400" algn="l"/>
                <a:tab pos="1828800" algn="l"/>
                <a:tab pos="2743200" algn="l"/>
              </a:tabLst>
              <a:defRPr>
                <a:solidFill>
                  <a:srgbClr val="000000"/>
                </a:solidFill>
                <a:latin typeface="Arial" panose="020B0604020202020204" pitchFamily="34" charset="0"/>
                <a:ea typeface="Microsoft YaHei" panose="020B0503020204020204" pitchFamily="34" charset="-122"/>
              </a:defRPr>
            </a:lvl3pPr>
            <a:lvl4pPr>
              <a:tabLst>
                <a:tab pos="914400" algn="l"/>
                <a:tab pos="1828800" algn="l"/>
                <a:tab pos="2743200" algn="l"/>
              </a:tabLst>
              <a:defRPr>
                <a:solidFill>
                  <a:srgbClr val="000000"/>
                </a:solidFill>
                <a:latin typeface="Arial" panose="020B0604020202020204" pitchFamily="34" charset="0"/>
                <a:ea typeface="Microsoft YaHei" panose="020B0503020204020204" pitchFamily="34" charset="-122"/>
              </a:defRPr>
            </a:lvl4pPr>
            <a:lvl5pPr>
              <a:tabLst>
                <a:tab pos="914400" algn="l"/>
                <a:tab pos="1828800" algn="l"/>
                <a:tab pos="27432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914400" algn="l"/>
                <a:tab pos="1828800" algn="l"/>
                <a:tab pos="27432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914400" algn="l"/>
                <a:tab pos="1828800" algn="l"/>
                <a:tab pos="27432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914400" algn="l"/>
                <a:tab pos="1828800" algn="l"/>
                <a:tab pos="27432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914400" algn="l"/>
                <a:tab pos="1828800" algn="l"/>
                <a:tab pos="2743200" algn="l"/>
              </a:tabLst>
              <a:defRPr>
                <a:solidFill>
                  <a:srgbClr val="000000"/>
                </a:solidFill>
                <a:latin typeface="Arial" panose="020B0604020202020204" pitchFamily="34" charset="0"/>
                <a:ea typeface="Microsoft YaHei" panose="020B0503020204020204" pitchFamily="34" charset="-122"/>
              </a:defRPr>
            </a:lvl9pPr>
          </a:lstStyle>
          <a:p>
            <a:pPr algn="r" hangingPunct="1">
              <a:lnSpc>
                <a:spcPct val="100000"/>
              </a:lnSpc>
            </a:pPr>
            <a:fld id="{A6074EE3-090B-4101-A20C-2DC5F4B9BC7B}" type="slidenum">
              <a:rPr lang="en-US" altLang="en-US" sz="1200">
                <a:latin typeface="+mn-lt" charset="0"/>
                <a:cs typeface="+mn-ea" charset="0"/>
              </a:rPr>
              <a:pPr algn="r" hangingPunct="1">
                <a:lnSpc>
                  <a:spcPct val="100000"/>
                </a:lnSpc>
              </a:pPr>
              <a:t>203</a:t>
            </a:fld>
            <a:endParaRPr lang="en-US" altLang="en-US" sz="1200">
              <a:latin typeface="+mn-lt" charset="0"/>
              <a:cs typeface="+mn-ea" charset="0"/>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4" name="PlaceHolder 1"/>
          <p:cNvSpPr>
            <a:spLocks noGrp="1" noRot="1" noChangeAspect="1"/>
          </p:cNvSpPr>
          <p:nvPr>
            <p:ph type="sldImg"/>
          </p:nvPr>
        </p:nvSpPr>
        <p:spPr>
          <a:xfrm>
            <a:off x="422275" y="1241425"/>
            <a:ext cx="5953125" cy="3349625"/>
          </a:xfrm>
          <a:prstGeom prst="rect">
            <a:avLst/>
          </a:prstGeom>
          <a:ln w="0">
            <a:noFill/>
          </a:ln>
        </p:spPr>
      </p:sp>
      <p:sp>
        <p:nvSpPr>
          <p:cNvPr id="745"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46" name="PlaceHolder 3"/>
          <p:cNvSpPr>
            <a:spLocks noGrp="1"/>
          </p:cNvSpPr>
          <p:nvPr>
            <p:ph type="sldNum" idx="24"/>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F9907C1-D017-4A7D-8F91-19195FE0E7B5}" type="slidenum">
              <a:rPr lang="en-US" sz="1200" b="0" u="none" strike="noStrike">
                <a:solidFill>
                  <a:schemeClr val="dk1"/>
                </a:solidFill>
                <a:effectLst/>
                <a:uFillTx/>
                <a:latin typeface="+mn-lt"/>
                <a:ea typeface="+mn-ea"/>
              </a:rPr>
              <a:t>205</a:t>
            </a:fld>
            <a:endParaRPr lang="it-IT" sz="1200" b="0" u="none" strike="noStrike">
              <a:solidFill>
                <a:srgbClr val="000000"/>
              </a:solidFill>
              <a:effectLst/>
              <a:uFillTx/>
              <a:latin typeface="Times New Roman"/>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 name="PlaceHolder 1"/>
          <p:cNvSpPr>
            <a:spLocks noGrp="1" noRot="1" noChangeAspect="1"/>
          </p:cNvSpPr>
          <p:nvPr>
            <p:ph type="sldImg"/>
          </p:nvPr>
        </p:nvSpPr>
        <p:spPr>
          <a:xfrm>
            <a:off x="422275" y="1241425"/>
            <a:ext cx="5953125" cy="3349625"/>
          </a:xfrm>
          <a:prstGeom prst="rect">
            <a:avLst/>
          </a:prstGeom>
          <a:ln w="0">
            <a:noFill/>
          </a:ln>
        </p:spPr>
      </p:sp>
      <p:sp>
        <p:nvSpPr>
          <p:cNvPr id="748"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49" name="PlaceHolder 3"/>
          <p:cNvSpPr>
            <a:spLocks noGrp="1"/>
          </p:cNvSpPr>
          <p:nvPr>
            <p:ph type="sldNum" idx="25"/>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615F17D-45C6-48AB-9800-5EAFFFC64368}" type="slidenum">
              <a:rPr lang="en-US" sz="1200" b="0" u="none" strike="noStrike">
                <a:solidFill>
                  <a:schemeClr val="dk1"/>
                </a:solidFill>
                <a:effectLst/>
                <a:uFillTx/>
                <a:latin typeface="+mn-lt"/>
                <a:ea typeface="+mn-ea"/>
              </a:rPr>
              <a:t>207</a:t>
            </a:fld>
            <a:endParaRPr lang="it-IT" sz="1200" b="0" u="none" strike="noStrike">
              <a:solidFill>
                <a:srgbClr val="000000"/>
              </a:solidFill>
              <a:effectLst/>
              <a:uFillTx/>
              <a:latin typeface="Times New Roman"/>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0" name="PlaceHolder 1"/>
          <p:cNvSpPr>
            <a:spLocks noGrp="1" noRot="1" noChangeAspect="1"/>
          </p:cNvSpPr>
          <p:nvPr>
            <p:ph type="sldImg"/>
          </p:nvPr>
        </p:nvSpPr>
        <p:spPr>
          <a:xfrm>
            <a:off x="422275" y="1241425"/>
            <a:ext cx="5953125" cy="3349625"/>
          </a:xfrm>
          <a:prstGeom prst="rect">
            <a:avLst/>
          </a:prstGeom>
          <a:ln w="0">
            <a:noFill/>
          </a:ln>
        </p:spPr>
      </p:sp>
      <p:sp>
        <p:nvSpPr>
          <p:cNvPr id="751"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52" name="PlaceHolder 3"/>
          <p:cNvSpPr>
            <a:spLocks noGrp="1"/>
          </p:cNvSpPr>
          <p:nvPr>
            <p:ph type="sldNum" idx="26"/>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8A2B609-D1DB-49F6-A221-537466EFA50E}" type="slidenum">
              <a:rPr lang="en-US" sz="1200" b="0" u="none" strike="noStrike">
                <a:solidFill>
                  <a:schemeClr val="dk1"/>
                </a:solidFill>
                <a:effectLst/>
                <a:uFillTx/>
                <a:latin typeface="+mn-lt"/>
                <a:ea typeface="+mn-ea"/>
              </a:rPr>
              <a:t>209</a:t>
            </a:fld>
            <a:endParaRPr lang="it-IT" sz="1200" b="0" u="none" strike="noStrike">
              <a:solidFill>
                <a:srgbClr val="000000"/>
              </a:solidFill>
              <a:effectLst/>
              <a:uFillTx/>
              <a:latin typeface="Times New Roman"/>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3" name="PlaceHolder 1"/>
          <p:cNvSpPr>
            <a:spLocks noGrp="1" noRot="1" noChangeAspect="1"/>
          </p:cNvSpPr>
          <p:nvPr>
            <p:ph type="sldImg"/>
          </p:nvPr>
        </p:nvSpPr>
        <p:spPr>
          <a:xfrm>
            <a:off x="422275" y="1241425"/>
            <a:ext cx="5953125" cy="3349625"/>
          </a:xfrm>
          <a:prstGeom prst="rect">
            <a:avLst/>
          </a:prstGeom>
          <a:ln w="0">
            <a:noFill/>
          </a:ln>
        </p:spPr>
      </p:sp>
      <p:sp>
        <p:nvSpPr>
          <p:cNvPr id="754"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55" name="PlaceHolder 3"/>
          <p:cNvSpPr>
            <a:spLocks noGrp="1"/>
          </p:cNvSpPr>
          <p:nvPr>
            <p:ph type="sldNum" idx="27"/>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22D393B-C19A-4A80-B789-BD8698F40728}" type="slidenum">
              <a:rPr lang="en-US" sz="1200" b="0" u="none" strike="noStrike">
                <a:solidFill>
                  <a:schemeClr val="dk1"/>
                </a:solidFill>
                <a:effectLst/>
                <a:uFillTx/>
                <a:latin typeface="+mn-lt"/>
                <a:ea typeface="+mn-ea"/>
              </a:rPr>
              <a:t>212</a:t>
            </a:fld>
            <a:endParaRPr lang="it-IT" sz="1200" b="0" u="none" strike="noStrike">
              <a:solidFill>
                <a:srgbClr val="000000"/>
              </a:solidFill>
              <a:effectLst/>
              <a:uFillTx/>
              <a:latin typeface="Times New Roman"/>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 name="PlaceHolder 1"/>
          <p:cNvSpPr>
            <a:spLocks noGrp="1" noRot="1" noChangeAspect="1"/>
          </p:cNvSpPr>
          <p:nvPr>
            <p:ph type="sldImg"/>
          </p:nvPr>
        </p:nvSpPr>
        <p:spPr>
          <a:xfrm>
            <a:off x="422275" y="1241425"/>
            <a:ext cx="5953125" cy="3349625"/>
          </a:xfrm>
          <a:prstGeom prst="rect">
            <a:avLst/>
          </a:prstGeom>
          <a:ln w="0">
            <a:noFill/>
          </a:ln>
        </p:spPr>
      </p:sp>
      <p:sp>
        <p:nvSpPr>
          <p:cNvPr id="757"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58" name="PlaceHolder 3"/>
          <p:cNvSpPr>
            <a:spLocks noGrp="1"/>
          </p:cNvSpPr>
          <p:nvPr>
            <p:ph type="sldNum" idx="28"/>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4AB9023-5311-4311-999A-CAD1362EAD7A}" type="slidenum">
              <a:rPr lang="en-US" sz="1200" b="0" u="none" strike="noStrike">
                <a:solidFill>
                  <a:schemeClr val="dk1"/>
                </a:solidFill>
                <a:effectLst/>
                <a:uFillTx/>
                <a:latin typeface="+mn-lt"/>
                <a:ea typeface="+mn-ea"/>
              </a:rPr>
              <a:t>215</a:t>
            </a:fld>
            <a:endParaRPr lang="it-IT" sz="1200" b="0" u="none" strike="noStrike">
              <a:solidFill>
                <a:srgbClr val="000000"/>
              </a:solidFill>
              <a:effectLst/>
              <a:uFillTx/>
              <a:latin typeface="Times New Roman"/>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PlaceHolder 1"/>
          <p:cNvSpPr>
            <a:spLocks noGrp="1" noRot="1" noChangeAspect="1"/>
          </p:cNvSpPr>
          <p:nvPr>
            <p:ph type="sldImg"/>
          </p:nvPr>
        </p:nvSpPr>
        <p:spPr>
          <a:xfrm>
            <a:off x="422275" y="1241425"/>
            <a:ext cx="5953125" cy="3349625"/>
          </a:xfrm>
          <a:prstGeom prst="rect">
            <a:avLst/>
          </a:prstGeom>
          <a:ln w="0">
            <a:noFill/>
          </a:ln>
        </p:spPr>
      </p:sp>
      <p:sp>
        <p:nvSpPr>
          <p:cNvPr id="760"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61" name="PlaceHolder 3"/>
          <p:cNvSpPr>
            <a:spLocks noGrp="1"/>
          </p:cNvSpPr>
          <p:nvPr>
            <p:ph type="sldNum" idx="29"/>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9136A62-EB98-47D0-B97D-DE9D555DFD46}" type="slidenum">
              <a:rPr lang="en-US" sz="1200" b="0" u="none" strike="noStrike">
                <a:solidFill>
                  <a:schemeClr val="dk1"/>
                </a:solidFill>
                <a:effectLst/>
                <a:uFillTx/>
                <a:latin typeface="+mn-lt"/>
                <a:ea typeface="+mn-ea"/>
              </a:rPr>
              <a:t>217</a:t>
            </a:fld>
            <a:endParaRPr lang="it-IT" sz="1200" b="0" u="none" strike="noStrike">
              <a:solidFill>
                <a:srgbClr val="000000"/>
              </a:solidFill>
              <a:effectLst/>
              <a:uFillTx/>
              <a:latin typeface="Times New Roman"/>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2" name="PlaceHolder 1"/>
          <p:cNvSpPr>
            <a:spLocks noGrp="1" noRot="1" noChangeAspect="1"/>
          </p:cNvSpPr>
          <p:nvPr>
            <p:ph type="sldImg"/>
          </p:nvPr>
        </p:nvSpPr>
        <p:spPr>
          <a:xfrm>
            <a:off x="422275" y="1241425"/>
            <a:ext cx="5953125" cy="3349625"/>
          </a:xfrm>
          <a:prstGeom prst="rect">
            <a:avLst/>
          </a:prstGeom>
          <a:ln w="0">
            <a:noFill/>
          </a:ln>
        </p:spPr>
      </p:sp>
      <p:sp>
        <p:nvSpPr>
          <p:cNvPr id="763"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64" name="PlaceHolder 3"/>
          <p:cNvSpPr>
            <a:spLocks noGrp="1"/>
          </p:cNvSpPr>
          <p:nvPr>
            <p:ph type="sldNum" idx="30"/>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A04DE01-4B9E-40AB-A14A-82234DA70BC2}" type="slidenum">
              <a:rPr lang="en-US" sz="1200" b="0" u="none" strike="noStrike">
                <a:solidFill>
                  <a:schemeClr val="dk1"/>
                </a:solidFill>
                <a:effectLst/>
                <a:uFillTx/>
                <a:latin typeface="+mn-lt"/>
                <a:ea typeface="+mn-ea"/>
              </a:rPr>
              <a:t>220</a:t>
            </a:fld>
            <a:endParaRPr lang="it-IT" sz="1200" b="0" u="none" strike="noStrike">
              <a:solidFill>
                <a:srgbClr val="000000"/>
              </a:solidFill>
              <a:effectLst/>
              <a:uFillTx/>
              <a:latin typeface="Times New Roman"/>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5" name="PlaceHolder 1"/>
          <p:cNvSpPr>
            <a:spLocks noGrp="1" noRot="1" noChangeAspect="1"/>
          </p:cNvSpPr>
          <p:nvPr>
            <p:ph type="sldImg"/>
          </p:nvPr>
        </p:nvSpPr>
        <p:spPr>
          <a:xfrm>
            <a:off x="422275" y="1241425"/>
            <a:ext cx="5953125" cy="3349625"/>
          </a:xfrm>
          <a:prstGeom prst="rect">
            <a:avLst/>
          </a:prstGeom>
          <a:ln w="0">
            <a:noFill/>
          </a:ln>
        </p:spPr>
      </p:sp>
      <p:sp>
        <p:nvSpPr>
          <p:cNvPr id="766"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67" name="PlaceHolder 3"/>
          <p:cNvSpPr>
            <a:spLocks noGrp="1"/>
          </p:cNvSpPr>
          <p:nvPr>
            <p:ph type="sldNum" idx="31"/>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EB4EE75-F905-4EAA-8B3F-5208ABC45A5A}" type="slidenum">
              <a:rPr lang="en-US" sz="1200" b="0" u="none" strike="noStrike">
                <a:solidFill>
                  <a:schemeClr val="dk1"/>
                </a:solidFill>
                <a:effectLst/>
                <a:uFillTx/>
                <a:latin typeface="+mn-lt"/>
                <a:ea typeface="+mn-ea"/>
              </a:rPr>
              <a:t>224</a:t>
            </a:fld>
            <a:endParaRPr lang="it-IT" sz="1200" b="0" u="none" strike="noStrike">
              <a:solidFill>
                <a:srgbClr val="000000"/>
              </a:solidFill>
              <a:effectLst/>
              <a:uFillTx/>
              <a:latin typeface="Times New Roman"/>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 name="PlaceHolder 1"/>
          <p:cNvSpPr>
            <a:spLocks noGrp="1" noRot="1" noChangeAspect="1"/>
          </p:cNvSpPr>
          <p:nvPr>
            <p:ph type="sldImg"/>
          </p:nvPr>
        </p:nvSpPr>
        <p:spPr>
          <a:xfrm>
            <a:off x="422275" y="1241425"/>
            <a:ext cx="5953125" cy="3349625"/>
          </a:xfrm>
          <a:prstGeom prst="rect">
            <a:avLst/>
          </a:prstGeom>
          <a:ln w="0">
            <a:noFill/>
          </a:ln>
        </p:spPr>
      </p:sp>
      <p:sp>
        <p:nvSpPr>
          <p:cNvPr id="769"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70" name="PlaceHolder 3"/>
          <p:cNvSpPr>
            <a:spLocks noGrp="1"/>
          </p:cNvSpPr>
          <p:nvPr>
            <p:ph type="sldNum" idx="32"/>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0E856C3-0C44-4191-B08E-F32BCDCECBCE}" type="slidenum">
              <a:rPr lang="en-US" sz="1200" b="0" u="none" strike="noStrike">
                <a:solidFill>
                  <a:schemeClr val="dk1"/>
                </a:solidFill>
                <a:effectLst/>
                <a:uFillTx/>
                <a:latin typeface="+mn-lt"/>
                <a:ea typeface="+mn-ea"/>
              </a:rPr>
              <a:t>226</a:t>
            </a:fld>
            <a:endParaRPr lang="it-IT" sz="1200" b="0" u="none" strike="noStrike">
              <a:solidFill>
                <a:srgbClr val="000000"/>
              </a:solidFill>
              <a:effectLst/>
              <a:uFillTx/>
              <a:latin typeface="Times New Roman"/>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1" name="PlaceHolder 1"/>
          <p:cNvSpPr>
            <a:spLocks noGrp="1" noRot="1" noChangeAspect="1"/>
          </p:cNvSpPr>
          <p:nvPr>
            <p:ph type="sldImg"/>
          </p:nvPr>
        </p:nvSpPr>
        <p:spPr>
          <a:xfrm>
            <a:off x="422275" y="1241425"/>
            <a:ext cx="5953125" cy="3349625"/>
          </a:xfrm>
          <a:prstGeom prst="rect">
            <a:avLst/>
          </a:prstGeom>
          <a:ln w="0">
            <a:noFill/>
          </a:ln>
        </p:spPr>
      </p:sp>
      <p:sp>
        <p:nvSpPr>
          <p:cNvPr id="772"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73" name="PlaceHolder 3"/>
          <p:cNvSpPr>
            <a:spLocks noGrp="1"/>
          </p:cNvSpPr>
          <p:nvPr>
            <p:ph type="sldNum" idx="33"/>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793AE85-8867-4A70-B13B-426DDE4106F5}" type="slidenum">
              <a:rPr lang="en-US" sz="1200" b="0" u="none" strike="noStrike">
                <a:solidFill>
                  <a:schemeClr val="dk1"/>
                </a:solidFill>
                <a:effectLst/>
                <a:uFillTx/>
                <a:latin typeface="+mn-lt"/>
                <a:ea typeface="+mn-ea"/>
              </a:rPr>
              <a:t>231</a:t>
            </a:fld>
            <a:endParaRPr lang="it-IT" sz="1200" b="0" u="none" strike="noStrike">
              <a:solidFill>
                <a:srgbClr val="000000"/>
              </a:solidFill>
              <a:effectLst/>
              <a:uFillTx/>
              <a:latin typeface="Times New Roman"/>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4" name="PlaceHolder 1"/>
          <p:cNvSpPr>
            <a:spLocks noGrp="1" noRot="1" noChangeAspect="1"/>
          </p:cNvSpPr>
          <p:nvPr>
            <p:ph type="sldImg"/>
          </p:nvPr>
        </p:nvSpPr>
        <p:spPr>
          <a:xfrm>
            <a:off x="422275" y="1241425"/>
            <a:ext cx="5953125" cy="3349625"/>
          </a:xfrm>
          <a:prstGeom prst="rect">
            <a:avLst/>
          </a:prstGeom>
          <a:ln w="0">
            <a:noFill/>
          </a:ln>
        </p:spPr>
      </p:sp>
      <p:sp>
        <p:nvSpPr>
          <p:cNvPr id="775"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76" name="PlaceHolder 3"/>
          <p:cNvSpPr>
            <a:spLocks noGrp="1"/>
          </p:cNvSpPr>
          <p:nvPr>
            <p:ph type="sldNum" idx="34"/>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80BDA8-24A9-46C2-ABD2-4F730B0BFE39}" type="slidenum">
              <a:rPr lang="en-US" sz="1200" b="0" u="none" strike="noStrike">
                <a:solidFill>
                  <a:schemeClr val="dk1"/>
                </a:solidFill>
                <a:effectLst/>
                <a:uFillTx/>
                <a:latin typeface="+mn-lt"/>
                <a:ea typeface="+mn-ea"/>
              </a:rPr>
              <a:t>234</a:t>
            </a:fld>
            <a:endParaRPr lang="it-IT" sz="1200" b="0" u="none" strike="noStrike">
              <a:solidFill>
                <a:srgbClr val="000000"/>
              </a:solidFill>
              <a:effectLst/>
              <a:uFillTx/>
              <a:latin typeface="Times New Roman"/>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7" name="PlaceHolder 1"/>
          <p:cNvSpPr>
            <a:spLocks noGrp="1" noRot="1" noChangeAspect="1"/>
          </p:cNvSpPr>
          <p:nvPr>
            <p:ph type="sldImg"/>
          </p:nvPr>
        </p:nvSpPr>
        <p:spPr>
          <a:xfrm>
            <a:off x="422275" y="1241425"/>
            <a:ext cx="5953125" cy="3349625"/>
          </a:xfrm>
          <a:prstGeom prst="rect">
            <a:avLst/>
          </a:prstGeom>
          <a:ln w="0">
            <a:noFill/>
          </a:ln>
        </p:spPr>
      </p:sp>
      <p:sp>
        <p:nvSpPr>
          <p:cNvPr id="778"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79" name="PlaceHolder 3"/>
          <p:cNvSpPr>
            <a:spLocks noGrp="1"/>
          </p:cNvSpPr>
          <p:nvPr>
            <p:ph type="sldNum" idx="35"/>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285F21B-AF60-4179-A10D-6DD53FB39DFD}" type="slidenum">
              <a:rPr lang="en-US" sz="1200" b="0" u="none" strike="noStrike">
                <a:solidFill>
                  <a:schemeClr val="dk1"/>
                </a:solidFill>
                <a:effectLst/>
                <a:uFillTx/>
                <a:latin typeface="+mn-lt"/>
                <a:ea typeface="+mn-ea"/>
              </a:rPr>
              <a:t>236</a:t>
            </a:fld>
            <a:endParaRPr lang="it-IT" sz="1200" b="0" u="none" strike="noStrike">
              <a:solidFill>
                <a:srgbClr val="000000"/>
              </a:solidFill>
              <a:effectLst/>
              <a:uFillTx/>
              <a:latin typeface="Times New Roman"/>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0" name="PlaceHolder 1"/>
          <p:cNvSpPr>
            <a:spLocks noGrp="1" noRot="1" noChangeAspect="1"/>
          </p:cNvSpPr>
          <p:nvPr>
            <p:ph type="sldImg"/>
          </p:nvPr>
        </p:nvSpPr>
        <p:spPr>
          <a:xfrm>
            <a:off x="422275" y="1241425"/>
            <a:ext cx="5953125" cy="3349625"/>
          </a:xfrm>
          <a:prstGeom prst="rect">
            <a:avLst/>
          </a:prstGeom>
          <a:ln w="0">
            <a:noFill/>
          </a:ln>
        </p:spPr>
      </p:sp>
      <p:sp>
        <p:nvSpPr>
          <p:cNvPr id="781"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82" name="PlaceHolder 3"/>
          <p:cNvSpPr>
            <a:spLocks noGrp="1"/>
          </p:cNvSpPr>
          <p:nvPr>
            <p:ph type="sldNum" idx="36"/>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2CD652F-A8E3-475F-B331-B7C0146A5583}" type="slidenum">
              <a:rPr lang="en-US" sz="1200" b="0" u="none" strike="noStrike">
                <a:solidFill>
                  <a:schemeClr val="dk1"/>
                </a:solidFill>
                <a:effectLst/>
                <a:uFillTx/>
                <a:latin typeface="+mn-lt"/>
                <a:ea typeface="+mn-ea"/>
              </a:rPr>
              <a:t>238</a:t>
            </a:fld>
            <a:endParaRPr lang="it-IT" sz="1200" b="0" u="none" strike="noStrike">
              <a:solidFill>
                <a:srgbClr val="000000"/>
              </a:solidFill>
              <a:effectLst/>
              <a:uFillTx/>
              <a:latin typeface="Times New Roman"/>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3" name="PlaceHolder 1"/>
          <p:cNvSpPr>
            <a:spLocks noGrp="1" noRot="1" noChangeAspect="1"/>
          </p:cNvSpPr>
          <p:nvPr>
            <p:ph type="sldImg"/>
          </p:nvPr>
        </p:nvSpPr>
        <p:spPr>
          <a:xfrm>
            <a:off x="422275" y="1241425"/>
            <a:ext cx="5953125" cy="3349625"/>
          </a:xfrm>
          <a:prstGeom prst="rect">
            <a:avLst/>
          </a:prstGeom>
          <a:ln w="0">
            <a:noFill/>
          </a:ln>
        </p:spPr>
      </p:sp>
      <p:sp>
        <p:nvSpPr>
          <p:cNvPr id="784"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85" name="PlaceHolder 3"/>
          <p:cNvSpPr>
            <a:spLocks noGrp="1"/>
          </p:cNvSpPr>
          <p:nvPr>
            <p:ph type="sldNum" idx="37"/>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308BAE-3E71-4A02-B4C3-4A34D48A58DE}" type="slidenum">
              <a:rPr lang="en-US" sz="1200" b="0" u="none" strike="noStrike">
                <a:solidFill>
                  <a:schemeClr val="dk1"/>
                </a:solidFill>
                <a:effectLst/>
                <a:uFillTx/>
                <a:latin typeface="+mn-lt"/>
                <a:ea typeface="+mn-ea"/>
              </a:rPr>
              <a:t>243</a:t>
            </a:fld>
            <a:endParaRPr lang="it-IT" sz="1200" b="0" u="none" strike="noStrike">
              <a:solidFill>
                <a:srgbClr val="000000"/>
              </a:solidFill>
              <a:effectLst/>
              <a:uFillTx/>
              <a:latin typeface="Times New Roman"/>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6" name="PlaceHolder 1"/>
          <p:cNvSpPr>
            <a:spLocks noGrp="1" noRot="1" noChangeAspect="1"/>
          </p:cNvSpPr>
          <p:nvPr>
            <p:ph type="sldImg"/>
          </p:nvPr>
        </p:nvSpPr>
        <p:spPr>
          <a:xfrm>
            <a:off x="422275" y="1241425"/>
            <a:ext cx="5953125" cy="3349625"/>
          </a:xfrm>
          <a:prstGeom prst="rect">
            <a:avLst/>
          </a:prstGeom>
          <a:ln w="0">
            <a:noFill/>
          </a:ln>
        </p:spPr>
      </p:sp>
      <p:sp>
        <p:nvSpPr>
          <p:cNvPr id="787" name="PlaceHolder 2"/>
          <p:cNvSpPr>
            <a:spLocks noGrp="1"/>
          </p:cNvSpPr>
          <p:nvPr>
            <p:ph type="body"/>
          </p:nvPr>
        </p:nvSpPr>
        <p:spPr>
          <a:xfrm>
            <a:off x="679768" y="4778056"/>
            <a:ext cx="5437783" cy="3908750"/>
          </a:xfrm>
          <a:prstGeom prst="rect">
            <a:avLst/>
          </a:prstGeom>
          <a:noFill/>
          <a:ln w="0">
            <a:noFill/>
          </a:ln>
        </p:spPr>
        <p:txBody>
          <a:bodyPr lIns="91440" tIns="45720" rIns="91440" bIns="45720" anchor="t">
            <a:noAutofit/>
          </a:bodyPr>
          <a:lstStyle/>
          <a:p>
            <a:pPr indent="0">
              <a:buNone/>
            </a:pPr>
            <a:endParaRPr lang="it-IT" sz="1800" b="0" u="none" strike="noStrike">
              <a:solidFill>
                <a:srgbClr val="000000"/>
              </a:solidFill>
              <a:effectLst/>
              <a:uFillTx/>
              <a:latin typeface="Arial"/>
            </a:endParaRPr>
          </a:p>
        </p:txBody>
      </p:sp>
      <p:sp>
        <p:nvSpPr>
          <p:cNvPr id="788" name="PlaceHolder 3"/>
          <p:cNvSpPr>
            <a:spLocks noGrp="1"/>
          </p:cNvSpPr>
          <p:nvPr>
            <p:ph type="sldNum" idx="38"/>
          </p:nvPr>
        </p:nvSpPr>
        <p:spPr>
          <a:xfrm>
            <a:off x="3850589" y="9430250"/>
            <a:ext cx="2945302" cy="497584"/>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184A0AF-E532-4F19-B07B-B453D0C2920E}" type="slidenum">
              <a:rPr lang="en-US" sz="1200" b="0" u="none" strike="noStrike">
                <a:solidFill>
                  <a:schemeClr val="dk1"/>
                </a:solidFill>
                <a:effectLst/>
                <a:uFillTx/>
                <a:latin typeface="+mn-lt"/>
                <a:ea typeface="+mn-ea"/>
              </a:rPr>
              <a:t>245</a:t>
            </a:fld>
            <a:endParaRPr lang="it-IT"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28141249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22326806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26683160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CE27DDAC-BC6D-4C79-9097-957B5282C400}" type="datetimeFigureOut">
              <a:rPr lang="en-GB" smtClean="0"/>
              <a:t>12/10/2026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971097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CE27DDAC-BC6D-4C79-9097-957B5282C400}" type="datetimeFigureOut">
              <a:rPr lang="en-GB" smtClean="0"/>
              <a:t>12/10/2026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26790886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CE27DDAC-BC6D-4C79-9097-957B5282C400}" type="datetimeFigureOut">
              <a:rPr lang="en-GB" smtClean="0"/>
              <a:t>12/10/2026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19561588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E27DDAC-BC6D-4C79-9097-957B5282C400}" type="datetimeFigureOut">
              <a:rPr lang="en-GB" smtClean="0"/>
              <a:t>12/10/2026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1351579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E27DDAC-BC6D-4C79-9097-957B5282C400}" type="datetimeFigureOut">
              <a:rPr lang="en-GB" smtClean="0"/>
              <a:t>12/10/2026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1789380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E27DDAC-BC6D-4C79-9097-957B5282C400}" type="datetimeFigureOut">
              <a:rPr lang="en-GB" smtClean="0"/>
              <a:t>12/10/2026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34362551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3045830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0519013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41809205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77147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26887464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35527109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E27DDAC-BC6D-4C79-9097-957B5282C400}" type="datetimeFigureOut">
              <a:rPr lang="en-GB" smtClean="0"/>
              <a:t>12/10/2026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57229C9-AB0F-4527-ABBE-B2E70E6BC4A2}" type="slidenum">
              <a:rPr lang="en-GB" smtClean="0"/>
              <a:t>‹N›</a:t>
            </a:fld>
            <a:endParaRPr lang="en-GB"/>
          </a:p>
        </p:txBody>
      </p:sp>
    </p:spTree>
    <p:extLst>
      <p:ext uri="{BB962C8B-B14F-4D97-AF65-F5344CB8AC3E}">
        <p14:creationId xmlns:p14="http://schemas.microsoft.com/office/powerpoint/2010/main" val="26186001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48720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FIG_MASTER">
    <p:bg>
      <p:bgPr>
        <a:solidFill>
          <a:srgbClr val="FFFFFF"/>
        </a:solidFill>
        <a:effectLst/>
      </p:bgPr>
    </p:bg>
    <p:spTree>
      <p:nvGrpSpPr>
        <p:cNvPr id="1" name=""/>
        <p:cNvGrpSpPr/>
        <p:nvPr/>
      </p:nvGrpSpPr>
      <p:grpSpPr>
        <a:xfrm>
          <a:off x="0" y="0"/>
          <a:ext cx="0" cy="0"/>
          <a:chOff x="0" y="0"/>
          <a:chExt cx="0" cy="0"/>
        </a:xfrm>
      </p:grpSpPr>
      <p:sp>
        <p:nvSpPr>
          <p:cNvPr id="5" name="Shape 0"/>
          <p:cNvSpPr/>
          <p:nvPr/>
        </p:nvSpPr>
        <p:spPr>
          <a:xfrm>
            <a:off x="11109960" y="0"/>
            <a:ext cx="1078560" cy="6857640"/>
          </a:xfrm>
          <a:prstGeom prst="rect">
            <a:avLst/>
          </a:prstGeom>
          <a:solidFill>
            <a:srgbClr val="8BBF31"/>
          </a:solidFill>
          <a:ln w="12700">
            <a:solidFill>
              <a:srgbClr val="8BBF3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 name="Shape 1"/>
          <p:cNvSpPr/>
          <p:nvPr/>
        </p:nvSpPr>
        <p:spPr>
          <a:xfrm>
            <a:off x="10927080" y="0"/>
            <a:ext cx="640080" cy="6858000"/>
          </a:xfrm>
          <a:prstGeom prst="line">
            <a:avLst/>
          </a:prstGeom>
          <a:ln w="7620">
            <a:solidFill>
              <a:srgbClr val="C8D1DF"/>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 name="PlaceHolder 1"/>
          <p:cNvSpPr>
            <a:spLocks noGrp="1"/>
          </p:cNvSpPr>
          <p:nvPr>
            <p:ph type="sldNum" idx="1"/>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1F3C4E17-B4E1-4640-928D-209246404250}" type="slidenum">
              <a:rPr lang="en-US" sz="1200" b="0" u="none" strike="noStrike">
                <a:solidFill>
                  <a:srgbClr val="64748B"/>
                </a:solidFill>
                <a:effectLst/>
                <a:uFillTx/>
                <a:latin typeface="Aptos"/>
              </a:rPr>
              <a:t>‹N›</a:t>
            </a:fld>
            <a:endParaRPr lang="it-IT" sz="1200" b="0" u="none" strike="noStrike">
              <a:solidFill>
                <a:srgbClr val="000000"/>
              </a:solidFill>
              <a:effectLst/>
              <a:uFillTx/>
              <a:latin typeface="Times New Roman"/>
            </a:endParaRPr>
          </a:p>
        </p:txBody>
      </p:sp>
      <p:sp>
        <p:nvSpPr>
          <p:cNvPr id="3"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r>
              <a:rPr lang="it-IT" sz="1800" b="0" u="none" strike="noStrike">
                <a:solidFill>
                  <a:schemeClr val="dk1"/>
                </a:solidFill>
                <a:effectLst/>
                <a:uFillTx/>
                <a:latin typeface="Aptos"/>
              </a:rPr>
              <a:t>Fai clic per modificare il formato del testo del titolo</a:t>
            </a:r>
          </a:p>
        </p:txBody>
      </p:sp>
      <p:sp>
        <p:nvSpPr>
          <p:cNvPr id="4"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it-IT" sz="3200" b="0" u="none" strike="noStrike">
                <a:solidFill>
                  <a:schemeClr val="dk1"/>
                </a:solidFill>
                <a:effectLst/>
                <a:uFillTx/>
                <a:latin typeface="Aptos"/>
              </a:rPr>
              <a:t>Fai clic per modificare il formato del testo della struttura</a:t>
            </a:r>
          </a:p>
          <a:p>
            <a:pPr marL="864000" lvl="1" indent="-324000">
              <a:spcBef>
                <a:spcPts val="1134"/>
              </a:spcBef>
              <a:buClr>
                <a:srgbClr val="000000"/>
              </a:buClr>
              <a:buSzPct val="75000"/>
              <a:buFont typeface="Symbol" charset="2"/>
              <a:buChar char=""/>
            </a:pPr>
            <a:r>
              <a:rPr lang="it-IT" sz="2400" b="0" u="none" strike="noStrike">
                <a:solidFill>
                  <a:schemeClr val="dk1"/>
                </a:solidFill>
                <a:effectLst/>
                <a:uFillTx/>
                <a:latin typeface="Aptos"/>
              </a:rPr>
              <a:t>Secondo livello struttura</a:t>
            </a:r>
          </a:p>
          <a:p>
            <a:pPr marL="1296000" lvl="2" indent="-288000">
              <a:spcBef>
                <a:spcPts val="850"/>
              </a:spcBef>
              <a:buClr>
                <a:srgbClr val="000000"/>
              </a:buClr>
              <a:buSzPct val="45000"/>
              <a:buFont typeface="Wingdings" charset="2"/>
              <a:buChar char=""/>
            </a:pPr>
            <a:r>
              <a:rPr lang="it-IT" sz="2000" b="0" u="none" strike="noStrike">
                <a:solidFill>
                  <a:schemeClr val="dk1"/>
                </a:solidFill>
                <a:effectLst/>
                <a:uFillTx/>
                <a:latin typeface="Aptos"/>
              </a:rPr>
              <a:t>Terzo livello struttura</a:t>
            </a:r>
          </a:p>
          <a:p>
            <a:pPr marL="1728000" lvl="3" indent="-216000">
              <a:spcBef>
                <a:spcPts val="567"/>
              </a:spcBef>
              <a:buClr>
                <a:srgbClr val="000000"/>
              </a:buClr>
              <a:buSzPct val="75000"/>
              <a:buFont typeface="Symbol" charset="2"/>
              <a:buChar char=""/>
            </a:pPr>
            <a:r>
              <a:rPr lang="it-IT" sz="2000" b="0" u="none" strike="noStrike">
                <a:solidFill>
                  <a:schemeClr val="dk1"/>
                </a:solidFill>
                <a:effectLst/>
                <a:uFillTx/>
                <a:latin typeface="Aptos"/>
              </a:rPr>
              <a:t>Quarto livello struttura</a:t>
            </a:r>
          </a:p>
          <a:p>
            <a:pPr marL="2160000" lvl="4" indent="-216000">
              <a:spcBef>
                <a:spcPts val="283"/>
              </a:spcBef>
              <a:buClr>
                <a:srgbClr val="000000"/>
              </a:buClr>
              <a:buSzPct val="45000"/>
              <a:buFont typeface="Wingdings" charset="2"/>
              <a:buChar char=""/>
            </a:pPr>
            <a:r>
              <a:rPr lang="it-IT" sz="2000" b="0" u="none" strike="noStrike">
                <a:solidFill>
                  <a:schemeClr val="dk1"/>
                </a:solidFill>
                <a:effectLst/>
                <a:uFillTx/>
                <a:latin typeface="Aptos"/>
              </a:rPr>
              <a:t>Quinto livello struttura</a:t>
            </a:r>
          </a:p>
          <a:p>
            <a:pPr marL="2592000" lvl="5" indent="-216000">
              <a:spcBef>
                <a:spcPts val="283"/>
              </a:spcBef>
              <a:buClr>
                <a:srgbClr val="000000"/>
              </a:buClr>
              <a:buSzPct val="45000"/>
              <a:buFont typeface="Wingdings" charset="2"/>
              <a:buChar char=""/>
            </a:pPr>
            <a:r>
              <a:rPr lang="it-IT" sz="2000" b="0" u="none" strike="noStrike">
                <a:solidFill>
                  <a:schemeClr val="dk1"/>
                </a:solidFill>
                <a:effectLst/>
                <a:uFillTx/>
                <a:latin typeface="Aptos"/>
              </a:rPr>
              <a:t>Sesto livello struttura</a:t>
            </a:r>
          </a:p>
          <a:p>
            <a:pPr marL="3024000" lvl="6" indent="-216000">
              <a:spcBef>
                <a:spcPts val="283"/>
              </a:spcBef>
              <a:buClr>
                <a:srgbClr val="000000"/>
              </a:buClr>
              <a:buSzPct val="45000"/>
              <a:buFont typeface="Wingdings" charset="2"/>
              <a:buChar char=""/>
            </a:pPr>
            <a:r>
              <a:rPr lang="it-IT" sz="2000" b="0" u="none" strike="noStrike">
                <a:solidFill>
                  <a:schemeClr val="dk1"/>
                </a:solidFill>
                <a:effectLst/>
                <a:uFillTx/>
                <a:latin typeface="Aptos"/>
              </a:rPr>
              <a:t>Settimo livello struttura</a:t>
            </a:r>
          </a:p>
        </p:txBody>
      </p:sp>
    </p:spTree>
    <p:extLst>
      <p:ext uri="{BB962C8B-B14F-4D97-AF65-F5344CB8AC3E}">
        <p14:creationId xmlns:p14="http://schemas.microsoft.com/office/powerpoint/2010/main" val="4446947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E27DDAC-BC6D-4C79-9097-957B5282C400}" type="datetimeFigureOut">
              <a:rPr lang="en-GB" smtClean="0"/>
              <a:t>12/10/2026</a:t>
            </a:fld>
            <a:endParaRPr lang="en-GB"/>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157229C9-AB0F-4527-ABBE-B2E70E6BC4A2}" type="slidenum">
              <a:rPr lang="en-GB" smtClean="0"/>
              <a:t>‹N›</a:t>
            </a:fld>
            <a:endParaRPr lang="en-GB"/>
          </a:p>
        </p:txBody>
      </p:sp>
    </p:spTree>
    <p:extLst>
      <p:ext uri="{BB962C8B-B14F-4D97-AF65-F5344CB8AC3E}">
        <p14:creationId xmlns:p14="http://schemas.microsoft.com/office/powerpoint/2010/main" val="36257407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7.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emf"/></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8.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8.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8.xml"/></Relationships>
</file>

<file path=ppt/slides/_rels/slide20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8.xml"/></Relationships>
</file>

<file path=ppt/slides/_rels/slide2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8.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8.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8.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8.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8.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8.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8.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8.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8.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1831838-57B7-AE67-BA9E-3B0B7A9312B6}"/>
              </a:ext>
            </a:extLst>
          </p:cNvPr>
          <p:cNvSpPr>
            <a:spLocks noGrp="1"/>
          </p:cNvSpPr>
          <p:nvPr>
            <p:ph type="ctrTitle"/>
          </p:nvPr>
        </p:nvSpPr>
        <p:spPr/>
        <p:txBody>
          <a:bodyPr/>
          <a:lstStyle/>
          <a:p>
            <a:r>
              <a:rPr lang="it-IT" dirty="0" err="1"/>
              <a:t>Convolutional</a:t>
            </a:r>
            <a:r>
              <a:rPr lang="it-IT" dirty="0"/>
              <a:t> </a:t>
            </a:r>
            <a:r>
              <a:rPr lang="it-IT" dirty="0" err="1"/>
              <a:t>neural</a:t>
            </a:r>
            <a:r>
              <a:rPr lang="it-IT" dirty="0"/>
              <a:t> networks</a:t>
            </a:r>
            <a:endParaRPr lang="en-GB" dirty="0"/>
          </a:p>
        </p:txBody>
      </p:sp>
      <p:sp>
        <p:nvSpPr>
          <p:cNvPr id="3" name="Sottotitolo 2">
            <a:extLst>
              <a:ext uri="{FF2B5EF4-FFF2-40B4-BE49-F238E27FC236}">
                <a16:creationId xmlns:a16="http://schemas.microsoft.com/office/drawing/2014/main" id="{E30CCA44-2BC9-4454-F8D7-D7FC5338B019}"/>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7832469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FF37F91-6C0F-5F8B-4D3E-ABFBA41E3C7A}"/>
              </a:ext>
            </a:extLst>
          </p:cNvPr>
          <p:cNvSpPr>
            <a:spLocks noGrp="1"/>
          </p:cNvSpPr>
          <p:nvPr>
            <p:ph type="title"/>
          </p:nvPr>
        </p:nvSpPr>
        <p:spPr/>
        <p:txBody>
          <a:bodyPr/>
          <a:lstStyle/>
          <a:p>
            <a:r>
              <a:rPr lang="it-IT" dirty="0" err="1"/>
              <a:t>Outline</a:t>
            </a:r>
            <a:r>
              <a:rPr lang="it-IT" dirty="0"/>
              <a:t> of the </a:t>
            </a:r>
            <a:r>
              <a:rPr lang="it-IT" dirty="0" err="1"/>
              <a:t>lecture</a:t>
            </a:r>
            <a:endParaRPr lang="en-GB" dirty="0"/>
          </a:p>
        </p:txBody>
      </p:sp>
      <p:sp>
        <p:nvSpPr>
          <p:cNvPr id="3" name="Segnaposto contenuto 2">
            <a:extLst>
              <a:ext uri="{FF2B5EF4-FFF2-40B4-BE49-F238E27FC236}">
                <a16:creationId xmlns:a16="http://schemas.microsoft.com/office/drawing/2014/main" id="{9E84D4A5-3E7C-B1F0-7017-26077ABFCDC6}"/>
              </a:ext>
            </a:extLst>
          </p:cNvPr>
          <p:cNvSpPr>
            <a:spLocks noGrp="1"/>
          </p:cNvSpPr>
          <p:nvPr>
            <p:ph idx="1"/>
          </p:nvPr>
        </p:nvSpPr>
        <p:spPr/>
        <p:txBody>
          <a:bodyPr>
            <a:normAutofit fontScale="92500" lnSpcReduction="20000"/>
          </a:bodyPr>
          <a:lstStyle/>
          <a:p>
            <a:r>
              <a:rPr lang="en-GB" dirty="0"/>
              <a:t>Block 5.A — From Recurrence to Temporal Convolution</a:t>
            </a:r>
          </a:p>
          <a:p>
            <a:r>
              <a:rPr lang="en-GB" dirty="0"/>
              <a:t>Block 5.B — One-Dimensional Temporal Convolution</a:t>
            </a:r>
          </a:p>
          <a:p>
            <a:r>
              <a:rPr lang="en-GB" dirty="0"/>
              <a:t>Block 5.C — Kernel Size, Stride and Padding</a:t>
            </a:r>
          </a:p>
          <a:p>
            <a:r>
              <a:rPr lang="en-GB" dirty="0"/>
              <a:t>Block 5.D — Temporal Pooling and </a:t>
            </a:r>
            <a:r>
              <a:rPr lang="en-GB" dirty="0" err="1"/>
              <a:t>Downsampling</a:t>
            </a:r>
            <a:endParaRPr lang="en-GB" dirty="0"/>
          </a:p>
          <a:p>
            <a:r>
              <a:rPr lang="en-GB" dirty="0"/>
              <a:t>Block 5.E — Receptive Field</a:t>
            </a:r>
          </a:p>
          <a:p>
            <a:r>
              <a:rPr lang="en-GB" dirty="0"/>
              <a:t>Block 5.F — Causal Convolution</a:t>
            </a:r>
          </a:p>
          <a:p>
            <a:r>
              <a:rPr lang="en-GB" b="1" dirty="0"/>
              <a:t>Block 5.G — Dilated Convolution</a:t>
            </a:r>
          </a:p>
          <a:p>
            <a:r>
              <a:rPr lang="en-GB" dirty="0"/>
              <a:t>Block 5.H — Temporal Convolutional Networks</a:t>
            </a:r>
          </a:p>
          <a:p>
            <a:r>
              <a:rPr lang="en-GB" dirty="0"/>
              <a:t>Block 5.I — </a:t>
            </a:r>
            <a:r>
              <a:rPr lang="en-GB" dirty="0" err="1"/>
              <a:t>WaveNet</a:t>
            </a:r>
            <a:r>
              <a:rPr lang="en-GB" dirty="0"/>
              <a:t> as an Influential Temporal Architecture</a:t>
            </a:r>
          </a:p>
          <a:p>
            <a:r>
              <a:rPr lang="en-GB" dirty="0"/>
              <a:t>Block 5.J — Temporal CNNs for Different Prediction Tasks</a:t>
            </a:r>
          </a:p>
          <a:p>
            <a:r>
              <a:rPr lang="en-GB" dirty="0"/>
              <a:t>Block 5.K — Multiscale Temporal Patterns</a:t>
            </a:r>
            <a:endParaRPr lang="en-GB" b="1" dirty="0"/>
          </a:p>
          <a:p>
            <a:endParaRPr lang="en-GB" dirty="0"/>
          </a:p>
        </p:txBody>
      </p:sp>
    </p:spTree>
    <p:extLst>
      <p:ext uri="{BB962C8B-B14F-4D97-AF65-F5344CB8AC3E}">
        <p14:creationId xmlns:p14="http://schemas.microsoft.com/office/powerpoint/2010/main" val="3327814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2BA0FD2-A8BC-6F88-5C41-E0053A042EC5}"/>
              </a:ext>
            </a:extLst>
          </p:cNvPr>
          <p:cNvSpPr>
            <a:spLocks noGrp="1"/>
          </p:cNvSpPr>
          <p:nvPr>
            <p:ph type="title"/>
          </p:nvPr>
        </p:nvSpPr>
        <p:spPr/>
        <p:txBody>
          <a:bodyPr/>
          <a:lstStyle/>
          <a:p>
            <a:r>
              <a:rPr lang="en-GB" dirty="0"/>
              <a:t>A different way to process temporal information</a:t>
            </a:r>
          </a:p>
        </p:txBody>
      </p:sp>
      <p:sp>
        <p:nvSpPr>
          <p:cNvPr id="3" name="Segnaposto contenuto 2">
            <a:extLst>
              <a:ext uri="{FF2B5EF4-FFF2-40B4-BE49-F238E27FC236}">
                <a16:creationId xmlns:a16="http://schemas.microsoft.com/office/drawing/2014/main" id="{9509E53A-0A97-321A-9F04-636041CEF070}"/>
              </a:ext>
            </a:extLst>
          </p:cNvPr>
          <p:cNvSpPr>
            <a:spLocks noGrp="1"/>
          </p:cNvSpPr>
          <p:nvPr>
            <p:ph idx="1"/>
          </p:nvPr>
        </p:nvSpPr>
        <p:spPr/>
        <p:txBody>
          <a:bodyPr>
            <a:normAutofit fontScale="70000" lnSpcReduction="20000"/>
          </a:bodyPr>
          <a:lstStyle/>
          <a:p>
            <a:r>
              <a:rPr lang="en-GB" dirty="0"/>
              <a:t>In Lecture 4, recurrent networks processed a sequence through a state that evolves over time.</a:t>
            </a:r>
          </a:p>
          <a:p>
            <a:r>
              <a:rPr lang="en-GB" dirty="0"/>
              <a:t>At each step: h[t] = f(x[t], h[t−1])</a:t>
            </a:r>
          </a:p>
          <a:p>
            <a:r>
              <a:rPr lang="en-GB" dirty="0"/>
              <a:t>Therefore: h[t] depends on h[t−1]; </a:t>
            </a:r>
          </a:p>
          <a:p>
            <a:pPr lvl="0"/>
            <a:r>
              <a:rPr lang="en-GB" dirty="0"/>
              <a:t>information is propagated sequentially through the hidden state; </a:t>
            </a:r>
          </a:p>
          <a:p>
            <a:pPr lvl="0"/>
            <a:r>
              <a:rPr lang="en-GB" dirty="0"/>
              <a:t>temporal steps cannot be processed completely independently. </a:t>
            </a:r>
          </a:p>
          <a:p>
            <a:r>
              <a:rPr lang="en-GB" b="1" dirty="0">
                <a:highlight>
                  <a:srgbClr val="FFFF00"/>
                </a:highlight>
              </a:rPr>
              <a:t>Recurrent view</a:t>
            </a:r>
          </a:p>
          <a:p>
            <a:r>
              <a:rPr lang="en-GB" dirty="0"/>
              <a:t>x[1] → h[1] → h[2] → h[3] → ... → h[T]</a:t>
            </a:r>
          </a:p>
          <a:p>
            <a:r>
              <a:rPr lang="en-GB" dirty="0"/>
              <a:t>          ↑         ↑         ↑</a:t>
            </a:r>
          </a:p>
          <a:p>
            <a:r>
              <a:rPr lang="en-GB" dirty="0"/>
              <a:t>         x[2]     x[3]      x[4]</a:t>
            </a:r>
          </a:p>
          <a:p>
            <a:r>
              <a:rPr lang="en-GB" b="1" dirty="0"/>
              <a:t>New question</a:t>
            </a:r>
          </a:p>
          <a:p>
            <a:r>
              <a:rPr lang="en-GB" dirty="0">
                <a:highlight>
                  <a:srgbClr val="FFFF00"/>
                </a:highlight>
              </a:rPr>
              <a:t>Can we learn useful temporal patterns without </a:t>
            </a:r>
            <a:r>
              <a:rPr lang="en-GB" b="1" dirty="0">
                <a:highlight>
                  <a:srgbClr val="FFFF00"/>
                </a:highlight>
              </a:rPr>
              <a:t>propagating one hidden state </a:t>
            </a:r>
            <a:r>
              <a:rPr lang="en-GB" dirty="0">
                <a:highlight>
                  <a:srgbClr val="FFFF00"/>
                </a:highlight>
              </a:rPr>
              <a:t>through the whole sequence?</a:t>
            </a:r>
          </a:p>
          <a:p>
            <a:r>
              <a:rPr lang="en-GB" b="1" dirty="0"/>
              <a:t>An alternative </a:t>
            </a:r>
            <a:r>
              <a:rPr lang="en-GB" dirty="0"/>
              <a:t>is to learn </a:t>
            </a:r>
            <a:r>
              <a:rPr lang="en-GB" b="1" dirty="0"/>
              <a:t>local pattern detectors</a:t>
            </a:r>
            <a:r>
              <a:rPr lang="en-GB" dirty="0"/>
              <a:t> that scan across time.</a:t>
            </a:r>
          </a:p>
          <a:p>
            <a:r>
              <a:rPr lang="en-GB" dirty="0"/>
              <a:t>This is the basic idea of temporal convolution.</a:t>
            </a:r>
          </a:p>
          <a:p>
            <a:endParaRPr lang="en-GB" dirty="0"/>
          </a:p>
        </p:txBody>
      </p:sp>
    </p:spTree>
    <p:extLst>
      <p:ext uri="{BB962C8B-B14F-4D97-AF65-F5344CB8AC3E}">
        <p14:creationId xmlns:p14="http://schemas.microsoft.com/office/powerpoint/2010/main" val="2389512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From recurrence to temporal convolution</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dirty="0">
                <a:solidFill>
                  <a:srgbClr val="475569"/>
                </a:solidFill>
              </a:rPr>
              <a:t>Two ways to learn representations from sequential data.</a:t>
            </a:r>
            <a:endParaRPr lang="en-US" sz="1150" dirty="0"/>
          </a:p>
        </p:txBody>
      </p:sp>
      <p:sp>
        <p:nvSpPr>
          <p:cNvPr id="6" name="Text 4"/>
          <p:cNvSpPr/>
          <p:nvPr/>
        </p:nvSpPr>
        <p:spPr>
          <a:xfrm>
            <a:off x="777240" y="1417320"/>
            <a:ext cx="4846320" cy="228600"/>
          </a:xfrm>
          <a:prstGeom prst="rect">
            <a:avLst/>
          </a:prstGeom>
          <a:noFill/>
          <a:ln/>
        </p:spPr>
        <p:txBody>
          <a:bodyPr wrap="square" lIns="0" tIns="0" rIns="0" bIns="0" rtlCol="0" anchor="ctr">
            <a:normAutofit/>
          </a:bodyPr>
          <a:lstStyle/>
          <a:p>
            <a:pPr marL="0" indent="0" algn="ctr">
              <a:buNone/>
            </a:pPr>
            <a:r>
              <a:rPr lang="en-US" sz="1100" b="1" dirty="0">
                <a:solidFill>
                  <a:srgbClr val="111827"/>
                </a:solidFill>
                <a:highlight>
                  <a:srgbClr val="FFFF00"/>
                </a:highlight>
              </a:rPr>
              <a:t>Recurrent view: information moves through a state</a:t>
            </a:r>
            <a:endParaRPr lang="en-US" sz="1100" dirty="0">
              <a:highlight>
                <a:srgbClr val="FFFF00"/>
              </a:highlight>
            </a:endParaRPr>
          </a:p>
        </p:txBody>
      </p:sp>
      <p:sp>
        <p:nvSpPr>
          <p:cNvPr id="7" name="Shape 5"/>
          <p:cNvSpPr/>
          <p:nvPr/>
        </p:nvSpPr>
        <p:spPr>
          <a:xfrm>
            <a:off x="914400" y="2331720"/>
            <a:ext cx="530352" cy="438912"/>
          </a:xfrm>
          <a:prstGeom prst="roundRect">
            <a:avLst>
              <a:gd name="adj" fmla="val 16667"/>
            </a:avLst>
          </a:prstGeom>
          <a:solidFill>
            <a:srgbClr val="EEF2FF"/>
          </a:solidFill>
          <a:ln w="12700">
            <a:solidFill>
              <a:srgbClr val="2563EB"/>
            </a:solidFill>
            <a:prstDash val="solid"/>
          </a:ln>
        </p:spPr>
        <p:txBody>
          <a:bodyPr/>
          <a:lstStyle/>
          <a:p>
            <a:endParaRPr lang="en-GB"/>
          </a:p>
        </p:txBody>
      </p:sp>
      <p:sp>
        <p:nvSpPr>
          <p:cNvPr id="8" name="Text 6"/>
          <p:cNvSpPr/>
          <p:nvPr/>
        </p:nvSpPr>
        <p:spPr>
          <a:xfrm>
            <a:off x="987552" y="2441448"/>
            <a:ext cx="384048"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h[1]</a:t>
            </a:r>
            <a:endParaRPr lang="en-US" sz="1200" dirty="0"/>
          </a:p>
        </p:txBody>
      </p:sp>
      <p:sp>
        <p:nvSpPr>
          <p:cNvPr id="9" name="Text 7"/>
          <p:cNvSpPr/>
          <p:nvPr/>
        </p:nvSpPr>
        <p:spPr>
          <a:xfrm>
            <a:off x="996696" y="1901952"/>
            <a:ext cx="365760" cy="182880"/>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x[1]</a:t>
            </a:r>
            <a:endParaRPr lang="en-US" sz="1100" dirty="0"/>
          </a:p>
        </p:txBody>
      </p:sp>
      <p:sp>
        <p:nvSpPr>
          <p:cNvPr id="10" name="Shape 8"/>
          <p:cNvSpPr/>
          <p:nvPr/>
        </p:nvSpPr>
        <p:spPr>
          <a:xfrm>
            <a:off x="1179576" y="2121408"/>
            <a:ext cx="0" cy="210312"/>
          </a:xfrm>
          <a:prstGeom prst="line">
            <a:avLst/>
          </a:prstGeom>
          <a:noFill/>
          <a:ln w="13970">
            <a:solidFill>
              <a:srgbClr val="475569"/>
            </a:solidFill>
            <a:prstDash val="solid"/>
            <a:tailEnd type="triangle"/>
          </a:ln>
        </p:spPr>
        <p:txBody>
          <a:bodyPr/>
          <a:lstStyle/>
          <a:p>
            <a:endParaRPr lang="en-GB"/>
          </a:p>
        </p:txBody>
      </p:sp>
      <p:sp>
        <p:nvSpPr>
          <p:cNvPr id="11" name="Shape 9"/>
          <p:cNvSpPr/>
          <p:nvPr/>
        </p:nvSpPr>
        <p:spPr>
          <a:xfrm>
            <a:off x="1828800" y="2331720"/>
            <a:ext cx="530352" cy="438912"/>
          </a:xfrm>
          <a:prstGeom prst="roundRect">
            <a:avLst>
              <a:gd name="adj" fmla="val 16667"/>
            </a:avLst>
          </a:prstGeom>
          <a:solidFill>
            <a:srgbClr val="EEF2FF"/>
          </a:solidFill>
          <a:ln w="12700">
            <a:solidFill>
              <a:srgbClr val="2563EB"/>
            </a:solidFill>
            <a:prstDash val="solid"/>
          </a:ln>
        </p:spPr>
        <p:txBody>
          <a:bodyPr/>
          <a:lstStyle/>
          <a:p>
            <a:endParaRPr lang="en-GB"/>
          </a:p>
        </p:txBody>
      </p:sp>
      <p:sp>
        <p:nvSpPr>
          <p:cNvPr id="12" name="Text 10"/>
          <p:cNvSpPr/>
          <p:nvPr/>
        </p:nvSpPr>
        <p:spPr>
          <a:xfrm>
            <a:off x="1901952" y="2441448"/>
            <a:ext cx="384048"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h[2]</a:t>
            </a:r>
            <a:endParaRPr lang="en-US" sz="1200" dirty="0"/>
          </a:p>
        </p:txBody>
      </p:sp>
      <p:sp>
        <p:nvSpPr>
          <p:cNvPr id="13" name="Shape 11"/>
          <p:cNvSpPr/>
          <p:nvPr/>
        </p:nvSpPr>
        <p:spPr>
          <a:xfrm>
            <a:off x="1444752" y="2551176"/>
            <a:ext cx="384048" cy="0"/>
          </a:xfrm>
          <a:prstGeom prst="line">
            <a:avLst/>
          </a:prstGeom>
          <a:noFill/>
          <a:ln w="19050">
            <a:solidFill>
              <a:srgbClr val="2563EB"/>
            </a:solidFill>
            <a:prstDash val="solid"/>
            <a:tailEnd type="triangle"/>
          </a:ln>
        </p:spPr>
        <p:txBody>
          <a:bodyPr/>
          <a:lstStyle/>
          <a:p>
            <a:endParaRPr lang="en-GB"/>
          </a:p>
        </p:txBody>
      </p:sp>
      <p:sp>
        <p:nvSpPr>
          <p:cNvPr id="14" name="Text 12"/>
          <p:cNvSpPr/>
          <p:nvPr/>
        </p:nvSpPr>
        <p:spPr>
          <a:xfrm>
            <a:off x="1911096" y="1901952"/>
            <a:ext cx="365760" cy="182880"/>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x[2]</a:t>
            </a:r>
            <a:endParaRPr lang="en-US" sz="1100" dirty="0"/>
          </a:p>
        </p:txBody>
      </p:sp>
      <p:sp>
        <p:nvSpPr>
          <p:cNvPr id="15" name="Shape 13"/>
          <p:cNvSpPr/>
          <p:nvPr/>
        </p:nvSpPr>
        <p:spPr>
          <a:xfrm>
            <a:off x="2093976" y="2121408"/>
            <a:ext cx="0" cy="210312"/>
          </a:xfrm>
          <a:prstGeom prst="line">
            <a:avLst/>
          </a:prstGeom>
          <a:noFill/>
          <a:ln w="13970">
            <a:solidFill>
              <a:srgbClr val="475569"/>
            </a:solidFill>
            <a:prstDash val="solid"/>
            <a:tailEnd type="triangle"/>
          </a:ln>
        </p:spPr>
        <p:txBody>
          <a:bodyPr/>
          <a:lstStyle/>
          <a:p>
            <a:endParaRPr lang="en-GB"/>
          </a:p>
        </p:txBody>
      </p:sp>
      <p:sp>
        <p:nvSpPr>
          <p:cNvPr id="16" name="Shape 14"/>
          <p:cNvSpPr/>
          <p:nvPr/>
        </p:nvSpPr>
        <p:spPr>
          <a:xfrm>
            <a:off x="2743200" y="2331720"/>
            <a:ext cx="530352" cy="438912"/>
          </a:xfrm>
          <a:prstGeom prst="roundRect">
            <a:avLst>
              <a:gd name="adj" fmla="val 16667"/>
            </a:avLst>
          </a:prstGeom>
          <a:solidFill>
            <a:srgbClr val="EEF2FF"/>
          </a:solidFill>
          <a:ln w="12700">
            <a:solidFill>
              <a:srgbClr val="2563EB"/>
            </a:solidFill>
            <a:prstDash val="solid"/>
          </a:ln>
        </p:spPr>
        <p:txBody>
          <a:bodyPr/>
          <a:lstStyle/>
          <a:p>
            <a:endParaRPr lang="en-GB"/>
          </a:p>
        </p:txBody>
      </p:sp>
      <p:sp>
        <p:nvSpPr>
          <p:cNvPr id="17" name="Text 15"/>
          <p:cNvSpPr/>
          <p:nvPr/>
        </p:nvSpPr>
        <p:spPr>
          <a:xfrm>
            <a:off x="2816352" y="2441448"/>
            <a:ext cx="384048"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h[3]</a:t>
            </a:r>
            <a:endParaRPr lang="en-US" sz="1200" dirty="0"/>
          </a:p>
        </p:txBody>
      </p:sp>
      <p:sp>
        <p:nvSpPr>
          <p:cNvPr id="18" name="Shape 16"/>
          <p:cNvSpPr/>
          <p:nvPr/>
        </p:nvSpPr>
        <p:spPr>
          <a:xfrm>
            <a:off x="2359152" y="2551176"/>
            <a:ext cx="384048" cy="0"/>
          </a:xfrm>
          <a:prstGeom prst="line">
            <a:avLst/>
          </a:prstGeom>
          <a:noFill/>
          <a:ln w="19050">
            <a:solidFill>
              <a:srgbClr val="2563EB"/>
            </a:solidFill>
            <a:prstDash val="solid"/>
            <a:tailEnd type="triangle"/>
          </a:ln>
        </p:spPr>
        <p:txBody>
          <a:bodyPr/>
          <a:lstStyle/>
          <a:p>
            <a:endParaRPr lang="en-GB"/>
          </a:p>
        </p:txBody>
      </p:sp>
      <p:sp>
        <p:nvSpPr>
          <p:cNvPr id="19" name="Text 17"/>
          <p:cNvSpPr/>
          <p:nvPr/>
        </p:nvSpPr>
        <p:spPr>
          <a:xfrm>
            <a:off x="2825496" y="1901952"/>
            <a:ext cx="365760" cy="182880"/>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x[3]</a:t>
            </a:r>
            <a:endParaRPr lang="en-US" sz="1100" dirty="0"/>
          </a:p>
        </p:txBody>
      </p:sp>
      <p:sp>
        <p:nvSpPr>
          <p:cNvPr id="20" name="Shape 18"/>
          <p:cNvSpPr/>
          <p:nvPr/>
        </p:nvSpPr>
        <p:spPr>
          <a:xfrm>
            <a:off x="3008376" y="2121408"/>
            <a:ext cx="0" cy="210312"/>
          </a:xfrm>
          <a:prstGeom prst="line">
            <a:avLst/>
          </a:prstGeom>
          <a:noFill/>
          <a:ln w="13970">
            <a:solidFill>
              <a:srgbClr val="475569"/>
            </a:solidFill>
            <a:prstDash val="solid"/>
            <a:tailEnd type="triangle"/>
          </a:ln>
        </p:spPr>
        <p:txBody>
          <a:bodyPr/>
          <a:lstStyle/>
          <a:p>
            <a:endParaRPr lang="en-GB"/>
          </a:p>
        </p:txBody>
      </p:sp>
      <p:sp>
        <p:nvSpPr>
          <p:cNvPr id="21" name="Shape 19"/>
          <p:cNvSpPr/>
          <p:nvPr/>
        </p:nvSpPr>
        <p:spPr>
          <a:xfrm>
            <a:off x="3657600" y="2331720"/>
            <a:ext cx="530352" cy="438912"/>
          </a:xfrm>
          <a:prstGeom prst="roundRect">
            <a:avLst>
              <a:gd name="adj" fmla="val 16667"/>
            </a:avLst>
          </a:prstGeom>
          <a:solidFill>
            <a:srgbClr val="EEF2FF"/>
          </a:solidFill>
          <a:ln w="12700">
            <a:solidFill>
              <a:srgbClr val="2563EB"/>
            </a:solidFill>
            <a:prstDash val="solid"/>
          </a:ln>
        </p:spPr>
        <p:txBody>
          <a:bodyPr/>
          <a:lstStyle/>
          <a:p>
            <a:endParaRPr lang="en-GB"/>
          </a:p>
        </p:txBody>
      </p:sp>
      <p:sp>
        <p:nvSpPr>
          <p:cNvPr id="22" name="Text 20"/>
          <p:cNvSpPr/>
          <p:nvPr/>
        </p:nvSpPr>
        <p:spPr>
          <a:xfrm>
            <a:off x="3730752" y="2441448"/>
            <a:ext cx="384048"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h[4]</a:t>
            </a:r>
            <a:endParaRPr lang="en-US" sz="1200" dirty="0"/>
          </a:p>
        </p:txBody>
      </p:sp>
      <p:sp>
        <p:nvSpPr>
          <p:cNvPr id="23" name="Shape 21"/>
          <p:cNvSpPr/>
          <p:nvPr/>
        </p:nvSpPr>
        <p:spPr>
          <a:xfrm>
            <a:off x="3273552" y="2551176"/>
            <a:ext cx="384048" cy="0"/>
          </a:xfrm>
          <a:prstGeom prst="line">
            <a:avLst/>
          </a:prstGeom>
          <a:noFill/>
          <a:ln w="19050">
            <a:solidFill>
              <a:srgbClr val="2563EB"/>
            </a:solidFill>
            <a:prstDash val="solid"/>
            <a:tailEnd type="triangle"/>
          </a:ln>
        </p:spPr>
        <p:txBody>
          <a:bodyPr/>
          <a:lstStyle/>
          <a:p>
            <a:endParaRPr lang="en-GB"/>
          </a:p>
        </p:txBody>
      </p:sp>
      <p:sp>
        <p:nvSpPr>
          <p:cNvPr id="24" name="Text 22"/>
          <p:cNvSpPr/>
          <p:nvPr/>
        </p:nvSpPr>
        <p:spPr>
          <a:xfrm>
            <a:off x="3739896" y="1901952"/>
            <a:ext cx="365760" cy="182880"/>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x[4]</a:t>
            </a:r>
            <a:endParaRPr lang="en-US" sz="1100" dirty="0"/>
          </a:p>
        </p:txBody>
      </p:sp>
      <p:sp>
        <p:nvSpPr>
          <p:cNvPr id="25" name="Shape 23"/>
          <p:cNvSpPr/>
          <p:nvPr/>
        </p:nvSpPr>
        <p:spPr>
          <a:xfrm>
            <a:off x="3922776" y="2121408"/>
            <a:ext cx="0" cy="210312"/>
          </a:xfrm>
          <a:prstGeom prst="line">
            <a:avLst/>
          </a:prstGeom>
          <a:noFill/>
          <a:ln w="13970">
            <a:solidFill>
              <a:srgbClr val="475569"/>
            </a:solidFill>
            <a:prstDash val="solid"/>
            <a:tailEnd type="triangle"/>
          </a:ln>
        </p:spPr>
        <p:txBody>
          <a:bodyPr/>
          <a:lstStyle/>
          <a:p>
            <a:endParaRPr lang="en-GB"/>
          </a:p>
        </p:txBody>
      </p:sp>
      <p:sp>
        <p:nvSpPr>
          <p:cNvPr id="26" name="Shape 24"/>
          <p:cNvSpPr/>
          <p:nvPr/>
        </p:nvSpPr>
        <p:spPr>
          <a:xfrm>
            <a:off x="4572000" y="2331720"/>
            <a:ext cx="530352" cy="438912"/>
          </a:xfrm>
          <a:prstGeom prst="roundRect">
            <a:avLst>
              <a:gd name="adj" fmla="val 16667"/>
            </a:avLst>
          </a:prstGeom>
          <a:solidFill>
            <a:srgbClr val="EEF2FF"/>
          </a:solidFill>
          <a:ln w="12700">
            <a:solidFill>
              <a:srgbClr val="2563EB"/>
            </a:solidFill>
            <a:prstDash val="solid"/>
          </a:ln>
        </p:spPr>
        <p:txBody>
          <a:bodyPr/>
          <a:lstStyle/>
          <a:p>
            <a:endParaRPr lang="en-GB"/>
          </a:p>
        </p:txBody>
      </p:sp>
      <p:sp>
        <p:nvSpPr>
          <p:cNvPr id="27" name="Text 25"/>
          <p:cNvSpPr/>
          <p:nvPr/>
        </p:nvSpPr>
        <p:spPr>
          <a:xfrm>
            <a:off x="4645152" y="2441448"/>
            <a:ext cx="384048"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h[5]</a:t>
            </a:r>
            <a:endParaRPr lang="en-US" sz="1200" dirty="0"/>
          </a:p>
        </p:txBody>
      </p:sp>
      <p:sp>
        <p:nvSpPr>
          <p:cNvPr id="28" name="Shape 26"/>
          <p:cNvSpPr/>
          <p:nvPr/>
        </p:nvSpPr>
        <p:spPr>
          <a:xfrm>
            <a:off x="4187952" y="2551176"/>
            <a:ext cx="384048" cy="0"/>
          </a:xfrm>
          <a:prstGeom prst="line">
            <a:avLst/>
          </a:prstGeom>
          <a:noFill/>
          <a:ln w="19050">
            <a:solidFill>
              <a:srgbClr val="2563EB"/>
            </a:solidFill>
            <a:prstDash val="solid"/>
            <a:tailEnd type="triangle"/>
          </a:ln>
        </p:spPr>
        <p:txBody>
          <a:bodyPr/>
          <a:lstStyle/>
          <a:p>
            <a:endParaRPr lang="en-GB"/>
          </a:p>
        </p:txBody>
      </p:sp>
      <p:sp>
        <p:nvSpPr>
          <p:cNvPr id="29" name="Text 27"/>
          <p:cNvSpPr/>
          <p:nvPr/>
        </p:nvSpPr>
        <p:spPr>
          <a:xfrm>
            <a:off x="4654296" y="1901952"/>
            <a:ext cx="365760" cy="182880"/>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x[5]</a:t>
            </a:r>
            <a:endParaRPr lang="en-US" sz="1100" dirty="0"/>
          </a:p>
        </p:txBody>
      </p:sp>
      <p:sp>
        <p:nvSpPr>
          <p:cNvPr id="30" name="Shape 28"/>
          <p:cNvSpPr/>
          <p:nvPr/>
        </p:nvSpPr>
        <p:spPr>
          <a:xfrm>
            <a:off x="4837176" y="2121408"/>
            <a:ext cx="0" cy="210312"/>
          </a:xfrm>
          <a:prstGeom prst="line">
            <a:avLst/>
          </a:prstGeom>
          <a:noFill/>
          <a:ln w="13970">
            <a:solidFill>
              <a:srgbClr val="475569"/>
            </a:solidFill>
            <a:prstDash val="solid"/>
            <a:tailEnd type="triangle"/>
          </a:ln>
        </p:spPr>
        <p:txBody>
          <a:bodyPr/>
          <a:lstStyle/>
          <a:p>
            <a:endParaRPr lang="en-GB"/>
          </a:p>
        </p:txBody>
      </p:sp>
      <p:sp>
        <p:nvSpPr>
          <p:cNvPr id="31" name="Text 29"/>
          <p:cNvSpPr/>
          <p:nvPr/>
        </p:nvSpPr>
        <p:spPr>
          <a:xfrm>
            <a:off x="777240" y="3611880"/>
            <a:ext cx="5029200" cy="228600"/>
          </a:xfrm>
          <a:prstGeom prst="rect">
            <a:avLst/>
          </a:prstGeom>
          <a:noFill/>
          <a:ln/>
        </p:spPr>
        <p:txBody>
          <a:bodyPr wrap="square" lIns="0" tIns="0" rIns="0" bIns="0" rtlCol="0" anchor="ctr">
            <a:normAutofit/>
          </a:bodyPr>
          <a:lstStyle/>
          <a:p>
            <a:pPr marL="0" indent="0" algn="ctr">
              <a:buNone/>
            </a:pPr>
            <a:r>
              <a:rPr lang="en-US" sz="1100" b="1" dirty="0">
                <a:solidFill>
                  <a:srgbClr val="111827"/>
                </a:solidFill>
                <a:highlight>
                  <a:srgbClr val="FFFF00"/>
                </a:highlight>
              </a:rPr>
              <a:t>Convolutional view: local filters scan temporal regions</a:t>
            </a:r>
            <a:endParaRPr lang="en-US" sz="1100" dirty="0">
              <a:highlight>
                <a:srgbClr val="FFFF00"/>
              </a:highlight>
            </a:endParaRPr>
          </a:p>
        </p:txBody>
      </p:sp>
      <p:sp>
        <p:nvSpPr>
          <p:cNvPr id="32" name="Shape 30"/>
          <p:cNvSpPr/>
          <p:nvPr/>
        </p:nvSpPr>
        <p:spPr>
          <a:xfrm>
            <a:off x="864108"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33" name="Text 31"/>
          <p:cNvSpPr/>
          <p:nvPr/>
        </p:nvSpPr>
        <p:spPr>
          <a:xfrm>
            <a:off x="850392"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x1</a:t>
            </a:r>
            <a:endParaRPr lang="en-US" sz="650" dirty="0"/>
          </a:p>
        </p:txBody>
      </p:sp>
      <p:sp>
        <p:nvSpPr>
          <p:cNvPr id="34" name="Shape 32"/>
          <p:cNvSpPr/>
          <p:nvPr/>
        </p:nvSpPr>
        <p:spPr>
          <a:xfrm>
            <a:off x="1248156"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35" name="Text 33"/>
          <p:cNvSpPr/>
          <p:nvPr/>
        </p:nvSpPr>
        <p:spPr>
          <a:xfrm>
            <a:off x="1234440"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x2</a:t>
            </a:r>
            <a:endParaRPr lang="en-US" sz="650" dirty="0"/>
          </a:p>
        </p:txBody>
      </p:sp>
      <p:sp>
        <p:nvSpPr>
          <p:cNvPr id="36" name="Shape 34"/>
          <p:cNvSpPr/>
          <p:nvPr/>
        </p:nvSpPr>
        <p:spPr>
          <a:xfrm>
            <a:off x="1632204"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37" name="Text 35"/>
          <p:cNvSpPr/>
          <p:nvPr/>
        </p:nvSpPr>
        <p:spPr>
          <a:xfrm>
            <a:off x="1618488"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x3</a:t>
            </a:r>
            <a:endParaRPr lang="en-US" sz="650" dirty="0"/>
          </a:p>
        </p:txBody>
      </p:sp>
      <p:sp>
        <p:nvSpPr>
          <p:cNvPr id="38" name="Shape 36"/>
          <p:cNvSpPr/>
          <p:nvPr/>
        </p:nvSpPr>
        <p:spPr>
          <a:xfrm>
            <a:off x="2016252"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39" name="Text 37"/>
          <p:cNvSpPr/>
          <p:nvPr/>
        </p:nvSpPr>
        <p:spPr>
          <a:xfrm>
            <a:off x="2002536"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x4</a:t>
            </a:r>
            <a:endParaRPr lang="en-US" sz="650" dirty="0"/>
          </a:p>
        </p:txBody>
      </p:sp>
      <p:sp>
        <p:nvSpPr>
          <p:cNvPr id="40" name="Shape 38"/>
          <p:cNvSpPr/>
          <p:nvPr/>
        </p:nvSpPr>
        <p:spPr>
          <a:xfrm>
            <a:off x="2400300"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41" name="Text 39"/>
          <p:cNvSpPr/>
          <p:nvPr/>
        </p:nvSpPr>
        <p:spPr>
          <a:xfrm>
            <a:off x="2386584"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x5</a:t>
            </a:r>
            <a:endParaRPr lang="en-US" sz="650" dirty="0"/>
          </a:p>
        </p:txBody>
      </p:sp>
      <p:sp>
        <p:nvSpPr>
          <p:cNvPr id="42" name="Shape 40"/>
          <p:cNvSpPr/>
          <p:nvPr/>
        </p:nvSpPr>
        <p:spPr>
          <a:xfrm>
            <a:off x="2784348"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43" name="Text 41"/>
          <p:cNvSpPr/>
          <p:nvPr/>
        </p:nvSpPr>
        <p:spPr>
          <a:xfrm>
            <a:off x="2770632"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x6</a:t>
            </a:r>
            <a:endParaRPr lang="en-US" sz="650" dirty="0"/>
          </a:p>
        </p:txBody>
      </p:sp>
      <p:sp>
        <p:nvSpPr>
          <p:cNvPr id="44" name="Shape 42"/>
          <p:cNvSpPr/>
          <p:nvPr/>
        </p:nvSpPr>
        <p:spPr>
          <a:xfrm>
            <a:off x="3168396"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45" name="Text 43"/>
          <p:cNvSpPr/>
          <p:nvPr/>
        </p:nvSpPr>
        <p:spPr>
          <a:xfrm>
            <a:off x="3154680"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x7</a:t>
            </a:r>
            <a:endParaRPr lang="en-US" sz="650" dirty="0"/>
          </a:p>
        </p:txBody>
      </p:sp>
      <p:sp>
        <p:nvSpPr>
          <p:cNvPr id="46" name="Shape 44"/>
          <p:cNvSpPr/>
          <p:nvPr/>
        </p:nvSpPr>
        <p:spPr>
          <a:xfrm>
            <a:off x="3552444"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47" name="Text 45"/>
          <p:cNvSpPr/>
          <p:nvPr/>
        </p:nvSpPr>
        <p:spPr>
          <a:xfrm>
            <a:off x="3538728"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x8</a:t>
            </a:r>
            <a:endParaRPr lang="en-US" sz="650" dirty="0"/>
          </a:p>
        </p:txBody>
      </p:sp>
      <p:sp>
        <p:nvSpPr>
          <p:cNvPr id="48" name="Shape 46"/>
          <p:cNvSpPr/>
          <p:nvPr/>
        </p:nvSpPr>
        <p:spPr>
          <a:xfrm>
            <a:off x="3936492"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49" name="Text 47"/>
          <p:cNvSpPr/>
          <p:nvPr/>
        </p:nvSpPr>
        <p:spPr>
          <a:xfrm>
            <a:off x="3922776"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x9</a:t>
            </a:r>
            <a:endParaRPr lang="en-US" sz="650" dirty="0"/>
          </a:p>
        </p:txBody>
      </p:sp>
      <p:sp>
        <p:nvSpPr>
          <p:cNvPr id="50" name="Shape 48"/>
          <p:cNvSpPr/>
          <p:nvPr/>
        </p:nvSpPr>
        <p:spPr>
          <a:xfrm>
            <a:off x="4320540" y="4539996"/>
            <a:ext cx="100584" cy="100584"/>
          </a:xfrm>
          <a:prstGeom prst="ellipse">
            <a:avLst/>
          </a:prstGeom>
          <a:solidFill>
            <a:srgbClr val="475569"/>
          </a:solidFill>
          <a:ln w="12700">
            <a:solidFill>
              <a:srgbClr val="475569"/>
            </a:solidFill>
            <a:prstDash val="solid"/>
          </a:ln>
        </p:spPr>
        <p:txBody>
          <a:bodyPr/>
          <a:lstStyle/>
          <a:p>
            <a:endParaRPr lang="en-GB"/>
          </a:p>
        </p:txBody>
      </p:sp>
      <p:sp>
        <p:nvSpPr>
          <p:cNvPr id="51" name="Text 49"/>
          <p:cNvSpPr/>
          <p:nvPr/>
        </p:nvSpPr>
        <p:spPr>
          <a:xfrm>
            <a:off x="4306824" y="4773168"/>
            <a:ext cx="137160" cy="137160"/>
          </a:xfrm>
          <a:prstGeom prst="rect">
            <a:avLst/>
          </a:prstGeom>
          <a:noFill/>
          <a:ln/>
        </p:spPr>
        <p:txBody>
          <a:bodyPr wrap="square" lIns="0" tIns="0" rIns="0" bIns="0" rtlCol="0" anchor="ctr">
            <a:normAutofit/>
          </a:bodyPr>
          <a:lstStyle/>
          <a:p>
            <a:pPr marL="0" indent="0" algn="ctr">
              <a:buNone/>
            </a:pPr>
            <a:r>
              <a:rPr lang="en-US" sz="650" dirty="0">
                <a:solidFill>
                  <a:srgbClr val="475569"/>
                </a:solidFill>
              </a:rPr>
              <a:t>x10</a:t>
            </a:r>
            <a:endParaRPr lang="en-US" sz="650" dirty="0"/>
          </a:p>
        </p:txBody>
      </p:sp>
      <p:sp>
        <p:nvSpPr>
          <p:cNvPr id="52" name="Shape 50"/>
          <p:cNvSpPr/>
          <p:nvPr/>
        </p:nvSpPr>
        <p:spPr>
          <a:xfrm>
            <a:off x="841248" y="4370832"/>
            <a:ext cx="914400" cy="393192"/>
          </a:xfrm>
          <a:prstGeom prst="roundRect">
            <a:avLst>
              <a:gd name="adj" fmla="val 9302"/>
            </a:avLst>
          </a:prstGeom>
          <a:solidFill>
            <a:srgbClr val="EAF6D6">
              <a:alpha val="65000"/>
            </a:srgbClr>
          </a:solidFill>
          <a:ln w="17780">
            <a:solidFill>
              <a:srgbClr val="84B927"/>
            </a:solidFill>
            <a:prstDash val="solid"/>
          </a:ln>
        </p:spPr>
        <p:txBody>
          <a:bodyPr/>
          <a:lstStyle/>
          <a:p>
            <a:endParaRPr lang="en-GB"/>
          </a:p>
        </p:txBody>
      </p:sp>
      <p:sp>
        <p:nvSpPr>
          <p:cNvPr id="53" name="Shape 51"/>
          <p:cNvSpPr/>
          <p:nvPr/>
        </p:nvSpPr>
        <p:spPr>
          <a:xfrm>
            <a:off x="1609344" y="4370832"/>
            <a:ext cx="914400" cy="393192"/>
          </a:xfrm>
          <a:prstGeom prst="roundRect">
            <a:avLst>
              <a:gd name="adj" fmla="val 9302"/>
            </a:avLst>
          </a:prstGeom>
          <a:solidFill>
            <a:srgbClr val="EAF6D6">
              <a:alpha val="65000"/>
            </a:srgbClr>
          </a:solidFill>
          <a:ln w="17780">
            <a:solidFill>
              <a:srgbClr val="84B927"/>
            </a:solidFill>
            <a:prstDash val="solid"/>
          </a:ln>
        </p:spPr>
        <p:txBody>
          <a:bodyPr/>
          <a:lstStyle/>
          <a:p>
            <a:endParaRPr lang="en-GB"/>
          </a:p>
        </p:txBody>
      </p:sp>
      <p:sp>
        <p:nvSpPr>
          <p:cNvPr id="54" name="Shape 52"/>
          <p:cNvSpPr/>
          <p:nvPr/>
        </p:nvSpPr>
        <p:spPr>
          <a:xfrm>
            <a:off x="2377440" y="4370832"/>
            <a:ext cx="914400" cy="393192"/>
          </a:xfrm>
          <a:prstGeom prst="roundRect">
            <a:avLst>
              <a:gd name="adj" fmla="val 9302"/>
            </a:avLst>
          </a:prstGeom>
          <a:solidFill>
            <a:srgbClr val="EAF6D6">
              <a:alpha val="65000"/>
            </a:srgbClr>
          </a:solidFill>
          <a:ln w="17780">
            <a:solidFill>
              <a:srgbClr val="84B927"/>
            </a:solidFill>
            <a:prstDash val="solid"/>
          </a:ln>
        </p:spPr>
        <p:txBody>
          <a:bodyPr/>
          <a:lstStyle/>
          <a:p>
            <a:endParaRPr lang="en-GB"/>
          </a:p>
        </p:txBody>
      </p:sp>
      <p:sp>
        <p:nvSpPr>
          <p:cNvPr id="55" name="Shape 53"/>
          <p:cNvSpPr/>
          <p:nvPr/>
        </p:nvSpPr>
        <p:spPr>
          <a:xfrm>
            <a:off x="3145536" y="4370832"/>
            <a:ext cx="914400" cy="393192"/>
          </a:xfrm>
          <a:prstGeom prst="roundRect">
            <a:avLst>
              <a:gd name="adj" fmla="val 9302"/>
            </a:avLst>
          </a:prstGeom>
          <a:solidFill>
            <a:srgbClr val="EAF6D6">
              <a:alpha val="65000"/>
            </a:srgbClr>
          </a:solidFill>
          <a:ln w="17780">
            <a:solidFill>
              <a:srgbClr val="84B927"/>
            </a:solidFill>
            <a:prstDash val="solid"/>
          </a:ln>
        </p:spPr>
        <p:txBody>
          <a:bodyPr/>
          <a:lstStyle/>
          <a:p>
            <a:endParaRPr lang="en-GB"/>
          </a:p>
        </p:txBody>
      </p:sp>
      <p:sp>
        <p:nvSpPr>
          <p:cNvPr id="56" name="Text 54"/>
          <p:cNvSpPr/>
          <p:nvPr/>
        </p:nvSpPr>
        <p:spPr>
          <a:xfrm>
            <a:off x="1417320" y="4069080"/>
            <a:ext cx="3108960" cy="201168"/>
          </a:xfrm>
          <a:prstGeom prst="rect">
            <a:avLst/>
          </a:prstGeom>
          <a:noFill/>
          <a:ln/>
        </p:spPr>
        <p:txBody>
          <a:bodyPr wrap="square" lIns="0" tIns="0" rIns="0" bIns="0" rtlCol="0" anchor="ctr">
            <a:normAutofit/>
          </a:bodyPr>
          <a:lstStyle/>
          <a:p>
            <a:pPr marL="0" indent="0" algn="ctr">
              <a:buNone/>
            </a:pPr>
            <a:r>
              <a:rPr lang="en-US" sz="1000" dirty="0">
                <a:solidFill>
                  <a:srgbClr val="4F7F2B"/>
                </a:solidFill>
                <a:highlight>
                  <a:srgbClr val="FFFF00"/>
                </a:highlight>
              </a:rPr>
              <a:t>same learned local detector</a:t>
            </a:r>
            <a:endParaRPr lang="en-US" sz="1000" dirty="0">
              <a:highlight>
                <a:srgbClr val="FFFF00"/>
              </a:highlight>
            </a:endParaRPr>
          </a:p>
        </p:txBody>
      </p:sp>
      <p:sp>
        <p:nvSpPr>
          <p:cNvPr id="57" name="Shape 55"/>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58" name="Text 56"/>
          <p:cNvSpPr/>
          <p:nvPr/>
        </p:nvSpPr>
        <p:spPr>
          <a:xfrm>
            <a:off x="621792" y="6336792"/>
            <a:ext cx="9555480" cy="164592"/>
          </a:xfrm>
          <a:prstGeom prst="rect">
            <a:avLst/>
          </a:prstGeom>
          <a:noFill/>
          <a:ln/>
        </p:spPr>
        <p:txBody>
          <a:bodyPr wrap="square" lIns="0" tIns="0" rIns="0" bIns="0" rtlCol="0" anchor="ctr"/>
          <a:lstStyle/>
          <a:p>
            <a:pPr marL="0" indent="0">
              <a:buNone/>
            </a:pPr>
            <a:r>
              <a:rPr lang="en-US" sz="1020" dirty="0">
                <a:solidFill>
                  <a:srgbClr val="111827"/>
                </a:solidFill>
              </a:rPr>
              <a:t>Lecture 5 starts from the RNN limitation: </a:t>
            </a:r>
            <a:r>
              <a:rPr lang="en-US" sz="1020" b="1" dirty="0">
                <a:solidFill>
                  <a:srgbClr val="111827"/>
                </a:solidFill>
              </a:rPr>
              <a:t>recurrence is sequential; convolution searches for learned local patterns.</a:t>
            </a:r>
            <a:endParaRPr lang="en-US" sz="102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C3213A7-4314-21E3-914E-AB55A111E500}"/>
              </a:ext>
            </a:extLst>
          </p:cNvPr>
          <p:cNvSpPr>
            <a:spLocks noGrp="1"/>
          </p:cNvSpPr>
          <p:nvPr>
            <p:ph type="title"/>
          </p:nvPr>
        </p:nvSpPr>
        <p:spPr/>
        <p:txBody>
          <a:bodyPr/>
          <a:lstStyle/>
          <a:p>
            <a:r>
              <a:rPr lang="en-GB" dirty="0"/>
              <a:t>Temporal patterns often appear locally</a:t>
            </a:r>
          </a:p>
        </p:txBody>
      </p:sp>
      <p:sp>
        <p:nvSpPr>
          <p:cNvPr id="3" name="Segnaposto contenuto 2">
            <a:extLst>
              <a:ext uri="{FF2B5EF4-FFF2-40B4-BE49-F238E27FC236}">
                <a16:creationId xmlns:a16="http://schemas.microsoft.com/office/drawing/2014/main" id="{16F82879-60BE-0C1B-4DB6-91CAECE5D9FE}"/>
              </a:ext>
            </a:extLst>
          </p:cNvPr>
          <p:cNvSpPr>
            <a:spLocks noGrp="1"/>
          </p:cNvSpPr>
          <p:nvPr>
            <p:ph sz="half" idx="1"/>
          </p:nvPr>
        </p:nvSpPr>
        <p:spPr/>
        <p:txBody>
          <a:bodyPr>
            <a:normAutofit fontScale="85000" lnSpcReduction="20000"/>
          </a:bodyPr>
          <a:lstStyle/>
          <a:p>
            <a:r>
              <a:rPr lang="en-GB" dirty="0"/>
              <a:t>Many useful temporal phenomena can be recognized from a limited local interval.</a:t>
            </a:r>
          </a:p>
          <a:p>
            <a:r>
              <a:rPr lang="en-GB" dirty="0"/>
              <a:t>Examples:</a:t>
            </a:r>
          </a:p>
          <a:p>
            <a:pPr lvl="1"/>
            <a:r>
              <a:rPr lang="en-GB" dirty="0"/>
              <a:t>sharp increase followed by decay; </a:t>
            </a:r>
          </a:p>
          <a:p>
            <a:pPr lvl="1"/>
            <a:r>
              <a:rPr lang="en-GB" dirty="0"/>
              <a:t>repeated vibration burst; </a:t>
            </a:r>
          </a:p>
          <a:p>
            <a:pPr lvl="1"/>
            <a:r>
              <a:rPr lang="en-GB" dirty="0"/>
              <a:t>short oscillation; </a:t>
            </a:r>
          </a:p>
          <a:p>
            <a:pPr lvl="1"/>
            <a:r>
              <a:rPr lang="en-GB" dirty="0"/>
              <a:t>sudden pressure drop; </a:t>
            </a:r>
          </a:p>
          <a:p>
            <a:pPr lvl="1"/>
            <a:r>
              <a:rPr lang="en-GB" dirty="0"/>
              <a:t>local change in slope; </a:t>
            </a:r>
          </a:p>
          <a:p>
            <a:pPr lvl="1"/>
            <a:r>
              <a:rPr lang="en-GB" dirty="0"/>
              <a:t>characteristic transition between operating states. </a:t>
            </a:r>
          </a:p>
          <a:p>
            <a:r>
              <a:rPr lang="en-GB" dirty="0"/>
              <a:t>A pattern might look conceptually like:</a:t>
            </a:r>
          </a:p>
          <a:p>
            <a:pPr lvl="1"/>
            <a:r>
              <a:rPr lang="en-GB" dirty="0"/>
              <a:t>small rise → sharp peak → decay</a:t>
            </a:r>
          </a:p>
          <a:p>
            <a:endParaRPr lang="en-GB" dirty="0"/>
          </a:p>
        </p:txBody>
      </p:sp>
      <p:sp>
        <p:nvSpPr>
          <p:cNvPr id="4" name="Segnaposto contenuto 3">
            <a:extLst>
              <a:ext uri="{FF2B5EF4-FFF2-40B4-BE49-F238E27FC236}">
                <a16:creationId xmlns:a16="http://schemas.microsoft.com/office/drawing/2014/main" id="{5F6F4B99-5CDB-6818-559F-C35CAC56C14C}"/>
              </a:ext>
            </a:extLst>
          </p:cNvPr>
          <p:cNvSpPr>
            <a:spLocks noGrp="1"/>
          </p:cNvSpPr>
          <p:nvPr>
            <p:ph sz="half" idx="2"/>
          </p:nvPr>
        </p:nvSpPr>
        <p:spPr/>
        <p:txBody>
          <a:bodyPr>
            <a:normAutofit fontScale="85000" lnSpcReduction="20000"/>
          </a:bodyPr>
          <a:lstStyle/>
          <a:p>
            <a:r>
              <a:rPr lang="en-GB" dirty="0"/>
              <a:t>The exact time at which the pattern occurs may not matter.</a:t>
            </a:r>
          </a:p>
          <a:p>
            <a:r>
              <a:rPr lang="en-GB" dirty="0"/>
              <a:t>For example, the same fault signature might appear at:</a:t>
            </a:r>
          </a:p>
          <a:p>
            <a:pPr lvl="1"/>
            <a:r>
              <a:rPr lang="en-GB" dirty="0"/>
              <a:t>time step 150; </a:t>
            </a:r>
          </a:p>
          <a:p>
            <a:pPr lvl="1"/>
            <a:r>
              <a:rPr lang="en-GB" dirty="0"/>
              <a:t>time step 630; </a:t>
            </a:r>
          </a:p>
          <a:p>
            <a:pPr lvl="1"/>
            <a:r>
              <a:rPr lang="en-GB" dirty="0"/>
              <a:t>time step 1200. </a:t>
            </a:r>
          </a:p>
          <a:p>
            <a:r>
              <a:rPr lang="en-GB" b="1" dirty="0"/>
              <a:t>Desired property</a:t>
            </a:r>
          </a:p>
          <a:p>
            <a:pPr lvl="1"/>
            <a:r>
              <a:rPr lang="en-GB" dirty="0"/>
              <a:t>We would like to learn one detector and apply it at every temporal position.</a:t>
            </a:r>
          </a:p>
          <a:p>
            <a:pPr lvl="1"/>
            <a:r>
              <a:rPr lang="en-GB" dirty="0"/>
              <a:t>This is achieved by a </a:t>
            </a:r>
            <a:r>
              <a:rPr lang="en-GB" b="1" dirty="0"/>
              <a:t>convolutional filter</a:t>
            </a:r>
            <a:r>
              <a:rPr lang="en-GB" dirty="0"/>
              <a:t>.</a:t>
            </a:r>
          </a:p>
          <a:p>
            <a:r>
              <a:rPr lang="en-GB" b="1" dirty="0"/>
              <a:t>Temporal convolution searches for the same learned local pattern at many positions in a sequence.</a:t>
            </a:r>
          </a:p>
          <a:p>
            <a:endParaRPr lang="en-GB" dirty="0"/>
          </a:p>
        </p:txBody>
      </p:sp>
    </p:spTree>
    <p:extLst>
      <p:ext uri="{BB962C8B-B14F-4D97-AF65-F5344CB8AC3E}">
        <p14:creationId xmlns:p14="http://schemas.microsoft.com/office/powerpoint/2010/main" val="206176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Temporal patterns often appear locally</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b="1" dirty="0">
                <a:solidFill>
                  <a:srgbClr val="475569"/>
                </a:solidFill>
              </a:rPr>
              <a:t>The same local motif may occur at many/different positions in a long sequence.</a:t>
            </a:r>
            <a:endParaRPr lang="en-US" sz="1150" b="1" dirty="0"/>
          </a:p>
        </p:txBody>
      </p:sp>
      <p:sp>
        <p:nvSpPr>
          <p:cNvPr id="6" name="Shape 4"/>
          <p:cNvSpPr/>
          <p:nvPr/>
        </p:nvSpPr>
        <p:spPr>
          <a:xfrm>
            <a:off x="822960" y="3977640"/>
            <a:ext cx="7315200" cy="0"/>
          </a:xfrm>
          <a:prstGeom prst="line">
            <a:avLst/>
          </a:prstGeom>
          <a:noFill/>
          <a:ln w="15240">
            <a:solidFill>
              <a:srgbClr val="CBD5E1"/>
            </a:solidFill>
            <a:prstDash val="solid"/>
          </a:ln>
        </p:spPr>
        <p:txBody>
          <a:bodyPr/>
          <a:lstStyle/>
          <a:p>
            <a:endParaRPr lang="en-GB"/>
          </a:p>
        </p:txBody>
      </p:sp>
      <p:sp>
        <p:nvSpPr>
          <p:cNvPr id="7" name="Shape 5"/>
          <p:cNvSpPr/>
          <p:nvPr/>
        </p:nvSpPr>
        <p:spPr>
          <a:xfrm>
            <a:off x="822960" y="3337560"/>
            <a:ext cx="49095" cy="26864"/>
          </a:xfrm>
          <a:prstGeom prst="line">
            <a:avLst/>
          </a:prstGeom>
          <a:noFill/>
          <a:ln w="21590">
            <a:solidFill>
              <a:srgbClr val="111827"/>
            </a:solidFill>
            <a:prstDash val="solid"/>
          </a:ln>
        </p:spPr>
        <p:txBody>
          <a:bodyPr/>
          <a:lstStyle/>
          <a:p>
            <a:endParaRPr lang="en-GB"/>
          </a:p>
        </p:txBody>
      </p:sp>
      <p:sp>
        <p:nvSpPr>
          <p:cNvPr id="8" name="Shape 6"/>
          <p:cNvSpPr/>
          <p:nvPr/>
        </p:nvSpPr>
        <p:spPr>
          <a:xfrm>
            <a:off x="872055" y="3364424"/>
            <a:ext cx="49095" cy="26101"/>
          </a:xfrm>
          <a:prstGeom prst="line">
            <a:avLst/>
          </a:prstGeom>
          <a:noFill/>
          <a:ln w="21590">
            <a:solidFill>
              <a:srgbClr val="111827"/>
            </a:solidFill>
            <a:prstDash val="solid"/>
          </a:ln>
        </p:spPr>
        <p:txBody>
          <a:bodyPr/>
          <a:lstStyle/>
          <a:p>
            <a:endParaRPr lang="en-GB"/>
          </a:p>
        </p:txBody>
      </p:sp>
      <p:sp>
        <p:nvSpPr>
          <p:cNvPr id="9" name="Shape 7"/>
          <p:cNvSpPr/>
          <p:nvPr/>
        </p:nvSpPr>
        <p:spPr>
          <a:xfrm>
            <a:off x="921151" y="3390525"/>
            <a:ext cx="49095" cy="24598"/>
          </a:xfrm>
          <a:prstGeom prst="line">
            <a:avLst/>
          </a:prstGeom>
          <a:noFill/>
          <a:ln w="21590">
            <a:solidFill>
              <a:srgbClr val="111827"/>
            </a:solidFill>
            <a:prstDash val="solid"/>
          </a:ln>
        </p:spPr>
        <p:txBody>
          <a:bodyPr/>
          <a:lstStyle/>
          <a:p>
            <a:endParaRPr lang="en-GB"/>
          </a:p>
        </p:txBody>
      </p:sp>
      <p:sp>
        <p:nvSpPr>
          <p:cNvPr id="10" name="Shape 8"/>
          <p:cNvSpPr/>
          <p:nvPr/>
        </p:nvSpPr>
        <p:spPr>
          <a:xfrm>
            <a:off x="970246" y="3415123"/>
            <a:ext cx="49095" cy="22396"/>
          </a:xfrm>
          <a:prstGeom prst="line">
            <a:avLst/>
          </a:prstGeom>
          <a:noFill/>
          <a:ln w="21590">
            <a:solidFill>
              <a:srgbClr val="111827"/>
            </a:solidFill>
            <a:prstDash val="solid"/>
          </a:ln>
        </p:spPr>
        <p:txBody>
          <a:bodyPr/>
          <a:lstStyle/>
          <a:p>
            <a:endParaRPr lang="en-GB"/>
          </a:p>
        </p:txBody>
      </p:sp>
      <p:sp>
        <p:nvSpPr>
          <p:cNvPr id="11" name="Shape 9"/>
          <p:cNvSpPr/>
          <p:nvPr/>
        </p:nvSpPr>
        <p:spPr>
          <a:xfrm>
            <a:off x="1019341" y="3437519"/>
            <a:ext cx="49095" cy="19559"/>
          </a:xfrm>
          <a:prstGeom prst="line">
            <a:avLst/>
          </a:prstGeom>
          <a:noFill/>
          <a:ln w="21590">
            <a:solidFill>
              <a:srgbClr val="111827"/>
            </a:solidFill>
            <a:prstDash val="solid"/>
          </a:ln>
        </p:spPr>
        <p:txBody>
          <a:bodyPr/>
          <a:lstStyle/>
          <a:p>
            <a:endParaRPr lang="en-GB"/>
          </a:p>
        </p:txBody>
      </p:sp>
      <p:sp>
        <p:nvSpPr>
          <p:cNvPr id="12" name="Shape 10"/>
          <p:cNvSpPr/>
          <p:nvPr/>
        </p:nvSpPr>
        <p:spPr>
          <a:xfrm>
            <a:off x="1068437" y="3457078"/>
            <a:ext cx="49095" cy="16167"/>
          </a:xfrm>
          <a:prstGeom prst="line">
            <a:avLst/>
          </a:prstGeom>
          <a:noFill/>
          <a:ln w="21590">
            <a:solidFill>
              <a:srgbClr val="111827"/>
            </a:solidFill>
            <a:prstDash val="solid"/>
          </a:ln>
        </p:spPr>
        <p:txBody>
          <a:bodyPr/>
          <a:lstStyle/>
          <a:p>
            <a:endParaRPr lang="en-GB"/>
          </a:p>
        </p:txBody>
      </p:sp>
      <p:sp>
        <p:nvSpPr>
          <p:cNvPr id="13" name="Shape 11"/>
          <p:cNvSpPr/>
          <p:nvPr/>
        </p:nvSpPr>
        <p:spPr>
          <a:xfrm>
            <a:off x="1117532" y="3473245"/>
            <a:ext cx="49095" cy="12315"/>
          </a:xfrm>
          <a:prstGeom prst="line">
            <a:avLst/>
          </a:prstGeom>
          <a:noFill/>
          <a:ln w="21590">
            <a:solidFill>
              <a:srgbClr val="111827"/>
            </a:solidFill>
            <a:prstDash val="solid"/>
          </a:ln>
        </p:spPr>
        <p:txBody>
          <a:bodyPr/>
          <a:lstStyle/>
          <a:p>
            <a:endParaRPr lang="en-GB"/>
          </a:p>
        </p:txBody>
      </p:sp>
      <p:sp>
        <p:nvSpPr>
          <p:cNvPr id="14" name="Shape 12"/>
          <p:cNvSpPr/>
          <p:nvPr/>
        </p:nvSpPr>
        <p:spPr>
          <a:xfrm>
            <a:off x="1166627" y="3485560"/>
            <a:ext cx="49095" cy="8114"/>
          </a:xfrm>
          <a:prstGeom prst="line">
            <a:avLst/>
          </a:prstGeom>
          <a:noFill/>
          <a:ln w="21590">
            <a:solidFill>
              <a:srgbClr val="111827"/>
            </a:solidFill>
            <a:prstDash val="solid"/>
          </a:ln>
        </p:spPr>
        <p:txBody>
          <a:bodyPr/>
          <a:lstStyle/>
          <a:p>
            <a:endParaRPr lang="en-GB"/>
          </a:p>
        </p:txBody>
      </p:sp>
      <p:sp>
        <p:nvSpPr>
          <p:cNvPr id="15" name="Shape 13"/>
          <p:cNvSpPr/>
          <p:nvPr/>
        </p:nvSpPr>
        <p:spPr>
          <a:xfrm>
            <a:off x="1215722" y="3493675"/>
            <a:ext cx="49095" cy="3683"/>
          </a:xfrm>
          <a:prstGeom prst="line">
            <a:avLst/>
          </a:prstGeom>
          <a:noFill/>
          <a:ln w="21590">
            <a:solidFill>
              <a:srgbClr val="111827"/>
            </a:solidFill>
            <a:prstDash val="solid"/>
          </a:ln>
        </p:spPr>
        <p:txBody>
          <a:bodyPr/>
          <a:lstStyle/>
          <a:p>
            <a:endParaRPr lang="en-GB"/>
          </a:p>
        </p:txBody>
      </p:sp>
      <p:sp>
        <p:nvSpPr>
          <p:cNvPr id="16" name="Shape 14"/>
          <p:cNvSpPr/>
          <p:nvPr/>
        </p:nvSpPr>
        <p:spPr>
          <a:xfrm>
            <a:off x="1264818" y="3497358"/>
            <a:ext cx="49095" cy="0"/>
          </a:xfrm>
          <a:prstGeom prst="line">
            <a:avLst/>
          </a:prstGeom>
          <a:noFill/>
          <a:ln w="21590">
            <a:solidFill>
              <a:srgbClr val="111827"/>
            </a:solidFill>
            <a:prstDash val="solid"/>
          </a:ln>
        </p:spPr>
        <p:txBody>
          <a:bodyPr/>
          <a:lstStyle/>
          <a:p>
            <a:endParaRPr lang="en-GB"/>
          </a:p>
        </p:txBody>
      </p:sp>
      <p:sp>
        <p:nvSpPr>
          <p:cNvPr id="17" name="Shape 15"/>
          <p:cNvSpPr/>
          <p:nvPr/>
        </p:nvSpPr>
        <p:spPr>
          <a:xfrm>
            <a:off x="1313913" y="3496505"/>
            <a:ext cx="49095" cy="0"/>
          </a:xfrm>
          <a:prstGeom prst="line">
            <a:avLst/>
          </a:prstGeom>
          <a:noFill/>
          <a:ln w="21590">
            <a:solidFill>
              <a:srgbClr val="111827"/>
            </a:solidFill>
            <a:prstDash val="solid"/>
          </a:ln>
        </p:spPr>
        <p:txBody>
          <a:bodyPr/>
          <a:lstStyle/>
          <a:p>
            <a:endParaRPr lang="en-GB"/>
          </a:p>
        </p:txBody>
      </p:sp>
      <p:sp>
        <p:nvSpPr>
          <p:cNvPr id="18" name="Shape 16"/>
          <p:cNvSpPr/>
          <p:nvPr/>
        </p:nvSpPr>
        <p:spPr>
          <a:xfrm>
            <a:off x="1363008" y="3491141"/>
            <a:ext cx="49095" cy="0"/>
          </a:xfrm>
          <a:prstGeom prst="line">
            <a:avLst/>
          </a:prstGeom>
          <a:noFill/>
          <a:ln w="21590">
            <a:solidFill>
              <a:srgbClr val="111827"/>
            </a:solidFill>
            <a:prstDash val="solid"/>
          </a:ln>
        </p:spPr>
        <p:txBody>
          <a:bodyPr/>
          <a:lstStyle/>
          <a:p>
            <a:endParaRPr lang="en-GB"/>
          </a:p>
        </p:txBody>
      </p:sp>
      <p:sp>
        <p:nvSpPr>
          <p:cNvPr id="19" name="Shape 17"/>
          <p:cNvSpPr/>
          <p:nvPr/>
        </p:nvSpPr>
        <p:spPr>
          <a:xfrm>
            <a:off x="1412104" y="3481418"/>
            <a:ext cx="49095" cy="0"/>
          </a:xfrm>
          <a:prstGeom prst="line">
            <a:avLst/>
          </a:prstGeom>
          <a:noFill/>
          <a:ln w="21590">
            <a:solidFill>
              <a:srgbClr val="111827"/>
            </a:solidFill>
            <a:prstDash val="solid"/>
          </a:ln>
        </p:spPr>
        <p:txBody>
          <a:bodyPr/>
          <a:lstStyle/>
          <a:p>
            <a:endParaRPr lang="en-GB"/>
          </a:p>
        </p:txBody>
      </p:sp>
      <p:sp>
        <p:nvSpPr>
          <p:cNvPr id="20" name="Shape 18"/>
          <p:cNvSpPr/>
          <p:nvPr/>
        </p:nvSpPr>
        <p:spPr>
          <a:xfrm>
            <a:off x="1461199" y="3467611"/>
            <a:ext cx="49095" cy="0"/>
          </a:xfrm>
          <a:prstGeom prst="line">
            <a:avLst/>
          </a:prstGeom>
          <a:noFill/>
          <a:ln w="21590">
            <a:solidFill>
              <a:srgbClr val="111827"/>
            </a:solidFill>
            <a:prstDash val="solid"/>
          </a:ln>
        </p:spPr>
        <p:txBody>
          <a:bodyPr/>
          <a:lstStyle/>
          <a:p>
            <a:endParaRPr lang="en-GB"/>
          </a:p>
        </p:txBody>
      </p:sp>
      <p:sp>
        <p:nvSpPr>
          <p:cNvPr id="21" name="Shape 19"/>
          <p:cNvSpPr/>
          <p:nvPr/>
        </p:nvSpPr>
        <p:spPr>
          <a:xfrm>
            <a:off x="1510294" y="3450113"/>
            <a:ext cx="49095" cy="0"/>
          </a:xfrm>
          <a:prstGeom prst="line">
            <a:avLst/>
          </a:prstGeom>
          <a:noFill/>
          <a:ln w="21590">
            <a:solidFill>
              <a:srgbClr val="111827"/>
            </a:solidFill>
            <a:prstDash val="solid"/>
          </a:ln>
        </p:spPr>
        <p:txBody>
          <a:bodyPr/>
          <a:lstStyle/>
          <a:p>
            <a:endParaRPr lang="en-GB"/>
          </a:p>
        </p:txBody>
      </p:sp>
      <p:sp>
        <p:nvSpPr>
          <p:cNvPr id="22" name="Shape 20"/>
          <p:cNvSpPr/>
          <p:nvPr/>
        </p:nvSpPr>
        <p:spPr>
          <a:xfrm>
            <a:off x="1559390" y="3429420"/>
            <a:ext cx="49095" cy="0"/>
          </a:xfrm>
          <a:prstGeom prst="line">
            <a:avLst/>
          </a:prstGeom>
          <a:noFill/>
          <a:ln w="21590">
            <a:solidFill>
              <a:srgbClr val="111827"/>
            </a:solidFill>
            <a:prstDash val="solid"/>
          </a:ln>
        </p:spPr>
        <p:txBody>
          <a:bodyPr/>
          <a:lstStyle/>
          <a:p>
            <a:endParaRPr lang="en-GB"/>
          </a:p>
        </p:txBody>
      </p:sp>
      <p:sp>
        <p:nvSpPr>
          <p:cNvPr id="23" name="Shape 21"/>
          <p:cNvSpPr/>
          <p:nvPr/>
        </p:nvSpPr>
        <p:spPr>
          <a:xfrm>
            <a:off x="1608485" y="3406120"/>
            <a:ext cx="49095" cy="0"/>
          </a:xfrm>
          <a:prstGeom prst="line">
            <a:avLst/>
          </a:prstGeom>
          <a:noFill/>
          <a:ln w="21590">
            <a:solidFill>
              <a:srgbClr val="111827"/>
            </a:solidFill>
            <a:prstDash val="solid"/>
          </a:ln>
        </p:spPr>
        <p:txBody>
          <a:bodyPr/>
          <a:lstStyle/>
          <a:p>
            <a:endParaRPr lang="en-GB"/>
          </a:p>
        </p:txBody>
      </p:sp>
      <p:sp>
        <p:nvSpPr>
          <p:cNvPr id="24" name="Shape 22"/>
          <p:cNvSpPr/>
          <p:nvPr/>
        </p:nvSpPr>
        <p:spPr>
          <a:xfrm>
            <a:off x="1657580" y="3380874"/>
            <a:ext cx="49095" cy="0"/>
          </a:xfrm>
          <a:prstGeom prst="line">
            <a:avLst/>
          </a:prstGeom>
          <a:noFill/>
          <a:ln w="21590">
            <a:solidFill>
              <a:srgbClr val="111827"/>
            </a:solidFill>
            <a:prstDash val="solid"/>
          </a:ln>
        </p:spPr>
        <p:txBody>
          <a:bodyPr/>
          <a:lstStyle/>
          <a:p>
            <a:endParaRPr lang="en-GB"/>
          </a:p>
        </p:txBody>
      </p:sp>
      <p:sp>
        <p:nvSpPr>
          <p:cNvPr id="25" name="Shape 23"/>
          <p:cNvSpPr/>
          <p:nvPr/>
        </p:nvSpPr>
        <p:spPr>
          <a:xfrm>
            <a:off x="1706675" y="3354398"/>
            <a:ext cx="49095" cy="0"/>
          </a:xfrm>
          <a:prstGeom prst="line">
            <a:avLst/>
          </a:prstGeom>
          <a:noFill/>
          <a:ln w="21590">
            <a:solidFill>
              <a:srgbClr val="111827"/>
            </a:solidFill>
            <a:prstDash val="solid"/>
          </a:ln>
        </p:spPr>
        <p:txBody>
          <a:bodyPr/>
          <a:lstStyle/>
          <a:p>
            <a:endParaRPr lang="en-GB"/>
          </a:p>
        </p:txBody>
      </p:sp>
      <p:sp>
        <p:nvSpPr>
          <p:cNvPr id="26" name="Shape 24"/>
          <p:cNvSpPr/>
          <p:nvPr/>
        </p:nvSpPr>
        <p:spPr>
          <a:xfrm>
            <a:off x="1755771" y="3327445"/>
            <a:ext cx="49095" cy="0"/>
          </a:xfrm>
          <a:prstGeom prst="line">
            <a:avLst/>
          </a:prstGeom>
          <a:noFill/>
          <a:ln w="21590">
            <a:solidFill>
              <a:srgbClr val="111827"/>
            </a:solidFill>
            <a:prstDash val="solid"/>
          </a:ln>
        </p:spPr>
        <p:txBody>
          <a:bodyPr/>
          <a:lstStyle/>
          <a:p>
            <a:endParaRPr lang="en-GB"/>
          </a:p>
        </p:txBody>
      </p:sp>
      <p:sp>
        <p:nvSpPr>
          <p:cNvPr id="27" name="Shape 25"/>
          <p:cNvSpPr/>
          <p:nvPr/>
        </p:nvSpPr>
        <p:spPr>
          <a:xfrm>
            <a:off x="1804866" y="3300778"/>
            <a:ext cx="49095" cy="0"/>
          </a:xfrm>
          <a:prstGeom prst="line">
            <a:avLst/>
          </a:prstGeom>
          <a:noFill/>
          <a:ln w="21590">
            <a:solidFill>
              <a:srgbClr val="111827"/>
            </a:solidFill>
            <a:prstDash val="solid"/>
          </a:ln>
        </p:spPr>
        <p:txBody>
          <a:bodyPr/>
          <a:lstStyle/>
          <a:p>
            <a:endParaRPr lang="en-GB"/>
          </a:p>
        </p:txBody>
      </p:sp>
      <p:sp>
        <p:nvSpPr>
          <p:cNvPr id="28" name="Shape 26"/>
          <p:cNvSpPr/>
          <p:nvPr/>
        </p:nvSpPr>
        <p:spPr>
          <a:xfrm>
            <a:off x="1853961" y="3275156"/>
            <a:ext cx="49095" cy="0"/>
          </a:xfrm>
          <a:prstGeom prst="line">
            <a:avLst/>
          </a:prstGeom>
          <a:noFill/>
          <a:ln w="21590">
            <a:solidFill>
              <a:srgbClr val="111827"/>
            </a:solidFill>
            <a:prstDash val="solid"/>
          </a:ln>
        </p:spPr>
        <p:txBody>
          <a:bodyPr/>
          <a:lstStyle/>
          <a:p>
            <a:endParaRPr lang="en-GB"/>
          </a:p>
        </p:txBody>
      </p:sp>
      <p:sp>
        <p:nvSpPr>
          <p:cNvPr id="29" name="Shape 27"/>
          <p:cNvSpPr/>
          <p:nvPr/>
        </p:nvSpPr>
        <p:spPr>
          <a:xfrm>
            <a:off x="1903057" y="3251305"/>
            <a:ext cx="49095" cy="0"/>
          </a:xfrm>
          <a:prstGeom prst="line">
            <a:avLst/>
          </a:prstGeom>
          <a:noFill/>
          <a:ln w="21590">
            <a:solidFill>
              <a:srgbClr val="111827"/>
            </a:solidFill>
            <a:prstDash val="solid"/>
          </a:ln>
        </p:spPr>
        <p:txBody>
          <a:bodyPr/>
          <a:lstStyle/>
          <a:p>
            <a:endParaRPr lang="en-GB"/>
          </a:p>
        </p:txBody>
      </p:sp>
      <p:sp>
        <p:nvSpPr>
          <p:cNvPr id="30" name="Shape 28"/>
          <p:cNvSpPr/>
          <p:nvPr/>
        </p:nvSpPr>
        <p:spPr>
          <a:xfrm>
            <a:off x="1952152" y="3229902"/>
            <a:ext cx="49095" cy="0"/>
          </a:xfrm>
          <a:prstGeom prst="line">
            <a:avLst/>
          </a:prstGeom>
          <a:noFill/>
          <a:ln w="21590">
            <a:solidFill>
              <a:srgbClr val="111827"/>
            </a:solidFill>
            <a:prstDash val="solid"/>
          </a:ln>
        </p:spPr>
        <p:txBody>
          <a:bodyPr/>
          <a:lstStyle/>
          <a:p>
            <a:endParaRPr lang="en-GB"/>
          </a:p>
        </p:txBody>
      </p:sp>
      <p:sp>
        <p:nvSpPr>
          <p:cNvPr id="31" name="Shape 29"/>
          <p:cNvSpPr/>
          <p:nvPr/>
        </p:nvSpPr>
        <p:spPr>
          <a:xfrm>
            <a:off x="2001247" y="3211555"/>
            <a:ext cx="49095" cy="0"/>
          </a:xfrm>
          <a:prstGeom prst="line">
            <a:avLst/>
          </a:prstGeom>
          <a:noFill/>
          <a:ln w="21590">
            <a:solidFill>
              <a:srgbClr val="111827"/>
            </a:solidFill>
            <a:prstDash val="solid"/>
          </a:ln>
        </p:spPr>
        <p:txBody>
          <a:bodyPr/>
          <a:lstStyle/>
          <a:p>
            <a:endParaRPr lang="en-GB"/>
          </a:p>
        </p:txBody>
      </p:sp>
      <p:sp>
        <p:nvSpPr>
          <p:cNvPr id="32" name="Shape 30"/>
          <p:cNvSpPr/>
          <p:nvPr/>
        </p:nvSpPr>
        <p:spPr>
          <a:xfrm>
            <a:off x="2050343" y="3196784"/>
            <a:ext cx="49095" cy="0"/>
          </a:xfrm>
          <a:prstGeom prst="line">
            <a:avLst/>
          </a:prstGeom>
          <a:noFill/>
          <a:ln w="21590">
            <a:solidFill>
              <a:srgbClr val="111827"/>
            </a:solidFill>
            <a:prstDash val="solid"/>
          </a:ln>
        </p:spPr>
        <p:txBody>
          <a:bodyPr/>
          <a:lstStyle/>
          <a:p>
            <a:endParaRPr lang="en-GB"/>
          </a:p>
        </p:txBody>
      </p:sp>
      <p:sp>
        <p:nvSpPr>
          <p:cNvPr id="33" name="Shape 31"/>
          <p:cNvSpPr/>
          <p:nvPr/>
        </p:nvSpPr>
        <p:spPr>
          <a:xfrm>
            <a:off x="2099438" y="3186010"/>
            <a:ext cx="49095" cy="0"/>
          </a:xfrm>
          <a:prstGeom prst="line">
            <a:avLst/>
          </a:prstGeom>
          <a:noFill/>
          <a:ln w="21590">
            <a:solidFill>
              <a:srgbClr val="111827"/>
            </a:solidFill>
            <a:prstDash val="solid"/>
          </a:ln>
        </p:spPr>
        <p:txBody>
          <a:bodyPr/>
          <a:lstStyle/>
          <a:p>
            <a:endParaRPr lang="en-GB"/>
          </a:p>
        </p:txBody>
      </p:sp>
      <p:sp>
        <p:nvSpPr>
          <p:cNvPr id="34" name="Shape 32"/>
          <p:cNvSpPr/>
          <p:nvPr/>
        </p:nvSpPr>
        <p:spPr>
          <a:xfrm>
            <a:off x="2148533" y="3179536"/>
            <a:ext cx="49095" cy="0"/>
          </a:xfrm>
          <a:prstGeom prst="line">
            <a:avLst/>
          </a:prstGeom>
          <a:noFill/>
          <a:ln w="21590">
            <a:solidFill>
              <a:srgbClr val="111827"/>
            </a:solidFill>
            <a:prstDash val="solid"/>
          </a:ln>
        </p:spPr>
        <p:txBody>
          <a:bodyPr/>
          <a:lstStyle/>
          <a:p>
            <a:endParaRPr lang="en-GB"/>
          </a:p>
        </p:txBody>
      </p:sp>
      <p:sp>
        <p:nvSpPr>
          <p:cNvPr id="35" name="Shape 33"/>
          <p:cNvSpPr/>
          <p:nvPr/>
        </p:nvSpPr>
        <p:spPr>
          <a:xfrm>
            <a:off x="2197628" y="3177549"/>
            <a:ext cx="49095" cy="2554"/>
          </a:xfrm>
          <a:prstGeom prst="line">
            <a:avLst/>
          </a:prstGeom>
          <a:noFill/>
          <a:ln w="21590">
            <a:solidFill>
              <a:srgbClr val="111827"/>
            </a:solidFill>
            <a:prstDash val="solid"/>
          </a:ln>
        </p:spPr>
        <p:txBody>
          <a:bodyPr/>
          <a:lstStyle/>
          <a:p>
            <a:endParaRPr lang="en-GB"/>
          </a:p>
        </p:txBody>
      </p:sp>
      <p:sp>
        <p:nvSpPr>
          <p:cNvPr id="36" name="Shape 34"/>
          <p:cNvSpPr/>
          <p:nvPr/>
        </p:nvSpPr>
        <p:spPr>
          <a:xfrm>
            <a:off x="2246724" y="3180102"/>
            <a:ext cx="49095" cy="7023"/>
          </a:xfrm>
          <a:prstGeom prst="line">
            <a:avLst/>
          </a:prstGeom>
          <a:noFill/>
          <a:ln w="21590">
            <a:solidFill>
              <a:srgbClr val="111827"/>
            </a:solidFill>
            <a:prstDash val="solid"/>
          </a:ln>
        </p:spPr>
        <p:txBody>
          <a:bodyPr/>
          <a:lstStyle/>
          <a:p>
            <a:endParaRPr lang="en-GB"/>
          </a:p>
        </p:txBody>
      </p:sp>
      <p:sp>
        <p:nvSpPr>
          <p:cNvPr id="37" name="Shape 35"/>
          <p:cNvSpPr/>
          <p:nvPr/>
        </p:nvSpPr>
        <p:spPr>
          <a:xfrm>
            <a:off x="2295819" y="3187125"/>
            <a:ext cx="49095" cy="11293"/>
          </a:xfrm>
          <a:prstGeom prst="line">
            <a:avLst/>
          </a:prstGeom>
          <a:noFill/>
          <a:ln w="21590">
            <a:solidFill>
              <a:srgbClr val="111827"/>
            </a:solidFill>
            <a:prstDash val="solid"/>
          </a:ln>
        </p:spPr>
        <p:txBody>
          <a:bodyPr/>
          <a:lstStyle/>
          <a:p>
            <a:endParaRPr lang="en-GB"/>
          </a:p>
        </p:txBody>
      </p:sp>
      <p:sp>
        <p:nvSpPr>
          <p:cNvPr id="38" name="Shape 36"/>
          <p:cNvSpPr/>
          <p:nvPr/>
        </p:nvSpPr>
        <p:spPr>
          <a:xfrm>
            <a:off x="2344914" y="3198418"/>
            <a:ext cx="49095" cy="15241"/>
          </a:xfrm>
          <a:prstGeom prst="line">
            <a:avLst/>
          </a:prstGeom>
          <a:noFill/>
          <a:ln w="21590">
            <a:solidFill>
              <a:srgbClr val="111827"/>
            </a:solidFill>
            <a:prstDash val="solid"/>
          </a:ln>
        </p:spPr>
        <p:txBody>
          <a:bodyPr/>
          <a:lstStyle/>
          <a:p>
            <a:endParaRPr lang="en-GB"/>
          </a:p>
        </p:txBody>
      </p:sp>
      <p:sp>
        <p:nvSpPr>
          <p:cNvPr id="39" name="Shape 37"/>
          <p:cNvSpPr/>
          <p:nvPr/>
        </p:nvSpPr>
        <p:spPr>
          <a:xfrm>
            <a:off x="2394010" y="3213659"/>
            <a:ext cx="49095" cy="18757"/>
          </a:xfrm>
          <a:prstGeom prst="line">
            <a:avLst/>
          </a:prstGeom>
          <a:noFill/>
          <a:ln w="21590">
            <a:solidFill>
              <a:srgbClr val="111827"/>
            </a:solidFill>
            <a:prstDash val="solid"/>
          </a:ln>
        </p:spPr>
        <p:txBody>
          <a:bodyPr/>
          <a:lstStyle/>
          <a:p>
            <a:endParaRPr lang="en-GB"/>
          </a:p>
        </p:txBody>
      </p:sp>
      <p:sp>
        <p:nvSpPr>
          <p:cNvPr id="40" name="Shape 38"/>
          <p:cNvSpPr/>
          <p:nvPr/>
        </p:nvSpPr>
        <p:spPr>
          <a:xfrm>
            <a:off x="2443105" y="3232417"/>
            <a:ext cx="49095" cy="21740"/>
          </a:xfrm>
          <a:prstGeom prst="line">
            <a:avLst/>
          </a:prstGeom>
          <a:noFill/>
          <a:ln w="21590">
            <a:solidFill>
              <a:srgbClr val="111827"/>
            </a:solidFill>
            <a:prstDash val="solid"/>
          </a:ln>
        </p:spPr>
        <p:txBody>
          <a:bodyPr/>
          <a:lstStyle/>
          <a:p>
            <a:endParaRPr lang="en-GB"/>
          </a:p>
        </p:txBody>
      </p:sp>
      <p:sp>
        <p:nvSpPr>
          <p:cNvPr id="41" name="Shape 39"/>
          <p:cNvSpPr/>
          <p:nvPr/>
        </p:nvSpPr>
        <p:spPr>
          <a:xfrm>
            <a:off x="2492200" y="3254157"/>
            <a:ext cx="49095" cy="24105"/>
          </a:xfrm>
          <a:prstGeom prst="line">
            <a:avLst/>
          </a:prstGeom>
          <a:noFill/>
          <a:ln w="21590">
            <a:solidFill>
              <a:srgbClr val="111827"/>
            </a:solidFill>
            <a:prstDash val="solid"/>
          </a:ln>
        </p:spPr>
        <p:txBody>
          <a:bodyPr/>
          <a:lstStyle/>
          <a:p>
            <a:endParaRPr lang="en-GB"/>
          </a:p>
        </p:txBody>
      </p:sp>
      <p:sp>
        <p:nvSpPr>
          <p:cNvPr id="42" name="Shape 40"/>
          <p:cNvSpPr/>
          <p:nvPr/>
        </p:nvSpPr>
        <p:spPr>
          <a:xfrm>
            <a:off x="2541296" y="3278261"/>
            <a:ext cx="49095" cy="25783"/>
          </a:xfrm>
          <a:prstGeom prst="line">
            <a:avLst/>
          </a:prstGeom>
          <a:noFill/>
          <a:ln w="21590">
            <a:solidFill>
              <a:srgbClr val="111827"/>
            </a:solidFill>
            <a:prstDash val="solid"/>
          </a:ln>
        </p:spPr>
        <p:txBody>
          <a:bodyPr/>
          <a:lstStyle/>
          <a:p>
            <a:endParaRPr lang="en-GB"/>
          </a:p>
        </p:txBody>
      </p:sp>
      <p:sp>
        <p:nvSpPr>
          <p:cNvPr id="43" name="Shape 41"/>
          <p:cNvSpPr/>
          <p:nvPr/>
        </p:nvSpPr>
        <p:spPr>
          <a:xfrm>
            <a:off x="2590391" y="3304045"/>
            <a:ext cx="49095" cy="26728"/>
          </a:xfrm>
          <a:prstGeom prst="line">
            <a:avLst/>
          </a:prstGeom>
          <a:noFill/>
          <a:ln w="21590">
            <a:solidFill>
              <a:srgbClr val="111827"/>
            </a:solidFill>
            <a:prstDash val="solid"/>
          </a:ln>
        </p:spPr>
        <p:txBody>
          <a:bodyPr/>
          <a:lstStyle/>
          <a:p>
            <a:endParaRPr lang="en-GB"/>
          </a:p>
        </p:txBody>
      </p:sp>
      <p:sp>
        <p:nvSpPr>
          <p:cNvPr id="44" name="Shape 42"/>
          <p:cNvSpPr/>
          <p:nvPr/>
        </p:nvSpPr>
        <p:spPr>
          <a:xfrm>
            <a:off x="2639486" y="3330772"/>
            <a:ext cx="49095" cy="26910"/>
          </a:xfrm>
          <a:prstGeom prst="line">
            <a:avLst/>
          </a:prstGeom>
          <a:noFill/>
          <a:ln w="21590">
            <a:solidFill>
              <a:srgbClr val="111827"/>
            </a:solidFill>
            <a:prstDash val="solid"/>
          </a:ln>
        </p:spPr>
        <p:txBody>
          <a:bodyPr/>
          <a:lstStyle/>
          <a:p>
            <a:endParaRPr lang="en-GB"/>
          </a:p>
        </p:txBody>
      </p:sp>
      <p:sp>
        <p:nvSpPr>
          <p:cNvPr id="45" name="Shape 43"/>
          <p:cNvSpPr/>
          <p:nvPr/>
        </p:nvSpPr>
        <p:spPr>
          <a:xfrm>
            <a:off x="2688581" y="3357682"/>
            <a:ext cx="49095" cy="26323"/>
          </a:xfrm>
          <a:prstGeom prst="line">
            <a:avLst/>
          </a:prstGeom>
          <a:noFill/>
          <a:ln w="21590">
            <a:solidFill>
              <a:srgbClr val="111827"/>
            </a:solidFill>
            <a:prstDash val="solid"/>
          </a:ln>
        </p:spPr>
        <p:txBody>
          <a:bodyPr/>
          <a:lstStyle/>
          <a:p>
            <a:endParaRPr lang="en-GB"/>
          </a:p>
        </p:txBody>
      </p:sp>
      <p:sp>
        <p:nvSpPr>
          <p:cNvPr id="46" name="Shape 44"/>
          <p:cNvSpPr/>
          <p:nvPr/>
        </p:nvSpPr>
        <p:spPr>
          <a:xfrm>
            <a:off x="2737677" y="3384005"/>
            <a:ext cx="49095" cy="24980"/>
          </a:xfrm>
          <a:prstGeom prst="line">
            <a:avLst/>
          </a:prstGeom>
          <a:noFill/>
          <a:ln w="21590">
            <a:solidFill>
              <a:srgbClr val="111827"/>
            </a:solidFill>
            <a:prstDash val="solid"/>
          </a:ln>
        </p:spPr>
        <p:txBody>
          <a:bodyPr/>
          <a:lstStyle/>
          <a:p>
            <a:endParaRPr lang="en-GB"/>
          </a:p>
        </p:txBody>
      </p:sp>
      <p:sp>
        <p:nvSpPr>
          <p:cNvPr id="47" name="Shape 45"/>
          <p:cNvSpPr/>
          <p:nvPr/>
        </p:nvSpPr>
        <p:spPr>
          <a:xfrm>
            <a:off x="2786772" y="3408985"/>
            <a:ext cx="49095" cy="22917"/>
          </a:xfrm>
          <a:prstGeom prst="line">
            <a:avLst/>
          </a:prstGeom>
          <a:noFill/>
          <a:ln w="21590">
            <a:solidFill>
              <a:srgbClr val="111827"/>
            </a:solidFill>
            <a:prstDash val="solid"/>
          </a:ln>
        </p:spPr>
        <p:txBody>
          <a:bodyPr/>
          <a:lstStyle/>
          <a:p>
            <a:endParaRPr lang="en-GB"/>
          </a:p>
        </p:txBody>
      </p:sp>
      <p:sp>
        <p:nvSpPr>
          <p:cNvPr id="48" name="Shape 46"/>
          <p:cNvSpPr/>
          <p:nvPr/>
        </p:nvSpPr>
        <p:spPr>
          <a:xfrm>
            <a:off x="2835867" y="3431902"/>
            <a:ext cx="49095" cy="20187"/>
          </a:xfrm>
          <a:prstGeom prst="line">
            <a:avLst/>
          </a:prstGeom>
          <a:noFill/>
          <a:ln w="21590">
            <a:solidFill>
              <a:srgbClr val="111827"/>
            </a:solidFill>
            <a:prstDash val="solid"/>
          </a:ln>
        </p:spPr>
        <p:txBody>
          <a:bodyPr/>
          <a:lstStyle/>
          <a:p>
            <a:endParaRPr lang="en-GB"/>
          </a:p>
        </p:txBody>
      </p:sp>
      <p:sp>
        <p:nvSpPr>
          <p:cNvPr id="49" name="Shape 47"/>
          <p:cNvSpPr/>
          <p:nvPr/>
        </p:nvSpPr>
        <p:spPr>
          <a:xfrm>
            <a:off x="2884963" y="3452089"/>
            <a:ext cx="49095" cy="16862"/>
          </a:xfrm>
          <a:prstGeom prst="line">
            <a:avLst/>
          </a:prstGeom>
          <a:noFill/>
          <a:ln w="21590">
            <a:solidFill>
              <a:srgbClr val="111827"/>
            </a:solidFill>
            <a:prstDash val="solid"/>
          </a:ln>
        </p:spPr>
        <p:txBody>
          <a:bodyPr/>
          <a:lstStyle/>
          <a:p>
            <a:endParaRPr lang="en-GB"/>
          </a:p>
        </p:txBody>
      </p:sp>
      <p:sp>
        <p:nvSpPr>
          <p:cNvPr id="50" name="Shape 48"/>
          <p:cNvSpPr/>
          <p:nvPr/>
        </p:nvSpPr>
        <p:spPr>
          <a:xfrm>
            <a:off x="2934058" y="3468951"/>
            <a:ext cx="49095" cy="13027"/>
          </a:xfrm>
          <a:prstGeom prst="line">
            <a:avLst/>
          </a:prstGeom>
          <a:noFill/>
          <a:ln w="21590">
            <a:solidFill>
              <a:srgbClr val="111827"/>
            </a:solidFill>
            <a:prstDash val="solid"/>
          </a:ln>
        </p:spPr>
        <p:txBody>
          <a:bodyPr/>
          <a:lstStyle/>
          <a:p>
            <a:endParaRPr lang="en-GB"/>
          </a:p>
        </p:txBody>
      </p:sp>
      <p:sp>
        <p:nvSpPr>
          <p:cNvPr id="51" name="Shape 49"/>
          <p:cNvSpPr/>
          <p:nvPr/>
        </p:nvSpPr>
        <p:spPr>
          <a:xfrm>
            <a:off x="2983153" y="3481978"/>
            <a:ext cx="49095" cy="8781"/>
          </a:xfrm>
          <a:prstGeom prst="line">
            <a:avLst/>
          </a:prstGeom>
          <a:noFill/>
          <a:ln w="21590">
            <a:solidFill>
              <a:srgbClr val="111827"/>
            </a:solidFill>
            <a:prstDash val="solid"/>
          </a:ln>
        </p:spPr>
        <p:txBody>
          <a:bodyPr/>
          <a:lstStyle/>
          <a:p>
            <a:endParaRPr lang="en-GB"/>
          </a:p>
        </p:txBody>
      </p:sp>
      <p:sp>
        <p:nvSpPr>
          <p:cNvPr id="52" name="Shape 50"/>
          <p:cNvSpPr/>
          <p:nvPr/>
        </p:nvSpPr>
        <p:spPr>
          <a:xfrm>
            <a:off x="3032249" y="3490759"/>
            <a:ext cx="49095" cy="4233"/>
          </a:xfrm>
          <a:prstGeom prst="line">
            <a:avLst/>
          </a:prstGeom>
          <a:noFill/>
          <a:ln w="21590">
            <a:solidFill>
              <a:srgbClr val="111827"/>
            </a:solidFill>
            <a:prstDash val="solid"/>
          </a:ln>
        </p:spPr>
        <p:txBody>
          <a:bodyPr/>
          <a:lstStyle/>
          <a:p>
            <a:endParaRPr lang="en-GB"/>
          </a:p>
        </p:txBody>
      </p:sp>
      <p:sp>
        <p:nvSpPr>
          <p:cNvPr id="53" name="Shape 51"/>
          <p:cNvSpPr/>
          <p:nvPr/>
        </p:nvSpPr>
        <p:spPr>
          <a:xfrm>
            <a:off x="3081344" y="3494992"/>
            <a:ext cx="49095" cy="0"/>
          </a:xfrm>
          <a:prstGeom prst="line">
            <a:avLst/>
          </a:prstGeom>
          <a:noFill/>
          <a:ln w="21590">
            <a:solidFill>
              <a:srgbClr val="111827"/>
            </a:solidFill>
            <a:prstDash val="solid"/>
          </a:ln>
        </p:spPr>
        <p:txBody>
          <a:bodyPr/>
          <a:lstStyle/>
          <a:p>
            <a:endParaRPr lang="en-GB"/>
          </a:p>
        </p:txBody>
      </p:sp>
      <p:sp>
        <p:nvSpPr>
          <p:cNvPr id="54" name="Shape 52"/>
          <p:cNvSpPr/>
          <p:nvPr/>
        </p:nvSpPr>
        <p:spPr>
          <a:xfrm>
            <a:off x="3130439" y="3494487"/>
            <a:ext cx="49095" cy="0"/>
          </a:xfrm>
          <a:prstGeom prst="line">
            <a:avLst/>
          </a:prstGeom>
          <a:noFill/>
          <a:ln w="21590">
            <a:solidFill>
              <a:srgbClr val="111827"/>
            </a:solidFill>
            <a:prstDash val="solid"/>
          </a:ln>
        </p:spPr>
        <p:txBody>
          <a:bodyPr/>
          <a:lstStyle/>
          <a:p>
            <a:endParaRPr lang="en-GB"/>
          </a:p>
        </p:txBody>
      </p:sp>
      <p:sp>
        <p:nvSpPr>
          <p:cNvPr id="55" name="Shape 53"/>
          <p:cNvSpPr/>
          <p:nvPr/>
        </p:nvSpPr>
        <p:spPr>
          <a:xfrm>
            <a:off x="3179534" y="3489172"/>
            <a:ext cx="49095" cy="0"/>
          </a:xfrm>
          <a:prstGeom prst="line">
            <a:avLst/>
          </a:prstGeom>
          <a:noFill/>
          <a:ln w="21590">
            <a:solidFill>
              <a:srgbClr val="111827"/>
            </a:solidFill>
            <a:prstDash val="solid"/>
          </a:ln>
        </p:spPr>
        <p:txBody>
          <a:bodyPr/>
          <a:lstStyle/>
          <a:p>
            <a:endParaRPr lang="en-GB"/>
          </a:p>
        </p:txBody>
      </p:sp>
      <p:sp>
        <p:nvSpPr>
          <p:cNvPr id="56" name="Shape 54"/>
          <p:cNvSpPr/>
          <p:nvPr/>
        </p:nvSpPr>
        <p:spPr>
          <a:xfrm>
            <a:off x="3228630" y="3479092"/>
            <a:ext cx="49095" cy="0"/>
          </a:xfrm>
          <a:prstGeom prst="line">
            <a:avLst/>
          </a:prstGeom>
          <a:noFill/>
          <a:ln w="21590">
            <a:solidFill>
              <a:srgbClr val="111827"/>
            </a:solidFill>
            <a:prstDash val="solid"/>
          </a:ln>
        </p:spPr>
        <p:txBody>
          <a:bodyPr/>
          <a:lstStyle/>
          <a:p>
            <a:endParaRPr lang="en-GB"/>
          </a:p>
        </p:txBody>
      </p:sp>
      <p:sp>
        <p:nvSpPr>
          <p:cNvPr id="57" name="Shape 55"/>
          <p:cNvSpPr/>
          <p:nvPr/>
        </p:nvSpPr>
        <p:spPr>
          <a:xfrm>
            <a:off x="3277725" y="3464401"/>
            <a:ext cx="49095" cy="0"/>
          </a:xfrm>
          <a:prstGeom prst="line">
            <a:avLst/>
          </a:prstGeom>
          <a:noFill/>
          <a:ln w="21590">
            <a:solidFill>
              <a:srgbClr val="111827"/>
            </a:solidFill>
            <a:prstDash val="solid"/>
          </a:ln>
        </p:spPr>
        <p:txBody>
          <a:bodyPr/>
          <a:lstStyle/>
          <a:p>
            <a:endParaRPr lang="en-GB"/>
          </a:p>
        </p:txBody>
      </p:sp>
      <p:sp>
        <p:nvSpPr>
          <p:cNvPr id="58" name="Shape 56"/>
          <p:cNvSpPr/>
          <p:nvPr/>
        </p:nvSpPr>
        <p:spPr>
          <a:xfrm>
            <a:off x="3326820" y="3445365"/>
            <a:ext cx="49095" cy="0"/>
          </a:xfrm>
          <a:prstGeom prst="line">
            <a:avLst/>
          </a:prstGeom>
          <a:noFill/>
          <a:ln w="21590">
            <a:solidFill>
              <a:srgbClr val="111827"/>
            </a:solidFill>
            <a:prstDash val="solid"/>
          </a:ln>
        </p:spPr>
        <p:txBody>
          <a:bodyPr/>
          <a:lstStyle/>
          <a:p>
            <a:endParaRPr lang="en-GB"/>
          </a:p>
        </p:txBody>
      </p:sp>
      <p:sp>
        <p:nvSpPr>
          <p:cNvPr id="59" name="Shape 57"/>
          <p:cNvSpPr/>
          <p:nvPr/>
        </p:nvSpPr>
        <p:spPr>
          <a:xfrm>
            <a:off x="3375916" y="3422345"/>
            <a:ext cx="49095" cy="0"/>
          </a:xfrm>
          <a:prstGeom prst="line">
            <a:avLst/>
          </a:prstGeom>
          <a:noFill/>
          <a:ln w="21590">
            <a:solidFill>
              <a:srgbClr val="111827"/>
            </a:solidFill>
            <a:prstDash val="solid"/>
          </a:ln>
        </p:spPr>
        <p:txBody>
          <a:bodyPr/>
          <a:lstStyle/>
          <a:p>
            <a:endParaRPr lang="en-GB"/>
          </a:p>
        </p:txBody>
      </p:sp>
      <p:sp>
        <p:nvSpPr>
          <p:cNvPr id="60" name="Shape 58"/>
          <p:cNvSpPr/>
          <p:nvPr/>
        </p:nvSpPr>
        <p:spPr>
          <a:xfrm>
            <a:off x="3425011" y="3395794"/>
            <a:ext cx="49095" cy="0"/>
          </a:xfrm>
          <a:prstGeom prst="line">
            <a:avLst/>
          </a:prstGeom>
          <a:noFill/>
          <a:ln w="21590">
            <a:solidFill>
              <a:srgbClr val="111827"/>
            </a:solidFill>
            <a:prstDash val="solid"/>
          </a:ln>
        </p:spPr>
        <p:txBody>
          <a:bodyPr/>
          <a:lstStyle/>
          <a:p>
            <a:endParaRPr lang="en-GB"/>
          </a:p>
        </p:txBody>
      </p:sp>
      <p:sp>
        <p:nvSpPr>
          <p:cNvPr id="61" name="Shape 59"/>
          <p:cNvSpPr/>
          <p:nvPr/>
        </p:nvSpPr>
        <p:spPr>
          <a:xfrm>
            <a:off x="3474106" y="3366246"/>
            <a:ext cx="49095" cy="0"/>
          </a:xfrm>
          <a:prstGeom prst="line">
            <a:avLst/>
          </a:prstGeom>
          <a:noFill/>
          <a:ln w="21590">
            <a:solidFill>
              <a:srgbClr val="111827"/>
            </a:solidFill>
            <a:prstDash val="solid"/>
          </a:ln>
        </p:spPr>
        <p:txBody>
          <a:bodyPr/>
          <a:lstStyle/>
          <a:p>
            <a:endParaRPr lang="en-GB"/>
          </a:p>
        </p:txBody>
      </p:sp>
      <p:sp>
        <p:nvSpPr>
          <p:cNvPr id="62" name="Shape 60"/>
          <p:cNvSpPr/>
          <p:nvPr/>
        </p:nvSpPr>
        <p:spPr>
          <a:xfrm>
            <a:off x="3523202" y="3334300"/>
            <a:ext cx="49095" cy="0"/>
          </a:xfrm>
          <a:prstGeom prst="line">
            <a:avLst/>
          </a:prstGeom>
          <a:noFill/>
          <a:ln w="21590">
            <a:solidFill>
              <a:srgbClr val="111827"/>
            </a:solidFill>
            <a:prstDash val="solid"/>
          </a:ln>
        </p:spPr>
        <p:txBody>
          <a:bodyPr/>
          <a:lstStyle/>
          <a:p>
            <a:endParaRPr lang="en-GB"/>
          </a:p>
        </p:txBody>
      </p:sp>
      <p:sp>
        <p:nvSpPr>
          <p:cNvPr id="63" name="Shape 61"/>
          <p:cNvSpPr/>
          <p:nvPr/>
        </p:nvSpPr>
        <p:spPr>
          <a:xfrm>
            <a:off x="3572297" y="3300618"/>
            <a:ext cx="49095" cy="0"/>
          </a:xfrm>
          <a:prstGeom prst="line">
            <a:avLst/>
          </a:prstGeom>
          <a:noFill/>
          <a:ln w="21590">
            <a:solidFill>
              <a:srgbClr val="111827"/>
            </a:solidFill>
            <a:prstDash val="solid"/>
          </a:ln>
        </p:spPr>
        <p:txBody>
          <a:bodyPr/>
          <a:lstStyle/>
          <a:p>
            <a:endParaRPr lang="en-GB"/>
          </a:p>
        </p:txBody>
      </p:sp>
      <p:sp>
        <p:nvSpPr>
          <p:cNvPr id="64" name="Shape 62"/>
          <p:cNvSpPr/>
          <p:nvPr/>
        </p:nvSpPr>
        <p:spPr>
          <a:xfrm>
            <a:off x="3621392" y="3265905"/>
            <a:ext cx="49095" cy="0"/>
          </a:xfrm>
          <a:prstGeom prst="line">
            <a:avLst/>
          </a:prstGeom>
          <a:noFill/>
          <a:ln w="21590">
            <a:solidFill>
              <a:srgbClr val="111827"/>
            </a:solidFill>
            <a:prstDash val="solid"/>
          </a:ln>
        </p:spPr>
        <p:txBody>
          <a:bodyPr/>
          <a:lstStyle/>
          <a:p>
            <a:endParaRPr lang="en-GB"/>
          </a:p>
        </p:txBody>
      </p:sp>
      <p:sp>
        <p:nvSpPr>
          <p:cNvPr id="65" name="Shape 63"/>
          <p:cNvSpPr/>
          <p:nvPr/>
        </p:nvSpPr>
        <p:spPr>
          <a:xfrm>
            <a:off x="3670488" y="3230904"/>
            <a:ext cx="49095" cy="0"/>
          </a:xfrm>
          <a:prstGeom prst="line">
            <a:avLst/>
          </a:prstGeom>
          <a:noFill/>
          <a:ln w="21590">
            <a:solidFill>
              <a:srgbClr val="111827"/>
            </a:solidFill>
            <a:prstDash val="solid"/>
          </a:ln>
        </p:spPr>
        <p:txBody>
          <a:bodyPr/>
          <a:lstStyle/>
          <a:p>
            <a:endParaRPr lang="en-GB"/>
          </a:p>
        </p:txBody>
      </p:sp>
      <p:sp>
        <p:nvSpPr>
          <p:cNvPr id="66" name="Shape 64"/>
          <p:cNvSpPr/>
          <p:nvPr/>
        </p:nvSpPr>
        <p:spPr>
          <a:xfrm>
            <a:off x="3719583" y="3196383"/>
            <a:ext cx="49095" cy="0"/>
          </a:xfrm>
          <a:prstGeom prst="line">
            <a:avLst/>
          </a:prstGeom>
          <a:noFill/>
          <a:ln w="21590">
            <a:solidFill>
              <a:srgbClr val="111827"/>
            </a:solidFill>
            <a:prstDash val="solid"/>
          </a:ln>
        </p:spPr>
        <p:txBody>
          <a:bodyPr/>
          <a:lstStyle/>
          <a:p>
            <a:endParaRPr lang="en-GB"/>
          </a:p>
        </p:txBody>
      </p:sp>
      <p:sp>
        <p:nvSpPr>
          <p:cNvPr id="67" name="Shape 65"/>
          <p:cNvSpPr/>
          <p:nvPr/>
        </p:nvSpPr>
        <p:spPr>
          <a:xfrm>
            <a:off x="3768678" y="3163122"/>
            <a:ext cx="49095" cy="0"/>
          </a:xfrm>
          <a:prstGeom prst="line">
            <a:avLst/>
          </a:prstGeom>
          <a:noFill/>
          <a:ln w="21590">
            <a:solidFill>
              <a:srgbClr val="111827"/>
            </a:solidFill>
            <a:prstDash val="solid"/>
          </a:ln>
        </p:spPr>
        <p:txBody>
          <a:bodyPr/>
          <a:lstStyle/>
          <a:p>
            <a:endParaRPr lang="en-GB"/>
          </a:p>
        </p:txBody>
      </p:sp>
      <p:sp>
        <p:nvSpPr>
          <p:cNvPr id="68" name="Shape 66"/>
          <p:cNvSpPr/>
          <p:nvPr/>
        </p:nvSpPr>
        <p:spPr>
          <a:xfrm>
            <a:off x="3817773" y="3131899"/>
            <a:ext cx="49095" cy="0"/>
          </a:xfrm>
          <a:prstGeom prst="line">
            <a:avLst/>
          </a:prstGeom>
          <a:noFill/>
          <a:ln w="21590">
            <a:solidFill>
              <a:srgbClr val="111827"/>
            </a:solidFill>
            <a:prstDash val="solid"/>
          </a:ln>
        </p:spPr>
        <p:txBody>
          <a:bodyPr/>
          <a:lstStyle/>
          <a:p>
            <a:endParaRPr lang="en-GB"/>
          </a:p>
        </p:txBody>
      </p:sp>
      <p:sp>
        <p:nvSpPr>
          <p:cNvPr id="69" name="Shape 67"/>
          <p:cNvSpPr/>
          <p:nvPr/>
        </p:nvSpPr>
        <p:spPr>
          <a:xfrm>
            <a:off x="3866869" y="3103479"/>
            <a:ext cx="49095" cy="0"/>
          </a:xfrm>
          <a:prstGeom prst="line">
            <a:avLst/>
          </a:prstGeom>
          <a:noFill/>
          <a:ln w="21590">
            <a:solidFill>
              <a:srgbClr val="111827"/>
            </a:solidFill>
            <a:prstDash val="solid"/>
          </a:ln>
        </p:spPr>
        <p:txBody>
          <a:bodyPr/>
          <a:lstStyle/>
          <a:p>
            <a:endParaRPr lang="en-GB"/>
          </a:p>
        </p:txBody>
      </p:sp>
      <p:sp>
        <p:nvSpPr>
          <p:cNvPr id="70" name="Shape 68"/>
          <p:cNvSpPr/>
          <p:nvPr/>
        </p:nvSpPr>
        <p:spPr>
          <a:xfrm>
            <a:off x="3915964" y="3078589"/>
            <a:ext cx="49095" cy="0"/>
          </a:xfrm>
          <a:prstGeom prst="line">
            <a:avLst/>
          </a:prstGeom>
          <a:noFill/>
          <a:ln w="21590">
            <a:solidFill>
              <a:srgbClr val="111827"/>
            </a:solidFill>
            <a:prstDash val="solid"/>
          </a:ln>
        </p:spPr>
        <p:txBody>
          <a:bodyPr/>
          <a:lstStyle/>
          <a:p>
            <a:endParaRPr lang="en-GB"/>
          </a:p>
        </p:txBody>
      </p:sp>
      <p:sp>
        <p:nvSpPr>
          <p:cNvPr id="71" name="Shape 69"/>
          <p:cNvSpPr/>
          <p:nvPr/>
        </p:nvSpPr>
        <p:spPr>
          <a:xfrm>
            <a:off x="3965059" y="3057906"/>
            <a:ext cx="49095" cy="0"/>
          </a:xfrm>
          <a:prstGeom prst="line">
            <a:avLst/>
          </a:prstGeom>
          <a:noFill/>
          <a:ln w="21590">
            <a:solidFill>
              <a:srgbClr val="111827"/>
            </a:solidFill>
            <a:prstDash val="solid"/>
          </a:ln>
        </p:spPr>
        <p:txBody>
          <a:bodyPr/>
          <a:lstStyle/>
          <a:p>
            <a:endParaRPr lang="en-GB"/>
          </a:p>
        </p:txBody>
      </p:sp>
      <p:sp>
        <p:nvSpPr>
          <p:cNvPr id="72" name="Shape 70"/>
          <p:cNvSpPr/>
          <p:nvPr/>
        </p:nvSpPr>
        <p:spPr>
          <a:xfrm>
            <a:off x="4014155" y="3042029"/>
            <a:ext cx="49095" cy="0"/>
          </a:xfrm>
          <a:prstGeom prst="line">
            <a:avLst/>
          </a:prstGeom>
          <a:noFill/>
          <a:ln w="21590">
            <a:solidFill>
              <a:srgbClr val="111827"/>
            </a:solidFill>
            <a:prstDash val="solid"/>
          </a:ln>
        </p:spPr>
        <p:txBody>
          <a:bodyPr/>
          <a:lstStyle/>
          <a:p>
            <a:endParaRPr lang="en-GB"/>
          </a:p>
        </p:txBody>
      </p:sp>
      <p:sp>
        <p:nvSpPr>
          <p:cNvPr id="73" name="Shape 71"/>
          <p:cNvSpPr/>
          <p:nvPr/>
        </p:nvSpPr>
        <p:spPr>
          <a:xfrm>
            <a:off x="4063250" y="3031459"/>
            <a:ext cx="49095" cy="0"/>
          </a:xfrm>
          <a:prstGeom prst="line">
            <a:avLst/>
          </a:prstGeom>
          <a:noFill/>
          <a:ln w="21590">
            <a:solidFill>
              <a:srgbClr val="111827"/>
            </a:solidFill>
            <a:prstDash val="solid"/>
          </a:ln>
        </p:spPr>
        <p:txBody>
          <a:bodyPr/>
          <a:lstStyle/>
          <a:p>
            <a:endParaRPr lang="en-GB"/>
          </a:p>
        </p:txBody>
      </p:sp>
      <p:sp>
        <p:nvSpPr>
          <p:cNvPr id="74" name="Shape 72"/>
          <p:cNvSpPr/>
          <p:nvPr/>
        </p:nvSpPr>
        <p:spPr>
          <a:xfrm>
            <a:off x="4112345" y="3026573"/>
            <a:ext cx="49095" cy="1031"/>
          </a:xfrm>
          <a:prstGeom prst="line">
            <a:avLst/>
          </a:prstGeom>
          <a:noFill/>
          <a:ln w="21590">
            <a:solidFill>
              <a:srgbClr val="111827"/>
            </a:solidFill>
            <a:prstDash val="solid"/>
          </a:ln>
        </p:spPr>
        <p:txBody>
          <a:bodyPr/>
          <a:lstStyle/>
          <a:p>
            <a:endParaRPr lang="en-GB"/>
          </a:p>
        </p:txBody>
      </p:sp>
      <p:sp>
        <p:nvSpPr>
          <p:cNvPr id="75" name="Shape 73"/>
          <p:cNvSpPr/>
          <p:nvPr/>
        </p:nvSpPr>
        <p:spPr>
          <a:xfrm>
            <a:off x="4161441" y="3027604"/>
            <a:ext cx="49095" cy="7013"/>
          </a:xfrm>
          <a:prstGeom prst="line">
            <a:avLst/>
          </a:prstGeom>
          <a:noFill/>
          <a:ln w="21590">
            <a:solidFill>
              <a:srgbClr val="111827"/>
            </a:solidFill>
            <a:prstDash val="solid"/>
          </a:ln>
        </p:spPr>
        <p:txBody>
          <a:bodyPr/>
          <a:lstStyle/>
          <a:p>
            <a:endParaRPr lang="en-GB"/>
          </a:p>
        </p:txBody>
      </p:sp>
      <p:sp>
        <p:nvSpPr>
          <p:cNvPr id="76" name="Shape 74"/>
          <p:cNvSpPr/>
          <p:nvPr/>
        </p:nvSpPr>
        <p:spPr>
          <a:xfrm>
            <a:off x="4210536" y="3034617"/>
            <a:ext cx="49095" cy="12883"/>
          </a:xfrm>
          <a:prstGeom prst="line">
            <a:avLst/>
          </a:prstGeom>
          <a:noFill/>
          <a:ln w="21590">
            <a:solidFill>
              <a:srgbClr val="111827"/>
            </a:solidFill>
            <a:prstDash val="solid"/>
          </a:ln>
        </p:spPr>
        <p:txBody>
          <a:bodyPr/>
          <a:lstStyle/>
          <a:p>
            <a:endParaRPr lang="en-GB"/>
          </a:p>
        </p:txBody>
      </p:sp>
      <p:sp>
        <p:nvSpPr>
          <p:cNvPr id="77" name="Shape 75"/>
          <p:cNvSpPr/>
          <p:nvPr/>
        </p:nvSpPr>
        <p:spPr>
          <a:xfrm>
            <a:off x="4259631" y="3047500"/>
            <a:ext cx="49095" cy="18451"/>
          </a:xfrm>
          <a:prstGeom prst="line">
            <a:avLst/>
          </a:prstGeom>
          <a:noFill/>
          <a:ln w="21590">
            <a:solidFill>
              <a:srgbClr val="111827"/>
            </a:solidFill>
            <a:prstDash val="solid"/>
          </a:ln>
        </p:spPr>
        <p:txBody>
          <a:bodyPr/>
          <a:lstStyle/>
          <a:p>
            <a:endParaRPr lang="en-GB"/>
          </a:p>
        </p:txBody>
      </p:sp>
      <p:sp>
        <p:nvSpPr>
          <p:cNvPr id="78" name="Shape 76"/>
          <p:cNvSpPr/>
          <p:nvPr/>
        </p:nvSpPr>
        <p:spPr>
          <a:xfrm>
            <a:off x="4308726" y="3065950"/>
            <a:ext cx="49095" cy="23530"/>
          </a:xfrm>
          <a:prstGeom prst="line">
            <a:avLst/>
          </a:prstGeom>
          <a:noFill/>
          <a:ln w="21590">
            <a:solidFill>
              <a:srgbClr val="111827"/>
            </a:solidFill>
            <a:prstDash val="solid"/>
          </a:ln>
        </p:spPr>
        <p:txBody>
          <a:bodyPr/>
          <a:lstStyle/>
          <a:p>
            <a:endParaRPr lang="en-GB"/>
          </a:p>
        </p:txBody>
      </p:sp>
      <p:sp>
        <p:nvSpPr>
          <p:cNvPr id="79" name="Shape 77"/>
          <p:cNvSpPr/>
          <p:nvPr/>
        </p:nvSpPr>
        <p:spPr>
          <a:xfrm>
            <a:off x="4357822" y="3089480"/>
            <a:ext cx="49095" cy="27941"/>
          </a:xfrm>
          <a:prstGeom prst="line">
            <a:avLst/>
          </a:prstGeom>
          <a:noFill/>
          <a:ln w="21590">
            <a:solidFill>
              <a:srgbClr val="111827"/>
            </a:solidFill>
            <a:prstDash val="solid"/>
          </a:ln>
        </p:spPr>
        <p:txBody>
          <a:bodyPr/>
          <a:lstStyle/>
          <a:p>
            <a:endParaRPr lang="en-GB"/>
          </a:p>
        </p:txBody>
      </p:sp>
      <p:sp>
        <p:nvSpPr>
          <p:cNvPr id="80" name="Shape 78"/>
          <p:cNvSpPr/>
          <p:nvPr/>
        </p:nvSpPr>
        <p:spPr>
          <a:xfrm>
            <a:off x="4406917" y="3117421"/>
            <a:ext cx="49095" cy="31527"/>
          </a:xfrm>
          <a:prstGeom prst="line">
            <a:avLst/>
          </a:prstGeom>
          <a:noFill/>
          <a:ln w="21590">
            <a:solidFill>
              <a:srgbClr val="111827"/>
            </a:solidFill>
            <a:prstDash val="solid"/>
          </a:ln>
        </p:spPr>
        <p:txBody>
          <a:bodyPr/>
          <a:lstStyle/>
          <a:p>
            <a:endParaRPr lang="en-GB"/>
          </a:p>
        </p:txBody>
      </p:sp>
      <p:sp>
        <p:nvSpPr>
          <p:cNvPr id="81" name="Shape 79"/>
          <p:cNvSpPr/>
          <p:nvPr/>
        </p:nvSpPr>
        <p:spPr>
          <a:xfrm>
            <a:off x="4456012" y="3148948"/>
            <a:ext cx="49095" cy="34154"/>
          </a:xfrm>
          <a:prstGeom prst="line">
            <a:avLst/>
          </a:prstGeom>
          <a:noFill/>
          <a:ln w="21590">
            <a:solidFill>
              <a:srgbClr val="111827"/>
            </a:solidFill>
            <a:prstDash val="solid"/>
          </a:ln>
        </p:spPr>
        <p:txBody>
          <a:bodyPr/>
          <a:lstStyle/>
          <a:p>
            <a:endParaRPr lang="en-GB"/>
          </a:p>
        </p:txBody>
      </p:sp>
      <p:sp>
        <p:nvSpPr>
          <p:cNvPr id="82" name="Shape 80"/>
          <p:cNvSpPr/>
          <p:nvPr/>
        </p:nvSpPr>
        <p:spPr>
          <a:xfrm>
            <a:off x="4505108" y="3183101"/>
            <a:ext cx="49095" cy="35727"/>
          </a:xfrm>
          <a:prstGeom prst="line">
            <a:avLst/>
          </a:prstGeom>
          <a:noFill/>
          <a:ln w="21590">
            <a:solidFill>
              <a:srgbClr val="111827"/>
            </a:solidFill>
            <a:prstDash val="solid"/>
          </a:ln>
        </p:spPr>
        <p:txBody>
          <a:bodyPr/>
          <a:lstStyle/>
          <a:p>
            <a:endParaRPr lang="en-GB"/>
          </a:p>
        </p:txBody>
      </p:sp>
      <p:sp>
        <p:nvSpPr>
          <p:cNvPr id="83" name="Shape 81"/>
          <p:cNvSpPr/>
          <p:nvPr/>
        </p:nvSpPr>
        <p:spPr>
          <a:xfrm>
            <a:off x="4554203" y="3218828"/>
            <a:ext cx="49095" cy="36190"/>
          </a:xfrm>
          <a:prstGeom prst="line">
            <a:avLst/>
          </a:prstGeom>
          <a:noFill/>
          <a:ln w="21590">
            <a:solidFill>
              <a:srgbClr val="111827"/>
            </a:solidFill>
            <a:prstDash val="solid"/>
          </a:ln>
        </p:spPr>
        <p:txBody>
          <a:bodyPr/>
          <a:lstStyle/>
          <a:p>
            <a:endParaRPr lang="en-GB"/>
          </a:p>
        </p:txBody>
      </p:sp>
      <p:sp>
        <p:nvSpPr>
          <p:cNvPr id="84" name="Shape 82"/>
          <p:cNvSpPr/>
          <p:nvPr/>
        </p:nvSpPr>
        <p:spPr>
          <a:xfrm>
            <a:off x="4603298" y="3255018"/>
            <a:ext cx="49095" cy="35532"/>
          </a:xfrm>
          <a:prstGeom prst="line">
            <a:avLst/>
          </a:prstGeom>
          <a:noFill/>
          <a:ln w="21590">
            <a:solidFill>
              <a:srgbClr val="111827"/>
            </a:solidFill>
            <a:prstDash val="solid"/>
          </a:ln>
        </p:spPr>
        <p:txBody>
          <a:bodyPr/>
          <a:lstStyle/>
          <a:p>
            <a:endParaRPr lang="en-GB"/>
          </a:p>
        </p:txBody>
      </p:sp>
      <p:sp>
        <p:nvSpPr>
          <p:cNvPr id="85" name="Shape 83"/>
          <p:cNvSpPr/>
          <p:nvPr/>
        </p:nvSpPr>
        <p:spPr>
          <a:xfrm>
            <a:off x="4652394" y="3290549"/>
            <a:ext cx="49095" cy="33787"/>
          </a:xfrm>
          <a:prstGeom prst="line">
            <a:avLst/>
          </a:prstGeom>
          <a:noFill/>
          <a:ln w="21590">
            <a:solidFill>
              <a:srgbClr val="111827"/>
            </a:solidFill>
            <a:prstDash val="solid"/>
          </a:ln>
        </p:spPr>
        <p:txBody>
          <a:bodyPr/>
          <a:lstStyle/>
          <a:p>
            <a:endParaRPr lang="en-GB"/>
          </a:p>
        </p:txBody>
      </p:sp>
      <p:sp>
        <p:nvSpPr>
          <p:cNvPr id="86" name="Shape 84"/>
          <p:cNvSpPr/>
          <p:nvPr/>
        </p:nvSpPr>
        <p:spPr>
          <a:xfrm>
            <a:off x="4701489" y="3324337"/>
            <a:ext cx="49095" cy="31032"/>
          </a:xfrm>
          <a:prstGeom prst="line">
            <a:avLst/>
          </a:prstGeom>
          <a:noFill/>
          <a:ln w="21590">
            <a:solidFill>
              <a:srgbClr val="111827"/>
            </a:solidFill>
            <a:prstDash val="solid"/>
          </a:ln>
        </p:spPr>
        <p:txBody>
          <a:bodyPr/>
          <a:lstStyle/>
          <a:p>
            <a:endParaRPr lang="en-GB"/>
          </a:p>
        </p:txBody>
      </p:sp>
      <p:sp>
        <p:nvSpPr>
          <p:cNvPr id="87" name="Shape 85"/>
          <p:cNvSpPr/>
          <p:nvPr/>
        </p:nvSpPr>
        <p:spPr>
          <a:xfrm>
            <a:off x="4750584" y="3355369"/>
            <a:ext cx="49095" cy="27382"/>
          </a:xfrm>
          <a:prstGeom prst="line">
            <a:avLst/>
          </a:prstGeom>
          <a:noFill/>
          <a:ln w="21590">
            <a:solidFill>
              <a:srgbClr val="111827"/>
            </a:solidFill>
            <a:prstDash val="solid"/>
          </a:ln>
        </p:spPr>
        <p:txBody>
          <a:bodyPr/>
          <a:lstStyle/>
          <a:p>
            <a:endParaRPr lang="en-GB"/>
          </a:p>
        </p:txBody>
      </p:sp>
      <p:sp>
        <p:nvSpPr>
          <p:cNvPr id="88" name="Shape 86"/>
          <p:cNvSpPr/>
          <p:nvPr/>
        </p:nvSpPr>
        <p:spPr>
          <a:xfrm>
            <a:off x="4799679" y="3382752"/>
            <a:ext cx="49095" cy="22984"/>
          </a:xfrm>
          <a:prstGeom prst="line">
            <a:avLst/>
          </a:prstGeom>
          <a:noFill/>
          <a:ln w="21590">
            <a:solidFill>
              <a:srgbClr val="111827"/>
            </a:solidFill>
            <a:prstDash val="solid"/>
          </a:ln>
        </p:spPr>
        <p:txBody>
          <a:bodyPr/>
          <a:lstStyle/>
          <a:p>
            <a:endParaRPr lang="en-GB"/>
          </a:p>
        </p:txBody>
      </p:sp>
      <p:sp>
        <p:nvSpPr>
          <p:cNvPr id="89" name="Shape 87"/>
          <p:cNvSpPr/>
          <p:nvPr/>
        </p:nvSpPr>
        <p:spPr>
          <a:xfrm>
            <a:off x="4848775" y="3405736"/>
            <a:ext cx="49095" cy="18010"/>
          </a:xfrm>
          <a:prstGeom prst="line">
            <a:avLst/>
          </a:prstGeom>
          <a:noFill/>
          <a:ln w="21590">
            <a:solidFill>
              <a:srgbClr val="111827"/>
            </a:solidFill>
            <a:prstDash val="solid"/>
          </a:ln>
        </p:spPr>
        <p:txBody>
          <a:bodyPr/>
          <a:lstStyle/>
          <a:p>
            <a:endParaRPr lang="en-GB"/>
          </a:p>
        </p:txBody>
      </p:sp>
      <p:sp>
        <p:nvSpPr>
          <p:cNvPr id="90" name="Shape 88"/>
          <p:cNvSpPr/>
          <p:nvPr/>
        </p:nvSpPr>
        <p:spPr>
          <a:xfrm>
            <a:off x="4897870" y="3423746"/>
            <a:ext cx="49095" cy="12645"/>
          </a:xfrm>
          <a:prstGeom prst="line">
            <a:avLst/>
          </a:prstGeom>
          <a:noFill/>
          <a:ln w="21590">
            <a:solidFill>
              <a:srgbClr val="111827"/>
            </a:solidFill>
            <a:prstDash val="solid"/>
          </a:ln>
        </p:spPr>
        <p:txBody>
          <a:bodyPr/>
          <a:lstStyle/>
          <a:p>
            <a:endParaRPr lang="en-GB"/>
          </a:p>
        </p:txBody>
      </p:sp>
      <p:sp>
        <p:nvSpPr>
          <p:cNvPr id="91" name="Shape 89"/>
          <p:cNvSpPr/>
          <p:nvPr/>
        </p:nvSpPr>
        <p:spPr>
          <a:xfrm>
            <a:off x="4946965" y="3436391"/>
            <a:ext cx="49095" cy="7085"/>
          </a:xfrm>
          <a:prstGeom prst="line">
            <a:avLst/>
          </a:prstGeom>
          <a:noFill/>
          <a:ln w="21590">
            <a:solidFill>
              <a:srgbClr val="111827"/>
            </a:solidFill>
            <a:prstDash val="solid"/>
          </a:ln>
        </p:spPr>
        <p:txBody>
          <a:bodyPr/>
          <a:lstStyle/>
          <a:p>
            <a:endParaRPr lang="en-GB"/>
          </a:p>
        </p:txBody>
      </p:sp>
      <p:sp>
        <p:nvSpPr>
          <p:cNvPr id="92" name="Shape 90"/>
          <p:cNvSpPr/>
          <p:nvPr/>
        </p:nvSpPr>
        <p:spPr>
          <a:xfrm>
            <a:off x="4996061" y="3443476"/>
            <a:ext cx="49095" cy="1523"/>
          </a:xfrm>
          <a:prstGeom prst="line">
            <a:avLst/>
          </a:prstGeom>
          <a:noFill/>
          <a:ln w="21590">
            <a:solidFill>
              <a:srgbClr val="111827"/>
            </a:solidFill>
            <a:prstDash val="solid"/>
          </a:ln>
        </p:spPr>
        <p:txBody>
          <a:bodyPr/>
          <a:lstStyle/>
          <a:p>
            <a:endParaRPr lang="en-GB"/>
          </a:p>
        </p:txBody>
      </p:sp>
      <p:sp>
        <p:nvSpPr>
          <p:cNvPr id="93" name="Shape 91"/>
          <p:cNvSpPr/>
          <p:nvPr/>
        </p:nvSpPr>
        <p:spPr>
          <a:xfrm>
            <a:off x="5045156" y="3444998"/>
            <a:ext cx="49095" cy="0"/>
          </a:xfrm>
          <a:prstGeom prst="line">
            <a:avLst/>
          </a:prstGeom>
          <a:noFill/>
          <a:ln w="21590">
            <a:solidFill>
              <a:srgbClr val="111827"/>
            </a:solidFill>
            <a:prstDash val="solid"/>
          </a:ln>
        </p:spPr>
        <p:txBody>
          <a:bodyPr/>
          <a:lstStyle/>
          <a:p>
            <a:endParaRPr lang="en-GB"/>
          </a:p>
        </p:txBody>
      </p:sp>
      <p:sp>
        <p:nvSpPr>
          <p:cNvPr id="94" name="Shape 92"/>
          <p:cNvSpPr/>
          <p:nvPr/>
        </p:nvSpPr>
        <p:spPr>
          <a:xfrm>
            <a:off x="5094251" y="3441140"/>
            <a:ext cx="49095" cy="0"/>
          </a:xfrm>
          <a:prstGeom prst="line">
            <a:avLst/>
          </a:prstGeom>
          <a:noFill/>
          <a:ln w="21590">
            <a:solidFill>
              <a:srgbClr val="111827"/>
            </a:solidFill>
            <a:prstDash val="solid"/>
          </a:ln>
        </p:spPr>
        <p:txBody>
          <a:bodyPr/>
          <a:lstStyle/>
          <a:p>
            <a:endParaRPr lang="en-GB"/>
          </a:p>
        </p:txBody>
      </p:sp>
      <p:sp>
        <p:nvSpPr>
          <p:cNvPr id="95" name="Shape 93"/>
          <p:cNvSpPr/>
          <p:nvPr/>
        </p:nvSpPr>
        <p:spPr>
          <a:xfrm>
            <a:off x="5143347" y="3432253"/>
            <a:ext cx="49095" cy="0"/>
          </a:xfrm>
          <a:prstGeom prst="line">
            <a:avLst/>
          </a:prstGeom>
          <a:noFill/>
          <a:ln w="21590">
            <a:solidFill>
              <a:srgbClr val="111827"/>
            </a:solidFill>
            <a:prstDash val="solid"/>
          </a:ln>
        </p:spPr>
        <p:txBody>
          <a:bodyPr/>
          <a:lstStyle/>
          <a:p>
            <a:endParaRPr lang="en-GB"/>
          </a:p>
        </p:txBody>
      </p:sp>
      <p:sp>
        <p:nvSpPr>
          <p:cNvPr id="96" name="Shape 94"/>
          <p:cNvSpPr/>
          <p:nvPr/>
        </p:nvSpPr>
        <p:spPr>
          <a:xfrm>
            <a:off x="5192442" y="3418838"/>
            <a:ext cx="49095" cy="0"/>
          </a:xfrm>
          <a:prstGeom prst="line">
            <a:avLst/>
          </a:prstGeom>
          <a:noFill/>
          <a:ln w="21590">
            <a:solidFill>
              <a:srgbClr val="111827"/>
            </a:solidFill>
            <a:prstDash val="solid"/>
          </a:ln>
        </p:spPr>
        <p:txBody>
          <a:bodyPr/>
          <a:lstStyle/>
          <a:p>
            <a:endParaRPr lang="en-GB"/>
          </a:p>
        </p:txBody>
      </p:sp>
      <p:sp>
        <p:nvSpPr>
          <p:cNvPr id="97" name="Shape 95"/>
          <p:cNvSpPr/>
          <p:nvPr/>
        </p:nvSpPr>
        <p:spPr>
          <a:xfrm>
            <a:off x="5241537" y="3401525"/>
            <a:ext cx="49095" cy="0"/>
          </a:xfrm>
          <a:prstGeom prst="line">
            <a:avLst/>
          </a:prstGeom>
          <a:noFill/>
          <a:ln w="21590">
            <a:solidFill>
              <a:srgbClr val="111827"/>
            </a:solidFill>
            <a:prstDash val="solid"/>
          </a:ln>
        </p:spPr>
        <p:txBody>
          <a:bodyPr/>
          <a:lstStyle/>
          <a:p>
            <a:endParaRPr lang="en-GB"/>
          </a:p>
        </p:txBody>
      </p:sp>
      <p:sp>
        <p:nvSpPr>
          <p:cNvPr id="98" name="Shape 96"/>
          <p:cNvSpPr/>
          <p:nvPr/>
        </p:nvSpPr>
        <p:spPr>
          <a:xfrm>
            <a:off x="5290632" y="3381041"/>
            <a:ext cx="49095" cy="0"/>
          </a:xfrm>
          <a:prstGeom prst="line">
            <a:avLst/>
          </a:prstGeom>
          <a:noFill/>
          <a:ln w="21590">
            <a:solidFill>
              <a:srgbClr val="111827"/>
            </a:solidFill>
            <a:prstDash val="solid"/>
          </a:ln>
        </p:spPr>
        <p:txBody>
          <a:bodyPr/>
          <a:lstStyle/>
          <a:p>
            <a:endParaRPr lang="en-GB"/>
          </a:p>
        </p:txBody>
      </p:sp>
      <p:sp>
        <p:nvSpPr>
          <p:cNvPr id="99" name="Shape 97"/>
          <p:cNvSpPr/>
          <p:nvPr/>
        </p:nvSpPr>
        <p:spPr>
          <a:xfrm>
            <a:off x="5339728" y="3358190"/>
            <a:ext cx="49095" cy="0"/>
          </a:xfrm>
          <a:prstGeom prst="line">
            <a:avLst/>
          </a:prstGeom>
          <a:noFill/>
          <a:ln w="21590">
            <a:solidFill>
              <a:srgbClr val="111827"/>
            </a:solidFill>
            <a:prstDash val="solid"/>
          </a:ln>
        </p:spPr>
        <p:txBody>
          <a:bodyPr/>
          <a:lstStyle/>
          <a:p>
            <a:endParaRPr lang="en-GB"/>
          </a:p>
        </p:txBody>
      </p:sp>
      <p:sp>
        <p:nvSpPr>
          <p:cNvPr id="100" name="Shape 98"/>
          <p:cNvSpPr/>
          <p:nvPr/>
        </p:nvSpPr>
        <p:spPr>
          <a:xfrm>
            <a:off x="5388823" y="3333823"/>
            <a:ext cx="49095" cy="0"/>
          </a:xfrm>
          <a:prstGeom prst="line">
            <a:avLst/>
          </a:prstGeom>
          <a:noFill/>
          <a:ln w="21590">
            <a:solidFill>
              <a:srgbClr val="111827"/>
            </a:solidFill>
            <a:prstDash val="solid"/>
          </a:ln>
        </p:spPr>
        <p:txBody>
          <a:bodyPr/>
          <a:lstStyle/>
          <a:p>
            <a:endParaRPr lang="en-GB"/>
          </a:p>
        </p:txBody>
      </p:sp>
      <p:sp>
        <p:nvSpPr>
          <p:cNvPr id="101" name="Shape 99"/>
          <p:cNvSpPr/>
          <p:nvPr/>
        </p:nvSpPr>
        <p:spPr>
          <a:xfrm>
            <a:off x="5437918" y="3308810"/>
            <a:ext cx="49095" cy="0"/>
          </a:xfrm>
          <a:prstGeom prst="line">
            <a:avLst/>
          </a:prstGeom>
          <a:noFill/>
          <a:ln w="21590">
            <a:solidFill>
              <a:srgbClr val="111827"/>
            </a:solidFill>
            <a:prstDash val="solid"/>
          </a:ln>
        </p:spPr>
        <p:txBody>
          <a:bodyPr/>
          <a:lstStyle/>
          <a:p>
            <a:endParaRPr lang="en-GB"/>
          </a:p>
        </p:txBody>
      </p:sp>
      <p:sp>
        <p:nvSpPr>
          <p:cNvPr id="102" name="Shape 100"/>
          <p:cNvSpPr/>
          <p:nvPr/>
        </p:nvSpPr>
        <p:spPr>
          <a:xfrm>
            <a:off x="5487014" y="3284014"/>
            <a:ext cx="49095" cy="0"/>
          </a:xfrm>
          <a:prstGeom prst="line">
            <a:avLst/>
          </a:prstGeom>
          <a:noFill/>
          <a:ln w="21590">
            <a:solidFill>
              <a:srgbClr val="111827"/>
            </a:solidFill>
            <a:prstDash val="solid"/>
          </a:ln>
        </p:spPr>
        <p:txBody>
          <a:bodyPr/>
          <a:lstStyle/>
          <a:p>
            <a:endParaRPr lang="en-GB"/>
          </a:p>
        </p:txBody>
      </p:sp>
      <p:sp>
        <p:nvSpPr>
          <p:cNvPr id="103" name="Shape 101"/>
          <p:cNvSpPr/>
          <p:nvPr/>
        </p:nvSpPr>
        <p:spPr>
          <a:xfrm>
            <a:off x="5536109" y="3260271"/>
            <a:ext cx="49095" cy="0"/>
          </a:xfrm>
          <a:prstGeom prst="line">
            <a:avLst/>
          </a:prstGeom>
          <a:noFill/>
          <a:ln w="21590">
            <a:solidFill>
              <a:srgbClr val="111827"/>
            </a:solidFill>
            <a:prstDash val="solid"/>
          </a:ln>
        </p:spPr>
        <p:txBody>
          <a:bodyPr/>
          <a:lstStyle/>
          <a:p>
            <a:endParaRPr lang="en-GB"/>
          </a:p>
        </p:txBody>
      </p:sp>
      <p:sp>
        <p:nvSpPr>
          <p:cNvPr id="104" name="Shape 102"/>
          <p:cNvSpPr/>
          <p:nvPr/>
        </p:nvSpPr>
        <p:spPr>
          <a:xfrm>
            <a:off x="5585204" y="3238362"/>
            <a:ext cx="49095" cy="0"/>
          </a:xfrm>
          <a:prstGeom prst="line">
            <a:avLst/>
          </a:prstGeom>
          <a:noFill/>
          <a:ln w="21590">
            <a:solidFill>
              <a:srgbClr val="111827"/>
            </a:solidFill>
            <a:prstDash val="solid"/>
          </a:ln>
        </p:spPr>
        <p:txBody>
          <a:bodyPr/>
          <a:lstStyle/>
          <a:p>
            <a:endParaRPr lang="en-GB"/>
          </a:p>
        </p:txBody>
      </p:sp>
      <p:sp>
        <p:nvSpPr>
          <p:cNvPr id="105" name="Shape 103"/>
          <p:cNvSpPr/>
          <p:nvPr/>
        </p:nvSpPr>
        <p:spPr>
          <a:xfrm>
            <a:off x="5634300" y="3218997"/>
            <a:ext cx="49095" cy="0"/>
          </a:xfrm>
          <a:prstGeom prst="line">
            <a:avLst/>
          </a:prstGeom>
          <a:noFill/>
          <a:ln w="21590">
            <a:solidFill>
              <a:srgbClr val="111827"/>
            </a:solidFill>
            <a:prstDash val="solid"/>
          </a:ln>
        </p:spPr>
        <p:txBody>
          <a:bodyPr/>
          <a:lstStyle/>
          <a:p>
            <a:endParaRPr lang="en-GB"/>
          </a:p>
        </p:txBody>
      </p:sp>
      <p:sp>
        <p:nvSpPr>
          <p:cNvPr id="106" name="Shape 104"/>
          <p:cNvSpPr/>
          <p:nvPr/>
        </p:nvSpPr>
        <p:spPr>
          <a:xfrm>
            <a:off x="5683395" y="3202794"/>
            <a:ext cx="49095" cy="0"/>
          </a:xfrm>
          <a:prstGeom prst="line">
            <a:avLst/>
          </a:prstGeom>
          <a:noFill/>
          <a:ln w="21590">
            <a:solidFill>
              <a:srgbClr val="111827"/>
            </a:solidFill>
            <a:prstDash val="solid"/>
          </a:ln>
        </p:spPr>
        <p:txBody>
          <a:bodyPr/>
          <a:lstStyle/>
          <a:p>
            <a:endParaRPr lang="en-GB"/>
          </a:p>
        </p:txBody>
      </p:sp>
      <p:sp>
        <p:nvSpPr>
          <p:cNvPr id="107" name="Shape 105"/>
          <p:cNvSpPr/>
          <p:nvPr/>
        </p:nvSpPr>
        <p:spPr>
          <a:xfrm>
            <a:off x="5732490" y="3190269"/>
            <a:ext cx="49095" cy="0"/>
          </a:xfrm>
          <a:prstGeom prst="line">
            <a:avLst/>
          </a:prstGeom>
          <a:noFill/>
          <a:ln w="21590">
            <a:solidFill>
              <a:srgbClr val="111827"/>
            </a:solidFill>
            <a:prstDash val="solid"/>
          </a:ln>
        </p:spPr>
        <p:txBody>
          <a:bodyPr/>
          <a:lstStyle/>
          <a:p>
            <a:endParaRPr lang="en-GB"/>
          </a:p>
        </p:txBody>
      </p:sp>
      <p:sp>
        <p:nvSpPr>
          <p:cNvPr id="108" name="Shape 106"/>
          <p:cNvSpPr/>
          <p:nvPr/>
        </p:nvSpPr>
        <p:spPr>
          <a:xfrm>
            <a:off x="5781586" y="3181818"/>
            <a:ext cx="49095" cy="0"/>
          </a:xfrm>
          <a:prstGeom prst="line">
            <a:avLst/>
          </a:prstGeom>
          <a:noFill/>
          <a:ln w="21590">
            <a:solidFill>
              <a:srgbClr val="111827"/>
            </a:solidFill>
            <a:prstDash val="solid"/>
          </a:ln>
        </p:spPr>
        <p:txBody>
          <a:bodyPr/>
          <a:lstStyle/>
          <a:p>
            <a:endParaRPr lang="en-GB"/>
          </a:p>
        </p:txBody>
      </p:sp>
      <p:sp>
        <p:nvSpPr>
          <p:cNvPr id="109" name="Shape 107"/>
          <p:cNvSpPr/>
          <p:nvPr/>
        </p:nvSpPr>
        <p:spPr>
          <a:xfrm>
            <a:off x="5830681" y="3177711"/>
            <a:ext cx="49095" cy="378"/>
          </a:xfrm>
          <a:prstGeom prst="line">
            <a:avLst/>
          </a:prstGeom>
          <a:noFill/>
          <a:ln w="21590">
            <a:solidFill>
              <a:srgbClr val="111827"/>
            </a:solidFill>
            <a:prstDash val="solid"/>
          </a:ln>
        </p:spPr>
        <p:txBody>
          <a:bodyPr/>
          <a:lstStyle/>
          <a:p>
            <a:endParaRPr lang="en-GB"/>
          </a:p>
        </p:txBody>
      </p:sp>
      <p:sp>
        <p:nvSpPr>
          <p:cNvPr id="110" name="Shape 108"/>
          <p:cNvSpPr/>
          <p:nvPr/>
        </p:nvSpPr>
        <p:spPr>
          <a:xfrm>
            <a:off x="5879776" y="3178089"/>
            <a:ext cx="49095" cy="4868"/>
          </a:xfrm>
          <a:prstGeom prst="line">
            <a:avLst/>
          </a:prstGeom>
          <a:noFill/>
          <a:ln w="21590">
            <a:solidFill>
              <a:srgbClr val="111827"/>
            </a:solidFill>
            <a:prstDash val="solid"/>
          </a:ln>
        </p:spPr>
        <p:txBody>
          <a:bodyPr/>
          <a:lstStyle/>
          <a:p>
            <a:endParaRPr lang="en-GB"/>
          </a:p>
        </p:txBody>
      </p:sp>
      <p:sp>
        <p:nvSpPr>
          <p:cNvPr id="111" name="Shape 109"/>
          <p:cNvSpPr/>
          <p:nvPr/>
        </p:nvSpPr>
        <p:spPr>
          <a:xfrm>
            <a:off x="5928871" y="3182957"/>
            <a:ext cx="49095" cy="9232"/>
          </a:xfrm>
          <a:prstGeom prst="line">
            <a:avLst/>
          </a:prstGeom>
          <a:noFill/>
          <a:ln w="21590">
            <a:solidFill>
              <a:srgbClr val="111827"/>
            </a:solidFill>
            <a:prstDash val="solid"/>
          </a:ln>
        </p:spPr>
        <p:txBody>
          <a:bodyPr/>
          <a:lstStyle/>
          <a:p>
            <a:endParaRPr lang="en-GB"/>
          </a:p>
        </p:txBody>
      </p:sp>
      <p:sp>
        <p:nvSpPr>
          <p:cNvPr id="112" name="Shape 110"/>
          <p:cNvSpPr/>
          <p:nvPr/>
        </p:nvSpPr>
        <p:spPr>
          <a:xfrm>
            <a:off x="5977967" y="3192188"/>
            <a:ext cx="49095" cy="13341"/>
          </a:xfrm>
          <a:prstGeom prst="line">
            <a:avLst/>
          </a:prstGeom>
          <a:noFill/>
          <a:ln w="21590">
            <a:solidFill>
              <a:srgbClr val="111827"/>
            </a:solidFill>
            <a:prstDash val="solid"/>
          </a:ln>
        </p:spPr>
        <p:txBody>
          <a:bodyPr/>
          <a:lstStyle/>
          <a:p>
            <a:endParaRPr lang="en-GB"/>
          </a:p>
        </p:txBody>
      </p:sp>
      <p:sp>
        <p:nvSpPr>
          <p:cNvPr id="113" name="Shape 111"/>
          <p:cNvSpPr/>
          <p:nvPr/>
        </p:nvSpPr>
        <p:spPr>
          <a:xfrm>
            <a:off x="6027062" y="3205529"/>
            <a:ext cx="49095" cy="17078"/>
          </a:xfrm>
          <a:prstGeom prst="line">
            <a:avLst/>
          </a:prstGeom>
          <a:noFill/>
          <a:ln w="21590">
            <a:solidFill>
              <a:srgbClr val="111827"/>
            </a:solidFill>
            <a:prstDash val="solid"/>
          </a:ln>
        </p:spPr>
        <p:txBody>
          <a:bodyPr/>
          <a:lstStyle/>
          <a:p>
            <a:endParaRPr lang="en-GB"/>
          </a:p>
        </p:txBody>
      </p:sp>
      <p:sp>
        <p:nvSpPr>
          <p:cNvPr id="114" name="Shape 112"/>
          <p:cNvSpPr/>
          <p:nvPr/>
        </p:nvSpPr>
        <p:spPr>
          <a:xfrm>
            <a:off x="6076157" y="3222608"/>
            <a:ext cx="49095" cy="20334"/>
          </a:xfrm>
          <a:prstGeom prst="line">
            <a:avLst/>
          </a:prstGeom>
          <a:noFill/>
          <a:ln w="21590">
            <a:solidFill>
              <a:srgbClr val="111827"/>
            </a:solidFill>
            <a:prstDash val="solid"/>
          </a:ln>
        </p:spPr>
        <p:txBody>
          <a:bodyPr/>
          <a:lstStyle/>
          <a:p>
            <a:endParaRPr lang="en-GB"/>
          </a:p>
        </p:txBody>
      </p:sp>
      <p:sp>
        <p:nvSpPr>
          <p:cNvPr id="115" name="Shape 113"/>
          <p:cNvSpPr/>
          <p:nvPr/>
        </p:nvSpPr>
        <p:spPr>
          <a:xfrm>
            <a:off x="6125253" y="3242942"/>
            <a:ext cx="49095" cy="23015"/>
          </a:xfrm>
          <a:prstGeom prst="line">
            <a:avLst/>
          </a:prstGeom>
          <a:noFill/>
          <a:ln w="21590">
            <a:solidFill>
              <a:srgbClr val="111827"/>
            </a:solidFill>
            <a:prstDash val="solid"/>
          </a:ln>
        </p:spPr>
        <p:txBody>
          <a:bodyPr/>
          <a:lstStyle/>
          <a:p>
            <a:endParaRPr lang="en-GB"/>
          </a:p>
        </p:txBody>
      </p:sp>
      <p:sp>
        <p:nvSpPr>
          <p:cNvPr id="116" name="Shape 114"/>
          <p:cNvSpPr/>
          <p:nvPr/>
        </p:nvSpPr>
        <p:spPr>
          <a:xfrm>
            <a:off x="6174348" y="3265957"/>
            <a:ext cx="49095" cy="25045"/>
          </a:xfrm>
          <a:prstGeom prst="line">
            <a:avLst/>
          </a:prstGeom>
          <a:noFill/>
          <a:ln w="21590">
            <a:solidFill>
              <a:srgbClr val="111827"/>
            </a:solidFill>
            <a:prstDash val="solid"/>
          </a:ln>
        </p:spPr>
        <p:txBody>
          <a:bodyPr/>
          <a:lstStyle/>
          <a:p>
            <a:endParaRPr lang="en-GB"/>
          </a:p>
        </p:txBody>
      </p:sp>
      <p:sp>
        <p:nvSpPr>
          <p:cNvPr id="117" name="Shape 115"/>
          <p:cNvSpPr/>
          <p:nvPr/>
        </p:nvSpPr>
        <p:spPr>
          <a:xfrm>
            <a:off x="6223443" y="3291002"/>
            <a:ext cx="49095" cy="26365"/>
          </a:xfrm>
          <a:prstGeom prst="line">
            <a:avLst/>
          </a:prstGeom>
          <a:noFill/>
          <a:ln w="21590">
            <a:solidFill>
              <a:srgbClr val="111827"/>
            </a:solidFill>
            <a:prstDash val="solid"/>
          </a:ln>
        </p:spPr>
        <p:txBody>
          <a:bodyPr/>
          <a:lstStyle/>
          <a:p>
            <a:endParaRPr lang="en-GB"/>
          </a:p>
        </p:txBody>
      </p:sp>
      <p:sp>
        <p:nvSpPr>
          <p:cNvPr id="118" name="Shape 116"/>
          <p:cNvSpPr/>
          <p:nvPr/>
        </p:nvSpPr>
        <p:spPr>
          <a:xfrm>
            <a:off x="6272539" y="3317367"/>
            <a:ext cx="49095" cy="26937"/>
          </a:xfrm>
          <a:prstGeom prst="line">
            <a:avLst/>
          </a:prstGeom>
          <a:noFill/>
          <a:ln w="21590">
            <a:solidFill>
              <a:srgbClr val="111827"/>
            </a:solidFill>
            <a:prstDash val="solid"/>
          </a:ln>
        </p:spPr>
        <p:txBody>
          <a:bodyPr/>
          <a:lstStyle/>
          <a:p>
            <a:endParaRPr lang="en-GB"/>
          </a:p>
        </p:txBody>
      </p:sp>
      <p:sp>
        <p:nvSpPr>
          <p:cNvPr id="119" name="Shape 117"/>
          <p:cNvSpPr/>
          <p:nvPr/>
        </p:nvSpPr>
        <p:spPr>
          <a:xfrm>
            <a:off x="6321634" y="3344304"/>
            <a:ext cx="49095" cy="26745"/>
          </a:xfrm>
          <a:prstGeom prst="line">
            <a:avLst/>
          </a:prstGeom>
          <a:noFill/>
          <a:ln w="21590">
            <a:solidFill>
              <a:srgbClr val="111827"/>
            </a:solidFill>
            <a:prstDash val="solid"/>
          </a:ln>
        </p:spPr>
        <p:txBody>
          <a:bodyPr/>
          <a:lstStyle/>
          <a:p>
            <a:endParaRPr lang="en-GB"/>
          </a:p>
        </p:txBody>
      </p:sp>
      <p:sp>
        <p:nvSpPr>
          <p:cNvPr id="120" name="Shape 118"/>
          <p:cNvSpPr/>
          <p:nvPr/>
        </p:nvSpPr>
        <p:spPr>
          <a:xfrm>
            <a:off x="6370729" y="3371049"/>
            <a:ext cx="49095" cy="25794"/>
          </a:xfrm>
          <a:prstGeom prst="line">
            <a:avLst/>
          </a:prstGeom>
          <a:noFill/>
          <a:ln w="21590">
            <a:solidFill>
              <a:srgbClr val="111827"/>
            </a:solidFill>
            <a:prstDash val="solid"/>
          </a:ln>
        </p:spPr>
        <p:txBody>
          <a:bodyPr/>
          <a:lstStyle/>
          <a:p>
            <a:endParaRPr lang="en-GB"/>
          </a:p>
        </p:txBody>
      </p:sp>
      <p:sp>
        <p:nvSpPr>
          <p:cNvPr id="121" name="Shape 119"/>
          <p:cNvSpPr/>
          <p:nvPr/>
        </p:nvSpPr>
        <p:spPr>
          <a:xfrm>
            <a:off x="6419824" y="3396843"/>
            <a:ext cx="49095" cy="24111"/>
          </a:xfrm>
          <a:prstGeom prst="line">
            <a:avLst/>
          </a:prstGeom>
          <a:noFill/>
          <a:ln w="21590">
            <a:solidFill>
              <a:srgbClr val="111827"/>
            </a:solidFill>
            <a:prstDash val="solid"/>
          </a:ln>
        </p:spPr>
        <p:txBody>
          <a:bodyPr/>
          <a:lstStyle/>
          <a:p>
            <a:endParaRPr lang="en-GB"/>
          </a:p>
        </p:txBody>
      </p:sp>
      <p:sp>
        <p:nvSpPr>
          <p:cNvPr id="122" name="Shape 120"/>
          <p:cNvSpPr/>
          <p:nvPr/>
        </p:nvSpPr>
        <p:spPr>
          <a:xfrm>
            <a:off x="6468920" y="3420954"/>
            <a:ext cx="49095" cy="21744"/>
          </a:xfrm>
          <a:prstGeom prst="line">
            <a:avLst/>
          </a:prstGeom>
          <a:noFill/>
          <a:ln w="21590">
            <a:solidFill>
              <a:srgbClr val="111827"/>
            </a:solidFill>
            <a:prstDash val="solid"/>
          </a:ln>
        </p:spPr>
        <p:txBody>
          <a:bodyPr/>
          <a:lstStyle/>
          <a:p>
            <a:endParaRPr lang="en-GB"/>
          </a:p>
        </p:txBody>
      </p:sp>
      <p:sp>
        <p:nvSpPr>
          <p:cNvPr id="123" name="Shape 121"/>
          <p:cNvSpPr/>
          <p:nvPr/>
        </p:nvSpPr>
        <p:spPr>
          <a:xfrm>
            <a:off x="6518015" y="3442698"/>
            <a:ext cx="49095" cy="18760"/>
          </a:xfrm>
          <a:prstGeom prst="line">
            <a:avLst/>
          </a:prstGeom>
          <a:noFill/>
          <a:ln w="21590">
            <a:solidFill>
              <a:srgbClr val="111827"/>
            </a:solidFill>
            <a:prstDash val="solid"/>
          </a:ln>
        </p:spPr>
        <p:txBody>
          <a:bodyPr/>
          <a:lstStyle/>
          <a:p>
            <a:endParaRPr lang="en-GB"/>
          </a:p>
        </p:txBody>
      </p:sp>
      <p:sp>
        <p:nvSpPr>
          <p:cNvPr id="124" name="Shape 122"/>
          <p:cNvSpPr/>
          <p:nvPr/>
        </p:nvSpPr>
        <p:spPr>
          <a:xfrm>
            <a:off x="6567110" y="3461457"/>
            <a:ext cx="49095" cy="15243"/>
          </a:xfrm>
          <a:prstGeom prst="line">
            <a:avLst/>
          </a:prstGeom>
          <a:noFill/>
          <a:ln w="21590">
            <a:solidFill>
              <a:srgbClr val="111827"/>
            </a:solidFill>
            <a:prstDash val="solid"/>
          </a:ln>
        </p:spPr>
        <p:txBody>
          <a:bodyPr/>
          <a:lstStyle/>
          <a:p>
            <a:endParaRPr lang="en-GB"/>
          </a:p>
        </p:txBody>
      </p:sp>
      <p:sp>
        <p:nvSpPr>
          <p:cNvPr id="125" name="Shape 123"/>
          <p:cNvSpPr/>
          <p:nvPr/>
        </p:nvSpPr>
        <p:spPr>
          <a:xfrm>
            <a:off x="6616206" y="3476700"/>
            <a:ext cx="49095" cy="11293"/>
          </a:xfrm>
          <a:prstGeom prst="line">
            <a:avLst/>
          </a:prstGeom>
          <a:noFill/>
          <a:ln w="21590">
            <a:solidFill>
              <a:srgbClr val="111827"/>
            </a:solidFill>
            <a:prstDash val="solid"/>
          </a:ln>
        </p:spPr>
        <p:txBody>
          <a:bodyPr/>
          <a:lstStyle/>
          <a:p>
            <a:endParaRPr lang="en-GB"/>
          </a:p>
        </p:txBody>
      </p:sp>
      <p:sp>
        <p:nvSpPr>
          <p:cNvPr id="126" name="Shape 124"/>
          <p:cNvSpPr/>
          <p:nvPr/>
        </p:nvSpPr>
        <p:spPr>
          <a:xfrm>
            <a:off x="6665301" y="3487994"/>
            <a:ext cx="49095" cy="7023"/>
          </a:xfrm>
          <a:prstGeom prst="line">
            <a:avLst/>
          </a:prstGeom>
          <a:noFill/>
          <a:ln w="21590">
            <a:solidFill>
              <a:srgbClr val="111827"/>
            </a:solidFill>
            <a:prstDash val="solid"/>
          </a:ln>
        </p:spPr>
        <p:txBody>
          <a:bodyPr/>
          <a:lstStyle/>
          <a:p>
            <a:endParaRPr lang="en-GB"/>
          </a:p>
        </p:txBody>
      </p:sp>
      <p:sp>
        <p:nvSpPr>
          <p:cNvPr id="127" name="Shape 125"/>
          <p:cNvSpPr/>
          <p:nvPr/>
        </p:nvSpPr>
        <p:spPr>
          <a:xfrm>
            <a:off x="6714396" y="3495017"/>
            <a:ext cx="49095" cy="2554"/>
          </a:xfrm>
          <a:prstGeom prst="line">
            <a:avLst/>
          </a:prstGeom>
          <a:noFill/>
          <a:ln w="21590">
            <a:solidFill>
              <a:srgbClr val="111827"/>
            </a:solidFill>
            <a:prstDash val="solid"/>
          </a:ln>
        </p:spPr>
        <p:txBody>
          <a:bodyPr/>
          <a:lstStyle/>
          <a:p>
            <a:endParaRPr lang="en-GB"/>
          </a:p>
        </p:txBody>
      </p:sp>
      <p:sp>
        <p:nvSpPr>
          <p:cNvPr id="128" name="Shape 126"/>
          <p:cNvSpPr/>
          <p:nvPr/>
        </p:nvSpPr>
        <p:spPr>
          <a:xfrm>
            <a:off x="6763492" y="3497571"/>
            <a:ext cx="49095" cy="0"/>
          </a:xfrm>
          <a:prstGeom prst="line">
            <a:avLst/>
          </a:prstGeom>
          <a:noFill/>
          <a:ln w="21590">
            <a:solidFill>
              <a:srgbClr val="111827"/>
            </a:solidFill>
            <a:prstDash val="solid"/>
          </a:ln>
        </p:spPr>
        <p:txBody>
          <a:bodyPr/>
          <a:lstStyle/>
          <a:p>
            <a:endParaRPr lang="en-GB"/>
          </a:p>
        </p:txBody>
      </p:sp>
      <p:sp>
        <p:nvSpPr>
          <p:cNvPr id="129" name="Shape 127"/>
          <p:cNvSpPr/>
          <p:nvPr/>
        </p:nvSpPr>
        <p:spPr>
          <a:xfrm>
            <a:off x="6812587" y="3495583"/>
            <a:ext cx="49095" cy="0"/>
          </a:xfrm>
          <a:prstGeom prst="line">
            <a:avLst/>
          </a:prstGeom>
          <a:noFill/>
          <a:ln w="21590">
            <a:solidFill>
              <a:srgbClr val="111827"/>
            </a:solidFill>
            <a:prstDash val="solid"/>
          </a:ln>
        </p:spPr>
        <p:txBody>
          <a:bodyPr/>
          <a:lstStyle/>
          <a:p>
            <a:endParaRPr lang="en-GB"/>
          </a:p>
        </p:txBody>
      </p:sp>
      <p:sp>
        <p:nvSpPr>
          <p:cNvPr id="130" name="Shape 128"/>
          <p:cNvSpPr/>
          <p:nvPr/>
        </p:nvSpPr>
        <p:spPr>
          <a:xfrm>
            <a:off x="6861682" y="3489110"/>
            <a:ext cx="49095" cy="0"/>
          </a:xfrm>
          <a:prstGeom prst="line">
            <a:avLst/>
          </a:prstGeom>
          <a:noFill/>
          <a:ln w="21590">
            <a:solidFill>
              <a:srgbClr val="111827"/>
            </a:solidFill>
            <a:prstDash val="solid"/>
          </a:ln>
        </p:spPr>
        <p:txBody>
          <a:bodyPr/>
          <a:lstStyle/>
          <a:p>
            <a:endParaRPr lang="en-GB"/>
          </a:p>
        </p:txBody>
      </p:sp>
      <p:sp>
        <p:nvSpPr>
          <p:cNvPr id="131" name="Shape 129"/>
          <p:cNvSpPr/>
          <p:nvPr/>
        </p:nvSpPr>
        <p:spPr>
          <a:xfrm>
            <a:off x="6910777" y="3478336"/>
            <a:ext cx="49095" cy="0"/>
          </a:xfrm>
          <a:prstGeom prst="line">
            <a:avLst/>
          </a:prstGeom>
          <a:noFill/>
          <a:ln w="21590">
            <a:solidFill>
              <a:srgbClr val="111827"/>
            </a:solidFill>
            <a:prstDash val="solid"/>
          </a:ln>
        </p:spPr>
        <p:txBody>
          <a:bodyPr/>
          <a:lstStyle/>
          <a:p>
            <a:endParaRPr lang="en-GB"/>
          </a:p>
        </p:txBody>
      </p:sp>
      <p:sp>
        <p:nvSpPr>
          <p:cNvPr id="132" name="Shape 130"/>
          <p:cNvSpPr/>
          <p:nvPr/>
        </p:nvSpPr>
        <p:spPr>
          <a:xfrm>
            <a:off x="6959873" y="3463565"/>
            <a:ext cx="49095" cy="0"/>
          </a:xfrm>
          <a:prstGeom prst="line">
            <a:avLst/>
          </a:prstGeom>
          <a:noFill/>
          <a:ln w="21590">
            <a:solidFill>
              <a:srgbClr val="111827"/>
            </a:solidFill>
            <a:prstDash val="solid"/>
          </a:ln>
        </p:spPr>
        <p:txBody>
          <a:bodyPr/>
          <a:lstStyle/>
          <a:p>
            <a:endParaRPr lang="en-GB"/>
          </a:p>
        </p:txBody>
      </p:sp>
      <p:sp>
        <p:nvSpPr>
          <p:cNvPr id="133" name="Shape 131"/>
          <p:cNvSpPr/>
          <p:nvPr/>
        </p:nvSpPr>
        <p:spPr>
          <a:xfrm>
            <a:off x="7008968" y="3445218"/>
            <a:ext cx="49095" cy="0"/>
          </a:xfrm>
          <a:prstGeom prst="line">
            <a:avLst/>
          </a:prstGeom>
          <a:noFill/>
          <a:ln w="21590">
            <a:solidFill>
              <a:srgbClr val="111827"/>
            </a:solidFill>
            <a:prstDash val="solid"/>
          </a:ln>
        </p:spPr>
        <p:txBody>
          <a:bodyPr/>
          <a:lstStyle/>
          <a:p>
            <a:endParaRPr lang="en-GB"/>
          </a:p>
        </p:txBody>
      </p:sp>
      <p:sp>
        <p:nvSpPr>
          <p:cNvPr id="134" name="Shape 132"/>
          <p:cNvSpPr/>
          <p:nvPr/>
        </p:nvSpPr>
        <p:spPr>
          <a:xfrm>
            <a:off x="7058063" y="3423815"/>
            <a:ext cx="49095" cy="0"/>
          </a:xfrm>
          <a:prstGeom prst="line">
            <a:avLst/>
          </a:prstGeom>
          <a:noFill/>
          <a:ln w="21590">
            <a:solidFill>
              <a:srgbClr val="111827"/>
            </a:solidFill>
            <a:prstDash val="solid"/>
          </a:ln>
        </p:spPr>
        <p:txBody>
          <a:bodyPr/>
          <a:lstStyle/>
          <a:p>
            <a:endParaRPr lang="en-GB"/>
          </a:p>
        </p:txBody>
      </p:sp>
      <p:sp>
        <p:nvSpPr>
          <p:cNvPr id="135" name="Shape 133"/>
          <p:cNvSpPr/>
          <p:nvPr/>
        </p:nvSpPr>
        <p:spPr>
          <a:xfrm>
            <a:off x="7107159" y="3399964"/>
            <a:ext cx="49095" cy="0"/>
          </a:xfrm>
          <a:prstGeom prst="line">
            <a:avLst/>
          </a:prstGeom>
          <a:noFill/>
          <a:ln w="21590">
            <a:solidFill>
              <a:srgbClr val="111827"/>
            </a:solidFill>
            <a:prstDash val="solid"/>
          </a:ln>
        </p:spPr>
        <p:txBody>
          <a:bodyPr/>
          <a:lstStyle/>
          <a:p>
            <a:endParaRPr lang="en-GB"/>
          </a:p>
        </p:txBody>
      </p:sp>
      <p:sp>
        <p:nvSpPr>
          <p:cNvPr id="136" name="Shape 134"/>
          <p:cNvSpPr/>
          <p:nvPr/>
        </p:nvSpPr>
        <p:spPr>
          <a:xfrm>
            <a:off x="7156254" y="3374342"/>
            <a:ext cx="49095" cy="0"/>
          </a:xfrm>
          <a:prstGeom prst="line">
            <a:avLst/>
          </a:prstGeom>
          <a:noFill/>
          <a:ln w="21590">
            <a:solidFill>
              <a:srgbClr val="111827"/>
            </a:solidFill>
            <a:prstDash val="solid"/>
          </a:ln>
        </p:spPr>
        <p:txBody>
          <a:bodyPr/>
          <a:lstStyle/>
          <a:p>
            <a:endParaRPr lang="en-GB"/>
          </a:p>
        </p:txBody>
      </p:sp>
      <p:sp>
        <p:nvSpPr>
          <p:cNvPr id="137" name="Shape 135"/>
          <p:cNvSpPr/>
          <p:nvPr/>
        </p:nvSpPr>
        <p:spPr>
          <a:xfrm>
            <a:off x="7205349" y="3347675"/>
            <a:ext cx="49095" cy="0"/>
          </a:xfrm>
          <a:prstGeom prst="line">
            <a:avLst/>
          </a:prstGeom>
          <a:noFill/>
          <a:ln w="21590">
            <a:solidFill>
              <a:srgbClr val="111827"/>
            </a:solidFill>
            <a:prstDash val="solid"/>
          </a:ln>
        </p:spPr>
        <p:txBody>
          <a:bodyPr/>
          <a:lstStyle/>
          <a:p>
            <a:endParaRPr lang="en-GB"/>
          </a:p>
        </p:txBody>
      </p:sp>
      <p:sp>
        <p:nvSpPr>
          <p:cNvPr id="138" name="Shape 136"/>
          <p:cNvSpPr/>
          <p:nvPr/>
        </p:nvSpPr>
        <p:spPr>
          <a:xfrm>
            <a:off x="7254445" y="3320722"/>
            <a:ext cx="49095" cy="0"/>
          </a:xfrm>
          <a:prstGeom prst="line">
            <a:avLst/>
          </a:prstGeom>
          <a:noFill/>
          <a:ln w="21590">
            <a:solidFill>
              <a:srgbClr val="111827"/>
            </a:solidFill>
            <a:prstDash val="solid"/>
          </a:ln>
        </p:spPr>
        <p:txBody>
          <a:bodyPr/>
          <a:lstStyle/>
          <a:p>
            <a:endParaRPr lang="en-GB"/>
          </a:p>
        </p:txBody>
      </p:sp>
      <p:sp>
        <p:nvSpPr>
          <p:cNvPr id="139" name="Shape 137"/>
          <p:cNvSpPr/>
          <p:nvPr/>
        </p:nvSpPr>
        <p:spPr>
          <a:xfrm>
            <a:off x="7303540" y="3294246"/>
            <a:ext cx="49095" cy="0"/>
          </a:xfrm>
          <a:prstGeom prst="line">
            <a:avLst/>
          </a:prstGeom>
          <a:noFill/>
          <a:ln w="21590">
            <a:solidFill>
              <a:srgbClr val="111827"/>
            </a:solidFill>
            <a:prstDash val="solid"/>
          </a:ln>
        </p:spPr>
        <p:txBody>
          <a:bodyPr/>
          <a:lstStyle/>
          <a:p>
            <a:endParaRPr lang="en-GB"/>
          </a:p>
        </p:txBody>
      </p:sp>
      <p:sp>
        <p:nvSpPr>
          <p:cNvPr id="140" name="Shape 138"/>
          <p:cNvSpPr/>
          <p:nvPr/>
        </p:nvSpPr>
        <p:spPr>
          <a:xfrm>
            <a:off x="7352635" y="3269000"/>
            <a:ext cx="49095" cy="0"/>
          </a:xfrm>
          <a:prstGeom prst="line">
            <a:avLst/>
          </a:prstGeom>
          <a:noFill/>
          <a:ln w="21590">
            <a:solidFill>
              <a:srgbClr val="111827"/>
            </a:solidFill>
            <a:prstDash val="solid"/>
          </a:ln>
        </p:spPr>
        <p:txBody>
          <a:bodyPr/>
          <a:lstStyle/>
          <a:p>
            <a:endParaRPr lang="en-GB"/>
          </a:p>
        </p:txBody>
      </p:sp>
      <p:sp>
        <p:nvSpPr>
          <p:cNvPr id="141" name="Shape 139"/>
          <p:cNvSpPr/>
          <p:nvPr/>
        </p:nvSpPr>
        <p:spPr>
          <a:xfrm>
            <a:off x="7401730" y="3245700"/>
            <a:ext cx="49095" cy="0"/>
          </a:xfrm>
          <a:prstGeom prst="line">
            <a:avLst/>
          </a:prstGeom>
          <a:noFill/>
          <a:ln w="21590">
            <a:solidFill>
              <a:srgbClr val="111827"/>
            </a:solidFill>
            <a:prstDash val="solid"/>
          </a:ln>
        </p:spPr>
        <p:txBody>
          <a:bodyPr/>
          <a:lstStyle/>
          <a:p>
            <a:endParaRPr lang="en-GB"/>
          </a:p>
        </p:txBody>
      </p:sp>
      <p:sp>
        <p:nvSpPr>
          <p:cNvPr id="142" name="Shape 140"/>
          <p:cNvSpPr/>
          <p:nvPr/>
        </p:nvSpPr>
        <p:spPr>
          <a:xfrm>
            <a:off x="7450826" y="3225007"/>
            <a:ext cx="49095" cy="0"/>
          </a:xfrm>
          <a:prstGeom prst="line">
            <a:avLst/>
          </a:prstGeom>
          <a:noFill/>
          <a:ln w="21590">
            <a:solidFill>
              <a:srgbClr val="111827"/>
            </a:solidFill>
            <a:prstDash val="solid"/>
          </a:ln>
        </p:spPr>
        <p:txBody>
          <a:bodyPr/>
          <a:lstStyle/>
          <a:p>
            <a:endParaRPr lang="en-GB"/>
          </a:p>
        </p:txBody>
      </p:sp>
      <p:sp>
        <p:nvSpPr>
          <p:cNvPr id="143" name="Shape 141"/>
          <p:cNvSpPr/>
          <p:nvPr/>
        </p:nvSpPr>
        <p:spPr>
          <a:xfrm>
            <a:off x="7499921" y="3207509"/>
            <a:ext cx="49095" cy="0"/>
          </a:xfrm>
          <a:prstGeom prst="line">
            <a:avLst/>
          </a:prstGeom>
          <a:noFill/>
          <a:ln w="21590">
            <a:solidFill>
              <a:srgbClr val="111827"/>
            </a:solidFill>
            <a:prstDash val="solid"/>
          </a:ln>
        </p:spPr>
        <p:txBody>
          <a:bodyPr/>
          <a:lstStyle/>
          <a:p>
            <a:endParaRPr lang="en-GB"/>
          </a:p>
        </p:txBody>
      </p:sp>
      <p:sp>
        <p:nvSpPr>
          <p:cNvPr id="144" name="Shape 142"/>
          <p:cNvSpPr/>
          <p:nvPr/>
        </p:nvSpPr>
        <p:spPr>
          <a:xfrm>
            <a:off x="7549016" y="3193702"/>
            <a:ext cx="49095" cy="0"/>
          </a:xfrm>
          <a:prstGeom prst="line">
            <a:avLst/>
          </a:prstGeom>
          <a:noFill/>
          <a:ln w="21590">
            <a:solidFill>
              <a:srgbClr val="111827"/>
            </a:solidFill>
            <a:prstDash val="solid"/>
          </a:ln>
        </p:spPr>
        <p:txBody>
          <a:bodyPr/>
          <a:lstStyle/>
          <a:p>
            <a:endParaRPr lang="en-GB"/>
          </a:p>
        </p:txBody>
      </p:sp>
      <p:sp>
        <p:nvSpPr>
          <p:cNvPr id="145" name="Shape 143"/>
          <p:cNvSpPr/>
          <p:nvPr/>
        </p:nvSpPr>
        <p:spPr>
          <a:xfrm>
            <a:off x="7598112" y="3183979"/>
            <a:ext cx="49095" cy="0"/>
          </a:xfrm>
          <a:prstGeom prst="line">
            <a:avLst/>
          </a:prstGeom>
          <a:noFill/>
          <a:ln w="21590">
            <a:solidFill>
              <a:srgbClr val="111827"/>
            </a:solidFill>
            <a:prstDash val="solid"/>
          </a:ln>
        </p:spPr>
        <p:txBody>
          <a:bodyPr/>
          <a:lstStyle/>
          <a:p>
            <a:endParaRPr lang="en-GB"/>
          </a:p>
        </p:txBody>
      </p:sp>
      <p:sp>
        <p:nvSpPr>
          <p:cNvPr id="146" name="Shape 144"/>
          <p:cNvSpPr/>
          <p:nvPr/>
        </p:nvSpPr>
        <p:spPr>
          <a:xfrm>
            <a:off x="7647207" y="3178615"/>
            <a:ext cx="49095" cy="0"/>
          </a:xfrm>
          <a:prstGeom prst="line">
            <a:avLst/>
          </a:prstGeom>
          <a:noFill/>
          <a:ln w="21590">
            <a:solidFill>
              <a:srgbClr val="111827"/>
            </a:solidFill>
            <a:prstDash val="solid"/>
          </a:ln>
        </p:spPr>
        <p:txBody>
          <a:bodyPr/>
          <a:lstStyle/>
          <a:p>
            <a:endParaRPr lang="en-GB"/>
          </a:p>
        </p:txBody>
      </p:sp>
      <p:sp>
        <p:nvSpPr>
          <p:cNvPr id="147" name="Shape 145"/>
          <p:cNvSpPr/>
          <p:nvPr/>
        </p:nvSpPr>
        <p:spPr>
          <a:xfrm>
            <a:off x="7696302" y="3177762"/>
            <a:ext cx="49095" cy="3683"/>
          </a:xfrm>
          <a:prstGeom prst="line">
            <a:avLst/>
          </a:prstGeom>
          <a:noFill/>
          <a:ln w="21590">
            <a:solidFill>
              <a:srgbClr val="111827"/>
            </a:solidFill>
            <a:prstDash val="solid"/>
          </a:ln>
        </p:spPr>
        <p:txBody>
          <a:bodyPr/>
          <a:lstStyle/>
          <a:p>
            <a:endParaRPr lang="en-GB"/>
          </a:p>
        </p:txBody>
      </p:sp>
      <p:sp>
        <p:nvSpPr>
          <p:cNvPr id="148" name="Shape 146"/>
          <p:cNvSpPr/>
          <p:nvPr/>
        </p:nvSpPr>
        <p:spPr>
          <a:xfrm>
            <a:off x="7745398" y="3181445"/>
            <a:ext cx="49095" cy="8114"/>
          </a:xfrm>
          <a:prstGeom prst="line">
            <a:avLst/>
          </a:prstGeom>
          <a:noFill/>
          <a:ln w="21590">
            <a:solidFill>
              <a:srgbClr val="111827"/>
            </a:solidFill>
            <a:prstDash val="solid"/>
          </a:ln>
        </p:spPr>
        <p:txBody>
          <a:bodyPr/>
          <a:lstStyle/>
          <a:p>
            <a:endParaRPr lang="en-GB"/>
          </a:p>
        </p:txBody>
      </p:sp>
      <p:sp>
        <p:nvSpPr>
          <p:cNvPr id="149" name="Shape 147"/>
          <p:cNvSpPr/>
          <p:nvPr/>
        </p:nvSpPr>
        <p:spPr>
          <a:xfrm>
            <a:off x="7794493" y="3189560"/>
            <a:ext cx="49095" cy="12315"/>
          </a:xfrm>
          <a:prstGeom prst="line">
            <a:avLst/>
          </a:prstGeom>
          <a:noFill/>
          <a:ln w="21590">
            <a:solidFill>
              <a:srgbClr val="111827"/>
            </a:solidFill>
            <a:prstDash val="solid"/>
          </a:ln>
        </p:spPr>
        <p:txBody>
          <a:bodyPr/>
          <a:lstStyle/>
          <a:p>
            <a:endParaRPr lang="en-GB"/>
          </a:p>
        </p:txBody>
      </p:sp>
      <p:sp>
        <p:nvSpPr>
          <p:cNvPr id="150" name="Shape 148"/>
          <p:cNvSpPr/>
          <p:nvPr/>
        </p:nvSpPr>
        <p:spPr>
          <a:xfrm>
            <a:off x="7843588" y="3201875"/>
            <a:ext cx="49095" cy="16167"/>
          </a:xfrm>
          <a:prstGeom prst="line">
            <a:avLst/>
          </a:prstGeom>
          <a:noFill/>
          <a:ln w="21590">
            <a:solidFill>
              <a:srgbClr val="111827"/>
            </a:solidFill>
            <a:prstDash val="solid"/>
          </a:ln>
        </p:spPr>
        <p:txBody>
          <a:bodyPr/>
          <a:lstStyle/>
          <a:p>
            <a:endParaRPr lang="en-GB"/>
          </a:p>
        </p:txBody>
      </p:sp>
      <p:sp>
        <p:nvSpPr>
          <p:cNvPr id="151" name="Shape 149"/>
          <p:cNvSpPr/>
          <p:nvPr/>
        </p:nvSpPr>
        <p:spPr>
          <a:xfrm>
            <a:off x="7892683" y="3218042"/>
            <a:ext cx="49095" cy="19559"/>
          </a:xfrm>
          <a:prstGeom prst="line">
            <a:avLst/>
          </a:prstGeom>
          <a:noFill/>
          <a:ln w="21590">
            <a:solidFill>
              <a:srgbClr val="111827"/>
            </a:solidFill>
            <a:prstDash val="solid"/>
          </a:ln>
        </p:spPr>
        <p:txBody>
          <a:bodyPr/>
          <a:lstStyle/>
          <a:p>
            <a:endParaRPr lang="en-GB"/>
          </a:p>
        </p:txBody>
      </p:sp>
      <p:sp>
        <p:nvSpPr>
          <p:cNvPr id="152" name="Shape 150"/>
          <p:cNvSpPr/>
          <p:nvPr/>
        </p:nvSpPr>
        <p:spPr>
          <a:xfrm>
            <a:off x="7941779" y="3237601"/>
            <a:ext cx="49095" cy="22396"/>
          </a:xfrm>
          <a:prstGeom prst="line">
            <a:avLst/>
          </a:prstGeom>
          <a:noFill/>
          <a:ln w="21590">
            <a:solidFill>
              <a:srgbClr val="111827"/>
            </a:solidFill>
            <a:prstDash val="solid"/>
          </a:ln>
        </p:spPr>
        <p:txBody>
          <a:bodyPr/>
          <a:lstStyle/>
          <a:p>
            <a:endParaRPr lang="en-GB"/>
          </a:p>
        </p:txBody>
      </p:sp>
      <p:sp>
        <p:nvSpPr>
          <p:cNvPr id="153" name="Shape 151"/>
          <p:cNvSpPr/>
          <p:nvPr/>
        </p:nvSpPr>
        <p:spPr>
          <a:xfrm>
            <a:off x="7990874" y="3259997"/>
            <a:ext cx="49095" cy="24598"/>
          </a:xfrm>
          <a:prstGeom prst="line">
            <a:avLst/>
          </a:prstGeom>
          <a:noFill/>
          <a:ln w="21590">
            <a:solidFill>
              <a:srgbClr val="111827"/>
            </a:solidFill>
            <a:prstDash val="solid"/>
          </a:ln>
        </p:spPr>
        <p:txBody>
          <a:bodyPr/>
          <a:lstStyle/>
          <a:p>
            <a:endParaRPr lang="en-GB"/>
          </a:p>
        </p:txBody>
      </p:sp>
      <p:sp>
        <p:nvSpPr>
          <p:cNvPr id="154" name="Shape 152"/>
          <p:cNvSpPr/>
          <p:nvPr/>
        </p:nvSpPr>
        <p:spPr>
          <a:xfrm>
            <a:off x="8039969" y="3284595"/>
            <a:ext cx="49095" cy="26101"/>
          </a:xfrm>
          <a:prstGeom prst="line">
            <a:avLst/>
          </a:prstGeom>
          <a:noFill/>
          <a:ln w="21590">
            <a:solidFill>
              <a:srgbClr val="111827"/>
            </a:solidFill>
            <a:prstDash val="solid"/>
          </a:ln>
        </p:spPr>
        <p:txBody>
          <a:bodyPr/>
          <a:lstStyle/>
          <a:p>
            <a:endParaRPr lang="en-GB"/>
          </a:p>
        </p:txBody>
      </p:sp>
      <p:sp>
        <p:nvSpPr>
          <p:cNvPr id="155" name="Shape 153"/>
          <p:cNvSpPr/>
          <p:nvPr/>
        </p:nvSpPr>
        <p:spPr>
          <a:xfrm>
            <a:off x="8089065" y="3310696"/>
            <a:ext cx="49095" cy="26864"/>
          </a:xfrm>
          <a:prstGeom prst="line">
            <a:avLst/>
          </a:prstGeom>
          <a:noFill/>
          <a:ln w="21590">
            <a:solidFill>
              <a:srgbClr val="111827"/>
            </a:solidFill>
            <a:prstDash val="solid"/>
          </a:ln>
        </p:spPr>
        <p:txBody>
          <a:bodyPr/>
          <a:lstStyle/>
          <a:p>
            <a:endParaRPr lang="en-GB"/>
          </a:p>
        </p:txBody>
      </p:sp>
      <p:sp>
        <p:nvSpPr>
          <p:cNvPr id="156" name="Shape 154"/>
          <p:cNvSpPr/>
          <p:nvPr/>
        </p:nvSpPr>
        <p:spPr>
          <a:xfrm>
            <a:off x="1600200" y="2788920"/>
            <a:ext cx="1143000" cy="1097280"/>
          </a:xfrm>
          <a:prstGeom prst="roundRect">
            <a:avLst>
              <a:gd name="adj" fmla="val 3333"/>
            </a:avLst>
          </a:prstGeom>
          <a:solidFill>
            <a:srgbClr val="EAF6D6">
              <a:alpha val="62000"/>
            </a:srgbClr>
          </a:solidFill>
          <a:ln w="22860">
            <a:solidFill>
              <a:srgbClr val="84B927"/>
            </a:solidFill>
            <a:prstDash val="solid"/>
          </a:ln>
        </p:spPr>
        <p:txBody>
          <a:bodyPr/>
          <a:lstStyle/>
          <a:p>
            <a:endParaRPr lang="en-GB"/>
          </a:p>
        </p:txBody>
      </p:sp>
      <p:sp>
        <p:nvSpPr>
          <p:cNvPr id="157" name="Text 155"/>
          <p:cNvSpPr/>
          <p:nvPr/>
        </p:nvSpPr>
        <p:spPr>
          <a:xfrm>
            <a:off x="1600200" y="4005072"/>
            <a:ext cx="1143000" cy="182880"/>
          </a:xfrm>
          <a:prstGeom prst="rect">
            <a:avLst/>
          </a:prstGeom>
          <a:noFill/>
          <a:ln/>
        </p:spPr>
        <p:txBody>
          <a:bodyPr wrap="square" lIns="0" tIns="0" rIns="0" bIns="0" rtlCol="0" anchor="ctr">
            <a:normAutofit/>
          </a:bodyPr>
          <a:lstStyle/>
          <a:p>
            <a:pPr marL="0" indent="0" algn="ctr">
              <a:buNone/>
            </a:pPr>
            <a:r>
              <a:rPr lang="en-US" sz="900" dirty="0">
                <a:solidFill>
                  <a:srgbClr val="4F7F2B"/>
                </a:solidFill>
              </a:rPr>
              <a:t>position 1</a:t>
            </a:r>
            <a:endParaRPr lang="en-US" sz="900" dirty="0"/>
          </a:p>
        </p:txBody>
      </p:sp>
      <p:sp>
        <p:nvSpPr>
          <p:cNvPr id="158" name="Shape 156"/>
          <p:cNvSpPr/>
          <p:nvPr/>
        </p:nvSpPr>
        <p:spPr>
          <a:xfrm>
            <a:off x="4069080" y="2788920"/>
            <a:ext cx="1143000" cy="1097280"/>
          </a:xfrm>
          <a:prstGeom prst="roundRect">
            <a:avLst>
              <a:gd name="adj" fmla="val 3333"/>
            </a:avLst>
          </a:prstGeom>
          <a:solidFill>
            <a:srgbClr val="EAF6D6">
              <a:alpha val="62000"/>
            </a:srgbClr>
          </a:solidFill>
          <a:ln w="22860">
            <a:solidFill>
              <a:srgbClr val="84B927"/>
            </a:solidFill>
            <a:prstDash val="solid"/>
          </a:ln>
        </p:spPr>
        <p:txBody>
          <a:bodyPr/>
          <a:lstStyle/>
          <a:p>
            <a:endParaRPr lang="en-GB"/>
          </a:p>
        </p:txBody>
      </p:sp>
      <p:sp>
        <p:nvSpPr>
          <p:cNvPr id="159" name="Text 157"/>
          <p:cNvSpPr/>
          <p:nvPr/>
        </p:nvSpPr>
        <p:spPr>
          <a:xfrm>
            <a:off x="4069080" y="4005072"/>
            <a:ext cx="1143000" cy="182880"/>
          </a:xfrm>
          <a:prstGeom prst="rect">
            <a:avLst/>
          </a:prstGeom>
          <a:noFill/>
          <a:ln/>
        </p:spPr>
        <p:txBody>
          <a:bodyPr wrap="square" lIns="0" tIns="0" rIns="0" bIns="0" rtlCol="0" anchor="ctr">
            <a:normAutofit/>
          </a:bodyPr>
          <a:lstStyle/>
          <a:p>
            <a:pPr marL="0" indent="0" algn="ctr">
              <a:buNone/>
            </a:pPr>
            <a:r>
              <a:rPr lang="en-US" sz="900" dirty="0">
                <a:solidFill>
                  <a:srgbClr val="4F7F2B"/>
                </a:solidFill>
              </a:rPr>
              <a:t>position 2</a:t>
            </a:r>
            <a:endParaRPr lang="en-US" sz="900" dirty="0"/>
          </a:p>
        </p:txBody>
      </p:sp>
      <p:sp>
        <p:nvSpPr>
          <p:cNvPr id="160" name="Shape 158"/>
          <p:cNvSpPr/>
          <p:nvPr/>
        </p:nvSpPr>
        <p:spPr>
          <a:xfrm>
            <a:off x="6355080" y="2788920"/>
            <a:ext cx="1143000" cy="1097280"/>
          </a:xfrm>
          <a:prstGeom prst="roundRect">
            <a:avLst>
              <a:gd name="adj" fmla="val 3333"/>
            </a:avLst>
          </a:prstGeom>
          <a:solidFill>
            <a:srgbClr val="EAF6D6">
              <a:alpha val="62000"/>
            </a:srgbClr>
          </a:solidFill>
          <a:ln w="22860">
            <a:solidFill>
              <a:srgbClr val="84B927"/>
            </a:solidFill>
            <a:prstDash val="solid"/>
          </a:ln>
        </p:spPr>
        <p:txBody>
          <a:bodyPr/>
          <a:lstStyle/>
          <a:p>
            <a:endParaRPr lang="en-GB"/>
          </a:p>
        </p:txBody>
      </p:sp>
      <p:sp>
        <p:nvSpPr>
          <p:cNvPr id="161" name="Text 159"/>
          <p:cNvSpPr/>
          <p:nvPr/>
        </p:nvSpPr>
        <p:spPr>
          <a:xfrm>
            <a:off x="6355080" y="4005072"/>
            <a:ext cx="1143000" cy="182880"/>
          </a:xfrm>
          <a:prstGeom prst="rect">
            <a:avLst/>
          </a:prstGeom>
          <a:noFill/>
          <a:ln/>
        </p:spPr>
        <p:txBody>
          <a:bodyPr wrap="square" lIns="0" tIns="0" rIns="0" bIns="0" rtlCol="0" anchor="ctr">
            <a:normAutofit/>
          </a:bodyPr>
          <a:lstStyle/>
          <a:p>
            <a:pPr marL="0" indent="0" algn="ctr">
              <a:buNone/>
            </a:pPr>
            <a:r>
              <a:rPr lang="en-US" sz="900" dirty="0">
                <a:solidFill>
                  <a:srgbClr val="4F7F2B"/>
                </a:solidFill>
              </a:rPr>
              <a:t>position 3</a:t>
            </a:r>
            <a:endParaRPr lang="en-US" sz="900" dirty="0"/>
          </a:p>
        </p:txBody>
      </p:sp>
      <p:sp>
        <p:nvSpPr>
          <p:cNvPr id="162" name="Shape 160"/>
          <p:cNvSpPr/>
          <p:nvPr/>
        </p:nvSpPr>
        <p:spPr>
          <a:xfrm>
            <a:off x="868680" y="4846320"/>
            <a:ext cx="2743200" cy="777240"/>
          </a:xfrm>
          <a:prstGeom prst="roundRect">
            <a:avLst>
              <a:gd name="adj" fmla="val 9412"/>
            </a:avLst>
          </a:prstGeom>
          <a:solidFill>
            <a:srgbClr val="FFF7ED"/>
          </a:solidFill>
          <a:ln w="12700">
            <a:solidFill>
              <a:srgbClr val="F59E0B"/>
            </a:solidFill>
            <a:prstDash val="solid"/>
          </a:ln>
        </p:spPr>
        <p:txBody>
          <a:bodyPr/>
          <a:lstStyle/>
          <a:p>
            <a:endParaRPr lang="en-GB"/>
          </a:p>
        </p:txBody>
      </p:sp>
      <p:sp>
        <p:nvSpPr>
          <p:cNvPr id="163" name="Text 161"/>
          <p:cNvSpPr/>
          <p:nvPr/>
        </p:nvSpPr>
        <p:spPr>
          <a:xfrm>
            <a:off x="941832" y="5125212"/>
            <a:ext cx="2596896" cy="228600"/>
          </a:xfrm>
          <a:prstGeom prst="rect">
            <a:avLst/>
          </a:prstGeom>
          <a:noFill/>
          <a:ln/>
        </p:spPr>
        <p:txBody>
          <a:bodyPr wrap="square" lIns="0" tIns="0" rIns="0" bIns="0" rtlCol="0" anchor="ctr">
            <a:normAutofit fontScale="77500" lnSpcReduction="20000"/>
          </a:bodyPr>
          <a:lstStyle/>
          <a:p>
            <a:pPr marL="0" indent="0" algn="ctr">
              <a:buNone/>
            </a:pPr>
            <a:r>
              <a:rPr lang="en-US" sz="1200" b="1" dirty="0">
                <a:solidFill>
                  <a:srgbClr val="111827"/>
                </a:solidFill>
                <a:highlight>
                  <a:srgbClr val="FFFF00"/>
                </a:highlight>
              </a:rPr>
              <a:t>local motif</a:t>
            </a:r>
            <a:endParaRPr lang="en-US" sz="1200" dirty="0">
              <a:highlight>
                <a:srgbClr val="FFFF00"/>
              </a:highlight>
            </a:endParaRPr>
          </a:p>
          <a:p>
            <a:pPr marL="0" indent="0" algn="ctr">
              <a:buNone/>
            </a:pPr>
            <a:r>
              <a:rPr lang="en-US" sz="1200" b="1" dirty="0">
                <a:solidFill>
                  <a:srgbClr val="111827"/>
                </a:solidFill>
                <a:highlight>
                  <a:srgbClr val="FFFF00"/>
                </a:highlight>
              </a:rPr>
              <a:t>small rise → peak → decay</a:t>
            </a:r>
            <a:endParaRPr lang="en-US" sz="1200" dirty="0">
              <a:highlight>
                <a:srgbClr val="FFFF00"/>
              </a:highlight>
            </a:endParaRPr>
          </a:p>
        </p:txBody>
      </p:sp>
      <p:sp>
        <p:nvSpPr>
          <p:cNvPr id="164" name="Shape 162"/>
          <p:cNvSpPr/>
          <p:nvPr/>
        </p:nvSpPr>
        <p:spPr>
          <a:xfrm>
            <a:off x="3611880" y="5239512"/>
            <a:ext cx="777240" cy="0"/>
          </a:xfrm>
          <a:prstGeom prst="line">
            <a:avLst/>
          </a:prstGeom>
          <a:noFill/>
          <a:ln w="17780">
            <a:solidFill>
              <a:srgbClr val="F59E0B"/>
            </a:solidFill>
            <a:prstDash val="solid"/>
            <a:tailEnd type="triangle"/>
          </a:ln>
        </p:spPr>
        <p:txBody>
          <a:bodyPr/>
          <a:lstStyle/>
          <a:p>
            <a:endParaRPr lang="en-GB"/>
          </a:p>
        </p:txBody>
      </p:sp>
      <p:sp>
        <p:nvSpPr>
          <p:cNvPr id="165" name="Text 163"/>
          <p:cNvSpPr/>
          <p:nvPr/>
        </p:nvSpPr>
        <p:spPr>
          <a:xfrm>
            <a:off x="4297680" y="4983480"/>
            <a:ext cx="3840480" cy="274320"/>
          </a:xfrm>
          <a:prstGeom prst="rect">
            <a:avLst/>
          </a:prstGeom>
          <a:noFill/>
          <a:ln/>
        </p:spPr>
        <p:txBody>
          <a:bodyPr wrap="square" lIns="0" tIns="0" rIns="0" bIns="0" rtlCol="0" anchor="ctr">
            <a:normAutofit fontScale="92500"/>
          </a:bodyPr>
          <a:lstStyle/>
          <a:p>
            <a:pPr marL="0" indent="0" algn="ctr">
              <a:buNone/>
            </a:pPr>
            <a:r>
              <a:rPr lang="en-US" sz="1300" b="1" dirty="0">
                <a:solidFill>
                  <a:srgbClr val="111827"/>
                </a:solidFill>
              </a:rPr>
              <a:t>Goal: learn one detector and apply it everywhere.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26C1307-6471-BABF-920D-5157E97D05E7}"/>
              </a:ext>
            </a:extLst>
          </p:cNvPr>
          <p:cNvSpPr>
            <a:spLocks noGrp="1"/>
          </p:cNvSpPr>
          <p:nvPr>
            <p:ph type="title"/>
          </p:nvPr>
        </p:nvSpPr>
        <p:spPr/>
        <p:txBody>
          <a:bodyPr/>
          <a:lstStyle/>
          <a:p>
            <a:r>
              <a:rPr lang="en-GB" dirty="0"/>
              <a:t>From local region to learned activation</a:t>
            </a:r>
          </a:p>
        </p:txBody>
      </p:sp>
      <p:sp>
        <p:nvSpPr>
          <p:cNvPr id="3" name="Segnaposto contenuto 2">
            <a:extLst>
              <a:ext uri="{FF2B5EF4-FFF2-40B4-BE49-F238E27FC236}">
                <a16:creationId xmlns:a16="http://schemas.microsoft.com/office/drawing/2014/main" id="{7B9E44AE-D500-C92E-219D-FF69C95EA4A0}"/>
              </a:ext>
            </a:extLst>
          </p:cNvPr>
          <p:cNvSpPr>
            <a:spLocks noGrp="1"/>
          </p:cNvSpPr>
          <p:nvPr>
            <p:ph idx="1"/>
          </p:nvPr>
        </p:nvSpPr>
        <p:spPr/>
        <p:txBody>
          <a:bodyPr>
            <a:normAutofit/>
          </a:bodyPr>
          <a:lstStyle/>
          <a:p>
            <a:r>
              <a:rPr lang="en-GB" dirty="0">
                <a:highlight>
                  <a:srgbClr val="FFFF00"/>
                </a:highlight>
              </a:rPr>
              <a:t>Consider a local region of a signal: x[t], x[t+1], ..., x[t+K−1]</a:t>
            </a:r>
          </a:p>
          <a:p>
            <a:r>
              <a:rPr lang="en-GB" dirty="0">
                <a:highlight>
                  <a:srgbClr val="FFFF00"/>
                </a:highlight>
              </a:rPr>
              <a:t>A learned transformation is applied to this region.</a:t>
            </a:r>
          </a:p>
          <a:p>
            <a:r>
              <a:rPr lang="en-GB" dirty="0"/>
              <a:t>Conceptually:</a:t>
            </a:r>
          </a:p>
          <a:p>
            <a:r>
              <a:rPr lang="en-GB" dirty="0"/>
              <a:t>local temporal region</a:t>
            </a:r>
          </a:p>
          <a:p>
            <a:r>
              <a:rPr lang="en-GB" dirty="0"/>
              <a:t>        ↓</a:t>
            </a:r>
          </a:p>
          <a:p>
            <a:r>
              <a:rPr lang="en-GB" dirty="0"/>
              <a:t>learned filter</a:t>
            </a:r>
          </a:p>
          <a:p>
            <a:r>
              <a:rPr lang="en-GB" dirty="0"/>
              <a:t>        ↓</a:t>
            </a:r>
          </a:p>
          <a:p>
            <a:r>
              <a:rPr lang="en-GB" dirty="0"/>
              <a:t>activation</a:t>
            </a:r>
          </a:p>
          <a:p>
            <a:r>
              <a:rPr lang="en-GB" b="1" dirty="0">
                <a:highlight>
                  <a:srgbClr val="FFFF00"/>
                </a:highlight>
              </a:rPr>
              <a:t>The activation indicates how strongly the local region matches the pattern represented by the filter.</a:t>
            </a:r>
          </a:p>
          <a:p>
            <a:endParaRPr lang="en-GB" dirty="0"/>
          </a:p>
        </p:txBody>
      </p:sp>
    </p:spTree>
    <p:extLst>
      <p:ext uri="{BB962C8B-B14F-4D97-AF65-F5344CB8AC3E}">
        <p14:creationId xmlns:p14="http://schemas.microsoft.com/office/powerpoint/2010/main" val="26835592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38955-3A11-62E5-59EA-02743F3149D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0D6BBC1-0914-1D16-187E-3B20F029160A}"/>
              </a:ext>
            </a:extLst>
          </p:cNvPr>
          <p:cNvSpPr>
            <a:spLocks noGrp="1"/>
          </p:cNvSpPr>
          <p:nvPr>
            <p:ph type="title"/>
          </p:nvPr>
        </p:nvSpPr>
        <p:spPr/>
        <p:txBody>
          <a:bodyPr/>
          <a:lstStyle/>
          <a:p>
            <a:r>
              <a:rPr lang="en-GB" dirty="0"/>
              <a:t>From local region to learned activation</a:t>
            </a:r>
          </a:p>
        </p:txBody>
      </p:sp>
      <p:sp>
        <p:nvSpPr>
          <p:cNvPr id="3" name="Segnaposto contenuto 2">
            <a:extLst>
              <a:ext uri="{FF2B5EF4-FFF2-40B4-BE49-F238E27FC236}">
                <a16:creationId xmlns:a16="http://schemas.microsoft.com/office/drawing/2014/main" id="{1E6E3625-16D8-DE90-D15F-2317F53703D1}"/>
              </a:ext>
            </a:extLst>
          </p:cNvPr>
          <p:cNvSpPr>
            <a:spLocks noGrp="1"/>
          </p:cNvSpPr>
          <p:nvPr>
            <p:ph idx="1"/>
          </p:nvPr>
        </p:nvSpPr>
        <p:spPr/>
        <p:txBody>
          <a:bodyPr>
            <a:normAutofit fontScale="70000" lnSpcReduction="20000"/>
          </a:bodyPr>
          <a:lstStyle/>
          <a:p>
            <a:r>
              <a:rPr lang="en-GB" b="1" dirty="0">
                <a:highlight>
                  <a:srgbClr val="FFFF00"/>
                </a:highlight>
              </a:rPr>
              <a:t>Then the filter moves</a:t>
            </a:r>
          </a:p>
          <a:p>
            <a:pPr lvl="1"/>
            <a:r>
              <a:rPr lang="en-GB" dirty="0"/>
              <a:t>The same filter is applied to:</a:t>
            </a:r>
          </a:p>
          <a:p>
            <a:pPr lvl="1"/>
            <a:r>
              <a:rPr lang="en-GB" dirty="0"/>
              <a:t>x[t+1], ..., x[</a:t>
            </a:r>
            <a:r>
              <a:rPr lang="en-GB" dirty="0" err="1"/>
              <a:t>t+K</a:t>
            </a:r>
            <a:r>
              <a:rPr lang="en-GB" dirty="0"/>
              <a:t>]</a:t>
            </a:r>
          </a:p>
          <a:p>
            <a:pPr lvl="1"/>
            <a:r>
              <a:rPr lang="en-GB" dirty="0"/>
              <a:t>then:</a:t>
            </a:r>
          </a:p>
          <a:p>
            <a:pPr lvl="1"/>
            <a:r>
              <a:rPr lang="en-GB" dirty="0"/>
              <a:t>x[t+2], ..., x[t+K+1]</a:t>
            </a:r>
          </a:p>
          <a:p>
            <a:pPr lvl="1"/>
            <a:r>
              <a:rPr lang="en-GB" dirty="0"/>
              <a:t>and so on.</a:t>
            </a:r>
          </a:p>
          <a:p>
            <a:endParaRPr lang="en-GB" b="1" dirty="0"/>
          </a:p>
          <a:p>
            <a:endParaRPr lang="en-GB" b="1" dirty="0"/>
          </a:p>
          <a:p>
            <a:r>
              <a:rPr lang="en-GB" dirty="0">
                <a:highlight>
                  <a:srgbClr val="FFFF00"/>
                </a:highlight>
              </a:rPr>
              <a:t>The same filter parameters are reused across time.</a:t>
            </a:r>
          </a:p>
          <a:p>
            <a:r>
              <a:rPr lang="en-GB" dirty="0"/>
              <a:t>This is </a:t>
            </a:r>
            <a:r>
              <a:rPr lang="en-GB" dirty="0">
                <a:highlight>
                  <a:srgbClr val="FFFF00"/>
                </a:highlight>
              </a:rPr>
              <a:t>analogous to parameter sharing in an RNN</a:t>
            </a:r>
            <a:r>
              <a:rPr lang="en-GB" dirty="0"/>
              <a:t>, but the computation is organized differently.</a:t>
            </a:r>
          </a:p>
          <a:p>
            <a:pPr lvl="1"/>
            <a:r>
              <a:rPr lang="en-GB" b="1" dirty="0"/>
              <a:t>RNN</a:t>
            </a:r>
          </a:p>
          <a:p>
            <a:pPr lvl="1"/>
            <a:r>
              <a:rPr lang="en-GB" dirty="0"/>
              <a:t>Shared transformation across recurrent state updates (and inputs).</a:t>
            </a:r>
          </a:p>
          <a:p>
            <a:pPr lvl="1"/>
            <a:r>
              <a:rPr lang="en-GB" b="1" dirty="0"/>
              <a:t>CNN</a:t>
            </a:r>
          </a:p>
          <a:p>
            <a:pPr lvl="1"/>
            <a:r>
              <a:rPr lang="en-GB" dirty="0"/>
              <a:t>Shared local detector across (segments of) temporal positions.</a:t>
            </a:r>
          </a:p>
          <a:p>
            <a:endParaRPr lang="en-GB" dirty="0"/>
          </a:p>
        </p:txBody>
      </p:sp>
    </p:spTree>
    <p:extLst>
      <p:ext uri="{BB962C8B-B14F-4D97-AF65-F5344CB8AC3E}">
        <p14:creationId xmlns:p14="http://schemas.microsoft.com/office/powerpoint/2010/main" val="27900238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From local region to learned activation</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b="1" dirty="0">
                <a:solidFill>
                  <a:srgbClr val="475569"/>
                </a:solidFill>
              </a:rPr>
              <a:t>A temporal filter converts a short subsequence into one response value.</a:t>
            </a:r>
            <a:endParaRPr lang="en-US" sz="1150" b="1" dirty="0"/>
          </a:p>
        </p:txBody>
      </p:sp>
      <p:sp>
        <p:nvSpPr>
          <p:cNvPr id="6" name="Shape 4"/>
          <p:cNvSpPr/>
          <p:nvPr/>
        </p:nvSpPr>
        <p:spPr>
          <a:xfrm>
            <a:off x="777240" y="2011680"/>
            <a:ext cx="429768" cy="384048"/>
          </a:xfrm>
          <a:prstGeom prst="roundRect">
            <a:avLst>
              <a:gd name="adj" fmla="val 19048"/>
            </a:avLst>
          </a:prstGeom>
          <a:solidFill>
            <a:srgbClr val="F8FAFC"/>
          </a:solidFill>
          <a:ln w="12700">
            <a:solidFill>
              <a:srgbClr val="CBD5E1"/>
            </a:solidFill>
            <a:prstDash val="solid"/>
          </a:ln>
        </p:spPr>
        <p:txBody>
          <a:bodyPr/>
          <a:lstStyle/>
          <a:p>
            <a:endParaRPr lang="en-GB"/>
          </a:p>
        </p:txBody>
      </p:sp>
      <p:sp>
        <p:nvSpPr>
          <p:cNvPr id="7" name="Text 5"/>
          <p:cNvSpPr/>
          <p:nvPr/>
        </p:nvSpPr>
        <p:spPr>
          <a:xfrm>
            <a:off x="850392" y="2093976"/>
            <a:ext cx="283464" cy="228600"/>
          </a:xfrm>
          <a:prstGeom prst="rect">
            <a:avLst/>
          </a:prstGeom>
          <a:noFill/>
          <a:ln/>
        </p:spPr>
        <p:txBody>
          <a:bodyPr wrap="square" lIns="0" tIns="0" rIns="0" bIns="0" rtlCol="0" anchor="ctr">
            <a:normAutofit/>
          </a:bodyPr>
          <a:lstStyle/>
          <a:p>
            <a:pPr marL="0" indent="0" algn="ctr">
              <a:buNone/>
            </a:pPr>
            <a:r>
              <a:rPr lang="en-US" sz="800" dirty="0">
                <a:solidFill>
                  <a:srgbClr val="111827"/>
                </a:solidFill>
              </a:rPr>
              <a:t>x[t+0]</a:t>
            </a:r>
            <a:endParaRPr lang="en-US" sz="800" dirty="0"/>
          </a:p>
        </p:txBody>
      </p:sp>
      <p:sp>
        <p:nvSpPr>
          <p:cNvPr id="8" name="Shape 6"/>
          <p:cNvSpPr/>
          <p:nvPr/>
        </p:nvSpPr>
        <p:spPr>
          <a:xfrm>
            <a:off x="1280160" y="2011680"/>
            <a:ext cx="429768" cy="384048"/>
          </a:xfrm>
          <a:prstGeom prst="roundRect">
            <a:avLst>
              <a:gd name="adj" fmla="val 19048"/>
            </a:avLst>
          </a:prstGeom>
          <a:solidFill>
            <a:srgbClr val="F8FAFC"/>
          </a:solidFill>
          <a:ln w="12700">
            <a:solidFill>
              <a:srgbClr val="CBD5E1"/>
            </a:solidFill>
            <a:prstDash val="solid"/>
          </a:ln>
        </p:spPr>
        <p:txBody>
          <a:bodyPr/>
          <a:lstStyle/>
          <a:p>
            <a:endParaRPr lang="en-GB"/>
          </a:p>
        </p:txBody>
      </p:sp>
      <p:sp>
        <p:nvSpPr>
          <p:cNvPr id="9" name="Text 7"/>
          <p:cNvSpPr/>
          <p:nvPr/>
        </p:nvSpPr>
        <p:spPr>
          <a:xfrm>
            <a:off x="1353312" y="2093976"/>
            <a:ext cx="283464" cy="228600"/>
          </a:xfrm>
          <a:prstGeom prst="rect">
            <a:avLst/>
          </a:prstGeom>
          <a:noFill/>
          <a:ln/>
        </p:spPr>
        <p:txBody>
          <a:bodyPr wrap="square" lIns="0" tIns="0" rIns="0" bIns="0" rtlCol="0" anchor="ctr">
            <a:normAutofit/>
          </a:bodyPr>
          <a:lstStyle/>
          <a:p>
            <a:pPr marL="0" indent="0" algn="ctr">
              <a:buNone/>
            </a:pPr>
            <a:r>
              <a:rPr lang="en-US" sz="800" dirty="0">
                <a:solidFill>
                  <a:srgbClr val="111827"/>
                </a:solidFill>
              </a:rPr>
              <a:t>x[t+1]</a:t>
            </a:r>
            <a:endParaRPr lang="en-US" sz="800" dirty="0"/>
          </a:p>
        </p:txBody>
      </p:sp>
      <p:sp>
        <p:nvSpPr>
          <p:cNvPr id="10" name="Shape 8"/>
          <p:cNvSpPr/>
          <p:nvPr/>
        </p:nvSpPr>
        <p:spPr>
          <a:xfrm>
            <a:off x="1783080" y="2011680"/>
            <a:ext cx="429768" cy="384048"/>
          </a:xfrm>
          <a:prstGeom prst="roundRect">
            <a:avLst>
              <a:gd name="adj" fmla="val 19048"/>
            </a:avLst>
          </a:prstGeom>
          <a:solidFill>
            <a:srgbClr val="F8FAFC"/>
          </a:solidFill>
          <a:ln w="12700">
            <a:solidFill>
              <a:srgbClr val="CBD5E1"/>
            </a:solidFill>
            <a:prstDash val="solid"/>
          </a:ln>
        </p:spPr>
        <p:txBody>
          <a:bodyPr/>
          <a:lstStyle/>
          <a:p>
            <a:endParaRPr lang="en-GB"/>
          </a:p>
        </p:txBody>
      </p:sp>
      <p:sp>
        <p:nvSpPr>
          <p:cNvPr id="11" name="Text 9"/>
          <p:cNvSpPr/>
          <p:nvPr/>
        </p:nvSpPr>
        <p:spPr>
          <a:xfrm>
            <a:off x="1856232" y="2093976"/>
            <a:ext cx="283464" cy="228600"/>
          </a:xfrm>
          <a:prstGeom prst="rect">
            <a:avLst/>
          </a:prstGeom>
          <a:noFill/>
          <a:ln/>
        </p:spPr>
        <p:txBody>
          <a:bodyPr wrap="square" lIns="0" tIns="0" rIns="0" bIns="0" rtlCol="0" anchor="ctr">
            <a:normAutofit/>
          </a:bodyPr>
          <a:lstStyle/>
          <a:p>
            <a:pPr marL="0" indent="0" algn="ctr">
              <a:buNone/>
            </a:pPr>
            <a:r>
              <a:rPr lang="en-US" sz="800" dirty="0">
                <a:solidFill>
                  <a:srgbClr val="111827"/>
                </a:solidFill>
              </a:rPr>
              <a:t>x[t+2]</a:t>
            </a:r>
            <a:endParaRPr lang="en-US" sz="800" dirty="0"/>
          </a:p>
        </p:txBody>
      </p:sp>
      <p:sp>
        <p:nvSpPr>
          <p:cNvPr id="12" name="Shape 10"/>
          <p:cNvSpPr/>
          <p:nvPr/>
        </p:nvSpPr>
        <p:spPr>
          <a:xfrm>
            <a:off x="2286000" y="2011680"/>
            <a:ext cx="429768" cy="384048"/>
          </a:xfrm>
          <a:prstGeom prst="roundRect">
            <a:avLst>
              <a:gd name="adj" fmla="val 19048"/>
            </a:avLst>
          </a:prstGeom>
          <a:solidFill>
            <a:srgbClr val="F8FAFC"/>
          </a:solidFill>
          <a:ln w="12700">
            <a:solidFill>
              <a:srgbClr val="CBD5E1"/>
            </a:solidFill>
            <a:prstDash val="solid"/>
          </a:ln>
        </p:spPr>
        <p:txBody>
          <a:bodyPr/>
          <a:lstStyle/>
          <a:p>
            <a:endParaRPr lang="en-GB"/>
          </a:p>
        </p:txBody>
      </p:sp>
      <p:sp>
        <p:nvSpPr>
          <p:cNvPr id="13" name="Text 11"/>
          <p:cNvSpPr/>
          <p:nvPr/>
        </p:nvSpPr>
        <p:spPr>
          <a:xfrm>
            <a:off x="2359152" y="2093976"/>
            <a:ext cx="283464" cy="228600"/>
          </a:xfrm>
          <a:prstGeom prst="rect">
            <a:avLst/>
          </a:prstGeom>
          <a:noFill/>
          <a:ln/>
        </p:spPr>
        <p:txBody>
          <a:bodyPr wrap="square" lIns="0" tIns="0" rIns="0" bIns="0" rtlCol="0" anchor="ctr">
            <a:normAutofit/>
          </a:bodyPr>
          <a:lstStyle/>
          <a:p>
            <a:pPr marL="0" indent="0" algn="ctr">
              <a:buNone/>
            </a:pPr>
            <a:r>
              <a:rPr lang="en-US" sz="800" dirty="0">
                <a:solidFill>
                  <a:srgbClr val="111827"/>
                </a:solidFill>
              </a:rPr>
              <a:t>x[t+3]</a:t>
            </a:r>
            <a:endParaRPr lang="en-US" sz="800" dirty="0"/>
          </a:p>
        </p:txBody>
      </p:sp>
      <p:sp>
        <p:nvSpPr>
          <p:cNvPr id="14" name="Shape 12"/>
          <p:cNvSpPr/>
          <p:nvPr/>
        </p:nvSpPr>
        <p:spPr>
          <a:xfrm>
            <a:off x="2788920" y="2011680"/>
            <a:ext cx="429768" cy="384048"/>
          </a:xfrm>
          <a:prstGeom prst="roundRect">
            <a:avLst>
              <a:gd name="adj" fmla="val 19048"/>
            </a:avLst>
          </a:prstGeom>
          <a:solidFill>
            <a:srgbClr val="F8FAFC"/>
          </a:solidFill>
          <a:ln w="12700">
            <a:solidFill>
              <a:srgbClr val="CBD5E1"/>
            </a:solidFill>
            <a:prstDash val="solid"/>
          </a:ln>
        </p:spPr>
        <p:txBody>
          <a:bodyPr/>
          <a:lstStyle/>
          <a:p>
            <a:endParaRPr lang="en-GB"/>
          </a:p>
        </p:txBody>
      </p:sp>
      <p:sp>
        <p:nvSpPr>
          <p:cNvPr id="15" name="Text 13"/>
          <p:cNvSpPr/>
          <p:nvPr/>
        </p:nvSpPr>
        <p:spPr>
          <a:xfrm>
            <a:off x="2862072" y="2093976"/>
            <a:ext cx="283464" cy="228600"/>
          </a:xfrm>
          <a:prstGeom prst="rect">
            <a:avLst/>
          </a:prstGeom>
          <a:noFill/>
          <a:ln/>
        </p:spPr>
        <p:txBody>
          <a:bodyPr wrap="square" lIns="0" tIns="0" rIns="0" bIns="0" rtlCol="0" anchor="ctr">
            <a:normAutofit/>
          </a:bodyPr>
          <a:lstStyle/>
          <a:p>
            <a:pPr marL="0" indent="0" algn="ctr">
              <a:buNone/>
            </a:pPr>
            <a:r>
              <a:rPr lang="en-US" sz="800" dirty="0">
                <a:solidFill>
                  <a:srgbClr val="111827"/>
                </a:solidFill>
              </a:rPr>
              <a:t>x[t+4]</a:t>
            </a:r>
            <a:endParaRPr lang="en-US" sz="800" dirty="0"/>
          </a:p>
        </p:txBody>
      </p:sp>
      <p:sp>
        <p:nvSpPr>
          <p:cNvPr id="16" name="Shape 14"/>
          <p:cNvSpPr/>
          <p:nvPr/>
        </p:nvSpPr>
        <p:spPr>
          <a:xfrm>
            <a:off x="3291840" y="2011680"/>
            <a:ext cx="429768" cy="384048"/>
          </a:xfrm>
          <a:prstGeom prst="roundRect">
            <a:avLst>
              <a:gd name="adj" fmla="val 19048"/>
            </a:avLst>
          </a:prstGeom>
          <a:solidFill>
            <a:srgbClr val="F8FAFC"/>
          </a:solidFill>
          <a:ln w="12700">
            <a:solidFill>
              <a:srgbClr val="CBD5E1"/>
            </a:solidFill>
            <a:prstDash val="solid"/>
          </a:ln>
        </p:spPr>
        <p:txBody>
          <a:bodyPr/>
          <a:lstStyle/>
          <a:p>
            <a:endParaRPr lang="en-GB"/>
          </a:p>
        </p:txBody>
      </p:sp>
      <p:sp>
        <p:nvSpPr>
          <p:cNvPr id="17" name="Text 15"/>
          <p:cNvSpPr/>
          <p:nvPr/>
        </p:nvSpPr>
        <p:spPr>
          <a:xfrm>
            <a:off x="3364992" y="2093976"/>
            <a:ext cx="283464" cy="228600"/>
          </a:xfrm>
          <a:prstGeom prst="rect">
            <a:avLst/>
          </a:prstGeom>
          <a:noFill/>
          <a:ln/>
        </p:spPr>
        <p:txBody>
          <a:bodyPr wrap="square" lIns="0" tIns="0" rIns="0" bIns="0" rtlCol="0" anchor="ctr">
            <a:normAutofit/>
          </a:bodyPr>
          <a:lstStyle/>
          <a:p>
            <a:pPr marL="0" indent="0" algn="ctr">
              <a:buNone/>
            </a:pPr>
            <a:r>
              <a:rPr lang="en-US" sz="800" dirty="0">
                <a:solidFill>
                  <a:srgbClr val="111827"/>
                </a:solidFill>
              </a:rPr>
              <a:t>x[t+5]</a:t>
            </a:r>
            <a:endParaRPr lang="en-US" sz="800" dirty="0"/>
          </a:p>
        </p:txBody>
      </p:sp>
      <p:sp>
        <p:nvSpPr>
          <p:cNvPr id="18" name="Shape 16"/>
          <p:cNvSpPr/>
          <p:nvPr/>
        </p:nvSpPr>
        <p:spPr>
          <a:xfrm>
            <a:off x="3872484" y="2072070"/>
            <a:ext cx="429768" cy="384048"/>
          </a:xfrm>
          <a:prstGeom prst="roundRect">
            <a:avLst>
              <a:gd name="adj" fmla="val 19048"/>
            </a:avLst>
          </a:prstGeom>
          <a:solidFill>
            <a:srgbClr val="F8FAFC"/>
          </a:solidFill>
          <a:ln w="12700">
            <a:solidFill>
              <a:srgbClr val="CBD5E1"/>
            </a:solidFill>
            <a:prstDash val="solid"/>
          </a:ln>
        </p:spPr>
        <p:txBody>
          <a:bodyPr/>
          <a:lstStyle/>
          <a:p>
            <a:endParaRPr lang="en-GB"/>
          </a:p>
        </p:txBody>
      </p:sp>
      <p:sp>
        <p:nvSpPr>
          <p:cNvPr id="19" name="Text 17"/>
          <p:cNvSpPr/>
          <p:nvPr/>
        </p:nvSpPr>
        <p:spPr>
          <a:xfrm>
            <a:off x="3945636" y="2154366"/>
            <a:ext cx="283464" cy="228600"/>
          </a:xfrm>
          <a:prstGeom prst="rect">
            <a:avLst/>
          </a:prstGeom>
          <a:noFill/>
          <a:ln/>
        </p:spPr>
        <p:txBody>
          <a:bodyPr wrap="square" lIns="0" tIns="0" rIns="0" bIns="0" rtlCol="0" anchor="ctr">
            <a:normAutofit/>
          </a:bodyPr>
          <a:lstStyle/>
          <a:p>
            <a:pPr marL="0" indent="0" algn="ctr">
              <a:buNone/>
            </a:pPr>
            <a:r>
              <a:rPr lang="en-US" sz="800" dirty="0">
                <a:solidFill>
                  <a:srgbClr val="111827"/>
                </a:solidFill>
              </a:rPr>
              <a:t>x[t+6]</a:t>
            </a:r>
            <a:endParaRPr lang="en-US" sz="800" dirty="0"/>
          </a:p>
        </p:txBody>
      </p:sp>
      <p:sp>
        <p:nvSpPr>
          <p:cNvPr id="20" name="Shape 18"/>
          <p:cNvSpPr/>
          <p:nvPr/>
        </p:nvSpPr>
        <p:spPr>
          <a:xfrm>
            <a:off x="1216152" y="1874520"/>
            <a:ext cx="1508760" cy="658368"/>
          </a:xfrm>
          <a:prstGeom prst="roundRect">
            <a:avLst>
              <a:gd name="adj" fmla="val 6944"/>
            </a:avLst>
          </a:prstGeom>
          <a:solidFill>
            <a:srgbClr val="EAF6D6">
              <a:alpha val="70000"/>
            </a:srgbClr>
          </a:solidFill>
          <a:ln w="25400">
            <a:solidFill>
              <a:srgbClr val="84B927"/>
            </a:solidFill>
            <a:prstDash val="solid"/>
          </a:ln>
        </p:spPr>
        <p:txBody>
          <a:bodyPr/>
          <a:lstStyle/>
          <a:p>
            <a:endParaRPr lang="en-GB"/>
          </a:p>
        </p:txBody>
      </p:sp>
      <p:sp>
        <p:nvSpPr>
          <p:cNvPr id="21" name="Text 19"/>
          <p:cNvSpPr/>
          <p:nvPr/>
        </p:nvSpPr>
        <p:spPr>
          <a:xfrm>
            <a:off x="1353312" y="1508760"/>
            <a:ext cx="1234440" cy="274320"/>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4F7F2B"/>
                </a:solidFill>
              </a:rPr>
              <a:t>local region</a:t>
            </a:r>
            <a:endParaRPr lang="en-US" sz="1100" dirty="0"/>
          </a:p>
          <a:p>
            <a:pPr marL="0" indent="0" algn="ctr">
              <a:buNone/>
            </a:pPr>
            <a:r>
              <a:rPr lang="en-US" sz="1100" b="1" dirty="0">
                <a:solidFill>
                  <a:srgbClr val="4F7F2B"/>
                </a:solidFill>
              </a:rPr>
              <a:t>K = 3</a:t>
            </a:r>
            <a:endParaRPr lang="en-US" sz="1100" dirty="0"/>
          </a:p>
        </p:txBody>
      </p:sp>
      <p:sp>
        <p:nvSpPr>
          <p:cNvPr id="22" name="Shape 20"/>
          <p:cNvSpPr/>
          <p:nvPr/>
        </p:nvSpPr>
        <p:spPr>
          <a:xfrm>
            <a:off x="3017520" y="2203704"/>
            <a:ext cx="685800" cy="0"/>
          </a:xfrm>
          <a:prstGeom prst="line">
            <a:avLst/>
          </a:prstGeom>
          <a:noFill/>
          <a:ln w="20320">
            <a:solidFill>
              <a:srgbClr val="475569"/>
            </a:solidFill>
            <a:prstDash val="solid"/>
            <a:tailEnd type="triangle"/>
          </a:ln>
        </p:spPr>
        <p:txBody>
          <a:bodyPr/>
          <a:lstStyle/>
          <a:p>
            <a:endParaRPr lang="en-GB"/>
          </a:p>
        </p:txBody>
      </p:sp>
      <p:sp>
        <p:nvSpPr>
          <p:cNvPr id="23" name="Shape 21"/>
          <p:cNvSpPr/>
          <p:nvPr/>
        </p:nvSpPr>
        <p:spPr>
          <a:xfrm>
            <a:off x="3826764" y="1843470"/>
            <a:ext cx="1143000" cy="822960"/>
          </a:xfrm>
          <a:prstGeom prst="roundRect">
            <a:avLst>
              <a:gd name="adj" fmla="val 8889"/>
            </a:avLst>
          </a:prstGeom>
          <a:solidFill>
            <a:srgbClr val="EEF2FF"/>
          </a:solidFill>
          <a:ln w="12700">
            <a:solidFill>
              <a:srgbClr val="2563EB"/>
            </a:solidFill>
            <a:prstDash val="solid"/>
          </a:ln>
        </p:spPr>
        <p:txBody>
          <a:bodyPr/>
          <a:lstStyle/>
          <a:p>
            <a:endParaRPr lang="en-GB"/>
          </a:p>
        </p:txBody>
      </p:sp>
      <p:sp>
        <p:nvSpPr>
          <p:cNvPr id="24" name="Text 22"/>
          <p:cNvSpPr/>
          <p:nvPr/>
        </p:nvSpPr>
        <p:spPr>
          <a:xfrm>
            <a:off x="3899916" y="2145222"/>
            <a:ext cx="996696" cy="228600"/>
          </a:xfrm>
          <a:prstGeom prst="rect">
            <a:avLst/>
          </a:prstGeom>
          <a:noFill/>
          <a:ln/>
        </p:spPr>
        <p:txBody>
          <a:bodyPr wrap="square" lIns="0" tIns="0" rIns="0" bIns="0" rtlCol="0" anchor="ctr">
            <a:normAutofit fontScale="62500" lnSpcReduction="20000"/>
          </a:bodyPr>
          <a:lstStyle/>
          <a:p>
            <a:pPr marL="0" indent="0" algn="ctr">
              <a:buNone/>
            </a:pPr>
            <a:r>
              <a:rPr lang="en-US" sz="1400" b="1" dirty="0">
                <a:solidFill>
                  <a:srgbClr val="111827"/>
                </a:solidFill>
              </a:rPr>
              <a:t>learned</a:t>
            </a:r>
            <a:endParaRPr lang="en-US" sz="1400" dirty="0"/>
          </a:p>
          <a:p>
            <a:pPr marL="0" indent="0" algn="ctr">
              <a:buNone/>
            </a:pPr>
            <a:r>
              <a:rPr lang="en-US" sz="1400" b="1" dirty="0">
                <a:solidFill>
                  <a:srgbClr val="111827"/>
                </a:solidFill>
              </a:rPr>
              <a:t>filter</a:t>
            </a:r>
            <a:endParaRPr lang="en-US" sz="1400" dirty="0"/>
          </a:p>
        </p:txBody>
      </p:sp>
      <p:sp>
        <p:nvSpPr>
          <p:cNvPr id="25" name="Shape 23"/>
          <p:cNvSpPr/>
          <p:nvPr/>
        </p:nvSpPr>
        <p:spPr>
          <a:xfrm>
            <a:off x="5152644" y="2264094"/>
            <a:ext cx="685800" cy="0"/>
          </a:xfrm>
          <a:prstGeom prst="line">
            <a:avLst/>
          </a:prstGeom>
          <a:noFill/>
          <a:ln w="20320">
            <a:solidFill>
              <a:srgbClr val="475569"/>
            </a:solidFill>
            <a:prstDash val="solid"/>
            <a:tailEnd type="triangle"/>
          </a:ln>
        </p:spPr>
        <p:txBody>
          <a:bodyPr/>
          <a:lstStyle/>
          <a:p>
            <a:endParaRPr lang="en-GB"/>
          </a:p>
        </p:txBody>
      </p:sp>
      <p:sp>
        <p:nvSpPr>
          <p:cNvPr id="26" name="Shape 24"/>
          <p:cNvSpPr/>
          <p:nvPr/>
        </p:nvSpPr>
        <p:spPr>
          <a:xfrm>
            <a:off x="5911596" y="1907478"/>
            <a:ext cx="1234440" cy="685800"/>
          </a:xfrm>
          <a:prstGeom prst="roundRect">
            <a:avLst>
              <a:gd name="adj" fmla="val 10667"/>
            </a:avLst>
          </a:prstGeom>
          <a:solidFill>
            <a:srgbClr val="FFF7ED"/>
          </a:solidFill>
          <a:ln w="12700">
            <a:solidFill>
              <a:srgbClr val="F59E0B"/>
            </a:solidFill>
            <a:prstDash val="solid"/>
          </a:ln>
        </p:spPr>
        <p:txBody>
          <a:bodyPr/>
          <a:lstStyle/>
          <a:p>
            <a:endParaRPr lang="en-GB"/>
          </a:p>
        </p:txBody>
      </p:sp>
      <p:sp>
        <p:nvSpPr>
          <p:cNvPr id="27" name="Text 25"/>
          <p:cNvSpPr/>
          <p:nvPr/>
        </p:nvSpPr>
        <p:spPr>
          <a:xfrm>
            <a:off x="5984748" y="2140650"/>
            <a:ext cx="1088136" cy="228600"/>
          </a:xfrm>
          <a:prstGeom prst="rect">
            <a:avLst/>
          </a:prstGeom>
          <a:noFill/>
          <a:ln/>
        </p:spPr>
        <p:txBody>
          <a:bodyPr wrap="square" lIns="0" tIns="0" rIns="0" bIns="0" rtlCol="0" anchor="ctr">
            <a:normAutofit fontScale="62500" lnSpcReduction="20000"/>
          </a:bodyPr>
          <a:lstStyle/>
          <a:p>
            <a:pPr marL="0" indent="0" algn="ctr">
              <a:buNone/>
            </a:pPr>
            <a:r>
              <a:rPr lang="en-US" sz="1500" b="1" dirty="0">
                <a:solidFill>
                  <a:srgbClr val="111827"/>
                </a:solidFill>
              </a:rPr>
              <a:t>activation</a:t>
            </a:r>
            <a:endParaRPr lang="en-US" sz="1500" dirty="0"/>
          </a:p>
          <a:p>
            <a:pPr marL="0" indent="0" algn="ctr">
              <a:buNone/>
            </a:pPr>
            <a:r>
              <a:rPr lang="en-US" sz="1500" b="1" dirty="0">
                <a:solidFill>
                  <a:srgbClr val="111827"/>
                </a:solidFill>
              </a:rPr>
              <a:t>2.8</a:t>
            </a:r>
            <a:endParaRPr lang="en-US" sz="1500" dirty="0"/>
          </a:p>
        </p:txBody>
      </p:sp>
      <p:sp>
        <p:nvSpPr>
          <p:cNvPr id="28" name="Text 26"/>
          <p:cNvSpPr/>
          <p:nvPr/>
        </p:nvSpPr>
        <p:spPr>
          <a:xfrm>
            <a:off x="777240" y="3703320"/>
            <a:ext cx="6309360" cy="320040"/>
          </a:xfrm>
          <a:prstGeom prst="rect">
            <a:avLst/>
          </a:prstGeom>
          <a:noFill/>
          <a:ln/>
        </p:spPr>
        <p:txBody>
          <a:bodyPr wrap="square" lIns="0" tIns="0" rIns="0" bIns="0" rtlCol="0" anchor="ctr">
            <a:normAutofit/>
          </a:bodyPr>
          <a:lstStyle/>
          <a:p>
            <a:pPr marL="0" indent="0" algn="l">
              <a:buNone/>
            </a:pPr>
            <a:r>
              <a:rPr lang="en-US" sz="1400" b="1" dirty="0">
                <a:solidFill>
                  <a:srgbClr val="111827"/>
                </a:solidFill>
              </a:rPr>
              <a:t>The same filter then moves to the next local region.</a:t>
            </a:r>
            <a:endParaRPr lang="en-US" sz="1400" dirty="0"/>
          </a:p>
        </p:txBody>
      </p:sp>
      <p:sp>
        <p:nvSpPr>
          <p:cNvPr id="29" name="Shape 27"/>
          <p:cNvSpPr/>
          <p:nvPr/>
        </p:nvSpPr>
        <p:spPr>
          <a:xfrm>
            <a:off x="909828" y="4384548"/>
            <a:ext cx="100584" cy="100584"/>
          </a:xfrm>
          <a:prstGeom prst="ellipse">
            <a:avLst/>
          </a:prstGeom>
          <a:solidFill>
            <a:srgbClr val="475569"/>
          </a:solidFill>
          <a:ln w="12700">
            <a:solidFill>
              <a:srgbClr val="475569"/>
            </a:solidFill>
            <a:prstDash val="solid"/>
          </a:ln>
        </p:spPr>
        <p:txBody>
          <a:bodyPr/>
          <a:lstStyle/>
          <a:p>
            <a:endParaRPr lang="en-GB"/>
          </a:p>
        </p:txBody>
      </p:sp>
      <p:sp>
        <p:nvSpPr>
          <p:cNvPr id="30" name="Shape 28"/>
          <p:cNvSpPr/>
          <p:nvPr/>
        </p:nvSpPr>
        <p:spPr>
          <a:xfrm>
            <a:off x="1239012" y="4384548"/>
            <a:ext cx="100584" cy="100584"/>
          </a:xfrm>
          <a:prstGeom prst="ellipse">
            <a:avLst/>
          </a:prstGeom>
          <a:solidFill>
            <a:srgbClr val="475569"/>
          </a:solidFill>
          <a:ln w="12700">
            <a:solidFill>
              <a:srgbClr val="475569"/>
            </a:solidFill>
            <a:prstDash val="solid"/>
          </a:ln>
        </p:spPr>
        <p:txBody>
          <a:bodyPr/>
          <a:lstStyle/>
          <a:p>
            <a:endParaRPr lang="en-GB"/>
          </a:p>
        </p:txBody>
      </p:sp>
      <p:sp>
        <p:nvSpPr>
          <p:cNvPr id="31" name="Shape 29"/>
          <p:cNvSpPr/>
          <p:nvPr/>
        </p:nvSpPr>
        <p:spPr>
          <a:xfrm>
            <a:off x="1568196" y="4384548"/>
            <a:ext cx="100584" cy="100584"/>
          </a:xfrm>
          <a:prstGeom prst="ellipse">
            <a:avLst/>
          </a:prstGeom>
          <a:solidFill>
            <a:srgbClr val="475569"/>
          </a:solidFill>
          <a:ln w="12700">
            <a:solidFill>
              <a:srgbClr val="475569"/>
            </a:solidFill>
            <a:prstDash val="solid"/>
          </a:ln>
        </p:spPr>
        <p:txBody>
          <a:bodyPr/>
          <a:lstStyle/>
          <a:p>
            <a:endParaRPr lang="en-GB"/>
          </a:p>
        </p:txBody>
      </p:sp>
      <p:sp>
        <p:nvSpPr>
          <p:cNvPr id="32" name="Shape 30"/>
          <p:cNvSpPr/>
          <p:nvPr/>
        </p:nvSpPr>
        <p:spPr>
          <a:xfrm>
            <a:off x="1897380" y="4384548"/>
            <a:ext cx="100584" cy="100584"/>
          </a:xfrm>
          <a:prstGeom prst="ellipse">
            <a:avLst/>
          </a:prstGeom>
          <a:solidFill>
            <a:srgbClr val="475569"/>
          </a:solidFill>
          <a:ln w="12700">
            <a:solidFill>
              <a:srgbClr val="475569"/>
            </a:solidFill>
            <a:prstDash val="solid"/>
          </a:ln>
        </p:spPr>
        <p:txBody>
          <a:bodyPr/>
          <a:lstStyle/>
          <a:p>
            <a:endParaRPr lang="en-GB"/>
          </a:p>
        </p:txBody>
      </p:sp>
      <p:sp>
        <p:nvSpPr>
          <p:cNvPr id="33" name="Shape 31"/>
          <p:cNvSpPr/>
          <p:nvPr/>
        </p:nvSpPr>
        <p:spPr>
          <a:xfrm>
            <a:off x="2226564" y="4384548"/>
            <a:ext cx="100584" cy="100584"/>
          </a:xfrm>
          <a:prstGeom prst="ellipse">
            <a:avLst/>
          </a:prstGeom>
          <a:solidFill>
            <a:srgbClr val="475569"/>
          </a:solidFill>
          <a:ln w="12700">
            <a:solidFill>
              <a:srgbClr val="475569"/>
            </a:solidFill>
            <a:prstDash val="solid"/>
          </a:ln>
        </p:spPr>
        <p:txBody>
          <a:bodyPr/>
          <a:lstStyle/>
          <a:p>
            <a:endParaRPr lang="en-GB"/>
          </a:p>
        </p:txBody>
      </p:sp>
      <p:sp>
        <p:nvSpPr>
          <p:cNvPr id="34" name="Shape 32"/>
          <p:cNvSpPr/>
          <p:nvPr/>
        </p:nvSpPr>
        <p:spPr>
          <a:xfrm>
            <a:off x="2555748" y="4384548"/>
            <a:ext cx="100584" cy="100584"/>
          </a:xfrm>
          <a:prstGeom prst="ellipse">
            <a:avLst/>
          </a:prstGeom>
          <a:solidFill>
            <a:srgbClr val="475569"/>
          </a:solidFill>
          <a:ln w="12700">
            <a:solidFill>
              <a:srgbClr val="475569"/>
            </a:solidFill>
            <a:prstDash val="solid"/>
          </a:ln>
        </p:spPr>
        <p:txBody>
          <a:bodyPr/>
          <a:lstStyle/>
          <a:p>
            <a:endParaRPr lang="en-GB"/>
          </a:p>
        </p:txBody>
      </p:sp>
      <p:sp>
        <p:nvSpPr>
          <p:cNvPr id="35" name="Shape 33"/>
          <p:cNvSpPr/>
          <p:nvPr/>
        </p:nvSpPr>
        <p:spPr>
          <a:xfrm>
            <a:off x="2884932" y="4384548"/>
            <a:ext cx="100584" cy="100584"/>
          </a:xfrm>
          <a:prstGeom prst="ellipse">
            <a:avLst/>
          </a:prstGeom>
          <a:solidFill>
            <a:srgbClr val="475569"/>
          </a:solidFill>
          <a:ln w="12700">
            <a:solidFill>
              <a:srgbClr val="475569"/>
            </a:solidFill>
            <a:prstDash val="solid"/>
          </a:ln>
        </p:spPr>
        <p:txBody>
          <a:bodyPr/>
          <a:lstStyle/>
          <a:p>
            <a:endParaRPr lang="en-GB"/>
          </a:p>
        </p:txBody>
      </p:sp>
      <p:sp>
        <p:nvSpPr>
          <p:cNvPr id="36" name="Shape 34"/>
          <p:cNvSpPr/>
          <p:nvPr/>
        </p:nvSpPr>
        <p:spPr>
          <a:xfrm>
            <a:off x="914400" y="4297680"/>
            <a:ext cx="932688" cy="274320"/>
          </a:xfrm>
          <a:prstGeom prst="roundRect">
            <a:avLst>
              <a:gd name="adj" fmla="val 10000"/>
            </a:avLst>
          </a:prstGeom>
          <a:solidFill>
            <a:srgbClr val="EAF6D6">
              <a:alpha val="55000"/>
            </a:srgbClr>
          </a:solidFill>
          <a:ln w="15240">
            <a:solidFill>
              <a:srgbClr val="84B927"/>
            </a:solidFill>
            <a:prstDash val="solid"/>
          </a:ln>
        </p:spPr>
        <p:txBody>
          <a:bodyPr/>
          <a:lstStyle/>
          <a:p>
            <a:endParaRPr lang="en-GB"/>
          </a:p>
        </p:txBody>
      </p:sp>
      <p:sp>
        <p:nvSpPr>
          <p:cNvPr id="37" name="Shape 35"/>
          <p:cNvSpPr/>
          <p:nvPr/>
        </p:nvSpPr>
        <p:spPr>
          <a:xfrm>
            <a:off x="909828" y="4786884"/>
            <a:ext cx="100584" cy="100584"/>
          </a:xfrm>
          <a:prstGeom prst="ellipse">
            <a:avLst/>
          </a:prstGeom>
          <a:solidFill>
            <a:srgbClr val="475569"/>
          </a:solidFill>
          <a:ln w="12700">
            <a:solidFill>
              <a:srgbClr val="475569"/>
            </a:solidFill>
            <a:prstDash val="solid"/>
          </a:ln>
        </p:spPr>
        <p:txBody>
          <a:bodyPr/>
          <a:lstStyle/>
          <a:p>
            <a:endParaRPr lang="en-GB"/>
          </a:p>
        </p:txBody>
      </p:sp>
      <p:sp>
        <p:nvSpPr>
          <p:cNvPr id="38" name="Shape 36"/>
          <p:cNvSpPr/>
          <p:nvPr/>
        </p:nvSpPr>
        <p:spPr>
          <a:xfrm>
            <a:off x="1239012" y="4786884"/>
            <a:ext cx="100584" cy="100584"/>
          </a:xfrm>
          <a:prstGeom prst="ellipse">
            <a:avLst/>
          </a:prstGeom>
          <a:solidFill>
            <a:srgbClr val="475569"/>
          </a:solidFill>
          <a:ln w="12700">
            <a:solidFill>
              <a:srgbClr val="475569"/>
            </a:solidFill>
            <a:prstDash val="solid"/>
          </a:ln>
        </p:spPr>
        <p:txBody>
          <a:bodyPr/>
          <a:lstStyle/>
          <a:p>
            <a:endParaRPr lang="en-GB"/>
          </a:p>
        </p:txBody>
      </p:sp>
      <p:sp>
        <p:nvSpPr>
          <p:cNvPr id="39" name="Shape 37"/>
          <p:cNvSpPr/>
          <p:nvPr/>
        </p:nvSpPr>
        <p:spPr>
          <a:xfrm>
            <a:off x="1568196" y="4786884"/>
            <a:ext cx="100584" cy="100584"/>
          </a:xfrm>
          <a:prstGeom prst="ellipse">
            <a:avLst/>
          </a:prstGeom>
          <a:solidFill>
            <a:srgbClr val="475569"/>
          </a:solidFill>
          <a:ln w="12700">
            <a:solidFill>
              <a:srgbClr val="475569"/>
            </a:solidFill>
            <a:prstDash val="solid"/>
          </a:ln>
        </p:spPr>
        <p:txBody>
          <a:bodyPr/>
          <a:lstStyle/>
          <a:p>
            <a:endParaRPr lang="en-GB"/>
          </a:p>
        </p:txBody>
      </p:sp>
      <p:sp>
        <p:nvSpPr>
          <p:cNvPr id="40" name="Shape 38"/>
          <p:cNvSpPr/>
          <p:nvPr/>
        </p:nvSpPr>
        <p:spPr>
          <a:xfrm>
            <a:off x="1897380" y="4786884"/>
            <a:ext cx="100584" cy="100584"/>
          </a:xfrm>
          <a:prstGeom prst="ellipse">
            <a:avLst/>
          </a:prstGeom>
          <a:solidFill>
            <a:srgbClr val="475569"/>
          </a:solidFill>
          <a:ln w="12700">
            <a:solidFill>
              <a:srgbClr val="475569"/>
            </a:solidFill>
            <a:prstDash val="solid"/>
          </a:ln>
        </p:spPr>
        <p:txBody>
          <a:bodyPr/>
          <a:lstStyle/>
          <a:p>
            <a:endParaRPr lang="en-GB"/>
          </a:p>
        </p:txBody>
      </p:sp>
      <p:sp>
        <p:nvSpPr>
          <p:cNvPr id="41" name="Shape 39"/>
          <p:cNvSpPr/>
          <p:nvPr/>
        </p:nvSpPr>
        <p:spPr>
          <a:xfrm>
            <a:off x="2226564" y="4786884"/>
            <a:ext cx="100584" cy="100584"/>
          </a:xfrm>
          <a:prstGeom prst="ellipse">
            <a:avLst/>
          </a:prstGeom>
          <a:solidFill>
            <a:srgbClr val="475569"/>
          </a:solidFill>
          <a:ln w="12700">
            <a:solidFill>
              <a:srgbClr val="475569"/>
            </a:solidFill>
            <a:prstDash val="solid"/>
          </a:ln>
        </p:spPr>
        <p:txBody>
          <a:bodyPr/>
          <a:lstStyle/>
          <a:p>
            <a:endParaRPr lang="en-GB"/>
          </a:p>
        </p:txBody>
      </p:sp>
      <p:sp>
        <p:nvSpPr>
          <p:cNvPr id="42" name="Shape 40"/>
          <p:cNvSpPr/>
          <p:nvPr/>
        </p:nvSpPr>
        <p:spPr>
          <a:xfrm>
            <a:off x="2555748" y="4786884"/>
            <a:ext cx="100584" cy="100584"/>
          </a:xfrm>
          <a:prstGeom prst="ellipse">
            <a:avLst/>
          </a:prstGeom>
          <a:solidFill>
            <a:srgbClr val="475569"/>
          </a:solidFill>
          <a:ln w="12700">
            <a:solidFill>
              <a:srgbClr val="475569"/>
            </a:solidFill>
            <a:prstDash val="solid"/>
          </a:ln>
        </p:spPr>
        <p:txBody>
          <a:bodyPr/>
          <a:lstStyle/>
          <a:p>
            <a:endParaRPr lang="en-GB"/>
          </a:p>
        </p:txBody>
      </p:sp>
      <p:sp>
        <p:nvSpPr>
          <p:cNvPr id="43" name="Shape 41"/>
          <p:cNvSpPr/>
          <p:nvPr/>
        </p:nvSpPr>
        <p:spPr>
          <a:xfrm>
            <a:off x="2884932" y="4786884"/>
            <a:ext cx="100584" cy="100584"/>
          </a:xfrm>
          <a:prstGeom prst="ellipse">
            <a:avLst/>
          </a:prstGeom>
          <a:solidFill>
            <a:srgbClr val="475569"/>
          </a:solidFill>
          <a:ln w="12700">
            <a:solidFill>
              <a:srgbClr val="475569"/>
            </a:solidFill>
            <a:prstDash val="solid"/>
          </a:ln>
        </p:spPr>
        <p:txBody>
          <a:bodyPr/>
          <a:lstStyle/>
          <a:p>
            <a:endParaRPr lang="en-GB"/>
          </a:p>
        </p:txBody>
      </p:sp>
      <p:sp>
        <p:nvSpPr>
          <p:cNvPr id="44" name="Shape 42"/>
          <p:cNvSpPr/>
          <p:nvPr/>
        </p:nvSpPr>
        <p:spPr>
          <a:xfrm>
            <a:off x="1243584" y="4700016"/>
            <a:ext cx="932688" cy="274320"/>
          </a:xfrm>
          <a:prstGeom prst="roundRect">
            <a:avLst>
              <a:gd name="adj" fmla="val 10000"/>
            </a:avLst>
          </a:prstGeom>
          <a:solidFill>
            <a:srgbClr val="EAF6D6">
              <a:alpha val="55000"/>
            </a:srgbClr>
          </a:solidFill>
          <a:ln w="15240">
            <a:solidFill>
              <a:srgbClr val="84B927"/>
            </a:solidFill>
            <a:prstDash val="solid"/>
          </a:ln>
        </p:spPr>
        <p:txBody>
          <a:bodyPr/>
          <a:lstStyle/>
          <a:p>
            <a:endParaRPr lang="en-GB"/>
          </a:p>
        </p:txBody>
      </p:sp>
      <p:sp>
        <p:nvSpPr>
          <p:cNvPr id="45" name="Shape 43"/>
          <p:cNvSpPr/>
          <p:nvPr/>
        </p:nvSpPr>
        <p:spPr>
          <a:xfrm>
            <a:off x="909828" y="5189220"/>
            <a:ext cx="100584" cy="100584"/>
          </a:xfrm>
          <a:prstGeom prst="ellipse">
            <a:avLst/>
          </a:prstGeom>
          <a:solidFill>
            <a:srgbClr val="475569"/>
          </a:solidFill>
          <a:ln w="12700">
            <a:solidFill>
              <a:srgbClr val="475569"/>
            </a:solidFill>
            <a:prstDash val="solid"/>
          </a:ln>
        </p:spPr>
        <p:txBody>
          <a:bodyPr/>
          <a:lstStyle/>
          <a:p>
            <a:endParaRPr lang="en-GB"/>
          </a:p>
        </p:txBody>
      </p:sp>
      <p:sp>
        <p:nvSpPr>
          <p:cNvPr id="46" name="Shape 44"/>
          <p:cNvSpPr/>
          <p:nvPr/>
        </p:nvSpPr>
        <p:spPr>
          <a:xfrm>
            <a:off x="1239012" y="5189220"/>
            <a:ext cx="100584" cy="100584"/>
          </a:xfrm>
          <a:prstGeom prst="ellipse">
            <a:avLst/>
          </a:prstGeom>
          <a:solidFill>
            <a:srgbClr val="475569"/>
          </a:solidFill>
          <a:ln w="12700">
            <a:solidFill>
              <a:srgbClr val="475569"/>
            </a:solidFill>
            <a:prstDash val="solid"/>
          </a:ln>
        </p:spPr>
        <p:txBody>
          <a:bodyPr/>
          <a:lstStyle/>
          <a:p>
            <a:endParaRPr lang="en-GB"/>
          </a:p>
        </p:txBody>
      </p:sp>
      <p:sp>
        <p:nvSpPr>
          <p:cNvPr id="47" name="Shape 45"/>
          <p:cNvSpPr/>
          <p:nvPr/>
        </p:nvSpPr>
        <p:spPr>
          <a:xfrm>
            <a:off x="1568196" y="5189220"/>
            <a:ext cx="100584" cy="100584"/>
          </a:xfrm>
          <a:prstGeom prst="ellipse">
            <a:avLst/>
          </a:prstGeom>
          <a:solidFill>
            <a:srgbClr val="475569"/>
          </a:solidFill>
          <a:ln w="12700">
            <a:solidFill>
              <a:srgbClr val="475569"/>
            </a:solidFill>
            <a:prstDash val="solid"/>
          </a:ln>
        </p:spPr>
        <p:txBody>
          <a:bodyPr/>
          <a:lstStyle/>
          <a:p>
            <a:endParaRPr lang="en-GB"/>
          </a:p>
        </p:txBody>
      </p:sp>
      <p:sp>
        <p:nvSpPr>
          <p:cNvPr id="48" name="Shape 46"/>
          <p:cNvSpPr/>
          <p:nvPr/>
        </p:nvSpPr>
        <p:spPr>
          <a:xfrm>
            <a:off x="1897380" y="5189220"/>
            <a:ext cx="100584" cy="100584"/>
          </a:xfrm>
          <a:prstGeom prst="ellipse">
            <a:avLst/>
          </a:prstGeom>
          <a:solidFill>
            <a:srgbClr val="475569"/>
          </a:solidFill>
          <a:ln w="12700">
            <a:solidFill>
              <a:srgbClr val="475569"/>
            </a:solidFill>
            <a:prstDash val="solid"/>
          </a:ln>
        </p:spPr>
        <p:txBody>
          <a:bodyPr/>
          <a:lstStyle/>
          <a:p>
            <a:endParaRPr lang="en-GB"/>
          </a:p>
        </p:txBody>
      </p:sp>
      <p:sp>
        <p:nvSpPr>
          <p:cNvPr id="49" name="Shape 47"/>
          <p:cNvSpPr/>
          <p:nvPr/>
        </p:nvSpPr>
        <p:spPr>
          <a:xfrm>
            <a:off x="2226564" y="5189220"/>
            <a:ext cx="100584" cy="100584"/>
          </a:xfrm>
          <a:prstGeom prst="ellipse">
            <a:avLst/>
          </a:prstGeom>
          <a:solidFill>
            <a:srgbClr val="475569"/>
          </a:solidFill>
          <a:ln w="12700">
            <a:solidFill>
              <a:srgbClr val="475569"/>
            </a:solidFill>
            <a:prstDash val="solid"/>
          </a:ln>
        </p:spPr>
        <p:txBody>
          <a:bodyPr/>
          <a:lstStyle/>
          <a:p>
            <a:endParaRPr lang="en-GB"/>
          </a:p>
        </p:txBody>
      </p:sp>
      <p:sp>
        <p:nvSpPr>
          <p:cNvPr id="50" name="Shape 48"/>
          <p:cNvSpPr/>
          <p:nvPr/>
        </p:nvSpPr>
        <p:spPr>
          <a:xfrm>
            <a:off x="2555748" y="5189220"/>
            <a:ext cx="100584" cy="100584"/>
          </a:xfrm>
          <a:prstGeom prst="ellipse">
            <a:avLst/>
          </a:prstGeom>
          <a:solidFill>
            <a:srgbClr val="475569"/>
          </a:solidFill>
          <a:ln w="12700">
            <a:solidFill>
              <a:srgbClr val="475569"/>
            </a:solidFill>
            <a:prstDash val="solid"/>
          </a:ln>
        </p:spPr>
        <p:txBody>
          <a:bodyPr/>
          <a:lstStyle/>
          <a:p>
            <a:endParaRPr lang="en-GB"/>
          </a:p>
        </p:txBody>
      </p:sp>
      <p:sp>
        <p:nvSpPr>
          <p:cNvPr id="51" name="Shape 49"/>
          <p:cNvSpPr/>
          <p:nvPr/>
        </p:nvSpPr>
        <p:spPr>
          <a:xfrm>
            <a:off x="2884932" y="5189220"/>
            <a:ext cx="100584" cy="100584"/>
          </a:xfrm>
          <a:prstGeom prst="ellipse">
            <a:avLst/>
          </a:prstGeom>
          <a:solidFill>
            <a:srgbClr val="475569"/>
          </a:solidFill>
          <a:ln w="12700">
            <a:solidFill>
              <a:srgbClr val="475569"/>
            </a:solidFill>
            <a:prstDash val="solid"/>
          </a:ln>
        </p:spPr>
        <p:txBody>
          <a:bodyPr/>
          <a:lstStyle/>
          <a:p>
            <a:endParaRPr lang="en-GB"/>
          </a:p>
        </p:txBody>
      </p:sp>
      <p:sp>
        <p:nvSpPr>
          <p:cNvPr id="52" name="Shape 50"/>
          <p:cNvSpPr/>
          <p:nvPr/>
        </p:nvSpPr>
        <p:spPr>
          <a:xfrm>
            <a:off x="1572768" y="5102352"/>
            <a:ext cx="932688" cy="274320"/>
          </a:xfrm>
          <a:prstGeom prst="roundRect">
            <a:avLst>
              <a:gd name="adj" fmla="val 10000"/>
            </a:avLst>
          </a:prstGeom>
          <a:solidFill>
            <a:srgbClr val="EAF6D6">
              <a:alpha val="55000"/>
            </a:srgbClr>
          </a:solidFill>
          <a:ln w="15240">
            <a:solidFill>
              <a:srgbClr val="84B927"/>
            </a:solidFill>
            <a:prstDash val="solid"/>
          </a:ln>
        </p:spPr>
        <p:txBody>
          <a:bodyPr/>
          <a:lstStyle/>
          <a:p>
            <a:endParaRPr lang="en-GB"/>
          </a:p>
        </p:txBody>
      </p:sp>
      <p:sp>
        <p:nvSpPr>
          <p:cNvPr id="53" name="Shape 51"/>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54" name="Text 52"/>
          <p:cNvSpPr/>
          <p:nvPr/>
        </p:nvSpPr>
        <p:spPr>
          <a:xfrm>
            <a:off x="621792" y="6336792"/>
            <a:ext cx="9555480" cy="164592"/>
          </a:xfrm>
          <a:prstGeom prst="rect">
            <a:avLst/>
          </a:prstGeom>
          <a:noFill/>
          <a:ln/>
        </p:spPr>
        <p:txBody>
          <a:bodyPr wrap="square" lIns="0" tIns="0" rIns="0" bIns="0" rtlCol="0" anchor="ctr"/>
          <a:lstStyle/>
          <a:p>
            <a:pPr marL="0" indent="0">
              <a:buNone/>
            </a:pPr>
            <a:r>
              <a:rPr lang="en-US" sz="1100" b="1" dirty="0">
                <a:solidFill>
                  <a:srgbClr val="111827"/>
                </a:solidFill>
                <a:highlight>
                  <a:srgbClr val="FFFF00"/>
                </a:highlight>
              </a:rPr>
              <a:t>The activation is high when the local region matches the learned pattern represented by the filter.</a:t>
            </a:r>
            <a:endParaRPr lang="en-US" sz="1100" b="1" dirty="0">
              <a:highlight>
                <a:srgbClr val="FFFF00"/>
              </a:high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7ACC3DA-0219-BFC6-0AA5-7029103DD8C3}"/>
              </a:ext>
            </a:extLst>
          </p:cNvPr>
          <p:cNvSpPr>
            <a:spLocks noGrp="1"/>
          </p:cNvSpPr>
          <p:nvPr>
            <p:ph type="title"/>
          </p:nvPr>
        </p:nvSpPr>
        <p:spPr/>
        <p:txBody>
          <a:bodyPr/>
          <a:lstStyle/>
          <a:p>
            <a:r>
              <a:rPr lang="en-GB" dirty="0"/>
              <a:t>Temporal convolution produces a feature map</a:t>
            </a:r>
          </a:p>
        </p:txBody>
      </p:sp>
      <p:sp>
        <p:nvSpPr>
          <p:cNvPr id="3" name="Segnaposto contenuto 2">
            <a:extLst>
              <a:ext uri="{FF2B5EF4-FFF2-40B4-BE49-F238E27FC236}">
                <a16:creationId xmlns:a16="http://schemas.microsoft.com/office/drawing/2014/main" id="{631DEF20-B204-97B0-CD1F-EDC48FDC12A4}"/>
              </a:ext>
            </a:extLst>
          </p:cNvPr>
          <p:cNvSpPr>
            <a:spLocks noGrp="1"/>
          </p:cNvSpPr>
          <p:nvPr>
            <p:ph idx="1"/>
          </p:nvPr>
        </p:nvSpPr>
        <p:spPr/>
        <p:txBody>
          <a:bodyPr>
            <a:normAutofit fontScale="85000" lnSpcReduction="20000"/>
          </a:bodyPr>
          <a:lstStyle/>
          <a:p>
            <a:r>
              <a:rPr lang="en-GB" dirty="0"/>
              <a:t>Suppose a filter is applied across the full input sequence.</a:t>
            </a:r>
          </a:p>
          <a:p>
            <a:r>
              <a:rPr lang="en-GB" dirty="0"/>
              <a:t>At every valid temporal position it produces one activation.</a:t>
            </a:r>
          </a:p>
          <a:p>
            <a:r>
              <a:rPr lang="en-GB" dirty="0">
                <a:highlight>
                  <a:srgbClr val="FFFF00"/>
                </a:highlight>
              </a:rPr>
              <a:t>The resulting sequence of activations is called a </a:t>
            </a:r>
            <a:r>
              <a:rPr lang="en-GB" b="1" dirty="0">
                <a:highlight>
                  <a:srgbClr val="FFFF00"/>
                </a:highlight>
              </a:rPr>
              <a:t>feature map</a:t>
            </a:r>
            <a:r>
              <a:rPr lang="en-GB" dirty="0">
                <a:highlight>
                  <a:srgbClr val="FFFF00"/>
                </a:highlight>
              </a:rPr>
              <a:t>.</a:t>
            </a:r>
          </a:p>
          <a:p>
            <a:r>
              <a:rPr lang="en-GB" dirty="0">
                <a:highlight>
                  <a:srgbClr val="FFFF00"/>
                </a:highlight>
              </a:rPr>
              <a:t>Large activations indicate locations where the learned pattern is strongly present.</a:t>
            </a:r>
          </a:p>
          <a:p>
            <a:endParaRPr lang="en-GB" b="1" dirty="0"/>
          </a:p>
          <a:p>
            <a:r>
              <a:rPr lang="en-GB" b="1" dirty="0">
                <a:highlight>
                  <a:srgbClr val="FFFF00"/>
                </a:highlight>
              </a:rPr>
              <a:t>Example</a:t>
            </a:r>
          </a:p>
          <a:p>
            <a:r>
              <a:rPr lang="en-GB" dirty="0"/>
              <a:t>A filter may become sensitive to:</a:t>
            </a:r>
          </a:p>
          <a:p>
            <a:pPr lvl="0"/>
            <a:r>
              <a:rPr lang="en-GB" dirty="0"/>
              <a:t>a sharp vibration peak followed by a decrease. </a:t>
            </a:r>
          </a:p>
          <a:p>
            <a:r>
              <a:rPr lang="en-GB" dirty="0"/>
              <a:t>Then the corresponding feature map will contain high values near occurrences of that pattern.</a:t>
            </a:r>
          </a:p>
          <a:p>
            <a:endParaRPr lang="en-GB" b="1" dirty="0"/>
          </a:p>
          <a:p>
            <a:r>
              <a:rPr lang="en-GB" dirty="0">
                <a:highlight>
                  <a:srgbClr val="FFFF00"/>
                </a:highlight>
              </a:rPr>
              <a:t>The model does not require us to specify the filter pattern manually.</a:t>
            </a:r>
          </a:p>
          <a:p>
            <a:r>
              <a:rPr lang="en-GB" dirty="0">
                <a:highlight>
                  <a:srgbClr val="FFFF00"/>
                </a:highlight>
              </a:rPr>
              <a:t>The filter weights are learned from the training objective.</a:t>
            </a:r>
          </a:p>
          <a:p>
            <a:endParaRPr lang="en-GB" dirty="0"/>
          </a:p>
        </p:txBody>
      </p:sp>
    </p:spTree>
    <p:extLst>
      <p:ext uri="{BB962C8B-B14F-4D97-AF65-F5344CB8AC3E}">
        <p14:creationId xmlns:p14="http://schemas.microsoft.com/office/powerpoint/2010/main" val="9285431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highlight>
                  <a:srgbClr val="FFFF00"/>
                </a:highlight>
                <a:latin typeface="Aptos Display" pitchFamily="34" charset="0"/>
                <a:ea typeface="Aptos Display" pitchFamily="34" charset="-122"/>
                <a:cs typeface="Aptos Display" pitchFamily="34" charset="-120"/>
              </a:rPr>
              <a:t>A filter produces a temporal feature map</a:t>
            </a:r>
            <a:endParaRPr lang="en-US" sz="2600" dirty="0">
              <a:highlight>
                <a:srgbClr val="FFFF00"/>
              </a:highlight>
            </a:endParaRPr>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dirty="0">
                <a:solidFill>
                  <a:srgbClr val="475569"/>
                </a:solidFill>
                <a:highlight>
                  <a:srgbClr val="FFFF00"/>
                </a:highlight>
              </a:rPr>
              <a:t>High values indicate positions where the learned pattern is present.</a:t>
            </a:r>
            <a:endParaRPr lang="en-US" sz="1150" dirty="0">
              <a:highlight>
                <a:srgbClr val="FFFF00"/>
              </a:highlight>
            </a:endParaRPr>
          </a:p>
        </p:txBody>
      </p:sp>
      <p:sp>
        <p:nvSpPr>
          <p:cNvPr id="6" name="Shape 4"/>
          <p:cNvSpPr/>
          <p:nvPr/>
        </p:nvSpPr>
        <p:spPr>
          <a:xfrm>
            <a:off x="731520" y="2194560"/>
            <a:ext cx="53943" cy="18417"/>
          </a:xfrm>
          <a:prstGeom prst="line">
            <a:avLst/>
          </a:prstGeom>
          <a:noFill/>
          <a:ln w="21590">
            <a:solidFill>
              <a:srgbClr val="111827"/>
            </a:solidFill>
            <a:prstDash val="solid"/>
          </a:ln>
        </p:spPr>
        <p:txBody>
          <a:bodyPr/>
          <a:lstStyle/>
          <a:p>
            <a:endParaRPr lang="en-GB"/>
          </a:p>
        </p:txBody>
      </p:sp>
      <p:sp>
        <p:nvSpPr>
          <p:cNvPr id="7" name="Shape 5"/>
          <p:cNvSpPr/>
          <p:nvPr/>
        </p:nvSpPr>
        <p:spPr>
          <a:xfrm>
            <a:off x="785463" y="2212977"/>
            <a:ext cx="53943" cy="17816"/>
          </a:xfrm>
          <a:prstGeom prst="line">
            <a:avLst/>
          </a:prstGeom>
          <a:noFill/>
          <a:ln w="21590">
            <a:solidFill>
              <a:srgbClr val="111827"/>
            </a:solidFill>
            <a:prstDash val="solid"/>
          </a:ln>
        </p:spPr>
        <p:txBody>
          <a:bodyPr/>
          <a:lstStyle/>
          <a:p>
            <a:endParaRPr lang="en-GB"/>
          </a:p>
        </p:txBody>
      </p:sp>
      <p:sp>
        <p:nvSpPr>
          <p:cNvPr id="8" name="Shape 6"/>
          <p:cNvSpPr/>
          <p:nvPr/>
        </p:nvSpPr>
        <p:spPr>
          <a:xfrm>
            <a:off x="839406" y="2230793"/>
            <a:ext cx="53943" cy="16635"/>
          </a:xfrm>
          <a:prstGeom prst="line">
            <a:avLst/>
          </a:prstGeom>
          <a:noFill/>
          <a:ln w="21590">
            <a:solidFill>
              <a:srgbClr val="111827"/>
            </a:solidFill>
            <a:prstDash val="solid"/>
          </a:ln>
        </p:spPr>
        <p:txBody>
          <a:bodyPr/>
          <a:lstStyle/>
          <a:p>
            <a:endParaRPr lang="en-GB"/>
          </a:p>
        </p:txBody>
      </p:sp>
      <p:sp>
        <p:nvSpPr>
          <p:cNvPr id="9" name="Shape 7"/>
          <p:cNvSpPr/>
          <p:nvPr/>
        </p:nvSpPr>
        <p:spPr>
          <a:xfrm>
            <a:off x="893349" y="2247428"/>
            <a:ext cx="53943" cy="14911"/>
          </a:xfrm>
          <a:prstGeom prst="line">
            <a:avLst/>
          </a:prstGeom>
          <a:noFill/>
          <a:ln w="21590">
            <a:solidFill>
              <a:srgbClr val="111827"/>
            </a:solidFill>
            <a:prstDash val="solid"/>
          </a:ln>
        </p:spPr>
        <p:txBody>
          <a:bodyPr/>
          <a:lstStyle/>
          <a:p>
            <a:endParaRPr lang="en-GB"/>
          </a:p>
        </p:txBody>
      </p:sp>
      <p:sp>
        <p:nvSpPr>
          <p:cNvPr id="10" name="Shape 8"/>
          <p:cNvSpPr/>
          <p:nvPr/>
        </p:nvSpPr>
        <p:spPr>
          <a:xfrm>
            <a:off x="947292" y="2262339"/>
            <a:ext cx="53943" cy="12701"/>
          </a:xfrm>
          <a:prstGeom prst="line">
            <a:avLst/>
          </a:prstGeom>
          <a:noFill/>
          <a:ln w="21590">
            <a:solidFill>
              <a:srgbClr val="111827"/>
            </a:solidFill>
            <a:prstDash val="solid"/>
          </a:ln>
        </p:spPr>
        <p:txBody>
          <a:bodyPr/>
          <a:lstStyle/>
          <a:p>
            <a:endParaRPr lang="en-GB"/>
          </a:p>
        </p:txBody>
      </p:sp>
      <p:sp>
        <p:nvSpPr>
          <p:cNvPr id="11" name="Shape 9"/>
          <p:cNvSpPr/>
          <p:nvPr/>
        </p:nvSpPr>
        <p:spPr>
          <a:xfrm>
            <a:off x="1001235" y="2275040"/>
            <a:ext cx="53943" cy="10077"/>
          </a:xfrm>
          <a:prstGeom prst="line">
            <a:avLst/>
          </a:prstGeom>
          <a:noFill/>
          <a:ln w="21590">
            <a:solidFill>
              <a:srgbClr val="111827"/>
            </a:solidFill>
            <a:prstDash val="solid"/>
          </a:ln>
        </p:spPr>
        <p:txBody>
          <a:bodyPr/>
          <a:lstStyle/>
          <a:p>
            <a:endParaRPr lang="en-GB"/>
          </a:p>
        </p:txBody>
      </p:sp>
      <p:sp>
        <p:nvSpPr>
          <p:cNvPr id="12" name="Shape 10"/>
          <p:cNvSpPr/>
          <p:nvPr/>
        </p:nvSpPr>
        <p:spPr>
          <a:xfrm>
            <a:off x="1055178" y="2285118"/>
            <a:ext cx="53943" cy="7125"/>
          </a:xfrm>
          <a:prstGeom prst="line">
            <a:avLst/>
          </a:prstGeom>
          <a:noFill/>
          <a:ln w="21590">
            <a:solidFill>
              <a:srgbClr val="111827"/>
            </a:solidFill>
            <a:prstDash val="solid"/>
          </a:ln>
        </p:spPr>
        <p:txBody>
          <a:bodyPr/>
          <a:lstStyle/>
          <a:p>
            <a:endParaRPr lang="en-GB"/>
          </a:p>
        </p:txBody>
      </p:sp>
      <p:sp>
        <p:nvSpPr>
          <p:cNvPr id="13" name="Shape 11"/>
          <p:cNvSpPr/>
          <p:nvPr/>
        </p:nvSpPr>
        <p:spPr>
          <a:xfrm>
            <a:off x="1109121" y="2292242"/>
            <a:ext cx="53943" cy="3940"/>
          </a:xfrm>
          <a:prstGeom prst="line">
            <a:avLst/>
          </a:prstGeom>
          <a:noFill/>
          <a:ln w="21590">
            <a:solidFill>
              <a:srgbClr val="111827"/>
            </a:solidFill>
            <a:prstDash val="solid"/>
          </a:ln>
        </p:spPr>
        <p:txBody>
          <a:bodyPr/>
          <a:lstStyle/>
          <a:p>
            <a:endParaRPr lang="en-GB"/>
          </a:p>
        </p:txBody>
      </p:sp>
      <p:sp>
        <p:nvSpPr>
          <p:cNvPr id="14" name="Shape 12"/>
          <p:cNvSpPr/>
          <p:nvPr/>
        </p:nvSpPr>
        <p:spPr>
          <a:xfrm>
            <a:off x="1163064" y="2296183"/>
            <a:ext cx="53943" cy="627"/>
          </a:xfrm>
          <a:prstGeom prst="line">
            <a:avLst/>
          </a:prstGeom>
          <a:noFill/>
          <a:ln w="21590">
            <a:solidFill>
              <a:srgbClr val="111827"/>
            </a:solidFill>
            <a:prstDash val="solid"/>
          </a:ln>
        </p:spPr>
        <p:txBody>
          <a:bodyPr/>
          <a:lstStyle/>
          <a:p>
            <a:endParaRPr lang="en-GB"/>
          </a:p>
        </p:txBody>
      </p:sp>
      <p:sp>
        <p:nvSpPr>
          <p:cNvPr id="15" name="Shape 13"/>
          <p:cNvSpPr/>
          <p:nvPr/>
        </p:nvSpPr>
        <p:spPr>
          <a:xfrm>
            <a:off x="1217007" y="2296809"/>
            <a:ext cx="53943" cy="0"/>
          </a:xfrm>
          <a:prstGeom prst="line">
            <a:avLst/>
          </a:prstGeom>
          <a:noFill/>
          <a:ln w="21590">
            <a:solidFill>
              <a:srgbClr val="111827"/>
            </a:solidFill>
            <a:prstDash val="solid"/>
          </a:ln>
        </p:spPr>
        <p:txBody>
          <a:bodyPr/>
          <a:lstStyle/>
          <a:p>
            <a:endParaRPr lang="en-GB"/>
          </a:p>
        </p:txBody>
      </p:sp>
      <p:sp>
        <p:nvSpPr>
          <p:cNvPr id="16" name="Shape 14"/>
          <p:cNvSpPr/>
          <p:nvPr/>
        </p:nvSpPr>
        <p:spPr>
          <a:xfrm>
            <a:off x="1270950" y="2294102"/>
            <a:ext cx="53943" cy="0"/>
          </a:xfrm>
          <a:prstGeom prst="line">
            <a:avLst/>
          </a:prstGeom>
          <a:noFill/>
          <a:ln w="21590">
            <a:solidFill>
              <a:srgbClr val="111827"/>
            </a:solidFill>
            <a:prstDash val="solid"/>
          </a:ln>
        </p:spPr>
        <p:txBody>
          <a:bodyPr/>
          <a:lstStyle/>
          <a:p>
            <a:endParaRPr lang="en-GB"/>
          </a:p>
        </p:txBody>
      </p:sp>
      <p:sp>
        <p:nvSpPr>
          <p:cNvPr id="17" name="Shape 15"/>
          <p:cNvSpPr/>
          <p:nvPr/>
        </p:nvSpPr>
        <p:spPr>
          <a:xfrm>
            <a:off x="1324893" y="2288150"/>
            <a:ext cx="53943" cy="0"/>
          </a:xfrm>
          <a:prstGeom prst="line">
            <a:avLst/>
          </a:prstGeom>
          <a:noFill/>
          <a:ln w="21590">
            <a:solidFill>
              <a:srgbClr val="111827"/>
            </a:solidFill>
            <a:prstDash val="solid"/>
          </a:ln>
        </p:spPr>
        <p:txBody>
          <a:bodyPr/>
          <a:lstStyle/>
          <a:p>
            <a:endParaRPr lang="en-GB"/>
          </a:p>
        </p:txBody>
      </p:sp>
      <p:sp>
        <p:nvSpPr>
          <p:cNvPr id="18" name="Shape 16"/>
          <p:cNvSpPr/>
          <p:nvPr/>
        </p:nvSpPr>
        <p:spPr>
          <a:xfrm>
            <a:off x="1378836" y="2279146"/>
            <a:ext cx="53943" cy="0"/>
          </a:xfrm>
          <a:prstGeom prst="line">
            <a:avLst/>
          </a:prstGeom>
          <a:noFill/>
          <a:ln w="21590">
            <a:solidFill>
              <a:srgbClr val="111827"/>
            </a:solidFill>
            <a:prstDash val="solid"/>
          </a:ln>
        </p:spPr>
        <p:txBody>
          <a:bodyPr/>
          <a:lstStyle/>
          <a:p>
            <a:endParaRPr lang="en-GB"/>
          </a:p>
        </p:txBody>
      </p:sp>
      <p:sp>
        <p:nvSpPr>
          <p:cNvPr id="19" name="Shape 17"/>
          <p:cNvSpPr/>
          <p:nvPr/>
        </p:nvSpPr>
        <p:spPr>
          <a:xfrm>
            <a:off x="1432779" y="2267385"/>
            <a:ext cx="53943" cy="0"/>
          </a:xfrm>
          <a:prstGeom prst="line">
            <a:avLst/>
          </a:prstGeom>
          <a:noFill/>
          <a:ln w="21590">
            <a:solidFill>
              <a:srgbClr val="111827"/>
            </a:solidFill>
            <a:prstDash val="solid"/>
          </a:ln>
        </p:spPr>
        <p:txBody>
          <a:bodyPr/>
          <a:lstStyle/>
          <a:p>
            <a:endParaRPr lang="en-GB"/>
          </a:p>
        </p:txBody>
      </p:sp>
      <p:sp>
        <p:nvSpPr>
          <p:cNvPr id="20" name="Shape 18"/>
          <p:cNvSpPr/>
          <p:nvPr/>
        </p:nvSpPr>
        <p:spPr>
          <a:xfrm>
            <a:off x="1486722" y="2253249"/>
            <a:ext cx="53943" cy="0"/>
          </a:xfrm>
          <a:prstGeom prst="line">
            <a:avLst/>
          </a:prstGeom>
          <a:noFill/>
          <a:ln w="21590">
            <a:solidFill>
              <a:srgbClr val="111827"/>
            </a:solidFill>
            <a:prstDash val="solid"/>
          </a:ln>
        </p:spPr>
        <p:txBody>
          <a:bodyPr/>
          <a:lstStyle/>
          <a:p>
            <a:endParaRPr lang="en-GB"/>
          </a:p>
        </p:txBody>
      </p:sp>
      <p:sp>
        <p:nvSpPr>
          <p:cNvPr id="21" name="Shape 19"/>
          <p:cNvSpPr/>
          <p:nvPr/>
        </p:nvSpPr>
        <p:spPr>
          <a:xfrm>
            <a:off x="1540665" y="2237199"/>
            <a:ext cx="53943" cy="0"/>
          </a:xfrm>
          <a:prstGeom prst="line">
            <a:avLst/>
          </a:prstGeom>
          <a:noFill/>
          <a:ln w="21590">
            <a:solidFill>
              <a:srgbClr val="111827"/>
            </a:solidFill>
            <a:prstDash val="solid"/>
          </a:ln>
        </p:spPr>
        <p:txBody>
          <a:bodyPr/>
          <a:lstStyle/>
          <a:p>
            <a:endParaRPr lang="en-GB"/>
          </a:p>
        </p:txBody>
      </p:sp>
      <p:sp>
        <p:nvSpPr>
          <p:cNvPr id="22" name="Shape 20"/>
          <p:cNvSpPr/>
          <p:nvPr/>
        </p:nvSpPr>
        <p:spPr>
          <a:xfrm>
            <a:off x="1594608" y="2219760"/>
            <a:ext cx="53943" cy="0"/>
          </a:xfrm>
          <a:prstGeom prst="line">
            <a:avLst/>
          </a:prstGeom>
          <a:noFill/>
          <a:ln w="21590">
            <a:solidFill>
              <a:srgbClr val="111827"/>
            </a:solidFill>
            <a:prstDash val="solid"/>
          </a:ln>
        </p:spPr>
        <p:txBody>
          <a:bodyPr/>
          <a:lstStyle/>
          <a:p>
            <a:endParaRPr lang="en-GB"/>
          </a:p>
        </p:txBody>
      </p:sp>
      <p:sp>
        <p:nvSpPr>
          <p:cNvPr id="23" name="Shape 21"/>
          <p:cNvSpPr/>
          <p:nvPr/>
        </p:nvSpPr>
        <p:spPr>
          <a:xfrm>
            <a:off x="1648551" y="2201499"/>
            <a:ext cx="53943" cy="0"/>
          </a:xfrm>
          <a:prstGeom prst="line">
            <a:avLst/>
          </a:prstGeom>
          <a:noFill/>
          <a:ln w="21590">
            <a:solidFill>
              <a:srgbClr val="111827"/>
            </a:solidFill>
            <a:prstDash val="solid"/>
          </a:ln>
        </p:spPr>
        <p:txBody>
          <a:bodyPr/>
          <a:lstStyle/>
          <a:p>
            <a:endParaRPr lang="en-GB"/>
          </a:p>
        </p:txBody>
      </p:sp>
      <p:sp>
        <p:nvSpPr>
          <p:cNvPr id="24" name="Shape 22"/>
          <p:cNvSpPr/>
          <p:nvPr/>
        </p:nvSpPr>
        <p:spPr>
          <a:xfrm>
            <a:off x="1702494" y="2183011"/>
            <a:ext cx="53943" cy="0"/>
          </a:xfrm>
          <a:prstGeom prst="line">
            <a:avLst/>
          </a:prstGeom>
          <a:noFill/>
          <a:ln w="21590">
            <a:solidFill>
              <a:srgbClr val="111827"/>
            </a:solidFill>
            <a:prstDash val="solid"/>
          </a:ln>
        </p:spPr>
        <p:txBody>
          <a:bodyPr/>
          <a:lstStyle/>
          <a:p>
            <a:endParaRPr lang="en-GB"/>
          </a:p>
        </p:txBody>
      </p:sp>
      <p:sp>
        <p:nvSpPr>
          <p:cNvPr id="25" name="Shape 23"/>
          <p:cNvSpPr/>
          <p:nvPr/>
        </p:nvSpPr>
        <p:spPr>
          <a:xfrm>
            <a:off x="1756437" y="2164900"/>
            <a:ext cx="53943" cy="0"/>
          </a:xfrm>
          <a:prstGeom prst="line">
            <a:avLst/>
          </a:prstGeom>
          <a:noFill/>
          <a:ln w="21590">
            <a:solidFill>
              <a:srgbClr val="111827"/>
            </a:solidFill>
            <a:prstDash val="solid"/>
          </a:ln>
        </p:spPr>
        <p:txBody>
          <a:bodyPr/>
          <a:lstStyle/>
          <a:p>
            <a:endParaRPr lang="en-GB"/>
          </a:p>
        </p:txBody>
      </p:sp>
      <p:sp>
        <p:nvSpPr>
          <p:cNvPr id="26" name="Shape 24"/>
          <p:cNvSpPr/>
          <p:nvPr/>
        </p:nvSpPr>
        <p:spPr>
          <a:xfrm>
            <a:off x="1810380" y="2147756"/>
            <a:ext cx="53943" cy="0"/>
          </a:xfrm>
          <a:prstGeom prst="line">
            <a:avLst/>
          </a:prstGeom>
          <a:noFill/>
          <a:ln w="21590">
            <a:solidFill>
              <a:srgbClr val="111827"/>
            </a:solidFill>
            <a:prstDash val="solid"/>
          </a:ln>
        </p:spPr>
        <p:txBody>
          <a:bodyPr/>
          <a:lstStyle/>
          <a:p>
            <a:endParaRPr lang="en-GB"/>
          </a:p>
        </p:txBody>
      </p:sp>
      <p:sp>
        <p:nvSpPr>
          <p:cNvPr id="27" name="Shape 25"/>
          <p:cNvSpPr/>
          <p:nvPr/>
        </p:nvSpPr>
        <p:spPr>
          <a:xfrm>
            <a:off x="1864323" y="2132139"/>
            <a:ext cx="53943" cy="0"/>
          </a:xfrm>
          <a:prstGeom prst="line">
            <a:avLst/>
          </a:prstGeom>
          <a:noFill/>
          <a:ln w="21590">
            <a:solidFill>
              <a:srgbClr val="111827"/>
            </a:solidFill>
            <a:prstDash val="solid"/>
          </a:ln>
        </p:spPr>
        <p:txBody>
          <a:bodyPr/>
          <a:lstStyle/>
          <a:p>
            <a:endParaRPr lang="en-GB"/>
          </a:p>
        </p:txBody>
      </p:sp>
      <p:sp>
        <p:nvSpPr>
          <p:cNvPr id="28" name="Shape 26"/>
          <p:cNvSpPr/>
          <p:nvPr/>
        </p:nvSpPr>
        <p:spPr>
          <a:xfrm>
            <a:off x="1918266" y="2118556"/>
            <a:ext cx="53943" cy="0"/>
          </a:xfrm>
          <a:prstGeom prst="line">
            <a:avLst/>
          </a:prstGeom>
          <a:noFill/>
          <a:ln w="21590">
            <a:solidFill>
              <a:srgbClr val="111827"/>
            </a:solidFill>
            <a:prstDash val="solid"/>
          </a:ln>
        </p:spPr>
        <p:txBody>
          <a:bodyPr/>
          <a:lstStyle/>
          <a:p>
            <a:endParaRPr lang="en-GB"/>
          </a:p>
        </p:txBody>
      </p:sp>
      <p:sp>
        <p:nvSpPr>
          <p:cNvPr id="29" name="Shape 27"/>
          <p:cNvSpPr/>
          <p:nvPr/>
        </p:nvSpPr>
        <p:spPr>
          <a:xfrm>
            <a:off x="1972209" y="2107451"/>
            <a:ext cx="53943" cy="0"/>
          </a:xfrm>
          <a:prstGeom prst="line">
            <a:avLst/>
          </a:prstGeom>
          <a:noFill/>
          <a:ln w="21590">
            <a:solidFill>
              <a:srgbClr val="111827"/>
            </a:solidFill>
            <a:prstDash val="solid"/>
          </a:ln>
        </p:spPr>
        <p:txBody>
          <a:bodyPr/>
          <a:lstStyle/>
          <a:p>
            <a:endParaRPr lang="en-GB"/>
          </a:p>
        </p:txBody>
      </p:sp>
      <p:sp>
        <p:nvSpPr>
          <p:cNvPr id="30" name="Shape 28"/>
          <p:cNvSpPr/>
          <p:nvPr/>
        </p:nvSpPr>
        <p:spPr>
          <a:xfrm>
            <a:off x="2026153" y="2099186"/>
            <a:ext cx="53943" cy="0"/>
          </a:xfrm>
          <a:prstGeom prst="line">
            <a:avLst/>
          </a:prstGeom>
          <a:noFill/>
          <a:ln w="21590">
            <a:solidFill>
              <a:srgbClr val="111827"/>
            </a:solidFill>
            <a:prstDash val="solid"/>
          </a:ln>
        </p:spPr>
        <p:txBody>
          <a:bodyPr/>
          <a:lstStyle/>
          <a:p>
            <a:endParaRPr lang="en-GB"/>
          </a:p>
        </p:txBody>
      </p:sp>
      <p:sp>
        <p:nvSpPr>
          <p:cNvPr id="31" name="Shape 29"/>
          <p:cNvSpPr/>
          <p:nvPr/>
        </p:nvSpPr>
        <p:spPr>
          <a:xfrm>
            <a:off x="2080096" y="2094031"/>
            <a:ext cx="53943" cy="0"/>
          </a:xfrm>
          <a:prstGeom prst="line">
            <a:avLst/>
          </a:prstGeom>
          <a:noFill/>
          <a:ln w="21590">
            <a:solidFill>
              <a:srgbClr val="111827"/>
            </a:solidFill>
            <a:prstDash val="solid"/>
          </a:ln>
        </p:spPr>
        <p:txBody>
          <a:bodyPr/>
          <a:lstStyle/>
          <a:p>
            <a:endParaRPr lang="en-GB"/>
          </a:p>
        </p:txBody>
      </p:sp>
      <p:sp>
        <p:nvSpPr>
          <p:cNvPr id="32" name="Shape 30"/>
          <p:cNvSpPr/>
          <p:nvPr/>
        </p:nvSpPr>
        <p:spPr>
          <a:xfrm>
            <a:off x="2134039" y="2092154"/>
            <a:ext cx="53943" cy="1461"/>
          </a:xfrm>
          <a:prstGeom prst="line">
            <a:avLst/>
          </a:prstGeom>
          <a:noFill/>
          <a:ln w="21590">
            <a:solidFill>
              <a:srgbClr val="111827"/>
            </a:solidFill>
            <a:prstDash val="solid"/>
          </a:ln>
        </p:spPr>
        <p:txBody>
          <a:bodyPr/>
          <a:lstStyle/>
          <a:p>
            <a:endParaRPr lang="en-GB"/>
          </a:p>
        </p:txBody>
      </p:sp>
      <p:sp>
        <p:nvSpPr>
          <p:cNvPr id="33" name="Shape 31"/>
          <p:cNvSpPr/>
          <p:nvPr/>
        </p:nvSpPr>
        <p:spPr>
          <a:xfrm>
            <a:off x="2187982" y="2093615"/>
            <a:ext cx="53943" cy="4752"/>
          </a:xfrm>
          <a:prstGeom prst="line">
            <a:avLst/>
          </a:prstGeom>
          <a:noFill/>
          <a:ln w="21590">
            <a:solidFill>
              <a:srgbClr val="111827"/>
            </a:solidFill>
            <a:prstDash val="solid"/>
          </a:ln>
        </p:spPr>
        <p:txBody>
          <a:bodyPr/>
          <a:lstStyle/>
          <a:p>
            <a:endParaRPr lang="en-GB"/>
          </a:p>
        </p:txBody>
      </p:sp>
      <p:sp>
        <p:nvSpPr>
          <p:cNvPr id="34" name="Shape 32"/>
          <p:cNvSpPr/>
          <p:nvPr/>
        </p:nvSpPr>
        <p:spPr>
          <a:xfrm>
            <a:off x="2241925" y="2098367"/>
            <a:ext cx="53943" cy="7888"/>
          </a:xfrm>
          <a:prstGeom prst="line">
            <a:avLst/>
          </a:prstGeom>
          <a:noFill/>
          <a:ln w="21590">
            <a:solidFill>
              <a:srgbClr val="111827"/>
            </a:solidFill>
            <a:prstDash val="solid"/>
          </a:ln>
        </p:spPr>
        <p:txBody>
          <a:bodyPr/>
          <a:lstStyle/>
          <a:p>
            <a:endParaRPr lang="en-GB"/>
          </a:p>
        </p:txBody>
      </p:sp>
      <p:sp>
        <p:nvSpPr>
          <p:cNvPr id="35" name="Shape 33"/>
          <p:cNvSpPr/>
          <p:nvPr/>
        </p:nvSpPr>
        <p:spPr>
          <a:xfrm>
            <a:off x="2295868" y="2106255"/>
            <a:ext cx="53943" cy="10767"/>
          </a:xfrm>
          <a:prstGeom prst="line">
            <a:avLst/>
          </a:prstGeom>
          <a:noFill/>
          <a:ln w="21590">
            <a:solidFill>
              <a:srgbClr val="111827"/>
            </a:solidFill>
            <a:prstDash val="solid"/>
          </a:ln>
        </p:spPr>
        <p:txBody>
          <a:bodyPr/>
          <a:lstStyle/>
          <a:p>
            <a:endParaRPr lang="en-GB"/>
          </a:p>
        </p:txBody>
      </p:sp>
      <p:sp>
        <p:nvSpPr>
          <p:cNvPr id="36" name="Shape 34"/>
          <p:cNvSpPr/>
          <p:nvPr/>
        </p:nvSpPr>
        <p:spPr>
          <a:xfrm>
            <a:off x="2349811" y="2117022"/>
            <a:ext cx="53943" cy="13294"/>
          </a:xfrm>
          <a:prstGeom prst="line">
            <a:avLst/>
          </a:prstGeom>
          <a:noFill/>
          <a:ln w="21590">
            <a:solidFill>
              <a:srgbClr val="111827"/>
            </a:solidFill>
            <a:prstDash val="solid"/>
          </a:ln>
        </p:spPr>
        <p:txBody>
          <a:bodyPr/>
          <a:lstStyle/>
          <a:p>
            <a:endParaRPr lang="en-GB"/>
          </a:p>
        </p:txBody>
      </p:sp>
      <p:sp>
        <p:nvSpPr>
          <p:cNvPr id="37" name="Shape 35"/>
          <p:cNvSpPr/>
          <p:nvPr/>
        </p:nvSpPr>
        <p:spPr>
          <a:xfrm>
            <a:off x="2403754" y="2130316"/>
            <a:ext cx="53943" cy="15387"/>
          </a:xfrm>
          <a:prstGeom prst="line">
            <a:avLst/>
          </a:prstGeom>
          <a:noFill/>
          <a:ln w="21590">
            <a:solidFill>
              <a:srgbClr val="111827"/>
            </a:solidFill>
            <a:prstDash val="solid"/>
          </a:ln>
        </p:spPr>
        <p:txBody>
          <a:bodyPr/>
          <a:lstStyle/>
          <a:p>
            <a:endParaRPr lang="en-GB"/>
          </a:p>
        </p:txBody>
      </p:sp>
      <p:sp>
        <p:nvSpPr>
          <p:cNvPr id="38" name="Shape 36"/>
          <p:cNvSpPr/>
          <p:nvPr/>
        </p:nvSpPr>
        <p:spPr>
          <a:xfrm>
            <a:off x="2457697" y="2145703"/>
            <a:ext cx="53943" cy="16978"/>
          </a:xfrm>
          <a:prstGeom prst="line">
            <a:avLst/>
          </a:prstGeom>
          <a:noFill/>
          <a:ln w="21590">
            <a:solidFill>
              <a:srgbClr val="111827"/>
            </a:solidFill>
            <a:prstDash val="solid"/>
          </a:ln>
        </p:spPr>
        <p:txBody>
          <a:bodyPr/>
          <a:lstStyle/>
          <a:p>
            <a:endParaRPr lang="en-GB"/>
          </a:p>
        </p:txBody>
      </p:sp>
      <p:sp>
        <p:nvSpPr>
          <p:cNvPr id="39" name="Shape 37"/>
          <p:cNvSpPr/>
          <p:nvPr/>
        </p:nvSpPr>
        <p:spPr>
          <a:xfrm>
            <a:off x="2511640" y="2162681"/>
            <a:ext cx="53943" cy="18013"/>
          </a:xfrm>
          <a:prstGeom prst="line">
            <a:avLst/>
          </a:prstGeom>
          <a:noFill/>
          <a:ln w="21590">
            <a:solidFill>
              <a:srgbClr val="111827"/>
            </a:solidFill>
            <a:prstDash val="solid"/>
          </a:ln>
        </p:spPr>
        <p:txBody>
          <a:bodyPr/>
          <a:lstStyle/>
          <a:p>
            <a:endParaRPr lang="en-GB"/>
          </a:p>
        </p:txBody>
      </p:sp>
      <p:sp>
        <p:nvSpPr>
          <p:cNvPr id="40" name="Shape 38"/>
          <p:cNvSpPr/>
          <p:nvPr/>
        </p:nvSpPr>
        <p:spPr>
          <a:xfrm>
            <a:off x="2565583" y="2180694"/>
            <a:ext cx="53943" cy="18459"/>
          </a:xfrm>
          <a:prstGeom prst="line">
            <a:avLst/>
          </a:prstGeom>
          <a:noFill/>
          <a:ln w="21590">
            <a:solidFill>
              <a:srgbClr val="111827"/>
            </a:solidFill>
            <a:prstDash val="solid"/>
          </a:ln>
        </p:spPr>
        <p:txBody>
          <a:bodyPr/>
          <a:lstStyle/>
          <a:p>
            <a:endParaRPr lang="en-GB"/>
          </a:p>
        </p:txBody>
      </p:sp>
      <p:sp>
        <p:nvSpPr>
          <p:cNvPr id="41" name="Shape 39"/>
          <p:cNvSpPr/>
          <p:nvPr/>
        </p:nvSpPr>
        <p:spPr>
          <a:xfrm>
            <a:off x="2619526" y="2199154"/>
            <a:ext cx="53943" cy="18300"/>
          </a:xfrm>
          <a:prstGeom prst="line">
            <a:avLst/>
          </a:prstGeom>
          <a:noFill/>
          <a:ln w="21590">
            <a:solidFill>
              <a:srgbClr val="111827"/>
            </a:solidFill>
            <a:prstDash val="solid"/>
          </a:ln>
        </p:spPr>
        <p:txBody>
          <a:bodyPr/>
          <a:lstStyle/>
          <a:p>
            <a:endParaRPr lang="en-GB"/>
          </a:p>
        </p:txBody>
      </p:sp>
      <p:sp>
        <p:nvSpPr>
          <p:cNvPr id="42" name="Shape 40"/>
          <p:cNvSpPr/>
          <p:nvPr/>
        </p:nvSpPr>
        <p:spPr>
          <a:xfrm>
            <a:off x="2673469" y="2217453"/>
            <a:ext cx="53943" cy="17538"/>
          </a:xfrm>
          <a:prstGeom prst="line">
            <a:avLst/>
          </a:prstGeom>
          <a:noFill/>
          <a:ln w="21590">
            <a:solidFill>
              <a:srgbClr val="111827"/>
            </a:solidFill>
            <a:prstDash val="solid"/>
          </a:ln>
        </p:spPr>
        <p:txBody>
          <a:bodyPr/>
          <a:lstStyle/>
          <a:p>
            <a:endParaRPr lang="en-GB"/>
          </a:p>
        </p:txBody>
      </p:sp>
      <p:sp>
        <p:nvSpPr>
          <p:cNvPr id="43" name="Shape 41"/>
          <p:cNvSpPr/>
          <p:nvPr/>
        </p:nvSpPr>
        <p:spPr>
          <a:xfrm>
            <a:off x="2727412" y="2234992"/>
            <a:ext cx="53943" cy="16197"/>
          </a:xfrm>
          <a:prstGeom prst="line">
            <a:avLst/>
          </a:prstGeom>
          <a:noFill/>
          <a:ln w="21590">
            <a:solidFill>
              <a:srgbClr val="111827"/>
            </a:solidFill>
            <a:prstDash val="solid"/>
          </a:ln>
        </p:spPr>
        <p:txBody>
          <a:bodyPr/>
          <a:lstStyle/>
          <a:p>
            <a:endParaRPr lang="en-GB"/>
          </a:p>
        </p:txBody>
      </p:sp>
      <p:sp>
        <p:nvSpPr>
          <p:cNvPr id="44" name="Shape 42"/>
          <p:cNvSpPr/>
          <p:nvPr/>
        </p:nvSpPr>
        <p:spPr>
          <a:xfrm>
            <a:off x="2781355" y="2251189"/>
            <a:ext cx="53943" cy="14316"/>
          </a:xfrm>
          <a:prstGeom prst="line">
            <a:avLst/>
          </a:prstGeom>
          <a:noFill/>
          <a:ln w="21590">
            <a:solidFill>
              <a:srgbClr val="111827"/>
            </a:solidFill>
            <a:prstDash val="solid"/>
          </a:ln>
        </p:spPr>
        <p:txBody>
          <a:bodyPr/>
          <a:lstStyle/>
          <a:p>
            <a:endParaRPr lang="en-GB"/>
          </a:p>
        </p:txBody>
      </p:sp>
      <p:sp>
        <p:nvSpPr>
          <p:cNvPr id="45" name="Shape 43"/>
          <p:cNvSpPr/>
          <p:nvPr/>
        </p:nvSpPr>
        <p:spPr>
          <a:xfrm>
            <a:off x="2835298" y="2265505"/>
            <a:ext cx="53943" cy="11952"/>
          </a:xfrm>
          <a:prstGeom prst="line">
            <a:avLst/>
          </a:prstGeom>
          <a:noFill/>
          <a:ln w="21590">
            <a:solidFill>
              <a:srgbClr val="111827"/>
            </a:solidFill>
            <a:prstDash val="solid"/>
          </a:ln>
        </p:spPr>
        <p:txBody>
          <a:bodyPr/>
          <a:lstStyle/>
          <a:p>
            <a:endParaRPr lang="en-GB"/>
          </a:p>
        </p:txBody>
      </p:sp>
      <p:sp>
        <p:nvSpPr>
          <p:cNvPr id="46" name="Shape 44"/>
          <p:cNvSpPr/>
          <p:nvPr/>
        </p:nvSpPr>
        <p:spPr>
          <a:xfrm>
            <a:off x="2889241" y="2277456"/>
            <a:ext cx="53943" cy="9174"/>
          </a:xfrm>
          <a:prstGeom prst="line">
            <a:avLst/>
          </a:prstGeom>
          <a:noFill/>
          <a:ln w="21590">
            <a:solidFill>
              <a:srgbClr val="111827"/>
            </a:solidFill>
            <a:prstDash val="solid"/>
          </a:ln>
        </p:spPr>
        <p:txBody>
          <a:bodyPr/>
          <a:lstStyle/>
          <a:p>
            <a:endParaRPr lang="en-GB"/>
          </a:p>
        </p:txBody>
      </p:sp>
      <p:sp>
        <p:nvSpPr>
          <p:cNvPr id="47" name="Shape 45"/>
          <p:cNvSpPr/>
          <p:nvPr/>
        </p:nvSpPr>
        <p:spPr>
          <a:xfrm>
            <a:off x="2943184" y="2286631"/>
            <a:ext cx="53943" cy="6067"/>
          </a:xfrm>
          <a:prstGeom prst="line">
            <a:avLst/>
          </a:prstGeom>
          <a:noFill/>
          <a:ln w="21590">
            <a:solidFill>
              <a:srgbClr val="111827"/>
            </a:solidFill>
            <a:prstDash val="solid"/>
          </a:ln>
        </p:spPr>
        <p:txBody>
          <a:bodyPr/>
          <a:lstStyle/>
          <a:p>
            <a:endParaRPr lang="en-GB"/>
          </a:p>
        </p:txBody>
      </p:sp>
      <p:sp>
        <p:nvSpPr>
          <p:cNvPr id="48" name="Shape 46"/>
          <p:cNvSpPr/>
          <p:nvPr/>
        </p:nvSpPr>
        <p:spPr>
          <a:xfrm>
            <a:off x="2997127" y="2292697"/>
            <a:ext cx="53943" cy="2719"/>
          </a:xfrm>
          <a:prstGeom prst="line">
            <a:avLst/>
          </a:prstGeom>
          <a:noFill/>
          <a:ln w="21590">
            <a:solidFill>
              <a:srgbClr val="111827"/>
            </a:solidFill>
            <a:prstDash val="solid"/>
          </a:ln>
        </p:spPr>
        <p:txBody>
          <a:bodyPr/>
          <a:lstStyle/>
          <a:p>
            <a:endParaRPr lang="en-GB"/>
          </a:p>
        </p:txBody>
      </p:sp>
      <p:sp>
        <p:nvSpPr>
          <p:cNvPr id="49" name="Shape 47"/>
          <p:cNvSpPr/>
          <p:nvPr/>
        </p:nvSpPr>
        <p:spPr>
          <a:xfrm>
            <a:off x="3051070" y="2295416"/>
            <a:ext cx="53943" cy="0"/>
          </a:xfrm>
          <a:prstGeom prst="line">
            <a:avLst/>
          </a:prstGeom>
          <a:noFill/>
          <a:ln w="21590">
            <a:solidFill>
              <a:srgbClr val="111827"/>
            </a:solidFill>
            <a:prstDash val="solid"/>
          </a:ln>
        </p:spPr>
        <p:txBody>
          <a:bodyPr/>
          <a:lstStyle/>
          <a:p>
            <a:endParaRPr lang="en-GB"/>
          </a:p>
        </p:txBody>
      </p:sp>
      <p:sp>
        <p:nvSpPr>
          <p:cNvPr id="50" name="Shape 48"/>
          <p:cNvSpPr/>
          <p:nvPr/>
        </p:nvSpPr>
        <p:spPr>
          <a:xfrm>
            <a:off x="3105013" y="2294643"/>
            <a:ext cx="53943" cy="0"/>
          </a:xfrm>
          <a:prstGeom prst="line">
            <a:avLst/>
          </a:prstGeom>
          <a:noFill/>
          <a:ln w="21590">
            <a:solidFill>
              <a:srgbClr val="111827"/>
            </a:solidFill>
            <a:prstDash val="solid"/>
          </a:ln>
        </p:spPr>
        <p:txBody>
          <a:bodyPr/>
          <a:lstStyle/>
          <a:p>
            <a:endParaRPr lang="en-GB"/>
          </a:p>
        </p:txBody>
      </p:sp>
      <p:sp>
        <p:nvSpPr>
          <p:cNvPr id="51" name="Shape 49"/>
          <p:cNvSpPr/>
          <p:nvPr/>
        </p:nvSpPr>
        <p:spPr>
          <a:xfrm>
            <a:off x="3158956" y="2290334"/>
            <a:ext cx="53943" cy="0"/>
          </a:xfrm>
          <a:prstGeom prst="line">
            <a:avLst/>
          </a:prstGeom>
          <a:noFill/>
          <a:ln w="21590">
            <a:solidFill>
              <a:srgbClr val="111827"/>
            </a:solidFill>
            <a:prstDash val="solid"/>
          </a:ln>
        </p:spPr>
        <p:txBody>
          <a:bodyPr/>
          <a:lstStyle/>
          <a:p>
            <a:endParaRPr lang="en-GB"/>
          </a:p>
        </p:txBody>
      </p:sp>
      <p:sp>
        <p:nvSpPr>
          <p:cNvPr id="52" name="Shape 50"/>
          <p:cNvSpPr/>
          <p:nvPr/>
        </p:nvSpPr>
        <p:spPr>
          <a:xfrm>
            <a:off x="3212899" y="2282540"/>
            <a:ext cx="53943" cy="0"/>
          </a:xfrm>
          <a:prstGeom prst="line">
            <a:avLst/>
          </a:prstGeom>
          <a:noFill/>
          <a:ln w="21590">
            <a:solidFill>
              <a:srgbClr val="111827"/>
            </a:solidFill>
            <a:prstDash val="solid"/>
          </a:ln>
        </p:spPr>
        <p:txBody>
          <a:bodyPr/>
          <a:lstStyle/>
          <a:p>
            <a:endParaRPr lang="en-GB"/>
          </a:p>
        </p:txBody>
      </p:sp>
      <p:sp>
        <p:nvSpPr>
          <p:cNvPr id="53" name="Shape 51"/>
          <p:cNvSpPr/>
          <p:nvPr/>
        </p:nvSpPr>
        <p:spPr>
          <a:xfrm>
            <a:off x="3266842" y="2271410"/>
            <a:ext cx="53943" cy="0"/>
          </a:xfrm>
          <a:prstGeom prst="line">
            <a:avLst/>
          </a:prstGeom>
          <a:noFill/>
          <a:ln w="21590">
            <a:solidFill>
              <a:srgbClr val="111827"/>
            </a:solidFill>
            <a:prstDash val="solid"/>
          </a:ln>
        </p:spPr>
        <p:txBody>
          <a:bodyPr/>
          <a:lstStyle/>
          <a:p>
            <a:endParaRPr lang="en-GB"/>
          </a:p>
        </p:txBody>
      </p:sp>
      <p:sp>
        <p:nvSpPr>
          <p:cNvPr id="54" name="Shape 52"/>
          <p:cNvSpPr/>
          <p:nvPr/>
        </p:nvSpPr>
        <p:spPr>
          <a:xfrm>
            <a:off x="3320785" y="2257177"/>
            <a:ext cx="53943" cy="0"/>
          </a:xfrm>
          <a:prstGeom prst="line">
            <a:avLst/>
          </a:prstGeom>
          <a:noFill/>
          <a:ln w="21590">
            <a:solidFill>
              <a:srgbClr val="111827"/>
            </a:solidFill>
            <a:prstDash val="solid"/>
          </a:ln>
        </p:spPr>
        <p:txBody>
          <a:bodyPr/>
          <a:lstStyle/>
          <a:p>
            <a:endParaRPr lang="en-GB"/>
          </a:p>
        </p:txBody>
      </p:sp>
      <p:sp>
        <p:nvSpPr>
          <p:cNvPr id="55" name="Shape 53"/>
          <p:cNvSpPr/>
          <p:nvPr/>
        </p:nvSpPr>
        <p:spPr>
          <a:xfrm>
            <a:off x="3374728" y="2240159"/>
            <a:ext cx="53943" cy="0"/>
          </a:xfrm>
          <a:prstGeom prst="line">
            <a:avLst/>
          </a:prstGeom>
          <a:noFill/>
          <a:ln w="21590">
            <a:solidFill>
              <a:srgbClr val="111827"/>
            </a:solidFill>
            <a:prstDash val="solid"/>
          </a:ln>
        </p:spPr>
        <p:txBody>
          <a:bodyPr/>
          <a:lstStyle/>
          <a:p>
            <a:endParaRPr lang="en-GB"/>
          </a:p>
        </p:txBody>
      </p:sp>
      <p:sp>
        <p:nvSpPr>
          <p:cNvPr id="56" name="Shape 54"/>
          <p:cNvSpPr/>
          <p:nvPr/>
        </p:nvSpPr>
        <p:spPr>
          <a:xfrm>
            <a:off x="3428671" y="2220745"/>
            <a:ext cx="53943" cy="0"/>
          </a:xfrm>
          <a:prstGeom prst="line">
            <a:avLst/>
          </a:prstGeom>
          <a:noFill/>
          <a:ln w="21590">
            <a:solidFill>
              <a:srgbClr val="111827"/>
            </a:solidFill>
            <a:prstDash val="solid"/>
          </a:ln>
        </p:spPr>
        <p:txBody>
          <a:bodyPr/>
          <a:lstStyle/>
          <a:p>
            <a:endParaRPr lang="en-GB"/>
          </a:p>
        </p:txBody>
      </p:sp>
      <p:sp>
        <p:nvSpPr>
          <p:cNvPr id="57" name="Shape 55"/>
          <p:cNvSpPr/>
          <p:nvPr/>
        </p:nvSpPr>
        <p:spPr>
          <a:xfrm>
            <a:off x="3482614" y="2199384"/>
            <a:ext cx="53943" cy="0"/>
          </a:xfrm>
          <a:prstGeom prst="line">
            <a:avLst/>
          </a:prstGeom>
          <a:noFill/>
          <a:ln w="21590">
            <a:solidFill>
              <a:srgbClr val="111827"/>
            </a:solidFill>
            <a:prstDash val="solid"/>
          </a:ln>
        </p:spPr>
        <p:txBody>
          <a:bodyPr/>
          <a:lstStyle/>
          <a:p>
            <a:endParaRPr lang="en-GB"/>
          </a:p>
        </p:txBody>
      </p:sp>
      <p:sp>
        <p:nvSpPr>
          <p:cNvPr id="58" name="Shape 56"/>
          <p:cNvSpPr/>
          <p:nvPr/>
        </p:nvSpPr>
        <p:spPr>
          <a:xfrm>
            <a:off x="3536557" y="2176582"/>
            <a:ext cx="53943" cy="0"/>
          </a:xfrm>
          <a:prstGeom prst="line">
            <a:avLst/>
          </a:prstGeom>
          <a:noFill/>
          <a:ln w="21590">
            <a:solidFill>
              <a:srgbClr val="111827"/>
            </a:solidFill>
            <a:prstDash val="solid"/>
          </a:ln>
        </p:spPr>
        <p:txBody>
          <a:bodyPr/>
          <a:lstStyle/>
          <a:p>
            <a:endParaRPr lang="en-GB"/>
          </a:p>
        </p:txBody>
      </p:sp>
      <p:sp>
        <p:nvSpPr>
          <p:cNvPr id="59" name="Shape 57"/>
          <p:cNvSpPr/>
          <p:nvPr/>
        </p:nvSpPr>
        <p:spPr>
          <a:xfrm>
            <a:off x="3590500" y="2152885"/>
            <a:ext cx="53943" cy="0"/>
          </a:xfrm>
          <a:prstGeom prst="line">
            <a:avLst/>
          </a:prstGeom>
          <a:noFill/>
          <a:ln w="21590">
            <a:solidFill>
              <a:srgbClr val="111827"/>
            </a:solidFill>
            <a:prstDash val="solid"/>
          </a:ln>
        </p:spPr>
        <p:txBody>
          <a:bodyPr/>
          <a:lstStyle/>
          <a:p>
            <a:endParaRPr lang="en-GB"/>
          </a:p>
        </p:txBody>
      </p:sp>
      <p:sp>
        <p:nvSpPr>
          <p:cNvPr id="60" name="Shape 58"/>
          <p:cNvSpPr/>
          <p:nvPr/>
        </p:nvSpPr>
        <p:spPr>
          <a:xfrm>
            <a:off x="3644443" y="2128872"/>
            <a:ext cx="53943" cy="0"/>
          </a:xfrm>
          <a:prstGeom prst="line">
            <a:avLst/>
          </a:prstGeom>
          <a:noFill/>
          <a:ln w="21590">
            <a:solidFill>
              <a:srgbClr val="111827"/>
            </a:solidFill>
            <a:prstDash val="solid"/>
          </a:ln>
        </p:spPr>
        <p:txBody>
          <a:bodyPr/>
          <a:lstStyle/>
          <a:p>
            <a:endParaRPr lang="en-GB"/>
          </a:p>
        </p:txBody>
      </p:sp>
      <p:sp>
        <p:nvSpPr>
          <p:cNvPr id="61" name="Shape 59"/>
          <p:cNvSpPr/>
          <p:nvPr/>
        </p:nvSpPr>
        <p:spPr>
          <a:xfrm>
            <a:off x="3698386" y="2105147"/>
            <a:ext cx="53943" cy="0"/>
          </a:xfrm>
          <a:prstGeom prst="line">
            <a:avLst/>
          </a:prstGeom>
          <a:noFill/>
          <a:ln w="21590">
            <a:solidFill>
              <a:srgbClr val="111827"/>
            </a:solidFill>
            <a:prstDash val="solid"/>
          </a:ln>
        </p:spPr>
        <p:txBody>
          <a:bodyPr/>
          <a:lstStyle/>
          <a:p>
            <a:endParaRPr lang="en-GB"/>
          </a:p>
        </p:txBody>
      </p:sp>
      <p:sp>
        <p:nvSpPr>
          <p:cNvPr id="62" name="Shape 60"/>
          <p:cNvSpPr/>
          <p:nvPr/>
        </p:nvSpPr>
        <p:spPr>
          <a:xfrm>
            <a:off x="3752329" y="2082324"/>
            <a:ext cx="53943" cy="0"/>
          </a:xfrm>
          <a:prstGeom prst="line">
            <a:avLst/>
          </a:prstGeom>
          <a:noFill/>
          <a:ln w="21590">
            <a:solidFill>
              <a:srgbClr val="111827"/>
            </a:solidFill>
            <a:prstDash val="solid"/>
          </a:ln>
        </p:spPr>
        <p:txBody>
          <a:bodyPr/>
          <a:lstStyle/>
          <a:p>
            <a:endParaRPr lang="en-GB"/>
          </a:p>
        </p:txBody>
      </p:sp>
      <p:sp>
        <p:nvSpPr>
          <p:cNvPr id="63" name="Shape 61"/>
          <p:cNvSpPr/>
          <p:nvPr/>
        </p:nvSpPr>
        <p:spPr>
          <a:xfrm>
            <a:off x="3806272" y="2061016"/>
            <a:ext cx="53943" cy="0"/>
          </a:xfrm>
          <a:prstGeom prst="line">
            <a:avLst/>
          </a:prstGeom>
          <a:noFill/>
          <a:ln w="21590">
            <a:solidFill>
              <a:srgbClr val="111827"/>
            </a:solidFill>
            <a:prstDash val="solid"/>
          </a:ln>
        </p:spPr>
        <p:txBody>
          <a:bodyPr/>
          <a:lstStyle/>
          <a:p>
            <a:endParaRPr lang="en-GB"/>
          </a:p>
        </p:txBody>
      </p:sp>
      <p:sp>
        <p:nvSpPr>
          <p:cNvPr id="64" name="Shape 62"/>
          <p:cNvSpPr/>
          <p:nvPr/>
        </p:nvSpPr>
        <p:spPr>
          <a:xfrm>
            <a:off x="3860215" y="2041823"/>
            <a:ext cx="53943" cy="0"/>
          </a:xfrm>
          <a:prstGeom prst="line">
            <a:avLst/>
          </a:prstGeom>
          <a:noFill/>
          <a:ln w="21590">
            <a:solidFill>
              <a:srgbClr val="111827"/>
            </a:solidFill>
            <a:prstDash val="solid"/>
          </a:ln>
        </p:spPr>
        <p:txBody>
          <a:bodyPr/>
          <a:lstStyle/>
          <a:p>
            <a:endParaRPr lang="en-GB"/>
          </a:p>
        </p:txBody>
      </p:sp>
      <p:sp>
        <p:nvSpPr>
          <p:cNvPr id="65" name="Shape 63"/>
          <p:cNvSpPr/>
          <p:nvPr/>
        </p:nvSpPr>
        <p:spPr>
          <a:xfrm>
            <a:off x="3914158" y="2025316"/>
            <a:ext cx="53943" cy="0"/>
          </a:xfrm>
          <a:prstGeom prst="line">
            <a:avLst/>
          </a:prstGeom>
          <a:noFill/>
          <a:ln w="21590">
            <a:solidFill>
              <a:srgbClr val="111827"/>
            </a:solidFill>
            <a:prstDash val="solid"/>
          </a:ln>
        </p:spPr>
        <p:txBody>
          <a:bodyPr/>
          <a:lstStyle/>
          <a:p>
            <a:endParaRPr lang="en-GB"/>
          </a:p>
        </p:txBody>
      </p:sp>
      <p:sp>
        <p:nvSpPr>
          <p:cNvPr id="66" name="Shape 64"/>
          <p:cNvSpPr/>
          <p:nvPr/>
        </p:nvSpPr>
        <p:spPr>
          <a:xfrm>
            <a:off x="3968101" y="2012015"/>
            <a:ext cx="53943" cy="0"/>
          </a:xfrm>
          <a:prstGeom prst="line">
            <a:avLst/>
          </a:prstGeom>
          <a:noFill/>
          <a:ln w="21590">
            <a:solidFill>
              <a:srgbClr val="111827"/>
            </a:solidFill>
            <a:prstDash val="solid"/>
          </a:ln>
        </p:spPr>
        <p:txBody>
          <a:bodyPr/>
          <a:lstStyle/>
          <a:p>
            <a:endParaRPr lang="en-GB"/>
          </a:p>
        </p:txBody>
      </p:sp>
      <p:sp>
        <p:nvSpPr>
          <p:cNvPr id="67" name="Shape 65"/>
          <p:cNvSpPr/>
          <p:nvPr/>
        </p:nvSpPr>
        <p:spPr>
          <a:xfrm>
            <a:off x="4022044" y="2002373"/>
            <a:ext cx="53943" cy="0"/>
          </a:xfrm>
          <a:prstGeom prst="line">
            <a:avLst/>
          </a:prstGeom>
          <a:noFill/>
          <a:ln w="21590">
            <a:solidFill>
              <a:srgbClr val="111827"/>
            </a:solidFill>
            <a:prstDash val="solid"/>
          </a:ln>
        </p:spPr>
        <p:txBody>
          <a:bodyPr/>
          <a:lstStyle/>
          <a:p>
            <a:endParaRPr lang="en-GB"/>
          </a:p>
        </p:txBody>
      </p:sp>
      <p:sp>
        <p:nvSpPr>
          <p:cNvPr id="68" name="Shape 66"/>
          <p:cNvSpPr/>
          <p:nvPr/>
        </p:nvSpPr>
        <p:spPr>
          <a:xfrm>
            <a:off x="4075987" y="1996752"/>
            <a:ext cx="53943" cy="0"/>
          </a:xfrm>
          <a:prstGeom prst="line">
            <a:avLst/>
          </a:prstGeom>
          <a:noFill/>
          <a:ln w="21590">
            <a:solidFill>
              <a:srgbClr val="111827"/>
            </a:solidFill>
            <a:prstDash val="solid"/>
          </a:ln>
        </p:spPr>
        <p:txBody>
          <a:bodyPr/>
          <a:lstStyle/>
          <a:p>
            <a:endParaRPr lang="en-GB"/>
          </a:p>
        </p:txBody>
      </p:sp>
      <p:sp>
        <p:nvSpPr>
          <p:cNvPr id="69" name="Shape 67"/>
          <p:cNvSpPr/>
          <p:nvPr/>
        </p:nvSpPr>
        <p:spPr>
          <a:xfrm>
            <a:off x="4129930" y="1995403"/>
            <a:ext cx="53943" cy="3042"/>
          </a:xfrm>
          <a:prstGeom prst="line">
            <a:avLst/>
          </a:prstGeom>
          <a:noFill/>
          <a:ln w="21590">
            <a:solidFill>
              <a:srgbClr val="111827"/>
            </a:solidFill>
            <a:prstDash val="solid"/>
          </a:ln>
        </p:spPr>
        <p:txBody>
          <a:bodyPr/>
          <a:lstStyle/>
          <a:p>
            <a:endParaRPr lang="en-GB"/>
          </a:p>
        </p:txBody>
      </p:sp>
      <p:sp>
        <p:nvSpPr>
          <p:cNvPr id="70" name="Shape 68"/>
          <p:cNvSpPr/>
          <p:nvPr/>
        </p:nvSpPr>
        <p:spPr>
          <a:xfrm>
            <a:off x="4183873" y="1998445"/>
            <a:ext cx="53943" cy="7406"/>
          </a:xfrm>
          <a:prstGeom prst="line">
            <a:avLst/>
          </a:prstGeom>
          <a:noFill/>
          <a:ln w="21590">
            <a:solidFill>
              <a:srgbClr val="111827"/>
            </a:solidFill>
            <a:prstDash val="solid"/>
          </a:ln>
        </p:spPr>
        <p:txBody>
          <a:bodyPr/>
          <a:lstStyle/>
          <a:p>
            <a:endParaRPr lang="en-GB"/>
          </a:p>
        </p:txBody>
      </p:sp>
      <p:sp>
        <p:nvSpPr>
          <p:cNvPr id="71" name="Shape 69"/>
          <p:cNvSpPr/>
          <p:nvPr/>
        </p:nvSpPr>
        <p:spPr>
          <a:xfrm>
            <a:off x="4237816" y="2005850"/>
            <a:ext cx="53943" cy="11586"/>
          </a:xfrm>
          <a:prstGeom prst="line">
            <a:avLst/>
          </a:prstGeom>
          <a:noFill/>
          <a:ln w="21590">
            <a:solidFill>
              <a:srgbClr val="111827"/>
            </a:solidFill>
            <a:prstDash val="solid"/>
          </a:ln>
        </p:spPr>
        <p:txBody>
          <a:bodyPr/>
          <a:lstStyle/>
          <a:p>
            <a:endParaRPr lang="en-GB"/>
          </a:p>
        </p:txBody>
      </p:sp>
      <p:sp>
        <p:nvSpPr>
          <p:cNvPr id="72" name="Shape 70"/>
          <p:cNvSpPr/>
          <p:nvPr/>
        </p:nvSpPr>
        <p:spPr>
          <a:xfrm>
            <a:off x="4291759" y="2017436"/>
            <a:ext cx="53943" cy="15422"/>
          </a:xfrm>
          <a:prstGeom prst="line">
            <a:avLst/>
          </a:prstGeom>
          <a:noFill/>
          <a:ln w="21590">
            <a:solidFill>
              <a:srgbClr val="111827"/>
            </a:solidFill>
            <a:prstDash val="solid"/>
          </a:ln>
        </p:spPr>
        <p:txBody>
          <a:bodyPr/>
          <a:lstStyle/>
          <a:p>
            <a:endParaRPr lang="en-GB"/>
          </a:p>
        </p:txBody>
      </p:sp>
      <p:sp>
        <p:nvSpPr>
          <p:cNvPr id="73" name="Shape 71"/>
          <p:cNvSpPr/>
          <p:nvPr/>
        </p:nvSpPr>
        <p:spPr>
          <a:xfrm>
            <a:off x="4345702" y="2032858"/>
            <a:ext cx="53943" cy="18763"/>
          </a:xfrm>
          <a:prstGeom prst="line">
            <a:avLst/>
          </a:prstGeom>
          <a:noFill/>
          <a:ln w="21590">
            <a:solidFill>
              <a:srgbClr val="111827"/>
            </a:solidFill>
            <a:prstDash val="solid"/>
          </a:ln>
        </p:spPr>
        <p:txBody>
          <a:bodyPr/>
          <a:lstStyle/>
          <a:p>
            <a:endParaRPr lang="en-GB"/>
          </a:p>
        </p:txBody>
      </p:sp>
      <p:sp>
        <p:nvSpPr>
          <p:cNvPr id="74" name="Shape 72"/>
          <p:cNvSpPr/>
          <p:nvPr/>
        </p:nvSpPr>
        <p:spPr>
          <a:xfrm>
            <a:off x="4399645" y="2051621"/>
            <a:ext cx="53943" cy="21469"/>
          </a:xfrm>
          <a:prstGeom prst="line">
            <a:avLst/>
          </a:prstGeom>
          <a:noFill/>
          <a:ln w="21590">
            <a:solidFill>
              <a:srgbClr val="111827"/>
            </a:solidFill>
            <a:prstDash val="solid"/>
          </a:ln>
        </p:spPr>
        <p:txBody>
          <a:bodyPr/>
          <a:lstStyle/>
          <a:p>
            <a:endParaRPr lang="en-GB"/>
          </a:p>
        </p:txBody>
      </p:sp>
      <p:sp>
        <p:nvSpPr>
          <p:cNvPr id="75" name="Shape 73"/>
          <p:cNvSpPr/>
          <p:nvPr/>
        </p:nvSpPr>
        <p:spPr>
          <a:xfrm>
            <a:off x="4453588" y="2073089"/>
            <a:ext cx="53943" cy="23426"/>
          </a:xfrm>
          <a:prstGeom prst="line">
            <a:avLst/>
          </a:prstGeom>
          <a:noFill/>
          <a:ln w="21590">
            <a:solidFill>
              <a:srgbClr val="111827"/>
            </a:solidFill>
            <a:prstDash val="solid"/>
          </a:ln>
        </p:spPr>
        <p:txBody>
          <a:bodyPr/>
          <a:lstStyle/>
          <a:p>
            <a:endParaRPr lang="en-GB"/>
          </a:p>
        </p:txBody>
      </p:sp>
      <p:sp>
        <p:nvSpPr>
          <p:cNvPr id="76" name="Shape 74"/>
          <p:cNvSpPr/>
          <p:nvPr/>
        </p:nvSpPr>
        <p:spPr>
          <a:xfrm>
            <a:off x="4507532" y="2096516"/>
            <a:ext cx="53943" cy="24554"/>
          </a:xfrm>
          <a:prstGeom prst="line">
            <a:avLst/>
          </a:prstGeom>
          <a:noFill/>
          <a:ln w="21590">
            <a:solidFill>
              <a:srgbClr val="111827"/>
            </a:solidFill>
            <a:prstDash val="solid"/>
          </a:ln>
        </p:spPr>
        <p:txBody>
          <a:bodyPr/>
          <a:lstStyle/>
          <a:p>
            <a:endParaRPr lang="en-GB"/>
          </a:p>
        </p:txBody>
      </p:sp>
      <p:sp>
        <p:nvSpPr>
          <p:cNvPr id="77" name="Shape 75"/>
          <p:cNvSpPr/>
          <p:nvPr/>
        </p:nvSpPr>
        <p:spPr>
          <a:xfrm>
            <a:off x="4561475" y="2121069"/>
            <a:ext cx="53943" cy="24805"/>
          </a:xfrm>
          <a:prstGeom prst="line">
            <a:avLst/>
          </a:prstGeom>
          <a:noFill/>
          <a:ln w="21590">
            <a:solidFill>
              <a:srgbClr val="111827"/>
            </a:solidFill>
            <a:prstDash val="solid"/>
          </a:ln>
        </p:spPr>
        <p:txBody>
          <a:bodyPr/>
          <a:lstStyle/>
          <a:p>
            <a:endParaRPr lang="en-GB"/>
          </a:p>
        </p:txBody>
      </p:sp>
      <p:sp>
        <p:nvSpPr>
          <p:cNvPr id="78" name="Shape 76"/>
          <p:cNvSpPr/>
          <p:nvPr/>
        </p:nvSpPr>
        <p:spPr>
          <a:xfrm>
            <a:off x="4615418" y="2145874"/>
            <a:ext cx="53943" cy="24175"/>
          </a:xfrm>
          <a:prstGeom prst="line">
            <a:avLst/>
          </a:prstGeom>
          <a:noFill/>
          <a:ln w="21590">
            <a:solidFill>
              <a:srgbClr val="111827"/>
            </a:solidFill>
            <a:prstDash val="solid"/>
          </a:ln>
        </p:spPr>
        <p:txBody>
          <a:bodyPr/>
          <a:lstStyle/>
          <a:p>
            <a:endParaRPr lang="en-GB"/>
          </a:p>
        </p:txBody>
      </p:sp>
      <p:sp>
        <p:nvSpPr>
          <p:cNvPr id="79" name="Shape 77"/>
          <p:cNvSpPr/>
          <p:nvPr/>
        </p:nvSpPr>
        <p:spPr>
          <a:xfrm>
            <a:off x="4669361" y="2170050"/>
            <a:ext cx="53943" cy="22700"/>
          </a:xfrm>
          <a:prstGeom prst="line">
            <a:avLst/>
          </a:prstGeom>
          <a:noFill/>
          <a:ln w="21590">
            <a:solidFill>
              <a:srgbClr val="111827"/>
            </a:solidFill>
            <a:prstDash val="solid"/>
          </a:ln>
        </p:spPr>
        <p:txBody>
          <a:bodyPr/>
          <a:lstStyle/>
          <a:p>
            <a:endParaRPr lang="en-GB"/>
          </a:p>
        </p:txBody>
      </p:sp>
      <p:sp>
        <p:nvSpPr>
          <p:cNvPr id="80" name="Shape 78"/>
          <p:cNvSpPr/>
          <p:nvPr/>
        </p:nvSpPr>
        <p:spPr>
          <a:xfrm>
            <a:off x="4723304" y="2192749"/>
            <a:ext cx="53943" cy="20451"/>
          </a:xfrm>
          <a:prstGeom prst="line">
            <a:avLst/>
          </a:prstGeom>
          <a:noFill/>
          <a:ln w="21590">
            <a:solidFill>
              <a:srgbClr val="111827"/>
            </a:solidFill>
            <a:prstDash val="solid"/>
          </a:ln>
        </p:spPr>
        <p:txBody>
          <a:bodyPr/>
          <a:lstStyle/>
          <a:p>
            <a:endParaRPr lang="en-GB"/>
          </a:p>
        </p:txBody>
      </p:sp>
      <p:sp>
        <p:nvSpPr>
          <p:cNvPr id="81" name="Shape 79"/>
          <p:cNvSpPr/>
          <p:nvPr/>
        </p:nvSpPr>
        <p:spPr>
          <a:xfrm>
            <a:off x="4777247" y="2213200"/>
            <a:ext cx="53943" cy="17537"/>
          </a:xfrm>
          <a:prstGeom prst="line">
            <a:avLst/>
          </a:prstGeom>
          <a:noFill/>
          <a:ln w="21590">
            <a:solidFill>
              <a:srgbClr val="111827"/>
            </a:solidFill>
            <a:prstDash val="solid"/>
          </a:ln>
        </p:spPr>
        <p:txBody>
          <a:bodyPr/>
          <a:lstStyle/>
          <a:p>
            <a:endParaRPr lang="en-GB"/>
          </a:p>
        </p:txBody>
      </p:sp>
      <p:sp>
        <p:nvSpPr>
          <p:cNvPr id="82" name="Shape 80"/>
          <p:cNvSpPr/>
          <p:nvPr/>
        </p:nvSpPr>
        <p:spPr>
          <a:xfrm>
            <a:off x="4831190" y="2230737"/>
            <a:ext cx="53943" cy="14089"/>
          </a:xfrm>
          <a:prstGeom prst="line">
            <a:avLst/>
          </a:prstGeom>
          <a:noFill/>
          <a:ln w="21590">
            <a:solidFill>
              <a:srgbClr val="111827"/>
            </a:solidFill>
            <a:prstDash val="solid"/>
          </a:ln>
        </p:spPr>
        <p:txBody>
          <a:bodyPr/>
          <a:lstStyle/>
          <a:p>
            <a:endParaRPr lang="en-GB"/>
          </a:p>
        </p:txBody>
      </p:sp>
      <p:sp>
        <p:nvSpPr>
          <p:cNvPr id="83" name="Shape 81"/>
          <p:cNvSpPr/>
          <p:nvPr/>
        </p:nvSpPr>
        <p:spPr>
          <a:xfrm>
            <a:off x="4885133" y="2244826"/>
            <a:ext cx="53943" cy="10260"/>
          </a:xfrm>
          <a:prstGeom prst="line">
            <a:avLst/>
          </a:prstGeom>
          <a:noFill/>
          <a:ln w="21590">
            <a:solidFill>
              <a:srgbClr val="111827"/>
            </a:solidFill>
            <a:prstDash val="solid"/>
          </a:ln>
        </p:spPr>
        <p:txBody>
          <a:bodyPr/>
          <a:lstStyle/>
          <a:p>
            <a:endParaRPr lang="en-GB"/>
          </a:p>
        </p:txBody>
      </p:sp>
      <p:sp>
        <p:nvSpPr>
          <p:cNvPr id="84" name="Shape 82"/>
          <p:cNvSpPr/>
          <p:nvPr/>
        </p:nvSpPr>
        <p:spPr>
          <a:xfrm>
            <a:off x="4939076" y="2255086"/>
            <a:ext cx="53943" cy="6212"/>
          </a:xfrm>
          <a:prstGeom prst="line">
            <a:avLst/>
          </a:prstGeom>
          <a:noFill/>
          <a:ln w="21590">
            <a:solidFill>
              <a:srgbClr val="111827"/>
            </a:solidFill>
            <a:prstDash val="solid"/>
          </a:ln>
        </p:spPr>
        <p:txBody>
          <a:bodyPr/>
          <a:lstStyle/>
          <a:p>
            <a:endParaRPr lang="en-GB"/>
          </a:p>
        </p:txBody>
      </p:sp>
      <p:sp>
        <p:nvSpPr>
          <p:cNvPr id="85" name="Shape 83"/>
          <p:cNvSpPr/>
          <p:nvPr/>
        </p:nvSpPr>
        <p:spPr>
          <a:xfrm>
            <a:off x="4993019" y="2261298"/>
            <a:ext cx="53943" cy="2109"/>
          </a:xfrm>
          <a:prstGeom prst="line">
            <a:avLst/>
          </a:prstGeom>
          <a:noFill/>
          <a:ln w="21590">
            <a:solidFill>
              <a:srgbClr val="111827"/>
            </a:solidFill>
            <a:prstDash val="solid"/>
          </a:ln>
        </p:spPr>
        <p:txBody>
          <a:bodyPr/>
          <a:lstStyle/>
          <a:p>
            <a:endParaRPr lang="en-GB"/>
          </a:p>
        </p:txBody>
      </p:sp>
      <p:sp>
        <p:nvSpPr>
          <p:cNvPr id="86" name="Shape 84"/>
          <p:cNvSpPr/>
          <p:nvPr/>
        </p:nvSpPr>
        <p:spPr>
          <a:xfrm>
            <a:off x="5046962" y="2263407"/>
            <a:ext cx="53943" cy="0"/>
          </a:xfrm>
          <a:prstGeom prst="line">
            <a:avLst/>
          </a:prstGeom>
          <a:noFill/>
          <a:ln w="21590">
            <a:solidFill>
              <a:srgbClr val="111827"/>
            </a:solidFill>
            <a:prstDash val="solid"/>
          </a:ln>
        </p:spPr>
        <p:txBody>
          <a:bodyPr/>
          <a:lstStyle/>
          <a:p>
            <a:endParaRPr lang="en-GB"/>
          </a:p>
        </p:txBody>
      </p:sp>
      <p:sp>
        <p:nvSpPr>
          <p:cNvPr id="87" name="Shape 85"/>
          <p:cNvSpPr/>
          <p:nvPr/>
        </p:nvSpPr>
        <p:spPr>
          <a:xfrm>
            <a:off x="5100905" y="2261515"/>
            <a:ext cx="53943" cy="0"/>
          </a:xfrm>
          <a:prstGeom prst="line">
            <a:avLst/>
          </a:prstGeom>
          <a:noFill/>
          <a:ln w="21590">
            <a:solidFill>
              <a:srgbClr val="111827"/>
            </a:solidFill>
            <a:prstDash val="solid"/>
          </a:ln>
        </p:spPr>
        <p:txBody>
          <a:bodyPr/>
          <a:lstStyle/>
          <a:p>
            <a:endParaRPr lang="en-GB"/>
          </a:p>
        </p:txBody>
      </p:sp>
      <p:sp>
        <p:nvSpPr>
          <p:cNvPr id="88" name="Shape 86"/>
          <p:cNvSpPr/>
          <p:nvPr/>
        </p:nvSpPr>
        <p:spPr>
          <a:xfrm>
            <a:off x="5154848" y="2255874"/>
            <a:ext cx="53943" cy="0"/>
          </a:xfrm>
          <a:prstGeom prst="line">
            <a:avLst/>
          </a:prstGeom>
          <a:noFill/>
          <a:ln w="21590">
            <a:solidFill>
              <a:srgbClr val="111827"/>
            </a:solidFill>
            <a:prstDash val="solid"/>
          </a:ln>
        </p:spPr>
        <p:txBody>
          <a:bodyPr/>
          <a:lstStyle/>
          <a:p>
            <a:endParaRPr lang="en-GB"/>
          </a:p>
        </p:txBody>
      </p:sp>
      <p:sp>
        <p:nvSpPr>
          <p:cNvPr id="89" name="Shape 87"/>
          <p:cNvSpPr/>
          <p:nvPr/>
        </p:nvSpPr>
        <p:spPr>
          <a:xfrm>
            <a:off x="5208791" y="2246862"/>
            <a:ext cx="53943" cy="0"/>
          </a:xfrm>
          <a:prstGeom prst="line">
            <a:avLst/>
          </a:prstGeom>
          <a:noFill/>
          <a:ln w="21590">
            <a:solidFill>
              <a:srgbClr val="111827"/>
            </a:solidFill>
            <a:prstDash val="solid"/>
          </a:ln>
        </p:spPr>
        <p:txBody>
          <a:bodyPr/>
          <a:lstStyle/>
          <a:p>
            <a:endParaRPr lang="en-GB"/>
          </a:p>
        </p:txBody>
      </p:sp>
      <p:sp>
        <p:nvSpPr>
          <p:cNvPr id="90" name="Shape 88"/>
          <p:cNvSpPr/>
          <p:nvPr/>
        </p:nvSpPr>
        <p:spPr>
          <a:xfrm>
            <a:off x="5262734" y="2234970"/>
            <a:ext cx="53943" cy="0"/>
          </a:xfrm>
          <a:prstGeom prst="line">
            <a:avLst/>
          </a:prstGeom>
          <a:noFill/>
          <a:ln w="21590">
            <a:solidFill>
              <a:srgbClr val="111827"/>
            </a:solidFill>
            <a:prstDash val="solid"/>
          </a:ln>
        </p:spPr>
        <p:txBody>
          <a:bodyPr/>
          <a:lstStyle/>
          <a:p>
            <a:endParaRPr lang="en-GB"/>
          </a:p>
        </p:txBody>
      </p:sp>
      <p:sp>
        <p:nvSpPr>
          <p:cNvPr id="91" name="Shape 89"/>
          <p:cNvSpPr/>
          <p:nvPr/>
        </p:nvSpPr>
        <p:spPr>
          <a:xfrm>
            <a:off x="5316677" y="2220771"/>
            <a:ext cx="53943" cy="0"/>
          </a:xfrm>
          <a:prstGeom prst="line">
            <a:avLst/>
          </a:prstGeom>
          <a:noFill/>
          <a:ln w="21590">
            <a:solidFill>
              <a:srgbClr val="111827"/>
            </a:solidFill>
            <a:prstDash val="solid"/>
          </a:ln>
        </p:spPr>
        <p:txBody>
          <a:bodyPr/>
          <a:lstStyle/>
          <a:p>
            <a:endParaRPr lang="en-GB"/>
          </a:p>
        </p:txBody>
      </p:sp>
      <p:sp>
        <p:nvSpPr>
          <p:cNvPr id="92" name="Shape 90"/>
          <p:cNvSpPr/>
          <p:nvPr/>
        </p:nvSpPr>
        <p:spPr>
          <a:xfrm>
            <a:off x="5370620" y="2204903"/>
            <a:ext cx="53943" cy="0"/>
          </a:xfrm>
          <a:prstGeom prst="line">
            <a:avLst/>
          </a:prstGeom>
          <a:noFill/>
          <a:ln w="21590">
            <a:solidFill>
              <a:srgbClr val="111827"/>
            </a:solidFill>
            <a:prstDash val="solid"/>
          </a:ln>
        </p:spPr>
        <p:txBody>
          <a:bodyPr/>
          <a:lstStyle/>
          <a:p>
            <a:endParaRPr lang="en-GB"/>
          </a:p>
        </p:txBody>
      </p:sp>
      <p:sp>
        <p:nvSpPr>
          <p:cNvPr id="93" name="Shape 91"/>
          <p:cNvSpPr/>
          <p:nvPr/>
        </p:nvSpPr>
        <p:spPr>
          <a:xfrm>
            <a:off x="5424563" y="2188040"/>
            <a:ext cx="53943" cy="0"/>
          </a:xfrm>
          <a:prstGeom prst="line">
            <a:avLst/>
          </a:prstGeom>
          <a:noFill/>
          <a:ln w="21590">
            <a:solidFill>
              <a:srgbClr val="111827"/>
            </a:solidFill>
            <a:prstDash val="solid"/>
          </a:ln>
        </p:spPr>
        <p:txBody>
          <a:bodyPr/>
          <a:lstStyle/>
          <a:p>
            <a:endParaRPr lang="en-GB"/>
          </a:p>
        </p:txBody>
      </p:sp>
      <p:sp>
        <p:nvSpPr>
          <p:cNvPr id="94" name="Shape 92"/>
          <p:cNvSpPr/>
          <p:nvPr/>
        </p:nvSpPr>
        <p:spPr>
          <a:xfrm>
            <a:off x="5478506" y="2170866"/>
            <a:ext cx="53943" cy="0"/>
          </a:xfrm>
          <a:prstGeom prst="line">
            <a:avLst/>
          </a:prstGeom>
          <a:noFill/>
          <a:ln w="21590">
            <a:solidFill>
              <a:srgbClr val="111827"/>
            </a:solidFill>
            <a:prstDash val="solid"/>
          </a:ln>
        </p:spPr>
        <p:txBody>
          <a:bodyPr/>
          <a:lstStyle/>
          <a:p>
            <a:endParaRPr lang="en-GB"/>
          </a:p>
        </p:txBody>
      </p:sp>
      <p:sp>
        <p:nvSpPr>
          <p:cNvPr id="95" name="Shape 93"/>
          <p:cNvSpPr/>
          <p:nvPr/>
        </p:nvSpPr>
        <p:spPr>
          <a:xfrm>
            <a:off x="5532449" y="2154059"/>
            <a:ext cx="53943" cy="0"/>
          </a:xfrm>
          <a:prstGeom prst="line">
            <a:avLst/>
          </a:prstGeom>
          <a:noFill/>
          <a:ln w="21590">
            <a:solidFill>
              <a:srgbClr val="111827"/>
            </a:solidFill>
            <a:prstDash val="solid"/>
          </a:ln>
        </p:spPr>
        <p:txBody>
          <a:bodyPr/>
          <a:lstStyle/>
          <a:p>
            <a:endParaRPr lang="en-GB"/>
          </a:p>
        </p:txBody>
      </p:sp>
      <p:sp>
        <p:nvSpPr>
          <p:cNvPr id="96" name="Shape 94"/>
          <p:cNvSpPr/>
          <p:nvPr/>
        </p:nvSpPr>
        <p:spPr>
          <a:xfrm>
            <a:off x="5586392" y="2138262"/>
            <a:ext cx="53943" cy="0"/>
          </a:xfrm>
          <a:prstGeom prst="line">
            <a:avLst/>
          </a:prstGeom>
          <a:noFill/>
          <a:ln w="21590">
            <a:solidFill>
              <a:srgbClr val="111827"/>
            </a:solidFill>
            <a:prstDash val="solid"/>
          </a:ln>
        </p:spPr>
        <p:txBody>
          <a:bodyPr/>
          <a:lstStyle/>
          <a:p>
            <a:endParaRPr lang="en-GB"/>
          </a:p>
        </p:txBody>
      </p:sp>
      <p:sp>
        <p:nvSpPr>
          <p:cNvPr id="97" name="Shape 95"/>
          <p:cNvSpPr/>
          <p:nvPr/>
        </p:nvSpPr>
        <p:spPr>
          <a:xfrm>
            <a:off x="5640335" y="2124068"/>
            <a:ext cx="53943" cy="0"/>
          </a:xfrm>
          <a:prstGeom prst="line">
            <a:avLst/>
          </a:prstGeom>
          <a:noFill/>
          <a:ln w="21590">
            <a:solidFill>
              <a:srgbClr val="111827"/>
            </a:solidFill>
            <a:prstDash val="solid"/>
          </a:ln>
        </p:spPr>
        <p:txBody>
          <a:bodyPr/>
          <a:lstStyle/>
          <a:p>
            <a:endParaRPr lang="en-GB"/>
          </a:p>
        </p:txBody>
      </p:sp>
      <p:sp>
        <p:nvSpPr>
          <p:cNvPr id="98" name="Shape 96"/>
          <p:cNvSpPr/>
          <p:nvPr/>
        </p:nvSpPr>
        <p:spPr>
          <a:xfrm>
            <a:off x="5694278" y="2112003"/>
            <a:ext cx="53943" cy="0"/>
          </a:xfrm>
          <a:prstGeom prst="line">
            <a:avLst/>
          </a:prstGeom>
          <a:noFill/>
          <a:ln w="21590">
            <a:solidFill>
              <a:srgbClr val="111827"/>
            </a:solidFill>
            <a:prstDash val="solid"/>
          </a:ln>
        </p:spPr>
        <p:txBody>
          <a:bodyPr/>
          <a:lstStyle/>
          <a:p>
            <a:endParaRPr lang="en-GB"/>
          </a:p>
        </p:txBody>
      </p:sp>
      <p:sp>
        <p:nvSpPr>
          <p:cNvPr id="99" name="Shape 97"/>
          <p:cNvSpPr/>
          <p:nvPr/>
        </p:nvSpPr>
        <p:spPr>
          <a:xfrm>
            <a:off x="5748221" y="2102505"/>
            <a:ext cx="53943" cy="0"/>
          </a:xfrm>
          <a:prstGeom prst="line">
            <a:avLst/>
          </a:prstGeom>
          <a:noFill/>
          <a:ln w="21590">
            <a:solidFill>
              <a:srgbClr val="111827"/>
            </a:solidFill>
            <a:prstDash val="solid"/>
          </a:ln>
        </p:spPr>
        <p:txBody>
          <a:bodyPr/>
          <a:lstStyle/>
          <a:p>
            <a:endParaRPr lang="en-GB"/>
          </a:p>
        </p:txBody>
      </p:sp>
      <p:sp>
        <p:nvSpPr>
          <p:cNvPr id="100" name="Shape 98"/>
          <p:cNvSpPr/>
          <p:nvPr/>
        </p:nvSpPr>
        <p:spPr>
          <a:xfrm>
            <a:off x="5802164" y="2095922"/>
            <a:ext cx="53943" cy="0"/>
          </a:xfrm>
          <a:prstGeom prst="line">
            <a:avLst/>
          </a:prstGeom>
          <a:noFill/>
          <a:ln w="21590">
            <a:solidFill>
              <a:srgbClr val="111827"/>
            </a:solidFill>
            <a:prstDash val="solid"/>
          </a:ln>
        </p:spPr>
        <p:txBody>
          <a:bodyPr/>
          <a:lstStyle/>
          <a:p>
            <a:endParaRPr lang="en-GB"/>
          </a:p>
        </p:txBody>
      </p:sp>
      <p:sp>
        <p:nvSpPr>
          <p:cNvPr id="101" name="Shape 99"/>
          <p:cNvSpPr/>
          <p:nvPr/>
        </p:nvSpPr>
        <p:spPr>
          <a:xfrm>
            <a:off x="5856107" y="2092495"/>
            <a:ext cx="53943" cy="0"/>
          </a:xfrm>
          <a:prstGeom prst="line">
            <a:avLst/>
          </a:prstGeom>
          <a:noFill/>
          <a:ln w="21590">
            <a:solidFill>
              <a:srgbClr val="111827"/>
            </a:solidFill>
            <a:prstDash val="solid"/>
          </a:ln>
        </p:spPr>
        <p:txBody>
          <a:bodyPr/>
          <a:lstStyle/>
          <a:p>
            <a:endParaRPr lang="en-GB"/>
          </a:p>
        </p:txBody>
      </p:sp>
      <p:sp>
        <p:nvSpPr>
          <p:cNvPr id="102" name="Shape 100"/>
          <p:cNvSpPr/>
          <p:nvPr/>
        </p:nvSpPr>
        <p:spPr>
          <a:xfrm>
            <a:off x="5910050" y="2092353"/>
            <a:ext cx="53943" cy="3163"/>
          </a:xfrm>
          <a:prstGeom prst="line">
            <a:avLst/>
          </a:prstGeom>
          <a:noFill/>
          <a:ln w="21590">
            <a:solidFill>
              <a:srgbClr val="111827"/>
            </a:solidFill>
            <a:prstDash val="solid"/>
          </a:ln>
        </p:spPr>
        <p:txBody>
          <a:bodyPr/>
          <a:lstStyle/>
          <a:p>
            <a:endParaRPr lang="en-GB"/>
          </a:p>
        </p:txBody>
      </p:sp>
      <p:sp>
        <p:nvSpPr>
          <p:cNvPr id="103" name="Shape 101"/>
          <p:cNvSpPr/>
          <p:nvPr/>
        </p:nvSpPr>
        <p:spPr>
          <a:xfrm>
            <a:off x="5963993" y="2095517"/>
            <a:ext cx="53943" cy="6374"/>
          </a:xfrm>
          <a:prstGeom prst="line">
            <a:avLst/>
          </a:prstGeom>
          <a:noFill/>
          <a:ln w="21590">
            <a:solidFill>
              <a:srgbClr val="111827"/>
            </a:solidFill>
            <a:prstDash val="solid"/>
          </a:ln>
        </p:spPr>
        <p:txBody>
          <a:bodyPr/>
          <a:lstStyle/>
          <a:p>
            <a:endParaRPr lang="en-GB"/>
          </a:p>
        </p:txBody>
      </p:sp>
      <p:sp>
        <p:nvSpPr>
          <p:cNvPr id="104" name="Shape 102"/>
          <p:cNvSpPr/>
          <p:nvPr/>
        </p:nvSpPr>
        <p:spPr>
          <a:xfrm>
            <a:off x="6017936" y="2101891"/>
            <a:ext cx="53943" cy="9384"/>
          </a:xfrm>
          <a:prstGeom prst="line">
            <a:avLst/>
          </a:prstGeom>
          <a:noFill/>
          <a:ln w="21590">
            <a:solidFill>
              <a:srgbClr val="111827"/>
            </a:solidFill>
            <a:prstDash val="solid"/>
          </a:ln>
        </p:spPr>
        <p:txBody>
          <a:bodyPr/>
          <a:lstStyle/>
          <a:p>
            <a:endParaRPr lang="en-GB"/>
          </a:p>
        </p:txBody>
      </p:sp>
      <p:sp>
        <p:nvSpPr>
          <p:cNvPr id="105" name="Shape 103"/>
          <p:cNvSpPr/>
          <p:nvPr/>
        </p:nvSpPr>
        <p:spPr>
          <a:xfrm>
            <a:off x="6071879" y="2111274"/>
            <a:ext cx="53943" cy="12092"/>
          </a:xfrm>
          <a:prstGeom prst="line">
            <a:avLst/>
          </a:prstGeom>
          <a:noFill/>
          <a:ln w="21590">
            <a:solidFill>
              <a:srgbClr val="111827"/>
            </a:solidFill>
            <a:prstDash val="solid"/>
          </a:ln>
        </p:spPr>
        <p:txBody>
          <a:bodyPr/>
          <a:lstStyle/>
          <a:p>
            <a:endParaRPr lang="en-GB"/>
          </a:p>
        </p:txBody>
      </p:sp>
      <p:sp>
        <p:nvSpPr>
          <p:cNvPr id="106" name="Shape 104"/>
          <p:cNvSpPr/>
          <p:nvPr/>
        </p:nvSpPr>
        <p:spPr>
          <a:xfrm>
            <a:off x="6125822" y="2123366"/>
            <a:ext cx="53943" cy="14408"/>
          </a:xfrm>
          <a:prstGeom prst="line">
            <a:avLst/>
          </a:prstGeom>
          <a:noFill/>
          <a:ln w="21590">
            <a:solidFill>
              <a:srgbClr val="111827"/>
            </a:solidFill>
            <a:prstDash val="solid"/>
          </a:ln>
        </p:spPr>
        <p:txBody>
          <a:bodyPr/>
          <a:lstStyle/>
          <a:p>
            <a:endParaRPr lang="en-GB"/>
          </a:p>
        </p:txBody>
      </p:sp>
      <p:sp>
        <p:nvSpPr>
          <p:cNvPr id="107" name="Shape 105"/>
          <p:cNvSpPr/>
          <p:nvPr/>
        </p:nvSpPr>
        <p:spPr>
          <a:xfrm>
            <a:off x="6179765" y="2137774"/>
            <a:ext cx="53943" cy="16257"/>
          </a:xfrm>
          <a:prstGeom prst="line">
            <a:avLst/>
          </a:prstGeom>
          <a:noFill/>
          <a:ln w="21590">
            <a:solidFill>
              <a:srgbClr val="111827"/>
            </a:solidFill>
            <a:prstDash val="solid"/>
          </a:ln>
        </p:spPr>
        <p:txBody>
          <a:bodyPr/>
          <a:lstStyle/>
          <a:p>
            <a:endParaRPr lang="en-GB"/>
          </a:p>
        </p:txBody>
      </p:sp>
      <p:sp>
        <p:nvSpPr>
          <p:cNvPr id="108" name="Shape 106"/>
          <p:cNvSpPr/>
          <p:nvPr/>
        </p:nvSpPr>
        <p:spPr>
          <a:xfrm>
            <a:off x="6233708" y="2154031"/>
            <a:ext cx="53943" cy="17576"/>
          </a:xfrm>
          <a:prstGeom prst="line">
            <a:avLst/>
          </a:prstGeom>
          <a:noFill/>
          <a:ln w="21590">
            <a:solidFill>
              <a:srgbClr val="111827"/>
            </a:solidFill>
            <a:prstDash val="solid"/>
          </a:ln>
        </p:spPr>
        <p:txBody>
          <a:bodyPr/>
          <a:lstStyle/>
          <a:p>
            <a:endParaRPr lang="en-GB"/>
          </a:p>
        </p:txBody>
      </p:sp>
      <p:sp>
        <p:nvSpPr>
          <p:cNvPr id="109" name="Shape 107"/>
          <p:cNvSpPr/>
          <p:nvPr/>
        </p:nvSpPr>
        <p:spPr>
          <a:xfrm>
            <a:off x="6287651" y="2171607"/>
            <a:ext cx="53943" cy="18324"/>
          </a:xfrm>
          <a:prstGeom prst="line">
            <a:avLst/>
          </a:prstGeom>
          <a:noFill/>
          <a:ln w="21590">
            <a:solidFill>
              <a:srgbClr val="111827"/>
            </a:solidFill>
            <a:prstDash val="solid"/>
          </a:ln>
        </p:spPr>
        <p:txBody>
          <a:bodyPr/>
          <a:lstStyle/>
          <a:p>
            <a:endParaRPr lang="en-GB"/>
          </a:p>
        </p:txBody>
      </p:sp>
      <p:sp>
        <p:nvSpPr>
          <p:cNvPr id="110" name="Shape 108"/>
          <p:cNvSpPr/>
          <p:nvPr/>
        </p:nvSpPr>
        <p:spPr>
          <a:xfrm>
            <a:off x="6341594" y="2189931"/>
            <a:ext cx="53943" cy="18474"/>
          </a:xfrm>
          <a:prstGeom prst="line">
            <a:avLst/>
          </a:prstGeom>
          <a:noFill/>
          <a:ln w="21590">
            <a:solidFill>
              <a:srgbClr val="111827"/>
            </a:solidFill>
            <a:prstDash val="solid"/>
          </a:ln>
        </p:spPr>
        <p:txBody>
          <a:bodyPr/>
          <a:lstStyle/>
          <a:p>
            <a:endParaRPr lang="en-GB"/>
          </a:p>
        </p:txBody>
      </p:sp>
      <p:sp>
        <p:nvSpPr>
          <p:cNvPr id="111" name="Shape 109"/>
          <p:cNvSpPr/>
          <p:nvPr/>
        </p:nvSpPr>
        <p:spPr>
          <a:xfrm>
            <a:off x="6395537" y="2208405"/>
            <a:ext cx="53943" cy="18022"/>
          </a:xfrm>
          <a:prstGeom prst="line">
            <a:avLst/>
          </a:prstGeom>
          <a:noFill/>
          <a:ln w="21590">
            <a:solidFill>
              <a:srgbClr val="111827"/>
            </a:solidFill>
            <a:prstDash val="solid"/>
          </a:ln>
        </p:spPr>
        <p:txBody>
          <a:bodyPr/>
          <a:lstStyle/>
          <a:p>
            <a:endParaRPr lang="en-GB"/>
          </a:p>
        </p:txBody>
      </p:sp>
      <p:sp>
        <p:nvSpPr>
          <p:cNvPr id="112" name="Shape 110"/>
          <p:cNvSpPr/>
          <p:nvPr/>
        </p:nvSpPr>
        <p:spPr>
          <a:xfrm>
            <a:off x="6449480" y="2226427"/>
            <a:ext cx="53943" cy="16983"/>
          </a:xfrm>
          <a:prstGeom prst="line">
            <a:avLst/>
          </a:prstGeom>
          <a:noFill/>
          <a:ln w="21590">
            <a:solidFill>
              <a:srgbClr val="111827"/>
            </a:solidFill>
            <a:prstDash val="solid"/>
          </a:ln>
        </p:spPr>
        <p:txBody>
          <a:bodyPr/>
          <a:lstStyle/>
          <a:p>
            <a:endParaRPr lang="en-GB"/>
          </a:p>
        </p:txBody>
      </p:sp>
      <p:sp>
        <p:nvSpPr>
          <p:cNvPr id="113" name="Shape 111"/>
          <p:cNvSpPr/>
          <p:nvPr/>
        </p:nvSpPr>
        <p:spPr>
          <a:xfrm>
            <a:off x="6503423" y="2243410"/>
            <a:ext cx="53943" cy="15390"/>
          </a:xfrm>
          <a:prstGeom prst="line">
            <a:avLst/>
          </a:prstGeom>
          <a:noFill/>
          <a:ln w="21590">
            <a:solidFill>
              <a:srgbClr val="111827"/>
            </a:solidFill>
            <a:prstDash val="solid"/>
          </a:ln>
        </p:spPr>
        <p:txBody>
          <a:bodyPr/>
          <a:lstStyle/>
          <a:p>
            <a:endParaRPr lang="en-GB"/>
          </a:p>
        </p:txBody>
      </p:sp>
      <p:sp>
        <p:nvSpPr>
          <p:cNvPr id="114" name="Shape 112"/>
          <p:cNvSpPr/>
          <p:nvPr/>
        </p:nvSpPr>
        <p:spPr>
          <a:xfrm>
            <a:off x="6557366" y="2258800"/>
            <a:ext cx="53943" cy="13296"/>
          </a:xfrm>
          <a:prstGeom prst="line">
            <a:avLst/>
          </a:prstGeom>
          <a:noFill/>
          <a:ln w="21590">
            <a:solidFill>
              <a:srgbClr val="111827"/>
            </a:solidFill>
            <a:prstDash val="solid"/>
          </a:ln>
        </p:spPr>
        <p:txBody>
          <a:bodyPr/>
          <a:lstStyle/>
          <a:p>
            <a:endParaRPr lang="en-GB"/>
          </a:p>
        </p:txBody>
      </p:sp>
      <p:sp>
        <p:nvSpPr>
          <p:cNvPr id="115" name="Shape 113"/>
          <p:cNvSpPr/>
          <p:nvPr/>
        </p:nvSpPr>
        <p:spPr>
          <a:xfrm>
            <a:off x="6611309" y="2272096"/>
            <a:ext cx="53943" cy="10768"/>
          </a:xfrm>
          <a:prstGeom prst="line">
            <a:avLst/>
          </a:prstGeom>
          <a:noFill/>
          <a:ln w="21590">
            <a:solidFill>
              <a:srgbClr val="111827"/>
            </a:solidFill>
            <a:prstDash val="solid"/>
          </a:ln>
        </p:spPr>
        <p:txBody>
          <a:bodyPr/>
          <a:lstStyle/>
          <a:p>
            <a:endParaRPr lang="en-GB"/>
          </a:p>
        </p:txBody>
      </p:sp>
      <p:sp>
        <p:nvSpPr>
          <p:cNvPr id="116" name="Shape 114"/>
          <p:cNvSpPr/>
          <p:nvPr/>
        </p:nvSpPr>
        <p:spPr>
          <a:xfrm>
            <a:off x="6665252" y="2282864"/>
            <a:ext cx="53943" cy="7889"/>
          </a:xfrm>
          <a:prstGeom prst="line">
            <a:avLst/>
          </a:prstGeom>
          <a:noFill/>
          <a:ln w="21590">
            <a:solidFill>
              <a:srgbClr val="111827"/>
            </a:solidFill>
            <a:prstDash val="solid"/>
          </a:ln>
        </p:spPr>
        <p:txBody>
          <a:bodyPr/>
          <a:lstStyle/>
          <a:p>
            <a:endParaRPr lang="en-GB"/>
          </a:p>
        </p:txBody>
      </p:sp>
      <p:sp>
        <p:nvSpPr>
          <p:cNvPr id="117" name="Shape 115"/>
          <p:cNvSpPr/>
          <p:nvPr/>
        </p:nvSpPr>
        <p:spPr>
          <a:xfrm>
            <a:off x="6719195" y="2290752"/>
            <a:ext cx="53943" cy="4752"/>
          </a:xfrm>
          <a:prstGeom prst="line">
            <a:avLst/>
          </a:prstGeom>
          <a:noFill/>
          <a:ln w="21590">
            <a:solidFill>
              <a:srgbClr val="111827"/>
            </a:solidFill>
            <a:prstDash val="solid"/>
          </a:ln>
        </p:spPr>
        <p:txBody>
          <a:bodyPr/>
          <a:lstStyle/>
          <a:p>
            <a:endParaRPr lang="en-GB"/>
          </a:p>
        </p:txBody>
      </p:sp>
      <p:sp>
        <p:nvSpPr>
          <p:cNvPr id="118" name="Shape 116"/>
          <p:cNvSpPr/>
          <p:nvPr/>
        </p:nvSpPr>
        <p:spPr>
          <a:xfrm>
            <a:off x="6773138" y="2295505"/>
            <a:ext cx="53943" cy="1461"/>
          </a:xfrm>
          <a:prstGeom prst="line">
            <a:avLst/>
          </a:prstGeom>
          <a:noFill/>
          <a:ln w="21590">
            <a:solidFill>
              <a:srgbClr val="111827"/>
            </a:solidFill>
            <a:prstDash val="solid"/>
          </a:ln>
        </p:spPr>
        <p:txBody>
          <a:bodyPr/>
          <a:lstStyle/>
          <a:p>
            <a:endParaRPr lang="en-GB"/>
          </a:p>
        </p:txBody>
      </p:sp>
      <p:sp>
        <p:nvSpPr>
          <p:cNvPr id="119" name="Shape 117"/>
          <p:cNvSpPr/>
          <p:nvPr/>
        </p:nvSpPr>
        <p:spPr>
          <a:xfrm>
            <a:off x="6827081" y="2296966"/>
            <a:ext cx="53943" cy="0"/>
          </a:xfrm>
          <a:prstGeom prst="line">
            <a:avLst/>
          </a:prstGeom>
          <a:noFill/>
          <a:ln w="21590">
            <a:solidFill>
              <a:srgbClr val="111827"/>
            </a:solidFill>
            <a:prstDash val="solid"/>
          </a:ln>
        </p:spPr>
        <p:txBody>
          <a:bodyPr/>
          <a:lstStyle/>
          <a:p>
            <a:endParaRPr lang="en-GB"/>
          </a:p>
        </p:txBody>
      </p:sp>
      <p:sp>
        <p:nvSpPr>
          <p:cNvPr id="120" name="Shape 118"/>
          <p:cNvSpPr/>
          <p:nvPr/>
        </p:nvSpPr>
        <p:spPr>
          <a:xfrm>
            <a:off x="6881024" y="2295089"/>
            <a:ext cx="53943" cy="0"/>
          </a:xfrm>
          <a:prstGeom prst="line">
            <a:avLst/>
          </a:prstGeom>
          <a:noFill/>
          <a:ln w="21590">
            <a:solidFill>
              <a:srgbClr val="111827"/>
            </a:solidFill>
            <a:prstDash val="solid"/>
          </a:ln>
        </p:spPr>
        <p:txBody>
          <a:bodyPr/>
          <a:lstStyle/>
          <a:p>
            <a:endParaRPr lang="en-GB"/>
          </a:p>
        </p:txBody>
      </p:sp>
      <p:sp>
        <p:nvSpPr>
          <p:cNvPr id="121" name="Shape 119"/>
          <p:cNvSpPr/>
          <p:nvPr/>
        </p:nvSpPr>
        <p:spPr>
          <a:xfrm>
            <a:off x="6934967" y="2289934"/>
            <a:ext cx="53943" cy="0"/>
          </a:xfrm>
          <a:prstGeom prst="line">
            <a:avLst/>
          </a:prstGeom>
          <a:noFill/>
          <a:ln w="21590">
            <a:solidFill>
              <a:srgbClr val="111827"/>
            </a:solidFill>
            <a:prstDash val="solid"/>
          </a:ln>
        </p:spPr>
        <p:txBody>
          <a:bodyPr/>
          <a:lstStyle/>
          <a:p>
            <a:endParaRPr lang="en-GB"/>
          </a:p>
        </p:txBody>
      </p:sp>
      <p:sp>
        <p:nvSpPr>
          <p:cNvPr id="122" name="Shape 120"/>
          <p:cNvSpPr/>
          <p:nvPr/>
        </p:nvSpPr>
        <p:spPr>
          <a:xfrm>
            <a:off x="6988911" y="2281669"/>
            <a:ext cx="53943" cy="0"/>
          </a:xfrm>
          <a:prstGeom prst="line">
            <a:avLst/>
          </a:prstGeom>
          <a:noFill/>
          <a:ln w="21590">
            <a:solidFill>
              <a:srgbClr val="111827"/>
            </a:solidFill>
            <a:prstDash val="solid"/>
          </a:ln>
        </p:spPr>
        <p:txBody>
          <a:bodyPr/>
          <a:lstStyle/>
          <a:p>
            <a:endParaRPr lang="en-GB"/>
          </a:p>
        </p:txBody>
      </p:sp>
      <p:sp>
        <p:nvSpPr>
          <p:cNvPr id="123" name="Shape 121"/>
          <p:cNvSpPr/>
          <p:nvPr/>
        </p:nvSpPr>
        <p:spPr>
          <a:xfrm>
            <a:off x="7042854" y="2270564"/>
            <a:ext cx="53943" cy="0"/>
          </a:xfrm>
          <a:prstGeom prst="line">
            <a:avLst/>
          </a:prstGeom>
          <a:noFill/>
          <a:ln w="21590">
            <a:solidFill>
              <a:srgbClr val="111827"/>
            </a:solidFill>
            <a:prstDash val="solid"/>
          </a:ln>
        </p:spPr>
        <p:txBody>
          <a:bodyPr/>
          <a:lstStyle/>
          <a:p>
            <a:endParaRPr lang="en-GB"/>
          </a:p>
        </p:txBody>
      </p:sp>
      <p:sp>
        <p:nvSpPr>
          <p:cNvPr id="124" name="Shape 122"/>
          <p:cNvSpPr/>
          <p:nvPr/>
        </p:nvSpPr>
        <p:spPr>
          <a:xfrm>
            <a:off x="7096797" y="2256981"/>
            <a:ext cx="53943" cy="0"/>
          </a:xfrm>
          <a:prstGeom prst="line">
            <a:avLst/>
          </a:prstGeom>
          <a:noFill/>
          <a:ln w="21590">
            <a:solidFill>
              <a:srgbClr val="111827"/>
            </a:solidFill>
            <a:prstDash val="solid"/>
          </a:ln>
        </p:spPr>
        <p:txBody>
          <a:bodyPr/>
          <a:lstStyle/>
          <a:p>
            <a:endParaRPr lang="en-GB"/>
          </a:p>
        </p:txBody>
      </p:sp>
      <p:sp>
        <p:nvSpPr>
          <p:cNvPr id="125" name="Shape 123"/>
          <p:cNvSpPr/>
          <p:nvPr/>
        </p:nvSpPr>
        <p:spPr>
          <a:xfrm>
            <a:off x="7150740" y="2241364"/>
            <a:ext cx="53943" cy="0"/>
          </a:xfrm>
          <a:prstGeom prst="line">
            <a:avLst/>
          </a:prstGeom>
          <a:noFill/>
          <a:ln w="21590">
            <a:solidFill>
              <a:srgbClr val="111827"/>
            </a:solidFill>
            <a:prstDash val="solid"/>
          </a:ln>
        </p:spPr>
        <p:txBody>
          <a:bodyPr/>
          <a:lstStyle/>
          <a:p>
            <a:endParaRPr lang="en-GB"/>
          </a:p>
        </p:txBody>
      </p:sp>
      <p:sp>
        <p:nvSpPr>
          <p:cNvPr id="126" name="Shape 124"/>
          <p:cNvSpPr/>
          <p:nvPr/>
        </p:nvSpPr>
        <p:spPr>
          <a:xfrm>
            <a:off x="7204683" y="2224220"/>
            <a:ext cx="53943" cy="0"/>
          </a:xfrm>
          <a:prstGeom prst="line">
            <a:avLst/>
          </a:prstGeom>
          <a:noFill/>
          <a:ln w="21590">
            <a:solidFill>
              <a:srgbClr val="111827"/>
            </a:solidFill>
            <a:prstDash val="solid"/>
          </a:ln>
        </p:spPr>
        <p:txBody>
          <a:bodyPr/>
          <a:lstStyle/>
          <a:p>
            <a:endParaRPr lang="en-GB"/>
          </a:p>
        </p:txBody>
      </p:sp>
      <p:sp>
        <p:nvSpPr>
          <p:cNvPr id="127" name="Shape 125"/>
          <p:cNvSpPr/>
          <p:nvPr/>
        </p:nvSpPr>
        <p:spPr>
          <a:xfrm>
            <a:off x="7258626" y="2206109"/>
            <a:ext cx="53943" cy="0"/>
          </a:xfrm>
          <a:prstGeom prst="line">
            <a:avLst/>
          </a:prstGeom>
          <a:noFill/>
          <a:ln w="21590">
            <a:solidFill>
              <a:srgbClr val="111827"/>
            </a:solidFill>
            <a:prstDash val="solid"/>
          </a:ln>
        </p:spPr>
        <p:txBody>
          <a:bodyPr/>
          <a:lstStyle/>
          <a:p>
            <a:endParaRPr lang="en-GB"/>
          </a:p>
        </p:txBody>
      </p:sp>
      <p:sp>
        <p:nvSpPr>
          <p:cNvPr id="128" name="Shape 126"/>
          <p:cNvSpPr/>
          <p:nvPr/>
        </p:nvSpPr>
        <p:spPr>
          <a:xfrm>
            <a:off x="7312569" y="2187621"/>
            <a:ext cx="53943" cy="0"/>
          </a:xfrm>
          <a:prstGeom prst="line">
            <a:avLst/>
          </a:prstGeom>
          <a:noFill/>
          <a:ln w="21590">
            <a:solidFill>
              <a:srgbClr val="111827"/>
            </a:solidFill>
            <a:prstDash val="solid"/>
          </a:ln>
        </p:spPr>
        <p:txBody>
          <a:bodyPr/>
          <a:lstStyle/>
          <a:p>
            <a:endParaRPr lang="en-GB"/>
          </a:p>
        </p:txBody>
      </p:sp>
      <p:sp>
        <p:nvSpPr>
          <p:cNvPr id="129" name="Shape 127"/>
          <p:cNvSpPr/>
          <p:nvPr/>
        </p:nvSpPr>
        <p:spPr>
          <a:xfrm>
            <a:off x="7366512" y="2169360"/>
            <a:ext cx="53943" cy="0"/>
          </a:xfrm>
          <a:prstGeom prst="line">
            <a:avLst/>
          </a:prstGeom>
          <a:noFill/>
          <a:ln w="21590">
            <a:solidFill>
              <a:srgbClr val="111827"/>
            </a:solidFill>
            <a:prstDash val="solid"/>
          </a:ln>
        </p:spPr>
        <p:txBody>
          <a:bodyPr/>
          <a:lstStyle/>
          <a:p>
            <a:endParaRPr lang="en-GB"/>
          </a:p>
        </p:txBody>
      </p:sp>
      <p:sp>
        <p:nvSpPr>
          <p:cNvPr id="130" name="Shape 128"/>
          <p:cNvSpPr/>
          <p:nvPr/>
        </p:nvSpPr>
        <p:spPr>
          <a:xfrm>
            <a:off x="7420455" y="2151921"/>
            <a:ext cx="53943" cy="0"/>
          </a:xfrm>
          <a:prstGeom prst="line">
            <a:avLst/>
          </a:prstGeom>
          <a:noFill/>
          <a:ln w="21590">
            <a:solidFill>
              <a:srgbClr val="111827"/>
            </a:solidFill>
            <a:prstDash val="solid"/>
          </a:ln>
        </p:spPr>
        <p:txBody>
          <a:bodyPr/>
          <a:lstStyle/>
          <a:p>
            <a:endParaRPr lang="en-GB"/>
          </a:p>
        </p:txBody>
      </p:sp>
      <p:sp>
        <p:nvSpPr>
          <p:cNvPr id="131" name="Shape 129"/>
          <p:cNvSpPr/>
          <p:nvPr/>
        </p:nvSpPr>
        <p:spPr>
          <a:xfrm>
            <a:off x="7474398" y="2135871"/>
            <a:ext cx="53943" cy="0"/>
          </a:xfrm>
          <a:prstGeom prst="line">
            <a:avLst/>
          </a:prstGeom>
          <a:noFill/>
          <a:ln w="21590">
            <a:solidFill>
              <a:srgbClr val="111827"/>
            </a:solidFill>
            <a:prstDash val="solid"/>
          </a:ln>
        </p:spPr>
        <p:txBody>
          <a:bodyPr/>
          <a:lstStyle/>
          <a:p>
            <a:endParaRPr lang="en-GB"/>
          </a:p>
        </p:txBody>
      </p:sp>
      <p:sp>
        <p:nvSpPr>
          <p:cNvPr id="132" name="Shape 130"/>
          <p:cNvSpPr/>
          <p:nvPr/>
        </p:nvSpPr>
        <p:spPr>
          <a:xfrm>
            <a:off x="7528341" y="2121735"/>
            <a:ext cx="53943" cy="0"/>
          </a:xfrm>
          <a:prstGeom prst="line">
            <a:avLst/>
          </a:prstGeom>
          <a:noFill/>
          <a:ln w="21590">
            <a:solidFill>
              <a:srgbClr val="111827"/>
            </a:solidFill>
            <a:prstDash val="solid"/>
          </a:ln>
        </p:spPr>
        <p:txBody>
          <a:bodyPr/>
          <a:lstStyle/>
          <a:p>
            <a:endParaRPr lang="en-GB"/>
          </a:p>
        </p:txBody>
      </p:sp>
      <p:sp>
        <p:nvSpPr>
          <p:cNvPr id="133" name="Shape 131"/>
          <p:cNvSpPr/>
          <p:nvPr/>
        </p:nvSpPr>
        <p:spPr>
          <a:xfrm>
            <a:off x="7582284" y="2109974"/>
            <a:ext cx="53943" cy="0"/>
          </a:xfrm>
          <a:prstGeom prst="line">
            <a:avLst/>
          </a:prstGeom>
          <a:noFill/>
          <a:ln w="21590">
            <a:solidFill>
              <a:srgbClr val="111827"/>
            </a:solidFill>
            <a:prstDash val="solid"/>
          </a:ln>
        </p:spPr>
        <p:txBody>
          <a:bodyPr/>
          <a:lstStyle/>
          <a:p>
            <a:endParaRPr lang="en-GB"/>
          </a:p>
        </p:txBody>
      </p:sp>
      <p:sp>
        <p:nvSpPr>
          <p:cNvPr id="134" name="Shape 132"/>
          <p:cNvSpPr/>
          <p:nvPr/>
        </p:nvSpPr>
        <p:spPr>
          <a:xfrm>
            <a:off x="7636227" y="2100970"/>
            <a:ext cx="53943" cy="0"/>
          </a:xfrm>
          <a:prstGeom prst="line">
            <a:avLst/>
          </a:prstGeom>
          <a:noFill/>
          <a:ln w="21590">
            <a:solidFill>
              <a:srgbClr val="111827"/>
            </a:solidFill>
            <a:prstDash val="solid"/>
          </a:ln>
        </p:spPr>
        <p:txBody>
          <a:bodyPr/>
          <a:lstStyle/>
          <a:p>
            <a:endParaRPr lang="en-GB"/>
          </a:p>
        </p:txBody>
      </p:sp>
      <p:sp>
        <p:nvSpPr>
          <p:cNvPr id="135" name="Shape 133"/>
          <p:cNvSpPr/>
          <p:nvPr/>
        </p:nvSpPr>
        <p:spPr>
          <a:xfrm>
            <a:off x="7690170" y="2095018"/>
            <a:ext cx="53943" cy="0"/>
          </a:xfrm>
          <a:prstGeom prst="line">
            <a:avLst/>
          </a:prstGeom>
          <a:noFill/>
          <a:ln w="21590">
            <a:solidFill>
              <a:srgbClr val="111827"/>
            </a:solidFill>
            <a:prstDash val="solid"/>
          </a:ln>
        </p:spPr>
        <p:txBody>
          <a:bodyPr/>
          <a:lstStyle/>
          <a:p>
            <a:endParaRPr lang="en-GB"/>
          </a:p>
        </p:txBody>
      </p:sp>
      <p:sp>
        <p:nvSpPr>
          <p:cNvPr id="136" name="Shape 134"/>
          <p:cNvSpPr/>
          <p:nvPr/>
        </p:nvSpPr>
        <p:spPr>
          <a:xfrm>
            <a:off x="7744113" y="2092311"/>
            <a:ext cx="53943" cy="627"/>
          </a:xfrm>
          <a:prstGeom prst="line">
            <a:avLst/>
          </a:prstGeom>
          <a:noFill/>
          <a:ln w="21590">
            <a:solidFill>
              <a:srgbClr val="111827"/>
            </a:solidFill>
            <a:prstDash val="solid"/>
          </a:ln>
        </p:spPr>
        <p:txBody>
          <a:bodyPr/>
          <a:lstStyle/>
          <a:p>
            <a:endParaRPr lang="en-GB"/>
          </a:p>
        </p:txBody>
      </p:sp>
      <p:sp>
        <p:nvSpPr>
          <p:cNvPr id="137" name="Shape 135"/>
          <p:cNvSpPr/>
          <p:nvPr/>
        </p:nvSpPr>
        <p:spPr>
          <a:xfrm>
            <a:off x="7798056" y="2092937"/>
            <a:ext cx="53943" cy="3940"/>
          </a:xfrm>
          <a:prstGeom prst="line">
            <a:avLst/>
          </a:prstGeom>
          <a:noFill/>
          <a:ln w="21590">
            <a:solidFill>
              <a:srgbClr val="111827"/>
            </a:solidFill>
            <a:prstDash val="solid"/>
          </a:ln>
        </p:spPr>
        <p:txBody>
          <a:bodyPr/>
          <a:lstStyle/>
          <a:p>
            <a:endParaRPr lang="en-GB"/>
          </a:p>
        </p:txBody>
      </p:sp>
      <p:sp>
        <p:nvSpPr>
          <p:cNvPr id="138" name="Shape 136"/>
          <p:cNvSpPr/>
          <p:nvPr/>
        </p:nvSpPr>
        <p:spPr>
          <a:xfrm>
            <a:off x="7851999" y="2096878"/>
            <a:ext cx="53943" cy="7125"/>
          </a:xfrm>
          <a:prstGeom prst="line">
            <a:avLst/>
          </a:prstGeom>
          <a:noFill/>
          <a:ln w="21590">
            <a:solidFill>
              <a:srgbClr val="111827"/>
            </a:solidFill>
            <a:prstDash val="solid"/>
          </a:ln>
        </p:spPr>
        <p:txBody>
          <a:bodyPr/>
          <a:lstStyle/>
          <a:p>
            <a:endParaRPr lang="en-GB"/>
          </a:p>
        </p:txBody>
      </p:sp>
      <p:sp>
        <p:nvSpPr>
          <p:cNvPr id="139" name="Shape 137"/>
          <p:cNvSpPr/>
          <p:nvPr/>
        </p:nvSpPr>
        <p:spPr>
          <a:xfrm>
            <a:off x="7905942" y="2104002"/>
            <a:ext cx="53943" cy="10077"/>
          </a:xfrm>
          <a:prstGeom prst="line">
            <a:avLst/>
          </a:prstGeom>
          <a:noFill/>
          <a:ln w="21590">
            <a:solidFill>
              <a:srgbClr val="111827"/>
            </a:solidFill>
            <a:prstDash val="solid"/>
          </a:ln>
        </p:spPr>
        <p:txBody>
          <a:bodyPr/>
          <a:lstStyle/>
          <a:p>
            <a:endParaRPr lang="en-GB"/>
          </a:p>
        </p:txBody>
      </p:sp>
      <p:sp>
        <p:nvSpPr>
          <p:cNvPr id="140" name="Shape 138"/>
          <p:cNvSpPr/>
          <p:nvPr/>
        </p:nvSpPr>
        <p:spPr>
          <a:xfrm>
            <a:off x="7959885" y="2114080"/>
            <a:ext cx="53943" cy="12701"/>
          </a:xfrm>
          <a:prstGeom prst="line">
            <a:avLst/>
          </a:prstGeom>
          <a:noFill/>
          <a:ln w="21590">
            <a:solidFill>
              <a:srgbClr val="111827"/>
            </a:solidFill>
            <a:prstDash val="solid"/>
          </a:ln>
        </p:spPr>
        <p:txBody>
          <a:bodyPr/>
          <a:lstStyle/>
          <a:p>
            <a:endParaRPr lang="en-GB"/>
          </a:p>
        </p:txBody>
      </p:sp>
      <p:sp>
        <p:nvSpPr>
          <p:cNvPr id="141" name="Shape 139"/>
          <p:cNvSpPr/>
          <p:nvPr/>
        </p:nvSpPr>
        <p:spPr>
          <a:xfrm>
            <a:off x="8013828" y="2126781"/>
            <a:ext cx="53943" cy="14911"/>
          </a:xfrm>
          <a:prstGeom prst="line">
            <a:avLst/>
          </a:prstGeom>
          <a:noFill/>
          <a:ln w="21590">
            <a:solidFill>
              <a:srgbClr val="111827"/>
            </a:solidFill>
            <a:prstDash val="solid"/>
          </a:ln>
        </p:spPr>
        <p:txBody>
          <a:bodyPr/>
          <a:lstStyle/>
          <a:p>
            <a:endParaRPr lang="en-GB"/>
          </a:p>
        </p:txBody>
      </p:sp>
      <p:sp>
        <p:nvSpPr>
          <p:cNvPr id="142" name="Shape 140"/>
          <p:cNvSpPr/>
          <p:nvPr/>
        </p:nvSpPr>
        <p:spPr>
          <a:xfrm>
            <a:off x="8067771" y="2141692"/>
            <a:ext cx="53943" cy="16635"/>
          </a:xfrm>
          <a:prstGeom prst="line">
            <a:avLst/>
          </a:prstGeom>
          <a:noFill/>
          <a:ln w="21590">
            <a:solidFill>
              <a:srgbClr val="111827"/>
            </a:solidFill>
            <a:prstDash val="solid"/>
          </a:ln>
        </p:spPr>
        <p:txBody>
          <a:bodyPr/>
          <a:lstStyle/>
          <a:p>
            <a:endParaRPr lang="en-GB"/>
          </a:p>
        </p:txBody>
      </p:sp>
      <p:sp>
        <p:nvSpPr>
          <p:cNvPr id="143" name="Shape 141"/>
          <p:cNvSpPr/>
          <p:nvPr/>
        </p:nvSpPr>
        <p:spPr>
          <a:xfrm>
            <a:off x="8121714" y="2158327"/>
            <a:ext cx="53943" cy="17816"/>
          </a:xfrm>
          <a:prstGeom prst="line">
            <a:avLst/>
          </a:prstGeom>
          <a:noFill/>
          <a:ln w="21590">
            <a:solidFill>
              <a:srgbClr val="111827"/>
            </a:solidFill>
            <a:prstDash val="solid"/>
          </a:ln>
        </p:spPr>
        <p:txBody>
          <a:bodyPr/>
          <a:lstStyle/>
          <a:p>
            <a:endParaRPr lang="en-GB"/>
          </a:p>
        </p:txBody>
      </p:sp>
      <p:sp>
        <p:nvSpPr>
          <p:cNvPr id="144" name="Shape 142"/>
          <p:cNvSpPr/>
          <p:nvPr/>
        </p:nvSpPr>
        <p:spPr>
          <a:xfrm>
            <a:off x="8175657" y="2176143"/>
            <a:ext cx="53943" cy="18417"/>
          </a:xfrm>
          <a:prstGeom prst="line">
            <a:avLst/>
          </a:prstGeom>
          <a:noFill/>
          <a:ln w="21590">
            <a:solidFill>
              <a:srgbClr val="111827"/>
            </a:solidFill>
            <a:prstDash val="solid"/>
          </a:ln>
        </p:spPr>
        <p:txBody>
          <a:bodyPr/>
          <a:lstStyle/>
          <a:p>
            <a:endParaRPr lang="en-GB"/>
          </a:p>
        </p:txBody>
      </p:sp>
      <p:sp>
        <p:nvSpPr>
          <p:cNvPr id="145" name="Shape 143"/>
          <p:cNvSpPr/>
          <p:nvPr/>
        </p:nvSpPr>
        <p:spPr>
          <a:xfrm>
            <a:off x="3474720" y="1874520"/>
            <a:ext cx="777240" cy="457200"/>
          </a:xfrm>
          <a:prstGeom prst="roundRect">
            <a:avLst>
              <a:gd name="adj" fmla="val 6000"/>
            </a:avLst>
          </a:prstGeom>
          <a:solidFill>
            <a:srgbClr val="EAF6D6">
              <a:alpha val="70000"/>
            </a:srgbClr>
          </a:solidFill>
          <a:ln w="19050">
            <a:solidFill>
              <a:srgbClr val="84B927"/>
            </a:solidFill>
            <a:prstDash val="solid"/>
          </a:ln>
        </p:spPr>
        <p:txBody>
          <a:bodyPr/>
          <a:lstStyle/>
          <a:p>
            <a:endParaRPr lang="en-GB"/>
          </a:p>
        </p:txBody>
      </p:sp>
      <p:sp>
        <p:nvSpPr>
          <p:cNvPr id="146" name="Shape 144"/>
          <p:cNvSpPr/>
          <p:nvPr/>
        </p:nvSpPr>
        <p:spPr>
          <a:xfrm>
            <a:off x="3886200" y="1874520"/>
            <a:ext cx="777240" cy="457200"/>
          </a:xfrm>
          <a:prstGeom prst="roundRect">
            <a:avLst>
              <a:gd name="adj" fmla="val 6000"/>
            </a:avLst>
          </a:prstGeom>
          <a:solidFill>
            <a:srgbClr val="EAF6D6">
              <a:alpha val="70000"/>
            </a:srgbClr>
          </a:solidFill>
          <a:ln w="19050">
            <a:solidFill>
              <a:srgbClr val="84B927"/>
            </a:solidFill>
            <a:prstDash val="solid"/>
          </a:ln>
        </p:spPr>
        <p:txBody>
          <a:bodyPr/>
          <a:lstStyle/>
          <a:p>
            <a:endParaRPr lang="en-GB"/>
          </a:p>
        </p:txBody>
      </p:sp>
      <p:sp>
        <p:nvSpPr>
          <p:cNvPr id="147" name="Shape 145"/>
          <p:cNvSpPr/>
          <p:nvPr/>
        </p:nvSpPr>
        <p:spPr>
          <a:xfrm>
            <a:off x="6446520" y="1874520"/>
            <a:ext cx="777240" cy="457200"/>
          </a:xfrm>
          <a:prstGeom prst="roundRect">
            <a:avLst>
              <a:gd name="adj" fmla="val 6000"/>
            </a:avLst>
          </a:prstGeom>
          <a:solidFill>
            <a:srgbClr val="EAF6D6">
              <a:alpha val="70000"/>
            </a:srgbClr>
          </a:solidFill>
          <a:ln w="19050">
            <a:solidFill>
              <a:srgbClr val="84B927"/>
            </a:solidFill>
            <a:prstDash val="solid"/>
          </a:ln>
        </p:spPr>
        <p:txBody>
          <a:bodyPr/>
          <a:lstStyle/>
          <a:p>
            <a:endParaRPr lang="en-GB"/>
          </a:p>
        </p:txBody>
      </p:sp>
      <p:sp>
        <p:nvSpPr>
          <p:cNvPr id="148" name="Text 146"/>
          <p:cNvSpPr/>
          <p:nvPr/>
        </p:nvSpPr>
        <p:spPr>
          <a:xfrm>
            <a:off x="461804" y="2477643"/>
            <a:ext cx="7498080" cy="201168"/>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filter scanning on input</a:t>
            </a:r>
            <a:endParaRPr lang="en-US" sz="1200" dirty="0"/>
          </a:p>
        </p:txBody>
      </p:sp>
      <p:sp>
        <p:nvSpPr>
          <p:cNvPr id="149" name="Shape 147"/>
          <p:cNvSpPr/>
          <p:nvPr/>
        </p:nvSpPr>
        <p:spPr>
          <a:xfrm>
            <a:off x="4206240" y="2788920"/>
            <a:ext cx="0" cy="502920"/>
          </a:xfrm>
          <a:prstGeom prst="line">
            <a:avLst/>
          </a:prstGeom>
          <a:noFill/>
          <a:ln w="19050">
            <a:solidFill>
              <a:srgbClr val="475569"/>
            </a:solidFill>
            <a:prstDash val="solid"/>
            <a:tailEnd type="triangle"/>
          </a:ln>
        </p:spPr>
        <p:txBody>
          <a:bodyPr/>
          <a:lstStyle/>
          <a:p>
            <a:endParaRPr lang="en-GB"/>
          </a:p>
        </p:txBody>
      </p:sp>
      <p:sp>
        <p:nvSpPr>
          <p:cNvPr id="150" name="Text 148"/>
          <p:cNvSpPr/>
          <p:nvPr/>
        </p:nvSpPr>
        <p:spPr>
          <a:xfrm>
            <a:off x="3779834" y="3429000"/>
            <a:ext cx="1828800" cy="182880"/>
          </a:xfrm>
          <a:prstGeom prst="rect">
            <a:avLst/>
          </a:prstGeom>
          <a:noFill/>
          <a:ln/>
        </p:spPr>
        <p:txBody>
          <a:bodyPr wrap="square" lIns="0" tIns="0" rIns="0" bIns="0" rtlCol="0" anchor="ctr">
            <a:normAutofit/>
          </a:bodyPr>
          <a:lstStyle/>
          <a:p>
            <a:pPr marL="0" indent="0" algn="l">
              <a:buNone/>
            </a:pPr>
            <a:r>
              <a:rPr lang="en-US" sz="1200" b="1" dirty="0">
                <a:solidFill>
                  <a:srgbClr val="111827"/>
                </a:solidFill>
              </a:rPr>
              <a:t>feature map</a:t>
            </a:r>
            <a:endParaRPr lang="en-US" sz="1200" dirty="0"/>
          </a:p>
        </p:txBody>
      </p:sp>
      <p:sp>
        <p:nvSpPr>
          <p:cNvPr id="151" name="Shape 149"/>
          <p:cNvSpPr/>
          <p:nvPr/>
        </p:nvSpPr>
        <p:spPr>
          <a:xfrm>
            <a:off x="914400" y="4722434"/>
            <a:ext cx="320040" cy="32446"/>
          </a:xfrm>
          <a:prstGeom prst="rect">
            <a:avLst/>
          </a:prstGeom>
          <a:solidFill>
            <a:srgbClr val="CBD5E1"/>
          </a:solidFill>
          <a:ln w="6350">
            <a:solidFill>
              <a:srgbClr val="CBD5E1"/>
            </a:solidFill>
            <a:prstDash val="solid"/>
          </a:ln>
        </p:spPr>
        <p:txBody>
          <a:bodyPr/>
          <a:lstStyle/>
          <a:p>
            <a:endParaRPr lang="en-GB"/>
          </a:p>
        </p:txBody>
      </p:sp>
      <p:sp>
        <p:nvSpPr>
          <p:cNvPr id="152" name="Text 150"/>
          <p:cNvSpPr/>
          <p:nvPr/>
        </p:nvSpPr>
        <p:spPr>
          <a:xfrm>
            <a:off x="822960"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0.1</a:t>
            </a:r>
            <a:endParaRPr lang="en-US" sz="700" dirty="0"/>
          </a:p>
        </p:txBody>
      </p:sp>
      <p:sp>
        <p:nvSpPr>
          <p:cNvPr id="153" name="Shape 151"/>
          <p:cNvSpPr/>
          <p:nvPr/>
        </p:nvSpPr>
        <p:spPr>
          <a:xfrm>
            <a:off x="1481328" y="4689987"/>
            <a:ext cx="320040" cy="64893"/>
          </a:xfrm>
          <a:prstGeom prst="rect">
            <a:avLst/>
          </a:prstGeom>
          <a:solidFill>
            <a:srgbClr val="CBD5E1"/>
          </a:solidFill>
          <a:ln w="6350">
            <a:solidFill>
              <a:srgbClr val="CBD5E1"/>
            </a:solidFill>
            <a:prstDash val="solid"/>
          </a:ln>
        </p:spPr>
        <p:txBody>
          <a:bodyPr/>
          <a:lstStyle/>
          <a:p>
            <a:endParaRPr lang="en-GB"/>
          </a:p>
        </p:txBody>
      </p:sp>
      <p:sp>
        <p:nvSpPr>
          <p:cNvPr id="154" name="Text 152"/>
          <p:cNvSpPr/>
          <p:nvPr/>
        </p:nvSpPr>
        <p:spPr>
          <a:xfrm>
            <a:off x="1389888"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0.2</a:t>
            </a:r>
            <a:endParaRPr lang="en-US" sz="700" dirty="0"/>
          </a:p>
        </p:txBody>
      </p:sp>
      <p:sp>
        <p:nvSpPr>
          <p:cNvPr id="155" name="Shape 153"/>
          <p:cNvSpPr/>
          <p:nvPr/>
        </p:nvSpPr>
        <p:spPr>
          <a:xfrm>
            <a:off x="2048256" y="4722434"/>
            <a:ext cx="320040" cy="32446"/>
          </a:xfrm>
          <a:prstGeom prst="rect">
            <a:avLst/>
          </a:prstGeom>
          <a:solidFill>
            <a:srgbClr val="CBD5E1"/>
          </a:solidFill>
          <a:ln w="6350">
            <a:solidFill>
              <a:srgbClr val="CBD5E1"/>
            </a:solidFill>
            <a:prstDash val="solid"/>
          </a:ln>
        </p:spPr>
        <p:txBody>
          <a:bodyPr/>
          <a:lstStyle/>
          <a:p>
            <a:endParaRPr lang="en-GB"/>
          </a:p>
        </p:txBody>
      </p:sp>
      <p:sp>
        <p:nvSpPr>
          <p:cNvPr id="156" name="Text 154"/>
          <p:cNvSpPr/>
          <p:nvPr/>
        </p:nvSpPr>
        <p:spPr>
          <a:xfrm>
            <a:off x="1956816"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0.1</a:t>
            </a:r>
            <a:endParaRPr lang="en-US" sz="700" dirty="0"/>
          </a:p>
        </p:txBody>
      </p:sp>
      <p:sp>
        <p:nvSpPr>
          <p:cNvPr id="157" name="Shape 155"/>
          <p:cNvSpPr/>
          <p:nvPr/>
        </p:nvSpPr>
        <p:spPr>
          <a:xfrm>
            <a:off x="2615184" y="4625094"/>
            <a:ext cx="320040" cy="129786"/>
          </a:xfrm>
          <a:prstGeom prst="rect">
            <a:avLst/>
          </a:prstGeom>
          <a:solidFill>
            <a:srgbClr val="CBD5E1"/>
          </a:solidFill>
          <a:ln w="6350">
            <a:solidFill>
              <a:srgbClr val="CBD5E1"/>
            </a:solidFill>
            <a:prstDash val="solid"/>
          </a:ln>
        </p:spPr>
        <p:txBody>
          <a:bodyPr/>
          <a:lstStyle/>
          <a:p>
            <a:endParaRPr lang="en-GB"/>
          </a:p>
        </p:txBody>
      </p:sp>
      <p:sp>
        <p:nvSpPr>
          <p:cNvPr id="158" name="Text 156"/>
          <p:cNvSpPr/>
          <p:nvPr/>
        </p:nvSpPr>
        <p:spPr>
          <a:xfrm>
            <a:off x="2523744"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0.4</a:t>
            </a:r>
            <a:endParaRPr lang="en-US" sz="700" dirty="0"/>
          </a:p>
        </p:txBody>
      </p:sp>
      <p:sp>
        <p:nvSpPr>
          <p:cNvPr id="159" name="Shape 157"/>
          <p:cNvSpPr/>
          <p:nvPr/>
        </p:nvSpPr>
        <p:spPr>
          <a:xfrm>
            <a:off x="3182112" y="3846379"/>
            <a:ext cx="320040" cy="908501"/>
          </a:xfrm>
          <a:prstGeom prst="rect">
            <a:avLst/>
          </a:prstGeom>
          <a:solidFill>
            <a:srgbClr val="84B927"/>
          </a:solidFill>
          <a:ln w="6350">
            <a:solidFill>
              <a:srgbClr val="4F7F2B"/>
            </a:solidFill>
            <a:prstDash val="solid"/>
          </a:ln>
        </p:spPr>
        <p:txBody>
          <a:bodyPr/>
          <a:lstStyle/>
          <a:p>
            <a:endParaRPr lang="en-GB"/>
          </a:p>
        </p:txBody>
      </p:sp>
      <p:sp>
        <p:nvSpPr>
          <p:cNvPr id="160" name="Text 158"/>
          <p:cNvSpPr/>
          <p:nvPr/>
        </p:nvSpPr>
        <p:spPr>
          <a:xfrm>
            <a:off x="3090672"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2.8</a:t>
            </a:r>
            <a:endParaRPr lang="en-US" sz="700" dirty="0"/>
          </a:p>
        </p:txBody>
      </p:sp>
      <p:sp>
        <p:nvSpPr>
          <p:cNvPr id="161" name="Shape 159"/>
          <p:cNvSpPr/>
          <p:nvPr/>
        </p:nvSpPr>
        <p:spPr>
          <a:xfrm>
            <a:off x="3749040" y="3749040"/>
            <a:ext cx="320040" cy="1005840"/>
          </a:xfrm>
          <a:prstGeom prst="rect">
            <a:avLst/>
          </a:prstGeom>
          <a:solidFill>
            <a:srgbClr val="84B927"/>
          </a:solidFill>
          <a:ln w="6350">
            <a:solidFill>
              <a:srgbClr val="4F7F2B"/>
            </a:solidFill>
            <a:prstDash val="solid"/>
          </a:ln>
        </p:spPr>
        <p:txBody>
          <a:bodyPr/>
          <a:lstStyle/>
          <a:p>
            <a:endParaRPr lang="en-GB"/>
          </a:p>
        </p:txBody>
      </p:sp>
      <p:sp>
        <p:nvSpPr>
          <p:cNvPr id="162" name="Text 160"/>
          <p:cNvSpPr/>
          <p:nvPr/>
        </p:nvSpPr>
        <p:spPr>
          <a:xfrm>
            <a:off x="3657600"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3.1</a:t>
            </a:r>
            <a:endParaRPr lang="en-US" sz="700" dirty="0"/>
          </a:p>
        </p:txBody>
      </p:sp>
      <p:sp>
        <p:nvSpPr>
          <p:cNvPr id="163" name="Shape 161"/>
          <p:cNvSpPr/>
          <p:nvPr/>
        </p:nvSpPr>
        <p:spPr>
          <a:xfrm>
            <a:off x="4315968" y="4625094"/>
            <a:ext cx="320040" cy="129786"/>
          </a:xfrm>
          <a:prstGeom prst="rect">
            <a:avLst/>
          </a:prstGeom>
          <a:solidFill>
            <a:srgbClr val="CBD5E1"/>
          </a:solidFill>
          <a:ln w="6350">
            <a:solidFill>
              <a:srgbClr val="CBD5E1"/>
            </a:solidFill>
            <a:prstDash val="solid"/>
          </a:ln>
        </p:spPr>
        <p:txBody>
          <a:bodyPr/>
          <a:lstStyle/>
          <a:p>
            <a:endParaRPr lang="en-GB"/>
          </a:p>
        </p:txBody>
      </p:sp>
      <p:sp>
        <p:nvSpPr>
          <p:cNvPr id="164" name="Text 162"/>
          <p:cNvSpPr/>
          <p:nvPr/>
        </p:nvSpPr>
        <p:spPr>
          <a:xfrm>
            <a:off x="4224528"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0.4</a:t>
            </a:r>
            <a:endParaRPr lang="en-US" sz="700" dirty="0"/>
          </a:p>
        </p:txBody>
      </p:sp>
      <p:sp>
        <p:nvSpPr>
          <p:cNvPr id="165" name="Shape 163"/>
          <p:cNvSpPr/>
          <p:nvPr/>
        </p:nvSpPr>
        <p:spPr>
          <a:xfrm>
            <a:off x="4882896" y="4689987"/>
            <a:ext cx="320040" cy="64893"/>
          </a:xfrm>
          <a:prstGeom prst="rect">
            <a:avLst/>
          </a:prstGeom>
          <a:solidFill>
            <a:srgbClr val="CBD5E1"/>
          </a:solidFill>
          <a:ln w="6350">
            <a:solidFill>
              <a:srgbClr val="CBD5E1"/>
            </a:solidFill>
            <a:prstDash val="solid"/>
          </a:ln>
        </p:spPr>
        <p:txBody>
          <a:bodyPr/>
          <a:lstStyle/>
          <a:p>
            <a:endParaRPr lang="en-GB"/>
          </a:p>
        </p:txBody>
      </p:sp>
      <p:sp>
        <p:nvSpPr>
          <p:cNvPr id="166" name="Text 164"/>
          <p:cNvSpPr/>
          <p:nvPr/>
        </p:nvSpPr>
        <p:spPr>
          <a:xfrm>
            <a:off x="4791456"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0.2</a:t>
            </a:r>
            <a:endParaRPr lang="en-US" sz="700" dirty="0"/>
          </a:p>
        </p:txBody>
      </p:sp>
      <p:sp>
        <p:nvSpPr>
          <p:cNvPr id="167" name="Shape 165"/>
          <p:cNvSpPr/>
          <p:nvPr/>
        </p:nvSpPr>
        <p:spPr>
          <a:xfrm>
            <a:off x="5449824" y="3976165"/>
            <a:ext cx="320040" cy="778715"/>
          </a:xfrm>
          <a:prstGeom prst="rect">
            <a:avLst/>
          </a:prstGeom>
          <a:solidFill>
            <a:srgbClr val="84B927"/>
          </a:solidFill>
          <a:ln w="6350">
            <a:solidFill>
              <a:srgbClr val="4F7F2B"/>
            </a:solidFill>
            <a:prstDash val="solid"/>
          </a:ln>
        </p:spPr>
        <p:txBody>
          <a:bodyPr/>
          <a:lstStyle/>
          <a:p>
            <a:endParaRPr lang="en-GB"/>
          </a:p>
        </p:txBody>
      </p:sp>
      <p:sp>
        <p:nvSpPr>
          <p:cNvPr id="168" name="Text 166"/>
          <p:cNvSpPr/>
          <p:nvPr/>
        </p:nvSpPr>
        <p:spPr>
          <a:xfrm>
            <a:off x="5358384"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2.4</a:t>
            </a:r>
            <a:endParaRPr lang="en-US" sz="700" dirty="0"/>
          </a:p>
        </p:txBody>
      </p:sp>
      <p:sp>
        <p:nvSpPr>
          <p:cNvPr id="169" name="Shape 167"/>
          <p:cNvSpPr/>
          <p:nvPr/>
        </p:nvSpPr>
        <p:spPr>
          <a:xfrm>
            <a:off x="6016752" y="4722434"/>
            <a:ext cx="320040" cy="32446"/>
          </a:xfrm>
          <a:prstGeom prst="rect">
            <a:avLst/>
          </a:prstGeom>
          <a:solidFill>
            <a:srgbClr val="CBD5E1"/>
          </a:solidFill>
          <a:ln w="6350">
            <a:solidFill>
              <a:srgbClr val="CBD5E1"/>
            </a:solidFill>
            <a:prstDash val="solid"/>
          </a:ln>
        </p:spPr>
        <p:txBody>
          <a:bodyPr/>
          <a:lstStyle/>
          <a:p>
            <a:endParaRPr lang="en-GB"/>
          </a:p>
        </p:txBody>
      </p:sp>
      <p:sp>
        <p:nvSpPr>
          <p:cNvPr id="170" name="Text 168"/>
          <p:cNvSpPr/>
          <p:nvPr/>
        </p:nvSpPr>
        <p:spPr>
          <a:xfrm>
            <a:off x="5925312" y="4864608"/>
            <a:ext cx="502920" cy="146304"/>
          </a:xfrm>
          <a:prstGeom prst="rect">
            <a:avLst/>
          </a:prstGeom>
          <a:noFill/>
          <a:ln/>
        </p:spPr>
        <p:txBody>
          <a:bodyPr wrap="square" lIns="0" tIns="0" rIns="0" bIns="0" rtlCol="0" anchor="ctr">
            <a:normAutofit/>
          </a:bodyPr>
          <a:lstStyle/>
          <a:p>
            <a:pPr marL="0" indent="0" algn="ctr">
              <a:buNone/>
            </a:pPr>
            <a:r>
              <a:rPr lang="en-US" sz="700" dirty="0">
                <a:solidFill>
                  <a:srgbClr val="475569"/>
                </a:solidFill>
              </a:rPr>
              <a:t>0.1</a:t>
            </a:r>
            <a:endParaRPr lang="en-US" sz="700" dirty="0"/>
          </a:p>
        </p:txBody>
      </p:sp>
      <p:sp>
        <p:nvSpPr>
          <p:cNvPr id="171" name="Text 169"/>
          <p:cNvSpPr/>
          <p:nvPr/>
        </p:nvSpPr>
        <p:spPr>
          <a:xfrm>
            <a:off x="6364224" y="4514850"/>
            <a:ext cx="4023360" cy="256032"/>
          </a:xfrm>
          <a:prstGeom prst="rect">
            <a:avLst/>
          </a:prstGeom>
          <a:noFill/>
          <a:ln/>
        </p:spPr>
        <p:txBody>
          <a:bodyPr wrap="square" lIns="0" tIns="0" rIns="0" bIns="0" rtlCol="0" anchor="ctr">
            <a:normAutofit/>
          </a:bodyPr>
          <a:lstStyle/>
          <a:p>
            <a:pPr marL="0" indent="0" algn="ctr">
              <a:buNone/>
            </a:pPr>
            <a:r>
              <a:rPr lang="en-US" sz="1200" b="1" dirty="0">
                <a:solidFill>
                  <a:srgbClr val="4F7F2B"/>
                </a:solidFill>
              </a:rPr>
              <a:t>large activations near detected pattern occurrences</a:t>
            </a:r>
            <a:endParaRPr lang="en-US" sz="1200" dirty="0"/>
          </a:p>
        </p:txBody>
      </p:sp>
      <p:sp>
        <p:nvSpPr>
          <p:cNvPr id="172" name="Shape 170"/>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173" name="Text 171"/>
          <p:cNvSpPr/>
          <p:nvPr/>
        </p:nvSpPr>
        <p:spPr>
          <a:xfrm>
            <a:off x="621792" y="6336792"/>
            <a:ext cx="9555480" cy="164592"/>
          </a:xfrm>
          <a:prstGeom prst="rect">
            <a:avLst/>
          </a:prstGeom>
          <a:noFill/>
          <a:ln/>
        </p:spPr>
        <p:txBody>
          <a:bodyPr wrap="square" lIns="0" tIns="0" rIns="0" bIns="0" rtlCol="0" anchor="ctr"/>
          <a:lstStyle/>
          <a:p>
            <a:pPr marL="0" indent="0">
              <a:buNone/>
            </a:pPr>
            <a:r>
              <a:rPr lang="en-US" sz="1020" dirty="0">
                <a:solidFill>
                  <a:srgbClr val="111827"/>
                </a:solidFill>
              </a:rPr>
              <a:t>One filter generates one feature map; a Conv1D layer usually learns many filters and many feature maps.</a:t>
            </a:r>
            <a:endParaRPr lang="en-US" sz="10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4D1E90E-B390-FAB0-40E8-C34A0E47D114}"/>
              </a:ext>
            </a:extLst>
          </p:cNvPr>
          <p:cNvSpPr>
            <a:spLocks noGrp="1"/>
          </p:cNvSpPr>
          <p:nvPr>
            <p:ph type="title"/>
          </p:nvPr>
        </p:nvSpPr>
        <p:spPr/>
        <p:txBody>
          <a:bodyPr/>
          <a:lstStyle/>
          <a:p>
            <a:r>
              <a:rPr lang="en-GB" dirty="0"/>
              <a:t>Recurrence and convolution represent time differently</a:t>
            </a:r>
          </a:p>
        </p:txBody>
      </p:sp>
      <p:sp>
        <p:nvSpPr>
          <p:cNvPr id="3" name="Segnaposto contenuto 2">
            <a:extLst>
              <a:ext uri="{FF2B5EF4-FFF2-40B4-BE49-F238E27FC236}">
                <a16:creationId xmlns:a16="http://schemas.microsoft.com/office/drawing/2014/main" id="{AF8E06A2-B9DE-61F4-244F-3E7801FCE8E3}"/>
              </a:ext>
            </a:extLst>
          </p:cNvPr>
          <p:cNvSpPr>
            <a:spLocks noGrp="1"/>
          </p:cNvSpPr>
          <p:nvPr>
            <p:ph sz="half" idx="1"/>
          </p:nvPr>
        </p:nvSpPr>
        <p:spPr>
          <a:xfrm>
            <a:off x="677334" y="2160589"/>
            <a:ext cx="5418666" cy="3880772"/>
          </a:xfrm>
        </p:spPr>
        <p:txBody>
          <a:bodyPr>
            <a:normAutofit fontScale="85000" lnSpcReduction="20000"/>
          </a:bodyPr>
          <a:lstStyle/>
          <a:p>
            <a:r>
              <a:rPr lang="en-GB" b="1" dirty="0"/>
              <a:t>Recurrent model</a:t>
            </a:r>
          </a:p>
          <a:p>
            <a:r>
              <a:rPr lang="en-GB" dirty="0"/>
              <a:t>Temporal information is carried through an evolving state.</a:t>
            </a:r>
          </a:p>
          <a:p>
            <a:r>
              <a:rPr lang="en-GB" dirty="0"/>
              <a:t>x[1] → h[1] → h[2] → h[3] → h[4]</a:t>
            </a:r>
          </a:p>
          <a:p>
            <a:r>
              <a:rPr lang="en-GB" dirty="0"/>
              <a:t>          ↑        ↑         ↑</a:t>
            </a:r>
          </a:p>
          <a:p>
            <a:r>
              <a:rPr lang="en-GB" dirty="0"/>
              <a:t>         x[2]     x[3]     x[4]</a:t>
            </a:r>
          </a:p>
          <a:p>
            <a:endParaRPr lang="en-GB" dirty="0"/>
          </a:p>
        </p:txBody>
      </p:sp>
      <p:sp>
        <p:nvSpPr>
          <p:cNvPr id="4" name="Segnaposto contenuto 3">
            <a:extLst>
              <a:ext uri="{FF2B5EF4-FFF2-40B4-BE49-F238E27FC236}">
                <a16:creationId xmlns:a16="http://schemas.microsoft.com/office/drawing/2014/main" id="{93AAE7E6-090C-FA9D-1EF4-6657436A3CAD}"/>
              </a:ext>
            </a:extLst>
          </p:cNvPr>
          <p:cNvSpPr>
            <a:spLocks noGrp="1"/>
          </p:cNvSpPr>
          <p:nvPr>
            <p:ph sz="half" idx="2"/>
          </p:nvPr>
        </p:nvSpPr>
        <p:spPr>
          <a:xfrm>
            <a:off x="7181985" y="2065339"/>
            <a:ext cx="4184034" cy="3880773"/>
          </a:xfrm>
        </p:spPr>
        <p:txBody>
          <a:bodyPr>
            <a:normAutofit fontScale="85000" lnSpcReduction="20000"/>
          </a:bodyPr>
          <a:lstStyle/>
          <a:p>
            <a:r>
              <a:rPr lang="en-GB" b="1" dirty="0"/>
              <a:t>Convolutional model</a:t>
            </a:r>
          </a:p>
          <a:p>
            <a:r>
              <a:rPr lang="en-GB" dirty="0"/>
              <a:t>Temporal information is detected through overlapping local regions.</a:t>
            </a:r>
          </a:p>
          <a:p>
            <a:r>
              <a:rPr lang="en-GB" dirty="0"/>
              <a:t>input:</a:t>
            </a:r>
          </a:p>
          <a:p>
            <a:r>
              <a:rPr lang="en-GB" dirty="0"/>
              <a:t>x[1] x[2] x[3] x[4] x[5] x[6]</a:t>
            </a:r>
          </a:p>
          <a:p>
            <a:endParaRPr lang="en-GB" dirty="0"/>
          </a:p>
          <a:p>
            <a:r>
              <a:rPr lang="en-GB" dirty="0"/>
              <a:t>filter position 1:</a:t>
            </a:r>
          </a:p>
          <a:p>
            <a:pPr lvl="1"/>
            <a:r>
              <a:rPr lang="en-GB" dirty="0"/>
              <a:t>[ x[1] x[2] x[3] ]</a:t>
            </a:r>
            <a:br>
              <a:rPr lang="en-GB" dirty="0"/>
            </a:br>
            <a:endParaRPr lang="en-GB" dirty="0"/>
          </a:p>
          <a:p>
            <a:r>
              <a:rPr lang="en-GB" dirty="0"/>
              <a:t>filter position 2:</a:t>
            </a:r>
          </a:p>
          <a:p>
            <a:pPr lvl="1"/>
            <a:r>
              <a:rPr lang="en-GB" dirty="0"/>
              <a:t>[ x[2] x[3] x[4] ]</a:t>
            </a:r>
            <a:br>
              <a:rPr lang="en-GB" dirty="0"/>
            </a:br>
            <a:endParaRPr lang="en-GB" dirty="0"/>
          </a:p>
          <a:p>
            <a:r>
              <a:rPr lang="en-GB" dirty="0"/>
              <a:t>filter position 3:</a:t>
            </a:r>
          </a:p>
          <a:p>
            <a:pPr lvl="1"/>
            <a:r>
              <a:rPr lang="en-GB" dirty="0"/>
              <a:t>[ x[3] x[4] x[5] ]</a:t>
            </a:r>
          </a:p>
          <a:p>
            <a:endParaRPr lang="en-GB" dirty="0"/>
          </a:p>
        </p:txBody>
      </p:sp>
      <p:sp>
        <p:nvSpPr>
          <p:cNvPr id="6" name="CasellaDiTesto 5">
            <a:extLst>
              <a:ext uri="{FF2B5EF4-FFF2-40B4-BE49-F238E27FC236}">
                <a16:creationId xmlns:a16="http://schemas.microsoft.com/office/drawing/2014/main" id="{B4E08D43-C142-5009-8651-E47E94D3BB8F}"/>
              </a:ext>
            </a:extLst>
          </p:cNvPr>
          <p:cNvSpPr txBox="1"/>
          <p:nvPr/>
        </p:nvSpPr>
        <p:spPr>
          <a:xfrm>
            <a:off x="466683" y="4618375"/>
            <a:ext cx="5839967" cy="1815882"/>
          </a:xfrm>
          <a:prstGeom prst="rect">
            <a:avLst/>
          </a:prstGeom>
          <a:noFill/>
        </p:spPr>
        <p:txBody>
          <a:bodyPr wrap="square">
            <a:spAutoFit/>
          </a:bodyPr>
          <a:lstStyle/>
          <a:p>
            <a:r>
              <a:rPr lang="en-GB" sz="1600" b="1" dirty="0"/>
              <a:t>Fundamental difference</a:t>
            </a:r>
          </a:p>
          <a:p>
            <a:r>
              <a:rPr lang="en-GB" sz="1600" dirty="0"/>
              <a:t>RNN:</a:t>
            </a:r>
          </a:p>
          <a:p>
            <a:r>
              <a:rPr lang="en-GB" sz="1600" dirty="0"/>
              <a:t>What information should the state carry forward?</a:t>
            </a:r>
          </a:p>
          <a:p>
            <a:r>
              <a:rPr lang="en-GB" sz="1600" dirty="0"/>
              <a:t>CNN:</a:t>
            </a:r>
          </a:p>
          <a:p>
            <a:r>
              <a:rPr lang="en-GB" sz="1600" dirty="0"/>
              <a:t>What local patterns are present at each position?</a:t>
            </a:r>
          </a:p>
          <a:p>
            <a:r>
              <a:rPr lang="en-GB" sz="1600" b="1" dirty="0"/>
              <a:t>Later convolutional layers can combine local patterns into progressively larger temporal structures.</a:t>
            </a:r>
          </a:p>
        </p:txBody>
      </p:sp>
    </p:spTree>
    <p:extLst>
      <p:ext uri="{BB962C8B-B14F-4D97-AF65-F5344CB8AC3E}">
        <p14:creationId xmlns:p14="http://schemas.microsoft.com/office/powerpoint/2010/main" val="23780456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Recurrence and convolution represent time differently</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dirty="0">
                <a:solidFill>
                  <a:srgbClr val="475569"/>
                </a:solidFill>
              </a:rPr>
              <a:t>State propagation versus local-region detection.</a:t>
            </a:r>
            <a:endParaRPr lang="en-US" sz="1150" dirty="0"/>
          </a:p>
        </p:txBody>
      </p:sp>
      <p:sp>
        <p:nvSpPr>
          <p:cNvPr id="6" name="Shape 4"/>
          <p:cNvSpPr/>
          <p:nvPr/>
        </p:nvSpPr>
        <p:spPr>
          <a:xfrm>
            <a:off x="731520" y="1325880"/>
            <a:ext cx="914400" cy="411480"/>
          </a:xfrm>
          <a:prstGeom prst="roundRect">
            <a:avLst>
              <a:gd name="adj" fmla="val 17778"/>
            </a:avLst>
          </a:prstGeom>
          <a:solidFill>
            <a:srgbClr val="EEF2FF"/>
          </a:solidFill>
          <a:ln w="12700">
            <a:solidFill>
              <a:srgbClr val="2563EB"/>
            </a:solidFill>
            <a:prstDash val="solid"/>
          </a:ln>
        </p:spPr>
        <p:txBody>
          <a:bodyPr/>
          <a:lstStyle/>
          <a:p>
            <a:endParaRPr lang="en-GB"/>
          </a:p>
        </p:txBody>
      </p:sp>
      <p:sp>
        <p:nvSpPr>
          <p:cNvPr id="7" name="Text 5"/>
          <p:cNvSpPr/>
          <p:nvPr/>
        </p:nvSpPr>
        <p:spPr>
          <a:xfrm>
            <a:off x="804672" y="1421892"/>
            <a:ext cx="7680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RNN</a:t>
            </a:r>
            <a:endParaRPr lang="en-US" sz="1200" dirty="0"/>
          </a:p>
        </p:txBody>
      </p:sp>
      <p:sp>
        <p:nvSpPr>
          <p:cNvPr id="8" name="Text 6"/>
          <p:cNvSpPr/>
          <p:nvPr/>
        </p:nvSpPr>
        <p:spPr>
          <a:xfrm>
            <a:off x="1828800" y="1353312"/>
            <a:ext cx="5029200" cy="228600"/>
          </a:xfrm>
          <a:prstGeom prst="rect">
            <a:avLst/>
          </a:prstGeom>
          <a:noFill/>
          <a:ln/>
        </p:spPr>
        <p:txBody>
          <a:bodyPr wrap="square" lIns="0" tIns="0" rIns="0" bIns="0" rtlCol="0" anchor="ctr">
            <a:normAutofit/>
          </a:bodyPr>
          <a:lstStyle/>
          <a:p>
            <a:pPr marL="0" indent="0" algn="l">
              <a:buNone/>
            </a:pPr>
            <a:r>
              <a:rPr lang="en-US" sz="1400" b="1" dirty="0">
                <a:solidFill>
                  <a:srgbClr val="2563EB"/>
                </a:solidFill>
                <a:highlight>
                  <a:srgbClr val="FFFF00"/>
                </a:highlight>
              </a:rPr>
              <a:t>What information should the state carry forward?</a:t>
            </a:r>
            <a:endParaRPr lang="en-US" sz="1400" dirty="0">
              <a:highlight>
                <a:srgbClr val="FFFF00"/>
              </a:highlight>
            </a:endParaRPr>
          </a:p>
        </p:txBody>
      </p:sp>
      <p:sp>
        <p:nvSpPr>
          <p:cNvPr id="9" name="Shape 7"/>
          <p:cNvSpPr/>
          <p:nvPr/>
        </p:nvSpPr>
        <p:spPr>
          <a:xfrm>
            <a:off x="914400" y="2331720"/>
            <a:ext cx="438912" cy="365760"/>
          </a:xfrm>
          <a:prstGeom prst="roundRect">
            <a:avLst>
              <a:gd name="adj" fmla="val 20000"/>
            </a:avLst>
          </a:prstGeom>
          <a:solidFill>
            <a:srgbClr val="EEF2FF"/>
          </a:solidFill>
          <a:ln w="12700">
            <a:solidFill>
              <a:srgbClr val="2563EB"/>
            </a:solidFill>
            <a:prstDash val="solid"/>
          </a:ln>
        </p:spPr>
        <p:txBody>
          <a:bodyPr/>
          <a:lstStyle/>
          <a:p>
            <a:endParaRPr lang="en-GB"/>
          </a:p>
        </p:txBody>
      </p:sp>
      <p:sp>
        <p:nvSpPr>
          <p:cNvPr id="10" name="Text 8"/>
          <p:cNvSpPr/>
          <p:nvPr/>
        </p:nvSpPr>
        <p:spPr>
          <a:xfrm>
            <a:off x="987552" y="2404872"/>
            <a:ext cx="292608" cy="228600"/>
          </a:xfrm>
          <a:prstGeom prst="rect">
            <a:avLst/>
          </a:prstGeom>
          <a:noFill/>
          <a:ln/>
        </p:spPr>
        <p:txBody>
          <a:bodyPr wrap="square" lIns="0" tIns="0" rIns="0" bIns="0" rtlCol="0" anchor="ctr">
            <a:normAutofit/>
          </a:bodyPr>
          <a:lstStyle/>
          <a:p>
            <a:pPr marL="0" indent="0" algn="ctr">
              <a:buNone/>
            </a:pPr>
            <a:r>
              <a:rPr lang="en-US" sz="1000" b="1" dirty="0">
                <a:solidFill>
                  <a:srgbClr val="111827"/>
                </a:solidFill>
              </a:rPr>
              <a:t>h[1]</a:t>
            </a:r>
            <a:endParaRPr lang="en-US" sz="1000" dirty="0"/>
          </a:p>
        </p:txBody>
      </p:sp>
      <p:sp>
        <p:nvSpPr>
          <p:cNvPr id="11" name="Text 9"/>
          <p:cNvSpPr/>
          <p:nvPr/>
        </p:nvSpPr>
        <p:spPr>
          <a:xfrm>
            <a:off x="1042416" y="1993392"/>
            <a:ext cx="164592" cy="137160"/>
          </a:xfrm>
          <a:prstGeom prst="rect">
            <a:avLst/>
          </a:prstGeom>
          <a:noFill/>
          <a:ln/>
        </p:spPr>
        <p:txBody>
          <a:bodyPr wrap="square" lIns="0" tIns="0" rIns="0" bIns="0" rtlCol="0" anchor="ctr">
            <a:normAutofit/>
          </a:bodyPr>
          <a:lstStyle/>
          <a:p>
            <a:pPr marL="0" indent="0" algn="ctr">
              <a:buNone/>
            </a:pPr>
            <a:r>
              <a:rPr lang="en-US" sz="800" dirty="0">
                <a:solidFill>
                  <a:srgbClr val="475569"/>
                </a:solidFill>
              </a:rPr>
              <a:t>x1</a:t>
            </a:r>
            <a:endParaRPr lang="en-US" sz="800" dirty="0"/>
          </a:p>
        </p:txBody>
      </p:sp>
      <p:sp>
        <p:nvSpPr>
          <p:cNvPr id="12" name="Shape 10"/>
          <p:cNvSpPr/>
          <p:nvPr/>
        </p:nvSpPr>
        <p:spPr>
          <a:xfrm>
            <a:off x="1133856" y="2148840"/>
            <a:ext cx="0" cy="182880"/>
          </a:xfrm>
          <a:prstGeom prst="line">
            <a:avLst/>
          </a:prstGeom>
          <a:noFill/>
          <a:ln w="11430">
            <a:solidFill>
              <a:srgbClr val="475569"/>
            </a:solidFill>
            <a:prstDash val="solid"/>
            <a:tailEnd type="triangle"/>
          </a:ln>
        </p:spPr>
        <p:txBody>
          <a:bodyPr/>
          <a:lstStyle/>
          <a:p>
            <a:endParaRPr lang="en-GB"/>
          </a:p>
        </p:txBody>
      </p:sp>
      <p:sp>
        <p:nvSpPr>
          <p:cNvPr id="13" name="Shape 11"/>
          <p:cNvSpPr/>
          <p:nvPr/>
        </p:nvSpPr>
        <p:spPr>
          <a:xfrm>
            <a:off x="1828800" y="2331720"/>
            <a:ext cx="438912" cy="365760"/>
          </a:xfrm>
          <a:prstGeom prst="roundRect">
            <a:avLst>
              <a:gd name="adj" fmla="val 20000"/>
            </a:avLst>
          </a:prstGeom>
          <a:solidFill>
            <a:srgbClr val="EEF2FF"/>
          </a:solidFill>
          <a:ln w="12700">
            <a:solidFill>
              <a:srgbClr val="2563EB"/>
            </a:solidFill>
            <a:prstDash val="solid"/>
          </a:ln>
        </p:spPr>
        <p:txBody>
          <a:bodyPr/>
          <a:lstStyle/>
          <a:p>
            <a:endParaRPr lang="en-GB"/>
          </a:p>
        </p:txBody>
      </p:sp>
      <p:sp>
        <p:nvSpPr>
          <p:cNvPr id="14" name="Text 12"/>
          <p:cNvSpPr/>
          <p:nvPr/>
        </p:nvSpPr>
        <p:spPr>
          <a:xfrm>
            <a:off x="1901952" y="2404872"/>
            <a:ext cx="292608" cy="228600"/>
          </a:xfrm>
          <a:prstGeom prst="rect">
            <a:avLst/>
          </a:prstGeom>
          <a:noFill/>
          <a:ln/>
        </p:spPr>
        <p:txBody>
          <a:bodyPr wrap="square" lIns="0" tIns="0" rIns="0" bIns="0" rtlCol="0" anchor="ctr">
            <a:normAutofit/>
          </a:bodyPr>
          <a:lstStyle/>
          <a:p>
            <a:pPr marL="0" indent="0" algn="ctr">
              <a:buNone/>
            </a:pPr>
            <a:r>
              <a:rPr lang="en-US" sz="1000" b="1" dirty="0">
                <a:solidFill>
                  <a:srgbClr val="111827"/>
                </a:solidFill>
              </a:rPr>
              <a:t>h[2]</a:t>
            </a:r>
            <a:endParaRPr lang="en-US" sz="1000" dirty="0"/>
          </a:p>
        </p:txBody>
      </p:sp>
      <p:sp>
        <p:nvSpPr>
          <p:cNvPr id="15" name="Shape 13"/>
          <p:cNvSpPr/>
          <p:nvPr/>
        </p:nvSpPr>
        <p:spPr>
          <a:xfrm>
            <a:off x="1353312" y="2514600"/>
            <a:ext cx="475488" cy="0"/>
          </a:xfrm>
          <a:prstGeom prst="line">
            <a:avLst/>
          </a:prstGeom>
          <a:noFill/>
          <a:ln w="15240">
            <a:solidFill>
              <a:srgbClr val="2563EB"/>
            </a:solidFill>
            <a:prstDash val="solid"/>
            <a:tailEnd type="triangle"/>
          </a:ln>
        </p:spPr>
        <p:txBody>
          <a:bodyPr/>
          <a:lstStyle/>
          <a:p>
            <a:endParaRPr lang="en-GB"/>
          </a:p>
        </p:txBody>
      </p:sp>
      <p:sp>
        <p:nvSpPr>
          <p:cNvPr id="16" name="Text 14"/>
          <p:cNvSpPr/>
          <p:nvPr/>
        </p:nvSpPr>
        <p:spPr>
          <a:xfrm>
            <a:off x="1956816" y="1993392"/>
            <a:ext cx="164592" cy="137160"/>
          </a:xfrm>
          <a:prstGeom prst="rect">
            <a:avLst/>
          </a:prstGeom>
          <a:noFill/>
          <a:ln/>
        </p:spPr>
        <p:txBody>
          <a:bodyPr wrap="square" lIns="0" tIns="0" rIns="0" bIns="0" rtlCol="0" anchor="ctr">
            <a:normAutofit/>
          </a:bodyPr>
          <a:lstStyle/>
          <a:p>
            <a:pPr marL="0" indent="0" algn="ctr">
              <a:buNone/>
            </a:pPr>
            <a:r>
              <a:rPr lang="en-US" sz="800" dirty="0">
                <a:solidFill>
                  <a:srgbClr val="475569"/>
                </a:solidFill>
              </a:rPr>
              <a:t>x2</a:t>
            </a:r>
            <a:endParaRPr lang="en-US" sz="800" dirty="0"/>
          </a:p>
        </p:txBody>
      </p:sp>
      <p:sp>
        <p:nvSpPr>
          <p:cNvPr id="17" name="Shape 15"/>
          <p:cNvSpPr/>
          <p:nvPr/>
        </p:nvSpPr>
        <p:spPr>
          <a:xfrm>
            <a:off x="2048256" y="2148840"/>
            <a:ext cx="0" cy="182880"/>
          </a:xfrm>
          <a:prstGeom prst="line">
            <a:avLst/>
          </a:prstGeom>
          <a:noFill/>
          <a:ln w="11430">
            <a:solidFill>
              <a:srgbClr val="475569"/>
            </a:solidFill>
            <a:prstDash val="solid"/>
            <a:tailEnd type="triangle"/>
          </a:ln>
        </p:spPr>
        <p:txBody>
          <a:bodyPr/>
          <a:lstStyle/>
          <a:p>
            <a:endParaRPr lang="en-GB"/>
          </a:p>
        </p:txBody>
      </p:sp>
      <p:sp>
        <p:nvSpPr>
          <p:cNvPr id="18" name="Shape 16"/>
          <p:cNvSpPr/>
          <p:nvPr/>
        </p:nvSpPr>
        <p:spPr>
          <a:xfrm>
            <a:off x="2743200" y="2331720"/>
            <a:ext cx="438912" cy="365760"/>
          </a:xfrm>
          <a:prstGeom prst="roundRect">
            <a:avLst>
              <a:gd name="adj" fmla="val 20000"/>
            </a:avLst>
          </a:prstGeom>
          <a:solidFill>
            <a:srgbClr val="EEF2FF"/>
          </a:solidFill>
          <a:ln w="12700">
            <a:solidFill>
              <a:srgbClr val="2563EB"/>
            </a:solidFill>
            <a:prstDash val="solid"/>
          </a:ln>
        </p:spPr>
        <p:txBody>
          <a:bodyPr/>
          <a:lstStyle/>
          <a:p>
            <a:endParaRPr lang="en-GB"/>
          </a:p>
        </p:txBody>
      </p:sp>
      <p:sp>
        <p:nvSpPr>
          <p:cNvPr id="19" name="Text 17"/>
          <p:cNvSpPr/>
          <p:nvPr/>
        </p:nvSpPr>
        <p:spPr>
          <a:xfrm>
            <a:off x="2816352" y="2404872"/>
            <a:ext cx="292608" cy="228600"/>
          </a:xfrm>
          <a:prstGeom prst="rect">
            <a:avLst/>
          </a:prstGeom>
          <a:noFill/>
          <a:ln/>
        </p:spPr>
        <p:txBody>
          <a:bodyPr wrap="square" lIns="0" tIns="0" rIns="0" bIns="0" rtlCol="0" anchor="ctr">
            <a:normAutofit/>
          </a:bodyPr>
          <a:lstStyle/>
          <a:p>
            <a:pPr marL="0" indent="0" algn="ctr">
              <a:buNone/>
            </a:pPr>
            <a:r>
              <a:rPr lang="en-US" sz="1000" b="1" dirty="0">
                <a:solidFill>
                  <a:srgbClr val="111827"/>
                </a:solidFill>
              </a:rPr>
              <a:t>h[3]</a:t>
            </a:r>
            <a:endParaRPr lang="en-US" sz="1000" dirty="0"/>
          </a:p>
        </p:txBody>
      </p:sp>
      <p:sp>
        <p:nvSpPr>
          <p:cNvPr id="20" name="Shape 18"/>
          <p:cNvSpPr/>
          <p:nvPr/>
        </p:nvSpPr>
        <p:spPr>
          <a:xfrm>
            <a:off x="2267712" y="2514600"/>
            <a:ext cx="475488" cy="0"/>
          </a:xfrm>
          <a:prstGeom prst="line">
            <a:avLst/>
          </a:prstGeom>
          <a:noFill/>
          <a:ln w="15240">
            <a:solidFill>
              <a:srgbClr val="2563EB"/>
            </a:solidFill>
            <a:prstDash val="solid"/>
            <a:tailEnd type="triangle"/>
          </a:ln>
        </p:spPr>
        <p:txBody>
          <a:bodyPr/>
          <a:lstStyle/>
          <a:p>
            <a:endParaRPr lang="en-GB"/>
          </a:p>
        </p:txBody>
      </p:sp>
      <p:sp>
        <p:nvSpPr>
          <p:cNvPr id="21" name="Text 19"/>
          <p:cNvSpPr/>
          <p:nvPr/>
        </p:nvSpPr>
        <p:spPr>
          <a:xfrm>
            <a:off x="2871216" y="1993392"/>
            <a:ext cx="164592" cy="137160"/>
          </a:xfrm>
          <a:prstGeom prst="rect">
            <a:avLst/>
          </a:prstGeom>
          <a:noFill/>
          <a:ln/>
        </p:spPr>
        <p:txBody>
          <a:bodyPr wrap="square" lIns="0" tIns="0" rIns="0" bIns="0" rtlCol="0" anchor="ctr">
            <a:normAutofit/>
          </a:bodyPr>
          <a:lstStyle/>
          <a:p>
            <a:pPr marL="0" indent="0" algn="ctr">
              <a:buNone/>
            </a:pPr>
            <a:r>
              <a:rPr lang="en-US" sz="800" dirty="0">
                <a:solidFill>
                  <a:srgbClr val="475569"/>
                </a:solidFill>
              </a:rPr>
              <a:t>x3</a:t>
            </a:r>
            <a:endParaRPr lang="en-US" sz="800" dirty="0"/>
          </a:p>
        </p:txBody>
      </p:sp>
      <p:sp>
        <p:nvSpPr>
          <p:cNvPr id="22" name="Shape 20"/>
          <p:cNvSpPr/>
          <p:nvPr/>
        </p:nvSpPr>
        <p:spPr>
          <a:xfrm>
            <a:off x="2962656" y="2148840"/>
            <a:ext cx="0" cy="182880"/>
          </a:xfrm>
          <a:prstGeom prst="line">
            <a:avLst/>
          </a:prstGeom>
          <a:noFill/>
          <a:ln w="11430">
            <a:solidFill>
              <a:srgbClr val="475569"/>
            </a:solidFill>
            <a:prstDash val="solid"/>
            <a:tailEnd type="triangle"/>
          </a:ln>
        </p:spPr>
        <p:txBody>
          <a:bodyPr/>
          <a:lstStyle/>
          <a:p>
            <a:endParaRPr lang="en-GB"/>
          </a:p>
        </p:txBody>
      </p:sp>
      <p:sp>
        <p:nvSpPr>
          <p:cNvPr id="23" name="Shape 21"/>
          <p:cNvSpPr/>
          <p:nvPr/>
        </p:nvSpPr>
        <p:spPr>
          <a:xfrm>
            <a:off x="3657600" y="2331720"/>
            <a:ext cx="438912" cy="365760"/>
          </a:xfrm>
          <a:prstGeom prst="roundRect">
            <a:avLst>
              <a:gd name="adj" fmla="val 20000"/>
            </a:avLst>
          </a:prstGeom>
          <a:solidFill>
            <a:srgbClr val="EEF2FF"/>
          </a:solidFill>
          <a:ln w="12700">
            <a:solidFill>
              <a:srgbClr val="2563EB"/>
            </a:solidFill>
            <a:prstDash val="solid"/>
          </a:ln>
        </p:spPr>
        <p:txBody>
          <a:bodyPr/>
          <a:lstStyle/>
          <a:p>
            <a:endParaRPr lang="en-GB"/>
          </a:p>
        </p:txBody>
      </p:sp>
      <p:sp>
        <p:nvSpPr>
          <p:cNvPr id="24" name="Text 22"/>
          <p:cNvSpPr/>
          <p:nvPr/>
        </p:nvSpPr>
        <p:spPr>
          <a:xfrm>
            <a:off x="3730752" y="2404872"/>
            <a:ext cx="292608" cy="228600"/>
          </a:xfrm>
          <a:prstGeom prst="rect">
            <a:avLst/>
          </a:prstGeom>
          <a:noFill/>
          <a:ln/>
        </p:spPr>
        <p:txBody>
          <a:bodyPr wrap="square" lIns="0" tIns="0" rIns="0" bIns="0" rtlCol="0" anchor="ctr">
            <a:normAutofit/>
          </a:bodyPr>
          <a:lstStyle/>
          <a:p>
            <a:pPr marL="0" indent="0" algn="ctr">
              <a:buNone/>
            </a:pPr>
            <a:r>
              <a:rPr lang="en-US" sz="1000" b="1" dirty="0">
                <a:solidFill>
                  <a:srgbClr val="111827"/>
                </a:solidFill>
              </a:rPr>
              <a:t>h[4]</a:t>
            </a:r>
            <a:endParaRPr lang="en-US" sz="1000" dirty="0"/>
          </a:p>
        </p:txBody>
      </p:sp>
      <p:sp>
        <p:nvSpPr>
          <p:cNvPr id="25" name="Shape 23"/>
          <p:cNvSpPr/>
          <p:nvPr/>
        </p:nvSpPr>
        <p:spPr>
          <a:xfrm>
            <a:off x="3182112" y="2514600"/>
            <a:ext cx="475488" cy="0"/>
          </a:xfrm>
          <a:prstGeom prst="line">
            <a:avLst/>
          </a:prstGeom>
          <a:noFill/>
          <a:ln w="15240">
            <a:solidFill>
              <a:srgbClr val="2563EB"/>
            </a:solidFill>
            <a:prstDash val="solid"/>
            <a:tailEnd type="triangle"/>
          </a:ln>
        </p:spPr>
        <p:txBody>
          <a:bodyPr/>
          <a:lstStyle/>
          <a:p>
            <a:endParaRPr lang="en-GB"/>
          </a:p>
        </p:txBody>
      </p:sp>
      <p:sp>
        <p:nvSpPr>
          <p:cNvPr id="26" name="Text 24"/>
          <p:cNvSpPr/>
          <p:nvPr/>
        </p:nvSpPr>
        <p:spPr>
          <a:xfrm>
            <a:off x="3785616" y="1993392"/>
            <a:ext cx="164592" cy="137160"/>
          </a:xfrm>
          <a:prstGeom prst="rect">
            <a:avLst/>
          </a:prstGeom>
          <a:noFill/>
          <a:ln/>
        </p:spPr>
        <p:txBody>
          <a:bodyPr wrap="square" lIns="0" tIns="0" rIns="0" bIns="0" rtlCol="0" anchor="ctr">
            <a:normAutofit/>
          </a:bodyPr>
          <a:lstStyle/>
          <a:p>
            <a:pPr marL="0" indent="0" algn="ctr">
              <a:buNone/>
            </a:pPr>
            <a:r>
              <a:rPr lang="en-US" sz="800" dirty="0">
                <a:solidFill>
                  <a:srgbClr val="475569"/>
                </a:solidFill>
              </a:rPr>
              <a:t>x4</a:t>
            </a:r>
            <a:endParaRPr lang="en-US" sz="800" dirty="0"/>
          </a:p>
        </p:txBody>
      </p:sp>
      <p:sp>
        <p:nvSpPr>
          <p:cNvPr id="27" name="Shape 25"/>
          <p:cNvSpPr/>
          <p:nvPr/>
        </p:nvSpPr>
        <p:spPr>
          <a:xfrm>
            <a:off x="3877056" y="2148840"/>
            <a:ext cx="0" cy="182880"/>
          </a:xfrm>
          <a:prstGeom prst="line">
            <a:avLst/>
          </a:prstGeom>
          <a:noFill/>
          <a:ln w="11430">
            <a:solidFill>
              <a:srgbClr val="475569"/>
            </a:solidFill>
            <a:prstDash val="solid"/>
            <a:tailEnd type="triangle"/>
          </a:ln>
        </p:spPr>
        <p:txBody>
          <a:bodyPr/>
          <a:lstStyle/>
          <a:p>
            <a:endParaRPr lang="en-GB"/>
          </a:p>
        </p:txBody>
      </p:sp>
      <p:sp>
        <p:nvSpPr>
          <p:cNvPr id="28" name="Shape 26"/>
          <p:cNvSpPr/>
          <p:nvPr/>
        </p:nvSpPr>
        <p:spPr>
          <a:xfrm>
            <a:off x="4572000" y="2331720"/>
            <a:ext cx="438912" cy="365760"/>
          </a:xfrm>
          <a:prstGeom prst="roundRect">
            <a:avLst>
              <a:gd name="adj" fmla="val 20000"/>
            </a:avLst>
          </a:prstGeom>
          <a:solidFill>
            <a:srgbClr val="EEF2FF"/>
          </a:solidFill>
          <a:ln w="12700">
            <a:solidFill>
              <a:srgbClr val="2563EB"/>
            </a:solidFill>
            <a:prstDash val="solid"/>
          </a:ln>
        </p:spPr>
        <p:txBody>
          <a:bodyPr/>
          <a:lstStyle/>
          <a:p>
            <a:endParaRPr lang="en-GB"/>
          </a:p>
        </p:txBody>
      </p:sp>
      <p:sp>
        <p:nvSpPr>
          <p:cNvPr id="29" name="Text 27"/>
          <p:cNvSpPr/>
          <p:nvPr/>
        </p:nvSpPr>
        <p:spPr>
          <a:xfrm>
            <a:off x="4645152" y="2404872"/>
            <a:ext cx="292608" cy="228600"/>
          </a:xfrm>
          <a:prstGeom prst="rect">
            <a:avLst/>
          </a:prstGeom>
          <a:noFill/>
          <a:ln/>
        </p:spPr>
        <p:txBody>
          <a:bodyPr wrap="square" lIns="0" tIns="0" rIns="0" bIns="0" rtlCol="0" anchor="ctr">
            <a:normAutofit/>
          </a:bodyPr>
          <a:lstStyle/>
          <a:p>
            <a:pPr marL="0" indent="0" algn="ctr">
              <a:buNone/>
            </a:pPr>
            <a:r>
              <a:rPr lang="en-US" sz="1000" b="1" dirty="0">
                <a:solidFill>
                  <a:srgbClr val="111827"/>
                </a:solidFill>
              </a:rPr>
              <a:t>h[5]</a:t>
            </a:r>
            <a:endParaRPr lang="en-US" sz="1000" dirty="0"/>
          </a:p>
        </p:txBody>
      </p:sp>
      <p:sp>
        <p:nvSpPr>
          <p:cNvPr id="30" name="Shape 28"/>
          <p:cNvSpPr/>
          <p:nvPr/>
        </p:nvSpPr>
        <p:spPr>
          <a:xfrm>
            <a:off x="4096512" y="2514600"/>
            <a:ext cx="475488" cy="0"/>
          </a:xfrm>
          <a:prstGeom prst="line">
            <a:avLst/>
          </a:prstGeom>
          <a:noFill/>
          <a:ln w="15240">
            <a:solidFill>
              <a:srgbClr val="2563EB"/>
            </a:solidFill>
            <a:prstDash val="solid"/>
            <a:tailEnd type="triangle"/>
          </a:ln>
        </p:spPr>
        <p:txBody>
          <a:bodyPr/>
          <a:lstStyle/>
          <a:p>
            <a:endParaRPr lang="en-GB"/>
          </a:p>
        </p:txBody>
      </p:sp>
      <p:sp>
        <p:nvSpPr>
          <p:cNvPr id="31" name="Text 29"/>
          <p:cNvSpPr/>
          <p:nvPr/>
        </p:nvSpPr>
        <p:spPr>
          <a:xfrm>
            <a:off x="4700016" y="1993392"/>
            <a:ext cx="164592" cy="137160"/>
          </a:xfrm>
          <a:prstGeom prst="rect">
            <a:avLst/>
          </a:prstGeom>
          <a:noFill/>
          <a:ln/>
        </p:spPr>
        <p:txBody>
          <a:bodyPr wrap="square" lIns="0" tIns="0" rIns="0" bIns="0" rtlCol="0" anchor="ctr">
            <a:normAutofit/>
          </a:bodyPr>
          <a:lstStyle/>
          <a:p>
            <a:pPr marL="0" indent="0" algn="ctr">
              <a:buNone/>
            </a:pPr>
            <a:r>
              <a:rPr lang="en-US" sz="800" dirty="0">
                <a:solidFill>
                  <a:srgbClr val="475569"/>
                </a:solidFill>
              </a:rPr>
              <a:t>x5</a:t>
            </a:r>
            <a:endParaRPr lang="en-US" sz="800" dirty="0"/>
          </a:p>
        </p:txBody>
      </p:sp>
      <p:sp>
        <p:nvSpPr>
          <p:cNvPr id="32" name="Shape 30"/>
          <p:cNvSpPr/>
          <p:nvPr/>
        </p:nvSpPr>
        <p:spPr>
          <a:xfrm>
            <a:off x="4791456" y="2148840"/>
            <a:ext cx="0" cy="182880"/>
          </a:xfrm>
          <a:prstGeom prst="line">
            <a:avLst/>
          </a:prstGeom>
          <a:noFill/>
          <a:ln w="11430">
            <a:solidFill>
              <a:srgbClr val="475569"/>
            </a:solidFill>
            <a:prstDash val="solid"/>
            <a:tailEnd type="triangle"/>
          </a:ln>
        </p:spPr>
        <p:txBody>
          <a:bodyPr/>
          <a:lstStyle/>
          <a:p>
            <a:endParaRPr lang="en-GB"/>
          </a:p>
        </p:txBody>
      </p:sp>
      <p:sp>
        <p:nvSpPr>
          <p:cNvPr id="33" name="Shape 31"/>
          <p:cNvSpPr/>
          <p:nvPr/>
        </p:nvSpPr>
        <p:spPr>
          <a:xfrm>
            <a:off x="5486400" y="2331720"/>
            <a:ext cx="438912" cy="365760"/>
          </a:xfrm>
          <a:prstGeom prst="roundRect">
            <a:avLst>
              <a:gd name="adj" fmla="val 20000"/>
            </a:avLst>
          </a:prstGeom>
          <a:solidFill>
            <a:srgbClr val="EEF2FF"/>
          </a:solidFill>
          <a:ln w="12700">
            <a:solidFill>
              <a:srgbClr val="2563EB"/>
            </a:solidFill>
            <a:prstDash val="solid"/>
          </a:ln>
        </p:spPr>
        <p:txBody>
          <a:bodyPr/>
          <a:lstStyle/>
          <a:p>
            <a:endParaRPr lang="en-GB"/>
          </a:p>
        </p:txBody>
      </p:sp>
      <p:sp>
        <p:nvSpPr>
          <p:cNvPr id="34" name="Text 32"/>
          <p:cNvSpPr/>
          <p:nvPr/>
        </p:nvSpPr>
        <p:spPr>
          <a:xfrm>
            <a:off x="5559552" y="2404872"/>
            <a:ext cx="292608" cy="228600"/>
          </a:xfrm>
          <a:prstGeom prst="rect">
            <a:avLst/>
          </a:prstGeom>
          <a:noFill/>
          <a:ln/>
        </p:spPr>
        <p:txBody>
          <a:bodyPr wrap="square" lIns="0" tIns="0" rIns="0" bIns="0" rtlCol="0" anchor="ctr">
            <a:normAutofit/>
          </a:bodyPr>
          <a:lstStyle/>
          <a:p>
            <a:pPr marL="0" indent="0" algn="ctr">
              <a:buNone/>
            </a:pPr>
            <a:r>
              <a:rPr lang="en-US" sz="1000" b="1" dirty="0">
                <a:solidFill>
                  <a:srgbClr val="111827"/>
                </a:solidFill>
              </a:rPr>
              <a:t>h[6]</a:t>
            </a:r>
            <a:endParaRPr lang="en-US" sz="1000" dirty="0"/>
          </a:p>
        </p:txBody>
      </p:sp>
      <p:sp>
        <p:nvSpPr>
          <p:cNvPr id="35" name="Shape 33"/>
          <p:cNvSpPr/>
          <p:nvPr/>
        </p:nvSpPr>
        <p:spPr>
          <a:xfrm>
            <a:off x="5010912" y="2514600"/>
            <a:ext cx="475488" cy="0"/>
          </a:xfrm>
          <a:prstGeom prst="line">
            <a:avLst/>
          </a:prstGeom>
          <a:noFill/>
          <a:ln w="15240">
            <a:solidFill>
              <a:srgbClr val="2563EB"/>
            </a:solidFill>
            <a:prstDash val="solid"/>
            <a:tailEnd type="triangle"/>
          </a:ln>
        </p:spPr>
        <p:txBody>
          <a:bodyPr/>
          <a:lstStyle/>
          <a:p>
            <a:endParaRPr lang="en-GB"/>
          </a:p>
        </p:txBody>
      </p:sp>
      <p:sp>
        <p:nvSpPr>
          <p:cNvPr id="36" name="Text 34"/>
          <p:cNvSpPr/>
          <p:nvPr/>
        </p:nvSpPr>
        <p:spPr>
          <a:xfrm>
            <a:off x="5614416" y="1993392"/>
            <a:ext cx="164592" cy="137160"/>
          </a:xfrm>
          <a:prstGeom prst="rect">
            <a:avLst/>
          </a:prstGeom>
          <a:noFill/>
          <a:ln/>
        </p:spPr>
        <p:txBody>
          <a:bodyPr wrap="square" lIns="0" tIns="0" rIns="0" bIns="0" rtlCol="0" anchor="ctr">
            <a:normAutofit/>
          </a:bodyPr>
          <a:lstStyle/>
          <a:p>
            <a:pPr marL="0" indent="0" algn="ctr">
              <a:buNone/>
            </a:pPr>
            <a:r>
              <a:rPr lang="en-US" sz="800" dirty="0">
                <a:solidFill>
                  <a:srgbClr val="475569"/>
                </a:solidFill>
              </a:rPr>
              <a:t>x6</a:t>
            </a:r>
            <a:endParaRPr lang="en-US" sz="800" dirty="0"/>
          </a:p>
        </p:txBody>
      </p:sp>
      <p:sp>
        <p:nvSpPr>
          <p:cNvPr id="37" name="Shape 35"/>
          <p:cNvSpPr/>
          <p:nvPr/>
        </p:nvSpPr>
        <p:spPr>
          <a:xfrm>
            <a:off x="5705856" y="2148840"/>
            <a:ext cx="0" cy="182880"/>
          </a:xfrm>
          <a:prstGeom prst="line">
            <a:avLst/>
          </a:prstGeom>
          <a:noFill/>
          <a:ln w="11430">
            <a:solidFill>
              <a:srgbClr val="475569"/>
            </a:solidFill>
            <a:prstDash val="solid"/>
            <a:tailEnd type="triangle"/>
          </a:ln>
        </p:spPr>
        <p:txBody>
          <a:bodyPr/>
          <a:lstStyle/>
          <a:p>
            <a:endParaRPr lang="en-GB"/>
          </a:p>
        </p:txBody>
      </p:sp>
      <p:sp>
        <p:nvSpPr>
          <p:cNvPr id="38" name="Shape 36"/>
          <p:cNvSpPr/>
          <p:nvPr/>
        </p:nvSpPr>
        <p:spPr>
          <a:xfrm>
            <a:off x="731520" y="3794760"/>
            <a:ext cx="914400" cy="411480"/>
          </a:xfrm>
          <a:prstGeom prst="roundRect">
            <a:avLst>
              <a:gd name="adj" fmla="val 17778"/>
            </a:avLst>
          </a:prstGeom>
          <a:solidFill>
            <a:srgbClr val="ECFDF5"/>
          </a:solidFill>
          <a:ln w="12700">
            <a:solidFill>
              <a:srgbClr val="84B927"/>
            </a:solidFill>
            <a:prstDash val="solid"/>
          </a:ln>
        </p:spPr>
        <p:txBody>
          <a:bodyPr/>
          <a:lstStyle/>
          <a:p>
            <a:endParaRPr lang="en-GB"/>
          </a:p>
        </p:txBody>
      </p:sp>
      <p:sp>
        <p:nvSpPr>
          <p:cNvPr id="39" name="Text 37"/>
          <p:cNvSpPr/>
          <p:nvPr/>
        </p:nvSpPr>
        <p:spPr>
          <a:xfrm>
            <a:off x="804672" y="3890772"/>
            <a:ext cx="768096" cy="228600"/>
          </a:xfrm>
          <a:prstGeom prst="rect">
            <a:avLst/>
          </a:prstGeom>
          <a:noFill/>
          <a:ln/>
        </p:spPr>
        <p:txBody>
          <a:bodyPr wrap="square" lIns="0" tIns="0" rIns="0" bIns="0" rtlCol="0" anchor="ctr">
            <a:normAutofit/>
          </a:bodyPr>
          <a:lstStyle/>
          <a:p>
            <a:pPr marL="0" indent="0" algn="ctr">
              <a:buNone/>
            </a:pPr>
            <a:r>
              <a:rPr lang="en-US" sz="1200" b="1" dirty="0">
                <a:solidFill>
                  <a:srgbClr val="4F7F2B"/>
                </a:solidFill>
              </a:rPr>
              <a:t>CNN</a:t>
            </a:r>
            <a:endParaRPr lang="en-US" sz="1200" dirty="0"/>
          </a:p>
        </p:txBody>
      </p:sp>
      <p:sp>
        <p:nvSpPr>
          <p:cNvPr id="40" name="Text 38"/>
          <p:cNvSpPr/>
          <p:nvPr/>
        </p:nvSpPr>
        <p:spPr>
          <a:xfrm>
            <a:off x="1828800" y="3822192"/>
            <a:ext cx="5029200" cy="228600"/>
          </a:xfrm>
          <a:prstGeom prst="rect">
            <a:avLst/>
          </a:prstGeom>
          <a:noFill/>
          <a:ln/>
        </p:spPr>
        <p:txBody>
          <a:bodyPr wrap="square" lIns="0" tIns="0" rIns="0" bIns="0" rtlCol="0" anchor="ctr">
            <a:normAutofit/>
          </a:bodyPr>
          <a:lstStyle/>
          <a:p>
            <a:pPr marL="0" indent="0" algn="l">
              <a:buNone/>
            </a:pPr>
            <a:r>
              <a:rPr lang="en-US" sz="1400" b="1" dirty="0">
                <a:solidFill>
                  <a:srgbClr val="4F7F2B"/>
                </a:solidFill>
                <a:highlight>
                  <a:srgbClr val="FFFF00"/>
                </a:highlight>
              </a:rPr>
              <a:t>What local patterns are present at each position?</a:t>
            </a:r>
            <a:endParaRPr lang="en-US" sz="1400" dirty="0">
              <a:highlight>
                <a:srgbClr val="FFFF00"/>
              </a:highlight>
            </a:endParaRPr>
          </a:p>
        </p:txBody>
      </p:sp>
      <p:sp>
        <p:nvSpPr>
          <p:cNvPr id="41" name="Shape 39"/>
          <p:cNvSpPr/>
          <p:nvPr/>
        </p:nvSpPr>
        <p:spPr>
          <a:xfrm>
            <a:off x="909828" y="4658868"/>
            <a:ext cx="100584" cy="100584"/>
          </a:xfrm>
          <a:prstGeom prst="ellipse">
            <a:avLst/>
          </a:prstGeom>
          <a:solidFill>
            <a:srgbClr val="475569"/>
          </a:solidFill>
          <a:ln w="12700">
            <a:solidFill>
              <a:srgbClr val="475569"/>
            </a:solidFill>
            <a:prstDash val="solid"/>
          </a:ln>
        </p:spPr>
        <p:txBody>
          <a:bodyPr/>
          <a:lstStyle/>
          <a:p>
            <a:endParaRPr lang="en-GB"/>
          </a:p>
        </p:txBody>
      </p:sp>
      <p:sp>
        <p:nvSpPr>
          <p:cNvPr id="42" name="Shape 40"/>
          <p:cNvSpPr/>
          <p:nvPr/>
        </p:nvSpPr>
        <p:spPr>
          <a:xfrm>
            <a:off x="1367028" y="4658868"/>
            <a:ext cx="100584" cy="100584"/>
          </a:xfrm>
          <a:prstGeom prst="ellipse">
            <a:avLst/>
          </a:prstGeom>
          <a:solidFill>
            <a:srgbClr val="475569"/>
          </a:solidFill>
          <a:ln w="12700">
            <a:solidFill>
              <a:srgbClr val="475569"/>
            </a:solidFill>
            <a:prstDash val="solid"/>
          </a:ln>
        </p:spPr>
        <p:txBody>
          <a:bodyPr/>
          <a:lstStyle/>
          <a:p>
            <a:endParaRPr lang="en-GB"/>
          </a:p>
        </p:txBody>
      </p:sp>
      <p:sp>
        <p:nvSpPr>
          <p:cNvPr id="43" name="Shape 41"/>
          <p:cNvSpPr/>
          <p:nvPr/>
        </p:nvSpPr>
        <p:spPr>
          <a:xfrm>
            <a:off x="1824228" y="4658868"/>
            <a:ext cx="100584" cy="100584"/>
          </a:xfrm>
          <a:prstGeom prst="ellipse">
            <a:avLst/>
          </a:prstGeom>
          <a:solidFill>
            <a:srgbClr val="475569"/>
          </a:solidFill>
          <a:ln w="12700">
            <a:solidFill>
              <a:srgbClr val="475569"/>
            </a:solidFill>
            <a:prstDash val="solid"/>
          </a:ln>
        </p:spPr>
        <p:txBody>
          <a:bodyPr/>
          <a:lstStyle/>
          <a:p>
            <a:endParaRPr lang="en-GB"/>
          </a:p>
        </p:txBody>
      </p:sp>
      <p:sp>
        <p:nvSpPr>
          <p:cNvPr id="44" name="Shape 42"/>
          <p:cNvSpPr/>
          <p:nvPr/>
        </p:nvSpPr>
        <p:spPr>
          <a:xfrm>
            <a:off x="2281428" y="4658868"/>
            <a:ext cx="100584" cy="100584"/>
          </a:xfrm>
          <a:prstGeom prst="ellipse">
            <a:avLst/>
          </a:prstGeom>
          <a:solidFill>
            <a:srgbClr val="475569"/>
          </a:solidFill>
          <a:ln w="12700">
            <a:solidFill>
              <a:srgbClr val="475569"/>
            </a:solidFill>
            <a:prstDash val="solid"/>
          </a:ln>
        </p:spPr>
        <p:txBody>
          <a:bodyPr/>
          <a:lstStyle/>
          <a:p>
            <a:endParaRPr lang="en-GB"/>
          </a:p>
        </p:txBody>
      </p:sp>
      <p:sp>
        <p:nvSpPr>
          <p:cNvPr id="45" name="Shape 43"/>
          <p:cNvSpPr/>
          <p:nvPr/>
        </p:nvSpPr>
        <p:spPr>
          <a:xfrm>
            <a:off x="2738628" y="4658868"/>
            <a:ext cx="100584" cy="100584"/>
          </a:xfrm>
          <a:prstGeom prst="ellipse">
            <a:avLst/>
          </a:prstGeom>
          <a:solidFill>
            <a:srgbClr val="475569"/>
          </a:solidFill>
          <a:ln w="12700">
            <a:solidFill>
              <a:srgbClr val="475569"/>
            </a:solidFill>
            <a:prstDash val="solid"/>
          </a:ln>
        </p:spPr>
        <p:txBody>
          <a:bodyPr/>
          <a:lstStyle/>
          <a:p>
            <a:endParaRPr lang="en-GB"/>
          </a:p>
        </p:txBody>
      </p:sp>
      <p:sp>
        <p:nvSpPr>
          <p:cNvPr id="46" name="Shape 44"/>
          <p:cNvSpPr/>
          <p:nvPr/>
        </p:nvSpPr>
        <p:spPr>
          <a:xfrm>
            <a:off x="3195828" y="4658868"/>
            <a:ext cx="100584" cy="100584"/>
          </a:xfrm>
          <a:prstGeom prst="ellipse">
            <a:avLst/>
          </a:prstGeom>
          <a:solidFill>
            <a:srgbClr val="475569"/>
          </a:solidFill>
          <a:ln w="12700">
            <a:solidFill>
              <a:srgbClr val="475569"/>
            </a:solidFill>
            <a:prstDash val="solid"/>
          </a:ln>
        </p:spPr>
        <p:txBody>
          <a:bodyPr/>
          <a:lstStyle/>
          <a:p>
            <a:endParaRPr lang="en-GB"/>
          </a:p>
        </p:txBody>
      </p:sp>
      <p:sp>
        <p:nvSpPr>
          <p:cNvPr id="47" name="Shape 45"/>
          <p:cNvSpPr/>
          <p:nvPr/>
        </p:nvSpPr>
        <p:spPr>
          <a:xfrm>
            <a:off x="3653028" y="4658868"/>
            <a:ext cx="100584" cy="100584"/>
          </a:xfrm>
          <a:prstGeom prst="ellipse">
            <a:avLst/>
          </a:prstGeom>
          <a:solidFill>
            <a:srgbClr val="475569"/>
          </a:solidFill>
          <a:ln w="12700">
            <a:solidFill>
              <a:srgbClr val="475569"/>
            </a:solidFill>
            <a:prstDash val="solid"/>
          </a:ln>
        </p:spPr>
        <p:txBody>
          <a:bodyPr/>
          <a:lstStyle/>
          <a:p>
            <a:endParaRPr lang="en-GB"/>
          </a:p>
        </p:txBody>
      </p:sp>
      <p:sp>
        <p:nvSpPr>
          <p:cNvPr id="48" name="Shape 46"/>
          <p:cNvSpPr/>
          <p:nvPr/>
        </p:nvSpPr>
        <p:spPr>
          <a:xfrm>
            <a:off x="4110228" y="4658868"/>
            <a:ext cx="100584" cy="100584"/>
          </a:xfrm>
          <a:prstGeom prst="ellipse">
            <a:avLst/>
          </a:prstGeom>
          <a:solidFill>
            <a:srgbClr val="475569"/>
          </a:solidFill>
          <a:ln w="12700">
            <a:solidFill>
              <a:srgbClr val="475569"/>
            </a:solidFill>
            <a:prstDash val="solid"/>
          </a:ln>
        </p:spPr>
        <p:txBody>
          <a:bodyPr/>
          <a:lstStyle/>
          <a:p>
            <a:endParaRPr lang="en-GB"/>
          </a:p>
        </p:txBody>
      </p:sp>
      <p:sp>
        <p:nvSpPr>
          <p:cNvPr id="49" name="Shape 47"/>
          <p:cNvSpPr/>
          <p:nvPr/>
        </p:nvSpPr>
        <p:spPr>
          <a:xfrm>
            <a:off x="4567428" y="4658868"/>
            <a:ext cx="100584" cy="100584"/>
          </a:xfrm>
          <a:prstGeom prst="ellipse">
            <a:avLst/>
          </a:prstGeom>
          <a:solidFill>
            <a:srgbClr val="475569"/>
          </a:solidFill>
          <a:ln w="12700">
            <a:solidFill>
              <a:srgbClr val="475569"/>
            </a:solidFill>
            <a:prstDash val="solid"/>
          </a:ln>
        </p:spPr>
        <p:txBody>
          <a:bodyPr/>
          <a:lstStyle/>
          <a:p>
            <a:endParaRPr lang="en-GB"/>
          </a:p>
        </p:txBody>
      </p:sp>
      <p:sp>
        <p:nvSpPr>
          <p:cNvPr id="50" name="Shape 48"/>
          <p:cNvSpPr/>
          <p:nvPr/>
        </p:nvSpPr>
        <p:spPr>
          <a:xfrm>
            <a:off x="914400" y="4517136"/>
            <a:ext cx="1051560" cy="393192"/>
          </a:xfrm>
          <a:prstGeom prst="roundRect">
            <a:avLst>
              <a:gd name="adj" fmla="val 6977"/>
            </a:avLst>
          </a:prstGeom>
          <a:solidFill>
            <a:srgbClr val="EAF6D6">
              <a:alpha val="55000"/>
            </a:srgbClr>
          </a:solidFill>
          <a:ln w="13970">
            <a:solidFill>
              <a:srgbClr val="84B927"/>
            </a:solidFill>
            <a:prstDash val="solid"/>
          </a:ln>
        </p:spPr>
        <p:txBody>
          <a:bodyPr/>
          <a:lstStyle/>
          <a:p>
            <a:endParaRPr lang="en-GB"/>
          </a:p>
        </p:txBody>
      </p:sp>
      <p:sp>
        <p:nvSpPr>
          <p:cNvPr id="51" name="Shape 49"/>
          <p:cNvSpPr/>
          <p:nvPr/>
        </p:nvSpPr>
        <p:spPr>
          <a:xfrm>
            <a:off x="1371600" y="4517136"/>
            <a:ext cx="1051560" cy="393192"/>
          </a:xfrm>
          <a:prstGeom prst="roundRect">
            <a:avLst>
              <a:gd name="adj" fmla="val 6977"/>
            </a:avLst>
          </a:prstGeom>
          <a:solidFill>
            <a:srgbClr val="EAF6D6">
              <a:alpha val="55000"/>
            </a:srgbClr>
          </a:solidFill>
          <a:ln w="13970">
            <a:solidFill>
              <a:srgbClr val="84B927"/>
            </a:solidFill>
            <a:prstDash val="solid"/>
          </a:ln>
        </p:spPr>
        <p:txBody>
          <a:bodyPr/>
          <a:lstStyle/>
          <a:p>
            <a:endParaRPr lang="en-GB"/>
          </a:p>
        </p:txBody>
      </p:sp>
      <p:sp>
        <p:nvSpPr>
          <p:cNvPr id="52" name="Shape 50"/>
          <p:cNvSpPr/>
          <p:nvPr/>
        </p:nvSpPr>
        <p:spPr>
          <a:xfrm>
            <a:off x="1828800" y="4517136"/>
            <a:ext cx="1051560" cy="393192"/>
          </a:xfrm>
          <a:prstGeom prst="roundRect">
            <a:avLst>
              <a:gd name="adj" fmla="val 6977"/>
            </a:avLst>
          </a:prstGeom>
          <a:solidFill>
            <a:srgbClr val="EAF6D6">
              <a:alpha val="55000"/>
            </a:srgbClr>
          </a:solidFill>
          <a:ln w="13970">
            <a:solidFill>
              <a:srgbClr val="84B927"/>
            </a:solidFill>
            <a:prstDash val="solid"/>
          </a:ln>
        </p:spPr>
        <p:txBody>
          <a:bodyPr/>
          <a:lstStyle/>
          <a:p>
            <a:endParaRPr lang="en-GB"/>
          </a:p>
        </p:txBody>
      </p:sp>
      <p:sp>
        <p:nvSpPr>
          <p:cNvPr id="53" name="Shape 51"/>
          <p:cNvSpPr/>
          <p:nvPr/>
        </p:nvSpPr>
        <p:spPr>
          <a:xfrm>
            <a:off x="2286000" y="4517136"/>
            <a:ext cx="1051560" cy="393192"/>
          </a:xfrm>
          <a:prstGeom prst="roundRect">
            <a:avLst>
              <a:gd name="adj" fmla="val 6977"/>
            </a:avLst>
          </a:prstGeom>
          <a:solidFill>
            <a:srgbClr val="EAF6D6">
              <a:alpha val="55000"/>
            </a:srgbClr>
          </a:solidFill>
          <a:ln w="13970">
            <a:solidFill>
              <a:srgbClr val="84B927"/>
            </a:solidFill>
            <a:prstDash val="solid"/>
          </a:ln>
        </p:spPr>
        <p:txBody>
          <a:bodyPr/>
          <a:lstStyle/>
          <a:p>
            <a:endParaRPr lang="en-GB"/>
          </a:p>
        </p:txBody>
      </p:sp>
      <p:sp>
        <p:nvSpPr>
          <p:cNvPr id="54" name="Shape 52"/>
          <p:cNvSpPr/>
          <p:nvPr/>
        </p:nvSpPr>
        <p:spPr>
          <a:xfrm>
            <a:off x="2743200" y="4517136"/>
            <a:ext cx="1051560" cy="393192"/>
          </a:xfrm>
          <a:prstGeom prst="roundRect">
            <a:avLst>
              <a:gd name="adj" fmla="val 6977"/>
            </a:avLst>
          </a:prstGeom>
          <a:solidFill>
            <a:srgbClr val="EAF6D6">
              <a:alpha val="55000"/>
            </a:srgbClr>
          </a:solidFill>
          <a:ln w="13970">
            <a:solidFill>
              <a:srgbClr val="84B927"/>
            </a:solidFill>
            <a:prstDash val="solid"/>
          </a:ln>
        </p:spPr>
        <p:txBody>
          <a:bodyPr/>
          <a:lstStyle/>
          <a:p>
            <a:endParaRPr lang="en-GB"/>
          </a:p>
        </p:txBody>
      </p:sp>
      <p:sp>
        <p:nvSpPr>
          <p:cNvPr id="55" name="Shape 53"/>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56" name="Text 54"/>
          <p:cNvSpPr/>
          <p:nvPr/>
        </p:nvSpPr>
        <p:spPr>
          <a:xfrm>
            <a:off x="621792" y="6336792"/>
            <a:ext cx="9555480" cy="164592"/>
          </a:xfrm>
          <a:prstGeom prst="rect">
            <a:avLst/>
          </a:prstGeom>
          <a:noFill/>
          <a:ln/>
        </p:spPr>
        <p:txBody>
          <a:bodyPr wrap="square" lIns="0" tIns="0" rIns="0" bIns="0" rtlCol="0" anchor="ctr"/>
          <a:lstStyle/>
          <a:p>
            <a:pPr marL="0" indent="0">
              <a:buNone/>
            </a:pPr>
            <a:r>
              <a:rPr lang="en-US" sz="1100" b="1" dirty="0">
                <a:solidFill>
                  <a:srgbClr val="111827"/>
                </a:solidFill>
              </a:rPr>
              <a:t>Later convolutional layers combine local pattern detections into broader temporal structures.</a:t>
            </a:r>
            <a:endParaRPr lang="en-US" sz="1100" b="1"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0643FF7-FE7D-D7C6-998C-61F495421847}"/>
              </a:ext>
            </a:extLst>
          </p:cNvPr>
          <p:cNvSpPr>
            <a:spLocks noGrp="1"/>
          </p:cNvSpPr>
          <p:nvPr>
            <p:ph type="title"/>
          </p:nvPr>
        </p:nvSpPr>
        <p:spPr/>
        <p:txBody>
          <a:bodyPr/>
          <a:lstStyle/>
          <a:p>
            <a:r>
              <a:rPr lang="en-GB" dirty="0"/>
              <a:t>Block 5.B — One-Dimensional Temporal Convolution</a:t>
            </a:r>
          </a:p>
        </p:txBody>
      </p:sp>
      <p:sp>
        <p:nvSpPr>
          <p:cNvPr id="3" name="Segnaposto contenuto 2">
            <a:extLst>
              <a:ext uri="{FF2B5EF4-FFF2-40B4-BE49-F238E27FC236}">
                <a16:creationId xmlns:a16="http://schemas.microsoft.com/office/drawing/2014/main" id="{FC44AC78-8B4E-8710-8B4F-48BEF77F40E5}"/>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28447190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A4D1E81-C74D-7AB3-8B07-F9BCA5DCC5D1}"/>
              </a:ext>
            </a:extLst>
          </p:cNvPr>
          <p:cNvSpPr>
            <a:spLocks noGrp="1"/>
          </p:cNvSpPr>
          <p:nvPr>
            <p:ph type="title"/>
          </p:nvPr>
        </p:nvSpPr>
        <p:spPr/>
        <p:txBody>
          <a:bodyPr/>
          <a:lstStyle/>
          <a:p>
            <a:r>
              <a:rPr lang="en-GB" dirty="0"/>
              <a:t>Input representation for Conv1D</a:t>
            </a:r>
          </a:p>
        </p:txBody>
      </p:sp>
      <p:sp>
        <p:nvSpPr>
          <p:cNvPr id="3" name="Segnaposto contenuto 2">
            <a:extLst>
              <a:ext uri="{FF2B5EF4-FFF2-40B4-BE49-F238E27FC236}">
                <a16:creationId xmlns:a16="http://schemas.microsoft.com/office/drawing/2014/main" id="{6849B969-9CBC-AF58-F033-50245EFD176C}"/>
              </a:ext>
            </a:extLst>
          </p:cNvPr>
          <p:cNvSpPr>
            <a:spLocks noGrp="1"/>
          </p:cNvSpPr>
          <p:nvPr>
            <p:ph sz="half" idx="1"/>
          </p:nvPr>
        </p:nvSpPr>
        <p:spPr>
          <a:xfrm>
            <a:off x="677334" y="2160589"/>
            <a:ext cx="5161491" cy="4344986"/>
          </a:xfrm>
        </p:spPr>
        <p:txBody>
          <a:bodyPr>
            <a:normAutofit fontScale="92500" lnSpcReduction="20000"/>
          </a:bodyPr>
          <a:lstStyle/>
          <a:p>
            <a:r>
              <a:rPr lang="en-GB" dirty="0"/>
              <a:t>A temporal sequence with d variables can be represented as:</a:t>
            </a:r>
          </a:p>
          <a:p>
            <a:r>
              <a:rPr lang="en-GB" dirty="0"/>
              <a:t>[L, d]</a:t>
            </a:r>
          </a:p>
          <a:p>
            <a:r>
              <a:rPr lang="en-GB" dirty="0"/>
              <a:t>where:</a:t>
            </a:r>
          </a:p>
          <a:p>
            <a:pPr lvl="1"/>
            <a:r>
              <a:rPr lang="en-GB" dirty="0"/>
              <a:t>L = number of time steps; </a:t>
            </a:r>
          </a:p>
          <a:p>
            <a:pPr lvl="1"/>
            <a:r>
              <a:rPr lang="en-GB" dirty="0"/>
              <a:t>d = number of input channels or variables. </a:t>
            </a:r>
          </a:p>
          <a:p>
            <a:r>
              <a:rPr lang="en-GB" dirty="0">
                <a:highlight>
                  <a:srgbClr val="FFFF00"/>
                </a:highlight>
              </a:rPr>
              <a:t>For a batch of N sequences: [N, L, d]</a:t>
            </a:r>
          </a:p>
          <a:p>
            <a:r>
              <a:rPr lang="en-GB" b="1" dirty="0"/>
              <a:t>Example</a:t>
            </a:r>
          </a:p>
          <a:p>
            <a:r>
              <a:rPr lang="en-GB" dirty="0"/>
              <a:t>Suppose each sample contains:</a:t>
            </a:r>
          </a:p>
          <a:p>
            <a:pPr lvl="1"/>
            <a:r>
              <a:rPr lang="en-GB" dirty="0"/>
              <a:t>200 time steps; </a:t>
            </a:r>
          </a:p>
          <a:p>
            <a:pPr lvl="1"/>
            <a:r>
              <a:rPr lang="en-GB" dirty="0"/>
              <a:t>4 sensor variables. </a:t>
            </a:r>
          </a:p>
          <a:p>
            <a:r>
              <a:rPr lang="en-GB" dirty="0"/>
              <a:t>One sample: [200, 4]</a:t>
            </a:r>
          </a:p>
          <a:p>
            <a:r>
              <a:rPr lang="en-GB" dirty="0"/>
              <a:t>A batch of 64 samples: [64, 200, 4]</a:t>
            </a:r>
          </a:p>
          <a:p>
            <a:endParaRPr lang="en-GB" dirty="0"/>
          </a:p>
        </p:txBody>
      </p:sp>
      <p:sp>
        <p:nvSpPr>
          <p:cNvPr id="4" name="Segnaposto contenuto 3">
            <a:extLst>
              <a:ext uri="{FF2B5EF4-FFF2-40B4-BE49-F238E27FC236}">
                <a16:creationId xmlns:a16="http://schemas.microsoft.com/office/drawing/2014/main" id="{C69980AA-D55B-88A0-E72F-1CCAC9EF0991}"/>
              </a:ext>
            </a:extLst>
          </p:cNvPr>
          <p:cNvSpPr>
            <a:spLocks noGrp="1"/>
          </p:cNvSpPr>
          <p:nvPr>
            <p:ph sz="half" idx="2"/>
          </p:nvPr>
        </p:nvSpPr>
        <p:spPr>
          <a:xfrm>
            <a:off x="6561187" y="2160588"/>
            <a:ext cx="5425630" cy="4344987"/>
          </a:xfrm>
        </p:spPr>
        <p:txBody>
          <a:bodyPr>
            <a:normAutofit fontScale="92500" lnSpcReduction="20000"/>
          </a:bodyPr>
          <a:lstStyle/>
          <a:p>
            <a:r>
              <a:rPr lang="en-GB" b="1" dirty="0"/>
              <a:t>At one temporal position</a:t>
            </a:r>
          </a:p>
          <a:p>
            <a:r>
              <a:rPr lang="en-GB" dirty="0">
                <a:highlight>
                  <a:srgbClr val="FFFF00"/>
                </a:highlight>
              </a:rPr>
              <a:t>x[t] =</a:t>
            </a:r>
          </a:p>
          <a:p>
            <a:pPr lvl="1"/>
            <a:r>
              <a:rPr lang="en-GB" dirty="0"/>
              <a:t>[</a:t>
            </a:r>
          </a:p>
          <a:p>
            <a:pPr lvl="1"/>
            <a:r>
              <a:rPr lang="en-GB" dirty="0"/>
              <a:t>temperature[t],</a:t>
            </a:r>
          </a:p>
          <a:p>
            <a:pPr lvl="1"/>
            <a:r>
              <a:rPr lang="en-GB" dirty="0"/>
              <a:t>pressure[t],</a:t>
            </a:r>
          </a:p>
          <a:p>
            <a:pPr lvl="1"/>
            <a:r>
              <a:rPr lang="en-GB" dirty="0"/>
              <a:t>flow[t],</a:t>
            </a:r>
          </a:p>
          <a:p>
            <a:pPr lvl="1"/>
            <a:r>
              <a:rPr lang="en-GB" dirty="0"/>
              <a:t>vibration[t]</a:t>
            </a:r>
          </a:p>
          <a:p>
            <a:pPr lvl="1"/>
            <a:r>
              <a:rPr lang="en-GB" dirty="0"/>
              <a:t>]</a:t>
            </a:r>
          </a:p>
          <a:p>
            <a:r>
              <a:rPr lang="en-GB" dirty="0"/>
              <a:t>So:</a:t>
            </a:r>
          </a:p>
          <a:p>
            <a:r>
              <a:rPr lang="en-GB" dirty="0"/>
              <a:t>x[t] has dimension d = 4.</a:t>
            </a:r>
          </a:p>
          <a:p>
            <a:endParaRPr lang="en-GB" dirty="0"/>
          </a:p>
          <a:p>
            <a:r>
              <a:rPr lang="en-GB" b="1" dirty="0"/>
              <a:t>Conv1D operates along the temporal dimension, while simultaneously considering the available input channels.</a:t>
            </a:r>
          </a:p>
          <a:p>
            <a:endParaRPr lang="en-GB" dirty="0"/>
          </a:p>
        </p:txBody>
      </p:sp>
    </p:spTree>
    <p:extLst>
      <p:ext uri="{BB962C8B-B14F-4D97-AF65-F5344CB8AC3E}">
        <p14:creationId xmlns:p14="http://schemas.microsoft.com/office/powerpoint/2010/main" val="5826522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Conv1D input representation</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b="1" dirty="0">
                <a:solidFill>
                  <a:srgbClr val="475569"/>
                </a:solidFill>
                <a:highlight>
                  <a:srgbClr val="FFFF00"/>
                </a:highlight>
              </a:rPr>
              <a:t>The convolution operates along time and uses all channels in the local region.</a:t>
            </a:r>
            <a:endParaRPr lang="en-US" sz="1150" b="1" dirty="0">
              <a:highlight>
                <a:srgbClr val="FFFF00"/>
              </a:highlight>
            </a:endParaRPr>
          </a:p>
        </p:txBody>
      </p:sp>
      <p:sp>
        <p:nvSpPr>
          <p:cNvPr id="6" name="Text 4"/>
          <p:cNvSpPr/>
          <p:nvPr/>
        </p:nvSpPr>
        <p:spPr>
          <a:xfrm>
            <a:off x="777240" y="1234440"/>
            <a:ext cx="2011680" cy="228600"/>
          </a:xfrm>
          <a:prstGeom prst="rect">
            <a:avLst/>
          </a:prstGeom>
          <a:noFill/>
          <a:ln/>
        </p:spPr>
        <p:txBody>
          <a:bodyPr wrap="square" lIns="0" tIns="0" rIns="0" bIns="0" rtlCol="0" anchor="ctr">
            <a:normAutofit/>
          </a:bodyPr>
          <a:lstStyle/>
          <a:p>
            <a:pPr marL="0" indent="0" algn="l">
              <a:buNone/>
            </a:pPr>
            <a:r>
              <a:rPr lang="en-US" sz="1400" b="1" dirty="0">
                <a:solidFill>
                  <a:srgbClr val="111827"/>
                </a:solidFill>
                <a:highlight>
                  <a:srgbClr val="FFFF00"/>
                </a:highlight>
              </a:rPr>
              <a:t>one sample: [L, d]</a:t>
            </a:r>
            <a:endParaRPr lang="en-US" sz="1400" dirty="0">
              <a:highlight>
                <a:srgbClr val="FFFF00"/>
              </a:highlight>
            </a:endParaRPr>
          </a:p>
        </p:txBody>
      </p:sp>
      <p:sp>
        <p:nvSpPr>
          <p:cNvPr id="7" name="Shape 5"/>
          <p:cNvSpPr/>
          <p:nvPr/>
        </p:nvSpPr>
        <p:spPr>
          <a:xfrm>
            <a:off x="914400" y="1691640"/>
            <a:ext cx="2852928" cy="2340864"/>
          </a:xfrm>
          <a:prstGeom prst="rect">
            <a:avLst/>
          </a:prstGeom>
          <a:solidFill>
            <a:srgbClr val="FFFFFF"/>
          </a:solidFill>
          <a:ln w="12700">
            <a:solidFill>
              <a:srgbClr val="CBD5E1"/>
            </a:solidFill>
            <a:prstDash val="solid"/>
          </a:ln>
        </p:spPr>
        <p:txBody>
          <a:bodyPr/>
          <a:lstStyle/>
          <a:p>
            <a:endParaRPr lang="en-GB"/>
          </a:p>
        </p:txBody>
      </p:sp>
      <p:sp>
        <p:nvSpPr>
          <p:cNvPr id="8" name="Shape 6"/>
          <p:cNvSpPr/>
          <p:nvPr/>
        </p:nvSpPr>
        <p:spPr>
          <a:xfrm>
            <a:off x="1389888" y="1691640"/>
            <a:ext cx="0" cy="2340864"/>
          </a:xfrm>
          <a:prstGeom prst="line">
            <a:avLst/>
          </a:prstGeom>
          <a:noFill/>
          <a:ln w="7620">
            <a:solidFill>
              <a:srgbClr val="CBD5E1"/>
            </a:solidFill>
            <a:prstDash val="solid"/>
          </a:ln>
        </p:spPr>
        <p:txBody>
          <a:bodyPr/>
          <a:lstStyle/>
          <a:p>
            <a:endParaRPr lang="en-GB"/>
          </a:p>
        </p:txBody>
      </p:sp>
      <p:sp>
        <p:nvSpPr>
          <p:cNvPr id="9" name="Shape 7"/>
          <p:cNvSpPr/>
          <p:nvPr/>
        </p:nvSpPr>
        <p:spPr>
          <a:xfrm>
            <a:off x="1865376" y="1691640"/>
            <a:ext cx="0" cy="2340864"/>
          </a:xfrm>
          <a:prstGeom prst="line">
            <a:avLst/>
          </a:prstGeom>
          <a:noFill/>
          <a:ln w="7620">
            <a:solidFill>
              <a:srgbClr val="CBD5E1"/>
            </a:solidFill>
            <a:prstDash val="solid"/>
          </a:ln>
        </p:spPr>
        <p:txBody>
          <a:bodyPr/>
          <a:lstStyle/>
          <a:p>
            <a:endParaRPr lang="en-GB"/>
          </a:p>
        </p:txBody>
      </p:sp>
      <p:sp>
        <p:nvSpPr>
          <p:cNvPr id="10" name="Shape 8"/>
          <p:cNvSpPr/>
          <p:nvPr/>
        </p:nvSpPr>
        <p:spPr>
          <a:xfrm>
            <a:off x="2340864" y="1691640"/>
            <a:ext cx="0" cy="2340864"/>
          </a:xfrm>
          <a:prstGeom prst="line">
            <a:avLst/>
          </a:prstGeom>
          <a:noFill/>
          <a:ln w="7620">
            <a:solidFill>
              <a:srgbClr val="CBD5E1"/>
            </a:solidFill>
            <a:prstDash val="solid"/>
          </a:ln>
        </p:spPr>
        <p:txBody>
          <a:bodyPr/>
          <a:lstStyle/>
          <a:p>
            <a:endParaRPr lang="en-GB"/>
          </a:p>
        </p:txBody>
      </p:sp>
      <p:sp>
        <p:nvSpPr>
          <p:cNvPr id="11" name="Shape 9"/>
          <p:cNvSpPr/>
          <p:nvPr/>
        </p:nvSpPr>
        <p:spPr>
          <a:xfrm>
            <a:off x="2816352" y="1691640"/>
            <a:ext cx="0" cy="2340864"/>
          </a:xfrm>
          <a:prstGeom prst="line">
            <a:avLst/>
          </a:prstGeom>
          <a:noFill/>
          <a:ln w="7620">
            <a:solidFill>
              <a:srgbClr val="CBD5E1"/>
            </a:solidFill>
            <a:prstDash val="solid"/>
          </a:ln>
        </p:spPr>
        <p:txBody>
          <a:bodyPr/>
          <a:lstStyle/>
          <a:p>
            <a:endParaRPr lang="en-GB"/>
          </a:p>
        </p:txBody>
      </p:sp>
      <p:sp>
        <p:nvSpPr>
          <p:cNvPr id="12" name="Shape 10"/>
          <p:cNvSpPr/>
          <p:nvPr/>
        </p:nvSpPr>
        <p:spPr>
          <a:xfrm>
            <a:off x="3291840" y="1691640"/>
            <a:ext cx="0" cy="2340864"/>
          </a:xfrm>
          <a:prstGeom prst="line">
            <a:avLst/>
          </a:prstGeom>
          <a:noFill/>
          <a:ln w="7620">
            <a:solidFill>
              <a:srgbClr val="CBD5E1"/>
            </a:solidFill>
            <a:prstDash val="solid"/>
          </a:ln>
        </p:spPr>
        <p:txBody>
          <a:bodyPr/>
          <a:lstStyle/>
          <a:p>
            <a:endParaRPr lang="en-GB"/>
          </a:p>
        </p:txBody>
      </p:sp>
      <p:sp>
        <p:nvSpPr>
          <p:cNvPr id="13" name="Shape 11"/>
          <p:cNvSpPr/>
          <p:nvPr/>
        </p:nvSpPr>
        <p:spPr>
          <a:xfrm>
            <a:off x="914400" y="1984248"/>
            <a:ext cx="2852928" cy="0"/>
          </a:xfrm>
          <a:prstGeom prst="line">
            <a:avLst/>
          </a:prstGeom>
          <a:noFill/>
          <a:ln w="7620">
            <a:solidFill>
              <a:srgbClr val="CBD5E1"/>
            </a:solidFill>
            <a:prstDash val="solid"/>
          </a:ln>
        </p:spPr>
        <p:txBody>
          <a:bodyPr/>
          <a:lstStyle/>
          <a:p>
            <a:endParaRPr lang="en-GB"/>
          </a:p>
        </p:txBody>
      </p:sp>
      <p:sp>
        <p:nvSpPr>
          <p:cNvPr id="14" name="Shape 12"/>
          <p:cNvSpPr/>
          <p:nvPr/>
        </p:nvSpPr>
        <p:spPr>
          <a:xfrm>
            <a:off x="914400" y="2276856"/>
            <a:ext cx="2852928" cy="0"/>
          </a:xfrm>
          <a:prstGeom prst="line">
            <a:avLst/>
          </a:prstGeom>
          <a:noFill/>
          <a:ln w="7620">
            <a:solidFill>
              <a:srgbClr val="CBD5E1"/>
            </a:solidFill>
            <a:prstDash val="solid"/>
          </a:ln>
        </p:spPr>
        <p:txBody>
          <a:bodyPr/>
          <a:lstStyle/>
          <a:p>
            <a:endParaRPr lang="en-GB"/>
          </a:p>
        </p:txBody>
      </p:sp>
      <p:sp>
        <p:nvSpPr>
          <p:cNvPr id="15" name="Shape 13"/>
          <p:cNvSpPr/>
          <p:nvPr/>
        </p:nvSpPr>
        <p:spPr>
          <a:xfrm>
            <a:off x="914400" y="2569464"/>
            <a:ext cx="2852928" cy="0"/>
          </a:xfrm>
          <a:prstGeom prst="line">
            <a:avLst/>
          </a:prstGeom>
          <a:noFill/>
          <a:ln w="7620">
            <a:solidFill>
              <a:srgbClr val="CBD5E1"/>
            </a:solidFill>
            <a:prstDash val="solid"/>
          </a:ln>
        </p:spPr>
        <p:txBody>
          <a:bodyPr/>
          <a:lstStyle/>
          <a:p>
            <a:endParaRPr lang="en-GB"/>
          </a:p>
        </p:txBody>
      </p:sp>
      <p:sp>
        <p:nvSpPr>
          <p:cNvPr id="16" name="Shape 14"/>
          <p:cNvSpPr/>
          <p:nvPr/>
        </p:nvSpPr>
        <p:spPr>
          <a:xfrm>
            <a:off x="914400" y="2862072"/>
            <a:ext cx="2852928" cy="0"/>
          </a:xfrm>
          <a:prstGeom prst="line">
            <a:avLst/>
          </a:prstGeom>
          <a:noFill/>
          <a:ln w="7620">
            <a:solidFill>
              <a:srgbClr val="CBD5E1"/>
            </a:solidFill>
            <a:prstDash val="solid"/>
          </a:ln>
        </p:spPr>
        <p:txBody>
          <a:bodyPr/>
          <a:lstStyle/>
          <a:p>
            <a:endParaRPr lang="en-GB"/>
          </a:p>
        </p:txBody>
      </p:sp>
      <p:sp>
        <p:nvSpPr>
          <p:cNvPr id="17" name="Shape 15"/>
          <p:cNvSpPr/>
          <p:nvPr/>
        </p:nvSpPr>
        <p:spPr>
          <a:xfrm>
            <a:off x="914400" y="3154680"/>
            <a:ext cx="2852928" cy="0"/>
          </a:xfrm>
          <a:prstGeom prst="line">
            <a:avLst/>
          </a:prstGeom>
          <a:noFill/>
          <a:ln w="7620">
            <a:solidFill>
              <a:srgbClr val="CBD5E1"/>
            </a:solidFill>
            <a:prstDash val="solid"/>
          </a:ln>
        </p:spPr>
        <p:txBody>
          <a:bodyPr/>
          <a:lstStyle/>
          <a:p>
            <a:endParaRPr lang="en-GB"/>
          </a:p>
        </p:txBody>
      </p:sp>
      <p:sp>
        <p:nvSpPr>
          <p:cNvPr id="18" name="Shape 16"/>
          <p:cNvSpPr/>
          <p:nvPr/>
        </p:nvSpPr>
        <p:spPr>
          <a:xfrm>
            <a:off x="914400" y="3447288"/>
            <a:ext cx="2852928" cy="0"/>
          </a:xfrm>
          <a:prstGeom prst="line">
            <a:avLst/>
          </a:prstGeom>
          <a:noFill/>
          <a:ln w="7620">
            <a:solidFill>
              <a:srgbClr val="CBD5E1"/>
            </a:solidFill>
            <a:prstDash val="solid"/>
          </a:ln>
        </p:spPr>
        <p:txBody>
          <a:bodyPr/>
          <a:lstStyle/>
          <a:p>
            <a:endParaRPr lang="en-GB"/>
          </a:p>
        </p:txBody>
      </p:sp>
      <p:sp>
        <p:nvSpPr>
          <p:cNvPr id="19" name="Shape 17"/>
          <p:cNvSpPr/>
          <p:nvPr/>
        </p:nvSpPr>
        <p:spPr>
          <a:xfrm>
            <a:off x="914400" y="3739896"/>
            <a:ext cx="2852928" cy="0"/>
          </a:xfrm>
          <a:prstGeom prst="line">
            <a:avLst/>
          </a:prstGeom>
          <a:noFill/>
          <a:ln w="7620">
            <a:solidFill>
              <a:srgbClr val="CBD5E1"/>
            </a:solidFill>
            <a:prstDash val="solid"/>
          </a:ln>
        </p:spPr>
        <p:txBody>
          <a:bodyPr/>
          <a:lstStyle/>
          <a:p>
            <a:endParaRPr lang="en-GB"/>
          </a:p>
        </p:txBody>
      </p:sp>
      <p:sp>
        <p:nvSpPr>
          <p:cNvPr id="20" name="Text 18"/>
          <p:cNvSpPr/>
          <p:nvPr/>
        </p:nvSpPr>
        <p:spPr>
          <a:xfrm>
            <a:off x="1554480" y="4160520"/>
            <a:ext cx="2194560" cy="182880"/>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time steps L</a:t>
            </a:r>
            <a:endParaRPr lang="en-US" sz="1100" dirty="0"/>
          </a:p>
        </p:txBody>
      </p:sp>
      <p:sp>
        <p:nvSpPr>
          <p:cNvPr id="21" name="Shape 19"/>
          <p:cNvSpPr/>
          <p:nvPr/>
        </p:nvSpPr>
        <p:spPr>
          <a:xfrm>
            <a:off x="914400" y="3977640"/>
            <a:ext cx="2834640" cy="0"/>
          </a:xfrm>
          <a:prstGeom prst="line">
            <a:avLst/>
          </a:prstGeom>
          <a:noFill/>
          <a:ln w="15240">
            <a:solidFill>
              <a:srgbClr val="475569"/>
            </a:solidFill>
            <a:prstDash val="solid"/>
            <a:tailEnd type="triangle"/>
          </a:ln>
        </p:spPr>
        <p:txBody>
          <a:bodyPr/>
          <a:lstStyle/>
          <a:p>
            <a:endParaRPr lang="en-GB"/>
          </a:p>
        </p:txBody>
      </p:sp>
      <p:sp>
        <p:nvSpPr>
          <p:cNvPr id="22" name="Text 20"/>
          <p:cNvSpPr/>
          <p:nvPr/>
        </p:nvSpPr>
        <p:spPr>
          <a:xfrm>
            <a:off x="4023360" y="1737360"/>
            <a:ext cx="320040" cy="2103120"/>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features / channels d</a:t>
            </a:r>
            <a:endParaRPr lang="en-US" sz="1100" dirty="0"/>
          </a:p>
        </p:txBody>
      </p:sp>
      <p:sp>
        <p:nvSpPr>
          <p:cNvPr id="23" name="Shape 21"/>
          <p:cNvSpPr/>
          <p:nvPr/>
        </p:nvSpPr>
        <p:spPr>
          <a:xfrm>
            <a:off x="3977640" y="1691640"/>
            <a:ext cx="0" cy="2331720"/>
          </a:xfrm>
          <a:prstGeom prst="line">
            <a:avLst/>
          </a:prstGeom>
          <a:noFill/>
          <a:ln w="15240">
            <a:solidFill>
              <a:srgbClr val="475569"/>
            </a:solidFill>
            <a:prstDash val="solid"/>
            <a:tailEnd type="triangle"/>
          </a:ln>
        </p:spPr>
        <p:txBody>
          <a:bodyPr/>
          <a:lstStyle/>
          <a:p>
            <a:endParaRPr lang="en-GB"/>
          </a:p>
        </p:txBody>
      </p:sp>
      <p:sp>
        <p:nvSpPr>
          <p:cNvPr id="24" name="Text 22"/>
          <p:cNvSpPr/>
          <p:nvPr/>
        </p:nvSpPr>
        <p:spPr>
          <a:xfrm>
            <a:off x="5212080" y="1234440"/>
            <a:ext cx="2011680" cy="228600"/>
          </a:xfrm>
          <a:prstGeom prst="rect">
            <a:avLst/>
          </a:prstGeom>
          <a:noFill/>
          <a:ln/>
        </p:spPr>
        <p:txBody>
          <a:bodyPr wrap="square" lIns="0" tIns="0" rIns="0" bIns="0" rtlCol="0" anchor="ctr">
            <a:normAutofit/>
          </a:bodyPr>
          <a:lstStyle/>
          <a:p>
            <a:pPr marL="0" indent="0" algn="l">
              <a:buNone/>
            </a:pPr>
            <a:r>
              <a:rPr lang="en-US" sz="1400" b="1" dirty="0">
                <a:solidFill>
                  <a:srgbClr val="111827"/>
                </a:solidFill>
                <a:highlight>
                  <a:srgbClr val="FFFF00"/>
                </a:highlight>
              </a:rPr>
              <a:t>batch: [N, L, d]</a:t>
            </a:r>
            <a:endParaRPr lang="en-US" sz="1400" dirty="0">
              <a:highlight>
                <a:srgbClr val="FFFF00"/>
              </a:highlight>
            </a:endParaRPr>
          </a:p>
        </p:txBody>
      </p:sp>
      <p:sp>
        <p:nvSpPr>
          <p:cNvPr id="25" name="Shape 23"/>
          <p:cNvSpPr/>
          <p:nvPr/>
        </p:nvSpPr>
        <p:spPr>
          <a:xfrm>
            <a:off x="5257800" y="1874520"/>
            <a:ext cx="2084832" cy="1609344"/>
          </a:xfrm>
          <a:prstGeom prst="rect">
            <a:avLst/>
          </a:prstGeom>
          <a:solidFill>
            <a:srgbClr val="EEF2FF"/>
          </a:solidFill>
          <a:ln w="12700">
            <a:solidFill>
              <a:srgbClr val="CBD5E1"/>
            </a:solidFill>
            <a:prstDash val="solid"/>
          </a:ln>
        </p:spPr>
        <p:txBody>
          <a:bodyPr/>
          <a:lstStyle/>
          <a:p>
            <a:endParaRPr lang="en-GB"/>
          </a:p>
        </p:txBody>
      </p:sp>
      <p:sp>
        <p:nvSpPr>
          <p:cNvPr id="26" name="Shape 24"/>
          <p:cNvSpPr/>
          <p:nvPr/>
        </p:nvSpPr>
        <p:spPr>
          <a:xfrm>
            <a:off x="5605272" y="1874520"/>
            <a:ext cx="0" cy="1609344"/>
          </a:xfrm>
          <a:prstGeom prst="line">
            <a:avLst/>
          </a:prstGeom>
          <a:noFill/>
          <a:ln w="7620">
            <a:solidFill>
              <a:srgbClr val="CBD5E1"/>
            </a:solidFill>
            <a:prstDash val="solid"/>
          </a:ln>
        </p:spPr>
        <p:txBody>
          <a:bodyPr/>
          <a:lstStyle/>
          <a:p>
            <a:endParaRPr lang="en-GB"/>
          </a:p>
        </p:txBody>
      </p:sp>
      <p:sp>
        <p:nvSpPr>
          <p:cNvPr id="27" name="Shape 25"/>
          <p:cNvSpPr/>
          <p:nvPr/>
        </p:nvSpPr>
        <p:spPr>
          <a:xfrm>
            <a:off x="5952744" y="1874520"/>
            <a:ext cx="0" cy="1609344"/>
          </a:xfrm>
          <a:prstGeom prst="line">
            <a:avLst/>
          </a:prstGeom>
          <a:noFill/>
          <a:ln w="7620">
            <a:solidFill>
              <a:srgbClr val="CBD5E1"/>
            </a:solidFill>
            <a:prstDash val="solid"/>
          </a:ln>
        </p:spPr>
        <p:txBody>
          <a:bodyPr/>
          <a:lstStyle/>
          <a:p>
            <a:endParaRPr lang="en-GB"/>
          </a:p>
        </p:txBody>
      </p:sp>
      <p:sp>
        <p:nvSpPr>
          <p:cNvPr id="28" name="Shape 26"/>
          <p:cNvSpPr/>
          <p:nvPr/>
        </p:nvSpPr>
        <p:spPr>
          <a:xfrm>
            <a:off x="6300216" y="1874520"/>
            <a:ext cx="0" cy="1609344"/>
          </a:xfrm>
          <a:prstGeom prst="line">
            <a:avLst/>
          </a:prstGeom>
          <a:noFill/>
          <a:ln w="7620">
            <a:solidFill>
              <a:srgbClr val="CBD5E1"/>
            </a:solidFill>
            <a:prstDash val="solid"/>
          </a:ln>
        </p:spPr>
        <p:txBody>
          <a:bodyPr/>
          <a:lstStyle/>
          <a:p>
            <a:endParaRPr lang="en-GB"/>
          </a:p>
        </p:txBody>
      </p:sp>
      <p:sp>
        <p:nvSpPr>
          <p:cNvPr id="29" name="Shape 27"/>
          <p:cNvSpPr/>
          <p:nvPr/>
        </p:nvSpPr>
        <p:spPr>
          <a:xfrm>
            <a:off x="6647688" y="1874520"/>
            <a:ext cx="0" cy="1609344"/>
          </a:xfrm>
          <a:prstGeom prst="line">
            <a:avLst/>
          </a:prstGeom>
          <a:noFill/>
          <a:ln w="7620">
            <a:solidFill>
              <a:srgbClr val="CBD5E1"/>
            </a:solidFill>
            <a:prstDash val="solid"/>
          </a:ln>
        </p:spPr>
        <p:txBody>
          <a:bodyPr/>
          <a:lstStyle/>
          <a:p>
            <a:endParaRPr lang="en-GB"/>
          </a:p>
        </p:txBody>
      </p:sp>
      <p:sp>
        <p:nvSpPr>
          <p:cNvPr id="30" name="Shape 28"/>
          <p:cNvSpPr/>
          <p:nvPr/>
        </p:nvSpPr>
        <p:spPr>
          <a:xfrm>
            <a:off x="6995160" y="1874520"/>
            <a:ext cx="0" cy="1609344"/>
          </a:xfrm>
          <a:prstGeom prst="line">
            <a:avLst/>
          </a:prstGeom>
          <a:noFill/>
          <a:ln w="7620">
            <a:solidFill>
              <a:srgbClr val="CBD5E1"/>
            </a:solidFill>
            <a:prstDash val="solid"/>
          </a:ln>
        </p:spPr>
        <p:txBody>
          <a:bodyPr/>
          <a:lstStyle/>
          <a:p>
            <a:endParaRPr lang="en-GB"/>
          </a:p>
        </p:txBody>
      </p:sp>
      <p:sp>
        <p:nvSpPr>
          <p:cNvPr id="31" name="Shape 29"/>
          <p:cNvSpPr/>
          <p:nvPr/>
        </p:nvSpPr>
        <p:spPr>
          <a:xfrm>
            <a:off x="5257800" y="2075688"/>
            <a:ext cx="2084832" cy="0"/>
          </a:xfrm>
          <a:prstGeom prst="line">
            <a:avLst/>
          </a:prstGeom>
          <a:noFill/>
          <a:ln w="7620">
            <a:solidFill>
              <a:srgbClr val="CBD5E1"/>
            </a:solidFill>
            <a:prstDash val="solid"/>
          </a:ln>
        </p:spPr>
        <p:txBody>
          <a:bodyPr/>
          <a:lstStyle/>
          <a:p>
            <a:endParaRPr lang="en-GB"/>
          </a:p>
        </p:txBody>
      </p:sp>
      <p:sp>
        <p:nvSpPr>
          <p:cNvPr id="32" name="Shape 30"/>
          <p:cNvSpPr/>
          <p:nvPr/>
        </p:nvSpPr>
        <p:spPr>
          <a:xfrm>
            <a:off x="5257800" y="2276856"/>
            <a:ext cx="2084832" cy="0"/>
          </a:xfrm>
          <a:prstGeom prst="line">
            <a:avLst/>
          </a:prstGeom>
          <a:noFill/>
          <a:ln w="7620">
            <a:solidFill>
              <a:srgbClr val="CBD5E1"/>
            </a:solidFill>
            <a:prstDash val="solid"/>
          </a:ln>
        </p:spPr>
        <p:txBody>
          <a:bodyPr/>
          <a:lstStyle/>
          <a:p>
            <a:endParaRPr lang="en-GB"/>
          </a:p>
        </p:txBody>
      </p:sp>
      <p:sp>
        <p:nvSpPr>
          <p:cNvPr id="33" name="Shape 31"/>
          <p:cNvSpPr/>
          <p:nvPr/>
        </p:nvSpPr>
        <p:spPr>
          <a:xfrm>
            <a:off x="5257800" y="2478024"/>
            <a:ext cx="2084832" cy="0"/>
          </a:xfrm>
          <a:prstGeom prst="line">
            <a:avLst/>
          </a:prstGeom>
          <a:noFill/>
          <a:ln w="7620">
            <a:solidFill>
              <a:srgbClr val="CBD5E1"/>
            </a:solidFill>
            <a:prstDash val="solid"/>
          </a:ln>
        </p:spPr>
        <p:txBody>
          <a:bodyPr/>
          <a:lstStyle/>
          <a:p>
            <a:endParaRPr lang="en-GB"/>
          </a:p>
        </p:txBody>
      </p:sp>
      <p:sp>
        <p:nvSpPr>
          <p:cNvPr id="34" name="Shape 32"/>
          <p:cNvSpPr/>
          <p:nvPr/>
        </p:nvSpPr>
        <p:spPr>
          <a:xfrm>
            <a:off x="5257800" y="2679192"/>
            <a:ext cx="2084832" cy="0"/>
          </a:xfrm>
          <a:prstGeom prst="line">
            <a:avLst/>
          </a:prstGeom>
          <a:noFill/>
          <a:ln w="7620">
            <a:solidFill>
              <a:srgbClr val="CBD5E1"/>
            </a:solidFill>
            <a:prstDash val="solid"/>
          </a:ln>
        </p:spPr>
        <p:txBody>
          <a:bodyPr/>
          <a:lstStyle/>
          <a:p>
            <a:endParaRPr lang="en-GB"/>
          </a:p>
        </p:txBody>
      </p:sp>
      <p:sp>
        <p:nvSpPr>
          <p:cNvPr id="35" name="Shape 33"/>
          <p:cNvSpPr/>
          <p:nvPr/>
        </p:nvSpPr>
        <p:spPr>
          <a:xfrm>
            <a:off x="5257800" y="2880360"/>
            <a:ext cx="2084832" cy="0"/>
          </a:xfrm>
          <a:prstGeom prst="line">
            <a:avLst/>
          </a:prstGeom>
          <a:noFill/>
          <a:ln w="7620">
            <a:solidFill>
              <a:srgbClr val="CBD5E1"/>
            </a:solidFill>
            <a:prstDash val="solid"/>
          </a:ln>
        </p:spPr>
        <p:txBody>
          <a:bodyPr/>
          <a:lstStyle/>
          <a:p>
            <a:endParaRPr lang="en-GB"/>
          </a:p>
        </p:txBody>
      </p:sp>
      <p:sp>
        <p:nvSpPr>
          <p:cNvPr id="36" name="Shape 34"/>
          <p:cNvSpPr/>
          <p:nvPr/>
        </p:nvSpPr>
        <p:spPr>
          <a:xfrm>
            <a:off x="5257800" y="3081528"/>
            <a:ext cx="2084832" cy="0"/>
          </a:xfrm>
          <a:prstGeom prst="line">
            <a:avLst/>
          </a:prstGeom>
          <a:noFill/>
          <a:ln w="7620">
            <a:solidFill>
              <a:srgbClr val="CBD5E1"/>
            </a:solidFill>
            <a:prstDash val="solid"/>
          </a:ln>
        </p:spPr>
        <p:txBody>
          <a:bodyPr/>
          <a:lstStyle/>
          <a:p>
            <a:endParaRPr lang="en-GB"/>
          </a:p>
        </p:txBody>
      </p:sp>
      <p:sp>
        <p:nvSpPr>
          <p:cNvPr id="37" name="Shape 35"/>
          <p:cNvSpPr/>
          <p:nvPr/>
        </p:nvSpPr>
        <p:spPr>
          <a:xfrm>
            <a:off x="5257800" y="3282696"/>
            <a:ext cx="2084832" cy="0"/>
          </a:xfrm>
          <a:prstGeom prst="line">
            <a:avLst/>
          </a:prstGeom>
          <a:noFill/>
          <a:ln w="7620">
            <a:solidFill>
              <a:srgbClr val="CBD5E1"/>
            </a:solidFill>
            <a:prstDash val="solid"/>
          </a:ln>
        </p:spPr>
        <p:txBody>
          <a:bodyPr/>
          <a:lstStyle/>
          <a:p>
            <a:endParaRPr lang="en-GB"/>
          </a:p>
        </p:txBody>
      </p:sp>
      <p:sp>
        <p:nvSpPr>
          <p:cNvPr id="38" name="Shape 36"/>
          <p:cNvSpPr/>
          <p:nvPr/>
        </p:nvSpPr>
        <p:spPr>
          <a:xfrm>
            <a:off x="5458968" y="2075688"/>
            <a:ext cx="2084832" cy="1609344"/>
          </a:xfrm>
          <a:prstGeom prst="rect">
            <a:avLst/>
          </a:prstGeom>
          <a:solidFill>
            <a:srgbClr val="EEF2FF"/>
          </a:solidFill>
          <a:ln w="12700">
            <a:solidFill>
              <a:srgbClr val="CBD5E1"/>
            </a:solidFill>
            <a:prstDash val="solid"/>
          </a:ln>
        </p:spPr>
        <p:txBody>
          <a:bodyPr/>
          <a:lstStyle/>
          <a:p>
            <a:endParaRPr lang="en-GB"/>
          </a:p>
        </p:txBody>
      </p:sp>
      <p:sp>
        <p:nvSpPr>
          <p:cNvPr id="39" name="Shape 37"/>
          <p:cNvSpPr/>
          <p:nvPr/>
        </p:nvSpPr>
        <p:spPr>
          <a:xfrm>
            <a:off x="5806440" y="2075688"/>
            <a:ext cx="0" cy="1609344"/>
          </a:xfrm>
          <a:prstGeom prst="line">
            <a:avLst/>
          </a:prstGeom>
          <a:noFill/>
          <a:ln w="7620">
            <a:solidFill>
              <a:srgbClr val="CBD5E1"/>
            </a:solidFill>
            <a:prstDash val="solid"/>
          </a:ln>
        </p:spPr>
        <p:txBody>
          <a:bodyPr/>
          <a:lstStyle/>
          <a:p>
            <a:endParaRPr lang="en-GB"/>
          </a:p>
        </p:txBody>
      </p:sp>
      <p:sp>
        <p:nvSpPr>
          <p:cNvPr id="40" name="Shape 38"/>
          <p:cNvSpPr/>
          <p:nvPr/>
        </p:nvSpPr>
        <p:spPr>
          <a:xfrm>
            <a:off x="6153912" y="2075688"/>
            <a:ext cx="0" cy="1609344"/>
          </a:xfrm>
          <a:prstGeom prst="line">
            <a:avLst/>
          </a:prstGeom>
          <a:noFill/>
          <a:ln w="7620">
            <a:solidFill>
              <a:srgbClr val="CBD5E1"/>
            </a:solidFill>
            <a:prstDash val="solid"/>
          </a:ln>
        </p:spPr>
        <p:txBody>
          <a:bodyPr/>
          <a:lstStyle/>
          <a:p>
            <a:endParaRPr lang="en-GB"/>
          </a:p>
        </p:txBody>
      </p:sp>
      <p:sp>
        <p:nvSpPr>
          <p:cNvPr id="41" name="Shape 39"/>
          <p:cNvSpPr/>
          <p:nvPr/>
        </p:nvSpPr>
        <p:spPr>
          <a:xfrm>
            <a:off x="6501384" y="2075688"/>
            <a:ext cx="0" cy="1609344"/>
          </a:xfrm>
          <a:prstGeom prst="line">
            <a:avLst/>
          </a:prstGeom>
          <a:noFill/>
          <a:ln w="7620">
            <a:solidFill>
              <a:srgbClr val="CBD5E1"/>
            </a:solidFill>
            <a:prstDash val="solid"/>
          </a:ln>
        </p:spPr>
        <p:txBody>
          <a:bodyPr/>
          <a:lstStyle/>
          <a:p>
            <a:endParaRPr lang="en-GB"/>
          </a:p>
        </p:txBody>
      </p:sp>
      <p:sp>
        <p:nvSpPr>
          <p:cNvPr id="42" name="Shape 40"/>
          <p:cNvSpPr/>
          <p:nvPr/>
        </p:nvSpPr>
        <p:spPr>
          <a:xfrm>
            <a:off x="6848856" y="2075688"/>
            <a:ext cx="0" cy="1609344"/>
          </a:xfrm>
          <a:prstGeom prst="line">
            <a:avLst/>
          </a:prstGeom>
          <a:noFill/>
          <a:ln w="7620">
            <a:solidFill>
              <a:srgbClr val="CBD5E1"/>
            </a:solidFill>
            <a:prstDash val="solid"/>
          </a:ln>
        </p:spPr>
        <p:txBody>
          <a:bodyPr/>
          <a:lstStyle/>
          <a:p>
            <a:endParaRPr lang="en-GB"/>
          </a:p>
        </p:txBody>
      </p:sp>
      <p:sp>
        <p:nvSpPr>
          <p:cNvPr id="43" name="Shape 41"/>
          <p:cNvSpPr/>
          <p:nvPr/>
        </p:nvSpPr>
        <p:spPr>
          <a:xfrm>
            <a:off x="7196328" y="2075688"/>
            <a:ext cx="0" cy="1609344"/>
          </a:xfrm>
          <a:prstGeom prst="line">
            <a:avLst/>
          </a:prstGeom>
          <a:noFill/>
          <a:ln w="7620">
            <a:solidFill>
              <a:srgbClr val="CBD5E1"/>
            </a:solidFill>
            <a:prstDash val="solid"/>
          </a:ln>
        </p:spPr>
        <p:txBody>
          <a:bodyPr/>
          <a:lstStyle/>
          <a:p>
            <a:endParaRPr lang="en-GB"/>
          </a:p>
        </p:txBody>
      </p:sp>
      <p:sp>
        <p:nvSpPr>
          <p:cNvPr id="44" name="Shape 42"/>
          <p:cNvSpPr/>
          <p:nvPr/>
        </p:nvSpPr>
        <p:spPr>
          <a:xfrm>
            <a:off x="5458968" y="2276856"/>
            <a:ext cx="2084832" cy="0"/>
          </a:xfrm>
          <a:prstGeom prst="line">
            <a:avLst/>
          </a:prstGeom>
          <a:noFill/>
          <a:ln w="7620">
            <a:solidFill>
              <a:srgbClr val="CBD5E1"/>
            </a:solidFill>
            <a:prstDash val="solid"/>
          </a:ln>
        </p:spPr>
        <p:txBody>
          <a:bodyPr/>
          <a:lstStyle/>
          <a:p>
            <a:endParaRPr lang="en-GB"/>
          </a:p>
        </p:txBody>
      </p:sp>
      <p:sp>
        <p:nvSpPr>
          <p:cNvPr id="45" name="Shape 43"/>
          <p:cNvSpPr/>
          <p:nvPr/>
        </p:nvSpPr>
        <p:spPr>
          <a:xfrm>
            <a:off x="5458968" y="2478024"/>
            <a:ext cx="2084832" cy="0"/>
          </a:xfrm>
          <a:prstGeom prst="line">
            <a:avLst/>
          </a:prstGeom>
          <a:noFill/>
          <a:ln w="7620">
            <a:solidFill>
              <a:srgbClr val="CBD5E1"/>
            </a:solidFill>
            <a:prstDash val="solid"/>
          </a:ln>
        </p:spPr>
        <p:txBody>
          <a:bodyPr/>
          <a:lstStyle/>
          <a:p>
            <a:endParaRPr lang="en-GB"/>
          </a:p>
        </p:txBody>
      </p:sp>
      <p:sp>
        <p:nvSpPr>
          <p:cNvPr id="46" name="Shape 44"/>
          <p:cNvSpPr/>
          <p:nvPr/>
        </p:nvSpPr>
        <p:spPr>
          <a:xfrm>
            <a:off x="5458968" y="2679192"/>
            <a:ext cx="2084832" cy="0"/>
          </a:xfrm>
          <a:prstGeom prst="line">
            <a:avLst/>
          </a:prstGeom>
          <a:noFill/>
          <a:ln w="7620">
            <a:solidFill>
              <a:srgbClr val="CBD5E1"/>
            </a:solidFill>
            <a:prstDash val="solid"/>
          </a:ln>
        </p:spPr>
        <p:txBody>
          <a:bodyPr/>
          <a:lstStyle/>
          <a:p>
            <a:endParaRPr lang="en-GB"/>
          </a:p>
        </p:txBody>
      </p:sp>
      <p:sp>
        <p:nvSpPr>
          <p:cNvPr id="47" name="Shape 45"/>
          <p:cNvSpPr/>
          <p:nvPr/>
        </p:nvSpPr>
        <p:spPr>
          <a:xfrm>
            <a:off x="5458968" y="2880360"/>
            <a:ext cx="2084832" cy="0"/>
          </a:xfrm>
          <a:prstGeom prst="line">
            <a:avLst/>
          </a:prstGeom>
          <a:noFill/>
          <a:ln w="7620">
            <a:solidFill>
              <a:srgbClr val="CBD5E1"/>
            </a:solidFill>
            <a:prstDash val="solid"/>
          </a:ln>
        </p:spPr>
        <p:txBody>
          <a:bodyPr/>
          <a:lstStyle/>
          <a:p>
            <a:endParaRPr lang="en-GB"/>
          </a:p>
        </p:txBody>
      </p:sp>
      <p:sp>
        <p:nvSpPr>
          <p:cNvPr id="48" name="Shape 46"/>
          <p:cNvSpPr/>
          <p:nvPr/>
        </p:nvSpPr>
        <p:spPr>
          <a:xfrm>
            <a:off x="5458968" y="3081528"/>
            <a:ext cx="2084832" cy="0"/>
          </a:xfrm>
          <a:prstGeom prst="line">
            <a:avLst/>
          </a:prstGeom>
          <a:noFill/>
          <a:ln w="7620">
            <a:solidFill>
              <a:srgbClr val="CBD5E1"/>
            </a:solidFill>
            <a:prstDash val="solid"/>
          </a:ln>
        </p:spPr>
        <p:txBody>
          <a:bodyPr/>
          <a:lstStyle/>
          <a:p>
            <a:endParaRPr lang="en-GB"/>
          </a:p>
        </p:txBody>
      </p:sp>
      <p:sp>
        <p:nvSpPr>
          <p:cNvPr id="49" name="Shape 47"/>
          <p:cNvSpPr/>
          <p:nvPr/>
        </p:nvSpPr>
        <p:spPr>
          <a:xfrm>
            <a:off x="5458968" y="3282696"/>
            <a:ext cx="2084832" cy="0"/>
          </a:xfrm>
          <a:prstGeom prst="line">
            <a:avLst/>
          </a:prstGeom>
          <a:noFill/>
          <a:ln w="7620">
            <a:solidFill>
              <a:srgbClr val="CBD5E1"/>
            </a:solidFill>
            <a:prstDash val="solid"/>
          </a:ln>
        </p:spPr>
        <p:txBody>
          <a:bodyPr/>
          <a:lstStyle/>
          <a:p>
            <a:endParaRPr lang="en-GB"/>
          </a:p>
        </p:txBody>
      </p:sp>
      <p:sp>
        <p:nvSpPr>
          <p:cNvPr id="50" name="Shape 48"/>
          <p:cNvSpPr/>
          <p:nvPr/>
        </p:nvSpPr>
        <p:spPr>
          <a:xfrm>
            <a:off x="5458968" y="3483864"/>
            <a:ext cx="2084832" cy="0"/>
          </a:xfrm>
          <a:prstGeom prst="line">
            <a:avLst/>
          </a:prstGeom>
          <a:noFill/>
          <a:ln w="7620">
            <a:solidFill>
              <a:srgbClr val="CBD5E1"/>
            </a:solidFill>
            <a:prstDash val="solid"/>
          </a:ln>
        </p:spPr>
        <p:txBody>
          <a:bodyPr/>
          <a:lstStyle/>
          <a:p>
            <a:endParaRPr lang="en-GB"/>
          </a:p>
        </p:txBody>
      </p:sp>
      <p:sp>
        <p:nvSpPr>
          <p:cNvPr id="51" name="Shape 49"/>
          <p:cNvSpPr/>
          <p:nvPr/>
        </p:nvSpPr>
        <p:spPr>
          <a:xfrm>
            <a:off x="5660136" y="2276856"/>
            <a:ext cx="2084832" cy="1609344"/>
          </a:xfrm>
          <a:prstGeom prst="rect">
            <a:avLst/>
          </a:prstGeom>
          <a:solidFill>
            <a:srgbClr val="FFFFFF"/>
          </a:solidFill>
          <a:ln w="12700">
            <a:solidFill>
              <a:srgbClr val="CBD5E1"/>
            </a:solidFill>
            <a:prstDash val="solid"/>
          </a:ln>
        </p:spPr>
        <p:txBody>
          <a:bodyPr/>
          <a:lstStyle/>
          <a:p>
            <a:endParaRPr lang="en-GB"/>
          </a:p>
        </p:txBody>
      </p:sp>
      <p:sp>
        <p:nvSpPr>
          <p:cNvPr id="52" name="Shape 50"/>
          <p:cNvSpPr/>
          <p:nvPr/>
        </p:nvSpPr>
        <p:spPr>
          <a:xfrm>
            <a:off x="6007608" y="2276856"/>
            <a:ext cx="0" cy="1609344"/>
          </a:xfrm>
          <a:prstGeom prst="line">
            <a:avLst/>
          </a:prstGeom>
          <a:noFill/>
          <a:ln w="7620">
            <a:solidFill>
              <a:srgbClr val="CBD5E1"/>
            </a:solidFill>
            <a:prstDash val="solid"/>
          </a:ln>
        </p:spPr>
        <p:txBody>
          <a:bodyPr/>
          <a:lstStyle/>
          <a:p>
            <a:endParaRPr lang="en-GB"/>
          </a:p>
        </p:txBody>
      </p:sp>
      <p:sp>
        <p:nvSpPr>
          <p:cNvPr id="53" name="Shape 51"/>
          <p:cNvSpPr/>
          <p:nvPr/>
        </p:nvSpPr>
        <p:spPr>
          <a:xfrm>
            <a:off x="6355080" y="2276856"/>
            <a:ext cx="0" cy="1609344"/>
          </a:xfrm>
          <a:prstGeom prst="line">
            <a:avLst/>
          </a:prstGeom>
          <a:noFill/>
          <a:ln w="7620">
            <a:solidFill>
              <a:srgbClr val="CBD5E1"/>
            </a:solidFill>
            <a:prstDash val="solid"/>
          </a:ln>
        </p:spPr>
        <p:txBody>
          <a:bodyPr/>
          <a:lstStyle/>
          <a:p>
            <a:endParaRPr lang="en-GB"/>
          </a:p>
        </p:txBody>
      </p:sp>
      <p:sp>
        <p:nvSpPr>
          <p:cNvPr id="54" name="Shape 52"/>
          <p:cNvSpPr/>
          <p:nvPr/>
        </p:nvSpPr>
        <p:spPr>
          <a:xfrm>
            <a:off x="6702552" y="2276856"/>
            <a:ext cx="0" cy="1609344"/>
          </a:xfrm>
          <a:prstGeom prst="line">
            <a:avLst/>
          </a:prstGeom>
          <a:noFill/>
          <a:ln w="7620">
            <a:solidFill>
              <a:srgbClr val="CBD5E1"/>
            </a:solidFill>
            <a:prstDash val="solid"/>
          </a:ln>
        </p:spPr>
        <p:txBody>
          <a:bodyPr/>
          <a:lstStyle/>
          <a:p>
            <a:endParaRPr lang="en-GB"/>
          </a:p>
        </p:txBody>
      </p:sp>
      <p:sp>
        <p:nvSpPr>
          <p:cNvPr id="55" name="Shape 53"/>
          <p:cNvSpPr/>
          <p:nvPr/>
        </p:nvSpPr>
        <p:spPr>
          <a:xfrm>
            <a:off x="7050024" y="2276856"/>
            <a:ext cx="0" cy="1609344"/>
          </a:xfrm>
          <a:prstGeom prst="line">
            <a:avLst/>
          </a:prstGeom>
          <a:noFill/>
          <a:ln w="7620">
            <a:solidFill>
              <a:srgbClr val="CBD5E1"/>
            </a:solidFill>
            <a:prstDash val="solid"/>
          </a:ln>
        </p:spPr>
        <p:txBody>
          <a:bodyPr/>
          <a:lstStyle/>
          <a:p>
            <a:endParaRPr lang="en-GB"/>
          </a:p>
        </p:txBody>
      </p:sp>
      <p:sp>
        <p:nvSpPr>
          <p:cNvPr id="56" name="Shape 54"/>
          <p:cNvSpPr/>
          <p:nvPr/>
        </p:nvSpPr>
        <p:spPr>
          <a:xfrm>
            <a:off x="7397496" y="2276856"/>
            <a:ext cx="0" cy="1609344"/>
          </a:xfrm>
          <a:prstGeom prst="line">
            <a:avLst/>
          </a:prstGeom>
          <a:noFill/>
          <a:ln w="7620">
            <a:solidFill>
              <a:srgbClr val="CBD5E1"/>
            </a:solidFill>
            <a:prstDash val="solid"/>
          </a:ln>
        </p:spPr>
        <p:txBody>
          <a:bodyPr/>
          <a:lstStyle/>
          <a:p>
            <a:endParaRPr lang="en-GB"/>
          </a:p>
        </p:txBody>
      </p:sp>
      <p:sp>
        <p:nvSpPr>
          <p:cNvPr id="57" name="Shape 55"/>
          <p:cNvSpPr/>
          <p:nvPr/>
        </p:nvSpPr>
        <p:spPr>
          <a:xfrm>
            <a:off x="5660136" y="2478024"/>
            <a:ext cx="2084832" cy="0"/>
          </a:xfrm>
          <a:prstGeom prst="line">
            <a:avLst/>
          </a:prstGeom>
          <a:noFill/>
          <a:ln w="7620">
            <a:solidFill>
              <a:srgbClr val="CBD5E1"/>
            </a:solidFill>
            <a:prstDash val="solid"/>
          </a:ln>
        </p:spPr>
        <p:txBody>
          <a:bodyPr/>
          <a:lstStyle/>
          <a:p>
            <a:endParaRPr lang="en-GB"/>
          </a:p>
        </p:txBody>
      </p:sp>
      <p:sp>
        <p:nvSpPr>
          <p:cNvPr id="58" name="Shape 56"/>
          <p:cNvSpPr/>
          <p:nvPr/>
        </p:nvSpPr>
        <p:spPr>
          <a:xfrm>
            <a:off x="5660136" y="2679192"/>
            <a:ext cx="2084832" cy="0"/>
          </a:xfrm>
          <a:prstGeom prst="line">
            <a:avLst/>
          </a:prstGeom>
          <a:noFill/>
          <a:ln w="7620">
            <a:solidFill>
              <a:srgbClr val="CBD5E1"/>
            </a:solidFill>
            <a:prstDash val="solid"/>
          </a:ln>
        </p:spPr>
        <p:txBody>
          <a:bodyPr/>
          <a:lstStyle/>
          <a:p>
            <a:endParaRPr lang="en-GB"/>
          </a:p>
        </p:txBody>
      </p:sp>
      <p:sp>
        <p:nvSpPr>
          <p:cNvPr id="59" name="Shape 57"/>
          <p:cNvSpPr/>
          <p:nvPr/>
        </p:nvSpPr>
        <p:spPr>
          <a:xfrm>
            <a:off x="5660136" y="2880360"/>
            <a:ext cx="2084832" cy="0"/>
          </a:xfrm>
          <a:prstGeom prst="line">
            <a:avLst/>
          </a:prstGeom>
          <a:noFill/>
          <a:ln w="7620">
            <a:solidFill>
              <a:srgbClr val="CBD5E1"/>
            </a:solidFill>
            <a:prstDash val="solid"/>
          </a:ln>
        </p:spPr>
        <p:txBody>
          <a:bodyPr/>
          <a:lstStyle/>
          <a:p>
            <a:endParaRPr lang="en-GB"/>
          </a:p>
        </p:txBody>
      </p:sp>
      <p:sp>
        <p:nvSpPr>
          <p:cNvPr id="60" name="Shape 58"/>
          <p:cNvSpPr/>
          <p:nvPr/>
        </p:nvSpPr>
        <p:spPr>
          <a:xfrm>
            <a:off x="5660136" y="3081528"/>
            <a:ext cx="2084832" cy="0"/>
          </a:xfrm>
          <a:prstGeom prst="line">
            <a:avLst/>
          </a:prstGeom>
          <a:noFill/>
          <a:ln w="7620">
            <a:solidFill>
              <a:srgbClr val="CBD5E1"/>
            </a:solidFill>
            <a:prstDash val="solid"/>
          </a:ln>
        </p:spPr>
        <p:txBody>
          <a:bodyPr/>
          <a:lstStyle/>
          <a:p>
            <a:endParaRPr lang="en-GB"/>
          </a:p>
        </p:txBody>
      </p:sp>
      <p:sp>
        <p:nvSpPr>
          <p:cNvPr id="61" name="Shape 59"/>
          <p:cNvSpPr/>
          <p:nvPr/>
        </p:nvSpPr>
        <p:spPr>
          <a:xfrm>
            <a:off x="5660136" y="3282696"/>
            <a:ext cx="2084832" cy="0"/>
          </a:xfrm>
          <a:prstGeom prst="line">
            <a:avLst/>
          </a:prstGeom>
          <a:noFill/>
          <a:ln w="7620">
            <a:solidFill>
              <a:srgbClr val="CBD5E1"/>
            </a:solidFill>
            <a:prstDash val="solid"/>
          </a:ln>
        </p:spPr>
        <p:txBody>
          <a:bodyPr/>
          <a:lstStyle/>
          <a:p>
            <a:endParaRPr lang="en-GB"/>
          </a:p>
        </p:txBody>
      </p:sp>
      <p:sp>
        <p:nvSpPr>
          <p:cNvPr id="62" name="Shape 60"/>
          <p:cNvSpPr/>
          <p:nvPr/>
        </p:nvSpPr>
        <p:spPr>
          <a:xfrm>
            <a:off x="5660136" y="3483864"/>
            <a:ext cx="2084832" cy="0"/>
          </a:xfrm>
          <a:prstGeom prst="line">
            <a:avLst/>
          </a:prstGeom>
          <a:noFill/>
          <a:ln w="7620">
            <a:solidFill>
              <a:srgbClr val="CBD5E1"/>
            </a:solidFill>
            <a:prstDash val="solid"/>
          </a:ln>
        </p:spPr>
        <p:txBody>
          <a:bodyPr/>
          <a:lstStyle/>
          <a:p>
            <a:endParaRPr lang="en-GB"/>
          </a:p>
        </p:txBody>
      </p:sp>
      <p:sp>
        <p:nvSpPr>
          <p:cNvPr id="63" name="Shape 61"/>
          <p:cNvSpPr/>
          <p:nvPr/>
        </p:nvSpPr>
        <p:spPr>
          <a:xfrm>
            <a:off x="5660136" y="3685032"/>
            <a:ext cx="2084832" cy="0"/>
          </a:xfrm>
          <a:prstGeom prst="line">
            <a:avLst/>
          </a:prstGeom>
          <a:noFill/>
          <a:ln w="7620">
            <a:solidFill>
              <a:srgbClr val="CBD5E1"/>
            </a:solidFill>
            <a:prstDash val="solid"/>
          </a:ln>
        </p:spPr>
        <p:txBody>
          <a:bodyPr/>
          <a:lstStyle/>
          <a:p>
            <a:endParaRPr lang="en-GB"/>
          </a:p>
        </p:txBody>
      </p:sp>
      <p:sp>
        <p:nvSpPr>
          <p:cNvPr id="64" name="Text 62"/>
          <p:cNvSpPr/>
          <p:nvPr/>
        </p:nvSpPr>
        <p:spPr>
          <a:xfrm>
            <a:off x="5669280" y="4800600"/>
            <a:ext cx="2286000" cy="219456"/>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N stacked samples</a:t>
            </a:r>
            <a:endParaRPr lang="en-US" sz="1100" dirty="0"/>
          </a:p>
        </p:txBody>
      </p:sp>
      <p:sp>
        <p:nvSpPr>
          <p:cNvPr id="67" name="CasellaDiTesto 66">
            <a:extLst>
              <a:ext uri="{FF2B5EF4-FFF2-40B4-BE49-F238E27FC236}">
                <a16:creationId xmlns:a16="http://schemas.microsoft.com/office/drawing/2014/main" id="{F483DCC1-EA1C-7D2F-AA63-CA318E5A9454}"/>
              </a:ext>
            </a:extLst>
          </p:cNvPr>
          <p:cNvSpPr txBox="1"/>
          <p:nvPr/>
        </p:nvSpPr>
        <p:spPr>
          <a:xfrm>
            <a:off x="1389888" y="4722792"/>
            <a:ext cx="2990850" cy="1169551"/>
          </a:xfrm>
          <a:prstGeom prst="rect">
            <a:avLst/>
          </a:prstGeom>
          <a:noFill/>
        </p:spPr>
        <p:txBody>
          <a:bodyPr wrap="square" rtlCol="0">
            <a:spAutoFit/>
          </a:bodyPr>
          <a:lstStyle/>
          <a:p>
            <a:r>
              <a:rPr lang="it-IT" sz="1400" b="1" dirty="0"/>
              <a:t>N.B. in a picture, </a:t>
            </a:r>
            <a:r>
              <a:rPr lang="it-IT" sz="1400" dirty="0" err="1"/>
              <a:t>dim</a:t>
            </a:r>
            <a:r>
              <a:rPr lang="it-IT" sz="1400" dirty="0"/>
              <a:t> 1 </a:t>
            </a:r>
            <a:r>
              <a:rPr lang="it-IT" sz="1400" dirty="0" err="1"/>
              <a:t>is</a:t>
            </a:r>
            <a:r>
              <a:rPr lang="it-IT" sz="1400" dirty="0"/>
              <a:t> </a:t>
            </a:r>
            <a:r>
              <a:rPr lang="it-IT" sz="1400" dirty="0" err="1"/>
              <a:t>along</a:t>
            </a:r>
            <a:r>
              <a:rPr lang="it-IT" sz="1400" dirty="0"/>
              <a:t> </a:t>
            </a:r>
            <a:r>
              <a:rPr lang="it-IT" sz="1400" dirty="0" err="1"/>
              <a:t>rows</a:t>
            </a:r>
            <a:r>
              <a:rPr lang="it-IT" sz="1400" dirty="0"/>
              <a:t>, </a:t>
            </a:r>
            <a:r>
              <a:rPr lang="it-IT" sz="1400" dirty="0" err="1"/>
              <a:t>dim</a:t>
            </a:r>
            <a:r>
              <a:rPr lang="it-IT" sz="1400" dirty="0"/>
              <a:t> 2 </a:t>
            </a:r>
            <a:r>
              <a:rPr lang="it-IT" sz="1400" dirty="0" err="1"/>
              <a:t>along</a:t>
            </a:r>
            <a:r>
              <a:rPr lang="it-IT" sz="1400" dirty="0"/>
              <a:t> </a:t>
            </a:r>
            <a:r>
              <a:rPr lang="it-IT" sz="1400" dirty="0" err="1"/>
              <a:t>columns</a:t>
            </a:r>
            <a:r>
              <a:rPr lang="it-IT" sz="1400" dirty="0"/>
              <a:t>.</a:t>
            </a:r>
          </a:p>
          <a:p>
            <a:r>
              <a:rPr lang="it-IT" sz="1400" dirty="0"/>
              <a:t>Here </a:t>
            </a:r>
            <a:r>
              <a:rPr lang="it-IT" sz="1400" dirty="0" err="1"/>
              <a:t>we</a:t>
            </a:r>
            <a:r>
              <a:rPr lang="it-IT" sz="1400" dirty="0"/>
              <a:t> swap </a:t>
            </a:r>
            <a:r>
              <a:rPr lang="it-IT" sz="1400" dirty="0" err="1"/>
              <a:t>dimensions</a:t>
            </a:r>
            <a:r>
              <a:rPr lang="it-IT" sz="1400" dirty="0"/>
              <a:t> for </a:t>
            </a:r>
            <a:r>
              <a:rPr lang="it-IT" sz="1400" dirty="0" err="1"/>
              <a:t>visualization</a:t>
            </a:r>
            <a:r>
              <a:rPr lang="it-IT" sz="1400" dirty="0"/>
              <a:t> </a:t>
            </a:r>
            <a:r>
              <a:rPr lang="it-IT" sz="1400" dirty="0" err="1"/>
              <a:t>purposes</a:t>
            </a:r>
            <a:r>
              <a:rPr lang="it-IT" sz="1400" dirty="0"/>
              <a:t> </a:t>
            </a:r>
            <a:r>
              <a:rPr lang="it-IT" sz="1400" dirty="0" err="1"/>
              <a:t>only</a:t>
            </a:r>
            <a:r>
              <a:rPr lang="it-IT" sz="1400" dirty="0"/>
              <a:t>(</a:t>
            </a:r>
            <a:r>
              <a:rPr lang="it-IT" sz="1400" dirty="0" err="1"/>
              <a:t>keep</a:t>
            </a:r>
            <a:r>
              <a:rPr lang="it-IT" sz="1400" dirty="0"/>
              <a:t> time </a:t>
            </a:r>
            <a:r>
              <a:rPr lang="it-IT" sz="1400" dirty="0" err="1"/>
              <a:t>horizontly</a:t>
            </a:r>
            <a:r>
              <a:rPr lang="it-IT" sz="1400" dirty="0"/>
              <a:t>)</a:t>
            </a:r>
            <a:endParaRPr lang="en-GB"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B62D763-9AE9-933F-7B86-B2DBB27CDF41}"/>
              </a:ext>
            </a:extLst>
          </p:cNvPr>
          <p:cNvSpPr>
            <a:spLocks noGrp="1"/>
          </p:cNvSpPr>
          <p:nvPr>
            <p:ph type="title"/>
          </p:nvPr>
        </p:nvSpPr>
        <p:spPr/>
        <p:txBody>
          <a:bodyPr/>
          <a:lstStyle/>
          <a:p>
            <a:r>
              <a:rPr lang="en-GB" dirty="0"/>
              <a:t>What is a temporal kernel?</a:t>
            </a:r>
          </a:p>
        </p:txBody>
      </p:sp>
      <p:sp>
        <p:nvSpPr>
          <p:cNvPr id="3" name="Segnaposto contenuto 2">
            <a:extLst>
              <a:ext uri="{FF2B5EF4-FFF2-40B4-BE49-F238E27FC236}">
                <a16:creationId xmlns:a16="http://schemas.microsoft.com/office/drawing/2014/main" id="{DD2546D6-2783-E9C9-E52F-AE423C8AC439}"/>
              </a:ext>
            </a:extLst>
          </p:cNvPr>
          <p:cNvSpPr>
            <a:spLocks noGrp="1"/>
          </p:cNvSpPr>
          <p:nvPr>
            <p:ph idx="1"/>
          </p:nvPr>
        </p:nvSpPr>
        <p:spPr/>
        <p:txBody>
          <a:bodyPr>
            <a:normAutofit fontScale="92500" lnSpcReduction="20000"/>
          </a:bodyPr>
          <a:lstStyle/>
          <a:p>
            <a:r>
              <a:rPr lang="en-GB" dirty="0"/>
              <a:t>A convolutional kernel is a small set of learned weights that spans a local temporal region.</a:t>
            </a:r>
          </a:p>
          <a:p>
            <a:r>
              <a:rPr lang="en-GB" dirty="0"/>
              <a:t>Suppose:</a:t>
            </a:r>
          </a:p>
          <a:p>
            <a:pPr lvl="1"/>
            <a:r>
              <a:rPr lang="en-GB" dirty="0"/>
              <a:t>kernel size K = 3; </a:t>
            </a:r>
          </a:p>
          <a:p>
            <a:pPr lvl="1"/>
            <a:r>
              <a:rPr lang="en-GB" dirty="0"/>
              <a:t>input dimension d = 4. </a:t>
            </a:r>
          </a:p>
          <a:p>
            <a:r>
              <a:rPr lang="en-GB" dirty="0">
                <a:highlight>
                  <a:srgbClr val="FFFF00"/>
                </a:highlight>
              </a:rPr>
              <a:t>The kernel examines three consecutive time steps:</a:t>
            </a:r>
          </a:p>
          <a:p>
            <a:pPr lvl="1"/>
            <a:r>
              <a:rPr lang="en-GB" dirty="0"/>
              <a:t>x[t]</a:t>
            </a:r>
          </a:p>
          <a:p>
            <a:pPr lvl="1"/>
            <a:r>
              <a:rPr lang="en-GB" dirty="0"/>
              <a:t>x[t+1]</a:t>
            </a:r>
          </a:p>
          <a:p>
            <a:pPr lvl="1"/>
            <a:r>
              <a:rPr lang="en-GB" dirty="0"/>
              <a:t>x[t+2]</a:t>
            </a:r>
          </a:p>
          <a:p>
            <a:pPr lvl="1"/>
            <a:r>
              <a:rPr lang="en-GB" dirty="0"/>
              <a:t>and all four input channels.</a:t>
            </a:r>
          </a:p>
          <a:p>
            <a:r>
              <a:rPr lang="en-GB" dirty="0"/>
              <a:t>Conceptually, </a:t>
            </a:r>
            <a:r>
              <a:rPr lang="en-GB" dirty="0">
                <a:highlight>
                  <a:srgbClr val="FFFF00"/>
                </a:highlight>
              </a:rPr>
              <a:t>its local input region has shape:</a:t>
            </a:r>
          </a:p>
          <a:p>
            <a:pPr lvl="1"/>
            <a:r>
              <a:rPr lang="en-GB" dirty="0"/>
              <a:t>[K, d] = [3, 4]</a:t>
            </a:r>
          </a:p>
          <a:p>
            <a:endParaRPr lang="en-GB" dirty="0"/>
          </a:p>
        </p:txBody>
      </p:sp>
      <p:sp>
        <p:nvSpPr>
          <p:cNvPr id="4" name="CasellaDiTesto 3">
            <a:extLst>
              <a:ext uri="{FF2B5EF4-FFF2-40B4-BE49-F238E27FC236}">
                <a16:creationId xmlns:a16="http://schemas.microsoft.com/office/drawing/2014/main" id="{D813F817-4DD5-7150-5F0E-7EB21D0EB9CE}"/>
              </a:ext>
            </a:extLst>
          </p:cNvPr>
          <p:cNvSpPr txBox="1"/>
          <p:nvPr/>
        </p:nvSpPr>
        <p:spPr>
          <a:xfrm>
            <a:off x="6772589" y="532563"/>
            <a:ext cx="4059534" cy="646331"/>
          </a:xfrm>
          <a:prstGeom prst="rect">
            <a:avLst/>
          </a:prstGeom>
          <a:noFill/>
        </p:spPr>
        <p:txBody>
          <a:bodyPr wrap="square" rtlCol="0">
            <a:spAutoFit/>
          </a:bodyPr>
          <a:lstStyle/>
          <a:p>
            <a:r>
              <a:rPr lang="it-IT" dirty="0"/>
              <a:t>Think </a:t>
            </a:r>
            <a:r>
              <a:rPr lang="it-IT" dirty="0" err="1"/>
              <a:t>analogously</a:t>
            </a:r>
            <a:r>
              <a:rPr lang="it-IT" dirty="0"/>
              <a:t> to the </a:t>
            </a:r>
            <a:r>
              <a:rPr lang="it-IT" dirty="0" err="1"/>
              <a:t>spatial</a:t>
            </a:r>
            <a:r>
              <a:rPr lang="it-IT" dirty="0"/>
              <a:t> kernel in image processing</a:t>
            </a:r>
            <a:endParaRPr lang="en-GB" dirty="0"/>
          </a:p>
        </p:txBody>
      </p:sp>
      <p:sp>
        <p:nvSpPr>
          <p:cNvPr id="6" name="CasellaDiTesto 5">
            <a:extLst>
              <a:ext uri="{FF2B5EF4-FFF2-40B4-BE49-F238E27FC236}">
                <a16:creationId xmlns:a16="http://schemas.microsoft.com/office/drawing/2014/main" id="{8B6947E6-495C-3FA8-4564-23BBD5806855}"/>
              </a:ext>
            </a:extLst>
          </p:cNvPr>
          <p:cNvSpPr txBox="1"/>
          <p:nvPr/>
        </p:nvSpPr>
        <p:spPr>
          <a:xfrm>
            <a:off x="6608676" y="4311991"/>
            <a:ext cx="2665326" cy="1200329"/>
          </a:xfrm>
          <a:prstGeom prst="rect">
            <a:avLst/>
          </a:prstGeom>
          <a:noFill/>
        </p:spPr>
        <p:txBody>
          <a:bodyPr wrap="square">
            <a:spAutoFit/>
          </a:bodyPr>
          <a:lstStyle/>
          <a:p>
            <a:r>
              <a:rPr lang="en-GB" sz="1800" dirty="0">
                <a:highlight>
                  <a:srgbClr val="FFFF00"/>
                </a:highlight>
              </a:rPr>
              <a:t>w = [[</a:t>
            </a:r>
            <a:r>
              <a:rPr lang="en-GB" dirty="0">
                <a:highlight>
                  <a:srgbClr val="FFFF00"/>
                </a:highlight>
              </a:rPr>
              <a:t>w</a:t>
            </a:r>
            <a:r>
              <a:rPr lang="en-GB" baseline="-25000" dirty="0">
                <a:highlight>
                  <a:srgbClr val="FFFF00"/>
                </a:highlight>
              </a:rPr>
              <a:t>00</a:t>
            </a:r>
            <a:r>
              <a:rPr lang="en-GB" sz="1800" dirty="0">
                <a:highlight>
                  <a:srgbClr val="FFFF00"/>
                </a:highlight>
              </a:rPr>
              <a:t>, </a:t>
            </a:r>
            <a:r>
              <a:rPr lang="en-GB" dirty="0">
                <a:highlight>
                  <a:srgbClr val="FFFF00"/>
                </a:highlight>
              </a:rPr>
              <a:t>w</a:t>
            </a:r>
            <a:r>
              <a:rPr lang="en-GB" baseline="-25000" dirty="0">
                <a:highlight>
                  <a:srgbClr val="FFFF00"/>
                </a:highlight>
              </a:rPr>
              <a:t>01</a:t>
            </a:r>
            <a:r>
              <a:rPr lang="en-GB" dirty="0">
                <a:highlight>
                  <a:srgbClr val="FFFF00"/>
                </a:highlight>
              </a:rPr>
              <a:t>, w</a:t>
            </a:r>
            <a:r>
              <a:rPr lang="en-GB" baseline="-25000" dirty="0">
                <a:highlight>
                  <a:srgbClr val="FFFF00"/>
                </a:highlight>
              </a:rPr>
              <a:t>02</a:t>
            </a:r>
            <a:r>
              <a:rPr lang="en-GB" dirty="0">
                <a:highlight>
                  <a:srgbClr val="FFFF00"/>
                </a:highlight>
              </a:rPr>
              <a:t>, w</a:t>
            </a:r>
            <a:r>
              <a:rPr lang="en-GB" baseline="-25000" dirty="0">
                <a:highlight>
                  <a:srgbClr val="FFFF00"/>
                </a:highlight>
              </a:rPr>
              <a:t>03</a:t>
            </a:r>
            <a:r>
              <a:rPr lang="en-GB" dirty="0">
                <a:highlight>
                  <a:srgbClr val="FFFF00"/>
                </a:highlight>
              </a:rPr>
              <a:t>] </a:t>
            </a:r>
            <a:endParaRPr lang="en-GB" sz="1800" dirty="0">
              <a:highlight>
                <a:srgbClr val="FFFF00"/>
              </a:highlight>
            </a:endParaRPr>
          </a:p>
          <a:p>
            <a:r>
              <a:rPr lang="en-GB" dirty="0">
                <a:highlight>
                  <a:srgbClr val="FFFF00"/>
                </a:highlight>
              </a:rPr>
              <a:t>	 [w</a:t>
            </a:r>
            <a:r>
              <a:rPr lang="en-GB" baseline="-25000" dirty="0">
                <a:highlight>
                  <a:srgbClr val="FFFF00"/>
                </a:highlight>
              </a:rPr>
              <a:t>00</a:t>
            </a:r>
            <a:r>
              <a:rPr lang="en-GB" dirty="0">
                <a:highlight>
                  <a:srgbClr val="FFFF00"/>
                </a:highlight>
              </a:rPr>
              <a:t>, w</a:t>
            </a:r>
            <a:r>
              <a:rPr lang="en-GB" baseline="-25000" dirty="0">
                <a:highlight>
                  <a:srgbClr val="FFFF00"/>
                </a:highlight>
              </a:rPr>
              <a:t>01</a:t>
            </a:r>
            <a:r>
              <a:rPr lang="en-GB" dirty="0">
                <a:highlight>
                  <a:srgbClr val="FFFF00"/>
                </a:highlight>
              </a:rPr>
              <a:t>, w</a:t>
            </a:r>
            <a:r>
              <a:rPr lang="en-GB" baseline="-25000" dirty="0">
                <a:highlight>
                  <a:srgbClr val="FFFF00"/>
                </a:highlight>
              </a:rPr>
              <a:t>02</a:t>
            </a:r>
            <a:r>
              <a:rPr lang="en-GB" dirty="0">
                <a:highlight>
                  <a:srgbClr val="FFFF00"/>
                </a:highlight>
              </a:rPr>
              <a:t>, w</a:t>
            </a:r>
            <a:r>
              <a:rPr lang="en-GB" baseline="-25000" dirty="0">
                <a:highlight>
                  <a:srgbClr val="FFFF00"/>
                </a:highlight>
              </a:rPr>
              <a:t>03</a:t>
            </a:r>
            <a:r>
              <a:rPr lang="en-GB" dirty="0">
                <a:highlight>
                  <a:srgbClr val="FFFF00"/>
                </a:highlight>
              </a:rPr>
              <a:t>]</a:t>
            </a:r>
            <a:r>
              <a:rPr lang="en-GB" sz="1800" dirty="0">
                <a:highlight>
                  <a:srgbClr val="FFFF00"/>
                </a:highlight>
              </a:rPr>
              <a:t> </a:t>
            </a:r>
          </a:p>
          <a:p>
            <a:r>
              <a:rPr lang="en-GB" dirty="0">
                <a:highlight>
                  <a:srgbClr val="FFFF00"/>
                </a:highlight>
              </a:rPr>
              <a:t>	 [w</a:t>
            </a:r>
            <a:r>
              <a:rPr lang="en-GB" baseline="-25000" dirty="0">
                <a:highlight>
                  <a:srgbClr val="FFFF00"/>
                </a:highlight>
              </a:rPr>
              <a:t>00</a:t>
            </a:r>
            <a:r>
              <a:rPr lang="en-GB" dirty="0">
                <a:highlight>
                  <a:srgbClr val="FFFF00"/>
                </a:highlight>
              </a:rPr>
              <a:t>, w</a:t>
            </a:r>
            <a:r>
              <a:rPr lang="en-GB" baseline="-25000" dirty="0">
                <a:highlight>
                  <a:srgbClr val="FFFF00"/>
                </a:highlight>
              </a:rPr>
              <a:t>01</a:t>
            </a:r>
            <a:r>
              <a:rPr lang="en-GB" dirty="0">
                <a:highlight>
                  <a:srgbClr val="FFFF00"/>
                </a:highlight>
              </a:rPr>
              <a:t>, w</a:t>
            </a:r>
            <a:r>
              <a:rPr lang="en-GB" baseline="-25000" dirty="0">
                <a:highlight>
                  <a:srgbClr val="FFFF00"/>
                </a:highlight>
              </a:rPr>
              <a:t>02</a:t>
            </a:r>
            <a:r>
              <a:rPr lang="en-GB" dirty="0">
                <a:highlight>
                  <a:srgbClr val="FFFF00"/>
                </a:highlight>
              </a:rPr>
              <a:t> w</a:t>
            </a:r>
            <a:r>
              <a:rPr lang="en-GB" baseline="-25000" dirty="0">
                <a:highlight>
                  <a:srgbClr val="FFFF00"/>
                </a:highlight>
              </a:rPr>
              <a:t>03</a:t>
            </a:r>
            <a:r>
              <a:rPr lang="en-GB" dirty="0">
                <a:highlight>
                  <a:srgbClr val="FFFF00"/>
                </a:highlight>
              </a:rPr>
              <a:t>,]</a:t>
            </a:r>
          </a:p>
          <a:p>
            <a:r>
              <a:rPr lang="en-GB" sz="1800" dirty="0">
                <a:highlight>
                  <a:srgbClr val="FFFF00"/>
                </a:highlight>
              </a:rPr>
              <a:t>]</a:t>
            </a:r>
          </a:p>
        </p:txBody>
      </p:sp>
    </p:spTree>
    <p:extLst>
      <p:ext uri="{BB962C8B-B14F-4D97-AF65-F5344CB8AC3E}">
        <p14:creationId xmlns:p14="http://schemas.microsoft.com/office/powerpoint/2010/main" val="216377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2B3D641-5B10-E281-4BB8-ED60C312AB2E}"/>
              </a:ext>
            </a:extLst>
          </p:cNvPr>
          <p:cNvSpPr>
            <a:spLocks noGrp="1"/>
          </p:cNvSpPr>
          <p:nvPr>
            <p:ph type="title"/>
          </p:nvPr>
        </p:nvSpPr>
        <p:spPr/>
        <p:txBody>
          <a:bodyPr/>
          <a:lstStyle/>
          <a:p>
            <a:r>
              <a:rPr lang="en-GB" dirty="0"/>
              <a:t>What is a temporal kernel?</a:t>
            </a:r>
          </a:p>
        </p:txBody>
      </p:sp>
      <p:sp>
        <p:nvSpPr>
          <p:cNvPr id="3" name="Segnaposto contenuto 2">
            <a:extLst>
              <a:ext uri="{FF2B5EF4-FFF2-40B4-BE49-F238E27FC236}">
                <a16:creationId xmlns:a16="http://schemas.microsoft.com/office/drawing/2014/main" id="{E6C54E94-8136-1A1F-CE03-8ED81B8D4DAD}"/>
              </a:ext>
            </a:extLst>
          </p:cNvPr>
          <p:cNvSpPr>
            <a:spLocks noGrp="1"/>
          </p:cNvSpPr>
          <p:nvPr>
            <p:ph idx="1"/>
          </p:nvPr>
        </p:nvSpPr>
        <p:spPr/>
        <p:txBody>
          <a:bodyPr>
            <a:normAutofit fontScale="70000" lnSpcReduction="20000"/>
          </a:bodyPr>
          <a:lstStyle/>
          <a:p>
            <a:r>
              <a:rPr lang="en-GB" b="1" dirty="0">
                <a:highlight>
                  <a:srgbClr val="FFFF00"/>
                </a:highlight>
              </a:rPr>
              <a:t>Kernel parameters</a:t>
            </a:r>
          </a:p>
          <a:p>
            <a:r>
              <a:rPr lang="en-GB" dirty="0"/>
              <a:t>A single filter contains learned weights associated with:</a:t>
            </a:r>
          </a:p>
          <a:p>
            <a:pPr lvl="1"/>
            <a:r>
              <a:rPr lang="en-GB" dirty="0"/>
              <a:t>each temporal offset; </a:t>
            </a:r>
          </a:p>
          <a:p>
            <a:pPr lvl="1"/>
            <a:r>
              <a:rPr lang="en-GB" dirty="0"/>
              <a:t>each input channel. </a:t>
            </a:r>
          </a:p>
          <a:p>
            <a:r>
              <a:rPr lang="en-GB" dirty="0"/>
              <a:t>The filter therefore learns a local multivariate temporal pattern.</a:t>
            </a:r>
          </a:p>
          <a:p>
            <a:endParaRPr lang="en-GB" b="1" dirty="0"/>
          </a:p>
          <a:p>
            <a:r>
              <a:rPr lang="en-GB" b="1" dirty="0">
                <a:highlight>
                  <a:srgbClr val="FFFF00"/>
                </a:highlight>
              </a:rPr>
              <a:t>Example</a:t>
            </a:r>
          </a:p>
          <a:p>
            <a:r>
              <a:rPr lang="en-GB" dirty="0"/>
              <a:t>One filter could potentially respond to a combination such as:</a:t>
            </a:r>
          </a:p>
          <a:p>
            <a:pPr lvl="1"/>
            <a:r>
              <a:rPr lang="en-GB" dirty="0"/>
              <a:t>vibration increasing; </a:t>
            </a:r>
          </a:p>
          <a:p>
            <a:pPr lvl="1"/>
            <a:r>
              <a:rPr lang="en-GB" dirty="0"/>
              <a:t>current increasing; </a:t>
            </a:r>
          </a:p>
          <a:p>
            <a:pPr lvl="1"/>
            <a:r>
              <a:rPr lang="en-GB" dirty="0"/>
              <a:t>pressure decreasing; </a:t>
            </a:r>
          </a:p>
          <a:p>
            <a:pPr lvl="1"/>
            <a:r>
              <a:rPr lang="en-GB" dirty="0"/>
              <a:t>over three consecutive time steps.</a:t>
            </a:r>
          </a:p>
          <a:p>
            <a:endParaRPr lang="en-GB" b="1" dirty="0"/>
          </a:p>
          <a:p>
            <a:r>
              <a:rPr lang="en-GB" b="1" dirty="0">
                <a:highlight>
                  <a:srgbClr val="FFFF00"/>
                </a:highlight>
              </a:rPr>
              <a:t>A temporal kernel can learn relationships both across time and across input variables.</a:t>
            </a:r>
          </a:p>
          <a:p>
            <a:endParaRPr lang="en-GB" dirty="0"/>
          </a:p>
        </p:txBody>
      </p:sp>
    </p:spTree>
    <p:extLst>
      <p:ext uri="{BB962C8B-B14F-4D97-AF65-F5344CB8AC3E}">
        <p14:creationId xmlns:p14="http://schemas.microsoft.com/office/powerpoint/2010/main" val="30966285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A temporal kernel spans K time steps and d channels</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dirty="0">
                <a:solidFill>
                  <a:srgbClr val="475569"/>
                </a:solidFill>
              </a:rPr>
              <a:t>For one filter, the local input region has shape [K, d].</a:t>
            </a:r>
            <a:endParaRPr lang="en-US" sz="1150" dirty="0"/>
          </a:p>
        </p:txBody>
      </p:sp>
      <p:sp>
        <p:nvSpPr>
          <p:cNvPr id="6" name="Shape 4"/>
          <p:cNvSpPr/>
          <p:nvPr/>
        </p:nvSpPr>
        <p:spPr>
          <a:xfrm>
            <a:off x="868680" y="1417320"/>
            <a:ext cx="4526280" cy="2057400"/>
          </a:xfrm>
          <a:prstGeom prst="rect">
            <a:avLst/>
          </a:prstGeom>
          <a:solidFill>
            <a:srgbClr val="FFFFFF"/>
          </a:solidFill>
          <a:ln w="12700">
            <a:solidFill>
              <a:srgbClr val="CBD5E1"/>
            </a:solidFill>
            <a:prstDash val="solid"/>
          </a:ln>
        </p:spPr>
        <p:txBody>
          <a:bodyPr/>
          <a:lstStyle/>
          <a:p>
            <a:endParaRPr lang="en-GB"/>
          </a:p>
        </p:txBody>
      </p:sp>
      <p:sp>
        <p:nvSpPr>
          <p:cNvPr id="7" name="Shape 5"/>
          <p:cNvSpPr/>
          <p:nvPr/>
        </p:nvSpPr>
        <p:spPr>
          <a:xfrm>
            <a:off x="1371600" y="1417320"/>
            <a:ext cx="0" cy="2057400"/>
          </a:xfrm>
          <a:prstGeom prst="line">
            <a:avLst/>
          </a:prstGeom>
          <a:noFill/>
          <a:ln w="7620">
            <a:solidFill>
              <a:srgbClr val="CBD5E1"/>
            </a:solidFill>
            <a:prstDash val="solid"/>
          </a:ln>
        </p:spPr>
        <p:txBody>
          <a:bodyPr/>
          <a:lstStyle/>
          <a:p>
            <a:endParaRPr lang="en-GB"/>
          </a:p>
        </p:txBody>
      </p:sp>
      <p:sp>
        <p:nvSpPr>
          <p:cNvPr id="8" name="Shape 6"/>
          <p:cNvSpPr/>
          <p:nvPr/>
        </p:nvSpPr>
        <p:spPr>
          <a:xfrm>
            <a:off x="1874520" y="1417320"/>
            <a:ext cx="0" cy="2057400"/>
          </a:xfrm>
          <a:prstGeom prst="line">
            <a:avLst/>
          </a:prstGeom>
          <a:noFill/>
          <a:ln w="7620">
            <a:solidFill>
              <a:srgbClr val="CBD5E1"/>
            </a:solidFill>
            <a:prstDash val="solid"/>
          </a:ln>
        </p:spPr>
        <p:txBody>
          <a:bodyPr/>
          <a:lstStyle/>
          <a:p>
            <a:endParaRPr lang="en-GB"/>
          </a:p>
        </p:txBody>
      </p:sp>
      <p:sp>
        <p:nvSpPr>
          <p:cNvPr id="9" name="Shape 7"/>
          <p:cNvSpPr/>
          <p:nvPr/>
        </p:nvSpPr>
        <p:spPr>
          <a:xfrm>
            <a:off x="2377440" y="1417320"/>
            <a:ext cx="0" cy="2057400"/>
          </a:xfrm>
          <a:prstGeom prst="line">
            <a:avLst/>
          </a:prstGeom>
          <a:noFill/>
          <a:ln w="7620">
            <a:solidFill>
              <a:srgbClr val="CBD5E1"/>
            </a:solidFill>
            <a:prstDash val="solid"/>
          </a:ln>
        </p:spPr>
        <p:txBody>
          <a:bodyPr/>
          <a:lstStyle/>
          <a:p>
            <a:endParaRPr lang="en-GB"/>
          </a:p>
        </p:txBody>
      </p:sp>
      <p:sp>
        <p:nvSpPr>
          <p:cNvPr id="10" name="Shape 8"/>
          <p:cNvSpPr/>
          <p:nvPr/>
        </p:nvSpPr>
        <p:spPr>
          <a:xfrm>
            <a:off x="2880360" y="1417320"/>
            <a:ext cx="0" cy="2057400"/>
          </a:xfrm>
          <a:prstGeom prst="line">
            <a:avLst/>
          </a:prstGeom>
          <a:noFill/>
          <a:ln w="7620">
            <a:solidFill>
              <a:srgbClr val="CBD5E1"/>
            </a:solidFill>
            <a:prstDash val="solid"/>
          </a:ln>
        </p:spPr>
        <p:txBody>
          <a:bodyPr/>
          <a:lstStyle/>
          <a:p>
            <a:endParaRPr lang="en-GB"/>
          </a:p>
        </p:txBody>
      </p:sp>
      <p:sp>
        <p:nvSpPr>
          <p:cNvPr id="11" name="Shape 9"/>
          <p:cNvSpPr/>
          <p:nvPr/>
        </p:nvSpPr>
        <p:spPr>
          <a:xfrm>
            <a:off x="3383280" y="1417320"/>
            <a:ext cx="0" cy="2057400"/>
          </a:xfrm>
          <a:prstGeom prst="line">
            <a:avLst/>
          </a:prstGeom>
          <a:noFill/>
          <a:ln w="7620">
            <a:solidFill>
              <a:srgbClr val="CBD5E1"/>
            </a:solidFill>
            <a:prstDash val="solid"/>
          </a:ln>
        </p:spPr>
        <p:txBody>
          <a:bodyPr/>
          <a:lstStyle/>
          <a:p>
            <a:endParaRPr lang="en-GB"/>
          </a:p>
        </p:txBody>
      </p:sp>
      <p:sp>
        <p:nvSpPr>
          <p:cNvPr id="12" name="Shape 10"/>
          <p:cNvSpPr/>
          <p:nvPr/>
        </p:nvSpPr>
        <p:spPr>
          <a:xfrm>
            <a:off x="3886200" y="1417320"/>
            <a:ext cx="0" cy="2057400"/>
          </a:xfrm>
          <a:prstGeom prst="line">
            <a:avLst/>
          </a:prstGeom>
          <a:noFill/>
          <a:ln w="7620">
            <a:solidFill>
              <a:srgbClr val="CBD5E1"/>
            </a:solidFill>
            <a:prstDash val="solid"/>
          </a:ln>
        </p:spPr>
        <p:txBody>
          <a:bodyPr/>
          <a:lstStyle/>
          <a:p>
            <a:endParaRPr lang="en-GB"/>
          </a:p>
        </p:txBody>
      </p:sp>
      <p:sp>
        <p:nvSpPr>
          <p:cNvPr id="13" name="Shape 11"/>
          <p:cNvSpPr/>
          <p:nvPr/>
        </p:nvSpPr>
        <p:spPr>
          <a:xfrm>
            <a:off x="4389120" y="1417320"/>
            <a:ext cx="0" cy="2057400"/>
          </a:xfrm>
          <a:prstGeom prst="line">
            <a:avLst/>
          </a:prstGeom>
          <a:noFill/>
          <a:ln w="7620">
            <a:solidFill>
              <a:srgbClr val="CBD5E1"/>
            </a:solidFill>
            <a:prstDash val="solid"/>
          </a:ln>
        </p:spPr>
        <p:txBody>
          <a:bodyPr/>
          <a:lstStyle/>
          <a:p>
            <a:endParaRPr lang="en-GB"/>
          </a:p>
        </p:txBody>
      </p:sp>
      <p:sp>
        <p:nvSpPr>
          <p:cNvPr id="14" name="Shape 12"/>
          <p:cNvSpPr/>
          <p:nvPr/>
        </p:nvSpPr>
        <p:spPr>
          <a:xfrm>
            <a:off x="4892040" y="1417320"/>
            <a:ext cx="0" cy="2057400"/>
          </a:xfrm>
          <a:prstGeom prst="line">
            <a:avLst/>
          </a:prstGeom>
          <a:noFill/>
          <a:ln w="7620">
            <a:solidFill>
              <a:srgbClr val="CBD5E1"/>
            </a:solidFill>
            <a:prstDash val="solid"/>
          </a:ln>
        </p:spPr>
        <p:txBody>
          <a:bodyPr/>
          <a:lstStyle/>
          <a:p>
            <a:endParaRPr lang="en-GB"/>
          </a:p>
        </p:txBody>
      </p:sp>
      <p:sp>
        <p:nvSpPr>
          <p:cNvPr id="15" name="Shape 13"/>
          <p:cNvSpPr/>
          <p:nvPr/>
        </p:nvSpPr>
        <p:spPr>
          <a:xfrm>
            <a:off x="868680" y="1828800"/>
            <a:ext cx="4526280" cy="0"/>
          </a:xfrm>
          <a:prstGeom prst="line">
            <a:avLst/>
          </a:prstGeom>
          <a:noFill/>
          <a:ln w="7620">
            <a:solidFill>
              <a:srgbClr val="CBD5E1"/>
            </a:solidFill>
            <a:prstDash val="solid"/>
          </a:ln>
        </p:spPr>
        <p:txBody>
          <a:bodyPr/>
          <a:lstStyle/>
          <a:p>
            <a:endParaRPr lang="en-GB"/>
          </a:p>
        </p:txBody>
      </p:sp>
      <p:sp>
        <p:nvSpPr>
          <p:cNvPr id="16" name="Shape 14"/>
          <p:cNvSpPr/>
          <p:nvPr/>
        </p:nvSpPr>
        <p:spPr>
          <a:xfrm>
            <a:off x="868680" y="2240280"/>
            <a:ext cx="4526280" cy="0"/>
          </a:xfrm>
          <a:prstGeom prst="line">
            <a:avLst/>
          </a:prstGeom>
          <a:noFill/>
          <a:ln w="7620">
            <a:solidFill>
              <a:srgbClr val="CBD5E1"/>
            </a:solidFill>
            <a:prstDash val="solid"/>
          </a:ln>
        </p:spPr>
        <p:txBody>
          <a:bodyPr/>
          <a:lstStyle/>
          <a:p>
            <a:endParaRPr lang="en-GB"/>
          </a:p>
        </p:txBody>
      </p:sp>
      <p:sp>
        <p:nvSpPr>
          <p:cNvPr id="17" name="Shape 15"/>
          <p:cNvSpPr/>
          <p:nvPr/>
        </p:nvSpPr>
        <p:spPr>
          <a:xfrm>
            <a:off x="868680" y="2651760"/>
            <a:ext cx="4526280" cy="0"/>
          </a:xfrm>
          <a:prstGeom prst="line">
            <a:avLst/>
          </a:prstGeom>
          <a:noFill/>
          <a:ln w="7620">
            <a:solidFill>
              <a:srgbClr val="CBD5E1"/>
            </a:solidFill>
            <a:prstDash val="solid"/>
          </a:ln>
        </p:spPr>
        <p:txBody>
          <a:bodyPr/>
          <a:lstStyle/>
          <a:p>
            <a:endParaRPr lang="en-GB"/>
          </a:p>
        </p:txBody>
      </p:sp>
      <p:sp>
        <p:nvSpPr>
          <p:cNvPr id="18" name="Shape 16"/>
          <p:cNvSpPr/>
          <p:nvPr/>
        </p:nvSpPr>
        <p:spPr>
          <a:xfrm>
            <a:off x="868680" y="3063240"/>
            <a:ext cx="4526280" cy="0"/>
          </a:xfrm>
          <a:prstGeom prst="line">
            <a:avLst/>
          </a:prstGeom>
          <a:noFill/>
          <a:ln w="7620">
            <a:solidFill>
              <a:srgbClr val="CBD5E1"/>
            </a:solidFill>
            <a:prstDash val="solid"/>
          </a:ln>
        </p:spPr>
        <p:txBody>
          <a:bodyPr/>
          <a:lstStyle/>
          <a:p>
            <a:endParaRPr lang="en-GB"/>
          </a:p>
        </p:txBody>
      </p:sp>
      <p:sp>
        <p:nvSpPr>
          <p:cNvPr id="19" name="Text 17"/>
          <p:cNvSpPr/>
          <p:nvPr/>
        </p:nvSpPr>
        <p:spPr>
          <a:xfrm>
            <a:off x="4480560" y="3739896"/>
            <a:ext cx="1371600" cy="182880"/>
          </a:xfrm>
          <a:prstGeom prst="rect">
            <a:avLst/>
          </a:prstGeom>
          <a:noFill/>
          <a:ln/>
        </p:spPr>
        <p:txBody>
          <a:bodyPr wrap="square" lIns="0" tIns="0" rIns="0" bIns="0" rtlCol="0" anchor="ctr">
            <a:normAutofit/>
          </a:bodyPr>
          <a:lstStyle/>
          <a:p>
            <a:pPr marL="0" indent="0" algn="ctr">
              <a:buNone/>
            </a:pPr>
            <a:r>
              <a:rPr lang="en-US" sz="1000" dirty="0">
                <a:solidFill>
                  <a:srgbClr val="475569"/>
                </a:solidFill>
              </a:rPr>
              <a:t>time</a:t>
            </a:r>
            <a:endParaRPr lang="en-US" sz="1000" dirty="0"/>
          </a:p>
        </p:txBody>
      </p:sp>
      <p:sp>
        <p:nvSpPr>
          <p:cNvPr id="20" name="Text 18"/>
          <p:cNvSpPr/>
          <p:nvPr/>
        </p:nvSpPr>
        <p:spPr>
          <a:xfrm>
            <a:off x="380029" y="1783080"/>
            <a:ext cx="320040" cy="1097280"/>
          </a:xfrm>
          <a:prstGeom prst="rect">
            <a:avLst/>
          </a:prstGeom>
          <a:noFill/>
          <a:ln/>
        </p:spPr>
        <p:txBody>
          <a:bodyPr wrap="square" lIns="0" tIns="0" rIns="0" bIns="0" rtlCol="0" anchor="ctr">
            <a:normAutofit/>
          </a:bodyPr>
          <a:lstStyle/>
          <a:p>
            <a:pPr marL="0" indent="0" algn="ctr">
              <a:buNone/>
            </a:pPr>
            <a:r>
              <a:rPr lang="en-US" sz="1000" dirty="0">
                <a:solidFill>
                  <a:srgbClr val="475569"/>
                </a:solidFill>
              </a:rPr>
              <a:t>channels</a:t>
            </a:r>
            <a:endParaRPr lang="en-US" sz="1000" dirty="0"/>
          </a:p>
        </p:txBody>
      </p:sp>
      <p:sp>
        <p:nvSpPr>
          <p:cNvPr id="21" name="Shape 19"/>
          <p:cNvSpPr/>
          <p:nvPr/>
        </p:nvSpPr>
        <p:spPr>
          <a:xfrm>
            <a:off x="1874520" y="1417320"/>
            <a:ext cx="1508760" cy="2057400"/>
          </a:xfrm>
          <a:prstGeom prst="roundRect">
            <a:avLst>
              <a:gd name="adj" fmla="val 1818"/>
            </a:avLst>
          </a:prstGeom>
          <a:solidFill>
            <a:srgbClr val="EAF6D6">
              <a:alpha val="62000"/>
            </a:srgbClr>
          </a:solidFill>
          <a:ln w="25400">
            <a:solidFill>
              <a:srgbClr val="84B927"/>
            </a:solidFill>
            <a:prstDash val="solid"/>
          </a:ln>
        </p:spPr>
        <p:txBody>
          <a:bodyPr/>
          <a:lstStyle/>
          <a:p>
            <a:endParaRPr lang="en-GB"/>
          </a:p>
        </p:txBody>
      </p:sp>
      <p:sp>
        <p:nvSpPr>
          <p:cNvPr id="22" name="Text 20"/>
          <p:cNvSpPr/>
          <p:nvPr/>
        </p:nvSpPr>
        <p:spPr>
          <a:xfrm>
            <a:off x="1920240" y="3602736"/>
            <a:ext cx="1463040" cy="320040"/>
          </a:xfrm>
          <a:prstGeom prst="rect">
            <a:avLst/>
          </a:prstGeom>
          <a:noFill/>
          <a:ln/>
        </p:spPr>
        <p:txBody>
          <a:bodyPr wrap="square" lIns="0" tIns="0" rIns="0" bIns="0" rtlCol="0" anchor="ctr">
            <a:normAutofit lnSpcReduction="10000"/>
          </a:bodyPr>
          <a:lstStyle/>
          <a:p>
            <a:pPr marL="0" indent="0" algn="ctr">
              <a:buNone/>
            </a:pPr>
            <a:r>
              <a:rPr lang="en-US" sz="1100" b="1" dirty="0">
                <a:solidFill>
                  <a:srgbClr val="4F7F2B"/>
                </a:solidFill>
              </a:rPr>
              <a:t>kernel region</a:t>
            </a:r>
            <a:endParaRPr lang="en-US" sz="1100" dirty="0"/>
          </a:p>
          <a:p>
            <a:pPr marL="0" indent="0" algn="ctr">
              <a:buNone/>
            </a:pPr>
            <a:r>
              <a:rPr lang="en-US" sz="1100" b="1" dirty="0">
                <a:solidFill>
                  <a:srgbClr val="4F7F2B"/>
                </a:solidFill>
              </a:rPr>
              <a:t>K = 3, d = 5</a:t>
            </a:r>
            <a:endParaRPr lang="en-US" sz="1100" dirty="0"/>
          </a:p>
        </p:txBody>
      </p:sp>
      <p:sp>
        <p:nvSpPr>
          <p:cNvPr id="23" name="Shape 21"/>
          <p:cNvSpPr/>
          <p:nvPr/>
        </p:nvSpPr>
        <p:spPr>
          <a:xfrm>
            <a:off x="4251960" y="2423160"/>
            <a:ext cx="914400" cy="0"/>
          </a:xfrm>
          <a:prstGeom prst="line">
            <a:avLst/>
          </a:prstGeom>
          <a:noFill/>
          <a:ln w="19050">
            <a:solidFill>
              <a:srgbClr val="475569"/>
            </a:solidFill>
            <a:prstDash val="solid"/>
            <a:tailEnd type="triangle"/>
          </a:ln>
        </p:spPr>
        <p:txBody>
          <a:bodyPr/>
          <a:lstStyle/>
          <a:p>
            <a:endParaRPr lang="en-GB"/>
          </a:p>
        </p:txBody>
      </p:sp>
      <p:sp>
        <p:nvSpPr>
          <p:cNvPr id="24" name="Shape 22"/>
          <p:cNvSpPr/>
          <p:nvPr/>
        </p:nvSpPr>
        <p:spPr>
          <a:xfrm>
            <a:off x="5257800" y="1783080"/>
            <a:ext cx="1097280" cy="1188720"/>
          </a:xfrm>
          <a:prstGeom prst="roundRect">
            <a:avLst>
              <a:gd name="adj" fmla="val 6667"/>
            </a:avLst>
          </a:prstGeom>
          <a:solidFill>
            <a:srgbClr val="EEF2FF"/>
          </a:solidFill>
          <a:ln w="12700">
            <a:solidFill>
              <a:srgbClr val="2563EB"/>
            </a:solidFill>
            <a:prstDash val="solid"/>
          </a:ln>
        </p:spPr>
        <p:txBody>
          <a:bodyPr/>
          <a:lstStyle/>
          <a:p>
            <a:endParaRPr lang="en-GB"/>
          </a:p>
        </p:txBody>
      </p:sp>
      <p:sp>
        <p:nvSpPr>
          <p:cNvPr id="25" name="Text 23"/>
          <p:cNvSpPr/>
          <p:nvPr/>
        </p:nvSpPr>
        <p:spPr>
          <a:xfrm>
            <a:off x="5330952" y="2011681"/>
            <a:ext cx="950976" cy="822954"/>
          </a:xfrm>
          <a:prstGeom prst="rect">
            <a:avLst/>
          </a:prstGeom>
          <a:noFill/>
          <a:ln/>
        </p:spPr>
        <p:txBody>
          <a:bodyPr wrap="square" lIns="0" tIns="0" rIns="0" bIns="0" rtlCol="0" anchor="ctr">
            <a:normAutofit/>
          </a:bodyPr>
          <a:lstStyle/>
          <a:p>
            <a:pPr marL="0" indent="0" algn="ctr">
              <a:buNone/>
            </a:pPr>
            <a:r>
              <a:rPr lang="en-US" sz="1100" b="1" dirty="0">
                <a:solidFill>
                  <a:srgbClr val="111827"/>
                </a:solidFill>
              </a:rPr>
              <a:t>learned</a:t>
            </a:r>
            <a:endParaRPr lang="en-US" sz="1100" dirty="0"/>
          </a:p>
          <a:p>
            <a:pPr marL="0" indent="0" algn="ctr">
              <a:buNone/>
            </a:pPr>
            <a:r>
              <a:rPr lang="en-US" sz="1100" b="1" dirty="0">
                <a:solidFill>
                  <a:srgbClr val="111827"/>
                </a:solidFill>
              </a:rPr>
              <a:t>weights</a:t>
            </a:r>
            <a:endParaRPr lang="en-US" sz="1100" dirty="0"/>
          </a:p>
          <a:p>
            <a:pPr marL="0" indent="0" algn="ctr">
              <a:buNone/>
            </a:pPr>
            <a:r>
              <a:rPr lang="en-US" sz="1100" b="1" dirty="0">
                <a:solidFill>
                  <a:srgbClr val="111827"/>
                </a:solidFill>
              </a:rPr>
              <a:t>[K,d]</a:t>
            </a:r>
            <a:endParaRPr lang="en-US" sz="1100" dirty="0"/>
          </a:p>
        </p:txBody>
      </p:sp>
      <p:sp>
        <p:nvSpPr>
          <p:cNvPr id="26" name="Shape 24"/>
          <p:cNvSpPr/>
          <p:nvPr/>
        </p:nvSpPr>
        <p:spPr>
          <a:xfrm>
            <a:off x="6537960" y="2423160"/>
            <a:ext cx="868680" cy="0"/>
          </a:xfrm>
          <a:prstGeom prst="line">
            <a:avLst/>
          </a:prstGeom>
          <a:noFill/>
          <a:ln w="19050">
            <a:solidFill>
              <a:srgbClr val="475569"/>
            </a:solidFill>
            <a:prstDash val="solid"/>
            <a:tailEnd type="triangle"/>
          </a:ln>
        </p:spPr>
        <p:txBody>
          <a:bodyPr/>
          <a:lstStyle/>
          <a:p>
            <a:endParaRPr lang="en-GB"/>
          </a:p>
        </p:txBody>
      </p:sp>
      <p:sp>
        <p:nvSpPr>
          <p:cNvPr id="27" name="Shape 25"/>
          <p:cNvSpPr/>
          <p:nvPr/>
        </p:nvSpPr>
        <p:spPr>
          <a:xfrm>
            <a:off x="7498080" y="1965960"/>
            <a:ext cx="1097280" cy="822960"/>
          </a:xfrm>
          <a:prstGeom prst="roundRect">
            <a:avLst>
              <a:gd name="adj" fmla="val 8889"/>
            </a:avLst>
          </a:prstGeom>
          <a:solidFill>
            <a:srgbClr val="FFF7ED"/>
          </a:solidFill>
          <a:ln w="12700">
            <a:solidFill>
              <a:srgbClr val="F59E0B"/>
            </a:solidFill>
            <a:prstDash val="solid"/>
          </a:ln>
        </p:spPr>
        <p:txBody>
          <a:bodyPr/>
          <a:lstStyle/>
          <a:p>
            <a:endParaRPr lang="en-GB"/>
          </a:p>
        </p:txBody>
      </p:sp>
      <p:sp>
        <p:nvSpPr>
          <p:cNvPr id="28" name="Text 26"/>
          <p:cNvSpPr/>
          <p:nvPr/>
        </p:nvSpPr>
        <p:spPr>
          <a:xfrm>
            <a:off x="7571232" y="2267712"/>
            <a:ext cx="950976" cy="228600"/>
          </a:xfrm>
          <a:prstGeom prst="rect">
            <a:avLst/>
          </a:prstGeom>
          <a:noFill/>
          <a:ln/>
        </p:spPr>
        <p:txBody>
          <a:bodyPr wrap="square" lIns="0" tIns="0" rIns="0" bIns="0" rtlCol="0" anchor="ctr">
            <a:normAutofit fontScale="70000" lnSpcReduction="20000"/>
          </a:bodyPr>
          <a:lstStyle/>
          <a:p>
            <a:pPr marL="0" indent="0" algn="ctr">
              <a:buNone/>
            </a:pPr>
            <a:r>
              <a:rPr lang="en-US" sz="1300" b="1" dirty="0">
                <a:solidFill>
                  <a:srgbClr val="111827"/>
                </a:solidFill>
              </a:rPr>
              <a:t>one</a:t>
            </a:r>
            <a:endParaRPr lang="en-US" sz="1300" dirty="0"/>
          </a:p>
          <a:p>
            <a:pPr marL="0" indent="0" algn="ctr">
              <a:buNone/>
            </a:pPr>
            <a:r>
              <a:rPr lang="en-US" sz="1300" b="1" dirty="0">
                <a:solidFill>
                  <a:srgbClr val="111827"/>
                </a:solidFill>
              </a:rPr>
              <a:t>activation</a:t>
            </a:r>
            <a:endParaRPr lang="en-US" sz="1300" dirty="0"/>
          </a:p>
        </p:txBody>
      </p:sp>
      <p:sp>
        <p:nvSpPr>
          <p:cNvPr id="29" name="Shape 27"/>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30" name="Text 28"/>
          <p:cNvSpPr/>
          <p:nvPr/>
        </p:nvSpPr>
        <p:spPr>
          <a:xfrm>
            <a:off x="621792" y="6336792"/>
            <a:ext cx="9555480" cy="164592"/>
          </a:xfrm>
          <a:prstGeom prst="rect">
            <a:avLst/>
          </a:prstGeom>
          <a:noFill/>
          <a:ln/>
        </p:spPr>
        <p:txBody>
          <a:bodyPr wrap="square" lIns="0" tIns="0" rIns="0" bIns="0" rtlCol="0" anchor="ctr"/>
          <a:lstStyle/>
          <a:p>
            <a:pPr marL="0" indent="0">
              <a:buNone/>
            </a:pPr>
            <a:r>
              <a:rPr lang="en-US" sz="1200" b="1" dirty="0">
                <a:solidFill>
                  <a:srgbClr val="111827"/>
                </a:solidFill>
              </a:rPr>
              <a:t>The filter can learn multivariate temporal patterns, combining time offsets and input variables.</a:t>
            </a:r>
            <a:endParaRPr lang="en-US" sz="1200" b="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EFAF888-2E7D-34A2-D3C3-F7EFA31CC6C3}"/>
              </a:ext>
            </a:extLst>
          </p:cNvPr>
          <p:cNvSpPr>
            <a:spLocks noGrp="1"/>
          </p:cNvSpPr>
          <p:nvPr>
            <p:ph type="title"/>
          </p:nvPr>
        </p:nvSpPr>
        <p:spPr/>
        <p:txBody>
          <a:bodyPr/>
          <a:lstStyle/>
          <a:p>
            <a:r>
              <a:rPr lang="en-GB" dirty="0"/>
              <a:t>The convolution operation</a:t>
            </a:r>
          </a:p>
        </p:txBody>
      </p:sp>
      <p:sp>
        <p:nvSpPr>
          <p:cNvPr id="3" name="Segnaposto contenuto 2">
            <a:extLst>
              <a:ext uri="{FF2B5EF4-FFF2-40B4-BE49-F238E27FC236}">
                <a16:creationId xmlns:a16="http://schemas.microsoft.com/office/drawing/2014/main" id="{F2E9FDD9-3177-497E-2121-D6530F0C1F0A}"/>
              </a:ext>
            </a:extLst>
          </p:cNvPr>
          <p:cNvSpPr>
            <a:spLocks noGrp="1"/>
          </p:cNvSpPr>
          <p:nvPr>
            <p:ph idx="1"/>
          </p:nvPr>
        </p:nvSpPr>
        <p:spPr/>
        <p:txBody>
          <a:bodyPr>
            <a:normAutofit lnSpcReduction="10000"/>
          </a:bodyPr>
          <a:lstStyle/>
          <a:p>
            <a:r>
              <a:rPr lang="en-GB" dirty="0"/>
              <a:t>At one temporal position, the kernel is combined with the corresponding local input region.</a:t>
            </a:r>
          </a:p>
          <a:p>
            <a:pPr lvl="1"/>
            <a:r>
              <a:rPr lang="en-GB" dirty="0"/>
              <a:t>input region</a:t>
            </a:r>
          </a:p>
          <a:p>
            <a:pPr lvl="1"/>
            <a:r>
              <a:rPr lang="en-GB" dirty="0"/>
              <a:t>[x[t], x[t+1], ..., x[t+K−1]]</a:t>
            </a:r>
          </a:p>
          <a:p>
            <a:pPr lvl="1"/>
            <a:r>
              <a:rPr lang="en-GB" dirty="0"/>
              <a:t>               ×</a:t>
            </a:r>
          </a:p>
          <a:p>
            <a:pPr lvl="1"/>
            <a:r>
              <a:rPr lang="en-GB" dirty="0"/>
              <a:t>         kernel weights (incl. bias)</a:t>
            </a:r>
          </a:p>
          <a:p>
            <a:pPr lvl="1"/>
            <a:r>
              <a:rPr lang="en-GB" dirty="0"/>
              <a:t>               ↓</a:t>
            </a:r>
          </a:p>
          <a:p>
            <a:pPr lvl="1"/>
            <a:r>
              <a:rPr lang="en-GB" dirty="0"/>
              <a:t>      weighted combination</a:t>
            </a:r>
          </a:p>
          <a:p>
            <a:pPr lvl="1"/>
            <a:r>
              <a:rPr lang="en-GB" dirty="0"/>
              <a:t>               ↓</a:t>
            </a:r>
          </a:p>
          <a:p>
            <a:pPr lvl="1"/>
            <a:r>
              <a:rPr lang="en-GB" dirty="0"/>
              <a:t>          activation</a:t>
            </a:r>
          </a:p>
          <a:p>
            <a:r>
              <a:rPr lang="en-GB" dirty="0"/>
              <a:t>For one filter, the result is one scalar activation at that temporal position.</a:t>
            </a:r>
          </a:p>
          <a:p>
            <a:endParaRPr lang="en-GB" dirty="0"/>
          </a:p>
        </p:txBody>
      </p:sp>
    </p:spTree>
    <p:extLst>
      <p:ext uri="{BB962C8B-B14F-4D97-AF65-F5344CB8AC3E}">
        <p14:creationId xmlns:p14="http://schemas.microsoft.com/office/powerpoint/2010/main" val="36879784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61ED1-8892-DD30-9579-4F89B1EAC0C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1AFA5F6-75C1-93FB-9342-C6A419B31024}"/>
              </a:ext>
            </a:extLst>
          </p:cNvPr>
          <p:cNvSpPr>
            <a:spLocks noGrp="1"/>
          </p:cNvSpPr>
          <p:nvPr>
            <p:ph type="title"/>
          </p:nvPr>
        </p:nvSpPr>
        <p:spPr/>
        <p:txBody>
          <a:bodyPr/>
          <a:lstStyle/>
          <a:p>
            <a:r>
              <a:rPr lang="en-GB" dirty="0"/>
              <a:t>The convolution operation</a:t>
            </a:r>
          </a:p>
        </p:txBody>
      </p:sp>
      <p:sp>
        <p:nvSpPr>
          <p:cNvPr id="3" name="Segnaposto contenuto 2">
            <a:extLst>
              <a:ext uri="{FF2B5EF4-FFF2-40B4-BE49-F238E27FC236}">
                <a16:creationId xmlns:a16="http://schemas.microsoft.com/office/drawing/2014/main" id="{3D2AFC7B-D72A-DBE5-65E9-051FFBD1FBC5}"/>
              </a:ext>
            </a:extLst>
          </p:cNvPr>
          <p:cNvSpPr>
            <a:spLocks noGrp="1"/>
          </p:cNvSpPr>
          <p:nvPr>
            <p:ph idx="1"/>
          </p:nvPr>
        </p:nvSpPr>
        <p:spPr/>
        <p:txBody>
          <a:bodyPr>
            <a:normAutofit/>
          </a:bodyPr>
          <a:lstStyle/>
          <a:p>
            <a:r>
              <a:rPr lang="en-GB" b="1" dirty="0"/>
              <a:t>Simplified conceptual expression</a:t>
            </a:r>
          </a:p>
          <a:p>
            <a:r>
              <a:rPr lang="en-GB" dirty="0"/>
              <a:t>activation = </a:t>
            </a:r>
            <a:r>
              <a:rPr lang="en-GB" dirty="0" err="1"/>
              <a:t>nonlinear_function</a:t>
            </a:r>
            <a:r>
              <a:rPr lang="en-GB" dirty="0"/>
              <a:t>(weighted local input + bias)</a:t>
            </a:r>
          </a:p>
          <a:p>
            <a:r>
              <a:rPr lang="en-GB" b="1" dirty="0"/>
              <a:t>Then the same kernel moves to the next position</a:t>
            </a:r>
          </a:p>
          <a:p>
            <a:pPr lvl="1"/>
            <a:r>
              <a:rPr lang="en-GB" dirty="0"/>
              <a:t>position 1: x[1] ... x[K]</a:t>
            </a:r>
          </a:p>
          <a:p>
            <a:pPr lvl="1"/>
            <a:r>
              <a:rPr lang="en-GB" dirty="0"/>
              <a:t>position 2: x[2] ... x[K+1]</a:t>
            </a:r>
          </a:p>
          <a:p>
            <a:pPr lvl="1"/>
            <a:r>
              <a:rPr lang="en-GB" dirty="0"/>
              <a:t>position 3: x[3] ... x[K+2]</a:t>
            </a:r>
          </a:p>
          <a:p>
            <a:endParaRPr lang="en-GB" b="1" dirty="0"/>
          </a:p>
          <a:p>
            <a:r>
              <a:rPr lang="en-GB" b="1" dirty="0"/>
              <a:t>Parameter sharing</a:t>
            </a:r>
          </a:p>
          <a:p>
            <a:r>
              <a:rPr lang="en-GB" dirty="0"/>
              <a:t>The same learned pattern detector is applied throughout the sequence.</a:t>
            </a:r>
          </a:p>
          <a:p>
            <a:endParaRPr lang="en-GB" dirty="0"/>
          </a:p>
        </p:txBody>
      </p:sp>
    </p:spTree>
    <p:extLst>
      <p:ext uri="{BB962C8B-B14F-4D97-AF65-F5344CB8AC3E}">
        <p14:creationId xmlns:p14="http://schemas.microsoft.com/office/powerpoint/2010/main" val="11543919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B5B7E1D-45D6-E74E-B0D3-5D7486BF4D00}"/>
              </a:ext>
            </a:extLst>
          </p:cNvPr>
          <p:cNvSpPr>
            <a:spLocks noGrp="1"/>
          </p:cNvSpPr>
          <p:nvPr>
            <p:ph type="title"/>
          </p:nvPr>
        </p:nvSpPr>
        <p:spPr/>
        <p:txBody>
          <a:bodyPr/>
          <a:lstStyle/>
          <a:p>
            <a:r>
              <a:rPr lang="en-GB" dirty="0"/>
              <a:t>A numerical example with one channel</a:t>
            </a:r>
          </a:p>
        </p:txBody>
      </p:sp>
      <p:sp>
        <p:nvSpPr>
          <p:cNvPr id="3" name="Segnaposto contenuto 2">
            <a:extLst>
              <a:ext uri="{FF2B5EF4-FFF2-40B4-BE49-F238E27FC236}">
                <a16:creationId xmlns:a16="http://schemas.microsoft.com/office/drawing/2014/main" id="{08C0EC01-206A-7884-56ED-88C84046456C}"/>
              </a:ext>
            </a:extLst>
          </p:cNvPr>
          <p:cNvSpPr>
            <a:spLocks noGrp="1"/>
          </p:cNvSpPr>
          <p:nvPr>
            <p:ph sz="half" idx="1"/>
          </p:nvPr>
        </p:nvSpPr>
        <p:spPr>
          <a:xfrm>
            <a:off x="677334" y="2019300"/>
            <a:ext cx="5752041" cy="4562475"/>
          </a:xfrm>
        </p:spPr>
        <p:txBody>
          <a:bodyPr>
            <a:normAutofit fontScale="70000" lnSpcReduction="20000"/>
          </a:bodyPr>
          <a:lstStyle/>
          <a:p>
            <a:r>
              <a:rPr lang="en-GB" dirty="0"/>
              <a:t>Consider a univariate sequence:</a:t>
            </a:r>
          </a:p>
          <a:p>
            <a:r>
              <a:rPr lang="en-GB" dirty="0">
                <a:highlight>
                  <a:srgbClr val="FFFF00"/>
                </a:highlight>
              </a:rPr>
              <a:t>x = [2, 3, 5, 4, 1]</a:t>
            </a:r>
          </a:p>
          <a:p>
            <a:r>
              <a:rPr lang="en-GB" dirty="0"/>
              <a:t>and a kernel of size 3:</a:t>
            </a:r>
          </a:p>
          <a:p>
            <a:r>
              <a:rPr lang="en-GB" dirty="0">
                <a:highlight>
                  <a:srgbClr val="FFFF00"/>
                </a:highlight>
              </a:rPr>
              <a:t>w = [−1, 0, 1]</a:t>
            </a:r>
          </a:p>
          <a:p>
            <a:r>
              <a:rPr lang="en-GB" dirty="0"/>
              <a:t>At the first position:</a:t>
            </a:r>
          </a:p>
          <a:p>
            <a:r>
              <a:rPr lang="en-GB" dirty="0"/>
              <a:t>[2, 3, 5]</a:t>
            </a:r>
          </a:p>
          <a:p>
            <a:r>
              <a:rPr lang="en-GB" dirty="0"/>
              <a:t>the filter computes:</a:t>
            </a:r>
          </a:p>
          <a:p>
            <a:r>
              <a:rPr lang="en-GB" dirty="0">
                <a:highlight>
                  <a:srgbClr val="FFFF00"/>
                </a:highlight>
              </a:rPr>
              <a:t>−1×2 + 0×3 + 1×5 = 3</a:t>
            </a:r>
          </a:p>
          <a:p>
            <a:r>
              <a:rPr lang="en-GB" dirty="0"/>
              <a:t>At the second position:</a:t>
            </a:r>
          </a:p>
          <a:p>
            <a:r>
              <a:rPr lang="en-GB" dirty="0"/>
              <a:t>[3, 5, 4]</a:t>
            </a:r>
          </a:p>
          <a:p>
            <a:r>
              <a:rPr lang="en-GB" dirty="0"/>
              <a:t>the result is:</a:t>
            </a:r>
          </a:p>
          <a:p>
            <a:r>
              <a:rPr lang="en-GB" dirty="0"/>
              <a:t>−1×3 + 0×5 + 1×4 = 1</a:t>
            </a:r>
          </a:p>
          <a:p>
            <a:r>
              <a:rPr lang="en-GB" dirty="0"/>
              <a:t>At the third position:</a:t>
            </a:r>
          </a:p>
          <a:p>
            <a:r>
              <a:rPr lang="en-GB" dirty="0"/>
              <a:t>[5, 4, 1]</a:t>
            </a:r>
          </a:p>
          <a:p>
            <a:r>
              <a:rPr lang="en-GB" dirty="0"/>
              <a:t>the result is:</a:t>
            </a:r>
          </a:p>
          <a:p>
            <a:r>
              <a:rPr lang="en-GB" dirty="0"/>
              <a:t>−1×5 + 0×4 + 1×1 = −4</a:t>
            </a:r>
          </a:p>
          <a:p>
            <a:endParaRPr lang="en-GB" dirty="0"/>
          </a:p>
        </p:txBody>
      </p:sp>
      <p:sp>
        <p:nvSpPr>
          <p:cNvPr id="4" name="Segnaposto contenuto 3">
            <a:extLst>
              <a:ext uri="{FF2B5EF4-FFF2-40B4-BE49-F238E27FC236}">
                <a16:creationId xmlns:a16="http://schemas.microsoft.com/office/drawing/2014/main" id="{0177E793-48EE-D5DF-BB80-BCDD350D1045}"/>
              </a:ext>
            </a:extLst>
          </p:cNvPr>
          <p:cNvSpPr>
            <a:spLocks noGrp="1"/>
          </p:cNvSpPr>
          <p:nvPr>
            <p:ph sz="half" idx="2"/>
          </p:nvPr>
        </p:nvSpPr>
        <p:spPr>
          <a:xfrm>
            <a:off x="7181985" y="1930400"/>
            <a:ext cx="4184034" cy="3880773"/>
          </a:xfrm>
        </p:spPr>
        <p:txBody>
          <a:bodyPr>
            <a:normAutofit fontScale="70000" lnSpcReduction="20000"/>
          </a:bodyPr>
          <a:lstStyle/>
          <a:p>
            <a:r>
              <a:rPr lang="en-GB" b="1" dirty="0"/>
              <a:t>Interpretation</a:t>
            </a:r>
          </a:p>
          <a:p>
            <a:r>
              <a:rPr lang="en-GB" dirty="0"/>
              <a:t>This particular kernel responds to local change.</a:t>
            </a:r>
          </a:p>
          <a:p>
            <a:r>
              <a:rPr lang="en-GB" dirty="0"/>
              <a:t>Positive activation:</a:t>
            </a:r>
          </a:p>
          <a:p>
            <a:pPr lvl="1"/>
            <a:r>
              <a:rPr lang="en-GB" dirty="0"/>
              <a:t>later value is larger than earlier value. </a:t>
            </a:r>
          </a:p>
          <a:p>
            <a:r>
              <a:rPr lang="en-GB" dirty="0"/>
              <a:t>Negative activation:</a:t>
            </a:r>
          </a:p>
          <a:p>
            <a:pPr lvl="1"/>
            <a:r>
              <a:rPr lang="en-GB" dirty="0"/>
              <a:t>later value is smaller. </a:t>
            </a:r>
          </a:p>
          <a:p>
            <a:endParaRPr lang="en-GB" dirty="0"/>
          </a:p>
          <a:p>
            <a:r>
              <a:rPr lang="en-GB" dirty="0"/>
              <a:t>In a neural network, these kernel values are </a:t>
            </a:r>
            <a:r>
              <a:rPr lang="en-GB" b="1" dirty="0"/>
              <a:t>learned</a:t>
            </a:r>
            <a:r>
              <a:rPr lang="en-GB" dirty="0"/>
              <a:t>, not manually specified.</a:t>
            </a:r>
          </a:p>
          <a:p>
            <a:endParaRPr lang="en-GB" dirty="0"/>
          </a:p>
        </p:txBody>
      </p:sp>
      <p:sp>
        <p:nvSpPr>
          <p:cNvPr id="5" name="CasellaDiTesto 4">
            <a:extLst>
              <a:ext uri="{FF2B5EF4-FFF2-40B4-BE49-F238E27FC236}">
                <a16:creationId xmlns:a16="http://schemas.microsoft.com/office/drawing/2014/main" id="{7A8FFE35-458A-9A3D-C307-569F2B2A0477}"/>
              </a:ext>
            </a:extLst>
          </p:cNvPr>
          <p:cNvSpPr txBox="1"/>
          <p:nvPr/>
        </p:nvSpPr>
        <p:spPr>
          <a:xfrm>
            <a:off x="7675418" y="5384800"/>
            <a:ext cx="2697018" cy="646331"/>
          </a:xfrm>
          <a:prstGeom prst="rect">
            <a:avLst/>
          </a:prstGeom>
          <a:noFill/>
        </p:spPr>
        <p:txBody>
          <a:bodyPr wrap="square" rtlCol="0">
            <a:spAutoFit/>
          </a:bodyPr>
          <a:lstStyle/>
          <a:p>
            <a:r>
              <a:rPr lang="it-IT" dirty="0"/>
              <a:t>Then, the non-linear </a:t>
            </a:r>
            <a:r>
              <a:rPr lang="it-IT" dirty="0" err="1"/>
              <a:t>activation</a:t>
            </a:r>
            <a:r>
              <a:rPr lang="it-IT" dirty="0"/>
              <a:t> </a:t>
            </a:r>
            <a:r>
              <a:rPr lang="it-IT" dirty="0" err="1"/>
              <a:t>will</a:t>
            </a:r>
            <a:r>
              <a:rPr lang="it-IT" dirty="0"/>
              <a:t> follow</a:t>
            </a:r>
            <a:endParaRPr lang="en-GB" dirty="0"/>
          </a:p>
        </p:txBody>
      </p:sp>
    </p:spTree>
    <p:extLst>
      <p:ext uri="{BB962C8B-B14F-4D97-AF65-F5344CB8AC3E}">
        <p14:creationId xmlns:p14="http://schemas.microsoft.com/office/powerpoint/2010/main" val="14672821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r>
              <a:rPr lang="en-US" sz="2600" b="1" dirty="0">
                <a:solidFill>
                  <a:srgbClr val="111827"/>
                </a:solidFill>
                <a:highlight>
                  <a:srgbClr val="FFFF00"/>
                </a:highlight>
                <a:latin typeface="Aptos Display" pitchFamily="34" charset="0"/>
                <a:ea typeface="Aptos Display" pitchFamily="34" charset="-122"/>
                <a:cs typeface="Aptos Display" pitchFamily="34" charset="-120"/>
              </a:rPr>
              <a:t>Convolution: a simple (one channel) numerical example</a:t>
            </a:r>
            <a:endParaRPr lang="en-US" sz="2600" dirty="0">
              <a:highlight>
                <a:srgbClr val="FFFF00"/>
              </a:highlight>
            </a:endParaRPr>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dirty="0">
                <a:solidFill>
                  <a:srgbClr val="475569"/>
                </a:solidFill>
              </a:rPr>
              <a:t>A hand-written kernel illustrates what a learned temporal filter does.</a:t>
            </a:r>
            <a:endParaRPr lang="en-US" sz="1150" dirty="0"/>
          </a:p>
        </p:txBody>
      </p:sp>
      <p:sp>
        <p:nvSpPr>
          <p:cNvPr id="6" name="Text 4"/>
          <p:cNvSpPr/>
          <p:nvPr/>
        </p:nvSpPr>
        <p:spPr>
          <a:xfrm>
            <a:off x="731520" y="1234440"/>
            <a:ext cx="3291840" cy="228600"/>
          </a:xfrm>
          <a:prstGeom prst="rect">
            <a:avLst/>
          </a:prstGeom>
          <a:noFill/>
          <a:ln/>
        </p:spPr>
        <p:txBody>
          <a:bodyPr wrap="square" lIns="0" tIns="0" rIns="0" bIns="0" rtlCol="0" anchor="ctr">
            <a:normAutofit/>
          </a:bodyPr>
          <a:lstStyle/>
          <a:p>
            <a:pPr marL="0" indent="0" algn="l">
              <a:buNone/>
            </a:pPr>
            <a:r>
              <a:rPr lang="en-US" sz="1400" b="1" dirty="0">
                <a:solidFill>
                  <a:srgbClr val="111827"/>
                </a:solidFill>
              </a:rPr>
              <a:t>sequence x = [2, 3, 5, 4, 1]</a:t>
            </a:r>
            <a:endParaRPr lang="en-US" sz="1400" dirty="0"/>
          </a:p>
        </p:txBody>
      </p:sp>
      <p:sp>
        <p:nvSpPr>
          <p:cNvPr id="7" name="Text 5"/>
          <p:cNvSpPr/>
          <p:nvPr/>
        </p:nvSpPr>
        <p:spPr>
          <a:xfrm>
            <a:off x="4572000" y="1234440"/>
            <a:ext cx="2468880" cy="228600"/>
          </a:xfrm>
          <a:prstGeom prst="rect">
            <a:avLst/>
          </a:prstGeom>
          <a:noFill/>
          <a:ln/>
        </p:spPr>
        <p:txBody>
          <a:bodyPr wrap="square" lIns="0" tIns="0" rIns="0" bIns="0" rtlCol="0" anchor="ctr">
            <a:normAutofit/>
          </a:bodyPr>
          <a:lstStyle/>
          <a:p>
            <a:pPr marL="0" indent="0" algn="l">
              <a:buNone/>
            </a:pPr>
            <a:r>
              <a:rPr lang="en-US" sz="1400" b="1" dirty="0">
                <a:solidFill>
                  <a:srgbClr val="111827"/>
                </a:solidFill>
              </a:rPr>
              <a:t>kernel w = [−1, 0, 1]</a:t>
            </a:r>
            <a:endParaRPr lang="en-US" sz="1400" dirty="0"/>
          </a:p>
        </p:txBody>
      </p:sp>
      <p:sp>
        <p:nvSpPr>
          <p:cNvPr id="8" name="Shape 6"/>
          <p:cNvSpPr/>
          <p:nvPr/>
        </p:nvSpPr>
        <p:spPr>
          <a:xfrm>
            <a:off x="914400" y="19659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9" name="Text 7"/>
          <p:cNvSpPr/>
          <p:nvPr/>
        </p:nvSpPr>
        <p:spPr>
          <a:xfrm>
            <a:off x="987552" y="20848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2</a:t>
            </a:r>
            <a:endParaRPr lang="en-US" sz="1200" dirty="0"/>
          </a:p>
        </p:txBody>
      </p:sp>
      <p:sp>
        <p:nvSpPr>
          <p:cNvPr id="10" name="Shape 8"/>
          <p:cNvSpPr/>
          <p:nvPr/>
        </p:nvSpPr>
        <p:spPr>
          <a:xfrm>
            <a:off x="1508760" y="19659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11" name="Text 9"/>
          <p:cNvSpPr/>
          <p:nvPr/>
        </p:nvSpPr>
        <p:spPr>
          <a:xfrm>
            <a:off x="1581912" y="20848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3</a:t>
            </a:r>
            <a:endParaRPr lang="en-US" sz="1200" dirty="0"/>
          </a:p>
        </p:txBody>
      </p:sp>
      <p:sp>
        <p:nvSpPr>
          <p:cNvPr id="12" name="Shape 10"/>
          <p:cNvSpPr/>
          <p:nvPr/>
        </p:nvSpPr>
        <p:spPr>
          <a:xfrm>
            <a:off x="2103120" y="19659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13" name="Text 11"/>
          <p:cNvSpPr/>
          <p:nvPr/>
        </p:nvSpPr>
        <p:spPr>
          <a:xfrm>
            <a:off x="2176272" y="20848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5</a:t>
            </a:r>
            <a:endParaRPr lang="en-US" sz="1200" dirty="0"/>
          </a:p>
        </p:txBody>
      </p:sp>
      <p:sp>
        <p:nvSpPr>
          <p:cNvPr id="14" name="Shape 12"/>
          <p:cNvSpPr/>
          <p:nvPr/>
        </p:nvSpPr>
        <p:spPr>
          <a:xfrm>
            <a:off x="2697480" y="19659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15" name="Text 13"/>
          <p:cNvSpPr/>
          <p:nvPr/>
        </p:nvSpPr>
        <p:spPr>
          <a:xfrm>
            <a:off x="2770632" y="20848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4</a:t>
            </a:r>
            <a:endParaRPr lang="en-US" sz="1200" dirty="0"/>
          </a:p>
        </p:txBody>
      </p:sp>
      <p:sp>
        <p:nvSpPr>
          <p:cNvPr id="16" name="Shape 14"/>
          <p:cNvSpPr/>
          <p:nvPr/>
        </p:nvSpPr>
        <p:spPr>
          <a:xfrm>
            <a:off x="3291840" y="19659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17" name="Text 15"/>
          <p:cNvSpPr/>
          <p:nvPr/>
        </p:nvSpPr>
        <p:spPr>
          <a:xfrm>
            <a:off x="3364992" y="20848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1</a:t>
            </a:r>
            <a:endParaRPr lang="en-US" sz="1200" dirty="0"/>
          </a:p>
        </p:txBody>
      </p:sp>
      <p:sp>
        <p:nvSpPr>
          <p:cNvPr id="18" name="Shape 16"/>
          <p:cNvSpPr/>
          <p:nvPr/>
        </p:nvSpPr>
        <p:spPr>
          <a:xfrm>
            <a:off x="868680" y="1874520"/>
            <a:ext cx="1691640" cy="640080"/>
          </a:xfrm>
          <a:prstGeom prst="roundRect">
            <a:avLst>
              <a:gd name="adj" fmla="val 4286"/>
            </a:avLst>
          </a:prstGeom>
          <a:solidFill>
            <a:srgbClr val="EAF6D6">
              <a:alpha val="50000"/>
            </a:srgbClr>
          </a:solidFill>
          <a:ln w="20320">
            <a:solidFill>
              <a:srgbClr val="84B927"/>
            </a:solidFill>
            <a:prstDash val="solid"/>
          </a:ln>
        </p:spPr>
        <p:txBody>
          <a:bodyPr/>
          <a:lstStyle/>
          <a:p>
            <a:endParaRPr lang="en-GB"/>
          </a:p>
        </p:txBody>
      </p:sp>
      <p:sp>
        <p:nvSpPr>
          <p:cNvPr id="19" name="Text 17"/>
          <p:cNvSpPr/>
          <p:nvPr/>
        </p:nvSpPr>
        <p:spPr>
          <a:xfrm>
            <a:off x="4297680" y="2084832"/>
            <a:ext cx="3931920" cy="228600"/>
          </a:xfrm>
          <a:prstGeom prst="rect">
            <a:avLst/>
          </a:prstGeom>
          <a:noFill/>
          <a:ln/>
        </p:spPr>
        <p:txBody>
          <a:bodyPr wrap="square" lIns="0" tIns="0" rIns="0" bIns="0" rtlCol="0" anchor="ctr">
            <a:normAutofit/>
          </a:bodyPr>
          <a:lstStyle/>
          <a:p>
            <a:pPr marL="0" indent="0" algn="l">
              <a:buNone/>
            </a:pPr>
            <a:r>
              <a:rPr lang="en-US" sz="1200" dirty="0">
                <a:solidFill>
                  <a:srgbClr val="475569"/>
                </a:solidFill>
              </a:rPr>
              <a:t>position 1: −1×2 + 0×3 + 1×5 = 3</a:t>
            </a:r>
            <a:endParaRPr lang="en-US" sz="1200" dirty="0"/>
          </a:p>
        </p:txBody>
      </p:sp>
      <p:sp>
        <p:nvSpPr>
          <p:cNvPr id="20" name="Shape 18"/>
          <p:cNvSpPr/>
          <p:nvPr/>
        </p:nvSpPr>
        <p:spPr>
          <a:xfrm>
            <a:off x="914400" y="28803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21" name="Text 19"/>
          <p:cNvSpPr/>
          <p:nvPr/>
        </p:nvSpPr>
        <p:spPr>
          <a:xfrm>
            <a:off x="987552" y="29992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2</a:t>
            </a:r>
            <a:endParaRPr lang="en-US" sz="1200" dirty="0"/>
          </a:p>
        </p:txBody>
      </p:sp>
      <p:sp>
        <p:nvSpPr>
          <p:cNvPr id="22" name="Shape 20"/>
          <p:cNvSpPr/>
          <p:nvPr/>
        </p:nvSpPr>
        <p:spPr>
          <a:xfrm>
            <a:off x="1508760" y="28803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23" name="Text 21"/>
          <p:cNvSpPr/>
          <p:nvPr/>
        </p:nvSpPr>
        <p:spPr>
          <a:xfrm>
            <a:off x="1581912" y="29992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3</a:t>
            </a:r>
            <a:endParaRPr lang="en-US" sz="1200" dirty="0"/>
          </a:p>
        </p:txBody>
      </p:sp>
      <p:sp>
        <p:nvSpPr>
          <p:cNvPr id="24" name="Shape 22"/>
          <p:cNvSpPr/>
          <p:nvPr/>
        </p:nvSpPr>
        <p:spPr>
          <a:xfrm>
            <a:off x="2103120" y="28803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25" name="Text 23"/>
          <p:cNvSpPr/>
          <p:nvPr/>
        </p:nvSpPr>
        <p:spPr>
          <a:xfrm>
            <a:off x="2176272" y="29992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5</a:t>
            </a:r>
            <a:endParaRPr lang="en-US" sz="1200" dirty="0"/>
          </a:p>
        </p:txBody>
      </p:sp>
      <p:sp>
        <p:nvSpPr>
          <p:cNvPr id="26" name="Shape 24"/>
          <p:cNvSpPr/>
          <p:nvPr/>
        </p:nvSpPr>
        <p:spPr>
          <a:xfrm>
            <a:off x="2697480" y="28803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27" name="Text 25"/>
          <p:cNvSpPr/>
          <p:nvPr/>
        </p:nvSpPr>
        <p:spPr>
          <a:xfrm>
            <a:off x="2770632" y="29992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4</a:t>
            </a:r>
            <a:endParaRPr lang="en-US" sz="1200" dirty="0"/>
          </a:p>
        </p:txBody>
      </p:sp>
      <p:sp>
        <p:nvSpPr>
          <p:cNvPr id="28" name="Shape 26"/>
          <p:cNvSpPr/>
          <p:nvPr/>
        </p:nvSpPr>
        <p:spPr>
          <a:xfrm>
            <a:off x="3291840" y="28803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29" name="Text 27"/>
          <p:cNvSpPr/>
          <p:nvPr/>
        </p:nvSpPr>
        <p:spPr>
          <a:xfrm>
            <a:off x="3364992" y="29992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1</a:t>
            </a:r>
            <a:endParaRPr lang="en-US" sz="1200" dirty="0"/>
          </a:p>
        </p:txBody>
      </p:sp>
      <p:sp>
        <p:nvSpPr>
          <p:cNvPr id="30" name="Shape 28"/>
          <p:cNvSpPr/>
          <p:nvPr/>
        </p:nvSpPr>
        <p:spPr>
          <a:xfrm>
            <a:off x="1463040" y="2788920"/>
            <a:ext cx="1691640" cy="640080"/>
          </a:xfrm>
          <a:prstGeom prst="roundRect">
            <a:avLst>
              <a:gd name="adj" fmla="val 4286"/>
            </a:avLst>
          </a:prstGeom>
          <a:solidFill>
            <a:srgbClr val="EAF6D6">
              <a:alpha val="50000"/>
            </a:srgbClr>
          </a:solidFill>
          <a:ln w="20320">
            <a:solidFill>
              <a:srgbClr val="84B927"/>
            </a:solidFill>
            <a:prstDash val="solid"/>
          </a:ln>
        </p:spPr>
        <p:txBody>
          <a:bodyPr/>
          <a:lstStyle/>
          <a:p>
            <a:endParaRPr lang="en-GB"/>
          </a:p>
        </p:txBody>
      </p:sp>
      <p:sp>
        <p:nvSpPr>
          <p:cNvPr id="31" name="Text 29"/>
          <p:cNvSpPr/>
          <p:nvPr/>
        </p:nvSpPr>
        <p:spPr>
          <a:xfrm>
            <a:off x="4297680" y="2999232"/>
            <a:ext cx="3931920" cy="228600"/>
          </a:xfrm>
          <a:prstGeom prst="rect">
            <a:avLst/>
          </a:prstGeom>
          <a:noFill/>
          <a:ln/>
        </p:spPr>
        <p:txBody>
          <a:bodyPr wrap="square" lIns="0" tIns="0" rIns="0" bIns="0" rtlCol="0" anchor="ctr">
            <a:normAutofit/>
          </a:bodyPr>
          <a:lstStyle/>
          <a:p>
            <a:pPr marL="0" indent="0" algn="l">
              <a:buNone/>
            </a:pPr>
            <a:r>
              <a:rPr lang="en-US" sz="1200" dirty="0">
                <a:solidFill>
                  <a:srgbClr val="475569"/>
                </a:solidFill>
              </a:rPr>
              <a:t>position 2: −1×3 + 0×5 + 1×4 = 1</a:t>
            </a:r>
            <a:endParaRPr lang="en-US" sz="1200" dirty="0"/>
          </a:p>
        </p:txBody>
      </p:sp>
      <p:sp>
        <p:nvSpPr>
          <p:cNvPr id="32" name="Shape 30"/>
          <p:cNvSpPr/>
          <p:nvPr/>
        </p:nvSpPr>
        <p:spPr>
          <a:xfrm>
            <a:off x="914400" y="37947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33" name="Text 31"/>
          <p:cNvSpPr/>
          <p:nvPr/>
        </p:nvSpPr>
        <p:spPr>
          <a:xfrm>
            <a:off x="987552" y="39136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2</a:t>
            </a:r>
            <a:endParaRPr lang="en-US" sz="1200" dirty="0"/>
          </a:p>
        </p:txBody>
      </p:sp>
      <p:sp>
        <p:nvSpPr>
          <p:cNvPr id="34" name="Shape 32"/>
          <p:cNvSpPr/>
          <p:nvPr/>
        </p:nvSpPr>
        <p:spPr>
          <a:xfrm>
            <a:off x="1508760" y="37947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35" name="Text 33"/>
          <p:cNvSpPr/>
          <p:nvPr/>
        </p:nvSpPr>
        <p:spPr>
          <a:xfrm>
            <a:off x="1581912" y="39136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3</a:t>
            </a:r>
            <a:endParaRPr lang="en-US" sz="1200" dirty="0"/>
          </a:p>
        </p:txBody>
      </p:sp>
      <p:sp>
        <p:nvSpPr>
          <p:cNvPr id="36" name="Shape 34"/>
          <p:cNvSpPr/>
          <p:nvPr/>
        </p:nvSpPr>
        <p:spPr>
          <a:xfrm>
            <a:off x="2103120" y="37947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37" name="Text 35"/>
          <p:cNvSpPr/>
          <p:nvPr/>
        </p:nvSpPr>
        <p:spPr>
          <a:xfrm>
            <a:off x="2176272" y="39136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5</a:t>
            </a:r>
            <a:endParaRPr lang="en-US" sz="1200" dirty="0"/>
          </a:p>
        </p:txBody>
      </p:sp>
      <p:sp>
        <p:nvSpPr>
          <p:cNvPr id="38" name="Shape 36"/>
          <p:cNvSpPr/>
          <p:nvPr/>
        </p:nvSpPr>
        <p:spPr>
          <a:xfrm>
            <a:off x="2697480" y="37947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39" name="Text 37"/>
          <p:cNvSpPr/>
          <p:nvPr/>
        </p:nvSpPr>
        <p:spPr>
          <a:xfrm>
            <a:off x="2770632" y="39136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4</a:t>
            </a:r>
            <a:endParaRPr lang="en-US" sz="1200" dirty="0"/>
          </a:p>
        </p:txBody>
      </p:sp>
      <p:sp>
        <p:nvSpPr>
          <p:cNvPr id="40" name="Shape 38"/>
          <p:cNvSpPr/>
          <p:nvPr/>
        </p:nvSpPr>
        <p:spPr>
          <a:xfrm>
            <a:off x="3291840" y="3794760"/>
            <a:ext cx="457200" cy="457200"/>
          </a:xfrm>
          <a:prstGeom prst="roundRect">
            <a:avLst>
              <a:gd name="adj" fmla="val 16000"/>
            </a:avLst>
          </a:prstGeom>
          <a:solidFill>
            <a:srgbClr val="F8FAFC"/>
          </a:solidFill>
          <a:ln w="12700">
            <a:solidFill>
              <a:srgbClr val="CBD5E1"/>
            </a:solidFill>
            <a:prstDash val="solid"/>
          </a:ln>
        </p:spPr>
        <p:txBody>
          <a:bodyPr/>
          <a:lstStyle/>
          <a:p>
            <a:endParaRPr lang="en-GB"/>
          </a:p>
        </p:txBody>
      </p:sp>
      <p:sp>
        <p:nvSpPr>
          <p:cNvPr id="41" name="Text 39"/>
          <p:cNvSpPr/>
          <p:nvPr/>
        </p:nvSpPr>
        <p:spPr>
          <a:xfrm>
            <a:off x="3364992" y="3913632"/>
            <a:ext cx="31089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1</a:t>
            </a:r>
            <a:endParaRPr lang="en-US" sz="1200" dirty="0"/>
          </a:p>
        </p:txBody>
      </p:sp>
      <p:sp>
        <p:nvSpPr>
          <p:cNvPr id="42" name="Shape 40"/>
          <p:cNvSpPr/>
          <p:nvPr/>
        </p:nvSpPr>
        <p:spPr>
          <a:xfrm>
            <a:off x="2057400" y="3703320"/>
            <a:ext cx="1691640" cy="640080"/>
          </a:xfrm>
          <a:prstGeom prst="roundRect">
            <a:avLst>
              <a:gd name="adj" fmla="val 4286"/>
            </a:avLst>
          </a:prstGeom>
          <a:solidFill>
            <a:srgbClr val="EAF6D6">
              <a:alpha val="50000"/>
            </a:srgbClr>
          </a:solidFill>
          <a:ln w="20320">
            <a:solidFill>
              <a:srgbClr val="84B927"/>
            </a:solidFill>
            <a:prstDash val="solid"/>
          </a:ln>
        </p:spPr>
        <p:txBody>
          <a:bodyPr/>
          <a:lstStyle/>
          <a:p>
            <a:endParaRPr lang="en-GB"/>
          </a:p>
        </p:txBody>
      </p:sp>
      <p:sp>
        <p:nvSpPr>
          <p:cNvPr id="43" name="Text 41"/>
          <p:cNvSpPr/>
          <p:nvPr/>
        </p:nvSpPr>
        <p:spPr>
          <a:xfrm>
            <a:off x="4297680" y="3913632"/>
            <a:ext cx="3931920" cy="228600"/>
          </a:xfrm>
          <a:prstGeom prst="rect">
            <a:avLst/>
          </a:prstGeom>
          <a:noFill/>
          <a:ln/>
        </p:spPr>
        <p:txBody>
          <a:bodyPr wrap="square" lIns="0" tIns="0" rIns="0" bIns="0" rtlCol="0" anchor="ctr">
            <a:normAutofit/>
          </a:bodyPr>
          <a:lstStyle/>
          <a:p>
            <a:pPr marL="0" indent="0" algn="l">
              <a:buNone/>
            </a:pPr>
            <a:r>
              <a:rPr lang="en-US" sz="1200" dirty="0">
                <a:solidFill>
                  <a:srgbClr val="475569"/>
                </a:solidFill>
              </a:rPr>
              <a:t>position 3: −1×5 + 0×4 + 1×1 = −4</a:t>
            </a:r>
            <a:endParaRPr lang="en-US" sz="1200" dirty="0"/>
          </a:p>
        </p:txBody>
      </p:sp>
      <p:sp>
        <p:nvSpPr>
          <p:cNvPr id="44" name="Shape 42"/>
          <p:cNvSpPr/>
          <p:nvPr/>
        </p:nvSpPr>
        <p:spPr>
          <a:xfrm>
            <a:off x="1874520" y="5074920"/>
            <a:ext cx="2331720" cy="594360"/>
          </a:xfrm>
          <a:prstGeom prst="roundRect">
            <a:avLst>
              <a:gd name="adj" fmla="val 12308"/>
            </a:avLst>
          </a:prstGeom>
          <a:solidFill>
            <a:srgbClr val="FFF7ED"/>
          </a:solidFill>
          <a:ln w="12700">
            <a:solidFill>
              <a:srgbClr val="F59E0B"/>
            </a:solidFill>
            <a:prstDash val="solid"/>
          </a:ln>
        </p:spPr>
        <p:txBody>
          <a:bodyPr/>
          <a:lstStyle/>
          <a:p>
            <a:endParaRPr lang="en-GB"/>
          </a:p>
        </p:txBody>
      </p:sp>
      <p:sp>
        <p:nvSpPr>
          <p:cNvPr id="45" name="Text 43"/>
          <p:cNvSpPr/>
          <p:nvPr/>
        </p:nvSpPr>
        <p:spPr>
          <a:xfrm>
            <a:off x="1947672" y="5262372"/>
            <a:ext cx="2185416" cy="228600"/>
          </a:xfrm>
          <a:prstGeom prst="rect">
            <a:avLst/>
          </a:prstGeom>
          <a:noFill/>
          <a:ln/>
        </p:spPr>
        <p:txBody>
          <a:bodyPr wrap="square" lIns="0" tIns="0" rIns="0" bIns="0" rtlCol="0" anchor="ctr">
            <a:normAutofit fontScale="62500" lnSpcReduction="20000"/>
          </a:bodyPr>
          <a:lstStyle/>
          <a:p>
            <a:pPr marL="0" indent="0" algn="ctr">
              <a:buNone/>
            </a:pPr>
            <a:r>
              <a:rPr lang="en-US" sz="1400" b="1" dirty="0">
                <a:solidFill>
                  <a:srgbClr val="111827"/>
                </a:solidFill>
              </a:rPr>
              <a:t>output feature map</a:t>
            </a:r>
            <a:endParaRPr lang="en-US" sz="1400" dirty="0"/>
          </a:p>
          <a:p>
            <a:pPr marL="0" indent="0" algn="ctr">
              <a:buNone/>
            </a:pPr>
            <a:r>
              <a:rPr lang="en-US" sz="1400" b="1" dirty="0">
                <a:solidFill>
                  <a:srgbClr val="111827"/>
                </a:solidFill>
              </a:rPr>
              <a:t>[3, 1, −4]</a:t>
            </a:r>
            <a:endParaRPr lang="en-US" sz="1400" dirty="0"/>
          </a:p>
        </p:txBody>
      </p:sp>
      <p:sp>
        <p:nvSpPr>
          <p:cNvPr id="46" name="Shape 44"/>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47" name="Text 45"/>
          <p:cNvSpPr/>
          <p:nvPr/>
        </p:nvSpPr>
        <p:spPr>
          <a:xfrm>
            <a:off x="621792" y="6336792"/>
            <a:ext cx="9555480" cy="164592"/>
          </a:xfrm>
          <a:prstGeom prst="rect">
            <a:avLst/>
          </a:prstGeom>
          <a:noFill/>
          <a:ln/>
        </p:spPr>
        <p:txBody>
          <a:bodyPr wrap="square" lIns="0" tIns="0" rIns="0" bIns="0" rtlCol="0" anchor="ctr"/>
          <a:lstStyle/>
          <a:p>
            <a:pPr marL="0" indent="0">
              <a:buNone/>
            </a:pPr>
            <a:r>
              <a:rPr lang="en-US" sz="1200" b="1" dirty="0">
                <a:solidFill>
                  <a:srgbClr val="111827"/>
                </a:solidFill>
              </a:rPr>
              <a:t>This kernel responds to local patterns; in a Conv1D layer, kernel values are learned from the prediction task.</a:t>
            </a:r>
            <a:endParaRPr lang="en-US" sz="1200" b="1"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F0C4C8B-AC29-B370-B1AC-144F06616EBD}"/>
              </a:ext>
            </a:extLst>
          </p:cNvPr>
          <p:cNvSpPr>
            <a:spLocks noGrp="1"/>
          </p:cNvSpPr>
          <p:nvPr>
            <p:ph type="title"/>
          </p:nvPr>
        </p:nvSpPr>
        <p:spPr/>
        <p:txBody>
          <a:bodyPr/>
          <a:lstStyle/>
          <a:p>
            <a:r>
              <a:rPr lang="en-GB" dirty="0">
                <a:highlight>
                  <a:srgbClr val="FFFF00"/>
                </a:highlight>
              </a:rPr>
              <a:t>Multiple filters learn different temporal patterns</a:t>
            </a:r>
          </a:p>
        </p:txBody>
      </p:sp>
      <p:sp>
        <p:nvSpPr>
          <p:cNvPr id="3" name="Segnaposto contenuto 2">
            <a:extLst>
              <a:ext uri="{FF2B5EF4-FFF2-40B4-BE49-F238E27FC236}">
                <a16:creationId xmlns:a16="http://schemas.microsoft.com/office/drawing/2014/main" id="{502BDD6A-A3FC-4425-BB50-E9DDAF9AD244}"/>
              </a:ext>
            </a:extLst>
          </p:cNvPr>
          <p:cNvSpPr>
            <a:spLocks noGrp="1"/>
          </p:cNvSpPr>
          <p:nvPr>
            <p:ph sz="half" idx="1"/>
          </p:nvPr>
        </p:nvSpPr>
        <p:spPr>
          <a:xfrm>
            <a:off x="677334" y="2160588"/>
            <a:ext cx="6275916" cy="4468811"/>
          </a:xfrm>
        </p:spPr>
        <p:txBody>
          <a:bodyPr>
            <a:normAutofit fontScale="92500" lnSpcReduction="20000"/>
          </a:bodyPr>
          <a:lstStyle/>
          <a:p>
            <a:r>
              <a:rPr lang="en-GB" dirty="0">
                <a:highlight>
                  <a:srgbClr val="FFFF00"/>
                </a:highlight>
              </a:rPr>
              <a:t>A Conv1D layer normally contains many filters.</a:t>
            </a:r>
          </a:p>
          <a:p>
            <a:r>
              <a:rPr lang="en-GB" dirty="0"/>
              <a:t>Suppose:</a:t>
            </a:r>
          </a:p>
          <a:p>
            <a:r>
              <a:rPr lang="en-GB" dirty="0"/>
              <a:t>F = 32</a:t>
            </a:r>
          </a:p>
          <a:p>
            <a:r>
              <a:rPr lang="en-GB" dirty="0"/>
              <a:t>The layer learns 32 different temporal detectors.</a:t>
            </a:r>
          </a:p>
          <a:p>
            <a:r>
              <a:rPr lang="en-GB" dirty="0"/>
              <a:t>Each filter produces its own feature map.</a:t>
            </a:r>
          </a:p>
          <a:p>
            <a:endParaRPr lang="en-GB" dirty="0"/>
          </a:p>
          <a:p>
            <a:r>
              <a:rPr lang="en-GB" dirty="0"/>
              <a:t>input sequence</a:t>
            </a:r>
          </a:p>
          <a:p>
            <a:r>
              <a:rPr lang="en-GB" dirty="0"/>
              <a:t>     ↓</a:t>
            </a:r>
          </a:p>
          <a:p>
            <a:r>
              <a:rPr lang="en-GB" dirty="0"/>
              <a:t> ┌───────── filter 1 → feature map 1</a:t>
            </a:r>
          </a:p>
          <a:p>
            <a:r>
              <a:rPr lang="en-GB" dirty="0"/>
              <a:t> ├───────── filter 2 → feature map 2</a:t>
            </a:r>
          </a:p>
          <a:p>
            <a:r>
              <a:rPr lang="en-GB" dirty="0"/>
              <a:t> ├───────── filter 3 → feature map 3</a:t>
            </a:r>
          </a:p>
          <a:p>
            <a:r>
              <a:rPr lang="en-GB" dirty="0"/>
              <a:t> │</a:t>
            </a:r>
          </a:p>
          <a:p>
            <a:r>
              <a:rPr lang="en-GB" dirty="0"/>
              <a:t> └───────── filter 32 → feature map 32</a:t>
            </a:r>
          </a:p>
          <a:p>
            <a:endParaRPr lang="en-GB" dirty="0"/>
          </a:p>
        </p:txBody>
      </p:sp>
      <p:sp>
        <p:nvSpPr>
          <p:cNvPr id="4" name="Segnaposto contenuto 3">
            <a:extLst>
              <a:ext uri="{FF2B5EF4-FFF2-40B4-BE49-F238E27FC236}">
                <a16:creationId xmlns:a16="http://schemas.microsoft.com/office/drawing/2014/main" id="{D2DCDEED-15E5-D749-5425-1291C0096142}"/>
              </a:ext>
            </a:extLst>
          </p:cNvPr>
          <p:cNvSpPr>
            <a:spLocks noGrp="1"/>
          </p:cNvSpPr>
          <p:nvPr>
            <p:ph sz="half" idx="2"/>
          </p:nvPr>
        </p:nvSpPr>
        <p:spPr>
          <a:xfrm>
            <a:off x="7181984" y="1609725"/>
            <a:ext cx="4590915" cy="5019675"/>
          </a:xfrm>
        </p:spPr>
        <p:txBody>
          <a:bodyPr>
            <a:normAutofit fontScale="92500" lnSpcReduction="20000"/>
          </a:bodyPr>
          <a:lstStyle/>
          <a:p>
            <a:r>
              <a:rPr lang="en-GB" b="1" dirty="0"/>
              <a:t>Different filters may become sensitive to different patterns</a:t>
            </a:r>
          </a:p>
          <a:p>
            <a:r>
              <a:rPr lang="en-GB" dirty="0">
                <a:highlight>
                  <a:srgbClr val="FFFF00"/>
                </a:highlight>
              </a:rPr>
              <a:t>For example:</a:t>
            </a:r>
          </a:p>
          <a:p>
            <a:pPr lvl="1"/>
            <a:r>
              <a:rPr lang="en-GB" dirty="0"/>
              <a:t>increasing trend; </a:t>
            </a:r>
          </a:p>
          <a:p>
            <a:pPr lvl="1"/>
            <a:r>
              <a:rPr lang="en-GB" dirty="0"/>
              <a:t>sudden drop; </a:t>
            </a:r>
          </a:p>
          <a:p>
            <a:pPr lvl="1"/>
            <a:r>
              <a:rPr lang="en-GB" dirty="0"/>
              <a:t>narrow peak; </a:t>
            </a:r>
          </a:p>
          <a:p>
            <a:pPr lvl="1"/>
            <a:r>
              <a:rPr lang="en-GB" dirty="0"/>
              <a:t>oscillatory burst; </a:t>
            </a:r>
          </a:p>
          <a:p>
            <a:pPr lvl="1"/>
            <a:r>
              <a:rPr lang="en-GB" dirty="0"/>
              <a:t>simultaneous changes across several channels. </a:t>
            </a:r>
          </a:p>
          <a:p>
            <a:endParaRPr lang="en-GB" b="1" dirty="0"/>
          </a:p>
          <a:p>
            <a:r>
              <a:rPr lang="en-GB" b="1" dirty="0"/>
              <a:t>Output channels</a:t>
            </a:r>
          </a:p>
          <a:p>
            <a:r>
              <a:rPr lang="en-GB" dirty="0"/>
              <a:t>The number of filters determines the number of output channels.</a:t>
            </a:r>
          </a:p>
          <a:p>
            <a:r>
              <a:rPr lang="en-GB" dirty="0"/>
              <a:t>If:</a:t>
            </a:r>
          </a:p>
          <a:p>
            <a:r>
              <a:rPr lang="en-GB" dirty="0"/>
              <a:t>F = 32</a:t>
            </a:r>
          </a:p>
          <a:p>
            <a:r>
              <a:rPr lang="en-GB" dirty="0"/>
              <a:t>then </a:t>
            </a:r>
            <a:r>
              <a:rPr lang="en-GB" dirty="0">
                <a:highlight>
                  <a:srgbClr val="FFFF00"/>
                </a:highlight>
              </a:rPr>
              <a:t>each temporal position is represented by 32 learned activations.</a:t>
            </a:r>
          </a:p>
          <a:p>
            <a:endParaRPr lang="en-GB" dirty="0"/>
          </a:p>
        </p:txBody>
      </p:sp>
    </p:spTree>
    <p:extLst>
      <p:ext uri="{BB962C8B-B14F-4D97-AF65-F5344CB8AC3E}">
        <p14:creationId xmlns:p14="http://schemas.microsoft.com/office/powerpoint/2010/main" val="5490601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Multiple filters learn different temporal patterns</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dirty="0">
                <a:solidFill>
                  <a:srgbClr val="475569"/>
                </a:solidFill>
              </a:rPr>
              <a:t>Each filter produces one output channel / feature map.</a:t>
            </a:r>
            <a:endParaRPr lang="en-US" sz="1150" dirty="0"/>
          </a:p>
        </p:txBody>
      </p:sp>
      <p:sp>
        <p:nvSpPr>
          <p:cNvPr id="6" name="Shape 4"/>
          <p:cNvSpPr/>
          <p:nvPr/>
        </p:nvSpPr>
        <p:spPr>
          <a:xfrm>
            <a:off x="868680" y="2788920"/>
            <a:ext cx="1188720" cy="685800"/>
          </a:xfrm>
          <a:prstGeom prst="roundRect">
            <a:avLst>
              <a:gd name="adj" fmla="val 10667"/>
            </a:avLst>
          </a:prstGeom>
          <a:solidFill>
            <a:srgbClr val="F8FAFC"/>
          </a:solidFill>
          <a:ln w="12700">
            <a:solidFill>
              <a:srgbClr val="CBD5E1"/>
            </a:solidFill>
            <a:prstDash val="solid"/>
          </a:ln>
        </p:spPr>
        <p:txBody>
          <a:bodyPr/>
          <a:lstStyle/>
          <a:p>
            <a:endParaRPr lang="en-GB"/>
          </a:p>
        </p:txBody>
      </p:sp>
      <p:sp>
        <p:nvSpPr>
          <p:cNvPr id="7" name="Text 5"/>
          <p:cNvSpPr/>
          <p:nvPr/>
        </p:nvSpPr>
        <p:spPr>
          <a:xfrm>
            <a:off x="941832" y="3022092"/>
            <a:ext cx="1042416" cy="228600"/>
          </a:xfrm>
          <a:prstGeom prst="rect">
            <a:avLst/>
          </a:prstGeom>
          <a:noFill/>
          <a:ln/>
        </p:spPr>
        <p:txBody>
          <a:bodyPr wrap="square" lIns="0" tIns="0" rIns="0" bIns="0" rtlCol="0" anchor="ctr">
            <a:normAutofit fontScale="70000" lnSpcReduction="20000"/>
          </a:bodyPr>
          <a:lstStyle/>
          <a:p>
            <a:pPr marL="0" indent="0" algn="ctr">
              <a:buNone/>
            </a:pPr>
            <a:r>
              <a:rPr lang="en-US" sz="1300" b="1" dirty="0">
                <a:solidFill>
                  <a:srgbClr val="111827"/>
                </a:solidFill>
              </a:rPr>
              <a:t>input</a:t>
            </a:r>
            <a:endParaRPr lang="en-US" sz="1300" dirty="0"/>
          </a:p>
          <a:p>
            <a:pPr marL="0" indent="0" algn="ctr">
              <a:buNone/>
            </a:pPr>
            <a:r>
              <a:rPr lang="en-US" sz="1300" b="1" dirty="0">
                <a:solidFill>
                  <a:srgbClr val="111827"/>
                </a:solidFill>
              </a:rPr>
              <a:t>sequence</a:t>
            </a:r>
            <a:endParaRPr lang="en-US" sz="1300" dirty="0"/>
          </a:p>
        </p:txBody>
      </p:sp>
      <p:sp>
        <p:nvSpPr>
          <p:cNvPr id="9" name="Shape 7"/>
          <p:cNvSpPr/>
          <p:nvPr/>
        </p:nvSpPr>
        <p:spPr>
          <a:xfrm>
            <a:off x="3246120" y="1371600"/>
            <a:ext cx="1325880" cy="676656"/>
          </a:xfrm>
          <a:prstGeom prst="roundRect">
            <a:avLst>
              <a:gd name="adj" fmla="val 10811"/>
            </a:avLst>
          </a:prstGeom>
          <a:solidFill>
            <a:srgbClr val="FFFFFF"/>
          </a:solidFill>
          <a:ln w="12700">
            <a:solidFill>
              <a:srgbClr val="84B927"/>
            </a:solidFill>
            <a:prstDash val="solid"/>
          </a:ln>
        </p:spPr>
        <p:txBody>
          <a:bodyPr/>
          <a:lstStyle/>
          <a:p>
            <a:endParaRPr lang="en-GB"/>
          </a:p>
        </p:txBody>
      </p:sp>
      <p:sp>
        <p:nvSpPr>
          <p:cNvPr id="10" name="Text 8"/>
          <p:cNvSpPr/>
          <p:nvPr/>
        </p:nvSpPr>
        <p:spPr>
          <a:xfrm>
            <a:off x="3319272" y="1600200"/>
            <a:ext cx="1179576" cy="228600"/>
          </a:xfrm>
          <a:prstGeom prst="rect">
            <a:avLst/>
          </a:prstGeom>
          <a:noFill/>
          <a:ln/>
        </p:spPr>
        <p:txBody>
          <a:bodyPr wrap="square" lIns="0" tIns="0" rIns="0" bIns="0" rtlCol="0" anchor="ctr">
            <a:normAutofit fontScale="92500" lnSpcReduction="20000"/>
          </a:bodyPr>
          <a:lstStyle/>
          <a:p>
            <a:pPr marL="0" indent="0" algn="ctr">
              <a:buNone/>
            </a:pPr>
            <a:r>
              <a:rPr lang="en-US" sz="1000" b="1" dirty="0">
                <a:solidFill>
                  <a:srgbClr val="111827"/>
                </a:solidFill>
              </a:rPr>
              <a:t>filter 1</a:t>
            </a:r>
            <a:endParaRPr lang="en-US" sz="1000" dirty="0"/>
          </a:p>
          <a:p>
            <a:pPr marL="0" indent="0" algn="ctr">
              <a:buNone/>
            </a:pPr>
            <a:r>
              <a:rPr lang="en-US" sz="1000" b="1" dirty="0">
                <a:solidFill>
                  <a:srgbClr val="111827"/>
                </a:solidFill>
              </a:rPr>
              <a:t>rising edge</a:t>
            </a:r>
            <a:endParaRPr lang="en-US" sz="1000" dirty="0"/>
          </a:p>
        </p:txBody>
      </p:sp>
      <p:sp>
        <p:nvSpPr>
          <p:cNvPr id="11" name="Shape 9"/>
          <p:cNvSpPr/>
          <p:nvPr/>
        </p:nvSpPr>
        <p:spPr>
          <a:xfrm>
            <a:off x="4617720" y="1709928"/>
            <a:ext cx="914400" cy="0"/>
          </a:xfrm>
          <a:prstGeom prst="line">
            <a:avLst/>
          </a:prstGeom>
          <a:noFill/>
          <a:ln w="16510">
            <a:solidFill>
              <a:srgbClr val="84B927"/>
            </a:solidFill>
            <a:prstDash val="solid"/>
            <a:tailEnd type="triangle"/>
          </a:ln>
        </p:spPr>
        <p:txBody>
          <a:bodyPr/>
          <a:lstStyle/>
          <a:p>
            <a:endParaRPr lang="en-GB"/>
          </a:p>
        </p:txBody>
      </p:sp>
      <p:sp>
        <p:nvSpPr>
          <p:cNvPr id="12" name="Shape 10"/>
          <p:cNvSpPr/>
          <p:nvPr/>
        </p:nvSpPr>
        <p:spPr>
          <a:xfrm>
            <a:off x="5623560" y="1371600"/>
            <a:ext cx="1234440" cy="676656"/>
          </a:xfrm>
          <a:prstGeom prst="roundRect">
            <a:avLst>
              <a:gd name="adj" fmla="val 10811"/>
            </a:avLst>
          </a:prstGeom>
          <a:solidFill>
            <a:srgbClr val="F8FAFC"/>
          </a:solidFill>
          <a:ln w="12700">
            <a:solidFill>
              <a:srgbClr val="84B927"/>
            </a:solidFill>
            <a:prstDash val="solid"/>
          </a:ln>
        </p:spPr>
        <p:txBody>
          <a:bodyPr/>
          <a:lstStyle/>
          <a:p>
            <a:endParaRPr lang="en-GB"/>
          </a:p>
        </p:txBody>
      </p:sp>
      <p:sp>
        <p:nvSpPr>
          <p:cNvPr id="13" name="Text 11"/>
          <p:cNvSpPr/>
          <p:nvPr/>
        </p:nvSpPr>
        <p:spPr>
          <a:xfrm>
            <a:off x="5696712" y="1600200"/>
            <a:ext cx="1088136" cy="228600"/>
          </a:xfrm>
          <a:prstGeom prst="rect">
            <a:avLst/>
          </a:prstGeom>
          <a:noFill/>
          <a:ln/>
        </p:spPr>
        <p:txBody>
          <a:bodyPr wrap="square" lIns="0" tIns="0" rIns="0" bIns="0" rtlCol="0" anchor="ctr">
            <a:normAutofit fontScale="92500" lnSpcReduction="20000"/>
          </a:bodyPr>
          <a:lstStyle/>
          <a:p>
            <a:pPr marL="0" indent="0" algn="ctr">
              <a:buNone/>
            </a:pPr>
            <a:r>
              <a:rPr lang="en-US" sz="1000" b="1" dirty="0">
                <a:solidFill>
                  <a:srgbClr val="111827"/>
                </a:solidFill>
              </a:rPr>
              <a:t>feature</a:t>
            </a:r>
            <a:endParaRPr lang="en-US" sz="1000" dirty="0"/>
          </a:p>
          <a:p>
            <a:pPr marL="0" indent="0" algn="ctr">
              <a:buNone/>
            </a:pPr>
            <a:r>
              <a:rPr lang="en-US" sz="1000" b="1" dirty="0">
                <a:solidFill>
                  <a:srgbClr val="111827"/>
                </a:solidFill>
              </a:rPr>
              <a:t>map 1</a:t>
            </a:r>
            <a:endParaRPr lang="en-US" sz="1000" dirty="0"/>
          </a:p>
        </p:txBody>
      </p:sp>
      <p:sp>
        <p:nvSpPr>
          <p:cNvPr id="14" name="Shape 12"/>
          <p:cNvSpPr/>
          <p:nvPr/>
        </p:nvSpPr>
        <p:spPr>
          <a:xfrm flipV="1">
            <a:off x="2103120" y="2606040"/>
            <a:ext cx="1069848" cy="521208"/>
          </a:xfrm>
          <a:prstGeom prst="line">
            <a:avLst/>
          </a:prstGeom>
          <a:noFill/>
          <a:ln w="15240">
            <a:solidFill>
              <a:srgbClr val="475569"/>
            </a:solidFill>
            <a:prstDash val="solid"/>
            <a:tailEnd type="triangle"/>
          </a:ln>
        </p:spPr>
        <p:txBody>
          <a:bodyPr/>
          <a:lstStyle/>
          <a:p>
            <a:endParaRPr lang="en-GB"/>
          </a:p>
        </p:txBody>
      </p:sp>
      <p:sp>
        <p:nvSpPr>
          <p:cNvPr id="15" name="Shape 13"/>
          <p:cNvSpPr/>
          <p:nvPr/>
        </p:nvSpPr>
        <p:spPr>
          <a:xfrm>
            <a:off x="3246120" y="2286000"/>
            <a:ext cx="1325880" cy="676656"/>
          </a:xfrm>
          <a:prstGeom prst="roundRect">
            <a:avLst>
              <a:gd name="adj" fmla="val 10811"/>
            </a:avLst>
          </a:prstGeom>
          <a:solidFill>
            <a:srgbClr val="FFFFFF"/>
          </a:solidFill>
          <a:ln w="12700">
            <a:solidFill>
              <a:srgbClr val="2563EB"/>
            </a:solidFill>
            <a:prstDash val="solid"/>
          </a:ln>
        </p:spPr>
        <p:txBody>
          <a:bodyPr/>
          <a:lstStyle/>
          <a:p>
            <a:endParaRPr lang="en-GB"/>
          </a:p>
        </p:txBody>
      </p:sp>
      <p:sp>
        <p:nvSpPr>
          <p:cNvPr id="16" name="Text 14"/>
          <p:cNvSpPr/>
          <p:nvPr/>
        </p:nvSpPr>
        <p:spPr>
          <a:xfrm>
            <a:off x="3319272" y="2514600"/>
            <a:ext cx="1179576" cy="228600"/>
          </a:xfrm>
          <a:prstGeom prst="rect">
            <a:avLst/>
          </a:prstGeom>
          <a:noFill/>
          <a:ln/>
        </p:spPr>
        <p:txBody>
          <a:bodyPr wrap="square" lIns="0" tIns="0" rIns="0" bIns="0" rtlCol="0" anchor="ctr">
            <a:normAutofit fontScale="92500" lnSpcReduction="20000"/>
          </a:bodyPr>
          <a:lstStyle/>
          <a:p>
            <a:pPr marL="0" indent="0" algn="ctr">
              <a:buNone/>
            </a:pPr>
            <a:r>
              <a:rPr lang="en-US" sz="1000" b="1" dirty="0">
                <a:solidFill>
                  <a:srgbClr val="111827"/>
                </a:solidFill>
              </a:rPr>
              <a:t>filter 2</a:t>
            </a:r>
            <a:endParaRPr lang="en-US" sz="1000" dirty="0"/>
          </a:p>
          <a:p>
            <a:pPr marL="0" indent="0" algn="ctr">
              <a:buNone/>
            </a:pPr>
            <a:r>
              <a:rPr lang="en-US" sz="1000" b="1" dirty="0">
                <a:solidFill>
                  <a:srgbClr val="111827"/>
                </a:solidFill>
              </a:rPr>
              <a:t>sharp drop</a:t>
            </a:r>
            <a:endParaRPr lang="en-US" sz="1000" dirty="0"/>
          </a:p>
        </p:txBody>
      </p:sp>
      <p:sp>
        <p:nvSpPr>
          <p:cNvPr id="17" name="Shape 15"/>
          <p:cNvSpPr/>
          <p:nvPr/>
        </p:nvSpPr>
        <p:spPr>
          <a:xfrm>
            <a:off x="4617720" y="2624328"/>
            <a:ext cx="914400" cy="0"/>
          </a:xfrm>
          <a:prstGeom prst="line">
            <a:avLst/>
          </a:prstGeom>
          <a:noFill/>
          <a:ln w="16510">
            <a:solidFill>
              <a:srgbClr val="2563EB"/>
            </a:solidFill>
            <a:prstDash val="solid"/>
            <a:tailEnd type="triangle"/>
          </a:ln>
        </p:spPr>
        <p:txBody>
          <a:bodyPr/>
          <a:lstStyle/>
          <a:p>
            <a:endParaRPr lang="en-GB"/>
          </a:p>
        </p:txBody>
      </p:sp>
      <p:sp>
        <p:nvSpPr>
          <p:cNvPr id="18" name="Shape 16"/>
          <p:cNvSpPr/>
          <p:nvPr/>
        </p:nvSpPr>
        <p:spPr>
          <a:xfrm>
            <a:off x="5623560" y="2286000"/>
            <a:ext cx="1234440" cy="676656"/>
          </a:xfrm>
          <a:prstGeom prst="roundRect">
            <a:avLst>
              <a:gd name="adj" fmla="val 10811"/>
            </a:avLst>
          </a:prstGeom>
          <a:solidFill>
            <a:srgbClr val="F8FAFC"/>
          </a:solidFill>
          <a:ln w="12700">
            <a:solidFill>
              <a:srgbClr val="2563EB"/>
            </a:solidFill>
            <a:prstDash val="solid"/>
          </a:ln>
        </p:spPr>
        <p:txBody>
          <a:bodyPr/>
          <a:lstStyle/>
          <a:p>
            <a:endParaRPr lang="en-GB"/>
          </a:p>
        </p:txBody>
      </p:sp>
      <p:sp>
        <p:nvSpPr>
          <p:cNvPr id="19" name="Text 17"/>
          <p:cNvSpPr/>
          <p:nvPr/>
        </p:nvSpPr>
        <p:spPr>
          <a:xfrm>
            <a:off x="5696712" y="2514600"/>
            <a:ext cx="1088136" cy="228600"/>
          </a:xfrm>
          <a:prstGeom prst="rect">
            <a:avLst/>
          </a:prstGeom>
          <a:noFill/>
          <a:ln/>
        </p:spPr>
        <p:txBody>
          <a:bodyPr wrap="square" lIns="0" tIns="0" rIns="0" bIns="0" rtlCol="0" anchor="ctr">
            <a:normAutofit fontScale="92500" lnSpcReduction="20000"/>
          </a:bodyPr>
          <a:lstStyle/>
          <a:p>
            <a:pPr marL="0" indent="0" algn="ctr">
              <a:buNone/>
            </a:pPr>
            <a:r>
              <a:rPr lang="en-US" sz="1000" b="1" dirty="0">
                <a:solidFill>
                  <a:srgbClr val="111827"/>
                </a:solidFill>
              </a:rPr>
              <a:t>feature</a:t>
            </a:r>
            <a:endParaRPr lang="en-US" sz="1000" dirty="0"/>
          </a:p>
          <a:p>
            <a:pPr marL="0" indent="0" algn="ctr">
              <a:buNone/>
            </a:pPr>
            <a:r>
              <a:rPr lang="en-US" sz="1000" b="1" dirty="0">
                <a:solidFill>
                  <a:srgbClr val="111827"/>
                </a:solidFill>
              </a:rPr>
              <a:t>map 2</a:t>
            </a:r>
            <a:endParaRPr lang="en-US" sz="1000" dirty="0"/>
          </a:p>
        </p:txBody>
      </p:sp>
      <p:sp>
        <p:nvSpPr>
          <p:cNvPr id="20" name="Shape 18"/>
          <p:cNvSpPr/>
          <p:nvPr/>
        </p:nvSpPr>
        <p:spPr>
          <a:xfrm>
            <a:off x="2103120" y="3127248"/>
            <a:ext cx="1097280" cy="411480"/>
          </a:xfrm>
          <a:prstGeom prst="line">
            <a:avLst/>
          </a:prstGeom>
          <a:noFill/>
          <a:ln w="15240">
            <a:solidFill>
              <a:srgbClr val="475569"/>
            </a:solidFill>
            <a:prstDash val="solid"/>
            <a:tailEnd type="triangle"/>
          </a:ln>
        </p:spPr>
        <p:txBody>
          <a:bodyPr/>
          <a:lstStyle/>
          <a:p>
            <a:endParaRPr lang="en-GB"/>
          </a:p>
        </p:txBody>
      </p:sp>
      <p:sp>
        <p:nvSpPr>
          <p:cNvPr id="21" name="Shape 19"/>
          <p:cNvSpPr/>
          <p:nvPr/>
        </p:nvSpPr>
        <p:spPr>
          <a:xfrm>
            <a:off x="3246120" y="3200400"/>
            <a:ext cx="1325880" cy="676656"/>
          </a:xfrm>
          <a:prstGeom prst="roundRect">
            <a:avLst>
              <a:gd name="adj" fmla="val 10811"/>
            </a:avLst>
          </a:prstGeom>
          <a:solidFill>
            <a:srgbClr val="FFFFFF"/>
          </a:solidFill>
          <a:ln w="12700">
            <a:solidFill>
              <a:srgbClr val="7C3AED"/>
            </a:solidFill>
            <a:prstDash val="solid"/>
          </a:ln>
        </p:spPr>
        <p:txBody>
          <a:bodyPr/>
          <a:lstStyle/>
          <a:p>
            <a:endParaRPr lang="en-GB"/>
          </a:p>
        </p:txBody>
      </p:sp>
      <p:sp>
        <p:nvSpPr>
          <p:cNvPr id="22" name="Text 20"/>
          <p:cNvSpPr/>
          <p:nvPr/>
        </p:nvSpPr>
        <p:spPr>
          <a:xfrm>
            <a:off x="3319272" y="3429000"/>
            <a:ext cx="1179576" cy="228600"/>
          </a:xfrm>
          <a:prstGeom prst="rect">
            <a:avLst/>
          </a:prstGeom>
          <a:noFill/>
          <a:ln/>
        </p:spPr>
        <p:txBody>
          <a:bodyPr wrap="square" lIns="0" tIns="0" rIns="0" bIns="0" rtlCol="0" anchor="ctr">
            <a:normAutofit fontScale="92500" lnSpcReduction="20000"/>
          </a:bodyPr>
          <a:lstStyle/>
          <a:p>
            <a:pPr marL="0" indent="0" algn="ctr">
              <a:buNone/>
            </a:pPr>
            <a:r>
              <a:rPr lang="en-US" sz="1000" b="1" dirty="0">
                <a:solidFill>
                  <a:srgbClr val="111827"/>
                </a:solidFill>
              </a:rPr>
              <a:t>filter 3</a:t>
            </a:r>
            <a:endParaRPr lang="en-US" sz="1000" dirty="0"/>
          </a:p>
          <a:p>
            <a:pPr marL="0" indent="0" algn="ctr">
              <a:buNone/>
            </a:pPr>
            <a:r>
              <a:rPr lang="en-US" sz="1000" b="1" dirty="0">
                <a:solidFill>
                  <a:srgbClr val="111827"/>
                </a:solidFill>
              </a:rPr>
              <a:t>oscillation</a:t>
            </a:r>
            <a:endParaRPr lang="en-US" sz="1000" dirty="0"/>
          </a:p>
        </p:txBody>
      </p:sp>
      <p:sp>
        <p:nvSpPr>
          <p:cNvPr id="23" name="Shape 21"/>
          <p:cNvSpPr/>
          <p:nvPr/>
        </p:nvSpPr>
        <p:spPr>
          <a:xfrm>
            <a:off x="4617720" y="3538728"/>
            <a:ext cx="914400" cy="0"/>
          </a:xfrm>
          <a:prstGeom prst="line">
            <a:avLst/>
          </a:prstGeom>
          <a:noFill/>
          <a:ln w="16510">
            <a:solidFill>
              <a:srgbClr val="7C3AED"/>
            </a:solidFill>
            <a:prstDash val="solid"/>
            <a:tailEnd type="triangle"/>
          </a:ln>
        </p:spPr>
        <p:txBody>
          <a:bodyPr/>
          <a:lstStyle/>
          <a:p>
            <a:endParaRPr lang="en-GB"/>
          </a:p>
        </p:txBody>
      </p:sp>
      <p:sp>
        <p:nvSpPr>
          <p:cNvPr id="24" name="Shape 22"/>
          <p:cNvSpPr/>
          <p:nvPr/>
        </p:nvSpPr>
        <p:spPr>
          <a:xfrm>
            <a:off x="5623560" y="3200400"/>
            <a:ext cx="1234440" cy="676656"/>
          </a:xfrm>
          <a:prstGeom prst="roundRect">
            <a:avLst>
              <a:gd name="adj" fmla="val 10811"/>
            </a:avLst>
          </a:prstGeom>
          <a:solidFill>
            <a:srgbClr val="F8FAFC"/>
          </a:solidFill>
          <a:ln w="12700">
            <a:solidFill>
              <a:srgbClr val="7C3AED"/>
            </a:solidFill>
            <a:prstDash val="solid"/>
          </a:ln>
        </p:spPr>
        <p:txBody>
          <a:bodyPr/>
          <a:lstStyle/>
          <a:p>
            <a:endParaRPr lang="en-GB"/>
          </a:p>
        </p:txBody>
      </p:sp>
      <p:sp>
        <p:nvSpPr>
          <p:cNvPr id="25" name="Text 23"/>
          <p:cNvSpPr/>
          <p:nvPr/>
        </p:nvSpPr>
        <p:spPr>
          <a:xfrm>
            <a:off x="5696712" y="3429000"/>
            <a:ext cx="1088136" cy="228600"/>
          </a:xfrm>
          <a:prstGeom prst="rect">
            <a:avLst/>
          </a:prstGeom>
          <a:noFill/>
          <a:ln/>
        </p:spPr>
        <p:txBody>
          <a:bodyPr wrap="square" lIns="0" tIns="0" rIns="0" bIns="0" rtlCol="0" anchor="ctr">
            <a:normAutofit fontScale="92500" lnSpcReduction="20000"/>
          </a:bodyPr>
          <a:lstStyle/>
          <a:p>
            <a:pPr marL="0" indent="0" algn="ctr">
              <a:buNone/>
            </a:pPr>
            <a:r>
              <a:rPr lang="en-US" sz="1000" b="1" dirty="0">
                <a:solidFill>
                  <a:srgbClr val="111827"/>
                </a:solidFill>
              </a:rPr>
              <a:t>feature</a:t>
            </a:r>
            <a:endParaRPr lang="en-US" sz="1000" dirty="0"/>
          </a:p>
          <a:p>
            <a:pPr marL="0" indent="0" algn="ctr">
              <a:buNone/>
            </a:pPr>
            <a:r>
              <a:rPr lang="en-US" sz="1000" b="1" dirty="0">
                <a:solidFill>
                  <a:srgbClr val="111827"/>
                </a:solidFill>
              </a:rPr>
              <a:t>map 3</a:t>
            </a:r>
            <a:endParaRPr lang="en-US" sz="1000" dirty="0"/>
          </a:p>
        </p:txBody>
      </p:sp>
      <p:sp>
        <p:nvSpPr>
          <p:cNvPr id="26" name="Shape 24"/>
          <p:cNvSpPr/>
          <p:nvPr/>
        </p:nvSpPr>
        <p:spPr>
          <a:xfrm>
            <a:off x="2103120" y="3127248"/>
            <a:ext cx="1097280" cy="1325880"/>
          </a:xfrm>
          <a:prstGeom prst="line">
            <a:avLst/>
          </a:prstGeom>
          <a:noFill/>
          <a:ln w="15240">
            <a:solidFill>
              <a:srgbClr val="475569"/>
            </a:solidFill>
            <a:prstDash val="solid"/>
            <a:tailEnd type="triangle"/>
          </a:ln>
        </p:spPr>
        <p:txBody>
          <a:bodyPr/>
          <a:lstStyle/>
          <a:p>
            <a:endParaRPr lang="en-GB"/>
          </a:p>
        </p:txBody>
      </p:sp>
      <p:sp>
        <p:nvSpPr>
          <p:cNvPr id="27" name="Shape 25"/>
          <p:cNvSpPr/>
          <p:nvPr/>
        </p:nvSpPr>
        <p:spPr>
          <a:xfrm>
            <a:off x="3246120" y="4114800"/>
            <a:ext cx="1325880" cy="676656"/>
          </a:xfrm>
          <a:prstGeom prst="roundRect">
            <a:avLst>
              <a:gd name="adj" fmla="val 10811"/>
            </a:avLst>
          </a:prstGeom>
          <a:solidFill>
            <a:srgbClr val="FFFFFF"/>
          </a:solidFill>
          <a:ln w="12700">
            <a:solidFill>
              <a:srgbClr val="F59E0B"/>
            </a:solidFill>
            <a:prstDash val="solid"/>
          </a:ln>
        </p:spPr>
        <p:txBody>
          <a:bodyPr/>
          <a:lstStyle/>
          <a:p>
            <a:endParaRPr lang="en-GB"/>
          </a:p>
        </p:txBody>
      </p:sp>
      <p:sp>
        <p:nvSpPr>
          <p:cNvPr id="28" name="Text 26"/>
          <p:cNvSpPr/>
          <p:nvPr/>
        </p:nvSpPr>
        <p:spPr>
          <a:xfrm>
            <a:off x="3319272" y="4343400"/>
            <a:ext cx="1179576" cy="228600"/>
          </a:xfrm>
          <a:prstGeom prst="rect">
            <a:avLst/>
          </a:prstGeom>
          <a:noFill/>
          <a:ln/>
        </p:spPr>
        <p:txBody>
          <a:bodyPr wrap="square" lIns="0" tIns="0" rIns="0" bIns="0" rtlCol="0" anchor="ctr">
            <a:normAutofit fontScale="92500" lnSpcReduction="20000"/>
          </a:bodyPr>
          <a:lstStyle/>
          <a:p>
            <a:pPr marL="0" indent="0" algn="ctr">
              <a:buNone/>
            </a:pPr>
            <a:r>
              <a:rPr lang="en-US" sz="1000" b="1" dirty="0">
                <a:solidFill>
                  <a:srgbClr val="111827"/>
                </a:solidFill>
              </a:rPr>
              <a:t>filter F</a:t>
            </a:r>
            <a:endParaRPr lang="en-US" sz="1000" dirty="0"/>
          </a:p>
          <a:p>
            <a:pPr marL="0" indent="0" algn="ctr">
              <a:buNone/>
            </a:pPr>
            <a:r>
              <a:rPr lang="en-US" sz="1000" b="1" dirty="0">
                <a:solidFill>
                  <a:srgbClr val="111827"/>
                </a:solidFill>
              </a:rPr>
              <a:t>transition</a:t>
            </a:r>
            <a:endParaRPr lang="en-US" sz="1000" dirty="0"/>
          </a:p>
        </p:txBody>
      </p:sp>
      <p:sp>
        <p:nvSpPr>
          <p:cNvPr id="29" name="Shape 27"/>
          <p:cNvSpPr/>
          <p:nvPr/>
        </p:nvSpPr>
        <p:spPr>
          <a:xfrm>
            <a:off x="4617720" y="4453128"/>
            <a:ext cx="914400" cy="0"/>
          </a:xfrm>
          <a:prstGeom prst="line">
            <a:avLst/>
          </a:prstGeom>
          <a:noFill/>
          <a:ln w="16510">
            <a:solidFill>
              <a:srgbClr val="F59E0B"/>
            </a:solidFill>
            <a:prstDash val="solid"/>
            <a:tailEnd type="triangle"/>
          </a:ln>
        </p:spPr>
        <p:txBody>
          <a:bodyPr/>
          <a:lstStyle/>
          <a:p>
            <a:endParaRPr lang="en-GB"/>
          </a:p>
        </p:txBody>
      </p:sp>
      <p:sp>
        <p:nvSpPr>
          <p:cNvPr id="30" name="Shape 28"/>
          <p:cNvSpPr/>
          <p:nvPr/>
        </p:nvSpPr>
        <p:spPr>
          <a:xfrm>
            <a:off x="5623560" y="4114800"/>
            <a:ext cx="1234440" cy="676656"/>
          </a:xfrm>
          <a:prstGeom prst="roundRect">
            <a:avLst>
              <a:gd name="adj" fmla="val 10811"/>
            </a:avLst>
          </a:prstGeom>
          <a:solidFill>
            <a:srgbClr val="F8FAFC"/>
          </a:solidFill>
          <a:ln w="12700">
            <a:solidFill>
              <a:srgbClr val="F59E0B"/>
            </a:solidFill>
            <a:prstDash val="solid"/>
          </a:ln>
        </p:spPr>
        <p:txBody>
          <a:bodyPr/>
          <a:lstStyle/>
          <a:p>
            <a:endParaRPr lang="en-GB"/>
          </a:p>
        </p:txBody>
      </p:sp>
      <p:sp>
        <p:nvSpPr>
          <p:cNvPr id="31" name="Text 29"/>
          <p:cNvSpPr/>
          <p:nvPr/>
        </p:nvSpPr>
        <p:spPr>
          <a:xfrm>
            <a:off x="5696712" y="4343400"/>
            <a:ext cx="1088136" cy="228600"/>
          </a:xfrm>
          <a:prstGeom prst="rect">
            <a:avLst/>
          </a:prstGeom>
          <a:noFill/>
          <a:ln/>
        </p:spPr>
        <p:txBody>
          <a:bodyPr wrap="square" lIns="0" tIns="0" rIns="0" bIns="0" rtlCol="0" anchor="ctr">
            <a:normAutofit fontScale="92500" lnSpcReduction="20000"/>
          </a:bodyPr>
          <a:lstStyle/>
          <a:p>
            <a:pPr marL="0" indent="0" algn="ctr">
              <a:buNone/>
            </a:pPr>
            <a:r>
              <a:rPr lang="en-US" sz="1000" b="1" dirty="0">
                <a:solidFill>
                  <a:srgbClr val="111827"/>
                </a:solidFill>
              </a:rPr>
              <a:t>feature</a:t>
            </a:r>
            <a:endParaRPr lang="en-US" sz="1000" dirty="0"/>
          </a:p>
          <a:p>
            <a:pPr marL="0" indent="0" algn="ctr">
              <a:buNone/>
            </a:pPr>
            <a:r>
              <a:rPr lang="en-US" sz="1000" b="1" dirty="0">
                <a:solidFill>
                  <a:srgbClr val="111827"/>
                </a:solidFill>
              </a:rPr>
              <a:t>map F</a:t>
            </a:r>
            <a:endParaRPr lang="en-US" sz="1000" dirty="0"/>
          </a:p>
        </p:txBody>
      </p:sp>
      <p:sp>
        <p:nvSpPr>
          <p:cNvPr id="32" name="Text 30"/>
          <p:cNvSpPr/>
          <p:nvPr/>
        </p:nvSpPr>
        <p:spPr>
          <a:xfrm>
            <a:off x="5120640" y="5349240"/>
            <a:ext cx="2377440" cy="274320"/>
          </a:xfrm>
          <a:prstGeom prst="rect">
            <a:avLst/>
          </a:prstGeom>
          <a:noFill/>
          <a:ln/>
        </p:spPr>
        <p:txBody>
          <a:bodyPr wrap="square" lIns="0" tIns="0" rIns="0" bIns="0" rtlCol="0" anchor="ctr">
            <a:normAutofit fontScale="92500"/>
          </a:bodyPr>
          <a:lstStyle/>
          <a:p>
            <a:pPr marL="0" indent="0" algn="ctr">
              <a:buNone/>
            </a:pPr>
            <a:r>
              <a:rPr lang="en-US" sz="1400" b="1" dirty="0">
                <a:solidFill>
                  <a:srgbClr val="111827"/>
                </a:solidFill>
              </a:rPr>
              <a:t>F filters → F output channels</a:t>
            </a:r>
            <a:endParaRPr lang="en-US" sz="1400" dirty="0"/>
          </a:p>
        </p:txBody>
      </p:sp>
      <p:sp>
        <p:nvSpPr>
          <p:cNvPr id="33" name="Shape 31"/>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34" name="Text 32"/>
          <p:cNvSpPr/>
          <p:nvPr/>
        </p:nvSpPr>
        <p:spPr>
          <a:xfrm>
            <a:off x="621792" y="6336792"/>
            <a:ext cx="9555480" cy="164592"/>
          </a:xfrm>
          <a:prstGeom prst="rect">
            <a:avLst/>
          </a:prstGeom>
          <a:noFill/>
          <a:ln/>
        </p:spPr>
        <p:txBody>
          <a:bodyPr wrap="square" lIns="0" tIns="0" rIns="0" bIns="0" rtlCol="0" anchor="ctr"/>
          <a:lstStyle/>
          <a:p>
            <a:pPr marL="0" indent="0">
              <a:buNone/>
            </a:pPr>
            <a:r>
              <a:rPr lang="en-US" sz="1200" b="1" dirty="0">
                <a:solidFill>
                  <a:srgbClr val="111827"/>
                </a:solidFill>
              </a:rPr>
              <a:t>The number of filters controls the number of learned temporal feature maps produced by the layer.</a:t>
            </a:r>
            <a:endParaRPr lang="en-US" sz="1200" b="1" dirty="0"/>
          </a:p>
        </p:txBody>
      </p:sp>
      <p:sp>
        <p:nvSpPr>
          <p:cNvPr id="36" name="Shape 12">
            <a:extLst>
              <a:ext uri="{FF2B5EF4-FFF2-40B4-BE49-F238E27FC236}">
                <a16:creationId xmlns:a16="http://schemas.microsoft.com/office/drawing/2014/main" id="{AD70B016-B408-CD91-FF72-3345F561FBF5}"/>
              </a:ext>
            </a:extLst>
          </p:cNvPr>
          <p:cNvSpPr/>
          <p:nvPr/>
        </p:nvSpPr>
        <p:spPr>
          <a:xfrm flipV="1">
            <a:off x="2121408" y="1612772"/>
            <a:ext cx="1078992" cy="1514469"/>
          </a:xfrm>
          <a:prstGeom prst="line">
            <a:avLst/>
          </a:prstGeom>
          <a:noFill/>
          <a:ln w="15240">
            <a:solidFill>
              <a:srgbClr val="475569"/>
            </a:solidFill>
            <a:prstDash val="solid"/>
            <a:tailEnd type="triangle"/>
          </a:ln>
        </p:spPr>
        <p:txBody>
          <a:bodyPr/>
          <a:lstStyle/>
          <a:p>
            <a:endParaRPr lang="en-GB"/>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0C7EB8-57C9-6D85-13E0-3781E69DF5F2}"/>
              </a:ext>
            </a:extLst>
          </p:cNvPr>
          <p:cNvSpPr>
            <a:spLocks noGrp="1"/>
          </p:cNvSpPr>
          <p:nvPr>
            <p:ph type="title"/>
          </p:nvPr>
        </p:nvSpPr>
        <p:spPr/>
        <p:txBody>
          <a:bodyPr/>
          <a:lstStyle/>
          <a:p>
            <a:r>
              <a:rPr lang="en-GB" dirty="0"/>
              <a:t>Conv1D output shape</a:t>
            </a:r>
          </a:p>
        </p:txBody>
      </p:sp>
      <p:sp>
        <p:nvSpPr>
          <p:cNvPr id="3" name="Segnaposto contenuto 2">
            <a:extLst>
              <a:ext uri="{FF2B5EF4-FFF2-40B4-BE49-F238E27FC236}">
                <a16:creationId xmlns:a16="http://schemas.microsoft.com/office/drawing/2014/main" id="{CB157CE6-1BD1-0877-B2CE-478D5E591E9C}"/>
              </a:ext>
            </a:extLst>
          </p:cNvPr>
          <p:cNvSpPr>
            <a:spLocks noGrp="1"/>
          </p:cNvSpPr>
          <p:nvPr>
            <p:ph sz="half" idx="1"/>
          </p:nvPr>
        </p:nvSpPr>
        <p:spPr/>
        <p:txBody>
          <a:bodyPr>
            <a:normAutofit fontScale="92500" lnSpcReduction="10000"/>
          </a:bodyPr>
          <a:lstStyle/>
          <a:p>
            <a:r>
              <a:rPr lang="en-GB" dirty="0">
                <a:highlight>
                  <a:srgbClr val="FFFF00"/>
                </a:highlight>
              </a:rPr>
              <a:t>Input batch:</a:t>
            </a:r>
          </a:p>
          <a:p>
            <a:r>
              <a:rPr lang="en-GB" dirty="0">
                <a:highlight>
                  <a:srgbClr val="FFFF00"/>
                </a:highlight>
              </a:rPr>
              <a:t>[N, L, d]</a:t>
            </a:r>
          </a:p>
          <a:p>
            <a:r>
              <a:rPr lang="en-GB" dirty="0">
                <a:highlight>
                  <a:srgbClr val="FFFF00"/>
                </a:highlight>
              </a:rPr>
              <a:t>Suppose</a:t>
            </a:r>
            <a:r>
              <a:rPr lang="en-GB" dirty="0"/>
              <a:t> the Conv1D layer uses:</a:t>
            </a:r>
          </a:p>
          <a:p>
            <a:pPr lvl="1"/>
            <a:r>
              <a:rPr lang="en-GB" dirty="0"/>
              <a:t>F filters; </a:t>
            </a:r>
          </a:p>
          <a:p>
            <a:pPr lvl="1"/>
            <a:r>
              <a:rPr lang="en-GB" dirty="0"/>
              <a:t>kernel size K; </a:t>
            </a:r>
          </a:p>
          <a:p>
            <a:pPr lvl="1"/>
            <a:r>
              <a:rPr lang="en-GB" dirty="0"/>
              <a:t>stride 1; </a:t>
            </a:r>
          </a:p>
          <a:p>
            <a:pPr lvl="1"/>
            <a:r>
              <a:rPr lang="en-GB" dirty="0"/>
              <a:t>no padding (valid padding). </a:t>
            </a:r>
          </a:p>
          <a:p>
            <a:r>
              <a:rPr lang="en-GB" dirty="0">
                <a:highlight>
                  <a:srgbClr val="FFFF00"/>
                </a:highlight>
              </a:rPr>
              <a:t>The output shape is:</a:t>
            </a:r>
          </a:p>
          <a:p>
            <a:pPr lvl="1"/>
            <a:r>
              <a:rPr lang="en-GB" dirty="0">
                <a:highlight>
                  <a:srgbClr val="FFFF00"/>
                </a:highlight>
              </a:rPr>
              <a:t>[N, </a:t>
            </a:r>
            <a:r>
              <a:rPr lang="en-GB" dirty="0" err="1">
                <a:highlight>
                  <a:srgbClr val="FFFF00"/>
                </a:highlight>
              </a:rPr>
              <a:t>L_out</a:t>
            </a:r>
            <a:r>
              <a:rPr lang="en-GB" dirty="0">
                <a:highlight>
                  <a:srgbClr val="FFFF00"/>
                </a:highlight>
              </a:rPr>
              <a:t>, F]</a:t>
            </a:r>
          </a:p>
          <a:p>
            <a:r>
              <a:rPr lang="en-GB" dirty="0"/>
              <a:t>where:</a:t>
            </a:r>
          </a:p>
          <a:p>
            <a:pPr lvl="1"/>
            <a:r>
              <a:rPr lang="en-GB" dirty="0" err="1"/>
              <a:t>L_out</a:t>
            </a:r>
            <a:r>
              <a:rPr lang="en-GB" dirty="0"/>
              <a:t> = L − K + 1</a:t>
            </a:r>
          </a:p>
          <a:p>
            <a:endParaRPr lang="en-GB" dirty="0"/>
          </a:p>
        </p:txBody>
      </p:sp>
      <p:sp>
        <p:nvSpPr>
          <p:cNvPr id="4" name="Segnaposto contenuto 3">
            <a:extLst>
              <a:ext uri="{FF2B5EF4-FFF2-40B4-BE49-F238E27FC236}">
                <a16:creationId xmlns:a16="http://schemas.microsoft.com/office/drawing/2014/main" id="{EEA402CE-610D-3360-88D0-C884A13A6D10}"/>
              </a:ext>
            </a:extLst>
          </p:cNvPr>
          <p:cNvSpPr>
            <a:spLocks noGrp="1"/>
          </p:cNvSpPr>
          <p:nvPr>
            <p:ph sz="half" idx="2"/>
          </p:nvPr>
        </p:nvSpPr>
        <p:spPr/>
        <p:txBody>
          <a:bodyPr>
            <a:normAutofit fontScale="92500" lnSpcReduction="10000"/>
          </a:bodyPr>
          <a:lstStyle/>
          <a:p>
            <a:r>
              <a:rPr lang="en-GB" b="1" dirty="0">
                <a:highlight>
                  <a:srgbClr val="FFFF00"/>
                </a:highlight>
              </a:rPr>
              <a:t>Example</a:t>
            </a:r>
          </a:p>
          <a:p>
            <a:r>
              <a:rPr lang="en-GB" dirty="0"/>
              <a:t>Input:</a:t>
            </a:r>
          </a:p>
          <a:p>
            <a:pPr lvl="1"/>
            <a:r>
              <a:rPr lang="en-GB" dirty="0"/>
              <a:t>[64, 200, 4]</a:t>
            </a:r>
          </a:p>
          <a:p>
            <a:r>
              <a:rPr lang="en-GB" dirty="0"/>
              <a:t>Kernel size:</a:t>
            </a:r>
          </a:p>
          <a:p>
            <a:pPr lvl="1"/>
            <a:r>
              <a:rPr lang="en-GB" dirty="0"/>
              <a:t>K = 5</a:t>
            </a:r>
          </a:p>
          <a:p>
            <a:r>
              <a:rPr lang="en-GB" dirty="0"/>
              <a:t>Number of filters:</a:t>
            </a:r>
          </a:p>
          <a:p>
            <a:pPr lvl="1"/>
            <a:r>
              <a:rPr lang="en-GB" dirty="0"/>
              <a:t>F = 32</a:t>
            </a:r>
          </a:p>
          <a:p>
            <a:r>
              <a:rPr lang="en-GB" dirty="0"/>
              <a:t>Then:</a:t>
            </a:r>
          </a:p>
          <a:p>
            <a:pPr lvl="1"/>
            <a:r>
              <a:rPr lang="en-GB" dirty="0" err="1"/>
              <a:t>L_out</a:t>
            </a:r>
            <a:r>
              <a:rPr lang="en-GB" dirty="0"/>
              <a:t> = 200 − 5 + 1 = 196</a:t>
            </a:r>
          </a:p>
          <a:p>
            <a:r>
              <a:rPr lang="en-GB" dirty="0"/>
              <a:t>Output:</a:t>
            </a:r>
          </a:p>
          <a:p>
            <a:pPr lvl="1"/>
            <a:r>
              <a:rPr lang="en-GB" dirty="0"/>
              <a:t>[64, 196, 32]</a:t>
            </a:r>
          </a:p>
          <a:p>
            <a:endParaRPr lang="en-GB" dirty="0"/>
          </a:p>
        </p:txBody>
      </p:sp>
    </p:spTree>
    <p:extLst>
      <p:ext uri="{BB962C8B-B14F-4D97-AF65-F5344CB8AC3E}">
        <p14:creationId xmlns:p14="http://schemas.microsoft.com/office/powerpoint/2010/main" val="22644356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849B7B4-8EE9-2E2C-9F85-EF6ADF70076E}"/>
              </a:ext>
            </a:extLst>
          </p:cNvPr>
          <p:cNvSpPr>
            <a:spLocks noGrp="1"/>
          </p:cNvSpPr>
          <p:nvPr>
            <p:ph type="title"/>
          </p:nvPr>
        </p:nvSpPr>
        <p:spPr/>
        <p:txBody>
          <a:bodyPr/>
          <a:lstStyle/>
          <a:p>
            <a:r>
              <a:rPr lang="en-GB" dirty="0"/>
              <a:t>Conv1D output shape</a:t>
            </a:r>
          </a:p>
        </p:txBody>
      </p:sp>
      <p:sp>
        <p:nvSpPr>
          <p:cNvPr id="3" name="Segnaposto contenuto 2">
            <a:extLst>
              <a:ext uri="{FF2B5EF4-FFF2-40B4-BE49-F238E27FC236}">
                <a16:creationId xmlns:a16="http://schemas.microsoft.com/office/drawing/2014/main" id="{3F2D8481-5231-CDCF-3514-644C4C65A12D}"/>
              </a:ext>
            </a:extLst>
          </p:cNvPr>
          <p:cNvSpPr>
            <a:spLocks noGrp="1"/>
          </p:cNvSpPr>
          <p:nvPr>
            <p:ph idx="1"/>
          </p:nvPr>
        </p:nvSpPr>
        <p:spPr/>
        <p:txBody>
          <a:bodyPr>
            <a:normAutofit/>
          </a:bodyPr>
          <a:lstStyle/>
          <a:p>
            <a:r>
              <a:rPr lang="en-GB" b="1" dirty="0"/>
              <a:t>Interpretation</a:t>
            </a:r>
          </a:p>
          <a:p>
            <a:r>
              <a:rPr lang="en-GB" dirty="0"/>
              <a:t>For every sample:</a:t>
            </a:r>
          </a:p>
          <a:p>
            <a:pPr lvl="0"/>
            <a:r>
              <a:rPr lang="en-GB" dirty="0"/>
              <a:t>the temporal length becomes 196; </a:t>
            </a:r>
          </a:p>
          <a:p>
            <a:pPr lvl="0"/>
            <a:r>
              <a:rPr lang="en-GB" dirty="0"/>
              <a:t>every temporal position is represented by 32 learned features. </a:t>
            </a:r>
          </a:p>
          <a:p>
            <a:endParaRPr lang="en-GB" dirty="0"/>
          </a:p>
          <a:p>
            <a:r>
              <a:rPr lang="en-GB" dirty="0"/>
              <a:t>N.B.</a:t>
            </a:r>
          </a:p>
          <a:p>
            <a:r>
              <a:rPr lang="en-GB" dirty="0"/>
              <a:t>Input channels: d = 4</a:t>
            </a:r>
          </a:p>
          <a:p>
            <a:r>
              <a:rPr lang="en-GB" dirty="0"/>
              <a:t>Output channels: F = 32</a:t>
            </a:r>
          </a:p>
          <a:p>
            <a:r>
              <a:rPr lang="en-GB" b="1" dirty="0"/>
              <a:t>The convolution transforms the original variables into learned temporal feature maps.</a:t>
            </a:r>
          </a:p>
          <a:p>
            <a:endParaRPr lang="en-GB" dirty="0"/>
          </a:p>
        </p:txBody>
      </p:sp>
    </p:spTree>
    <p:extLst>
      <p:ext uri="{BB962C8B-B14F-4D97-AF65-F5344CB8AC3E}">
        <p14:creationId xmlns:p14="http://schemas.microsoft.com/office/powerpoint/2010/main" val="19462926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Conv1D output shape with valid padding</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b="1" dirty="0">
                <a:solidFill>
                  <a:srgbClr val="475569"/>
                </a:solidFill>
              </a:rPr>
              <a:t>Temporal length changes when no boundary padding is used.</a:t>
            </a:r>
            <a:endParaRPr lang="en-US" sz="1150" b="1" dirty="0"/>
          </a:p>
        </p:txBody>
      </p:sp>
      <p:sp>
        <p:nvSpPr>
          <p:cNvPr id="6" name="Shape 4"/>
          <p:cNvSpPr/>
          <p:nvPr/>
        </p:nvSpPr>
        <p:spPr>
          <a:xfrm>
            <a:off x="822960" y="1828800"/>
            <a:ext cx="1645920" cy="777240"/>
          </a:xfrm>
          <a:prstGeom prst="roundRect">
            <a:avLst>
              <a:gd name="adj" fmla="val 9412"/>
            </a:avLst>
          </a:prstGeom>
          <a:solidFill>
            <a:srgbClr val="EEF2FF"/>
          </a:solidFill>
          <a:ln w="12700">
            <a:solidFill>
              <a:srgbClr val="2563EB"/>
            </a:solidFill>
            <a:prstDash val="solid"/>
          </a:ln>
        </p:spPr>
        <p:txBody>
          <a:bodyPr/>
          <a:lstStyle/>
          <a:p>
            <a:endParaRPr lang="en-GB"/>
          </a:p>
        </p:txBody>
      </p:sp>
      <p:sp>
        <p:nvSpPr>
          <p:cNvPr id="7" name="Text 5"/>
          <p:cNvSpPr/>
          <p:nvPr/>
        </p:nvSpPr>
        <p:spPr>
          <a:xfrm>
            <a:off x="896112" y="2107692"/>
            <a:ext cx="1499616" cy="228600"/>
          </a:xfrm>
          <a:prstGeom prst="rect">
            <a:avLst/>
          </a:prstGeom>
          <a:noFill/>
          <a:ln/>
        </p:spPr>
        <p:txBody>
          <a:bodyPr wrap="square" lIns="0" tIns="0" rIns="0" bIns="0" rtlCol="0" anchor="ctr">
            <a:normAutofit fontScale="62500" lnSpcReduction="20000"/>
          </a:bodyPr>
          <a:lstStyle/>
          <a:p>
            <a:pPr marL="0" indent="0" algn="ctr">
              <a:buNone/>
            </a:pPr>
            <a:r>
              <a:rPr lang="en-US" sz="1500" b="1" dirty="0">
                <a:solidFill>
                  <a:srgbClr val="111827"/>
                </a:solidFill>
              </a:rPr>
              <a:t>Input</a:t>
            </a:r>
            <a:endParaRPr lang="en-US" sz="1500" dirty="0"/>
          </a:p>
          <a:p>
            <a:pPr marL="0" indent="0" algn="ctr">
              <a:buNone/>
            </a:pPr>
            <a:r>
              <a:rPr lang="en-US" sz="1500" b="1" dirty="0">
                <a:solidFill>
                  <a:srgbClr val="111827"/>
                </a:solidFill>
              </a:rPr>
              <a:t>[N, L, d]</a:t>
            </a:r>
            <a:endParaRPr lang="en-US" sz="1500" dirty="0"/>
          </a:p>
        </p:txBody>
      </p:sp>
      <p:sp>
        <p:nvSpPr>
          <p:cNvPr id="8" name="Shape 6"/>
          <p:cNvSpPr/>
          <p:nvPr/>
        </p:nvSpPr>
        <p:spPr>
          <a:xfrm>
            <a:off x="2651760" y="2212848"/>
            <a:ext cx="1005840" cy="0"/>
          </a:xfrm>
          <a:prstGeom prst="line">
            <a:avLst/>
          </a:prstGeom>
          <a:noFill/>
          <a:ln w="20320">
            <a:solidFill>
              <a:srgbClr val="475569"/>
            </a:solidFill>
            <a:prstDash val="solid"/>
            <a:tailEnd type="triangle"/>
          </a:ln>
        </p:spPr>
        <p:txBody>
          <a:bodyPr/>
          <a:lstStyle/>
          <a:p>
            <a:endParaRPr lang="en-GB"/>
          </a:p>
        </p:txBody>
      </p:sp>
      <p:sp>
        <p:nvSpPr>
          <p:cNvPr id="9" name="Shape 7"/>
          <p:cNvSpPr/>
          <p:nvPr/>
        </p:nvSpPr>
        <p:spPr>
          <a:xfrm>
            <a:off x="3749040" y="1691640"/>
            <a:ext cx="1645920" cy="1051560"/>
          </a:xfrm>
          <a:prstGeom prst="roundRect">
            <a:avLst>
              <a:gd name="adj" fmla="val 6957"/>
            </a:avLst>
          </a:prstGeom>
          <a:solidFill>
            <a:srgbClr val="ECFDF5"/>
          </a:solidFill>
          <a:ln w="12700">
            <a:solidFill>
              <a:srgbClr val="84B927"/>
            </a:solidFill>
            <a:prstDash val="solid"/>
          </a:ln>
        </p:spPr>
        <p:txBody>
          <a:bodyPr/>
          <a:lstStyle/>
          <a:p>
            <a:endParaRPr lang="en-GB"/>
          </a:p>
        </p:txBody>
      </p:sp>
      <p:sp>
        <p:nvSpPr>
          <p:cNvPr id="10" name="Text 8"/>
          <p:cNvSpPr/>
          <p:nvPr/>
        </p:nvSpPr>
        <p:spPr>
          <a:xfrm>
            <a:off x="3822192" y="2107692"/>
            <a:ext cx="1499616" cy="228600"/>
          </a:xfrm>
          <a:prstGeom prst="rect">
            <a:avLst/>
          </a:prstGeom>
          <a:noFill/>
          <a:ln/>
        </p:spPr>
        <p:txBody>
          <a:bodyPr wrap="square" lIns="0" tIns="0" rIns="0" bIns="0" rtlCol="0" anchor="ctr">
            <a:normAutofit fontScale="62500" lnSpcReduction="20000"/>
          </a:bodyPr>
          <a:lstStyle/>
          <a:p>
            <a:pPr marL="0" indent="0" algn="ctr">
              <a:buNone/>
            </a:pPr>
            <a:r>
              <a:rPr lang="en-US" sz="1500" b="1" dirty="0">
                <a:solidFill>
                  <a:srgbClr val="4F7F2B"/>
                </a:solidFill>
              </a:rPr>
              <a:t>Conv1D</a:t>
            </a:r>
            <a:endParaRPr lang="en-US" sz="1500" dirty="0"/>
          </a:p>
          <a:p>
            <a:pPr marL="0" indent="0" algn="ctr">
              <a:buNone/>
            </a:pPr>
            <a:r>
              <a:rPr lang="en-US" sz="1500" b="1" dirty="0">
                <a:solidFill>
                  <a:srgbClr val="4F7F2B"/>
                </a:solidFill>
              </a:rPr>
              <a:t>K, F</a:t>
            </a:r>
            <a:endParaRPr lang="en-US" sz="1500" dirty="0"/>
          </a:p>
        </p:txBody>
      </p:sp>
      <p:sp>
        <p:nvSpPr>
          <p:cNvPr id="11" name="Shape 9"/>
          <p:cNvSpPr/>
          <p:nvPr/>
        </p:nvSpPr>
        <p:spPr>
          <a:xfrm>
            <a:off x="5532120" y="2212848"/>
            <a:ext cx="1005840" cy="0"/>
          </a:xfrm>
          <a:prstGeom prst="line">
            <a:avLst/>
          </a:prstGeom>
          <a:noFill/>
          <a:ln w="20320">
            <a:solidFill>
              <a:srgbClr val="475569"/>
            </a:solidFill>
            <a:prstDash val="solid"/>
            <a:tailEnd type="triangle"/>
          </a:ln>
        </p:spPr>
        <p:txBody>
          <a:bodyPr/>
          <a:lstStyle/>
          <a:p>
            <a:endParaRPr lang="en-GB"/>
          </a:p>
        </p:txBody>
      </p:sp>
      <p:sp>
        <p:nvSpPr>
          <p:cNvPr id="12" name="Shape 10"/>
          <p:cNvSpPr/>
          <p:nvPr/>
        </p:nvSpPr>
        <p:spPr>
          <a:xfrm>
            <a:off x="6629400" y="1828800"/>
            <a:ext cx="1874520" cy="777240"/>
          </a:xfrm>
          <a:prstGeom prst="roundRect">
            <a:avLst>
              <a:gd name="adj" fmla="val 9412"/>
            </a:avLst>
          </a:prstGeom>
          <a:solidFill>
            <a:srgbClr val="FFF7ED"/>
          </a:solidFill>
          <a:ln w="12700">
            <a:solidFill>
              <a:srgbClr val="F59E0B"/>
            </a:solidFill>
            <a:prstDash val="solid"/>
          </a:ln>
        </p:spPr>
        <p:txBody>
          <a:bodyPr/>
          <a:lstStyle/>
          <a:p>
            <a:endParaRPr lang="en-GB"/>
          </a:p>
        </p:txBody>
      </p:sp>
      <p:sp>
        <p:nvSpPr>
          <p:cNvPr id="13" name="Text 11"/>
          <p:cNvSpPr/>
          <p:nvPr/>
        </p:nvSpPr>
        <p:spPr>
          <a:xfrm>
            <a:off x="6702552" y="2107692"/>
            <a:ext cx="1728216" cy="228600"/>
          </a:xfrm>
          <a:prstGeom prst="rect">
            <a:avLst/>
          </a:prstGeom>
          <a:noFill/>
          <a:ln/>
        </p:spPr>
        <p:txBody>
          <a:bodyPr wrap="square" lIns="0" tIns="0" rIns="0" bIns="0" rtlCol="0" anchor="ctr">
            <a:normAutofit fontScale="62500" lnSpcReduction="20000"/>
          </a:bodyPr>
          <a:lstStyle/>
          <a:p>
            <a:pPr marL="0" indent="0" algn="ctr">
              <a:buNone/>
            </a:pPr>
            <a:r>
              <a:rPr lang="en-US" sz="1500" b="1" dirty="0">
                <a:solidFill>
                  <a:srgbClr val="111827"/>
                </a:solidFill>
              </a:rPr>
              <a:t>Output</a:t>
            </a:r>
            <a:endParaRPr lang="en-US" sz="1500" dirty="0"/>
          </a:p>
          <a:p>
            <a:pPr marL="0" indent="0" algn="ctr">
              <a:buNone/>
            </a:pPr>
            <a:r>
              <a:rPr lang="en-US" sz="1500" b="1" dirty="0">
                <a:solidFill>
                  <a:srgbClr val="111827"/>
                </a:solidFill>
              </a:rPr>
              <a:t>[N, L_out, F]</a:t>
            </a:r>
            <a:endParaRPr lang="en-US" sz="1500" dirty="0"/>
          </a:p>
        </p:txBody>
      </p:sp>
      <p:sp>
        <p:nvSpPr>
          <p:cNvPr id="14" name="Text 12"/>
          <p:cNvSpPr/>
          <p:nvPr/>
        </p:nvSpPr>
        <p:spPr>
          <a:xfrm>
            <a:off x="1639455" y="3243587"/>
            <a:ext cx="1959033" cy="548633"/>
          </a:xfrm>
          <a:prstGeom prst="rect">
            <a:avLst/>
          </a:prstGeom>
          <a:noFill/>
          <a:ln/>
        </p:spPr>
        <p:txBody>
          <a:bodyPr wrap="square" lIns="0" tIns="0" rIns="0" bIns="0" rtlCol="0" anchor="ctr">
            <a:normAutofit/>
          </a:bodyPr>
          <a:lstStyle/>
          <a:p>
            <a:pPr marL="0" indent="0" algn="l">
              <a:buNone/>
            </a:pPr>
            <a:r>
              <a:rPr lang="en-US" sz="1400" b="1" dirty="0">
                <a:solidFill>
                  <a:srgbClr val="111827"/>
                </a:solidFill>
              </a:rPr>
              <a:t>For stride = 1 and no (i.e., valid) padding:</a:t>
            </a:r>
            <a:endParaRPr lang="en-US" sz="1400" dirty="0"/>
          </a:p>
        </p:txBody>
      </p:sp>
      <p:sp>
        <p:nvSpPr>
          <p:cNvPr id="15" name="Shape 13"/>
          <p:cNvSpPr/>
          <p:nvPr/>
        </p:nvSpPr>
        <p:spPr>
          <a:xfrm>
            <a:off x="3840480" y="3291840"/>
            <a:ext cx="2057400" cy="457200"/>
          </a:xfrm>
          <a:prstGeom prst="roundRect">
            <a:avLst>
              <a:gd name="adj" fmla="val 16000"/>
            </a:avLst>
          </a:prstGeom>
          <a:solidFill>
            <a:srgbClr val="FFFFFF"/>
          </a:solidFill>
          <a:ln w="12700">
            <a:solidFill>
              <a:srgbClr val="111827"/>
            </a:solidFill>
            <a:prstDash val="solid"/>
          </a:ln>
        </p:spPr>
        <p:txBody>
          <a:bodyPr/>
          <a:lstStyle/>
          <a:p>
            <a:endParaRPr lang="en-GB"/>
          </a:p>
        </p:txBody>
      </p:sp>
      <p:sp>
        <p:nvSpPr>
          <p:cNvPr id="16" name="Text 14"/>
          <p:cNvSpPr/>
          <p:nvPr/>
        </p:nvSpPr>
        <p:spPr>
          <a:xfrm>
            <a:off x="3913632" y="3410712"/>
            <a:ext cx="1911096" cy="228600"/>
          </a:xfrm>
          <a:prstGeom prst="rect">
            <a:avLst/>
          </a:prstGeom>
          <a:noFill/>
          <a:ln/>
        </p:spPr>
        <p:txBody>
          <a:bodyPr wrap="square" lIns="0" tIns="0" rIns="0" bIns="0" rtlCol="0" anchor="ctr">
            <a:normAutofit/>
          </a:bodyPr>
          <a:lstStyle/>
          <a:p>
            <a:pPr marL="0" indent="0" algn="ctr">
              <a:buNone/>
            </a:pPr>
            <a:r>
              <a:rPr lang="en-US" sz="1500" b="1" dirty="0">
                <a:solidFill>
                  <a:srgbClr val="111827"/>
                </a:solidFill>
              </a:rPr>
              <a:t>L_out = L − K + 1</a:t>
            </a:r>
            <a:endParaRPr lang="en-US" sz="1500" dirty="0"/>
          </a:p>
        </p:txBody>
      </p:sp>
      <p:sp>
        <p:nvSpPr>
          <p:cNvPr id="17" name="Text 15"/>
          <p:cNvSpPr/>
          <p:nvPr/>
        </p:nvSpPr>
        <p:spPr>
          <a:xfrm>
            <a:off x="1005840" y="4251960"/>
            <a:ext cx="4480560" cy="228600"/>
          </a:xfrm>
          <a:prstGeom prst="rect">
            <a:avLst/>
          </a:prstGeom>
          <a:noFill/>
          <a:ln/>
        </p:spPr>
        <p:txBody>
          <a:bodyPr wrap="square" lIns="0" tIns="0" rIns="0" bIns="0" rtlCol="0" anchor="ctr">
            <a:normAutofit/>
          </a:bodyPr>
          <a:lstStyle/>
          <a:p>
            <a:pPr marL="0" indent="0" algn="l">
              <a:buNone/>
            </a:pPr>
            <a:r>
              <a:rPr lang="en-US" sz="1200" dirty="0">
                <a:solidFill>
                  <a:srgbClr val="475569"/>
                </a:solidFill>
              </a:rPr>
              <a:t>Example: [64, 200, 4], K = 5, F = 32</a:t>
            </a:r>
            <a:endParaRPr lang="en-US" sz="1200" dirty="0"/>
          </a:p>
        </p:txBody>
      </p:sp>
      <p:sp>
        <p:nvSpPr>
          <p:cNvPr id="18" name="Shape 16"/>
          <p:cNvSpPr/>
          <p:nvPr/>
        </p:nvSpPr>
        <p:spPr>
          <a:xfrm>
            <a:off x="5486400" y="3977640"/>
            <a:ext cx="2926080" cy="777240"/>
          </a:xfrm>
          <a:prstGeom prst="roundRect">
            <a:avLst>
              <a:gd name="adj" fmla="val 9412"/>
            </a:avLst>
          </a:prstGeom>
          <a:solidFill>
            <a:srgbClr val="F8FAFC"/>
          </a:solidFill>
          <a:ln w="12700">
            <a:solidFill>
              <a:srgbClr val="CBD5E1"/>
            </a:solidFill>
            <a:prstDash val="solid"/>
          </a:ln>
        </p:spPr>
        <p:txBody>
          <a:bodyPr/>
          <a:lstStyle/>
          <a:p>
            <a:endParaRPr lang="en-GB"/>
          </a:p>
        </p:txBody>
      </p:sp>
      <p:sp>
        <p:nvSpPr>
          <p:cNvPr id="19" name="Text 17"/>
          <p:cNvSpPr/>
          <p:nvPr/>
        </p:nvSpPr>
        <p:spPr>
          <a:xfrm>
            <a:off x="5559552" y="4256532"/>
            <a:ext cx="2779776" cy="228600"/>
          </a:xfrm>
          <a:prstGeom prst="rect">
            <a:avLst/>
          </a:prstGeom>
          <a:noFill/>
          <a:ln/>
        </p:spPr>
        <p:txBody>
          <a:bodyPr wrap="square" lIns="0" tIns="0" rIns="0" bIns="0" rtlCol="0" anchor="ctr">
            <a:normAutofit fontScale="70000" lnSpcReduction="20000"/>
          </a:bodyPr>
          <a:lstStyle/>
          <a:p>
            <a:pPr marL="0" indent="0" algn="ctr">
              <a:buNone/>
            </a:pPr>
            <a:r>
              <a:rPr lang="en-US" sz="1300" b="1" dirty="0">
                <a:solidFill>
                  <a:srgbClr val="111827"/>
                </a:solidFill>
              </a:rPr>
              <a:t>L_out = 200 − 5 + 1 = 196</a:t>
            </a:r>
            <a:endParaRPr lang="en-US" sz="1300" dirty="0"/>
          </a:p>
          <a:p>
            <a:pPr marL="0" indent="0" algn="ctr">
              <a:buNone/>
            </a:pPr>
            <a:r>
              <a:rPr lang="en-US" sz="1300" b="1" dirty="0">
                <a:solidFill>
                  <a:srgbClr val="111827"/>
                </a:solidFill>
              </a:rPr>
              <a:t>Output = [64, 196, 32]</a:t>
            </a:r>
            <a:endParaRPr lang="en-US" sz="1300" dirty="0"/>
          </a:p>
        </p:txBody>
      </p:sp>
      <p:sp>
        <p:nvSpPr>
          <p:cNvPr id="20" name="Shape 18"/>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21" name="Text 19"/>
          <p:cNvSpPr/>
          <p:nvPr/>
        </p:nvSpPr>
        <p:spPr>
          <a:xfrm>
            <a:off x="621792" y="6336792"/>
            <a:ext cx="9555480" cy="164592"/>
          </a:xfrm>
          <a:prstGeom prst="rect">
            <a:avLst/>
          </a:prstGeom>
          <a:noFill/>
          <a:ln/>
        </p:spPr>
        <p:txBody>
          <a:bodyPr wrap="square" lIns="0" tIns="0" rIns="0" bIns="0" rtlCol="0" anchor="ctr"/>
          <a:lstStyle/>
          <a:p>
            <a:pPr marL="0" indent="0">
              <a:buNone/>
            </a:pPr>
            <a:r>
              <a:rPr lang="en-US" sz="1400" b="1" dirty="0">
                <a:solidFill>
                  <a:srgbClr val="111827"/>
                </a:solidFill>
              </a:rPr>
              <a:t>The convolution transforms original variables d into learned output channels F.</a:t>
            </a:r>
            <a:endParaRPr lang="en-US" sz="14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D007C3C-1E68-B3C8-5A37-F558293CC72E}"/>
              </a:ext>
            </a:extLst>
          </p:cNvPr>
          <p:cNvSpPr>
            <a:spLocks noGrp="1"/>
          </p:cNvSpPr>
          <p:nvPr>
            <p:ph type="title"/>
          </p:nvPr>
        </p:nvSpPr>
        <p:spPr/>
        <p:txBody>
          <a:bodyPr/>
          <a:lstStyle/>
          <a:p>
            <a:r>
              <a:rPr lang="en-GB" dirty="0">
                <a:highlight>
                  <a:srgbClr val="FFFF00"/>
                </a:highlight>
              </a:rPr>
              <a:t>Kernel size determines local temporal context</a:t>
            </a:r>
          </a:p>
        </p:txBody>
      </p:sp>
      <p:sp>
        <p:nvSpPr>
          <p:cNvPr id="3" name="Segnaposto contenuto 2">
            <a:extLst>
              <a:ext uri="{FF2B5EF4-FFF2-40B4-BE49-F238E27FC236}">
                <a16:creationId xmlns:a16="http://schemas.microsoft.com/office/drawing/2014/main" id="{4A02E282-B0A1-7F83-B108-18D3C94F10BC}"/>
              </a:ext>
            </a:extLst>
          </p:cNvPr>
          <p:cNvSpPr>
            <a:spLocks noGrp="1"/>
          </p:cNvSpPr>
          <p:nvPr>
            <p:ph idx="1"/>
          </p:nvPr>
        </p:nvSpPr>
        <p:spPr/>
        <p:txBody>
          <a:bodyPr>
            <a:normAutofit fontScale="92500" lnSpcReduction="10000"/>
          </a:bodyPr>
          <a:lstStyle/>
          <a:p>
            <a:r>
              <a:rPr lang="en-GB" dirty="0"/>
              <a:t>The kernel size K specifies how many </a:t>
            </a:r>
            <a:r>
              <a:rPr lang="en-GB" dirty="0" err="1"/>
              <a:t>neighboring</a:t>
            </a:r>
            <a:r>
              <a:rPr lang="en-GB" dirty="0"/>
              <a:t> time steps contribute directly to one first-layer activation.</a:t>
            </a:r>
          </a:p>
          <a:p>
            <a:r>
              <a:rPr lang="en-GB" b="1" dirty="0"/>
              <a:t>Example</a:t>
            </a:r>
          </a:p>
          <a:p>
            <a:r>
              <a:rPr lang="en-GB" dirty="0"/>
              <a:t>K = 3 Each activation depends on three time steps.</a:t>
            </a:r>
          </a:p>
          <a:p>
            <a:r>
              <a:rPr lang="en-GB" dirty="0"/>
              <a:t>K = 20 Each activation depends on twenty time steps.</a:t>
            </a:r>
          </a:p>
          <a:p>
            <a:r>
              <a:rPr lang="en-GB" b="1" dirty="0">
                <a:highlight>
                  <a:srgbClr val="FFFF00"/>
                </a:highlight>
              </a:rPr>
              <a:t>Physical interpretation</a:t>
            </a:r>
          </a:p>
          <a:p>
            <a:r>
              <a:rPr lang="en-GB" dirty="0"/>
              <a:t>Suppose sampling frequency is Fs = 100 Hz</a:t>
            </a:r>
          </a:p>
          <a:p>
            <a:r>
              <a:rPr lang="en-GB" dirty="0"/>
              <a:t>Then:</a:t>
            </a:r>
          </a:p>
          <a:p>
            <a:r>
              <a:rPr lang="en-GB" dirty="0"/>
              <a:t>K = 5 covers approximately 5 / 100 = 0.05 s</a:t>
            </a:r>
          </a:p>
          <a:p>
            <a:r>
              <a:rPr lang="en-GB" dirty="0"/>
              <a:t>while:</a:t>
            </a:r>
          </a:p>
          <a:p>
            <a:r>
              <a:rPr lang="en-GB" dirty="0"/>
              <a:t>K = 100 covers 1 s</a:t>
            </a:r>
          </a:p>
          <a:p>
            <a:endParaRPr lang="en-GB" dirty="0"/>
          </a:p>
        </p:txBody>
      </p:sp>
    </p:spTree>
    <p:extLst>
      <p:ext uri="{BB962C8B-B14F-4D97-AF65-F5344CB8AC3E}">
        <p14:creationId xmlns:p14="http://schemas.microsoft.com/office/powerpoint/2010/main" val="22233824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69106-AE56-2066-B59C-BA0B3D5410B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EE2D762-8AED-9FB8-169D-D33E4C2686B0}"/>
              </a:ext>
            </a:extLst>
          </p:cNvPr>
          <p:cNvSpPr>
            <a:spLocks noGrp="1"/>
          </p:cNvSpPr>
          <p:nvPr>
            <p:ph type="title"/>
          </p:nvPr>
        </p:nvSpPr>
        <p:spPr/>
        <p:txBody>
          <a:bodyPr/>
          <a:lstStyle/>
          <a:p>
            <a:r>
              <a:rPr lang="en-GB" dirty="0"/>
              <a:t>Kernel size determines local temporal context</a:t>
            </a:r>
          </a:p>
        </p:txBody>
      </p:sp>
      <p:sp>
        <p:nvSpPr>
          <p:cNvPr id="3" name="Segnaposto contenuto 2">
            <a:extLst>
              <a:ext uri="{FF2B5EF4-FFF2-40B4-BE49-F238E27FC236}">
                <a16:creationId xmlns:a16="http://schemas.microsoft.com/office/drawing/2014/main" id="{9A473440-99C0-A752-B1E5-E59093F3B14E}"/>
              </a:ext>
            </a:extLst>
          </p:cNvPr>
          <p:cNvSpPr>
            <a:spLocks noGrp="1"/>
          </p:cNvSpPr>
          <p:nvPr>
            <p:ph idx="1"/>
          </p:nvPr>
        </p:nvSpPr>
        <p:spPr/>
        <p:txBody>
          <a:bodyPr>
            <a:normAutofit/>
          </a:bodyPr>
          <a:lstStyle/>
          <a:p>
            <a:r>
              <a:rPr lang="en-GB" b="1" dirty="0"/>
              <a:t>Therefore </a:t>
            </a:r>
            <a:r>
              <a:rPr lang="en-GB" b="1" dirty="0">
                <a:highlight>
                  <a:srgbClr val="FFFF00"/>
                </a:highlight>
              </a:rPr>
              <a:t>kernel size </a:t>
            </a:r>
            <a:r>
              <a:rPr lang="en-GB" dirty="0">
                <a:highlight>
                  <a:srgbClr val="FFFF00"/>
                </a:highlight>
              </a:rPr>
              <a:t>represents a physical temporal duration.</a:t>
            </a:r>
          </a:p>
          <a:p>
            <a:endParaRPr lang="en-GB" b="1" dirty="0"/>
          </a:p>
          <a:p>
            <a:r>
              <a:rPr lang="en-GB" b="1" dirty="0">
                <a:highlight>
                  <a:srgbClr val="FFFF00"/>
                </a:highlight>
              </a:rPr>
              <a:t>Design question</a:t>
            </a:r>
          </a:p>
          <a:p>
            <a:r>
              <a:rPr lang="en-GB" dirty="0"/>
              <a:t>What is the approximate duration of the local patterns that </a:t>
            </a:r>
            <a:r>
              <a:rPr lang="en-GB" b="1" dirty="0"/>
              <a:t>the first convolutional layer should detect?</a:t>
            </a:r>
          </a:p>
          <a:p>
            <a:r>
              <a:rPr lang="en-GB" dirty="0"/>
              <a:t>This depends on:</a:t>
            </a:r>
          </a:p>
          <a:p>
            <a:pPr lvl="1"/>
            <a:r>
              <a:rPr lang="en-GB" dirty="0"/>
              <a:t>sampling frequency; </a:t>
            </a:r>
          </a:p>
          <a:p>
            <a:pPr lvl="1"/>
            <a:r>
              <a:rPr lang="en-GB" dirty="0"/>
              <a:t>expected event duration; </a:t>
            </a:r>
          </a:p>
          <a:p>
            <a:pPr lvl="1"/>
            <a:r>
              <a:rPr lang="en-GB" dirty="0"/>
              <a:t>signal dynamics; </a:t>
            </a:r>
          </a:p>
          <a:p>
            <a:pPr lvl="1"/>
            <a:r>
              <a:rPr lang="en-GB" dirty="0"/>
              <a:t>domain knowledge.</a:t>
            </a:r>
          </a:p>
          <a:p>
            <a:endParaRPr lang="en-GB" dirty="0"/>
          </a:p>
        </p:txBody>
      </p:sp>
    </p:spTree>
    <p:extLst>
      <p:ext uri="{BB962C8B-B14F-4D97-AF65-F5344CB8AC3E}">
        <p14:creationId xmlns:p14="http://schemas.microsoft.com/office/powerpoint/2010/main" val="8268238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Kernel size has a physical duration</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dirty="0">
                <a:solidFill>
                  <a:srgbClr val="475569"/>
                </a:solidFill>
              </a:rPr>
              <a:t>Kernel size is a number of frames; sampling frequency translates it into time.</a:t>
            </a:r>
            <a:endParaRPr lang="en-US" sz="1150" dirty="0"/>
          </a:p>
        </p:txBody>
      </p:sp>
      <p:sp>
        <p:nvSpPr>
          <p:cNvPr id="6" name="Text 4"/>
          <p:cNvSpPr/>
          <p:nvPr/>
        </p:nvSpPr>
        <p:spPr>
          <a:xfrm>
            <a:off x="777240" y="1143000"/>
            <a:ext cx="4572000" cy="256032"/>
          </a:xfrm>
          <a:prstGeom prst="rect">
            <a:avLst/>
          </a:prstGeom>
          <a:noFill/>
          <a:ln/>
        </p:spPr>
        <p:txBody>
          <a:bodyPr wrap="square" lIns="0" tIns="0" rIns="0" bIns="0" rtlCol="0" anchor="ctr">
            <a:normAutofit/>
          </a:bodyPr>
          <a:lstStyle/>
          <a:p>
            <a:pPr marL="0" indent="0" algn="l">
              <a:buNone/>
            </a:pPr>
            <a:r>
              <a:rPr lang="en-US" sz="1500" b="1" dirty="0">
                <a:solidFill>
                  <a:srgbClr val="111827"/>
                </a:solidFill>
              </a:rPr>
              <a:t>Fs = 100 Hz  →  100 frames / second</a:t>
            </a:r>
            <a:endParaRPr lang="en-US" sz="1500" dirty="0"/>
          </a:p>
        </p:txBody>
      </p:sp>
      <p:sp>
        <p:nvSpPr>
          <p:cNvPr id="7" name="Shape 5"/>
          <p:cNvSpPr/>
          <p:nvPr/>
        </p:nvSpPr>
        <p:spPr>
          <a:xfrm>
            <a:off x="914400" y="1920240"/>
            <a:ext cx="2011680" cy="914400"/>
          </a:xfrm>
          <a:prstGeom prst="roundRect">
            <a:avLst>
              <a:gd name="adj" fmla="val 8000"/>
            </a:avLst>
          </a:prstGeom>
          <a:solidFill>
            <a:srgbClr val="ECFDF5"/>
          </a:solidFill>
          <a:ln w="12700">
            <a:solidFill>
              <a:srgbClr val="84B927"/>
            </a:solidFill>
            <a:prstDash val="solid"/>
          </a:ln>
        </p:spPr>
        <p:txBody>
          <a:bodyPr/>
          <a:lstStyle/>
          <a:p>
            <a:endParaRPr lang="en-GB"/>
          </a:p>
        </p:txBody>
      </p:sp>
      <p:sp>
        <p:nvSpPr>
          <p:cNvPr id="8" name="Text 6"/>
          <p:cNvSpPr/>
          <p:nvPr/>
        </p:nvSpPr>
        <p:spPr>
          <a:xfrm>
            <a:off x="987552" y="2267712"/>
            <a:ext cx="1865376" cy="228600"/>
          </a:xfrm>
          <a:prstGeom prst="rect">
            <a:avLst/>
          </a:prstGeom>
          <a:noFill/>
          <a:ln/>
        </p:spPr>
        <p:txBody>
          <a:bodyPr wrap="square" lIns="0" tIns="0" rIns="0" bIns="0" rtlCol="0" anchor="ctr">
            <a:normAutofit fontScale="55000" lnSpcReduction="20000"/>
          </a:bodyPr>
          <a:lstStyle/>
          <a:p>
            <a:pPr marL="0" indent="0" algn="ctr">
              <a:buNone/>
            </a:pPr>
            <a:r>
              <a:rPr lang="en-US" sz="1700" b="1" dirty="0">
                <a:solidFill>
                  <a:srgbClr val="4F7F2B"/>
                </a:solidFill>
              </a:rPr>
              <a:t>K = 5 frames</a:t>
            </a:r>
            <a:endParaRPr lang="en-US" sz="1700" dirty="0"/>
          </a:p>
          <a:p>
            <a:pPr marL="0" indent="0" algn="ctr">
              <a:buNone/>
            </a:pPr>
            <a:r>
              <a:rPr lang="en-US" sz="1700" b="1" dirty="0">
                <a:solidFill>
                  <a:srgbClr val="4F7F2B"/>
                </a:solidFill>
              </a:rPr>
              <a:t>0.05 s</a:t>
            </a:r>
            <a:endParaRPr lang="en-US" sz="1700" dirty="0"/>
          </a:p>
        </p:txBody>
      </p:sp>
      <p:sp>
        <p:nvSpPr>
          <p:cNvPr id="9" name="Shape 7"/>
          <p:cNvSpPr/>
          <p:nvPr/>
        </p:nvSpPr>
        <p:spPr>
          <a:xfrm>
            <a:off x="1092708" y="3104388"/>
            <a:ext cx="100584" cy="100584"/>
          </a:xfrm>
          <a:prstGeom prst="ellipse">
            <a:avLst/>
          </a:prstGeom>
          <a:solidFill>
            <a:srgbClr val="84B927"/>
          </a:solidFill>
          <a:ln w="12700">
            <a:solidFill>
              <a:srgbClr val="84B927"/>
            </a:solidFill>
            <a:prstDash val="solid"/>
          </a:ln>
        </p:spPr>
        <p:txBody>
          <a:bodyPr/>
          <a:lstStyle/>
          <a:p>
            <a:endParaRPr lang="en-GB"/>
          </a:p>
        </p:txBody>
      </p:sp>
      <p:sp>
        <p:nvSpPr>
          <p:cNvPr id="10" name="Shape 8"/>
          <p:cNvSpPr/>
          <p:nvPr/>
        </p:nvSpPr>
        <p:spPr>
          <a:xfrm>
            <a:off x="1394460" y="3104388"/>
            <a:ext cx="100584" cy="100584"/>
          </a:xfrm>
          <a:prstGeom prst="ellipse">
            <a:avLst/>
          </a:prstGeom>
          <a:solidFill>
            <a:srgbClr val="84B927"/>
          </a:solidFill>
          <a:ln w="12700">
            <a:solidFill>
              <a:srgbClr val="84B927"/>
            </a:solidFill>
            <a:prstDash val="solid"/>
          </a:ln>
        </p:spPr>
        <p:txBody>
          <a:bodyPr/>
          <a:lstStyle/>
          <a:p>
            <a:endParaRPr lang="en-GB"/>
          </a:p>
        </p:txBody>
      </p:sp>
      <p:sp>
        <p:nvSpPr>
          <p:cNvPr id="11" name="Shape 9"/>
          <p:cNvSpPr/>
          <p:nvPr/>
        </p:nvSpPr>
        <p:spPr>
          <a:xfrm>
            <a:off x="1696212" y="3104388"/>
            <a:ext cx="100584" cy="100584"/>
          </a:xfrm>
          <a:prstGeom prst="ellipse">
            <a:avLst/>
          </a:prstGeom>
          <a:solidFill>
            <a:srgbClr val="84B927"/>
          </a:solidFill>
          <a:ln w="12700">
            <a:solidFill>
              <a:srgbClr val="84B927"/>
            </a:solidFill>
            <a:prstDash val="solid"/>
          </a:ln>
        </p:spPr>
        <p:txBody>
          <a:bodyPr/>
          <a:lstStyle/>
          <a:p>
            <a:endParaRPr lang="en-GB"/>
          </a:p>
        </p:txBody>
      </p:sp>
      <p:sp>
        <p:nvSpPr>
          <p:cNvPr id="12" name="Shape 10"/>
          <p:cNvSpPr/>
          <p:nvPr/>
        </p:nvSpPr>
        <p:spPr>
          <a:xfrm>
            <a:off x="1997964" y="3104388"/>
            <a:ext cx="100584" cy="100584"/>
          </a:xfrm>
          <a:prstGeom prst="ellipse">
            <a:avLst/>
          </a:prstGeom>
          <a:solidFill>
            <a:srgbClr val="84B927"/>
          </a:solidFill>
          <a:ln w="12700">
            <a:solidFill>
              <a:srgbClr val="84B927"/>
            </a:solidFill>
            <a:prstDash val="solid"/>
          </a:ln>
        </p:spPr>
        <p:txBody>
          <a:bodyPr/>
          <a:lstStyle/>
          <a:p>
            <a:endParaRPr lang="en-GB"/>
          </a:p>
        </p:txBody>
      </p:sp>
      <p:sp>
        <p:nvSpPr>
          <p:cNvPr id="13" name="Shape 11"/>
          <p:cNvSpPr/>
          <p:nvPr/>
        </p:nvSpPr>
        <p:spPr>
          <a:xfrm>
            <a:off x="2299716" y="3104388"/>
            <a:ext cx="100584" cy="100584"/>
          </a:xfrm>
          <a:prstGeom prst="ellipse">
            <a:avLst/>
          </a:prstGeom>
          <a:solidFill>
            <a:srgbClr val="84B927"/>
          </a:solidFill>
          <a:ln w="12700">
            <a:solidFill>
              <a:srgbClr val="84B927"/>
            </a:solidFill>
            <a:prstDash val="solid"/>
          </a:ln>
        </p:spPr>
        <p:txBody>
          <a:bodyPr/>
          <a:lstStyle/>
          <a:p>
            <a:endParaRPr lang="en-GB"/>
          </a:p>
        </p:txBody>
      </p:sp>
      <p:sp>
        <p:nvSpPr>
          <p:cNvPr id="14" name="Shape 12"/>
          <p:cNvSpPr/>
          <p:nvPr/>
        </p:nvSpPr>
        <p:spPr>
          <a:xfrm>
            <a:off x="4572000" y="1920240"/>
            <a:ext cx="2011680" cy="914400"/>
          </a:xfrm>
          <a:prstGeom prst="roundRect">
            <a:avLst>
              <a:gd name="adj" fmla="val 8000"/>
            </a:avLst>
          </a:prstGeom>
          <a:solidFill>
            <a:srgbClr val="FFF7ED"/>
          </a:solidFill>
          <a:ln w="12700">
            <a:solidFill>
              <a:srgbClr val="F59E0B"/>
            </a:solidFill>
            <a:prstDash val="solid"/>
          </a:ln>
        </p:spPr>
        <p:txBody>
          <a:bodyPr/>
          <a:lstStyle/>
          <a:p>
            <a:endParaRPr lang="en-GB"/>
          </a:p>
        </p:txBody>
      </p:sp>
      <p:sp>
        <p:nvSpPr>
          <p:cNvPr id="15" name="Text 13"/>
          <p:cNvSpPr/>
          <p:nvPr/>
        </p:nvSpPr>
        <p:spPr>
          <a:xfrm>
            <a:off x="4645152" y="2267712"/>
            <a:ext cx="1865376" cy="228600"/>
          </a:xfrm>
          <a:prstGeom prst="rect">
            <a:avLst/>
          </a:prstGeom>
          <a:noFill/>
          <a:ln/>
        </p:spPr>
        <p:txBody>
          <a:bodyPr wrap="square" lIns="0" tIns="0" rIns="0" bIns="0" rtlCol="0" anchor="ctr">
            <a:normAutofit fontScale="55000" lnSpcReduction="20000"/>
          </a:bodyPr>
          <a:lstStyle/>
          <a:p>
            <a:pPr marL="0" indent="0" algn="ctr">
              <a:buNone/>
            </a:pPr>
            <a:r>
              <a:rPr lang="en-US" sz="1700" b="1" dirty="0">
                <a:solidFill>
                  <a:srgbClr val="111827"/>
                </a:solidFill>
              </a:rPr>
              <a:t>K = 100 frames</a:t>
            </a:r>
            <a:endParaRPr lang="en-US" sz="1700" dirty="0"/>
          </a:p>
          <a:p>
            <a:pPr marL="0" indent="0" algn="ctr">
              <a:buNone/>
            </a:pPr>
            <a:r>
              <a:rPr lang="en-US" sz="1700" b="1" dirty="0">
                <a:solidFill>
                  <a:srgbClr val="111827"/>
                </a:solidFill>
              </a:rPr>
              <a:t>1.00 s</a:t>
            </a:r>
            <a:endParaRPr lang="en-US" sz="1700" dirty="0"/>
          </a:p>
        </p:txBody>
      </p:sp>
      <p:sp>
        <p:nvSpPr>
          <p:cNvPr id="16" name="Shape 14"/>
          <p:cNvSpPr/>
          <p:nvPr/>
        </p:nvSpPr>
        <p:spPr>
          <a:xfrm>
            <a:off x="443026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17" name="Shape 15"/>
          <p:cNvSpPr/>
          <p:nvPr/>
        </p:nvSpPr>
        <p:spPr>
          <a:xfrm>
            <a:off x="452170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18" name="Shape 16"/>
          <p:cNvSpPr/>
          <p:nvPr/>
        </p:nvSpPr>
        <p:spPr>
          <a:xfrm>
            <a:off x="461314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19" name="Shape 17"/>
          <p:cNvSpPr/>
          <p:nvPr/>
        </p:nvSpPr>
        <p:spPr>
          <a:xfrm>
            <a:off x="470458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0" name="Shape 18"/>
          <p:cNvSpPr/>
          <p:nvPr/>
        </p:nvSpPr>
        <p:spPr>
          <a:xfrm>
            <a:off x="479602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1" name="Shape 19"/>
          <p:cNvSpPr/>
          <p:nvPr/>
        </p:nvSpPr>
        <p:spPr>
          <a:xfrm>
            <a:off x="488746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2" name="Shape 20"/>
          <p:cNvSpPr/>
          <p:nvPr/>
        </p:nvSpPr>
        <p:spPr>
          <a:xfrm>
            <a:off x="497890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3" name="Shape 21"/>
          <p:cNvSpPr/>
          <p:nvPr/>
        </p:nvSpPr>
        <p:spPr>
          <a:xfrm>
            <a:off x="507034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4" name="Shape 22"/>
          <p:cNvSpPr/>
          <p:nvPr/>
        </p:nvSpPr>
        <p:spPr>
          <a:xfrm>
            <a:off x="516178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5" name="Shape 23"/>
          <p:cNvSpPr/>
          <p:nvPr/>
        </p:nvSpPr>
        <p:spPr>
          <a:xfrm>
            <a:off x="525322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6" name="Shape 24"/>
          <p:cNvSpPr/>
          <p:nvPr/>
        </p:nvSpPr>
        <p:spPr>
          <a:xfrm>
            <a:off x="534466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7" name="Shape 25"/>
          <p:cNvSpPr/>
          <p:nvPr/>
        </p:nvSpPr>
        <p:spPr>
          <a:xfrm>
            <a:off x="543610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8" name="Shape 26"/>
          <p:cNvSpPr/>
          <p:nvPr/>
        </p:nvSpPr>
        <p:spPr>
          <a:xfrm>
            <a:off x="552754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29" name="Shape 27"/>
          <p:cNvSpPr/>
          <p:nvPr/>
        </p:nvSpPr>
        <p:spPr>
          <a:xfrm>
            <a:off x="561898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30" name="Shape 28"/>
          <p:cNvSpPr/>
          <p:nvPr/>
        </p:nvSpPr>
        <p:spPr>
          <a:xfrm>
            <a:off x="571042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31" name="Shape 29"/>
          <p:cNvSpPr/>
          <p:nvPr/>
        </p:nvSpPr>
        <p:spPr>
          <a:xfrm>
            <a:off x="580186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32" name="Shape 30"/>
          <p:cNvSpPr/>
          <p:nvPr/>
        </p:nvSpPr>
        <p:spPr>
          <a:xfrm>
            <a:off x="589330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33" name="Shape 31"/>
          <p:cNvSpPr/>
          <p:nvPr/>
        </p:nvSpPr>
        <p:spPr>
          <a:xfrm>
            <a:off x="598474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34" name="Shape 32"/>
          <p:cNvSpPr/>
          <p:nvPr/>
        </p:nvSpPr>
        <p:spPr>
          <a:xfrm>
            <a:off x="607618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35" name="Shape 33"/>
          <p:cNvSpPr/>
          <p:nvPr/>
        </p:nvSpPr>
        <p:spPr>
          <a:xfrm>
            <a:off x="616762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36" name="Shape 34"/>
          <p:cNvSpPr/>
          <p:nvPr/>
        </p:nvSpPr>
        <p:spPr>
          <a:xfrm>
            <a:off x="625906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37" name="Shape 35"/>
          <p:cNvSpPr/>
          <p:nvPr/>
        </p:nvSpPr>
        <p:spPr>
          <a:xfrm>
            <a:off x="6350508" y="3104388"/>
            <a:ext cx="100584" cy="100584"/>
          </a:xfrm>
          <a:prstGeom prst="ellipse">
            <a:avLst/>
          </a:prstGeom>
          <a:solidFill>
            <a:srgbClr val="F59E0B"/>
          </a:solidFill>
          <a:ln w="12700">
            <a:solidFill>
              <a:srgbClr val="F59E0B"/>
            </a:solidFill>
            <a:prstDash val="solid"/>
          </a:ln>
        </p:spPr>
        <p:txBody>
          <a:bodyPr/>
          <a:lstStyle/>
          <a:p>
            <a:endParaRPr lang="en-GB"/>
          </a:p>
        </p:txBody>
      </p:sp>
      <p:sp>
        <p:nvSpPr>
          <p:cNvPr id="38" name="Text 36"/>
          <p:cNvSpPr/>
          <p:nvPr/>
        </p:nvSpPr>
        <p:spPr>
          <a:xfrm>
            <a:off x="822960" y="4434840"/>
            <a:ext cx="1417320" cy="228600"/>
          </a:xfrm>
          <a:prstGeom prst="rect">
            <a:avLst/>
          </a:prstGeom>
          <a:noFill/>
          <a:ln/>
        </p:spPr>
        <p:txBody>
          <a:bodyPr wrap="square" lIns="0" tIns="0" rIns="0" bIns="0" rtlCol="0" anchor="ctr">
            <a:normAutofit/>
          </a:bodyPr>
          <a:lstStyle/>
          <a:p>
            <a:pPr marL="0" indent="0" algn="l">
              <a:buNone/>
            </a:pPr>
            <a:r>
              <a:rPr lang="en-US" sz="1300" b="1" dirty="0">
                <a:solidFill>
                  <a:srgbClr val="111827"/>
                </a:solidFill>
              </a:rPr>
              <a:t>Design question:</a:t>
            </a:r>
            <a:endParaRPr lang="en-US" sz="1300" dirty="0"/>
          </a:p>
        </p:txBody>
      </p:sp>
      <p:sp>
        <p:nvSpPr>
          <p:cNvPr id="39" name="Text 37"/>
          <p:cNvSpPr/>
          <p:nvPr/>
        </p:nvSpPr>
        <p:spPr>
          <a:xfrm>
            <a:off x="2514600" y="4434840"/>
            <a:ext cx="5623560" cy="228600"/>
          </a:xfrm>
          <a:prstGeom prst="rect">
            <a:avLst/>
          </a:prstGeom>
          <a:noFill/>
          <a:ln/>
        </p:spPr>
        <p:txBody>
          <a:bodyPr wrap="square" lIns="0" tIns="0" rIns="0" bIns="0" rtlCol="0" anchor="ctr">
            <a:normAutofit fontScale="92500"/>
          </a:bodyPr>
          <a:lstStyle/>
          <a:p>
            <a:pPr marL="0" indent="0" algn="l">
              <a:buNone/>
            </a:pPr>
            <a:r>
              <a:rPr lang="en-US" sz="1300" dirty="0">
                <a:solidFill>
                  <a:srgbClr val="475569"/>
                </a:solidFill>
              </a:rPr>
              <a:t>What is the expected duration of the local pattern the first layer should detect?</a:t>
            </a:r>
            <a:endParaRPr lang="en-US" sz="1300" dirty="0"/>
          </a:p>
        </p:txBody>
      </p:sp>
      <p:sp>
        <p:nvSpPr>
          <p:cNvPr id="40" name="Shape 38"/>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41" name="Text 39"/>
          <p:cNvSpPr/>
          <p:nvPr/>
        </p:nvSpPr>
        <p:spPr>
          <a:xfrm>
            <a:off x="621792" y="6336792"/>
            <a:ext cx="9555480" cy="164592"/>
          </a:xfrm>
          <a:prstGeom prst="rect">
            <a:avLst/>
          </a:prstGeom>
          <a:noFill/>
          <a:ln/>
        </p:spPr>
        <p:txBody>
          <a:bodyPr wrap="square" lIns="0" tIns="0" rIns="0" bIns="0" rtlCol="0" anchor="ctr"/>
          <a:lstStyle/>
          <a:p>
            <a:pPr marL="0" indent="0">
              <a:buNone/>
            </a:pPr>
            <a:r>
              <a:rPr lang="en-US" sz="1400" b="1" dirty="0">
                <a:solidFill>
                  <a:srgbClr val="111827"/>
                </a:solidFill>
                <a:highlight>
                  <a:srgbClr val="FFFF00"/>
                </a:highlight>
              </a:rPr>
              <a:t>Kernel size should be chosen with the sampling rate and the expected event duration in mind</a:t>
            </a:r>
            <a:r>
              <a:rPr lang="en-US" sz="1020" dirty="0">
                <a:solidFill>
                  <a:srgbClr val="111827"/>
                </a:solidFill>
              </a:rPr>
              <a:t>.</a:t>
            </a:r>
            <a:endParaRPr lang="en-US" sz="1020" dirty="0"/>
          </a:p>
        </p:txBody>
      </p:sp>
      <p:sp>
        <p:nvSpPr>
          <p:cNvPr id="42" name="CasellaDiTesto 41">
            <a:extLst>
              <a:ext uri="{FF2B5EF4-FFF2-40B4-BE49-F238E27FC236}">
                <a16:creationId xmlns:a16="http://schemas.microsoft.com/office/drawing/2014/main" id="{F4C110F8-3C5C-A602-14E1-B361B49238C3}"/>
              </a:ext>
            </a:extLst>
          </p:cNvPr>
          <p:cNvSpPr txBox="1"/>
          <p:nvPr/>
        </p:nvSpPr>
        <p:spPr>
          <a:xfrm>
            <a:off x="6792292" y="1236190"/>
            <a:ext cx="2787748" cy="646331"/>
          </a:xfrm>
          <a:prstGeom prst="rect">
            <a:avLst/>
          </a:prstGeom>
          <a:noFill/>
        </p:spPr>
        <p:txBody>
          <a:bodyPr wrap="square" rtlCol="0">
            <a:spAutoFit/>
          </a:bodyPr>
          <a:lstStyle/>
          <a:p>
            <a:r>
              <a:rPr lang="it-IT" dirty="0"/>
              <a:t>N.B. Use the </a:t>
            </a:r>
            <a:r>
              <a:rPr lang="it-IT" dirty="0" err="1"/>
              <a:t>term</a:t>
            </a:r>
            <a:r>
              <a:rPr lang="it-IT" dirty="0"/>
              <a:t> frames, </a:t>
            </a:r>
            <a:r>
              <a:rPr lang="it-IT" dirty="0" err="1"/>
              <a:t>not</a:t>
            </a:r>
            <a:r>
              <a:rPr lang="it-IT" dirty="0"/>
              <a:t> samples</a:t>
            </a:r>
            <a:endParaRPr lang="en-GB" dirty="0"/>
          </a:p>
        </p:txBody>
      </p:sp>
      <p:cxnSp>
        <p:nvCxnSpPr>
          <p:cNvPr id="44" name="Connettore 2 43">
            <a:extLst>
              <a:ext uri="{FF2B5EF4-FFF2-40B4-BE49-F238E27FC236}">
                <a16:creationId xmlns:a16="http://schemas.microsoft.com/office/drawing/2014/main" id="{707A25DA-1983-3850-818E-FB0CBA073141}"/>
              </a:ext>
            </a:extLst>
          </p:cNvPr>
          <p:cNvCxnSpPr>
            <a:cxnSpLocks/>
          </p:cNvCxnSpPr>
          <p:nvPr/>
        </p:nvCxnSpPr>
        <p:spPr>
          <a:xfrm flipH="1">
            <a:off x="2240280" y="1497330"/>
            <a:ext cx="4498848" cy="7703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nettore 2 46">
            <a:extLst>
              <a:ext uri="{FF2B5EF4-FFF2-40B4-BE49-F238E27FC236}">
                <a16:creationId xmlns:a16="http://schemas.microsoft.com/office/drawing/2014/main" id="{68C2E91F-03CF-9A91-21F2-43D389D200C5}"/>
              </a:ext>
            </a:extLst>
          </p:cNvPr>
          <p:cNvCxnSpPr>
            <a:endCxn id="6" idx="2"/>
          </p:cNvCxnSpPr>
          <p:nvPr/>
        </p:nvCxnSpPr>
        <p:spPr>
          <a:xfrm flipH="1">
            <a:off x="3063240" y="1399032"/>
            <a:ext cx="3520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3620C3A-6280-D2E6-68B6-22C6D7C89058}"/>
              </a:ext>
            </a:extLst>
          </p:cNvPr>
          <p:cNvSpPr>
            <a:spLocks noGrp="1"/>
          </p:cNvSpPr>
          <p:nvPr>
            <p:ph type="title"/>
          </p:nvPr>
        </p:nvSpPr>
        <p:spPr/>
        <p:txBody>
          <a:bodyPr/>
          <a:lstStyle/>
          <a:p>
            <a:r>
              <a:rPr lang="en-GB" dirty="0"/>
              <a:t>Small and large kernels make different assumptions</a:t>
            </a:r>
          </a:p>
        </p:txBody>
      </p:sp>
      <p:sp>
        <p:nvSpPr>
          <p:cNvPr id="3" name="Segnaposto contenuto 2">
            <a:extLst>
              <a:ext uri="{FF2B5EF4-FFF2-40B4-BE49-F238E27FC236}">
                <a16:creationId xmlns:a16="http://schemas.microsoft.com/office/drawing/2014/main" id="{0D60491F-DD92-A130-B961-9F7A3104C556}"/>
              </a:ext>
            </a:extLst>
          </p:cNvPr>
          <p:cNvSpPr>
            <a:spLocks noGrp="1"/>
          </p:cNvSpPr>
          <p:nvPr>
            <p:ph sz="half" idx="1"/>
          </p:nvPr>
        </p:nvSpPr>
        <p:spPr>
          <a:xfrm>
            <a:off x="677334" y="1998663"/>
            <a:ext cx="4999566" cy="3880773"/>
          </a:xfrm>
        </p:spPr>
        <p:txBody>
          <a:bodyPr>
            <a:normAutofit/>
          </a:bodyPr>
          <a:lstStyle/>
          <a:p>
            <a:r>
              <a:rPr lang="en-GB" b="1" dirty="0"/>
              <a:t>Small kernel</a:t>
            </a:r>
          </a:p>
          <a:p>
            <a:r>
              <a:rPr lang="en-GB" dirty="0"/>
              <a:t>Example: K = 3</a:t>
            </a:r>
          </a:p>
          <a:p>
            <a:r>
              <a:rPr lang="en-GB" b="1" dirty="0"/>
              <a:t>Advantages:</a:t>
            </a:r>
          </a:p>
          <a:p>
            <a:pPr lvl="1"/>
            <a:r>
              <a:rPr lang="en-GB" dirty="0"/>
              <a:t>focuses on short local structure; </a:t>
            </a:r>
          </a:p>
          <a:p>
            <a:pPr lvl="1"/>
            <a:r>
              <a:rPr lang="en-GB" dirty="0"/>
              <a:t>few parameters; </a:t>
            </a:r>
          </a:p>
          <a:p>
            <a:pPr lvl="1"/>
            <a:r>
              <a:rPr lang="en-GB" dirty="0"/>
              <a:t>computationally efficient. </a:t>
            </a:r>
          </a:p>
          <a:p>
            <a:r>
              <a:rPr lang="en-GB" dirty="0"/>
              <a:t>Potential limitation:</a:t>
            </a:r>
          </a:p>
          <a:p>
            <a:pPr lvl="1"/>
            <a:r>
              <a:rPr lang="en-GB" dirty="0"/>
              <a:t>cannot directly detect a long pattern in one layer. </a:t>
            </a:r>
          </a:p>
          <a:p>
            <a:endParaRPr lang="en-GB" dirty="0"/>
          </a:p>
        </p:txBody>
      </p:sp>
      <p:sp>
        <p:nvSpPr>
          <p:cNvPr id="4" name="Segnaposto contenuto 3">
            <a:extLst>
              <a:ext uri="{FF2B5EF4-FFF2-40B4-BE49-F238E27FC236}">
                <a16:creationId xmlns:a16="http://schemas.microsoft.com/office/drawing/2014/main" id="{94C18707-9CD5-419C-E263-C505BB2CAAAD}"/>
              </a:ext>
            </a:extLst>
          </p:cNvPr>
          <p:cNvSpPr>
            <a:spLocks noGrp="1"/>
          </p:cNvSpPr>
          <p:nvPr>
            <p:ph sz="half" idx="2"/>
          </p:nvPr>
        </p:nvSpPr>
        <p:spPr>
          <a:xfrm>
            <a:off x="6199145" y="1930400"/>
            <a:ext cx="5373242" cy="3880773"/>
          </a:xfrm>
        </p:spPr>
        <p:txBody>
          <a:bodyPr>
            <a:normAutofit/>
          </a:bodyPr>
          <a:lstStyle/>
          <a:p>
            <a:r>
              <a:rPr lang="en-GB" b="1" dirty="0"/>
              <a:t>Large kernel</a:t>
            </a:r>
          </a:p>
          <a:p>
            <a:r>
              <a:rPr lang="en-GB" dirty="0"/>
              <a:t>Example: K = 51</a:t>
            </a:r>
          </a:p>
          <a:p>
            <a:r>
              <a:rPr lang="en-GB" b="1" dirty="0"/>
              <a:t>Advantages:</a:t>
            </a:r>
          </a:p>
          <a:p>
            <a:pPr lvl="1"/>
            <a:r>
              <a:rPr lang="en-GB" dirty="0"/>
              <a:t>observes a longer interval immediately; </a:t>
            </a:r>
          </a:p>
          <a:p>
            <a:pPr lvl="1"/>
            <a:r>
              <a:rPr lang="en-GB" dirty="0"/>
              <a:t>can detect longer temporal motifs. </a:t>
            </a:r>
          </a:p>
          <a:p>
            <a:r>
              <a:rPr lang="en-GB" dirty="0"/>
              <a:t>Potential limitations:</a:t>
            </a:r>
          </a:p>
          <a:p>
            <a:pPr lvl="1"/>
            <a:r>
              <a:rPr lang="en-GB" dirty="0"/>
              <a:t>more parameters; </a:t>
            </a:r>
          </a:p>
          <a:p>
            <a:pPr lvl="1"/>
            <a:r>
              <a:rPr lang="en-GB" dirty="0"/>
              <a:t>more computation; </a:t>
            </a:r>
          </a:p>
          <a:p>
            <a:pPr lvl="1"/>
            <a:r>
              <a:rPr lang="en-GB" dirty="0"/>
              <a:t>may mix several distinct local phenomena. </a:t>
            </a:r>
          </a:p>
          <a:p>
            <a:endParaRPr lang="en-GB" dirty="0"/>
          </a:p>
        </p:txBody>
      </p:sp>
    </p:spTree>
    <p:extLst>
      <p:ext uri="{BB962C8B-B14F-4D97-AF65-F5344CB8AC3E}">
        <p14:creationId xmlns:p14="http://schemas.microsoft.com/office/powerpoint/2010/main" val="7546123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D52AD1F-317B-EA51-9413-DA1058FA94D4}"/>
              </a:ext>
            </a:extLst>
          </p:cNvPr>
          <p:cNvSpPr>
            <a:spLocks noGrp="1"/>
          </p:cNvSpPr>
          <p:nvPr>
            <p:ph type="title"/>
          </p:nvPr>
        </p:nvSpPr>
        <p:spPr/>
        <p:txBody>
          <a:bodyPr/>
          <a:lstStyle/>
          <a:p>
            <a:r>
              <a:rPr lang="en-GB" dirty="0"/>
              <a:t>Small and large kernels make different assumptions</a:t>
            </a:r>
          </a:p>
        </p:txBody>
      </p:sp>
      <p:sp>
        <p:nvSpPr>
          <p:cNvPr id="3" name="Segnaposto contenuto 2">
            <a:extLst>
              <a:ext uri="{FF2B5EF4-FFF2-40B4-BE49-F238E27FC236}">
                <a16:creationId xmlns:a16="http://schemas.microsoft.com/office/drawing/2014/main" id="{6901DAC6-9E2F-D4ED-FE22-7C6B2DC80695}"/>
              </a:ext>
            </a:extLst>
          </p:cNvPr>
          <p:cNvSpPr>
            <a:spLocks noGrp="1"/>
          </p:cNvSpPr>
          <p:nvPr>
            <p:ph idx="1"/>
          </p:nvPr>
        </p:nvSpPr>
        <p:spPr/>
        <p:txBody>
          <a:bodyPr/>
          <a:lstStyle/>
          <a:p>
            <a:r>
              <a:rPr lang="en-GB" dirty="0"/>
              <a:t>A network does not necessarily need a very large first-layer kernel to access long context.</a:t>
            </a:r>
          </a:p>
          <a:p>
            <a:r>
              <a:rPr lang="en-GB" b="1" dirty="0"/>
              <a:t>By stacking several convolutional layers, later layers can depend on increasingly large regions of the original signal</a:t>
            </a:r>
            <a:r>
              <a:rPr lang="en-GB" dirty="0"/>
              <a:t>.</a:t>
            </a:r>
          </a:p>
          <a:p>
            <a:pPr lvl="1"/>
            <a:r>
              <a:rPr lang="en-GB" b="1" dirty="0"/>
              <a:t>Increased</a:t>
            </a:r>
            <a:r>
              <a:rPr lang="en-GB" dirty="0"/>
              <a:t> </a:t>
            </a:r>
            <a:r>
              <a:rPr lang="en-GB" b="1" dirty="0"/>
              <a:t>receptive field</a:t>
            </a:r>
            <a:r>
              <a:rPr lang="en-GB" dirty="0"/>
              <a:t>.</a:t>
            </a:r>
          </a:p>
          <a:p>
            <a:endParaRPr lang="en-GB" dirty="0"/>
          </a:p>
        </p:txBody>
      </p:sp>
    </p:spTree>
    <p:extLst>
      <p:ext uri="{BB962C8B-B14F-4D97-AF65-F5344CB8AC3E}">
        <p14:creationId xmlns:p14="http://schemas.microsoft.com/office/powerpoint/2010/main" val="490877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00C2D31-7303-2015-DBEF-D32B7AD41173}"/>
              </a:ext>
            </a:extLst>
          </p:cNvPr>
          <p:cNvSpPr>
            <a:spLocks noGrp="1"/>
          </p:cNvSpPr>
          <p:nvPr>
            <p:ph type="title"/>
          </p:nvPr>
        </p:nvSpPr>
        <p:spPr/>
        <p:txBody>
          <a:bodyPr/>
          <a:lstStyle/>
          <a:p>
            <a:r>
              <a:rPr lang="en-GB" dirty="0"/>
              <a:t>Nonlinearity after convolution</a:t>
            </a:r>
          </a:p>
        </p:txBody>
      </p:sp>
      <p:sp>
        <p:nvSpPr>
          <p:cNvPr id="3" name="Segnaposto contenuto 2">
            <a:extLst>
              <a:ext uri="{FF2B5EF4-FFF2-40B4-BE49-F238E27FC236}">
                <a16:creationId xmlns:a16="http://schemas.microsoft.com/office/drawing/2014/main" id="{4CDDF55B-1A77-BBF1-B7BC-4D5346219F2D}"/>
              </a:ext>
            </a:extLst>
          </p:cNvPr>
          <p:cNvSpPr>
            <a:spLocks noGrp="1"/>
          </p:cNvSpPr>
          <p:nvPr>
            <p:ph idx="1"/>
          </p:nvPr>
        </p:nvSpPr>
        <p:spPr>
          <a:xfrm>
            <a:off x="677334" y="2160589"/>
            <a:ext cx="9076266" cy="4564061"/>
          </a:xfrm>
        </p:spPr>
        <p:txBody>
          <a:bodyPr>
            <a:normAutofit fontScale="92500" lnSpcReduction="20000"/>
          </a:bodyPr>
          <a:lstStyle/>
          <a:p>
            <a:r>
              <a:rPr lang="en-GB" dirty="0"/>
              <a:t>A convolution is fundamentally a linear weighted combination.</a:t>
            </a:r>
          </a:p>
          <a:p>
            <a:r>
              <a:rPr lang="en-GB" dirty="0"/>
              <a:t>To learn nonlinear representations, an activation function is applied.</a:t>
            </a:r>
          </a:p>
          <a:p>
            <a:r>
              <a:rPr lang="en-GB" dirty="0"/>
              <a:t>A common choice is </a:t>
            </a:r>
            <a:r>
              <a:rPr lang="en-GB" dirty="0" err="1"/>
              <a:t>ReLU</a:t>
            </a:r>
            <a:r>
              <a:rPr lang="en-GB" dirty="0"/>
              <a:t>:</a:t>
            </a:r>
          </a:p>
          <a:p>
            <a:pPr lvl="1"/>
            <a:r>
              <a:rPr lang="en-GB" dirty="0" err="1"/>
              <a:t>ReLU</a:t>
            </a:r>
            <a:r>
              <a:rPr lang="en-GB" dirty="0"/>
              <a:t>(z) = max(0, z)</a:t>
            </a:r>
          </a:p>
          <a:p>
            <a:r>
              <a:rPr lang="en-GB" b="1" dirty="0"/>
              <a:t>Conceptually</a:t>
            </a:r>
          </a:p>
          <a:p>
            <a:pPr lvl="1"/>
            <a:r>
              <a:rPr lang="en-GB" dirty="0"/>
              <a:t>local input</a:t>
            </a:r>
          </a:p>
          <a:p>
            <a:pPr lvl="1"/>
            <a:r>
              <a:rPr lang="en-GB" dirty="0"/>
              <a:t>    ↓</a:t>
            </a:r>
          </a:p>
          <a:p>
            <a:pPr lvl="1"/>
            <a:r>
              <a:rPr lang="en-GB" dirty="0"/>
              <a:t>convolution</a:t>
            </a:r>
          </a:p>
          <a:p>
            <a:pPr lvl="1"/>
            <a:r>
              <a:rPr lang="en-GB" dirty="0"/>
              <a:t>    ↓</a:t>
            </a:r>
          </a:p>
          <a:p>
            <a:pPr lvl="1"/>
            <a:r>
              <a:rPr lang="en-GB" dirty="0"/>
              <a:t>raw activation</a:t>
            </a:r>
          </a:p>
          <a:p>
            <a:pPr lvl="1"/>
            <a:r>
              <a:rPr lang="en-GB" dirty="0"/>
              <a:t>    ↓</a:t>
            </a:r>
          </a:p>
          <a:p>
            <a:pPr lvl="1"/>
            <a:r>
              <a:rPr lang="en-GB" dirty="0"/>
              <a:t>nonlinear activation</a:t>
            </a:r>
          </a:p>
          <a:p>
            <a:pPr lvl="1"/>
            <a:r>
              <a:rPr lang="en-GB" dirty="0"/>
              <a:t>    ↓</a:t>
            </a:r>
          </a:p>
          <a:p>
            <a:pPr lvl="1"/>
            <a:r>
              <a:rPr lang="en-GB" dirty="0"/>
              <a:t>feature map</a:t>
            </a:r>
          </a:p>
          <a:p>
            <a:endParaRPr lang="en-GB" dirty="0"/>
          </a:p>
        </p:txBody>
      </p:sp>
      <p:sp>
        <p:nvSpPr>
          <p:cNvPr id="5" name="CasellaDiTesto 4">
            <a:extLst>
              <a:ext uri="{FF2B5EF4-FFF2-40B4-BE49-F238E27FC236}">
                <a16:creationId xmlns:a16="http://schemas.microsoft.com/office/drawing/2014/main" id="{0591354C-2470-FE0B-1177-36E8B493ED47}"/>
              </a:ext>
            </a:extLst>
          </p:cNvPr>
          <p:cNvSpPr txBox="1"/>
          <p:nvPr/>
        </p:nvSpPr>
        <p:spPr>
          <a:xfrm>
            <a:off x="4652962" y="3891340"/>
            <a:ext cx="7158037" cy="2746906"/>
          </a:xfrm>
          <a:prstGeom prst="rect">
            <a:avLst/>
          </a:prstGeom>
          <a:noFill/>
        </p:spPr>
        <p:txBody>
          <a:bodyPr wrap="square">
            <a:spAutoFit/>
          </a:bodyPr>
          <a:lstStyle/>
          <a:p>
            <a:r>
              <a:rPr lang="en-GB" sz="1800" b="1" dirty="0">
                <a:highlight>
                  <a:srgbClr val="FFFF00"/>
                </a:highlight>
              </a:rPr>
              <a:t>Why nonlinearities matter</a:t>
            </a:r>
          </a:p>
          <a:p>
            <a:r>
              <a:rPr lang="en-GB" sz="1800" dirty="0"/>
              <a:t>Without nonlinear activations, stacking several convolutional layers would </a:t>
            </a:r>
            <a:r>
              <a:rPr lang="en-GB" dirty="0"/>
              <a:t>be</a:t>
            </a:r>
            <a:r>
              <a:rPr lang="en-GB" sz="1800" dirty="0"/>
              <a:t> equivalent to a linear transformation.</a:t>
            </a:r>
          </a:p>
          <a:p>
            <a:r>
              <a:rPr lang="en-GB" sz="1800" b="1" dirty="0"/>
              <a:t>Nonlinear activations allow the network to represent more complex relationships.</a:t>
            </a:r>
          </a:p>
          <a:p>
            <a:r>
              <a:rPr lang="en-GB" sz="1050" dirty="0"/>
              <a:t> </a:t>
            </a:r>
          </a:p>
          <a:p>
            <a:r>
              <a:rPr lang="en-GB" sz="1800" b="1" dirty="0">
                <a:highlight>
                  <a:srgbClr val="FFFF00"/>
                </a:highlight>
              </a:rPr>
              <a:t>Typical interpretation</a:t>
            </a:r>
          </a:p>
          <a:p>
            <a:r>
              <a:rPr lang="en-GB" sz="1800" b="1" dirty="0"/>
              <a:t>The convolution asks: </a:t>
            </a:r>
            <a:r>
              <a:rPr lang="en-GB" sz="1800" dirty="0"/>
              <a:t>How strongly does this local pattern match?</a:t>
            </a:r>
          </a:p>
          <a:p>
            <a:r>
              <a:rPr lang="en-GB" sz="1800" b="1" dirty="0"/>
              <a:t>The nonlinearity </a:t>
            </a:r>
            <a:r>
              <a:rPr lang="en-GB" sz="1800" dirty="0"/>
              <a:t>determines how that response is propagated to later layers.</a:t>
            </a:r>
          </a:p>
        </p:txBody>
      </p:sp>
    </p:spTree>
    <p:extLst>
      <p:ext uri="{BB962C8B-B14F-4D97-AF65-F5344CB8AC3E}">
        <p14:creationId xmlns:p14="http://schemas.microsoft.com/office/powerpoint/2010/main" val="14071141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9080EB4-34BE-68AC-173C-56BF2D3870DE}"/>
              </a:ext>
            </a:extLst>
          </p:cNvPr>
          <p:cNvSpPr>
            <a:spLocks noGrp="1"/>
          </p:cNvSpPr>
          <p:nvPr>
            <p:ph type="title"/>
          </p:nvPr>
        </p:nvSpPr>
        <p:spPr/>
        <p:txBody>
          <a:bodyPr/>
          <a:lstStyle/>
          <a:p>
            <a:r>
              <a:rPr lang="en-GB" dirty="0"/>
              <a:t>Stacking temporal convolutions</a:t>
            </a:r>
          </a:p>
        </p:txBody>
      </p:sp>
      <p:sp>
        <p:nvSpPr>
          <p:cNvPr id="3" name="Segnaposto contenuto 2">
            <a:extLst>
              <a:ext uri="{FF2B5EF4-FFF2-40B4-BE49-F238E27FC236}">
                <a16:creationId xmlns:a16="http://schemas.microsoft.com/office/drawing/2014/main" id="{998B91BB-2620-4510-25E5-4C65672E4E28}"/>
              </a:ext>
            </a:extLst>
          </p:cNvPr>
          <p:cNvSpPr>
            <a:spLocks noGrp="1"/>
          </p:cNvSpPr>
          <p:nvPr>
            <p:ph sz="half" idx="1"/>
          </p:nvPr>
        </p:nvSpPr>
        <p:spPr>
          <a:xfrm>
            <a:off x="677334" y="2160589"/>
            <a:ext cx="5142441" cy="4440236"/>
          </a:xfrm>
        </p:spPr>
        <p:txBody>
          <a:bodyPr>
            <a:normAutofit fontScale="77500" lnSpcReduction="20000"/>
          </a:bodyPr>
          <a:lstStyle/>
          <a:p>
            <a:r>
              <a:rPr lang="en-GB" dirty="0"/>
              <a:t>A temporal CNN normally contains several convolutional layers.</a:t>
            </a:r>
          </a:p>
          <a:p>
            <a:r>
              <a:rPr lang="en-GB" dirty="0"/>
              <a:t>Conceptually:</a:t>
            </a:r>
          </a:p>
          <a:p>
            <a:pPr lvl="1"/>
            <a:r>
              <a:rPr lang="en-GB" dirty="0"/>
              <a:t>raw sequence</a:t>
            </a:r>
          </a:p>
          <a:p>
            <a:pPr lvl="1"/>
            <a:r>
              <a:rPr lang="en-GB" dirty="0"/>
              <a:t>     ↓</a:t>
            </a:r>
          </a:p>
          <a:p>
            <a:pPr lvl="1"/>
            <a:r>
              <a:rPr lang="en-GB" dirty="0"/>
              <a:t>Conv1D layer 1</a:t>
            </a:r>
          </a:p>
          <a:p>
            <a:pPr lvl="1"/>
            <a:r>
              <a:rPr lang="en-GB" dirty="0"/>
              <a:t>     ↓</a:t>
            </a:r>
          </a:p>
          <a:p>
            <a:pPr lvl="1"/>
            <a:r>
              <a:rPr lang="en-GB" dirty="0"/>
              <a:t>low-level temporal features</a:t>
            </a:r>
          </a:p>
          <a:p>
            <a:pPr lvl="1"/>
            <a:r>
              <a:rPr lang="en-GB" dirty="0"/>
              <a:t>     ↓</a:t>
            </a:r>
          </a:p>
          <a:p>
            <a:pPr lvl="1"/>
            <a:r>
              <a:rPr lang="en-GB" dirty="0"/>
              <a:t>Conv1D layer 2</a:t>
            </a:r>
          </a:p>
          <a:p>
            <a:pPr lvl="1"/>
            <a:r>
              <a:rPr lang="en-GB" dirty="0"/>
              <a:t>     ↓</a:t>
            </a:r>
          </a:p>
          <a:p>
            <a:pPr lvl="1"/>
            <a:r>
              <a:rPr lang="en-GB" dirty="0"/>
              <a:t>combinations of temporal features</a:t>
            </a:r>
          </a:p>
          <a:p>
            <a:pPr lvl="1"/>
            <a:r>
              <a:rPr lang="en-GB" dirty="0"/>
              <a:t>     ↓</a:t>
            </a:r>
          </a:p>
          <a:p>
            <a:pPr lvl="1"/>
            <a:r>
              <a:rPr lang="en-GB" dirty="0"/>
              <a:t>Conv1D layer 3</a:t>
            </a:r>
          </a:p>
          <a:p>
            <a:pPr lvl="1"/>
            <a:r>
              <a:rPr lang="en-GB" dirty="0"/>
              <a:t>     ↓</a:t>
            </a:r>
          </a:p>
          <a:p>
            <a:pPr lvl="1"/>
            <a:r>
              <a:rPr lang="en-GB" dirty="0"/>
              <a:t>higher-level temporal representation</a:t>
            </a:r>
          </a:p>
          <a:p>
            <a:endParaRPr lang="en-GB" dirty="0"/>
          </a:p>
        </p:txBody>
      </p:sp>
      <p:sp>
        <p:nvSpPr>
          <p:cNvPr id="4" name="Segnaposto contenuto 3">
            <a:extLst>
              <a:ext uri="{FF2B5EF4-FFF2-40B4-BE49-F238E27FC236}">
                <a16:creationId xmlns:a16="http://schemas.microsoft.com/office/drawing/2014/main" id="{6B11C1E1-3370-B0A7-AF1E-96F103F11E10}"/>
              </a:ext>
            </a:extLst>
          </p:cNvPr>
          <p:cNvSpPr>
            <a:spLocks noGrp="1"/>
          </p:cNvSpPr>
          <p:nvPr>
            <p:ph sz="half" idx="2"/>
          </p:nvPr>
        </p:nvSpPr>
        <p:spPr>
          <a:xfrm>
            <a:off x="6096000" y="2027239"/>
            <a:ext cx="5539930" cy="4440236"/>
          </a:xfrm>
        </p:spPr>
        <p:txBody>
          <a:bodyPr>
            <a:normAutofit fontScale="77500" lnSpcReduction="20000"/>
          </a:bodyPr>
          <a:lstStyle/>
          <a:p>
            <a:r>
              <a:rPr lang="en-GB" b="1" dirty="0">
                <a:highlight>
                  <a:srgbClr val="FFFF00"/>
                </a:highlight>
              </a:rPr>
              <a:t>Example interpretation</a:t>
            </a:r>
          </a:p>
          <a:p>
            <a:r>
              <a:rPr lang="en-GB" dirty="0"/>
              <a:t>Layer 1 may </a:t>
            </a:r>
            <a:r>
              <a:rPr lang="en-GB" dirty="0">
                <a:highlight>
                  <a:srgbClr val="FFFF00"/>
                </a:highlight>
              </a:rPr>
              <a:t>detect</a:t>
            </a:r>
            <a:r>
              <a:rPr lang="en-GB" dirty="0"/>
              <a:t>:</a:t>
            </a:r>
          </a:p>
          <a:p>
            <a:pPr lvl="1"/>
            <a:r>
              <a:rPr lang="en-GB" dirty="0"/>
              <a:t>local rises; </a:t>
            </a:r>
          </a:p>
          <a:p>
            <a:pPr lvl="1"/>
            <a:r>
              <a:rPr lang="en-GB" dirty="0"/>
              <a:t>peaks; </a:t>
            </a:r>
          </a:p>
          <a:p>
            <a:pPr lvl="1"/>
            <a:r>
              <a:rPr lang="en-GB" dirty="0"/>
              <a:t>short oscillations. </a:t>
            </a:r>
          </a:p>
          <a:p>
            <a:r>
              <a:rPr lang="en-GB" dirty="0"/>
              <a:t>Layer 2 may </a:t>
            </a:r>
            <a:r>
              <a:rPr lang="en-GB" dirty="0">
                <a:highlight>
                  <a:srgbClr val="FFFF00"/>
                </a:highlight>
              </a:rPr>
              <a:t>combine</a:t>
            </a:r>
            <a:r>
              <a:rPr lang="en-GB" dirty="0"/>
              <a:t> them into:</a:t>
            </a:r>
          </a:p>
          <a:p>
            <a:pPr lvl="1"/>
            <a:r>
              <a:rPr lang="en-GB" dirty="0"/>
              <a:t>repeated bursts; </a:t>
            </a:r>
          </a:p>
          <a:p>
            <a:pPr lvl="1"/>
            <a:r>
              <a:rPr lang="en-GB" dirty="0"/>
              <a:t>characteristic transitions. </a:t>
            </a:r>
          </a:p>
          <a:p>
            <a:r>
              <a:rPr lang="en-GB" dirty="0"/>
              <a:t>Deeper layers may represent:</a:t>
            </a:r>
          </a:p>
          <a:p>
            <a:pPr lvl="1"/>
            <a:r>
              <a:rPr lang="en-GB" dirty="0"/>
              <a:t>larger temporal </a:t>
            </a:r>
            <a:r>
              <a:rPr lang="en-GB" dirty="0">
                <a:highlight>
                  <a:srgbClr val="FFFF00"/>
                </a:highlight>
              </a:rPr>
              <a:t>motifs</a:t>
            </a:r>
            <a:r>
              <a:rPr lang="en-GB" dirty="0"/>
              <a:t>; </a:t>
            </a:r>
          </a:p>
          <a:p>
            <a:pPr lvl="1"/>
            <a:r>
              <a:rPr lang="en-GB" dirty="0"/>
              <a:t>operating </a:t>
            </a:r>
            <a:r>
              <a:rPr lang="en-GB" dirty="0">
                <a:highlight>
                  <a:srgbClr val="FFFF00"/>
                </a:highlight>
              </a:rPr>
              <a:t>regimes</a:t>
            </a:r>
            <a:r>
              <a:rPr lang="en-GB" dirty="0"/>
              <a:t>; </a:t>
            </a:r>
          </a:p>
          <a:p>
            <a:pPr lvl="1"/>
            <a:r>
              <a:rPr lang="en-GB" dirty="0"/>
              <a:t>fault signatures. </a:t>
            </a:r>
          </a:p>
          <a:p>
            <a:endParaRPr lang="en-GB" dirty="0"/>
          </a:p>
          <a:p>
            <a:r>
              <a:rPr lang="en-GB" sz="2000" b="1" dirty="0">
                <a:highlight>
                  <a:srgbClr val="FFFF00"/>
                </a:highlight>
              </a:rPr>
              <a:t>Temporal CNNs </a:t>
            </a:r>
            <a:r>
              <a:rPr lang="en-GB" sz="2000" b="1" dirty="0"/>
              <a:t>build hierarchical representations by combining simple local patterns into progressively more complex temporal patterns.</a:t>
            </a:r>
          </a:p>
          <a:p>
            <a:endParaRPr lang="en-GB" dirty="0"/>
          </a:p>
        </p:txBody>
      </p:sp>
    </p:spTree>
    <p:extLst>
      <p:ext uri="{BB962C8B-B14F-4D97-AF65-F5344CB8AC3E}">
        <p14:creationId xmlns:p14="http://schemas.microsoft.com/office/powerpoint/2010/main" val="21752407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Stacking temporal convolutions builds hierarchical features</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200" b="1" dirty="0">
                <a:solidFill>
                  <a:srgbClr val="475569"/>
                </a:solidFill>
              </a:rPr>
              <a:t>Later layers combine local detections into larger temporal motifs.</a:t>
            </a:r>
            <a:endParaRPr lang="en-US" sz="1200" b="1" dirty="0"/>
          </a:p>
        </p:txBody>
      </p:sp>
      <p:grpSp>
        <p:nvGrpSpPr>
          <p:cNvPr id="22" name="Gruppo 21">
            <a:extLst>
              <a:ext uri="{FF2B5EF4-FFF2-40B4-BE49-F238E27FC236}">
                <a16:creationId xmlns:a16="http://schemas.microsoft.com/office/drawing/2014/main" id="{E1BD0312-DB9E-8FD9-3957-F4F711DF6ED3}"/>
              </a:ext>
            </a:extLst>
          </p:cNvPr>
          <p:cNvGrpSpPr/>
          <p:nvPr/>
        </p:nvGrpSpPr>
        <p:grpSpPr>
          <a:xfrm>
            <a:off x="4018788" y="5513832"/>
            <a:ext cx="1417320" cy="502920"/>
            <a:chOff x="822960" y="2743200"/>
            <a:chExt cx="1417320" cy="502920"/>
          </a:xfrm>
        </p:grpSpPr>
        <p:sp>
          <p:nvSpPr>
            <p:cNvPr id="6" name="Shape 4"/>
            <p:cNvSpPr/>
            <p:nvPr/>
          </p:nvSpPr>
          <p:spPr>
            <a:xfrm>
              <a:off x="822960" y="2743200"/>
              <a:ext cx="1417320" cy="502920"/>
            </a:xfrm>
            <a:prstGeom prst="roundRect">
              <a:avLst>
                <a:gd name="adj" fmla="val 14545"/>
              </a:avLst>
            </a:prstGeom>
            <a:solidFill>
              <a:srgbClr val="F8FAFC"/>
            </a:solidFill>
            <a:ln w="12700">
              <a:solidFill>
                <a:srgbClr val="CBD5E1"/>
              </a:solidFill>
              <a:prstDash val="solid"/>
            </a:ln>
          </p:spPr>
          <p:txBody>
            <a:bodyPr/>
            <a:lstStyle/>
            <a:p>
              <a:endParaRPr lang="en-GB"/>
            </a:p>
          </p:txBody>
        </p:sp>
        <p:sp>
          <p:nvSpPr>
            <p:cNvPr id="7" name="Text 5"/>
            <p:cNvSpPr/>
            <p:nvPr/>
          </p:nvSpPr>
          <p:spPr>
            <a:xfrm>
              <a:off x="896112" y="2884932"/>
              <a:ext cx="1271016" cy="228600"/>
            </a:xfrm>
            <a:prstGeom prst="rect">
              <a:avLst/>
            </a:prstGeom>
            <a:noFill/>
            <a:ln/>
          </p:spPr>
          <p:txBody>
            <a:bodyPr wrap="square" lIns="0" tIns="0" rIns="0" bIns="0" rtlCol="0" anchor="ctr">
              <a:normAutofit/>
            </a:bodyPr>
            <a:lstStyle/>
            <a:p>
              <a:pPr marL="0" indent="0" algn="ctr">
                <a:buNone/>
              </a:pPr>
              <a:r>
                <a:rPr lang="en-US" sz="1200" b="1" dirty="0">
                  <a:solidFill>
                    <a:srgbClr val="111827"/>
                  </a:solidFill>
                </a:rPr>
                <a:t>raw sequence</a:t>
              </a:r>
              <a:endParaRPr lang="en-US" sz="1200" dirty="0"/>
            </a:p>
          </p:txBody>
        </p:sp>
      </p:grpSp>
      <p:sp>
        <p:nvSpPr>
          <p:cNvPr id="8" name="Shape 6"/>
          <p:cNvSpPr/>
          <p:nvPr/>
        </p:nvSpPr>
        <p:spPr>
          <a:xfrm flipH="1" flipV="1">
            <a:off x="4681267" y="2428874"/>
            <a:ext cx="4156" cy="320040"/>
          </a:xfrm>
          <a:prstGeom prst="line">
            <a:avLst/>
          </a:prstGeom>
          <a:noFill/>
          <a:ln w="17780">
            <a:solidFill>
              <a:srgbClr val="475569"/>
            </a:solidFill>
            <a:prstDash val="solid"/>
            <a:tailEnd type="triangle"/>
          </a:ln>
        </p:spPr>
        <p:txBody>
          <a:bodyPr/>
          <a:lstStyle/>
          <a:p>
            <a:endParaRPr lang="en-GB"/>
          </a:p>
        </p:txBody>
      </p:sp>
      <p:grpSp>
        <p:nvGrpSpPr>
          <p:cNvPr id="23" name="Gruppo 22">
            <a:extLst>
              <a:ext uri="{FF2B5EF4-FFF2-40B4-BE49-F238E27FC236}">
                <a16:creationId xmlns:a16="http://schemas.microsoft.com/office/drawing/2014/main" id="{0A2A9E73-33D1-4669-FF52-DD539EC43E26}"/>
              </a:ext>
            </a:extLst>
          </p:cNvPr>
          <p:cNvGrpSpPr/>
          <p:nvPr/>
        </p:nvGrpSpPr>
        <p:grpSpPr>
          <a:xfrm>
            <a:off x="4128470" y="4189094"/>
            <a:ext cx="1143000" cy="1051560"/>
            <a:chOff x="3246120" y="2468880"/>
            <a:chExt cx="1143000" cy="1051560"/>
          </a:xfrm>
        </p:grpSpPr>
        <p:sp>
          <p:nvSpPr>
            <p:cNvPr id="9" name="Shape 7"/>
            <p:cNvSpPr/>
            <p:nvPr/>
          </p:nvSpPr>
          <p:spPr>
            <a:xfrm>
              <a:off x="3246120" y="2468880"/>
              <a:ext cx="1143000" cy="1051560"/>
            </a:xfrm>
            <a:prstGeom prst="roundRect">
              <a:avLst>
                <a:gd name="adj" fmla="val 6957"/>
              </a:avLst>
            </a:prstGeom>
            <a:solidFill>
              <a:srgbClr val="ECFDF5"/>
            </a:solidFill>
            <a:ln w="12700">
              <a:solidFill>
                <a:srgbClr val="84B927"/>
              </a:solidFill>
              <a:prstDash val="solid"/>
            </a:ln>
          </p:spPr>
          <p:txBody>
            <a:bodyPr/>
            <a:lstStyle/>
            <a:p>
              <a:endParaRPr lang="en-GB"/>
            </a:p>
          </p:txBody>
        </p:sp>
        <p:sp>
          <p:nvSpPr>
            <p:cNvPr id="10" name="Text 8"/>
            <p:cNvSpPr/>
            <p:nvPr/>
          </p:nvSpPr>
          <p:spPr>
            <a:xfrm>
              <a:off x="3319272" y="2884932"/>
              <a:ext cx="996696" cy="228600"/>
            </a:xfrm>
            <a:prstGeom prst="rect">
              <a:avLst/>
            </a:prstGeom>
            <a:noFill/>
            <a:ln/>
          </p:spPr>
          <p:txBody>
            <a:bodyPr wrap="square" lIns="0" tIns="0" rIns="0" bIns="0" rtlCol="0" anchor="ctr">
              <a:normAutofit fontScale="77500" lnSpcReduction="20000"/>
            </a:bodyPr>
            <a:lstStyle/>
            <a:p>
              <a:pPr marL="0" indent="0" algn="ctr">
                <a:buNone/>
              </a:pPr>
              <a:r>
                <a:rPr lang="en-US" sz="1200" b="1" dirty="0">
                  <a:solidFill>
                    <a:srgbClr val="4F7F2B"/>
                  </a:solidFill>
                </a:rPr>
                <a:t>Conv1D</a:t>
              </a:r>
              <a:endParaRPr lang="en-US" sz="1200" dirty="0"/>
            </a:p>
            <a:p>
              <a:pPr marL="0" indent="0" algn="ctr">
                <a:buNone/>
              </a:pPr>
              <a:r>
                <a:rPr lang="en-US" sz="1200" b="1" dirty="0">
                  <a:solidFill>
                    <a:srgbClr val="4F7F2B"/>
                  </a:solidFill>
                </a:rPr>
                <a:t>layer 1</a:t>
              </a:r>
              <a:endParaRPr lang="en-US" sz="1200" dirty="0"/>
            </a:p>
          </p:txBody>
        </p:sp>
      </p:grpSp>
      <p:grpSp>
        <p:nvGrpSpPr>
          <p:cNvPr id="24" name="Gruppo 23">
            <a:extLst>
              <a:ext uri="{FF2B5EF4-FFF2-40B4-BE49-F238E27FC236}">
                <a16:creationId xmlns:a16="http://schemas.microsoft.com/office/drawing/2014/main" id="{B2774334-669B-A723-8813-44E637E225EB}"/>
              </a:ext>
            </a:extLst>
          </p:cNvPr>
          <p:cNvGrpSpPr/>
          <p:nvPr/>
        </p:nvGrpSpPr>
        <p:grpSpPr>
          <a:xfrm>
            <a:off x="4091894" y="2771774"/>
            <a:ext cx="1143000" cy="1051560"/>
            <a:chOff x="5257800" y="2468880"/>
            <a:chExt cx="1143000" cy="1051560"/>
          </a:xfrm>
        </p:grpSpPr>
        <p:sp>
          <p:nvSpPr>
            <p:cNvPr id="12" name="Shape 10"/>
            <p:cNvSpPr/>
            <p:nvPr/>
          </p:nvSpPr>
          <p:spPr>
            <a:xfrm>
              <a:off x="5257800" y="2468880"/>
              <a:ext cx="1143000" cy="1051560"/>
            </a:xfrm>
            <a:prstGeom prst="roundRect">
              <a:avLst>
                <a:gd name="adj" fmla="val 6957"/>
              </a:avLst>
            </a:prstGeom>
            <a:solidFill>
              <a:srgbClr val="ECFDF5"/>
            </a:solidFill>
            <a:ln w="12700">
              <a:solidFill>
                <a:srgbClr val="84B927"/>
              </a:solidFill>
              <a:prstDash val="solid"/>
            </a:ln>
          </p:spPr>
          <p:txBody>
            <a:bodyPr/>
            <a:lstStyle/>
            <a:p>
              <a:endParaRPr lang="en-GB"/>
            </a:p>
          </p:txBody>
        </p:sp>
        <p:sp>
          <p:nvSpPr>
            <p:cNvPr id="13" name="Text 11"/>
            <p:cNvSpPr/>
            <p:nvPr/>
          </p:nvSpPr>
          <p:spPr>
            <a:xfrm>
              <a:off x="5330952" y="2884932"/>
              <a:ext cx="996696" cy="228600"/>
            </a:xfrm>
            <a:prstGeom prst="rect">
              <a:avLst/>
            </a:prstGeom>
            <a:noFill/>
            <a:ln/>
          </p:spPr>
          <p:txBody>
            <a:bodyPr wrap="square" lIns="0" tIns="0" rIns="0" bIns="0" rtlCol="0" anchor="ctr">
              <a:normAutofit fontScale="77500" lnSpcReduction="20000"/>
            </a:bodyPr>
            <a:lstStyle/>
            <a:p>
              <a:pPr marL="0" indent="0" algn="ctr">
                <a:buNone/>
              </a:pPr>
              <a:r>
                <a:rPr lang="en-US" sz="1200" b="1" dirty="0">
                  <a:solidFill>
                    <a:srgbClr val="4F7F2B"/>
                  </a:solidFill>
                </a:rPr>
                <a:t>Conv1D</a:t>
              </a:r>
              <a:endParaRPr lang="en-US" sz="1200" dirty="0"/>
            </a:p>
            <a:p>
              <a:pPr marL="0" indent="0" algn="ctr">
                <a:buNone/>
              </a:pPr>
              <a:r>
                <a:rPr lang="en-US" sz="1200" b="1" dirty="0">
                  <a:solidFill>
                    <a:srgbClr val="4F7F2B"/>
                  </a:solidFill>
                </a:rPr>
                <a:t>layer 2</a:t>
              </a:r>
              <a:endParaRPr lang="en-US" sz="1200" dirty="0"/>
            </a:p>
          </p:txBody>
        </p:sp>
      </p:grpSp>
      <p:grpSp>
        <p:nvGrpSpPr>
          <p:cNvPr id="25" name="Gruppo 24">
            <a:extLst>
              <a:ext uri="{FF2B5EF4-FFF2-40B4-BE49-F238E27FC236}">
                <a16:creationId xmlns:a16="http://schemas.microsoft.com/office/drawing/2014/main" id="{EF7C0E72-EEE1-AF89-CC91-CE1D678A20AB}"/>
              </a:ext>
            </a:extLst>
          </p:cNvPr>
          <p:cNvGrpSpPr/>
          <p:nvPr/>
        </p:nvGrpSpPr>
        <p:grpSpPr>
          <a:xfrm>
            <a:off x="4055318" y="1379589"/>
            <a:ext cx="1143000" cy="1051560"/>
            <a:chOff x="7269480" y="2468880"/>
            <a:chExt cx="1143000" cy="1051560"/>
          </a:xfrm>
        </p:grpSpPr>
        <p:sp>
          <p:nvSpPr>
            <p:cNvPr id="15" name="Shape 13"/>
            <p:cNvSpPr/>
            <p:nvPr/>
          </p:nvSpPr>
          <p:spPr>
            <a:xfrm>
              <a:off x="7269480" y="2468880"/>
              <a:ext cx="1143000" cy="1051560"/>
            </a:xfrm>
            <a:prstGeom prst="roundRect">
              <a:avLst>
                <a:gd name="adj" fmla="val 6957"/>
              </a:avLst>
            </a:prstGeom>
            <a:solidFill>
              <a:srgbClr val="ECFDF5"/>
            </a:solidFill>
            <a:ln w="12700">
              <a:solidFill>
                <a:srgbClr val="84B927"/>
              </a:solidFill>
              <a:prstDash val="solid"/>
            </a:ln>
          </p:spPr>
          <p:txBody>
            <a:bodyPr/>
            <a:lstStyle/>
            <a:p>
              <a:endParaRPr lang="en-GB"/>
            </a:p>
          </p:txBody>
        </p:sp>
        <p:sp>
          <p:nvSpPr>
            <p:cNvPr id="16" name="Text 14"/>
            <p:cNvSpPr/>
            <p:nvPr/>
          </p:nvSpPr>
          <p:spPr>
            <a:xfrm>
              <a:off x="7342632" y="2884932"/>
              <a:ext cx="996696" cy="228600"/>
            </a:xfrm>
            <a:prstGeom prst="rect">
              <a:avLst/>
            </a:prstGeom>
            <a:noFill/>
            <a:ln/>
          </p:spPr>
          <p:txBody>
            <a:bodyPr wrap="square" lIns="0" tIns="0" rIns="0" bIns="0" rtlCol="0" anchor="ctr">
              <a:normAutofit fontScale="77500" lnSpcReduction="20000"/>
            </a:bodyPr>
            <a:lstStyle/>
            <a:p>
              <a:pPr marL="0" indent="0" algn="ctr">
                <a:buNone/>
              </a:pPr>
              <a:r>
                <a:rPr lang="en-US" sz="1200" b="1" dirty="0">
                  <a:solidFill>
                    <a:srgbClr val="4F7F2B"/>
                  </a:solidFill>
                </a:rPr>
                <a:t>Conv1D</a:t>
              </a:r>
              <a:endParaRPr lang="en-US" sz="1200" dirty="0"/>
            </a:p>
            <a:p>
              <a:pPr marL="0" indent="0" algn="ctr">
                <a:buNone/>
              </a:pPr>
              <a:r>
                <a:rPr lang="en-US" sz="1200" b="1" dirty="0">
                  <a:solidFill>
                    <a:srgbClr val="4F7F2B"/>
                  </a:solidFill>
                </a:rPr>
                <a:t>layer 3</a:t>
              </a:r>
              <a:endParaRPr lang="en-US" sz="1200" dirty="0"/>
            </a:p>
          </p:txBody>
        </p:sp>
      </p:grpSp>
      <p:sp>
        <p:nvSpPr>
          <p:cNvPr id="17" name="Text 15"/>
          <p:cNvSpPr/>
          <p:nvPr/>
        </p:nvSpPr>
        <p:spPr>
          <a:xfrm>
            <a:off x="5344622" y="4194810"/>
            <a:ext cx="1828800" cy="685800"/>
          </a:xfrm>
          <a:prstGeom prst="rect">
            <a:avLst/>
          </a:prstGeom>
          <a:noFill/>
          <a:ln/>
        </p:spPr>
        <p:txBody>
          <a:bodyPr wrap="square" lIns="0" tIns="0" rIns="0" bIns="0" rtlCol="0" anchor="ctr">
            <a:normAutofit/>
          </a:bodyPr>
          <a:lstStyle/>
          <a:p>
            <a:pPr marL="0" indent="0" algn="ctr">
              <a:buNone/>
            </a:pPr>
            <a:r>
              <a:rPr lang="en-US" sz="1000" dirty="0">
                <a:solidFill>
                  <a:srgbClr val="475569"/>
                </a:solidFill>
              </a:rPr>
              <a:t>local rises</a:t>
            </a:r>
            <a:endParaRPr lang="en-US" sz="1000" dirty="0"/>
          </a:p>
          <a:p>
            <a:pPr marL="0" indent="0" algn="ctr">
              <a:buNone/>
            </a:pPr>
            <a:r>
              <a:rPr lang="en-US" sz="1000" dirty="0">
                <a:solidFill>
                  <a:srgbClr val="475569"/>
                </a:solidFill>
              </a:rPr>
              <a:t>peaks</a:t>
            </a:r>
            <a:endParaRPr lang="en-US" sz="1000" dirty="0"/>
          </a:p>
          <a:p>
            <a:pPr marL="0" indent="0" algn="ctr">
              <a:buNone/>
            </a:pPr>
            <a:r>
              <a:rPr lang="en-US" sz="1000" dirty="0">
                <a:solidFill>
                  <a:srgbClr val="475569"/>
                </a:solidFill>
              </a:rPr>
              <a:t>short oscillations</a:t>
            </a:r>
            <a:endParaRPr lang="en-US" sz="1000" dirty="0"/>
          </a:p>
        </p:txBody>
      </p:sp>
      <p:sp>
        <p:nvSpPr>
          <p:cNvPr id="18" name="Text 16"/>
          <p:cNvSpPr/>
          <p:nvPr/>
        </p:nvSpPr>
        <p:spPr>
          <a:xfrm>
            <a:off x="5344668" y="2979916"/>
            <a:ext cx="1645920" cy="502920"/>
          </a:xfrm>
          <a:prstGeom prst="rect">
            <a:avLst/>
          </a:prstGeom>
          <a:noFill/>
          <a:ln/>
        </p:spPr>
        <p:txBody>
          <a:bodyPr wrap="square" lIns="0" tIns="0" rIns="0" bIns="0" rtlCol="0" anchor="ctr">
            <a:normAutofit/>
          </a:bodyPr>
          <a:lstStyle/>
          <a:p>
            <a:pPr marL="0" indent="0" algn="ctr">
              <a:buNone/>
            </a:pPr>
            <a:r>
              <a:rPr lang="en-US" sz="1000" dirty="0">
                <a:solidFill>
                  <a:srgbClr val="475569"/>
                </a:solidFill>
              </a:rPr>
              <a:t>repeated bursts</a:t>
            </a:r>
            <a:endParaRPr lang="en-US" sz="1000" dirty="0"/>
          </a:p>
          <a:p>
            <a:pPr marL="0" indent="0" algn="ctr">
              <a:buNone/>
            </a:pPr>
            <a:r>
              <a:rPr lang="en-US" sz="1000" dirty="0">
                <a:solidFill>
                  <a:srgbClr val="475569"/>
                </a:solidFill>
              </a:rPr>
              <a:t>transitions</a:t>
            </a:r>
            <a:endParaRPr lang="en-US" sz="1000" dirty="0"/>
          </a:p>
        </p:txBody>
      </p:sp>
      <p:sp>
        <p:nvSpPr>
          <p:cNvPr id="19" name="Text 17"/>
          <p:cNvSpPr/>
          <p:nvPr/>
        </p:nvSpPr>
        <p:spPr>
          <a:xfrm>
            <a:off x="5198318" y="1520189"/>
            <a:ext cx="1828800" cy="502920"/>
          </a:xfrm>
          <a:prstGeom prst="rect">
            <a:avLst/>
          </a:prstGeom>
          <a:noFill/>
          <a:ln/>
        </p:spPr>
        <p:txBody>
          <a:bodyPr wrap="square" lIns="0" tIns="0" rIns="0" bIns="0" rtlCol="0" anchor="ctr">
            <a:normAutofit/>
          </a:bodyPr>
          <a:lstStyle/>
          <a:p>
            <a:pPr marL="0" indent="0" algn="ctr">
              <a:buNone/>
            </a:pPr>
            <a:r>
              <a:rPr lang="en-US" sz="1000" dirty="0">
                <a:solidFill>
                  <a:srgbClr val="475569"/>
                </a:solidFill>
              </a:rPr>
              <a:t>larger motifs</a:t>
            </a:r>
            <a:endParaRPr lang="en-US" sz="1000" dirty="0"/>
          </a:p>
          <a:p>
            <a:pPr marL="0" indent="0" algn="ctr">
              <a:buNone/>
            </a:pPr>
            <a:r>
              <a:rPr lang="en-US" sz="1000" dirty="0">
                <a:solidFill>
                  <a:srgbClr val="475569"/>
                </a:solidFill>
              </a:rPr>
              <a:t>regime signatures</a:t>
            </a:r>
            <a:endParaRPr lang="en-US" sz="1000" dirty="0"/>
          </a:p>
        </p:txBody>
      </p:sp>
      <p:sp>
        <p:nvSpPr>
          <p:cNvPr id="20" name="Shape 18"/>
          <p:cNvSpPr/>
          <p:nvPr/>
        </p:nvSpPr>
        <p:spPr>
          <a:xfrm>
            <a:off x="502920" y="6236208"/>
            <a:ext cx="9829800" cy="411480"/>
          </a:xfrm>
          <a:prstGeom prst="rect">
            <a:avLst/>
          </a:prstGeom>
          <a:solidFill>
            <a:srgbClr val="FFFFFF">
              <a:alpha val="96000"/>
            </a:srgbClr>
          </a:solidFill>
          <a:ln w="7620">
            <a:solidFill>
              <a:srgbClr val="CBD5E1">
                <a:alpha val="90000"/>
              </a:srgbClr>
            </a:solidFill>
            <a:prstDash val="solid"/>
          </a:ln>
        </p:spPr>
        <p:txBody>
          <a:bodyPr/>
          <a:lstStyle/>
          <a:p>
            <a:endParaRPr lang="en-GB"/>
          </a:p>
        </p:txBody>
      </p:sp>
      <p:sp>
        <p:nvSpPr>
          <p:cNvPr id="21" name="Text 19"/>
          <p:cNvSpPr/>
          <p:nvPr/>
        </p:nvSpPr>
        <p:spPr>
          <a:xfrm>
            <a:off x="621792" y="6336792"/>
            <a:ext cx="9555480" cy="164592"/>
          </a:xfrm>
          <a:prstGeom prst="rect">
            <a:avLst/>
          </a:prstGeom>
          <a:noFill/>
          <a:ln/>
        </p:spPr>
        <p:txBody>
          <a:bodyPr wrap="square" lIns="0" tIns="0" rIns="0" bIns="0" rtlCol="0" anchor="ctr"/>
          <a:lstStyle/>
          <a:p>
            <a:pPr marL="0" indent="0">
              <a:buNone/>
            </a:pPr>
            <a:r>
              <a:rPr lang="en-US" sz="1020" b="1" dirty="0">
                <a:solidFill>
                  <a:srgbClr val="111827"/>
                </a:solidFill>
              </a:rPr>
              <a:t>This hierarchical construction is one of the main reasons temporal CNNs can represent complex temporal patterns.</a:t>
            </a:r>
            <a:endParaRPr lang="en-US" sz="1020" b="1" dirty="0"/>
          </a:p>
        </p:txBody>
      </p:sp>
      <p:sp>
        <p:nvSpPr>
          <p:cNvPr id="27" name="Shape 6">
            <a:extLst>
              <a:ext uri="{FF2B5EF4-FFF2-40B4-BE49-F238E27FC236}">
                <a16:creationId xmlns:a16="http://schemas.microsoft.com/office/drawing/2014/main" id="{8B90590F-7949-E7B8-9B81-081720E8D8FD}"/>
              </a:ext>
            </a:extLst>
          </p:cNvPr>
          <p:cNvSpPr/>
          <p:nvPr/>
        </p:nvSpPr>
        <p:spPr>
          <a:xfrm flipH="1" flipV="1">
            <a:off x="4681267" y="3830192"/>
            <a:ext cx="4156" cy="320040"/>
          </a:xfrm>
          <a:prstGeom prst="line">
            <a:avLst/>
          </a:prstGeom>
          <a:noFill/>
          <a:ln w="17780">
            <a:solidFill>
              <a:srgbClr val="475569"/>
            </a:solidFill>
            <a:prstDash val="solid"/>
            <a:tailEnd type="triangle"/>
          </a:ln>
        </p:spPr>
        <p:txBody>
          <a:bodyPr/>
          <a:lstStyle/>
          <a:p>
            <a:endParaRPr lang="en-GB"/>
          </a:p>
        </p:txBody>
      </p:sp>
      <p:sp>
        <p:nvSpPr>
          <p:cNvPr id="29" name="Shape 6">
            <a:extLst>
              <a:ext uri="{FF2B5EF4-FFF2-40B4-BE49-F238E27FC236}">
                <a16:creationId xmlns:a16="http://schemas.microsoft.com/office/drawing/2014/main" id="{95EA96A3-C7C9-83F6-B0E7-2090C3CD9FFA}"/>
              </a:ext>
            </a:extLst>
          </p:cNvPr>
          <p:cNvSpPr/>
          <p:nvPr/>
        </p:nvSpPr>
        <p:spPr>
          <a:xfrm flipH="1" flipV="1">
            <a:off x="4709160" y="5192647"/>
            <a:ext cx="4156" cy="320040"/>
          </a:xfrm>
          <a:prstGeom prst="line">
            <a:avLst/>
          </a:prstGeom>
          <a:noFill/>
          <a:ln w="17780">
            <a:solidFill>
              <a:srgbClr val="475569"/>
            </a:solidFill>
            <a:prstDash val="solid"/>
            <a:tailEnd type="triangle"/>
          </a:ln>
        </p:spPr>
        <p:txBody>
          <a:bodyPr/>
          <a:lstStyle/>
          <a:p>
            <a:endParaRPr lang="en-GB"/>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28FBCDB-3189-F93C-4EE1-8920F169B094}"/>
              </a:ext>
            </a:extLst>
          </p:cNvPr>
          <p:cNvSpPr>
            <a:spLocks noGrp="1"/>
          </p:cNvSpPr>
          <p:nvPr>
            <p:ph type="title"/>
          </p:nvPr>
        </p:nvSpPr>
        <p:spPr/>
        <p:txBody>
          <a:bodyPr/>
          <a:lstStyle/>
          <a:p>
            <a:r>
              <a:rPr lang="en-GB" dirty="0"/>
              <a:t>Conv1D does not inherently mean causal</a:t>
            </a:r>
          </a:p>
        </p:txBody>
      </p:sp>
      <p:sp>
        <p:nvSpPr>
          <p:cNvPr id="3" name="Segnaposto contenuto 2">
            <a:extLst>
              <a:ext uri="{FF2B5EF4-FFF2-40B4-BE49-F238E27FC236}">
                <a16:creationId xmlns:a16="http://schemas.microsoft.com/office/drawing/2014/main" id="{9E3F1328-94BC-C9ED-99FD-9B5D11BB08C9}"/>
              </a:ext>
            </a:extLst>
          </p:cNvPr>
          <p:cNvSpPr>
            <a:spLocks noGrp="1"/>
          </p:cNvSpPr>
          <p:nvPr>
            <p:ph sz="half" idx="1"/>
          </p:nvPr>
        </p:nvSpPr>
        <p:spPr>
          <a:xfrm>
            <a:off x="677334" y="2160589"/>
            <a:ext cx="4675716" cy="3880772"/>
          </a:xfrm>
        </p:spPr>
        <p:txBody>
          <a:bodyPr>
            <a:normAutofit/>
          </a:bodyPr>
          <a:lstStyle/>
          <a:p>
            <a:r>
              <a:rPr lang="en-GB" dirty="0"/>
              <a:t>A standard temporal convolution simply defines which </a:t>
            </a:r>
            <a:r>
              <a:rPr lang="en-GB" dirty="0" err="1"/>
              <a:t>neighboring</a:t>
            </a:r>
            <a:r>
              <a:rPr lang="en-GB" dirty="0"/>
              <a:t> samples contribute to an output.</a:t>
            </a:r>
          </a:p>
          <a:p>
            <a:r>
              <a:rPr lang="en-GB" dirty="0"/>
              <a:t>Depending on how padding and alignment are chosen, an output associated with time t may use:</a:t>
            </a:r>
          </a:p>
          <a:p>
            <a:pPr lvl="1"/>
            <a:r>
              <a:rPr lang="en-GB" dirty="0"/>
              <a:t>observations before t; </a:t>
            </a:r>
          </a:p>
          <a:p>
            <a:pPr lvl="1"/>
            <a:r>
              <a:rPr lang="en-GB" dirty="0"/>
              <a:t>observations after t; </a:t>
            </a:r>
          </a:p>
          <a:p>
            <a:pPr lvl="1"/>
            <a:r>
              <a:rPr lang="en-GB" dirty="0"/>
              <a:t>both. </a:t>
            </a:r>
          </a:p>
          <a:p>
            <a:endParaRPr lang="en-GB" dirty="0"/>
          </a:p>
        </p:txBody>
      </p:sp>
      <p:sp>
        <p:nvSpPr>
          <p:cNvPr id="4" name="Segnaposto contenuto 3">
            <a:extLst>
              <a:ext uri="{FF2B5EF4-FFF2-40B4-BE49-F238E27FC236}">
                <a16:creationId xmlns:a16="http://schemas.microsoft.com/office/drawing/2014/main" id="{80046508-746C-A9CD-ED90-758BB8FDFC1F}"/>
              </a:ext>
            </a:extLst>
          </p:cNvPr>
          <p:cNvSpPr>
            <a:spLocks noGrp="1"/>
          </p:cNvSpPr>
          <p:nvPr>
            <p:ph sz="half" idx="2"/>
          </p:nvPr>
        </p:nvSpPr>
        <p:spPr>
          <a:xfrm>
            <a:off x="5432869" y="2160590"/>
            <a:ext cx="5863781" cy="3880772"/>
          </a:xfrm>
        </p:spPr>
        <p:txBody>
          <a:bodyPr>
            <a:normAutofit/>
          </a:bodyPr>
          <a:lstStyle/>
          <a:p>
            <a:r>
              <a:rPr lang="en-GB" b="1" dirty="0"/>
              <a:t>Therefore</a:t>
            </a:r>
          </a:p>
          <a:p>
            <a:r>
              <a:rPr lang="en-GB" dirty="0"/>
              <a:t>A Conv1D layer is not automatically suitable for forecasting or online prediction.</a:t>
            </a:r>
          </a:p>
          <a:p>
            <a:r>
              <a:rPr lang="en-GB" dirty="0"/>
              <a:t>For these tasks we must explicitly ensure that:</a:t>
            </a:r>
          </a:p>
          <a:p>
            <a:pPr lvl="1"/>
            <a:r>
              <a:rPr lang="en-GB" dirty="0"/>
              <a:t>output at time t</a:t>
            </a:r>
          </a:p>
          <a:p>
            <a:pPr lvl="1"/>
            <a:r>
              <a:rPr lang="en-GB" dirty="0"/>
              <a:t>does not depend on:</a:t>
            </a:r>
          </a:p>
          <a:p>
            <a:pPr lvl="1"/>
            <a:r>
              <a:rPr lang="en-GB" dirty="0"/>
              <a:t>x[t+1], x[t+2], ...</a:t>
            </a:r>
          </a:p>
          <a:p>
            <a:r>
              <a:rPr lang="en-GB" dirty="0"/>
              <a:t>This will motivate </a:t>
            </a:r>
            <a:r>
              <a:rPr lang="en-GB" b="1" dirty="0"/>
              <a:t>causal convolution</a:t>
            </a:r>
            <a:r>
              <a:rPr lang="en-GB" dirty="0"/>
              <a:t> later in the lecture.</a:t>
            </a:r>
          </a:p>
          <a:p>
            <a:endParaRPr lang="en-GB" dirty="0"/>
          </a:p>
        </p:txBody>
      </p:sp>
      <p:sp>
        <p:nvSpPr>
          <p:cNvPr id="6" name="CasellaDiTesto 5">
            <a:extLst>
              <a:ext uri="{FF2B5EF4-FFF2-40B4-BE49-F238E27FC236}">
                <a16:creationId xmlns:a16="http://schemas.microsoft.com/office/drawing/2014/main" id="{69079DE7-C1C0-283D-162D-644F7E9DA0EA}"/>
              </a:ext>
            </a:extLst>
          </p:cNvPr>
          <p:cNvSpPr txBox="1"/>
          <p:nvPr/>
        </p:nvSpPr>
        <p:spPr>
          <a:xfrm>
            <a:off x="1922906" y="5648235"/>
            <a:ext cx="6105524" cy="1200329"/>
          </a:xfrm>
          <a:prstGeom prst="rect">
            <a:avLst/>
          </a:prstGeom>
          <a:noFill/>
        </p:spPr>
        <p:txBody>
          <a:bodyPr wrap="square">
            <a:spAutoFit/>
          </a:bodyPr>
          <a:lstStyle/>
          <a:p>
            <a:r>
              <a:rPr lang="en-GB" sz="1800" b="1" dirty="0"/>
              <a:t>Important connection</a:t>
            </a:r>
          </a:p>
          <a:p>
            <a:r>
              <a:rPr lang="en-GB" sz="1800" dirty="0"/>
              <a:t>Temporal convolution defines local connectivity. Causality defines which side of time that connectivity is allowed to use.</a:t>
            </a:r>
          </a:p>
        </p:txBody>
      </p:sp>
    </p:spTree>
    <p:extLst>
      <p:ext uri="{BB962C8B-B14F-4D97-AF65-F5344CB8AC3E}">
        <p14:creationId xmlns:p14="http://schemas.microsoft.com/office/powerpoint/2010/main" val="42437163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hape 0"/>
          <p:cNvSpPr/>
          <p:nvPr/>
        </p:nvSpPr>
        <p:spPr>
          <a:xfrm>
            <a:off x="10808208" y="0"/>
            <a:ext cx="1380744" cy="6858000"/>
          </a:xfrm>
          <a:prstGeom prst="rect">
            <a:avLst/>
          </a:prstGeom>
          <a:solidFill>
            <a:srgbClr val="84B927">
              <a:alpha val="90000"/>
            </a:srgbClr>
          </a:solidFill>
          <a:ln w="12700">
            <a:solidFill>
              <a:srgbClr val="84B927">
                <a:alpha val="0"/>
              </a:srgbClr>
            </a:solidFill>
            <a:prstDash val="solid"/>
          </a:ln>
        </p:spPr>
        <p:txBody>
          <a:bodyPr/>
          <a:lstStyle/>
          <a:p>
            <a:endParaRPr lang="en-GB"/>
          </a:p>
        </p:txBody>
      </p:sp>
      <p:sp>
        <p:nvSpPr>
          <p:cNvPr id="3" name="Shape 1"/>
          <p:cNvSpPr/>
          <p:nvPr/>
        </p:nvSpPr>
        <p:spPr>
          <a:xfrm>
            <a:off x="10469880" y="0"/>
            <a:ext cx="256032" cy="6858000"/>
          </a:xfrm>
          <a:prstGeom prst="rect">
            <a:avLst/>
          </a:prstGeom>
          <a:solidFill>
            <a:srgbClr val="EAF6D6">
              <a:alpha val="90000"/>
            </a:srgbClr>
          </a:solidFill>
          <a:ln w="12700">
            <a:solidFill>
              <a:srgbClr val="EAF6D6">
                <a:alpha val="0"/>
              </a:srgbClr>
            </a:solidFill>
            <a:prstDash val="solid"/>
          </a:ln>
        </p:spPr>
        <p:txBody>
          <a:bodyPr/>
          <a:lstStyle/>
          <a:p>
            <a:endParaRPr lang="en-GB"/>
          </a:p>
        </p:txBody>
      </p:sp>
      <p:sp>
        <p:nvSpPr>
          <p:cNvPr id="4" name="Text 2"/>
          <p:cNvSpPr/>
          <p:nvPr/>
        </p:nvSpPr>
        <p:spPr>
          <a:xfrm>
            <a:off x="502920" y="384048"/>
            <a:ext cx="8458200" cy="411480"/>
          </a:xfrm>
          <a:prstGeom prst="rect">
            <a:avLst/>
          </a:prstGeom>
          <a:noFill/>
          <a:ln/>
        </p:spPr>
        <p:txBody>
          <a:bodyPr wrap="square" lIns="0" tIns="0" rIns="0" bIns="0" rtlCol="0" anchor="ctr"/>
          <a:lstStyle/>
          <a:p>
            <a:pPr marL="0" indent="0">
              <a:buNone/>
            </a:pPr>
            <a:r>
              <a:rPr lang="en-US" sz="2600" b="1" dirty="0">
                <a:solidFill>
                  <a:srgbClr val="111827"/>
                </a:solidFill>
                <a:latin typeface="Aptos Display" pitchFamily="34" charset="0"/>
                <a:ea typeface="Aptos Display" pitchFamily="34" charset="-122"/>
                <a:cs typeface="Aptos Display" pitchFamily="34" charset="-120"/>
              </a:rPr>
              <a:t>Conv1D does not automatically mean causal</a:t>
            </a:r>
            <a:endParaRPr lang="en-US" sz="2600" dirty="0"/>
          </a:p>
        </p:txBody>
      </p:sp>
      <p:sp>
        <p:nvSpPr>
          <p:cNvPr id="5" name="Text 3"/>
          <p:cNvSpPr/>
          <p:nvPr/>
        </p:nvSpPr>
        <p:spPr>
          <a:xfrm>
            <a:off x="521208" y="841248"/>
            <a:ext cx="8412480" cy="320040"/>
          </a:xfrm>
          <a:prstGeom prst="rect">
            <a:avLst/>
          </a:prstGeom>
          <a:noFill/>
          <a:ln/>
        </p:spPr>
        <p:txBody>
          <a:bodyPr wrap="square" lIns="0" tIns="0" rIns="0" bIns="0" rtlCol="0" anchor="ctr"/>
          <a:lstStyle/>
          <a:p>
            <a:pPr marL="0" indent="0">
              <a:buNone/>
            </a:pPr>
            <a:r>
              <a:rPr lang="en-US" sz="1150" dirty="0">
                <a:solidFill>
                  <a:srgbClr val="475569"/>
                </a:solidFill>
              </a:rPr>
              <a:t>A temporal convolution may use future frames unless alignment and padding prevent it.</a:t>
            </a:r>
            <a:endParaRPr lang="en-US" sz="1150" dirty="0"/>
          </a:p>
        </p:txBody>
      </p:sp>
      <p:sp>
        <p:nvSpPr>
          <p:cNvPr id="6" name="Text 4"/>
          <p:cNvSpPr/>
          <p:nvPr/>
        </p:nvSpPr>
        <p:spPr>
          <a:xfrm>
            <a:off x="868680" y="1325880"/>
            <a:ext cx="2377440" cy="228600"/>
          </a:xfrm>
          <a:prstGeom prst="rect">
            <a:avLst/>
          </a:prstGeom>
          <a:noFill/>
          <a:ln/>
        </p:spPr>
        <p:txBody>
          <a:bodyPr wrap="square" lIns="0" tIns="0" rIns="0" bIns="0" rtlCol="0" anchor="ctr">
            <a:normAutofit fontScale="92500"/>
          </a:bodyPr>
          <a:lstStyle/>
          <a:p>
            <a:pPr marL="0" indent="0" algn="l">
              <a:buNone/>
            </a:pPr>
            <a:r>
              <a:rPr lang="en-US" sz="1400" b="1" dirty="0">
                <a:solidFill>
                  <a:srgbClr val="111827"/>
                </a:solidFill>
              </a:rPr>
              <a:t>Output associated with time t</a:t>
            </a:r>
            <a:endParaRPr lang="en-US" sz="1400" dirty="0"/>
          </a:p>
        </p:txBody>
      </p:sp>
      <p:sp>
        <p:nvSpPr>
          <p:cNvPr id="7" name="Shape 5"/>
          <p:cNvSpPr/>
          <p:nvPr/>
        </p:nvSpPr>
        <p:spPr>
          <a:xfrm>
            <a:off x="955548" y="2464308"/>
            <a:ext cx="100584" cy="100584"/>
          </a:xfrm>
          <a:prstGeom prst="ellipse">
            <a:avLst/>
          </a:prstGeom>
          <a:solidFill>
            <a:srgbClr val="2563EB"/>
          </a:solidFill>
          <a:ln w="12700">
            <a:solidFill>
              <a:srgbClr val="2563EB"/>
            </a:solidFill>
            <a:prstDash val="solid"/>
          </a:ln>
        </p:spPr>
        <p:txBody>
          <a:bodyPr/>
          <a:lstStyle/>
          <a:p>
            <a:endParaRPr lang="en-GB"/>
          </a:p>
        </p:txBody>
      </p:sp>
      <p:sp>
        <p:nvSpPr>
          <p:cNvPr id="8" name="Text 6"/>
          <p:cNvSpPr/>
          <p:nvPr/>
        </p:nvSpPr>
        <p:spPr>
          <a:xfrm>
            <a:off x="822960" y="2697480"/>
            <a:ext cx="365760" cy="146304"/>
          </a:xfrm>
          <a:prstGeom prst="rect">
            <a:avLst/>
          </a:prstGeom>
          <a:noFill/>
          <a:ln/>
        </p:spPr>
        <p:txBody>
          <a:bodyPr wrap="square" lIns="0" tIns="0" rIns="0" bIns="0" rtlCol="0" anchor="ctr">
            <a:normAutofit/>
          </a:bodyPr>
          <a:lstStyle/>
          <a:p>
            <a:pPr marL="0" indent="0" algn="ctr">
              <a:buNone/>
            </a:pPr>
            <a:r>
              <a:rPr lang="en-US" sz="750" dirty="0">
                <a:solidFill>
                  <a:srgbClr val="2563EB"/>
                </a:solidFill>
              </a:rPr>
              <a:t>x[t-3]</a:t>
            </a:r>
            <a:endParaRPr lang="en-US" sz="750" dirty="0"/>
          </a:p>
        </p:txBody>
      </p:sp>
      <p:sp>
        <p:nvSpPr>
          <p:cNvPr id="9" name="Shape 7"/>
          <p:cNvSpPr/>
          <p:nvPr/>
        </p:nvSpPr>
        <p:spPr>
          <a:xfrm>
            <a:off x="1595628" y="2464308"/>
            <a:ext cx="100584" cy="100584"/>
          </a:xfrm>
          <a:prstGeom prst="ellipse">
            <a:avLst/>
          </a:prstGeom>
          <a:solidFill>
            <a:srgbClr val="2563EB"/>
          </a:solidFill>
          <a:ln w="12700">
            <a:solidFill>
              <a:srgbClr val="2563EB"/>
            </a:solidFill>
            <a:prstDash val="solid"/>
          </a:ln>
        </p:spPr>
        <p:txBody>
          <a:bodyPr/>
          <a:lstStyle/>
          <a:p>
            <a:endParaRPr lang="en-GB"/>
          </a:p>
        </p:txBody>
      </p:sp>
      <p:sp>
        <p:nvSpPr>
          <p:cNvPr id="10" name="Text 8"/>
          <p:cNvSpPr/>
          <p:nvPr/>
        </p:nvSpPr>
        <p:spPr>
          <a:xfrm>
            <a:off x="1463040" y="2697480"/>
            <a:ext cx="365760" cy="146304"/>
          </a:xfrm>
          <a:prstGeom prst="rect">
            <a:avLst/>
          </a:prstGeom>
          <a:noFill/>
          <a:ln/>
        </p:spPr>
        <p:txBody>
          <a:bodyPr wrap="square" lIns="0" tIns="0" rIns="0" bIns="0" rtlCol="0" anchor="ctr">
            <a:normAutofit/>
          </a:bodyPr>
          <a:lstStyle/>
          <a:p>
            <a:pPr marL="0" indent="0" algn="ctr">
              <a:buNone/>
            </a:pPr>
            <a:r>
              <a:rPr lang="en-US" sz="750" dirty="0">
                <a:solidFill>
                  <a:srgbClr val="2563EB"/>
                </a:solidFill>
              </a:rPr>
              <a:t>x[t-2]</a:t>
            </a:r>
            <a:endParaRPr lang="en-US" sz="750" dirty="0"/>
          </a:p>
        </p:txBody>
      </p:sp>
      <p:sp>
        <p:nvSpPr>
          <p:cNvPr id="11" name="Shape 9"/>
          <p:cNvSpPr/>
          <p:nvPr/>
        </p:nvSpPr>
        <p:spPr>
          <a:xfrm>
            <a:off x="2235708" y="2464308"/>
            <a:ext cx="100584" cy="100584"/>
          </a:xfrm>
          <a:prstGeom prst="ellipse">
            <a:avLst/>
          </a:prstGeom>
          <a:solidFill>
            <a:srgbClr val="2563EB"/>
          </a:solidFill>
          <a:ln w="12700">
            <a:solidFill>
              <a:srgbClr val="2563EB"/>
            </a:solidFill>
            <a:prstDash val="solid"/>
          </a:ln>
        </p:spPr>
        <p:txBody>
          <a:bodyPr/>
          <a:lstStyle/>
          <a:p>
            <a:endParaRPr lang="en-GB"/>
          </a:p>
        </p:txBody>
      </p:sp>
      <p:sp>
        <p:nvSpPr>
          <p:cNvPr id="12" name="Text 10"/>
          <p:cNvSpPr/>
          <p:nvPr/>
        </p:nvSpPr>
        <p:spPr>
          <a:xfrm>
            <a:off x="2103120" y="2697480"/>
            <a:ext cx="365760" cy="146304"/>
          </a:xfrm>
          <a:prstGeom prst="rect">
            <a:avLst/>
          </a:prstGeom>
          <a:noFill/>
          <a:ln/>
        </p:spPr>
        <p:txBody>
          <a:bodyPr wrap="square" lIns="0" tIns="0" rIns="0" bIns="0" rtlCol="0" anchor="ctr">
            <a:normAutofit/>
          </a:bodyPr>
          <a:lstStyle/>
          <a:p>
            <a:pPr marL="0" indent="0" algn="ctr">
              <a:buNone/>
            </a:pPr>
            <a:r>
              <a:rPr lang="en-US" sz="750" dirty="0">
                <a:solidFill>
                  <a:srgbClr val="2563EB"/>
                </a:solidFill>
              </a:rPr>
              <a:t>x[t-1]</a:t>
            </a:r>
            <a:endParaRPr lang="en-US" sz="750" dirty="0"/>
          </a:p>
        </p:txBody>
      </p:sp>
      <p:sp>
        <p:nvSpPr>
          <p:cNvPr id="13" name="Shape 11"/>
          <p:cNvSpPr/>
          <p:nvPr/>
        </p:nvSpPr>
        <p:spPr>
          <a:xfrm>
            <a:off x="2875788" y="2464308"/>
            <a:ext cx="100584" cy="100584"/>
          </a:xfrm>
          <a:prstGeom prst="ellipse">
            <a:avLst/>
          </a:prstGeom>
          <a:solidFill>
            <a:srgbClr val="2563EB"/>
          </a:solidFill>
          <a:ln w="12700">
            <a:solidFill>
              <a:srgbClr val="2563EB"/>
            </a:solidFill>
            <a:prstDash val="solid"/>
          </a:ln>
        </p:spPr>
        <p:txBody>
          <a:bodyPr/>
          <a:lstStyle/>
          <a:p>
            <a:endParaRPr lang="en-GB"/>
          </a:p>
        </p:txBody>
      </p:sp>
      <p:sp>
        <p:nvSpPr>
          <p:cNvPr id="14" name="Text 12"/>
          <p:cNvSpPr/>
          <p:nvPr/>
        </p:nvSpPr>
        <p:spPr>
          <a:xfrm>
            <a:off x="2743200" y="2697480"/>
            <a:ext cx="365760" cy="146304"/>
          </a:xfrm>
          <a:prstGeom prst="rect">
            <a:avLst/>
          </a:prstGeom>
          <a:noFill/>
          <a:ln/>
        </p:spPr>
        <p:txBody>
          <a:bodyPr wrap="square" lIns="0" tIns="0" rIns="0" bIns="0" rtlCol="0" anchor="ctr">
            <a:normAutofit/>
          </a:bodyPr>
          <a:lstStyle/>
          <a:p>
            <a:pPr marL="0" indent="0" algn="ctr">
              <a:buNone/>
            </a:pPr>
            <a:r>
              <a:rPr lang="en-US" sz="750" dirty="0">
                <a:solidFill>
                  <a:srgbClr val="2563EB"/>
                </a:solidFill>
              </a:rPr>
              <a:t>x[t]</a:t>
            </a:r>
            <a:endParaRPr lang="en-US" sz="750" dirty="0"/>
          </a:p>
        </p:txBody>
      </p:sp>
      <p:sp>
        <p:nvSpPr>
          <p:cNvPr id="15" name="Shape 13"/>
          <p:cNvSpPr/>
          <p:nvPr/>
        </p:nvSpPr>
        <p:spPr>
          <a:xfrm>
            <a:off x="3515868" y="2464308"/>
            <a:ext cx="100584" cy="100584"/>
          </a:xfrm>
          <a:prstGeom prst="ellipse">
            <a:avLst/>
          </a:prstGeom>
          <a:solidFill>
            <a:srgbClr val="DC2626"/>
          </a:solidFill>
          <a:ln w="12700">
            <a:solidFill>
              <a:srgbClr val="DC2626"/>
            </a:solidFill>
            <a:prstDash val="solid"/>
          </a:ln>
        </p:spPr>
        <p:txBody>
          <a:bodyPr/>
          <a:lstStyle/>
          <a:p>
            <a:endParaRPr lang="en-GB"/>
          </a:p>
        </p:txBody>
      </p:sp>
      <p:sp>
        <p:nvSpPr>
          <p:cNvPr id="16" name="Text 14"/>
          <p:cNvSpPr/>
          <p:nvPr/>
        </p:nvSpPr>
        <p:spPr>
          <a:xfrm>
            <a:off x="3383280" y="2697480"/>
            <a:ext cx="365760" cy="146304"/>
          </a:xfrm>
          <a:prstGeom prst="rect">
            <a:avLst/>
          </a:prstGeom>
          <a:noFill/>
          <a:ln/>
        </p:spPr>
        <p:txBody>
          <a:bodyPr wrap="square" lIns="0" tIns="0" rIns="0" bIns="0" rtlCol="0" anchor="ctr">
            <a:normAutofit/>
          </a:bodyPr>
          <a:lstStyle/>
          <a:p>
            <a:pPr marL="0" indent="0" algn="ctr">
              <a:buNone/>
            </a:pPr>
            <a:r>
              <a:rPr lang="en-US" sz="750" dirty="0">
                <a:solidFill>
                  <a:srgbClr val="DC2626"/>
                </a:solidFill>
              </a:rPr>
              <a:t>x[t+1]</a:t>
            </a:r>
            <a:endParaRPr lang="en-US" sz="750" dirty="0"/>
          </a:p>
        </p:txBody>
      </p:sp>
      <p:sp>
        <p:nvSpPr>
          <p:cNvPr id="17" name="Shape 15"/>
          <p:cNvSpPr/>
          <p:nvPr/>
        </p:nvSpPr>
        <p:spPr>
          <a:xfrm>
            <a:off x="4155948" y="2464308"/>
            <a:ext cx="100584" cy="100584"/>
          </a:xfrm>
          <a:prstGeom prst="ellipse">
            <a:avLst/>
          </a:prstGeom>
          <a:solidFill>
            <a:srgbClr val="DC2626"/>
          </a:solidFill>
          <a:ln w="12700">
            <a:solidFill>
              <a:srgbClr val="DC2626"/>
            </a:solidFill>
            <a:prstDash val="solid"/>
          </a:ln>
        </p:spPr>
        <p:txBody>
          <a:bodyPr/>
          <a:lstStyle/>
          <a:p>
            <a:endParaRPr lang="en-GB"/>
          </a:p>
        </p:txBody>
      </p:sp>
      <p:sp>
        <p:nvSpPr>
          <p:cNvPr id="18" name="Text 16"/>
          <p:cNvSpPr/>
          <p:nvPr/>
        </p:nvSpPr>
        <p:spPr>
          <a:xfrm>
            <a:off x="4023360" y="2697480"/>
            <a:ext cx="365760" cy="146304"/>
          </a:xfrm>
          <a:prstGeom prst="rect">
            <a:avLst/>
          </a:prstGeom>
          <a:noFill/>
          <a:ln/>
        </p:spPr>
        <p:txBody>
          <a:bodyPr wrap="square" lIns="0" tIns="0" rIns="0" bIns="0" rtlCol="0" anchor="ctr">
            <a:normAutofit/>
          </a:bodyPr>
          <a:lstStyle/>
          <a:p>
            <a:pPr marL="0" indent="0" algn="ctr">
              <a:buNone/>
            </a:pPr>
            <a:r>
              <a:rPr lang="en-US" sz="750" dirty="0">
                <a:solidFill>
                  <a:srgbClr val="DC2626"/>
                </a:solidFill>
              </a:rPr>
              <a:t>x[t+2]</a:t>
            </a:r>
            <a:endParaRPr lang="en-US" sz="750" dirty="0"/>
          </a:p>
        </p:txBody>
      </p:sp>
      <p:sp>
        <p:nvSpPr>
          <p:cNvPr id="19" name="Shape 17"/>
          <p:cNvSpPr/>
          <p:nvPr/>
        </p:nvSpPr>
        <p:spPr>
          <a:xfrm>
            <a:off x="4796028" y="2464308"/>
            <a:ext cx="100584" cy="100584"/>
          </a:xfrm>
          <a:prstGeom prst="ellipse">
            <a:avLst/>
          </a:prstGeom>
          <a:solidFill>
            <a:srgbClr val="DC2626"/>
          </a:solidFill>
          <a:ln w="12700">
            <a:solidFill>
              <a:srgbClr val="DC2626"/>
            </a:solidFill>
            <a:prstDash val="solid"/>
          </a:ln>
        </p:spPr>
        <p:txBody>
          <a:bodyPr/>
          <a:lstStyle/>
          <a:p>
            <a:endParaRPr lang="en-GB"/>
          </a:p>
        </p:txBody>
      </p:sp>
      <p:sp>
        <p:nvSpPr>
          <p:cNvPr id="20" name="Text 18"/>
          <p:cNvSpPr/>
          <p:nvPr/>
        </p:nvSpPr>
        <p:spPr>
          <a:xfrm>
            <a:off x="4663440" y="2697480"/>
            <a:ext cx="365760" cy="146304"/>
          </a:xfrm>
          <a:prstGeom prst="rect">
            <a:avLst/>
          </a:prstGeom>
          <a:noFill/>
          <a:ln/>
        </p:spPr>
        <p:txBody>
          <a:bodyPr wrap="square" lIns="0" tIns="0" rIns="0" bIns="0" rtlCol="0" anchor="ctr">
            <a:normAutofit/>
          </a:bodyPr>
          <a:lstStyle/>
          <a:p>
            <a:pPr marL="0" indent="0" algn="ctr">
              <a:buNone/>
            </a:pPr>
            <a:r>
              <a:rPr lang="en-US" sz="750" dirty="0">
                <a:solidFill>
                  <a:srgbClr val="DC2626"/>
                </a:solidFill>
              </a:rPr>
              <a:t>x[t+3]</a:t>
            </a:r>
            <a:endParaRPr lang="en-US" sz="750" dirty="0"/>
          </a:p>
        </p:txBody>
      </p:sp>
      <p:sp>
        <p:nvSpPr>
          <p:cNvPr id="21" name="Shape 19"/>
          <p:cNvSpPr/>
          <p:nvPr/>
        </p:nvSpPr>
        <p:spPr>
          <a:xfrm>
            <a:off x="2011680" y="2240280"/>
            <a:ext cx="1920240" cy="502920"/>
          </a:xfrm>
          <a:prstGeom prst="roundRect">
            <a:avLst>
              <a:gd name="adj" fmla="val 5455"/>
            </a:avLst>
          </a:prstGeom>
          <a:solidFill>
            <a:srgbClr val="FEE2E2">
              <a:alpha val="62000"/>
            </a:srgbClr>
          </a:solidFill>
          <a:ln w="21590">
            <a:solidFill>
              <a:srgbClr val="DC2626"/>
            </a:solidFill>
            <a:prstDash val="solid"/>
          </a:ln>
        </p:spPr>
        <p:txBody>
          <a:bodyPr/>
          <a:lstStyle/>
          <a:p>
            <a:endParaRPr lang="en-GB"/>
          </a:p>
        </p:txBody>
      </p:sp>
      <p:sp>
        <p:nvSpPr>
          <p:cNvPr id="22" name="Text 20"/>
          <p:cNvSpPr/>
          <p:nvPr/>
        </p:nvSpPr>
        <p:spPr>
          <a:xfrm>
            <a:off x="1920240" y="3063240"/>
            <a:ext cx="2743200" cy="228600"/>
          </a:xfrm>
          <a:prstGeom prst="rect">
            <a:avLst/>
          </a:prstGeom>
          <a:noFill/>
          <a:ln/>
        </p:spPr>
        <p:txBody>
          <a:bodyPr wrap="square" lIns="0" tIns="0" rIns="0" bIns="0" rtlCol="0" anchor="ctr">
            <a:normAutofit fontScale="77500" lnSpcReduction="20000"/>
          </a:bodyPr>
          <a:lstStyle/>
          <a:p>
            <a:pPr marL="0" indent="0" algn="ctr">
              <a:buNone/>
            </a:pPr>
            <a:r>
              <a:rPr lang="en-US" sz="1200" b="1" dirty="0">
                <a:solidFill>
                  <a:srgbClr val="DC2626"/>
                </a:solidFill>
              </a:rPr>
              <a:t>standard centered window may include future</a:t>
            </a:r>
            <a:endParaRPr lang="en-US" sz="1200" dirty="0"/>
          </a:p>
        </p:txBody>
      </p:sp>
      <p:sp>
        <p:nvSpPr>
          <p:cNvPr id="23" name="Text 21"/>
          <p:cNvSpPr/>
          <p:nvPr/>
        </p:nvSpPr>
        <p:spPr>
          <a:xfrm>
            <a:off x="868680" y="4023360"/>
            <a:ext cx="7132320" cy="320040"/>
          </a:xfrm>
          <a:prstGeom prst="rect">
            <a:avLst/>
          </a:prstGeom>
          <a:noFill/>
          <a:ln/>
        </p:spPr>
        <p:txBody>
          <a:bodyPr wrap="square" lIns="0" tIns="0" rIns="0" bIns="0" rtlCol="0" anchor="ctr">
            <a:normAutofit fontScale="92500" lnSpcReduction="20000"/>
          </a:bodyPr>
          <a:lstStyle/>
          <a:p>
            <a:pPr marL="0" indent="0" algn="l">
              <a:buNone/>
            </a:pPr>
            <a:r>
              <a:rPr lang="en-US" sz="1400" dirty="0">
                <a:solidFill>
                  <a:srgbClr val="111827"/>
                </a:solidFill>
              </a:rPr>
              <a:t>Allowed for offline analysis; invalid for online forecasting unless future values are truly available.</a:t>
            </a:r>
            <a:endParaRPr lang="en-US" sz="1400" dirty="0"/>
          </a:p>
        </p:txBody>
      </p:sp>
      <p:sp>
        <p:nvSpPr>
          <p:cNvPr id="24" name="Shape 22"/>
          <p:cNvSpPr/>
          <p:nvPr/>
        </p:nvSpPr>
        <p:spPr>
          <a:xfrm>
            <a:off x="2011680" y="4892040"/>
            <a:ext cx="4206240" cy="731520"/>
          </a:xfrm>
          <a:prstGeom prst="roundRect">
            <a:avLst>
              <a:gd name="adj" fmla="val 10000"/>
            </a:avLst>
          </a:prstGeom>
          <a:solidFill>
            <a:srgbClr val="ECFDF5"/>
          </a:solidFill>
          <a:ln w="12700">
            <a:solidFill>
              <a:srgbClr val="84B927"/>
            </a:solidFill>
            <a:prstDash val="solid"/>
          </a:ln>
        </p:spPr>
        <p:txBody>
          <a:bodyPr/>
          <a:lstStyle/>
          <a:p>
            <a:endParaRPr lang="en-GB"/>
          </a:p>
        </p:txBody>
      </p:sp>
      <p:sp>
        <p:nvSpPr>
          <p:cNvPr id="25" name="Text 23"/>
          <p:cNvSpPr/>
          <p:nvPr/>
        </p:nvSpPr>
        <p:spPr>
          <a:xfrm>
            <a:off x="2084832" y="5148072"/>
            <a:ext cx="4059936" cy="228600"/>
          </a:xfrm>
          <a:prstGeom prst="rect">
            <a:avLst/>
          </a:prstGeom>
          <a:noFill/>
          <a:ln/>
        </p:spPr>
        <p:txBody>
          <a:bodyPr wrap="square" lIns="0" tIns="0" rIns="0" bIns="0" rtlCol="0" anchor="ctr">
            <a:normAutofit fontScale="62500" lnSpcReduction="20000"/>
          </a:bodyPr>
          <a:lstStyle/>
          <a:p>
            <a:pPr marL="0" indent="0" algn="ctr">
              <a:buNone/>
            </a:pPr>
            <a:r>
              <a:rPr lang="en-US" sz="1400" b="1" dirty="0">
                <a:solidFill>
                  <a:srgbClr val="4F7F2B"/>
                </a:solidFill>
              </a:rPr>
              <a:t>Causality will be handled explicitly later</a:t>
            </a:r>
            <a:endParaRPr lang="en-US" sz="1400" dirty="0"/>
          </a:p>
          <a:p>
            <a:pPr marL="0" indent="0" algn="ctr">
              <a:buNone/>
            </a:pPr>
            <a:r>
              <a:rPr lang="en-US" sz="1400" b="1" dirty="0">
                <a:solidFill>
                  <a:srgbClr val="4F7F2B"/>
                </a:solidFill>
              </a:rPr>
              <a:t>with causal convolution and left padding.</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F83880-A601-822C-02AE-F7216297D292}"/>
              </a:ext>
            </a:extLst>
          </p:cNvPr>
          <p:cNvSpPr>
            <a:spLocks noGrp="1"/>
          </p:cNvSpPr>
          <p:nvPr>
            <p:ph type="title"/>
          </p:nvPr>
        </p:nvSpPr>
        <p:spPr/>
        <p:txBody>
          <a:bodyPr/>
          <a:lstStyle/>
          <a:p>
            <a:r>
              <a:rPr lang="en-GB" dirty="0"/>
              <a:t>What does a Conv1D layer learn?</a:t>
            </a:r>
          </a:p>
        </p:txBody>
      </p:sp>
      <p:sp>
        <p:nvSpPr>
          <p:cNvPr id="3" name="Segnaposto contenuto 2">
            <a:extLst>
              <a:ext uri="{FF2B5EF4-FFF2-40B4-BE49-F238E27FC236}">
                <a16:creationId xmlns:a16="http://schemas.microsoft.com/office/drawing/2014/main" id="{97AD4D3F-7C34-87C8-6885-4086470D4F19}"/>
              </a:ext>
            </a:extLst>
          </p:cNvPr>
          <p:cNvSpPr>
            <a:spLocks noGrp="1"/>
          </p:cNvSpPr>
          <p:nvPr>
            <p:ph sz="half" idx="1"/>
          </p:nvPr>
        </p:nvSpPr>
        <p:spPr>
          <a:xfrm>
            <a:off x="677334" y="2160588"/>
            <a:ext cx="5247216" cy="4087811"/>
          </a:xfrm>
        </p:spPr>
        <p:txBody>
          <a:bodyPr>
            <a:normAutofit fontScale="92500" lnSpcReduction="10000"/>
          </a:bodyPr>
          <a:lstStyle/>
          <a:p>
            <a:r>
              <a:rPr lang="en-GB" b="1" dirty="0">
                <a:highlight>
                  <a:srgbClr val="FFFF00"/>
                </a:highlight>
              </a:rPr>
              <a:t>A Conv1D layer learns:</a:t>
            </a:r>
          </a:p>
          <a:p>
            <a:pPr lvl="1"/>
            <a:r>
              <a:rPr lang="en-GB" dirty="0"/>
              <a:t>which local temporal patterns matter; </a:t>
            </a:r>
          </a:p>
          <a:p>
            <a:pPr lvl="1"/>
            <a:r>
              <a:rPr lang="en-GB" dirty="0"/>
              <a:t>how variables interact within those local patterns; </a:t>
            </a:r>
          </a:p>
          <a:p>
            <a:pPr lvl="1"/>
            <a:r>
              <a:rPr lang="en-GB" dirty="0"/>
              <a:t>where those patterns occur in the sequence. </a:t>
            </a:r>
          </a:p>
          <a:p>
            <a:r>
              <a:rPr lang="en-GB" b="1" dirty="0"/>
              <a:t>It does not require us to manually define</a:t>
            </a:r>
          </a:p>
          <a:p>
            <a:pPr lvl="1"/>
            <a:r>
              <a:rPr lang="en-GB" dirty="0"/>
              <a:t>peak detectors; </a:t>
            </a:r>
          </a:p>
          <a:p>
            <a:pPr lvl="1"/>
            <a:r>
              <a:rPr lang="en-GB" dirty="0"/>
              <a:t>slopes; </a:t>
            </a:r>
          </a:p>
          <a:p>
            <a:pPr lvl="1"/>
            <a:r>
              <a:rPr lang="en-GB" dirty="0"/>
              <a:t>frequency bands; </a:t>
            </a:r>
          </a:p>
          <a:p>
            <a:pPr lvl="1"/>
            <a:r>
              <a:rPr lang="en-GB" dirty="0"/>
              <a:t>threshold crossings. </a:t>
            </a:r>
          </a:p>
          <a:p>
            <a:r>
              <a:rPr lang="en-GB" b="1" dirty="0">
                <a:highlight>
                  <a:srgbClr val="FFFF00"/>
                </a:highlight>
              </a:rPr>
              <a:t>Those useful patterns may emerge from the training objective.</a:t>
            </a:r>
          </a:p>
          <a:p>
            <a:endParaRPr lang="en-GB" dirty="0"/>
          </a:p>
        </p:txBody>
      </p:sp>
      <p:sp>
        <p:nvSpPr>
          <p:cNvPr id="4" name="Segnaposto contenuto 3">
            <a:extLst>
              <a:ext uri="{FF2B5EF4-FFF2-40B4-BE49-F238E27FC236}">
                <a16:creationId xmlns:a16="http://schemas.microsoft.com/office/drawing/2014/main" id="{5722A8BA-6220-BEC3-A384-C0062A985868}"/>
              </a:ext>
            </a:extLst>
          </p:cNvPr>
          <p:cNvSpPr>
            <a:spLocks noGrp="1"/>
          </p:cNvSpPr>
          <p:nvPr>
            <p:ph sz="half" idx="2"/>
          </p:nvPr>
        </p:nvSpPr>
        <p:spPr>
          <a:xfrm>
            <a:off x="6238875" y="2160589"/>
            <a:ext cx="5610224" cy="3880773"/>
          </a:xfrm>
        </p:spPr>
        <p:txBody>
          <a:bodyPr>
            <a:normAutofit fontScale="92500" lnSpcReduction="10000"/>
          </a:bodyPr>
          <a:lstStyle/>
          <a:p>
            <a:r>
              <a:rPr lang="en-GB" sz="2100" b="1" dirty="0">
                <a:highlight>
                  <a:srgbClr val="FFFF00"/>
                </a:highlight>
              </a:rPr>
              <a:t>T</a:t>
            </a:r>
            <a:r>
              <a:rPr lang="en-GB" sz="2100" dirty="0">
                <a:highlight>
                  <a:srgbClr val="FFFF00"/>
                </a:highlight>
              </a:rPr>
              <a:t>he </a:t>
            </a:r>
            <a:r>
              <a:rPr lang="en-GB" sz="2100" b="1" dirty="0">
                <a:highlight>
                  <a:srgbClr val="FFFF00"/>
                </a:highlight>
              </a:rPr>
              <a:t>engineer still chooses </a:t>
            </a:r>
            <a:r>
              <a:rPr lang="en-GB" sz="2100" dirty="0">
                <a:highlight>
                  <a:srgbClr val="FFFF00"/>
                </a:highlight>
              </a:rPr>
              <a:t>important architectural assumptions (</a:t>
            </a:r>
            <a:r>
              <a:rPr lang="en-GB" sz="2100" dirty="0" err="1">
                <a:highlight>
                  <a:srgbClr val="FFFF00"/>
                </a:highlight>
              </a:rPr>
              <a:t>hyperparams</a:t>
            </a:r>
            <a:r>
              <a:rPr lang="en-GB" sz="2100" dirty="0">
                <a:highlight>
                  <a:srgbClr val="FFFF00"/>
                </a:highlight>
              </a:rPr>
              <a:t>):</a:t>
            </a:r>
          </a:p>
          <a:p>
            <a:pPr lvl="1"/>
            <a:r>
              <a:rPr lang="en-GB" sz="2100" dirty="0"/>
              <a:t>kernel size; </a:t>
            </a:r>
          </a:p>
          <a:p>
            <a:pPr lvl="1"/>
            <a:r>
              <a:rPr lang="en-GB" sz="2100" dirty="0"/>
              <a:t>number of filters; </a:t>
            </a:r>
          </a:p>
          <a:p>
            <a:pPr lvl="1"/>
            <a:r>
              <a:rPr lang="en-GB" sz="2100" dirty="0"/>
              <a:t>stride; </a:t>
            </a:r>
          </a:p>
          <a:p>
            <a:pPr lvl="1"/>
            <a:r>
              <a:rPr lang="en-GB" sz="2100" dirty="0"/>
              <a:t>padding; </a:t>
            </a:r>
          </a:p>
          <a:p>
            <a:pPr lvl="1"/>
            <a:r>
              <a:rPr lang="en-GB" sz="2100" dirty="0"/>
              <a:t>network depth. </a:t>
            </a:r>
          </a:p>
          <a:p>
            <a:endParaRPr lang="en-GB" dirty="0"/>
          </a:p>
        </p:txBody>
      </p:sp>
      <p:sp>
        <p:nvSpPr>
          <p:cNvPr id="6" name="CasellaDiTesto 5">
            <a:extLst>
              <a:ext uri="{FF2B5EF4-FFF2-40B4-BE49-F238E27FC236}">
                <a16:creationId xmlns:a16="http://schemas.microsoft.com/office/drawing/2014/main" id="{011059E9-A70D-84E2-A571-893C1E0D2040}"/>
              </a:ext>
            </a:extLst>
          </p:cNvPr>
          <p:cNvSpPr txBox="1"/>
          <p:nvPr/>
        </p:nvSpPr>
        <p:spPr>
          <a:xfrm>
            <a:off x="6086476" y="5219223"/>
            <a:ext cx="6105524" cy="1477328"/>
          </a:xfrm>
          <a:prstGeom prst="rect">
            <a:avLst/>
          </a:prstGeom>
          <a:noFill/>
        </p:spPr>
        <p:txBody>
          <a:bodyPr wrap="square">
            <a:spAutoFit/>
          </a:bodyPr>
          <a:lstStyle/>
          <a:p>
            <a:r>
              <a:rPr lang="en-GB" sz="1800" b="1" dirty="0"/>
              <a:t>Transition</a:t>
            </a:r>
          </a:p>
          <a:p>
            <a:r>
              <a:rPr lang="en-GB" sz="1800" dirty="0"/>
              <a:t>We now need to understand how these choices affect:</a:t>
            </a:r>
          </a:p>
          <a:p>
            <a:pPr marL="285750" lvl="0" indent="-285750">
              <a:buFont typeface="Arial" panose="020B0604020202020204" pitchFamily="34" charset="0"/>
              <a:buChar char="•"/>
            </a:pPr>
            <a:r>
              <a:rPr lang="en-GB" sz="1800" dirty="0"/>
              <a:t>output length; </a:t>
            </a:r>
          </a:p>
          <a:p>
            <a:pPr marL="285750" lvl="0" indent="-285750">
              <a:buFont typeface="Arial" panose="020B0604020202020204" pitchFamily="34" charset="0"/>
              <a:buChar char="•"/>
            </a:pPr>
            <a:r>
              <a:rPr lang="en-GB" sz="1800" dirty="0"/>
              <a:t>temporal resolution; </a:t>
            </a:r>
          </a:p>
          <a:p>
            <a:pPr marL="285750" lvl="0" indent="-285750">
              <a:buFont typeface="Arial" panose="020B0604020202020204" pitchFamily="34" charset="0"/>
              <a:buChar char="•"/>
            </a:pPr>
            <a:r>
              <a:rPr lang="en-GB" sz="1800" dirty="0"/>
              <a:t>alignment between input and output.</a:t>
            </a:r>
          </a:p>
        </p:txBody>
      </p:sp>
    </p:spTree>
    <p:extLst>
      <p:ext uri="{BB962C8B-B14F-4D97-AF65-F5344CB8AC3E}">
        <p14:creationId xmlns:p14="http://schemas.microsoft.com/office/powerpoint/2010/main" val="22104871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a:extLst>
              <a:ext uri="{FF2B5EF4-FFF2-40B4-BE49-F238E27FC236}">
                <a16:creationId xmlns:a16="http://schemas.microsoft.com/office/drawing/2014/main" id="{14A08481-BC4D-237F-58A8-EBE69C5E9BE2}"/>
              </a:ext>
            </a:extLst>
          </p:cNvPr>
          <p:cNvSpPr>
            <a:spLocks noGrp="1"/>
          </p:cNvSpPr>
          <p:nvPr>
            <p:ph type="title"/>
          </p:nvPr>
        </p:nvSpPr>
        <p:spPr/>
        <p:txBody>
          <a:bodyPr/>
          <a:lstStyle/>
          <a:p>
            <a:r>
              <a:rPr lang="en-GB" dirty="0"/>
              <a:t>Block 5.C — Kernel Size, Stride and Padding</a:t>
            </a:r>
          </a:p>
        </p:txBody>
      </p:sp>
      <p:sp>
        <p:nvSpPr>
          <p:cNvPr id="6" name="Segnaposto contenuto 5">
            <a:extLst>
              <a:ext uri="{FF2B5EF4-FFF2-40B4-BE49-F238E27FC236}">
                <a16:creationId xmlns:a16="http://schemas.microsoft.com/office/drawing/2014/main" id="{7637B95D-C740-3F12-F57D-D1A3DB80F9FE}"/>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24135671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0189FCB-0A51-0075-E14A-6E20E8E7CED7}"/>
              </a:ext>
            </a:extLst>
          </p:cNvPr>
          <p:cNvSpPr>
            <a:spLocks noGrp="1"/>
          </p:cNvSpPr>
          <p:nvPr>
            <p:ph type="title"/>
          </p:nvPr>
        </p:nvSpPr>
        <p:spPr/>
        <p:txBody>
          <a:bodyPr/>
          <a:lstStyle/>
          <a:p>
            <a:r>
              <a:rPr lang="en-GB" dirty="0"/>
              <a:t>Conv1D changes temporal length</a:t>
            </a:r>
          </a:p>
        </p:txBody>
      </p:sp>
      <p:sp>
        <p:nvSpPr>
          <p:cNvPr id="3" name="Segnaposto contenuto 2">
            <a:extLst>
              <a:ext uri="{FF2B5EF4-FFF2-40B4-BE49-F238E27FC236}">
                <a16:creationId xmlns:a16="http://schemas.microsoft.com/office/drawing/2014/main" id="{F7B17177-4F41-3698-2D0F-F790497B0ADD}"/>
              </a:ext>
            </a:extLst>
          </p:cNvPr>
          <p:cNvSpPr>
            <a:spLocks noGrp="1"/>
          </p:cNvSpPr>
          <p:nvPr>
            <p:ph idx="1"/>
          </p:nvPr>
        </p:nvSpPr>
        <p:spPr/>
        <p:txBody>
          <a:bodyPr>
            <a:normAutofit/>
          </a:bodyPr>
          <a:lstStyle/>
          <a:p>
            <a:r>
              <a:rPr lang="en-GB" b="1" dirty="0"/>
              <a:t>A temporal convolution does not necessarily preserve the number of time steps.</a:t>
            </a:r>
          </a:p>
          <a:p>
            <a:pPr lvl="1"/>
            <a:r>
              <a:rPr lang="en-GB" b="1" dirty="0"/>
              <a:t>Already seen in previous slides</a:t>
            </a:r>
          </a:p>
          <a:p>
            <a:r>
              <a:rPr lang="en-GB" dirty="0"/>
              <a:t>The output length depends mainly on:</a:t>
            </a:r>
          </a:p>
          <a:p>
            <a:pPr lvl="1"/>
            <a:r>
              <a:rPr lang="en-GB" dirty="0"/>
              <a:t>input length L; </a:t>
            </a:r>
          </a:p>
          <a:p>
            <a:pPr lvl="1"/>
            <a:r>
              <a:rPr lang="en-GB" dirty="0"/>
              <a:t>kernel size K; </a:t>
            </a:r>
          </a:p>
          <a:p>
            <a:pPr lvl="1"/>
            <a:r>
              <a:rPr lang="en-GB" dirty="0"/>
              <a:t>stride S; </a:t>
            </a:r>
          </a:p>
          <a:p>
            <a:pPr lvl="1"/>
            <a:r>
              <a:rPr lang="en-GB" dirty="0"/>
              <a:t>padding. </a:t>
            </a:r>
          </a:p>
          <a:p>
            <a:endParaRPr lang="en-GB" dirty="0"/>
          </a:p>
        </p:txBody>
      </p:sp>
      <p:sp>
        <p:nvSpPr>
          <p:cNvPr id="5" name="Text 12">
            <a:extLst>
              <a:ext uri="{FF2B5EF4-FFF2-40B4-BE49-F238E27FC236}">
                <a16:creationId xmlns:a16="http://schemas.microsoft.com/office/drawing/2014/main" id="{24FCB5D6-A373-5099-DF5E-2024AEA85D90}"/>
              </a:ext>
            </a:extLst>
          </p:cNvPr>
          <p:cNvSpPr/>
          <p:nvPr/>
        </p:nvSpPr>
        <p:spPr>
          <a:xfrm>
            <a:off x="5302966" y="4097897"/>
            <a:ext cx="1779847" cy="550229"/>
          </a:xfrm>
          <a:prstGeom prst="rect">
            <a:avLst/>
          </a:prstGeom>
          <a:noFill/>
          <a:ln/>
        </p:spPr>
        <p:txBody>
          <a:bodyPr wrap="square" lIns="0" tIns="0" rIns="0" bIns="0" rtlCol="0" anchor="ctr">
            <a:normAutofit/>
          </a:bodyPr>
          <a:lstStyle/>
          <a:p>
            <a:pPr marL="0" indent="0" algn="l">
              <a:buNone/>
            </a:pPr>
            <a:r>
              <a:rPr lang="en-US" sz="1300" b="1" dirty="0">
                <a:solidFill>
                  <a:srgbClr val="111827"/>
                </a:solidFill>
              </a:rPr>
              <a:t>For stride = 1 and no (i.e., valid) padding:</a:t>
            </a:r>
            <a:endParaRPr lang="en-US" sz="1300" dirty="0"/>
          </a:p>
        </p:txBody>
      </p:sp>
      <p:sp>
        <p:nvSpPr>
          <p:cNvPr id="7" name="Shape 13">
            <a:extLst>
              <a:ext uri="{FF2B5EF4-FFF2-40B4-BE49-F238E27FC236}">
                <a16:creationId xmlns:a16="http://schemas.microsoft.com/office/drawing/2014/main" id="{42694521-B3BB-40F5-7E16-4CAD7AA50374}"/>
              </a:ext>
            </a:extLst>
          </p:cNvPr>
          <p:cNvSpPr/>
          <p:nvPr/>
        </p:nvSpPr>
        <p:spPr>
          <a:xfrm>
            <a:off x="7119389" y="4113876"/>
            <a:ext cx="2057400" cy="457200"/>
          </a:xfrm>
          <a:prstGeom prst="roundRect">
            <a:avLst>
              <a:gd name="adj" fmla="val 16000"/>
            </a:avLst>
          </a:prstGeom>
          <a:solidFill>
            <a:srgbClr val="FFFFFF"/>
          </a:solidFill>
          <a:ln w="12700">
            <a:solidFill>
              <a:srgbClr val="111827"/>
            </a:solidFill>
            <a:prstDash val="solid"/>
          </a:ln>
        </p:spPr>
        <p:txBody>
          <a:bodyPr/>
          <a:lstStyle/>
          <a:p>
            <a:endParaRPr lang="en-GB"/>
          </a:p>
        </p:txBody>
      </p:sp>
      <p:sp>
        <p:nvSpPr>
          <p:cNvPr id="9" name="Text 14">
            <a:extLst>
              <a:ext uri="{FF2B5EF4-FFF2-40B4-BE49-F238E27FC236}">
                <a16:creationId xmlns:a16="http://schemas.microsoft.com/office/drawing/2014/main" id="{CE61BACF-27BE-5B72-DBA9-D79BF9A265AC}"/>
              </a:ext>
            </a:extLst>
          </p:cNvPr>
          <p:cNvSpPr/>
          <p:nvPr/>
        </p:nvSpPr>
        <p:spPr>
          <a:xfrm>
            <a:off x="7192541" y="4232748"/>
            <a:ext cx="1911096" cy="228600"/>
          </a:xfrm>
          <a:prstGeom prst="rect">
            <a:avLst/>
          </a:prstGeom>
          <a:noFill/>
          <a:ln/>
        </p:spPr>
        <p:txBody>
          <a:bodyPr wrap="square" lIns="0" tIns="0" rIns="0" bIns="0" rtlCol="0" anchor="ctr">
            <a:normAutofit/>
          </a:bodyPr>
          <a:lstStyle/>
          <a:p>
            <a:pPr marL="0" indent="0" algn="ctr">
              <a:buNone/>
            </a:pPr>
            <a:r>
              <a:rPr lang="en-US" sz="1500" b="1" dirty="0">
                <a:solidFill>
                  <a:srgbClr val="111827"/>
                </a:solidFill>
              </a:rPr>
              <a:t>L_out = L − K + 1</a:t>
            </a:r>
            <a:endParaRPr lang="en-US" sz="1500" dirty="0"/>
          </a:p>
        </p:txBody>
      </p:sp>
    </p:spTree>
    <p:extLst>
      <p:ext uri="{BB962C8B-B14F-4D97-AF65-F5344CB8AC3E}">
        <p14:creationId xmlns:p14="http://schemas.microsoft.com/office/powerpoint/2010/main" val="39256213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76FA8D2-ABDE-A771-A150-FA99A19DDCA0}"/>
              </a:ext>
            </a:extLst>
          </p:cNvPr>
          <p:cNvSpPr>
            <a:spLocks noGrp="1"/>
          </p:cNvSpPr>
          <p:nvPr>
            <p:ph type="title"/>
          </p:nvPr>
        </p:nvSpPr>
        <p:spPr/>
        <p:txBody>
          <a:bodyPr/>
          <a:lstStyle/>
          <a:p>
            <a:r>
              <a:rPr lang="en-GB" dirty="0"/>
              <a:t>Conv1D changes temporal length</a:t>
            </a:r>
          </a:p>
        </p:txBody>
      </p:sp>
      <p:sp>
        <p:nvSpPr>
          <p:cNvPr id="3" name="Segnaposto contenuto 2">
            <a:extLst>
              <a:ext uri="{FF2B5EF4-FFF2-40B4-BE49-F238E27FC236}">
                <a16:creationId xmlns:a16="http://schemas.microsoft.com/office/drawing/2014/main" id="{E68EFE72-9556-D694-171A-6A32A16D9B46}"/>
              </a:ext>
            </a:extLst>
          </p:cNvPr>
          <p:cNvSpPr>
            <a:spLocks noGrp="1"/>
          </p:cNvSpPr>
          <p:nvPr>
            <p:ph idx="1"/>
          </p:nvPr>
        </p:nvSpPr>
        <p:spPr/>
        <p:txBody>
          <a:bodyPr>
            <a:normAutofit fontScale="70000" lnSpcReduction="20000"/>
          </a:bodyPr>
          <a:lstStyle/>
          <a:p>
            <a:r>
              <a:rPr lang="en-GB" b="1" dirty="0"/>
              <a:t>Example</a:t>
            </a:r>
          </a:p>
          <a:p>
            <a:r>
              <a:rPr lang="en-GB" dirty="0"/>
              <a:t>Input: L = 10</a:t>
            </a:r>
          </a:p>
          <a:p>
            <a:r>
              <a:rPr lang="en-GB" dirty="0"/>
              <a:t>Kernel: K = 3</a:t>
            </a:r>
          </a:p>
          <a:p>
            <a:r>
              <a:rPr lang="en-GB" dirty="0"/>
              <a:t>Stride: S = 1</a:t>
            </a:r>
          </a:p>
          <a:p>
            <a:r>
              <a:rPr lang="en-GB" dirty="0"/>
              <a:t>With no padding, the kernel can be placed at:</a:t>
            </a:r>
          </a:p>
          <a:p>
            <a:pPr lvl="1"/>
            <a:r>
              <a:rPr lang="en-GB" dirty="0"/>
              <a:t>1–3</a:t>
            </a:r>
          </a:p>
          <a:p>
            <a:pPr lvl="1"/>
            <a:r>
              <a:rPr lang="en-GB" dirty="0"/>
              <a:t>2–4</a:t>
            </a:r>
          </a:p>
          <a:p>
            <a:pPr lvl="1"/>
            <a:r>
              <a:rPr lang="en-GB" dirty="0"/>
              <a:t>3–5</a:t>
            </a:r>
          </a:p>
          <a:p>
            <a:pPr lvl="1"/>
            <a:r>
              <a:rPr lang="en-GB" dirty="0"/>
              <a:t>...</a:t>
            </a:r>
          </a:p>
          <a:p>
            <a:pPr lvl="1"/>
            <a:r>
              <a:rPr lang="en-GB" dirty="0"/>
              <a:t>8–10</a:t>
            </a:r>
          </a:p>
          <a:p>
            <a:r>
              <a:rPr lang="en-GB" dirty="0"/>
              <a:t>Therefore: </a:t>
            </a:r>
            <a:r>
              <a:rPr lang="en-GB" dirty="0" err="1"/>
              <a:t>L_out</a:t>
            </a:r>
            <a:r>
              <a:rPr lang="en-GB" dirty="0"/>
              <a:t> = 8</a:t>
            </a:r>
          </a:p>
          <a:p>
            <a:endParaRPr lang="en-GB" dirty="0"/>
          </a:p>
          <a:p>
            <a:r>
              <a:rPr lang="en-GB" dirty="0"/>
              <a:t>How many valid positions can the kernel occupy?</a:t>
            </a:r>
          </a:p>
          <a:p>
            <a:r>
              <a:rPr lang="en-GB" dirty="0"/>
              <a:t>This determines the temporal length of the output feature map.</a:t>
            </a:r>
          </a:p>
          <a:p>
            <a:endParaRPr lang="en-GB" dirty="0"/>
          </a:p>
        </p:txBody>
      </p:sp>
    </p:spTree>
    <p:extLst>
      <p:ext uri="{BB962C8B-B14F-4D97-AF65-F5344CB8AC3E}">
        <p14:creationId xmlns:p14="http://schemas.microsoft.com/office/powerpoint/2010/main" val="18373102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9"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0"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Conv1D output length depends on K, stride and padding</a:t>
            </a:r>
            <a:endParaRPr lang="it-IT" sz="2200" b="0" u="none" strike="noStrike">
              <a:solidFill>
                <a:srgbClr val="000000"/>
              </a:solidFill>
              <a:effectLst/>
              <a:uFillTx/>
              <a:latin typeface="Arial"/>
            </a:endParaRPr>
          </a:p>
        </p:txBody>
      </p:sp>
      <p:sp>
        <p:nvSpPr>
          <p:cNvPr id="11"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a:solidFill>
                  <a:srgbClr val="506070"/>
                </a:solidFill>
                <a:effectLst/>
                <a:uFillTx/>
                <a:latin typeface="Aptos"/>
              </a:rPr>
              <a:t>How many positions can the kernel occupy?</a:t>
            </a:r>
            <a:endParaRPr lang="it-IT" sz="1050" b="0" u="none" strike="noStrike">
              <a:solidFill>
                <a:srgbClr val="000000"/>
              </a:solidFill>
              <a:effectLst/>
              <a:uFillTx/>
              <a:latin typeface="Arial"/>
            </a:endParaRPr>
          </a:p>
        </p:txBody>
      </p:sp>
      <p:sp>
        <p:nvSpPr>
          <p:cNvPr id="12"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3"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dirty="0">
                <a:solidFill>
                  <a:srgbClr val="111827"/>
                </a:solidFill>
                <a:effectLst/>
                <a:uFillTx/>
                <a:latin typeface="Aptos"/>
              </a:rPr>
              <a:t>Output temporal length is a consequence of the convolution settings.</a:t>
            </a:r>
            <a:endParaRPr lang="it-IT" sz="1200" b="0" u="none" strike="noStrike" dirty="0">
              <a:solidFill>
                <a:srgbClr val="000000"/>
              </a:solidFill>
              <a:effectLst/>
              <a:uFillTx/>
              <a:latin typeface="Arial"/>
            </a:endParaRPr>
          </a:p>
        </p:txBody>
      </p:sp>
      <p:sp>
        <p:nvSpPr>
          <p:cNvPr id="14" name="Shape 6"/>
          <p:cNvSpPr/>
          <p:nvPr/>
        </p:nvSpPr>
        <p:spPr>
          <a:xfrm>
            <a:off x="100584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5" name="Text 7"/>
          <p:cNvSpPr/>
          <p:nvPr/>
        </p:nvSpPr>
        <p:spPr>
          <a:xfrm>
            <a:off x="103320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x1</a:t>
            </a:r>
            <a:endParaRPr lang="it-IT" sz="800" b="0" u="none" strike="noStrike">
              <a:solidFill>
                <a:srgbClr val="000000"/>
              </a:solidFill>
              <a:effectLst/>
              <a:uFillTx/>
              <a:latin typeface="Arial"/>
            </a:endParaRPr>
          </a:p>
        </p:txBody>
      </p:sp>
      <p:sp>
        <p:nvSpPr>
          <p:cNvPr id="16" name="Text 8"/>
          <p:cNvSpPr/>
          <p:nvPr/>
        </p:nvSpPr>
        <p:spPr>
          <a:xfrm>
            <a:off x="114300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1</a:t>
            </a:r>
            <a:endParaRPr lang="it-IT" sz="600" b="0" u="none" strike="noStrike">
              <a:solidFill>
                <a:srgbClr val="000000"/>
              </a:solidFill>
              <a:effectLst/>
              <a:uFillTx/>
              <a:latin typeface="Arial"/>
            </a:endParaRPr>
          </a:p>
        </p:txBody>
      </p:sp>
      <p:sp>
        <p:nvSpPr>
          <p:cNvPr id="17" name="Shape 9"/>
          <p:cNvSpPr/>
          <p:nvPr/>
        </p:nvSpPr>
        <p:spPr>
          <a:xfrm>
            <a:off x="153612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8" name="Text 10"/>
          <p:cNvSpPr/>
          <p:nvPr/>
        </p:nvSpPr>
        <p:spPr>
          <a:xfrm>
            <a:off x="156348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x2</a:t>
            </a:r>
            <a:endParaRPr lang="it-IT" sz="800" b="0" u="none" strike="noStrike">
              <a:solidFill>
                <a:srgbClr val="000000"/>
              </a:solidFill>
              <a:effectLst/>
              <a:uFillTx/>
              <a:latin typeface="Arial"/>
            </a:endParaRPr>
          </a:p>
        </p:txBody>
      </p:sp>
      <p:sp>
        <p:nvSpPr>
          <p:cNvPr id="19" name="Text 11"/>
          <p:cNvSpPr/>
          <p:nvPr/>
        </p:nvSpPr>
        <p:spPr>
          <a:xfrm>
            <a:off x="167328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2</a:t>
            </a:r>
            <a:endParaRPr lang="it-IT" sz="600" b="0" u="none" strike="noStrike">
              <a:solidFill>
                <a:srgbClr val="000000"/>
              </a:solidFill>
              <a:effectLst/>
              <a:uFillTx/>
              <a:latin typeface="Arial"/>
            </a:endParaRPr>
          </a:p>
        </p:txBody>
      </p:sp>
      <p:sp>
        <p:nvSpPr>
          <p:cNvPr id="20" name="Shape 12"/>
          <p:cNvSpPr/>
          <p:nvPr/>
        </p:nvSpPr>
        <p:spPr>
          <a:xfrm>
            <a:off x="206640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1" name="Text 13"/>
          <p:cNvSpPr/>
          <p:nvPr/>
        </p:nvSpPr>
        <p:spPr>
          <a:xfrm>
            <a:off x="209412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x3</a:t>
            </a:r>
            <a:endParaRPr lang="it-IT" sz="800" b="0" u="none" strike="noStrike">
              <a:solidFill>
                <a:srgbClr val="000000"/>
              </a:solidFill>
              <a:effectLst/>
              <a:uFillTx/>
              <a:latin typeface="Arial"/>
            </a:endParaRPr>
          </a:p>
        </p:txBody>
      </p:sp>
      <p:sp>
        <p:nvSpPr>
          <p:cNvPr id="22" name="Text 14"/>
          <p:cNvSpPr/>
          <p:nvPr/>
        </p:nvSpPr>
        <p:spPr>
          <a:xfrm>
            <a:off x="220356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3</a:t>
            </a:r>
            <a:endParaRPr lang="it-IT" sz="600" b="0" u="none" strike="noStrike">
              <a:solidFill>
                <a:srgbClr val="000000"/>
              </a:solidFill>
              <a:effectLst/>
              <a:uFillTx/>
              <a:latin typeface="Arial"/>
            </a:endParaRPr>
          </a:p>
        </p:txBody>
      </p:sp>
      <p:sp>
        <p:nvSpPr>
          <p:cNvPr id="23" name="Shape 15"/>
          <p:cNvSpPr/>
          <p:nvPr/>
        </p:nvSpPr>
        <p:spPr>
          <a:xfrm>
            <a:off x="259704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4" name="Text 16"/>
          <p:cNvSpPr/>
          <p:nvPr/>
        </p:nvSpPr>
        <p:spPr>
          <a:xfrm>
            <a:off x="262440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x4</a:t>
            </a:r>
            <a:endParaRPr lang="it-IT" sz="800" b="0" u="none" strike="noStrike">
              <a:solidFill>
                <a:srgbClr val="000000"/>
              </a:solidFill>
              <a:effectLst/>
              <a:uFillTx/>
              <a:latin typeface="Arial"/>
            </a:endParaRPr>
          </a:p>
        </p:txBody>
      </p:sp>
      <p:sp>
        <p:nvSpPr>
          <p:cNvPr id="25" name="Text 17"/>
          <p:cNvSpPr/>
          <p:nvPr/>
        </p:nvSpPr>
        <p:spPr>
          <a:xfrm>
            <a:off x="273420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4</a:t>
            </a:r>
            <a:endParaRPr lang="it-IT" sz="600" b="0" u="none" strike="noStrike">
              <a:solidFill>
                <a:srgbClr val="000000"/>
              </a:solidFill>
              <a:effectLst/>
              <a:uFillTx/>
              <a:latin typeface="Arial"/>
            </a:endParaRPr>
          </a:p>
        </p:txBody>
      </p:sp>
      <p:sp>
        <p:nvSpPr>
          <p:cNvPr id="26" name="Shape 18"/>
          <p:cNvSpPr/>
          <p:nvPr/>
        </p:nvSpPr>
        <p:spPr>
          <a:xfrm>
            <a:off x="312732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7" name="Text 19"/>
          <p:cNvSpPr/>
          <p:nvPr/>
        </p:nvSpPr>
        <p:spPr>
          <a:xfrm>
            <a:off x="315468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x5</a:t>
            </a:r>
            <a:endParaRPr lang="it-IT" sz="800" b="0" u="none" strike="noStrike">
              <a:solidFill>
                <a:srgbClr val="000000"/>
              </a:solidFill>
              <a:effectLst/>
              <a:uFillTx/>
              <a:latin typeface="Arial"/>
            </a:endParaRPr>
          </a:p>
        </p:txBody>
      </p:sp>
      <p:sp>
        <p:nvSpPr>
          <p:cNvPr id="28" name="Text 20"/>
          <p:cNvSpPr/>
          <p:nvPr/>
        </p:nvSpPr>
        <p:spPr>
          <a:xfrm>
            <a:off x="326448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5</a:t>
            </a:r>
            <a:endParaRPr lang="it-IT" sz="600" b="0" u="none" strike="noStrike">
              <a:solidFill>
                <a:srgbClr val="000000"/>
              </a:solidFill>
              <a:effectLst/>
              <a:uFillTx/>
              <a:latin typeface="Arial"/>
            </a:endParaRPr>
          </a:p>
        </p:txBody>
      </p:sp>
      <p:sp>
        <p:nvSpPr>
          <p:cNvPr id="29" name="Shape 21"/>
          <p:cNvSpPr/>
          <p:nvPr/>
        </p:nvSpPr>
        <p:spPr>
          <a:xfrm>
            <a:off x="365760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0" name="Text 22"/>
          <p:cNvSpPr/>
          <p:nvPr/>
        </p:nvSpPr>
        <p:spPr>
          <a:xfrm>
            <a:off x="368496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x6</a:t>
            </a:r>
            <a:endParaRPr lang="it-IT" sz="800" b="0" u="none" strike="noStrike">
              <a:solidFill>
                <a:srgbClr val="000000"/>
              </a:solidFill>
              <a:effectLst/>
              <a:uFillTx/>
              <a:latin typeface="Arial"/>
            </a:endParaRPr>
          </a:p>
        </p:txBody>
      </p:sp>
      <p:sp>
        <p:nvSpPr>
          <p:cNvPr id="31" name="Text 23"/>
          <p:cNvSpPr/>
          <p:nvPr/>
        </p:nvSpPr>
        <p:spPr>
          <a:xfrm>
            <a:off x="379476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6</a:t>
            </a:r>
            <a:endParaRPr lang="it-IT" sz="600" b="0" u="none" strike="noStrike">
              <a:solidFill>
                <a:srgbClr val="000000"/>
              </a:solidFill>
              <a:effectLst/>
              <a:uFillTx/>
              <a:latin typeface="Arial"/>
            </a:endParaRPr>
          </a:p>
        </p:txBody>
      </p:sp>
      <p:sp>
        <p:nvSpPr>
          <p:cNvPr id="32" name="Shape 24"/>
          <p:cNvSpPr/>
          <p:nvPr/>
        </p:nvSpPr>
        <p:spPr>
          <a:xfrm>
            <a:off x="418788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3" name="Text 25"/>
          <p:cNvSpPr/>
          <p:nvPr/>
        </p:nvSpPr>
        <p:spPr>
          <a:xfrm>
            <a:off x="421524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x7</a:t>
            </a:r>
            <a:endParaRPr lang="it-IT" sz="800" b="0" u="none" strike="noStrike">
              <a:solidFill>
                <a:srgbClr val="000000"/>
              </a:solidFill>
              <a:effectLst/>
              <a:uFillTx/>
              <a:latin typeface="Arial"/>
            </a:endParaRPr>
          </a:p>
        </p:txBody>
      </p:sp>
      <p:sp>
        <p:nvSpPr>
          <p:cNvPr id="34" name="Text 26"/>
          <p:cNvSpPr/>
          <p:nvPr/>
        </p:nvSpPr>
        <p:spPr>
          <a:xfrm>
            <a:off x="432504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7</a:t>
            </a:r>
            <a:endParaRPr lang="it-IT" sz="600" b="0" u="none" strike="noStrike">
              <a:solidFill>
                <a:srgbClr val="000000"/>
              </a:solidFill>
              <a:effectLst/>
              <a:uFillTx/>
              <a:latin typeface="Arial"/>
            </a:endParaRPr>
          </a:p>
        </p:txBody>
      </p:sp>
      <p:sp>
        <p:nvSpPr>
          <p:cNvPr id="35" name="Shape 27"/>
          <p:cNvSpPr/>
          <p:nvPr/>
        </p:nvSpPr>
        <p:spPr>
          <a:xfrm>
            <a:off x="471816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 name="Text 28"/>
          <p:cNvSpPr/>
          <p:nvPr/>
        </p:nvSpPr>
        <p:spPr>
          <a:xfrm>
            <a:off x="474588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x8</a:t>
            </a:r>
            <a:endParaRPr lang="it-IT" sz="800" b="0" u="none" strike="noStrike">
              <a:solidFill>
                <a:srgbClr val="000000"/>
              </a:solidFill>
              <a:effectLst/>
              <a:uFillTx/>
              <a:latin typeface="Arial"/>
            </a:endParaRPr>
          </a:p>
        </p:txBody>
      </p:sp>
      <p:sp>
        <p:nvSpPr>
          <p:cNvPr id="37" name="Text 29"/>
          <p:cNvSpPr/>
          <p:nvPr/>
        </p:nvSpPr>
        <p:spPr>
          <a:xfrm>
            <a:off x="485532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8</a:t>
            </a:r>
            <a:endParaRPr lang="it-IT" sz="600" b="0" u="none" strike="noStrike">
              <a:solidFill>
                <a:srgbClr val="000000"/>
              </a:solidFill>
              <a:effectLst/>
              <a:uFillTx/>
              <a:latin typeface="Arial"/>
            </a:endParaRPr>
          </a:p>
        </p:txBody>
      </p:sp>
      <p:sp>
        <p:nvSpPr>
          <p:cNvPr id="38" name="Shape 30"/>
          <p:cNvSpPr/>
          <p:nvPr/>
        </p:nvSpPr>
        <p:spPr>
          <a:xfrm>
            <a:off x="524880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9" name="Text 31"/>
          <p:cNvSpPr/>
          <p:nvPr/>
        </p:nvSpPr>
        <p:spPr>
          <a:xfrm>
            <a:off x="527616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x9</a:t>
            </a:r>
            <a:endParaRPr lang="it-IT" sz="800" b="0" u="none" strike="noStrike">
              <a:solidFill>
                <a:srgbClr val="000000"/>
              </a:solidFill>
              <a:effectLst/>
              <a:uFillTx/>
              <a:latin typeface="Arial"/>
            </a:endParaRPr>
          </a:p>
        </p:txBody>
      </p:sp>
      <p:sp>
        <p:nvSpPr>
          <p:cNvPr id="40" name="Text 32"/>
          <p:cNvSpPr/>
          <p:nvPr/>
        </p:nvSpPr>
        <p:spPr>
          <a:xfrm>
            <a:off x="538596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9</a:t>
            </a:r>
            <a:endParaRPr lang="it-IT" sz="600" b="0" u="none" strike="noStrike">
              <a:solidFill>
                <a:srgbClr val="000000"/>
              </a:solidFill>
              <a:effectLst/>
              <a:uFillTx/>
              <a:latin typeface="Arial"/>
            </a:endParaRPr>
          </a:p>
        </p:txBody>
      </p:sp>
      <p:sp>
        <p:nvSpPr>
          <p:cNvPr id="41" name="Shape 33"/>
          <p:cNvSpPr/>
          <p:nvPr/>
        </p:nvSpPr>
        <p:spPr>
          <a:xfrm>
            <a:off x="5779080" y="187452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2" name="Text 34"/>
          <p:cNvSpPr/>
          <p:nvPr/>
        </p:nvSpPr>
        <p:spPr>
          <a:xfrm>
            <a:off x="5806440" y="192024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x10</a:t>
            </a:r>
            <a:endParaRPr lang="it-IT" sz="800" b="0" u="none" strike="noStrike">
              <a:solidFill>
                <a:srgbClr val="000000"/>
              </a:solidFill>
              <a:effectLst/>
              <a:uFillTx/>
              <a:latin typeface="Arial"/>
            </a:endParaRPr>
          </a:p>
        </p:txBody>
      </p:sp>
      <p:sp>
        <p:nvSpPr>
          <p:cNvPr id="43" name="Text 35"/>
          <p:cNvSpPr/>
          <p:nvPr/>
        </p:nvSpPr>
        <p:spPr>
          <a:xfrm>
            <a:off x="5916240" y="2221920"/>
            <a:ext cx="182520" cy="10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600" b="0" u="none" strike="noStrike">
                <a:solidFill>
                  <a:srgbClr val="6B7280"/>
                </a:solidFill>
                <a:effectLst/>
                <a:uFillTx/>
                <a:latin typeface="Aptos"/>
              </a:rPr>
              <a:t>10</a:t>
            </a:r>
            <a:endParaRPr lang="it-IT" sz="600" b="0" u="none" strike="noStrike">
              <a:solidFill>
                <a:srgbClr val="000000"/>
              </a:solidFill>
              <a:effectLst/>
              <a:uFillTx/>
              <a:latin typeface="Arial"/>
            </a:endParaRPr>
          </a:p>
        </p:txBody>
      </p:sp>
      <p:sp>
        <p:nvSpPr>
          <p:cNvPr id="44" name="Shape 36"/>
          <p:cNvSpPr/>
          <p:nvPr/>
        </p:nvSpPr>
        <p:spPr>
          <a:xfrm>
            <a:off x="960120" y="1828800"/>
            <a:ext cx="1608840" cy="383760"/>
          </a:xfrm>
          <a:prstGeom prst="roundRect">
            <a:avLst>
              <a:gd name="adj" fmla="val 7143"/>
            </a:avLst>
          </a:prstGeom>
          <a:solidFill>
            <a:srgbClr val="E7F4D2">
              <a:alpha val="80000"/>
            </a:srgbClr>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5" name="Text 37"/>
          <p:cNvSpPr/>
          <p:nvPr/>
        </p:nvSpPr>
        <p:spPr>
          <a:xfrm>
            <a:off x="1664280" y="167328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86BC25"/>
                </a:solidFill>
                <a:effectLst/>
                <a:uFillTx/>
                <a:latin typeface="Aptos"/>
              </a:rPr>
              <a:t>pos 1</a:t>
            </a:r>
            <a:endParaRPr lang="it-IT" sz="700" b="0" u="none" strike="noStrike">
              <a:solidFill>
                <a:srgbClr val="000000"/>
              </a:solidFill>
              <a:effectLst/>
              <a:uFillTx/>
              <a:latin typeface="Arial"/>
            </a:endParaRPr>
          </a:p>
        </p:txBody>
      </p:sp>
      <p:sp>
        <p:nvSpPr>
          <p:cNvPr id="46" name="Shape 38"/>
          <p:cNvSpPr/>
          <p:nvPr/>
        </p:nvSpPr>
        <p:spPr>
          <a:xfrm>
            <a:off x="1490400" y="2423160"/>
            <a:ext cx="1608840" cy="383760"/>
          </a:xfrm>
          <a:prstGeom prst="roundRect">
            <a:avLst>
              <a:gd name="adj" fmla="val 7143"/>
            </a:avLst>
          </a:prstGeom>
          <a:solidFill>
            <a:srgbClr val="FFF4D7">
              <a:alpha val="80000"/>
            </a:srgbClr>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7" name="Text 39"/>
          <p:cNvSpPr/>
          <p:nvPr/>
        </p:nvSpPr>
        <p:spPr>
          <a:xfrm>
            <a:off x="2194560" y="226764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F2A900"/>
                </a:solidFill>
                <a:effectLst/>
                <a:uFillTx/>
                <a:latin typeface="Aptos"/>
              </a:rPr>
              <a:t>pos 2</a:t>
            </a:r>
            <a:endParaRPr lang="it-IT" sz="700" b="0" u="none" strike="noStrike">
              <a:solidFill>
                <a:srgbClr val="000000"/>
              </a:solidFill>
              <a:effectLst/>
              <a:uFillTx/>
              <a:latin typeface="Arial"/>
            </a:endParaRPr>
          </a:p>
        </p:txBody>
      </p:sp>
      <p:sp>
        <p:nvSpPr>
          <p:cNvPr id="48" name="Shape 40"/>
          <p:cNvSpPr/>
          <p:nvPr/>
        </p:nvSpPr>
        <p:spPr>
          <a:xfrm>
            <a:off x="4672440" y="3017520"/>
            <a:ext cx="1608840" cy="383760"/>
          </a:xfrm>
          <a:prstGeom prst="roundRect">
            <a:avLst>
              <a:gd name="adj" fmla="val 7143"/>
            </a:avLst>
          </a:prstGeom>
          <a:solidFill>
            <a:srgbClr val="EAF2FF">
              <a:alpha val="80000"/>
            </a:srgbClr>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 name="Text 41"/>
          <p:cNvSpPr/>
          <p:nvPr/>
        </p:nvSpPr>
        <p:spPr>
          <a:xfrm>
            <a:off x="5376600" y="286200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2F66D0"/>
                </a:solidFill>
                <a:effectLst/>
                <a:uFillTx/>
                <a:latin typeface="Aptos"/>
              </a:rPr>
              <a:t>pos 8</a:t>
            </a:r>
            <a:endParaRPr lang="it-IT" sz="700" b="0" u="none" strike="noStrike">
              <a:solidFill>
                <a:srgbClr val="000000"/>
              </a:solidFill>
              <a:effectLst/>
              <a:uFillTx/>
              <a:latin typeface="Arial"/>
            </a:endParaRPr>
          </a:p>
        </p:txBody>
      </p:sp>
      <p:sp>
        <p:nvSpPr>
          <p:cNvPr id="50" name="Text 42"/>
          <p:cNvSpPr/>
          <p:nvPr/>
        </p:nvSpPr>
        <p:spPr>
          <a:xfrm>
            <a:off x="1005840" y="1389960"/>
            <a:ext cx="37486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11827"/>
                </a:solidFill>
                <a:effectLst/>
                <a:uFillTx/>
                <a:latin typeface="Aptos"/>
              </a:rPr>
              <a:t>L = 10, K = 3, S = 1, valid padding</a:t>
            </a:r>
            <a:endParaRPr lang="it-IT" sz="1300" b="0" u="none" strike="noStrike">
              <a:solidFill>
                <a:srgbClr val="000000"/>
              </a:solidFill>
              <a:effectLst/>
              <a:uFillTx/>
              <a:latin typeface="Arial"/>
            </a:endParaRPr>
          </a:p>
        </p:txBody>
      </p:sp>
      <p:sp>
        <p:nvSpPr>
          <p:cNvPr id="51" name="Text 43"/>
          <p:cNvSpPr/>
          <p:nvPr/>
        </p:nvSpPr>
        <p:spPr>
          <a:xfrm>
            <a:off x="1005840" y="3703320"/>
            <a:ext cx="42973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111827"/>
                </a:solidFill>
                <a:effectLst/>
                <a:uFillTx/>
                <a:latin typeface="Aptos"/>
              </a:rPr>
              <a:t>Valid positions: 1–3, 2–4, ..., 8–10</a:t>
            </a:r>
            <a:endParaRPr lang="it-IT" sz="1300" b="0" u="none" strike="noStrike">
              <a:solidFill>
                <a:srgbClr val="000000"/>
              </a:solidFill>
              <a:effectLst/>
              <a:uFillTx/>
              <a:latin typeface="Arial"/>
            </a:endParaRPr>
          </a:p>
        </p:txBody>
      </p:sp>
      <p:sp>
        <p:nvSpPr>
          <p:cNvPr id="52" name="Shape 44"/>
          <p:cNvSpPr/>
          <p:nvPr/>
        </p:nvSpPr>
        <p:spPr>
          <a:xfrm>
            <a:off x="6583680" y="2377440"/>
            <a:ext cx="1828440" cy="639720"/>
          </a:xfrm>
          <a:prstGeom prst="roundRect">
            <a:avLst>
              <a:gd name="adj" fmla="val 7143"/>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3" name="Text 45"/>
          <p:cNvSpPr/>
          <p:nvPr/>
        </p:nvSpPr>
        <p:spPr>
          <a:xfrm>
            <a:off x="6611040" y="2597040"/>
            <a:ext cx="17737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111827"/>
                </a:solidFill>
                <a:effectLst/>
                <a:uFillTx/>
                <a:latin typeface="Aptos"/>
              </a:rPr>
              <a:t>L_out = 8</a:t>
            </a:r>
            <a:endParaRPr lang="it-IT" sz="1800" b="0" u="none" strike="noStrike">
              <a:solidFill>
                <a:srgbClr val="000000"/>
              </a:solidFill>
              <a:effectLst/>
              <a:uFillTx/>
              <a:latin typeface="Arial"/>
            </a:endParaRPr>
          </a:p>
        </p:txBody>
      </p:sp>
      <p:sp>
        <p:nvSpPr>
          <p:cNvPr id="54" name="Shape 46"/>
          <p:cNvSpPr/>
          <p:nvPr/>
        </p:nvSpPr>
        <p:spPr>
          <a:xfrm flipV="1">
            <a:off x="5394960" y="2697480"/>
            <a:ext cx="1051560" cy="91440"/>
          </a:xfrm>
          <a:prstGeom prst="line">
            <a:avLst/>
          </a:prstGeom>
          <a:ln w="1778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5" name="Shape 47"/>
          <p:cNvSpPr/>
          <p:nvPr/>
        </p:nvSpPr>
        <p:spPr>
          <a:xfrm>
            <a:off x="6400800" y="3337560"/>
            <a:ext cx="3108600" cy="456840"/>
          </a:xfrm>
          <a:prstGeom prst="roundRect">
            <a:avLst>
              <a:gd name="adj" fmla="val 10000"/>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6" name="Text 48"/>
          <p:cNvSpPr/>
          <p:nvPr/>
        </p:nvSpPr>
        <p:spPr>
          <a:xfrm>
            <a:off x="6428160" y="3465720"/>
            <a:ext cx="3053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0" u="none" strike="noStrike">
                <a:solidFill>
                  <a:srgbClr val="111827"/>
                </a:solidFill>
                <a:effectLst/>
                <a:uFillTx/>
                <a:latin typeface="Aptos"/>
              </a:rPr>
              <a:t>kernel positions become output positions</a:t>
            </a:r>
            <a:endParaRPr lang="it-IT" sz="11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D57DBF9-99E3-E626-06B5-BB09D59BBDFE}"/>
              </a:ext>
            </a:extLst>
          </p:cNvPr>
          <p:cNvSpPr>
            <a:spLocks noGrp="1"/>
          </p:cNvSpPr>
          <p:nvPr>
            <p:ph type="title"/>
          </p:nvPr>
        </p:nvSpPr>
        <p:spPr/>
        <p:txBody>
          <a:bodyPr/>
          <a:lstStyle/>
          <a:p>
            <a:r>
              <a:rPr lang="en-GB" dirty="0"/>
              <a:t>Kernel size determines the local temporal support</a:t>
            </a:r>
          </a:p>
        </p:txBody>
      </p:sp>
      <p:sp>
        <p:nvSpPr>
          <p:cNvPr id="3" name="Segnaposto contenuto 2">
            <a:extLst>
              <a:ext uri="{FF2B5EF4-FFF2-40B4-BE49-F238E27FC236}">
                <a16:creationId xmlns:a16="http://schemas.microsoft.com/office/drawing/2014/main" id="{FAED9266-6AD2-1A97-A1A2-C11E02AB5214}"/>
              </a:ext>
            </a:extLst>
          </p:cNvPr>
          <p:cNvSpPr>
            <a:spLocks noGrp="1"/>
          </p:cNvSpPr>
          <p:nvPr>
            <p:ph idx="1"/>
          </p:nvPr>
        </p:nvSpPr>
        <p:spPr/>
        <p:txBody>
          <a:bodyPr>
            <a:normAutofit/>
          </a:bodyPr>
          <a:lstStyle/>
          <a:p>
            <a:r>
              <a:rPr lang="en-GB" dirty="0"/>
              <a:t>The kernel size K determines how many </a:t>
            </a:r>
            <a:r>
              <a:rPr lang="en-GB" dirty="0" err="1"/>
              <a:t>neighboring</a:t>
            </a:r>
            <a:r>
              <a:rPr lang="en-GB" dirty="0"/>
              <a:t> time steps contribute directly to one convolutional output.</a:t>
            </a:r>
          </a:p>
          <a:p>
            <a:r>
              <a:rPr lang="en-GB" dirty="0"/>
              <a:t>Example: K = 3</a:t>
            </a:r>
          </a:p>
          <a:p>
            <a:r>
              <a:rPr lang="en-GB" dirty="0"/>
              <a:t>One activation may use:</a:t>
            </a:r>
          </a:p>
          <a:p>
            <a:pPr lvl="1"/>
            <a:r>
              <a:rPr lang="en-GB" dirty="0"/>
              <a:t>x[t]</a:t>
            </a:r>
          </a:p>
          <a:p>
            <a:pPr lvl="1"/>
            <a:r>
              <a:rPr lang="en-GB" dirty="0"/>
              <a:t>x[t+1]</a:t>
            </a:r>
          </a:p>
          <a:p>
            <a:pPr lvl="1"/>
            <a:r>
              <a:rPr lang="en-GB" dirty="0"/>
              <a:t>x[t+2]</a:t>
            </a:r>
          </a:p>
          <a:p>
            <a:r>
              <a:rPr lang="en-GB" dirty="0"/>
              <a:t>A larger kernel: K = 7</a:t>
            </a:r>
          </a:p>
          <a:p>
            <a:r>
              <a:rPr lang="en-GB" dirty="0"/>
              <a:t>uses seven consecutive time steps.</a:t>
            </a:r>
          </a:p>
          <a:p>
            <a:endParaRPr lang="en-GB" dirty="0"/>
          </a:p>
        </p:txBody>
      </p:sp>
    </p:spTree>
    <p:extLst>
      <p:ext uri="{BB962C8B-B14F-4D97-AF65-F5344CB8AC3E}">
        <p14:creationId xmlns:p14="http://schemas.microsoft.com/office/powerpoint/2010/main" val="35111683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8"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9"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Kernel size determines local temporal support</a:t>
            </a:r>
            <a:endParaRPr lang="it-IT" sz="2200" b="0" u="none" strike="noStrike">
              <a:solidFill>
                <a:srgbClr val="000000"/>
              </a:solidFill>
              <a:effectLst/>
              <a:uFillTx/>
              <a:latin typeface="Arial"/>
            </a:endParaRPr>
          </a:p>
        </p:txBody>
      </p:sp>
      <p:sp>
        <p:nvSpPr>
          <p:cNvPr id="60"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dirty="0">
                <a:solidFill>
                  <a:srgbClr val="506070"/>
                </a:solidFill>
                <a:effectLst/>
                <a:highlight>
                  <a:srgbClr val="FFFF00"/>
                </a:highlight>
                <a:uFillTx/>
                <a:latin typeface="Aptos"/>
              </a:rPr>
              <a:t>The same number of frames/samples can mean a different duration at a different sampling rate.</a:t>
            </a:r>
            <a:endParaRPr lang="it-IT" sz="1050" b="1" u="none" strike="noStrike" dirty="0">
              <a:solidFill>
                <a:srgbClr val="000000"/>
              </a:solidFill>
              <a:effectLst/>
              <a:highlight>
                <a:srgbClr val="FFFF00"/>
              </a:highlight>
              <a:uFillTx/>
              <a:latin typeface="Arial"/>
            </a:endParaRPr>
          </a:p>
        </p:txBody>
      </p:sp>
      <p:sp>
        <p:nvSpPr>
          <p:cNvPr id="61"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2"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dirty="0">
                <a:solidFill>
                  <a:srgbClr val="111827"/>
                </a:solidFill>
                <a:effectLst/>
                <a:uFillTx/>
                <a:latin typeface="Aptos"/>
              </a:rPr>
              <a:t>Kernel size should be interpreted in physical time as well as in frames/samples.</a:t>
            </a:r>
            <a:endParaRPr lang="it-IT" sz="1050" b="0" u="none" strike="noStrike" dirty="0">
              <a:solidFill>
                <a:srgbClr val="000000"/>
              </a:solidFill>
              <a:effectLst/>
              <a:uFillTx/>
              <a:latin typeface="Arial"/>
            </a:endParaRPr>
          </a:p>
        </p:txBody>
      </p:sp>
      <p:sp>
        <p:nvSpPr>
          <p:cNvPr id="63" name="Text 6"/>
          <p:cNvSpPr/>
          <p:nvPr/>
        </p:nvSpPr>
        <p:spPr>
          <a:xfrm>
            <a:off x="1005840" y="1371600"/>
            <a:ext cx="20113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86BC25"/>
                </a:solidFill>
                <a:effectLst/>
                <a:uFillTx/>
                <a:latin typeface="Aptos"/>
              </a:rPr>
              <a:t>K = 5 samples</a:t>
            </a:r>
            <a:endParaRPr lang="it-IT" sz="1600" b="0" u="none" strike="noStrike">
              <a:solidFill>
                <a:srgbClr val="000000"/>
              </a:solidFill>
              <a:effectLst/>
              <a:uFillTx/>
              <a:latin typeface="Arial"/>
            </a:endParaRPr>
          </a:p>
        </p:txBody>
      </p:sp>
      <p:sp>
        <p:nvSpPr>
          <p:cNvPr id="64" name="Shape 7"/>
          <p:cNvSpPr/>
          <p:nvPr/>
        </p:nvSpPr>
        <p:spPr>
          <a:xfrm>
            <a:off x="1005840" y="192024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5" name="Text 8"/>
          <p:cNvSpPr/>
          <p:nvPr/>
        </p:nvSpPr>
        <p:spPr>
          <a:xfrm>
            <a:off x="1033200" y="196596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x1</a:t>
            </a:r>
            <a:endParaRPr lang="it-IT" sz="800" b="0" u="none" strike="noStrike">
              <a:solidFill>
                <a:srgbClr val="000000"/>
              </a:solidFill>
              <a:effectLst/>
              <a:uFillTx/>
              <a:latin typeface="Arial"/>
            </a:endParaRPr>
          </a:p>
        </p:txBody>
      </p:sp>
      <p:sp>
        <p:nvSpPr>
          <p:cNvPr id="66" name="Shape 9"/>
          <p:cNvSpPr/>
          <p:nvPr/>
        </p:nvSpPr>
        <p:spPr>
          <a:xfrm>
            <a:off x="1508760" y="192024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7" name="Text 10"/>
          <p:cNvSpPr/>
          <p:nvPr/>
        </p:nvSpPr>
        <p:spPr>
          <a:xfrm>
            <a:off x="1536120" y="196596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x2</a:t>
            </a:r>
            <a:endParaRPr lang="it-IT" sz="800" b="0" u="none" strike="noStrike">
              <a:solidFill>
                <a:srgbClr val="000000"/>
              </a:solidFill>
              <a:effectLst/>
              <a:uFillTx/>
              <a:latin typeface="Arial"/>
            </a:endParaRPr>
          </a:p>
        </p:txBody>
      </p:sp>
      <p:sp>
        <p:nvSpPr>
          <p:cNvPr id="68" name="Shape 11"/>
          <p:cNvSpPr/>
          <p:nvPr/>
        </p:nvSpPr>
        <p:spPr>
          <a:xfrm>
            <a:off x="2011680" y="192024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9" name="Text 12"/>
          <p:cNvSpPr/>
          <p:nvPr/>
        </p:nvSpPr>
        <p:spPr>
          <a:xfrm>
            <a:off x="2039040" y="196596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x3</a:t>
            </a:r>
            <a:endParaRPr lang="it-IT" sz="800" b="0" u="none" strike="noStrike">
              <a:solidFill>
                <a:srgbClr val="000000"/>
              </a:solidFill>
              <a:effectLst/>
              <a:uFillTx/>
              <a:latin typeface="Arial"/>
            </a:endParaRPr>
          </a:p>
        </p:txBody>
      </p:sp>
      <p:sp>
        <p:nvSpPr>
          <p:cNvPr id="70" name="Shape 13"/>
          <p:cNvSpPr/>
          <p:nvPr/>
        </p:nvSpPr>
        <p:spPr>
          <a:xfrm>
            <a:off x="2514600" y="192024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1" name="Text 14"/>
          <p:cNvSpPr/>
          <p:nvPr/>
        </p:nvSpPr>
        <p:spPr>
          <a:xfrm>
            <a:off x="2541960" y="196596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x4</a:t>
            </a:r>
            <a:endParaRPr lang="it-IT" sz="800" b="0" u="none" strike="noStrike">
              <a:solidFill>
                <a:srgbClr val="000000"/>
              </a:solidFill>
              <a:effectLst/>
              <a:uFillTx/>
              <a:latin typeface="Arial"/>
            </a:endParaRPr>
          </a:p>
        </p:txBody>
      </p:sp>
      <p:sp>
        <p:nvSpPr>
          <p:cNvPr id="72" name="Shape 15"/>
          <p:cNvSpPr/>
          <p:nvPr/>
        </p:nvSpPr>
        <p:spPr>
          <a:xfrm>
            <a:off x="3017520" y="192024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3" name="Text 16"/>
          <p:cNvSpPr/>
          <p:nvPr/>
        </p:nvSpPr>
        <p:spPr>
          <a:xfrm>
            <a:off x="3044880" y="196596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x5</a:t>
            </a:r>
            <a:endParaRPr lang="it-IT" sz="800" b="0" u="none" strike="noStrike">
              <a:solidFill>
                <a:srgbClr val="000000"/>
              </a:solidFill>
              <a:effectLst/>
              <a:uFillTx/>
              <a:latin typeface="Arial"/>
            </a:endParaRPr>
          </a:p>
        </p:txBody>
      </p:sp>
      <p:sp>
        <p:nvSpPr>
          <p:cNvPr id="74" name="Shape 17"/>
          <p:cNvSpPr/>
          <p:nvPr/>
        </p:nvSpPr>
        <p:spPr>
          <a:xfrm>
            <a:off x="3520440" y="192024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5" name="Text 18"/>
          <p:cNvSpPr/>
          <p:nvPr/>
        </p:nvSpPr>
        <p:spPr>
          <a:xfrm>
            <a:off x="3547800" y="196596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x6</a:t>
            </a:r>
            <a:endParaRPr lang="it-IT" sz="800" b="0" u="none" strike="noStrike">
              <a:solidFill>
                <a:srgbClr val="000000"/>
              </a:solidFill>
              <a:effectLst/>
              <a:uFillTx/>
              <a:latin typeface="Arial"/>
            </a:endParaRPr>
          </a:p>
        </p:txBody>
      </p:sp>
      <p:sp>
        <p:nvSpPr>
          <p:cNvPr id="76" name="Shape 19"/>
          <p:cNvSpPr/>
          <p:nvPr/>
        </p:nvSpPr>
        <p:spPr>
          <a:xfrm>
            <a:off x="4023360" y="192024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7" name="Text 20"/>
          <p:cNvSpPr/>
          <p:nvPr/>
        </p:nvSpPr>
        <p:spPr>
          <a:xfrm>
            <a:off x="4050720" y="196596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x7</a:t>
            </a:r>
            <a:endParaRPr lang="it-IT" sz="800" b="0" u="none" strike="noStrike">
              <a:solidFill>
                <a:srgbClr val="000000"/>
              </a:solidFill>
              <a:effectLst/>
              <a:uFillTx/>
              <a:latin typeface="Arial"/>
            </a:endParaRPr>
          </a:p>
        </p:txBody>
      </p:sp>
      <p:sp>
        <p:nvSpPr>
          <p:cNvPr id="78" name="Shape 21"/>
          <p:cNvSpPr/>
          <p:nvPr/>
        </p:nvSpPr>
        <p:spPr>
          <a:xfrm>
            <a:off x="4526280" y="192024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9" name="Text 22"/>
          <p:cNvSpPr/>
          <p:nvPr/>
        </p:nvSpPr>
        <p:spPr>
          <a:xfrm>
            <a:off x="4553640" y="196596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x8</a:t>
            </a:r>
            <a:endParaRPr lang="it-IT" sz="800" b="0" u="none" strike="noStrike">
              <a:solidFill>
                <a:srgbClr val="000000"/>
              </a:solidFill>
              <a:effectLst/>
              <a:uFillTx/>
              <a:latin typeface="Arial"/>
            </a:endParaRPr>
          </a:p>
        </p:txBody>
      </p:sp>
      <p:sp>
        <p:nvSpPr>
          <p:cNvPr id="80" name="Shape 23"/>
          <p:cNvSpPr/>
          <p:nvPr/>
        </p:nvSpPr>
        <p:spPr>
          <a:xfrm>
            <a:off x="1463040" y="1874520"/>
            <a:ext cx="2532600" cy="383760"/>
          </a:xfrm>
          <a:prstGeom prst="roundRect">
            <a:avLst>
              <a:gd name="adj" fmla="val 7143"/>
            </a:avLst>
          </a:prstGeom>
          <a:solidFill>
            <a:srgbClr val="E7F4D2">
              <a:alpha val="80000"/>
            </a:srgbClr>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81" name="Text 24"/>
          <p:cNvSpPr/>
          <p:nvPr/>
        </p:nvSpPr>
        <p:spPr>
          <a:xfrm>
            <a:off x="2629080" y="171900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86BC25"/>
                </a:solidFill>
                <a:effectLst/>
                <a:uFillTx/>
                <a:latin typeface="Aptos"/>
              </a:rPr>
              <a:t>K=5</a:t>
            </a:r>
            <a:endParaRPr lang="it-IT" sz="700" b="0" u="none" strike="noStrike">
              <a:solidFill>
                <a:srgbClr val="000000"/>
              </a:solidFill>
              <a:effectLst/>
              <a:uFillTx/>
              <a:latin typeface="Arial"/>
            </a:endParaRPr>
          </a:p>
        </p:txBody>
      </p:sp>
      <p:sp>
        <p:nvSpPr>
          <p:cNvPr id="82" name="Text 25"/>
          <p:cNvSpPr/>
          <p:nvPr/>
        </p:nvSpPr>
        <p:spPr>
          <a:xfrm>
            <a:off x="1097280" y="2926080"/>
            <a:ext cx="14626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11827"/>
                </a:solidFill>
                <a:effectLst/>
                <a:uFillTx/>
                <a:latin typeface="Aptos"/>
              </a:rPr>
              <a:t>Fs = 50 Hz</a:t>
            </a:r>
            <a:endParaRPr lang="it-IT" sz="1300" b="0" u="none" strike="noStrike">
              <a:solidFill>
                <a:srgbClr val="000000"/>
              </a:solidFill>
              <a:effectLst/>
              <a:uFillTx/>
              <a:latin typeface="Arial"/>
            </a:endParaRPr>
          </a:p>
        </p:txBody>
      </p:sp>
      <p:sp>
        <p:nvSpPr>
          <p:cNvPr id="83" name="Shape 26"/>
          <p:cNvSpPr/>
          <p:nvPr/>
        </p:nvSpPr>
        <p:spPr>
          <a:xfrm>
            <a:off x="1097280" y="3291840"/>
            <a:ext cx="2194200" cy="548280"/>
          </a:xfrm>
          <a:prstGeom prst="roundRect">
            <a:avLst>
              <a:gd name="adj" fmla="val 8333"/>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84" name="Text 27"/>
          <p:cNvSpPr/>
          <p:nvPr/>
        </p:nvSpPr>
        <p:spPr>
          <a:xfrm>
            <a:off x="1124640" y="346572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111827"/>
                </a:solidFill>
                <a:effectLst/>
                <a:uFillTx/>
                <a:latin typeface="Aptos"/>
              </a:rPr>
              <a:t>5 / 50 = 0.1 s</a:t>
            </a:r>
            <a:endParaRPr lang="it-IT" sz="1500" b="0" u="none" strike="noStrike">
              <a:solidFill>
                <a:srgbClr val="000000"/>
              </a:solidFill>
              <a:effectLst/>
              <a:uFillTx/>
              <a:latin typeface="Arial"/>
            </a:endParaRPr>
          </a:p>
        </p:txBody>
      </p:sp>
      <p:sp>
        <p:nvSpPr>
          <p:cNvPr id="85" name="Text 28"/>
          <p:cNvSpPr/>
          <p:nvPr/>
        </p:nvSpPr>
        <p:spPr>
          <a:xfrm>
            <a:off x="5943600" y="2926080"/>
            <a:ext cx="16455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11827"/>
                </a:solidFill>
                <a:effectLst/>
                <a:uFillTx/>
                <a:latin typeface="Aptos"/>
              </a:rPr>
              <a:t>Fs = 100 Hz</a:t>
            </a:r>
            <a:endParaRPr lang="it-IT" sz="1300" b="0" u="none" strike="noStrike">
              <a:solidFill>
                <a:srgbClr val="000000"/>
              </a:solidFill>
              <a:effectLst/>
              <a:uFillTx/>
              <a:latin typeface="Arial"/>
            </a:endParaRPr>
          </a:p>
        </p:txBody>
      </p:sp>
      <p:sp>
        <p:nvSpPr>
          <p:cNvPr id="86" name="Shape 29"/>
          <p:cNvSpPr/>
          <p:nvPr/>
        </p:nvSpPr>
        <p:spPr>
          <a:xfrm>
            <a:off x="5943600" y="3291840"/>
            <a:ext cx="2377080" cy="548280"/>
          </a:xfrm>
          <a:prstGeom prst="roundRect">
            <a:avLst>
              <a:gd name="adj" fmla="val 8333"/>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87" name="Text 30"/>
          <p:cNvSpPr/>
          <p:nvPr/>
        </p:nvSpPr>
        <p:spPr>
          <a:xfrm>
            <a:off x="5970960" y="3465720"/>
            <a:ext cx="23223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111827"/>
                </a:solidFill>
                <a:effectLst/>
                <a:uFillTx/>
                <a:latin typeface="Aptos"/>
              </a:rPr>
              <a:t>5 / 100 = 0.05 s</a:t>
            </a:r>
            <a:endParaRPr lang="it-IT" sz="1500" b="0" u="none" strike="noStrike">
              <a:solidFill>
                <a:srgbClr val="000000"/>
              </a:solidFill>
              <a:effectLst/>
              <a:uFillTx/>
              <a:latin typeface="Arial"/>
            </a:endParaRPr>
          </a:p>
        </p:txBody>
      </p:sp>
      <p:sp>
        <p:nvSpPr>
          <p:cNvPr id="88" name="Shape 31"/>
          <p:cNvSpPr/>
          <p:nvPr/>
        </p:nvSpPr>
        <p:spPr>
          <a:xfrm>
            <a:off x="4297680" y="1371600"/>
            <a:ext cx="360" cy="3474720"/>
          </a:xfrm>
          <a:prstGeom prst="line">
            <a:avLst/>
          </a:prstGeom>
          <a:ln w="1270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grpSp>
        <p:nvGrpSpPr>
          <p:cNvPr id="5" name="Gruppo 4">
            <a:extLst>
              <a:ext uri="{FF2B5EF4-FFF2-40B4-BE49-F238E27FC236}">
                <a16:creationId xmlns:a16="http://schemas.microsoft.com/office/drawing/2014/main" id="{ED6CF3E5-AB7C-370A-14E0-F110C4CC8395}"/>
              </a:ext>
            </a:extLst>
          </p:cNvPr>
          <p:cNvGrpSpPr/>
          <p:nvPr/>
        </p:nvGrpSpPr>
        <p:grpSpPr>
          <a:xfrm>
            <a:off x="2234977" y="5630295"/>
            <a:ext cx="4344285" cy="182520"/>
            <a:chOff x="1009455" y="5605035"/>
            <a:chExt cx="4344285" cy="182520"/>
          </a:xfrm>
        </p:grpSpPr>
        <p:sp>
          <p:nvSpPr>
            <p:cNvPr id="89" name="Text 32"/>
            <p:cNvSpPr/>
            <p:nvPr/>
          </p:nvSpPr>
          <p:spPr>
            <a:xfrm>
              <a:off x="1009455" y="5605035"/>
              <a:ext cx="11426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111827"/>
                  </a:solidFill>
                  <a:effectLst/>
                  <a:uFillTx/>
                  <a:latin typeface="Aptos"/>
                </a:rPr>
                <a:t>Design question:</a:t>
              </a:r>
              <a:endParaRPr lang="it-IT" sz="1200" b="0" u="none" strike="noStrike" dirty="0">
                <a:solidFill>
                  <a:srgbClr val="000000"/>
                </a:solidFill>
                <a:effectLst/>
                <a:uFillTx/>
                <a:latin typeface="Arial"/>
              </a:endParaRPr>
            </a:p>
          </p:txBody>
        </p:sp>
        <p:sp>
          <p:nvSpPr>
            <p:cNvPr id="90" name="Text 33"/>
            <p:cNvSpPr/>
            <p:nvPr/>
          </p:nvSpPr>
          <p:spPr>
            <a:xfrm>
              <a:off x="2335335" y="5605035"/>
              <a:ext cx="3018405"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dirty="0">
                  <a:effectLst/>
                  <a:uFillTx/>
                  <a:latin typeface="Aptos"/>
                </a:rPr>
                <a:t>What duration should the first layer inspect directly?</a:t>
              </a:r>
              <a:endParaRPr lang="it-IT" sz="1600" b="1" u="none" strike="noStrike" dirty="0">
                <a:effectLst/>
                <a:uFillTx/>
                <a:latin typeface="Arial"/>
              </a:endParaRPr>
            </a:p>
          </p:txBody>
        </p:sp>
      </p:grpSp>
      <p:sp>
        <p:nvSpPr>
          <p:cNvPr id="3" name="CasellaDiTesto 2">
            <a:extLst>
              <a:ext uri="{FF2B5EF4-FFF2-40B4-BE49-F238E27FC236}">
                <a16:creationId xmlns:a16="http://schemas.microsoft.com/office/drawing/2014/main" id="{DB21DF39-F456-59C8-C0F3-2C92C3D0910C}"/>
              </a:ext>
            </a:extLst>
          </p:cNvPr>
          <p:cNvSpPr txBox="1"/>
          <p:nvPr/>
        </p:nvSpPr>
        <p:spPr>
          <a:xfrm>
            <a:off x="2203380" y="4624275"/>
            <a:ext cx="6105524" cy="461665"/>
          </a:xfrm>
          <a:prstGeom prst="rect">
            <a:avLst/>
          </a:prstGeom>
          <a:noFill/>
        </p:spPr>
        <p:txBody>
          <a:bodyPr wrap="square">
            <a:spAutoFit/>
          </a:bodyPr>
          <a:lstStyle/>
          <a:p>
            <a:r>
              <a:rPr lang="en-GB" sz="1200" dirty="0"/>
              <a:t>Small kernels focus on shorter local patterns.</a:t>
            </a:r>
          </a:p>
          <a:p>
            <a:r>
              <a:rPr lang="en-GB" sz="1200" dirty="0"/>
              <a:t>Large kernels inspect longer temporal structures directly.</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FDC3682-44E4-92FC-A4F0-AE04E23E6430}"/>
              </a:ext>
            </a:extLst>
          </p:cNvPr>
          <p:cNvSpPr>
            <a:spLocks noGrp="1"/>
          </p:cNvSpPr>
          <p:nvPr>
            <p:ph type="title"/>
          </p:nvPr>
        </p:nvSpPr>
        <p:spPr/>
        <p:txBody>
          <a:bodyPr/>
          <a:lstStyle/>
          <a:p>
            <a:r>
              <a:rPr lang="en-GB" dirty="0"/>
              <a:t>Stride controls how far the kernel moves</a:t>
            </a:r>
          </a:p>
        </p:txBody>
      </p:sp>
      <p:sp>
        <p:nvSpPr>
          <p:cNvPr id="3" name="Segnaposto contenuto 2">
            <a:extLst>
              <a:ext uri="{FF2B5EF4-FFF2-40B4-BE49-F238E27FC236}">
                <a16:creationId xmlns:a16="http://schemas.microsoft.com/office/drawing/2014/main" id="{6CE7D84D-9984-3A22-4443-07BC8791DA94}"/>
              </a:ext>
            </a:extLst>
          </p:cNvPr>
          <p:cNvSpPr>
            <a:spLocks noGrp="1"/>
          </p:cNvSpPr>
          <p:nvPr>
            <p:ph idx="1"/>
          </p:nvPr>
        </p:nvSpPr>
        <p:spPr/>
        <p:txBody>
          <a:bodyPr>
            <a:normAutofit fontScale="92500" lnSpcReduction="20000"/>
          </a:bodyPr>
          <a:lstStyle/>
          <a:p>
            <a:r>
              <a:rPr lang="en-GB" dirty="0"/>
              <a:t>The stride S specifies the displacement of the convolutional kernel between two consecutive positions.</a:t>
            </a:r>
          </a:p>
          <a:p>
            <a:r>
              <a:rPr lang="en-GB" b="1" dirty="0"/>
              <a:t>Stride 1</a:t>
            </a:r>
          </a:p>
          <a:p>
            <a:pPr lvl="1"/>
            <a:r>
              <a:rPr lang="en-GB" dirty="0"/>
              <a:t>position 1: [x1 x2 x3]</a:t>
            </a:r>
          </a:p>
          <a:p>
            <a:pPr lvl="1"/>
            <a:r>
              <a:rPr lang="en-GB" dirty="0"/>
              <a:t>position 2:      [x2 x3 x4]</a:t>
            </a:r>
          </a:p>
          <a:p>
            <a:pPr lvl="1"/>
            <a:r>
              <a:rPr lang="en-GB" dirty="0"/>
              <a:t>position 3:           [x3 x4 x5]</a:t>
            </a:r>
          </a:p>
          <a:p>
            <a:r>
              <a:rPr lang="en-GB" dirty="0"/>
              <a:t>The filter moves one time step at a time.</a:t>
            </a:r>
          </a:p>
          <a:p>
            <a:r>
              <a:rPr lang="en-GB" b="1" dirty="0"/>
              <a:t>Stride 2</a:t>
            </a:r>
          </a:p>
          <a:p>
            <a:pPr lvl="1"/>
            <a:r>
              <a:rPr lang="en-GB" dirty="0"/>
              <a:t>position 1: [x1 x2 x3]</a:t>
            </a:r>
          </a:p>
          <a:p>
            <a:pPr lvl="1"/>
            <a:r>
              <a:rPr lang="en-GB" dirty="0"/>
              <a:t>position 2:           [x3 x4 x5]</a:t>
            </a:r>
          </a:p>
          <a:p>
            <a:pPr lvl="1"/>
            <a:r>
              <a:rPr lang="en-GB" dirty="0"/>
              <a:t>position 3:                     [x5 x6 x7]</a:t>
            </a:r>
          </a:p>
          <a:p>
            <a:r>
              <a:rPr lang="en-GB" dirty="0"/>
              <a:t>The filter moves two time steps at a time.</a:t>
            </a:r>
          </a:p>
          <a:p>
            <a:endParaRPr lang="en-GB" dirty="0"/>
          </a:p>
        </p:txBody>
      </p:sp>
    </p:spTree>
    <p:extLst>
      <p:ext uri="{BB962C8B-B14F-4D97-AF65-F5344CB8AC3E}">
        <p14:creationId xmlns:p14="http://schemas.microsoft.com/office/powerpoint/2010/main" val="27176890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BFB8B-D02E-1ECD-7D87-B542E9FF607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C18BA69-7F7E-27A7-FE15-1269EA24B466}"/>
              </a:ext>
            </a:extLst>
          </p:cNvPr>
          <p:cNvSpPr>
            <a:spLocks noGrp="1"/>
          </p:cNvSpPr>
          <p:nvPr>
            <p:ph type="title"/>
          </p:nvPr>
        </p:nvSpPr>
        <p:spPr/>
        <p:txBody>
          <a:bodyPr/>
          <a:lstStyle/>
          <a:p>
            <a:r>
              <a:rPr lang="en-GB" dirty="0"/>
              <a:t>Stride controls how far the kernel moves</a:t>
            </a:r>
          </a:p>
        </p:txBody>
      </p:sp>
      <p:sp>
        <p:nvSpPr>
          <p:cNvPr id="3" name="Segnaposto contenuto 2">
            <a:extLst>
              <a:ext uri="{FF2B5EF4-FFF2-40B4-BE49-F238E27FC236}">
                <a16:creationId xmlns:a16="http://schemas.microsoft.com/office/drawing/2014/main" id="{500CA69D-A0A8-7F2A-4FB4-09959F8C1A70}"/>
              </a:ext>
            </a:extLst>
          </p:cNvPr>
          <p:cNvSpPr>
            <a:spLocks noGrp="1"/>
          </p:cNvSpPr>
          <p:nvPr>
            <p:ph idx="1"/>
          </p:nvPr>
        </p:nvSpPr>
        <p:spPr/>
        <p:txBody>
          <a:bodyPr>
            <a:normAutofit/>
          </a:bodyPr>
          <a:lstStyle/>
          <a:p>
            <a:r>
              <a:rPr lang="en-GB" b="1" dirty="0"/>
              <a:t>Consequence</a:t>
            </a:r>
          </a:p>
          <a:p>
            <a:r>
              <a:rPr lang="en-GB" dirty="0"/>
              <a:t>Increasing stride reduces temporal resolution.</a:t>
            </a:r>
          </a:p>
          <a:p>
            <a:r>
              <a:rPr lang="en-GB" dirty="0"/>
              <a:t>For example: input length = 100</a:t>
            </a:r>
          </a:p>
          <a:p>
            <a:pPr lvl="1"/>
            <a:r>
              <a:rPr lang="en-GB" dirty="0"/>
              <a:t>stride = 2</a:t>
            </a:r>
          </a:p>
          <a:p>
            <a:r>
              <a:rPr lang="en-GB" dirty="0"/>
              <a:t>produces approximately half as many output positions.</a:t>
            </a:r>
          </a:p>
          <a:p>
            <a:endParaRPr lang="en-GB" dirty="0"/>
          </a:p>
          <a:p>
            <a:r>
              <a:rPr lang="en-GB" dirty="0"/>
              <a:t>Stride is both a computational choice and a </a:t>
            </a:r>
            <a:r>
              <a:rPr lang="en-GB" b="1" dirty="0"/>
              <a:t>temporal-resolution choice.</a:t>
            </a:r>
          </a:p>
          <a:p>
            <a:endParaRPr lang="en-GB" dirty="0"/>
          </a:p>
        </p:txBody>
      </p:sp>
    </p:spTree>
    <p:extLst>
      <p:ext uri="{BB962C8B-B14F-4D97-AF65-F5344CB8AC3E}">
        <p14:creationId xmlns:p14="http://schemas.microsoft.com/office/powerpoint/2010/main" val="40739694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92"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93"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111827"/>
                </a:solidFill>
                <a:effectLst/>
                <a:highlight>
                  <a:srgbClr val="FFFF00"/>
                </a:highlight>
                <a:uFillTx/>
                <a:latin typeface="Aptos Display"/>
                <a:ea typeface="Aptos Display"/>
              </a:rPr>
              <a:t>Stride controls output spacing</a:t>
            </a:r>
            <a:endParaRPr lang="it-IT" sz="2200" b="0" u="none" strike="noStrike" dirty="0">
              <a:solidFill>
                <a:srgbClr val="000000"/>
              </a:solidFill>
              <a:effectLst/>
              <a:highlight>
                <a:srgbClr val="FFFF00"/>
              </a:highlight>
              <a:uFillTx/>
              <a:latin typeface="Arial"/>
            </a:endParaRPr>
          </a:p>
        </p:txBody>
      </p:sp>
      <p:sp>
        <p:nvSpPr>
          <p:cNvPr id="94"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a:solidFill>
                  <a:srgbClr val="506070"/>
                </a:solidFill>
                <a:effectLst/>
                <a:uFillTx/>
                <a:latin typeface="Aptos"/>
              </a:rPr>
              <a:t>Kernel size controls local context; stride controls how far the detector moves.</a:t>
            </a:r>
            <a:endParaRPr lang="it-IT" sz="1050" b="0" u="none" strike="noStrike">
              <a:solidFill>
                <a:srgbClr val="000000"/>
              </a:solidFill>
              <a:effectLst/>
              <a:uFillTx/>
              <a:latin typeface="Arial"/>
            </a:endParaRPr>
          </a:p>
        </p:txBody>
      </p:sp>
      <p:sp>
        <p:nvSpPr>
          <p:cNvPr id="95"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96"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dirty="0">
                <a:solidFill>
                  <a:srgbClr val="111827"/>
                </a:solidFill>
                <a:effectLst/>
                <a:uFillTx/>
                <a:latin typeface="Aptos"/>
              </a:rPr>
              <a:t>Stride reduces the number of output positions and changes temporal resolution.</a:t>
            </a:r>
            <a:endParaRPr lang="it-IT" sz="1050" b="0" u="none" strike="noStrike" dirty="0">
              <a:solidFill>
                <a:srgbClr val="000000"/>
              </a:solidFill>
              <a:effectLst/>
              <a:uFillTx/>
              <a:latin typeface="Arial"/>
            </a:endParaRPr>
          </a:p>
        </p:txBody>
      </p:sp>
      <p:sp>
        <p:nvSpPr>
          <p:cNvPr id="97" name="Text 6"/>
          <p:cNvSpPr/>
          <p:nvPr/>
        </p:nvSpPr>
        <p:spPr>
          <a:xfrm>
            <a:off x="914400" y="1234440"/>
            <a:ext cx="13712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86BC25"/>
                </a:solidFill>
                <a:effectLst/>
                <a:uFillTx/>
                <a:latin typeface="Aptos"/>
              </a:rPr>
              <a:t>Stride 1</a:t>
            </a:r>
            <a:endParaRPr lang="it-IT" sz="1500" b="0" u="none" strike="noStrike">
              <a:solidFill>
                <a:srgbClr val="000000"/>
              </a:solidFill>
              <a:effectLst/>
              <a:uFillTx/>
              <a:latin typeface="Arial"/>
            </a:endParaRPr>
          </a:p>
        </p:txBody>
      </p:sp>
      <p:sp>
        <p:nvSpPr>
          <p:cNvPr id="98" name="Shape 7"/>
          <p:cNvSpPr/>
          <p:nvPr/>
        </p:nvSpPr>
        <p:spPr>
          <a:xfrm>
            <a:off x="91440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99" name="Text 8"/>
          <p:cNvSpPr/>
          <p:nvPr/>
        </p:nvSpPr>
        <p:spPr>
          <a:xfrm>
            <a:off x="94176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x1</a:t>
            </a:r>
            <a:endParaRPr lang="it-IT" sz="800" b="0" u="none" strike="noStrike">
              <a:solidFill>
                <a:srgbClr val="000000"/>
              </a:solidFill>
              <a:effectLst/>
              <a:uFillTx/>
              <a:latin typeface="Arial"/>
            </a:endParaRPr>
          </a:p>
        </p:txBody>
      </p:sp>
      <p:sp>
        <p:nvSpPr>
          <p:cNvPr id="100" name="Shape 9"/>
          <p:cNvSpPr/>
          <p:nvPr/>
        </p:nvSpPr>
        <p:spPr>
          <a:xfrm>
            <a:off x="144468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01" name="Text 10"/>
          <p:cNvSpPr/>
          <p:nvPr/>
        </p:nvSpPr>
        <p:spPr>
          <a:xfrm>
            <a:off x="147204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x2</a:t>
            </a:r>
            <a:endParaRPr lang="it-IT" sz="800" b="0" u="none" strike="noStrike">
              <a:solidFill>
                <a:srgbClr val="000000"/>
              </a:solidFill>
              <a:effectLst/>
              <a:uFillTx/>
              <a:latin typeface="Arial"/>
            </a:endParaRPr>
          </a:p>
        </p:txBody>
      </p:sp>
      <p:sp>
        <p:nvSpPr>
          <p:cNvPr id="102" name="Shape 11"/>
          <p:cNvSpPr/>
          <p:nvPr/>
        </p:nvSpPr>
        <p:spPr>
          <a:xfrm>
            <a:off x="197496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03" name="Text 12"/>
          <p:cNvSpPr/>
          <p:nvPr/>
        </p:nvSpPr>
        <p:spPr>
          <a:xfrm>
            <a:off x="200268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x3</a:t>
            </a:r>
            <a:endParaRPr lang="it-IT" sz="800" b="0" u="none" strike="noStrike">
              <a:solidFill>
                <a:srgbClr val="000000"/>
              </a:solidFill>
              <a:effectLst/>
              <a:uFillTx/>
              <a:latin typeface="Arial"/>
            </a:endParaRPr>
          </a:p>
        </p:txBody>
      </p:sp>
      <p:sp>
        <p:nvSpPr>
          <p:cNvPr id="104" name="Shape 13"/>
          <p:cNvSpPr/>
          <p:nvPr/>
        </p:nvSpPr>
        <p:spPr>
          <a:xfrm>
            <a:off x="250560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05" name="Text 14"/>
          <p:cNvSpPr/>
          <p:nvPr/>
        </p:nvSpPr>
        <p:spPr>
          <a:xfrm>
            <a:off x="253296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x4</a:t>
            </a:r>
            <a:endParaRPr lang="it-IT" sz="800" b="0" u="none" strike="noStrike">
              <a:solidFill>
                <a:srgbClr val="000000"/>
              </a:solidFill>
              <a:effectLst/>
              <a:uFillTx/>
              <a:latin typeface="Arial"/>
            </a:endParaRPr>
          </a:p>
        </p:txBody>
      </p:sp>
      <p:sp>
        <p:nvSpPr>
          <p:cNvPr id="106" name="Shape 15"/>
          <p:cNvSpPr/>
          <p:nvPr/>
        </p:nvSpPr>
        <p:spPr>
          <a:xfrm>
            <a:off x="303588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07" name="Text 16"/>
          <p:cNvSpPr/>
          <p:nvPr/>
        </p:nvSpPr>
        <p:spPr>
          <a:xfrm>
            <a:off x="306324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x5</a:t>
            </a:r>
            <a:endParaRPr lang="it-IT" sz="800" b="0" u="none" strike="noStrike">
              <a:solidFill>
                <a:srgbClr val="000000"/>
              </a:solidFill>
              <a:effectLst/>
              <a:uFillTx/>
              <a:latin typeface="Arial"/>
            </a:endParaRPr>
          </a:p>
        </p:txBody>
      </p:sp>
      <p:sp>
        <p:nvSpPr>
          <p:cNvPr id="108" name="Shape 17"/>
          <p:cNvSpPr/>
          <p:nvPr/>
        </p:nvSpPr>
        <p:spPr>
          <a:xfrm>
            <a:off x="356616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09" name="Text 18"/>
          <p:cNvSpPr/>
          <p:nvPr/>
        </p:nvSpPr>
        <p:spPr>
          <a:xfrm>
            <a:off x="359352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x6</a:t>
            </a:r>
            <a:endParaRPr lang="it-IT" sz="800" b="0" u="none" strike="noStrike">
              <a:solidFill>
                <a:srgbClr val="000000"/>
              </a:solidFill>
              <a:effectLst/>
              <a:uFillTx/>
              <a:latin typeface="Arial"/>
            </a:endParaRPr>
          </a:p>
        </p:txBody>
      </p:sp>
      <p:sp>
        <p:nvSpPr>
          <p:cNvPr id="110" name="Shape 19"/>
          <p:cNvSpPr/>
          <p:nvPr/>
        </p:nvSpPr>
        <p:spPr>
          <a:xfrm>
            <a:off x="409644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11" name="Text 20"/>
          <p:cNvSpPr/>
          <p:nvPr/>
        </p:nvSpPr>
        <p:spPr>
          <a:xfrm>
            <a:off x="412380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x7</a:t>
            </a:r>
            <a:endParaRPr lang="it-IT" sz="800" b="0" u="none" strike="noStrike">
              <a:solidFill>
                <a:srgbClr val="000000"/>
              </a:solidFill>
              <a:effectLst/>
              <a:uFillTx/>
              <a:latin typeface="Arial"/>
            </a:endParaRPr>
          </a:p>
        </p:txBody>
      </p:sp>
      <p:sp>
        <p:nvSpPr>
          <p:cNvPr id="112" name="Shape 21"/>
          <p:cNvSpPr/>
          <p:nvPr/>
        </p:nvSpPr>
        <p:spPr>
          <a:xfrm>
            <a:off x="462672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13" name="Text 22"/>
          <p:cNvSpPr/>
          <p:nvPr/>
        </p:nvSpPr>
        <p:spPr>
          <a:xfrm>
            <a:off x="465444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x8</a:t>
            </a:r>
            <a:endParaRPr lang="it-IT" sz="800" b="0" u="none" strike="noStrike">
              <a:solidFill>
                <a:srgbClr val="000000"/>
              </a:solidFill>
              <a:effectLst/>
              <a:uFillTx/>
              <a:latin typeface="Arial"/>
            </a:endParaRPr>
          </a:p>
        </p:txBody>
      </p:sp>
      <p:sp>
        <p:nvSpPr>
          <p:cNvPr id="114" name="Shape 23"/>
          <p:cNvSpPr/>
          <p:nvPr/>
        </p:nvSpPr>
        <p:spPr>
          <a:xfrm>
            <a:off x="868680" y="1737360"/>
            <a:ext cx="1608840" cy="383760"/>
          </a:xfrm>
          <a:prstGeom prst="roundRect">
            <a:avLst>
              <a:gd name="adj" fmla="val 7143"/>
            </a:avLst>
          </a:prstGeom>
          <a:solidFill>
            <a:srgbClr val="E7F4D2">
              <a:alpha val="80000"/>
            </a:srgbClr>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15" name="Text 24"/>
          <p:cNvSpPr/>
          <p:nvPr/>
        </p:nvSpPr>
        <p:spPr>
          <a:xfrm>
            <a:off x="1572840" y="158184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86BC25"/>
                </a:solidFill>
                <a:effectLst/>
                <a:uFillTx/>
                <a:latin typeface="Aptos"/>
              </a:rPr>
              <a:t>pos 1</a:t>
            </a:r>
            <a:endParaRPr lang="it-IT" sz="700" b="0" u="none" strike="noStrike">
              <a:solidFill>
                <a:srgbClr val="000000"/>
              </a:solidFill>
              <a:effectLst/>
              <a:uFillTx/>
              <a:latin typeface="Arial"/>
            </a:endParaRPr>
          </a:p>
        </p:txBody>
      </p:sp>
      <p:sp>
        <p:nvSpPr>
          <p:cNvPr id="116" name="Shape 25"/>
          <p:cNvSpPr/>
          <p:nvPr/>
        </p:nvSpPr>
        <p:spPr>
          <a:xfrm>
            <a:off x="1398960" y="2377440"/>
            <a:ext cx="1608840" cy="383760"/>
          </a:xfrm>
          <a:prstGeom prst="roundRect">
            <a:avLst>
              <a:gd name="adj" fmla="val 7143"/>
            </a:avLst>
          </a:prstGeom>
          <a:solidFill>
            <a:srgbClr val="E7F4D2">
              <a:alpha val="80000"/>
            </a:srgbClr>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17" name="Text 26"/>
          <p:cNvSpPr/>
          <p:nvPr/>
        </p:nvSpPr>
        <p:spPr>
          <a:xfrm>
            <a:off x="2103120" y="222192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86BC25"/>
                </a:solidFill>
                <a:effectLst/>
                <a:uFillTx/>
                <a:latin typeface="Aptos"/>
              </a:rPr>
              <a:t>pos 2</a:t>
            </a:r>
            <a:endParaRPr lang="it-IT" sz="700" b="0" u="none" strike="noStrike">
              <a:solidFill>
                <a:srgbClr val="000000"/>
              </a:solidFill>
              <a:effectLst/>
              <a:uFillTx/>
              <a:latin typeface="Arial"/>
            </a:endParaRPr>
          </a:p>
        </p:txBody>
      </p:sp>
      <p:sp>
        <p:nvSpPr>
          <p:cNvPr id="118" name="Shape 27"/>
          <p:cNvSpPr/>
          <p:nvPr/>
        </p:nvSpPr>
        <p:spPr>
          <a:xfrm>
            <a:off x="1929240" y="3017520"/>
            <a:ext cx="1608840" cy="383760"/>
          </a:xfrm>
          <a:prstGeom prst="roundRect">
            <a:avLst>
              <a:gd name="adj" fmla="val 7143"/>
            </a:avLst>
          </a:prstGeom>
          <a:solidFill>
            <a:srgbClr val="E7F4D2">
              <a:alpha val="80000"/>
            </a:srgbClr>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19" name="Text 28"/>
          <p:cNvSpPr/>
          <p:nvPr/>
        </p:nvSpPr>
        <p:spPr>
          <a:xfrm>
            <a:off x="2633400" y="286200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86BC25"/>
                </a:solidFill>
                <a:effectLst/>
                <a:uFillTx/>
                <a:latin typeface="Aptos"/>
              </a:rPr>
              <a:t>pos 3</a:t>
            </a:r>
            <a:endParaRPr lang="it-IT" sz="700" b="0" u="none" strike="noStrike">
              <a:solidFill>
                <a:srgbClr val="000000"/>
              </a:solidFill>
              <a:effectLst/>
              <a:uFillTx/>
              <a:latin typeface="Arial"/>
            </a:endParaRPr>
          </a:p>
        </p:txBody>
      </p:sp>
      <p:sp>
        <p:nvSpPr>
          <p:cNvPr id="120" name="Text 29"/>
          <p:cNvSpPr/>
          <p:nvPr/>
        </p:nvSpPr>
        <p:spPr>
          <a:xfrm>
            <a:off x="914400" y="3794760"/>
            <a:ext cx="27428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u="none" strike="noStrike">
                <a:solidFill>
                  <a:srgbClr val="6B7280"/>
                </a:solidFill>
                <a:effectLst/>
                <a:uFillTx/>
                <a:latin typeface="Aptos"/>
              </a:rPr>
              <a:t>outputs one sample apart</a:t>
            </a:r>
            <a:endParaRPr lang="it-IT" sz="1100" b="0" u="none" strike="noStrike">
              <a:solidFill>
                <a:srgbClr val="000000"/>
              </a:solidFill>
              <a:effectLst/>
              <a:uFillTx/>
              <a:latin typeface="Arial"/>
            </a:endParaRPr>
          </a:p>
        </p:txBody>
      </p:sp>
      <p:sp>
        <p:nvSpPr>
          <p:cNvPr id="121" name="Text 30"/>
          <p:cNvSpPr/>
          <p:nvPr/>
        </p:nvSpPr>
        <p:spPr>
          <a:xfrm>
            <a:off x="6400800" y="1234440"/>
            <a:ext cx="13712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F2A900"/>
                </a:solidFill>
                <a:effectLst/>
                <a:uFillTx/>
                <a:latin typeface="Aptos"/>
              </a:rPr>
              <a:t>Stride 2</a:t>
            </a:r>
            <a:endParaRPr lang="it-IT" sz="1500" b="0" u="none" strike="noStrike">
              <a:solidFill>
                <a:srgbClr val="000000"/>
              </a:solidFill>
              <a:effectLst/>
              <a:uFillTx/>
              <a:latin typeface="Arial"/>
            </a:endParaRPr>
          </a:p>
        </p:txBody>
      </p:sp>
      <p:sp>
        <p:nvSpPr>
          <p:cNvPr id="122" name="Shape 31"/>
          <p:cNvSpPr/>
          <p:nvPr/>
        </p:nvSpPr>
        <p:spPr>
          <a:xfrm>
            <a:off x="640080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23" name="Text 32"/>
          <p:cNvSpPr/>
          <p:nvPr/>
        </p:nvSpPr>
        <p:spPr>
          <a:xfrm>
            <a:off x="642816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x1</a:t>
            </a:r>
            <a:endParaRPr lang="it-IT" sz="800" b="0" u="none" strike="noStrike">
              <a:solidFill>
                <a:srgbClr val="000000"/>
              </a:solidFill>
              <a:effectLst/>
              <a:uFillTx/>
              <a:latin typeface="Arial"/>
            </a:endParaRPr>
          </a:p>
        </p:txBody>
      </p:sp>
      <p:sp>
        <p:nvSpPr>
          <p:cNvPr id="124" name="Shape 33"/>
          <p:cNvSpPr/>
          <p:nvPr/>
        </p:nvSpPr>
        <p:spPr>
          <a:xfrm>
            <a:off x="693108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25" name="Text 34"/>
          <p:cNvSpPr/>
          <p:nvPr/>
        </p:nvSpPr>
        <p:spPr>
          <a:xfrm>
            <a:off x="695844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x2</a:t>
            </a:r>
            <a:endParaRPr lang="it-IT" sz="800" b="0" u="none" strike="noStrike">
              <a:solidFill>
                <a:srgbClr val="000000"/>
              </a:solidFill>
              <a:effectLst/>
              <a:uFillTx/>
              <a:latin typeface="Arial"/>
            </a:endParaRPr>
          </a:p>
        </p:txBody>
      </p:sp>
      <p:sp>
        <p:nvSpPr>
          <p:cNvPr id="126" name="Shape 35"/>
          <p:cNvSpPr/>
          <p:nvPr/>
        </p:nvSpPr>
        <p:spPr>
          <a:xfrm>
            <a:off x="746136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27" name="Text 36"/>
          <p:cNvSpPr/>
          <p:nvPr/>
        </p:nvSpPr>
        <p:spPr>
          <a:xfrm>
            <a:off x="748908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x3</a:t>
            </a:r>
            <a:endParaRPr lang="it-IT" sz="800" b="0" u="none" strike="noStrike">
              <a:solidFill>
                <a:srgbClr val="000000"/>
              </a:solidFill>
              <a:effectLst/>
              <a:uFillTx/>
              <a:latin typeface="Arial"/>
            </a:endParaRPr>
          </a:p>
        </p:txBody>
      </p:sp>
      <p:sp>
        <p:nvSpPr>
          <p:cNvPr id="128" name="Shape 37"/>
          <p:cNvSpPr/>
          <p:nvPr/>
        </p:nvSpPr>
        <p:spPr>
          <a:xfrm>
            <a:off x="799200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29" name="Text 38"/>
          <p:cNvSpPr/>
          <p:nvPr/>
        </p:nvSpPr>
        <p:spPr>
          <a:xfrm>
            <a:off x="801936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x4</a:t>
            </a:r>
            <a:endParaRPr lang="it-IT" sz="800" b="0" u="none" strike="noStrike">
              <a:solidFill>
                <a:srgbClr val="000000"/>
              </a:solidFill>
              <a:effectLst/>
              <a:uFillTx/>
              <a:latin typeface="Arial"/>
            </a:endParaRPr>
          </a:p>
        </p:txBody>
      </p:sp>
      <p:sp>
        <p:nvSpPr>
          <p:cNvPr id="130" name="Shape 39"/>
          <p:cNvSpPr/>
          <p:nvPr/>
        </p:nvSpPr>
        <p:spPr>
          <a:xfrm>
            <a:off x="852228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31" name="Text 40"/>
          <p:cNvSpPr/>
          <p:nvPr/>
        </p:nvSpPr>
        <p:spPr>
          <a:xfrm>
            <a:off x="854964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x5</a:t>
            </a:r>
            <a:endParaRPr lang="it-IT" sz="800" b="0" u="none" strike="noStrike">
              <a:solidFill>
                <a:srgbClr val="000000"/>
              </a:solidFill>
              <a:effectLst/>
              <a:uFillTx/>
              <a:latin typeface="Arial"/>
            </a:endParaRPr>
          </a:p>
        </p:txBody>
      </p:sp>
      <p:sp>
        <p:nvSpPr>
          <p:cNvPr id="132" name="Shape 41"/>
          <p:cNvSpPr/>
          <p:nvPr/>
        </p:nvSpPr>
        <p:spPr>
          <a:xfrm>
            <a:off x="905256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33" name="Text 42"/>
          <p:cNvSpPr/>
          <p:nvPr/>
        </p:nvSpPr>
        <p:spPr>
          <a:xfrm>
            <a:off x="907992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x6</a:t>
            </a:r>
            <a:endParaRPr lang="it-IT" sz="800" b="0" u="none" strike="noStrike">
              <a:solidFill>
                <a:srgbClr val="000000"/>
              </a:solidFill>
              <a:effectLst/>
              <a:uFillTx/>
              <a:latin typeface="Arial"/>
            </a:endParaRPr>
          </a:p>
        </p:txBody>
      </p:sp>
      <p:sp>
        <p:nvSpPr>
          <p:cNvPr id="134" name="Shape 43"/>
          <p:cNvSpPr/>
          <p:nvPr/>
        </p:nvSpPr>
        <p:spPr>
          <a:xfrm>
            <a:off x="958284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35" name="Text 44"/>
          <p:cNvSpPr/>
          <p:nvPr/>
        </p:nvSpPr>
        <p:spPr>
          <a:xfrm>
            <a:off x="961020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x7</a:t>
            </a:r>
            <a:endParaRPr lang="it-IT" sz="800" b="0" u="none" strike="noStrike">
              <a:solidFill>
                <a:srgbClr val="000000"/>
              </a:solidFill>
              <a:effectLst/>
              <a:uFillTx/>
              <a:latin typeface="Arial"/>
            </a:endParaRPr>
          </a:p>
        </p:txBody>
      </p:sp>
      <p:sp>
        <p:nvSpPr>
          <p:cNvPr id="136" name="Shape 45"/>
          <p:cNvSpPr/>
          <p:nvPr/>
        </p:nvSpPr>
        <p:spPr>
          <a:xfrm>
            <a:off x="10113120" y="17830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37" name="Text 46"/>
          <p:cNvSpPr/>
          <p:nvPr/>
        </p:nvSpPr>
        <p:spPr>
          <a:xfrm>
            <a:off x="10140840" y="18288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x8</a:t>
            </a:r>
            <a:endParaRPr lang="it-IT" sz="800" b="0" u="none" strike="noStrike">
              <a:solidFill>
                <a:srgbClr val="000000"/>
              </a:solidFill>
              <a:effectLst/>
              <a:uFillTx/>
              <a:latin typeface="Arial"/>
            </a:endParaRPr>
          </a:p>
        </p:txBody>
      </p:sp>
      <p:sp>
        <p:nvSpPr>
          <p:cNvPr id="138" name="Shape 47"/>
          <p:cNvSpPr/>
          <p:nvPr/>
        </p:nvSpPr>
        <p:spPr>
          <a:xfrm>
            <a:off x="6355080" y="1737360"/>
            <a:ext cx="1608840" cy="383760"/>
          </a:xfrm>
          <a:prstGeom prst="roundRect">
            <a:avLst>
              <a:gd name="adj" fmla="val 7143"/>
            </a:avLst>
          </a:prstGeom>
          <a:solidFill>
            <a:srgbClr val="FFF4D7">
              <a:alpha val="80000"/>
            </a:srgbClr>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39" name="Text 48"/>
          <p:cNvSpPr/>
          <p:nvPr/>
        </p:nvSpPr>
        <p:spPr>
          <a:xfrm>
            <a:off x="7059240" y="158184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F2A900"/>
                </a:solidFill>
                <a:effectLst/>
                <a:uFillTx/>
                <a:latin typeface="Aptos"/>
              </a:rPr>
              <a:t>pos 1</a:t>
            </a:r>
            <a:endParaRPr lang="it-IT" sz="700" b="0" u="none" strike="noStrike">
              <a:solidFill>
                <a:srgbClr val="000000"/>
              </a:solidFill>
              <a:effectLst/>
              <a:uFillTx/>
              <a:latin typeface="Arial"/>
            </a:endParaRPr>
          </a:p>
        </p:txBody>
      </p:sp>
      <p:sp>
        <p:nvSpPr>
          <p:cNvPr id="140" name="Shape 49"/>
          <p:cNvSpPr/>
          <p:nvPr/>
        </p:nvSpPr>
        <p:spPr>
          <a:xfrm>
            <a:off x="7415640" y="2377440"/>
            <a:ext cx="1608840" cy="383760"/>
          </a:xfrm>
          <a:prstGeom prst="roundRect">
            <a:avLst>
              <a:gd name="adj" fmla="val 7143"/>
            </a:avLst>
          </a:prstGeom>
          <a:solidFill>
            <a:srgbClr val="FFF4D7">
              <a:alpha val="80000"/>
            </a:srgbClr>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41" name="Text 50"/>
          <p:cNvSpPr/>
          <p:nvPr/>
        </p:nvSpPr>
        <p:spPr>
          <a:xfrm>
            <a:off x="8119800" y="222192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F2A900"/>
                </a:solidFill>
                <a:effectLst/>
                <a:uFillTx/>
                <a:latin typeface="Aptos"/>
              </a:rPr>
              <a:t>pos 2</a:t>
            </a:r>
            <a:endParaRPr lang="it-IT" sz="700" b="0" u="none" strike="noStrike">
              <a:solidFill>
                <a:srgbClr val="000000"/>
              </a:solidFill>
              <a:effectLst/>
              <a:uFillTx/>
              <a:latin typeface="Arial"/>
            </a:endParaRPr>
          </a:p>
        </p:txBody>
      </p:sp>
      <p:sp>
        <p:nvSpPr>
          <p:cNvPr id="142" name="Shape 51"/>
          <p:cNvSpPr/>
          <p:nvPr/>
        </p:nvSpPr>
        <p:spPr>
          <a:xfrm>
            <a:off x="8476560" y="3017520"/>
            <a:ext cx="1608840" cy="383760"/>
          </a:xfrm>
          <a:prstGeom prst="roundRect">
            <a:avLst>
              <a:gd name="adj" fmla="val 7143"/>
            </a:avLst>
          </a:prstGeom>
          <a:solidFill>
            <a:srgbClr val="FFF4D7">
              <a:alpha val="80000"/>
            </a:srgbClr>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43" name="Text 52"/>
          <p:cNvSpPr/>
          <p:nvPr/>
        </p:nvSpPr>
        <p:spPr>
          <a:xfrm>
            <a:off x="9180720" y="286200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F2A900"/>
                </a:solidFill>
                <a:effectLst/>
                <a:uFillTx/>
                <a:latin typeface="Aptos"/>
              </a:rPr>
              <a:t>pos 3</a:t>
            </a:r>
            <a:endParaRPr lang="it-IT" sz="700" b="0" u="none" strike="noStrike">
              <a:solidFill>
                <a:srgbClr val="000000"/>
              </a:solidFill>
              <a:effectLst/>
              <a:uFillTx/>
              <a:latin typeface="Arial"/>
            </a:endParaRPr>
          </a:p>
        </p:txBody>
      </p:sp>
      <p:sp>
        <p:nvSpPr>
          <p:cNvPr id="144" name="Text 53"/>
          <p:cNvSpPr/>
          <p:nvPr/>
        </p:nvSpPr>
        <p:spPr>
          <a:xfrm>
            <a:off x="6400800" y="3794760"/>
            <a:ext cx="27428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u="none" strike="noStrike" dirty="0">
                <a:solidFill>
                  <a:srgbClr val="6B7280"/>
                </a:solidFill>
                <a:effectLst/>
                <a:uFillTx/>
                <a:latin typeface="Aptos"/>
              </a:rPr>
              <a:t>outputs two frames apart</a:t>
            </a:r>
            <a:endParaRPr lang="it-IT" sz="1100" b="0" u="none" strike="noStrike" dirty="0">
              <a:solidFill>
                <a:srgbClr val="000000"/>
              </a:solidFill>
              <a:effectLst/>
              <a:uFillTx/>
              <a:latin typeface="Arial"/>
            </a:endParaRPr>
          </a:p>
        </p:txBody>
      </p:sp>
      <p:sp>
        <p:nvSpPr>
          <p:cNvPr id="145" name="Shape 54"/>
          <p:cNvSpPr/>
          <p:nvPr/>
        </p:nvSpPr>
        <p:spPr>
          <a:xfrm>
            <a:off x="3566160" y="4754880"/>
            <a:ext cx="4023000" cy="502560"/>
          </a:xfrm>
          <a:prstGeom prst="roundRect">
            <a:avLst>
              <a:gd name="adj" fmla="val 9091"/>
            </a:avLst>
          </a:prstGeom>
          <a:solidFill>
            <a:srgbClr val="FFFF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46" name="Text 55"/>
          <p:cNvSpPr/>
          <p:nvPr/>
        </p:nvSpPr>
        <p:spPr>
          <a:xfrm>
            <a:off x="3593520" y="4905720"/>
            <a:ext cx="3968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Higher stride = coarser temporal grid</a:t>
            </a:r>
            <a:endParaRPr lang="it-IT" sz="1400" b="0" u="none" strike="noStrike">
              <a:solidFill>
                <a:srgbClr val="000000"/>
              </a:solidFill>
              <a:effectLst/>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74F3C7E-167A-B0D8-F0BF-80FCCC75125C}"/>
              </a:ext>
            </a:extLst>
          </p:cNvPr>
          <p:cNvSpPr>
            <a:spLocks noGrp="1"/>
          </p:cNvSpPr>
          <p:nvPr>
            <p:ph type="title"/>
          </p:nvPr>
        </p:nvSpPr>
        <p:spPr/>
        <p:txBody>
          <a:bodyPr/>
          <a:lstStyle/>
          <a:p>
            <a:r>
              <a:rPr lang="en-GB" dirty="0"/>
              <a:t>Valid convolution</a:t>
            </a:r>
          </a:p>
        </p:txBody>
      </p:sp>
      <p:sp>
        <p:nvSpPr>
          <p:cNvPr id="3" name="Segnaposto contenuto 2">
            <a:extLst>
              <a:ext uri="{FF2B5EF4-FFF2-40B4-BE49-F238E27FC236}">
                <a16:creationId xmlns:a16="http://schemas.microsoft.com/office/drawing/2014/main" id="{AD670996-106B-DD18-2069-41BB43999A75}"/>
              </a:ext>
            </a:extLst>
          </p:cNvPr>
          <p:cNvSpPr>
            <a:spLocks noGrp="1"/>
          </p:cNvSpPr>
          <p:nvPr>
            <p:ph idx="1"/>
          </p:nvPr>
        </p:nvSpPr>
        <p:spPr/>
        <p:txBody>
          <a:bodyPr>
            <a:normAutofit/>
          </a:bodyPr>
          <a:lstStyle/>
          <a:p>
            <a:r>
              <a:rPr lang="en-GB" dirty="0"/>
              <a:t>With </a:t>
            </a:r>
            <a:r>
              <a:rPr lang="en-GB" b="1" dirty="0"/>
              <a:t>valid padding</a:t>
            </a:r>
            <a:r>
              <a:rPr lang="en-GB" dirty="0"/>
              <a:t>, no artificial values are added around the sequence.</a:t>
            </a:r>
          </a:p>
          <a:p>
            <a:r>
              <a:rPr lang="en-GB" dirty="0"/>
              <a:t>The kernel is applied only where it fits completely inside the input.</a:t>
            </a:r>
          </a:p>
          <a:p>
            <a:r>
              <a:rPr lang="en-GB" dirty="0"/>
              <a:t>For stride 1: </a:t>
            </a:r>
            <a:r>
              <a:rPr lang="en-GB" dirty="0" err="1"/>
              <a:t>L_out</a:t>
            </a:r>
            <a:r>
              <a:rPr lang="en-GB" dirty="0"/>
              <a:t> = L − K + 1</a:t>
            </a:r>
          </a:p>
          <a:p>
            <a:r>
              <a:rPr lang="en-GB" b="1" dirty="0"/>
              <a:t>Example</a:t>
            </a:r>
          </a:p>
          <a:p>
            <a:r>
              <a:rPr lang="en-GB" dirty="0"/>
              <a:t>Input length: L = 100</a:t>
            </a:r>
          </a:p>
          <a:p>
            <a:r>
              <a:rPr lang="en-GB" dirty="0"/>
              <a:t>Kernel size: K = 5</a:t>
            </a:r>
          </a:p>
          <a:p>
            <a:r>
              <a:rPr lang="en-GB" dirty="0"/>
              <a:t>Then:</a:t>
            </a:r>
          </a:p>
          <a:p>
            <a:pPr lvl="1"/>
            <a:r>
              <a:rPr lang="en-GB" dirty="0" err="1"/>
              <a:t>L_out</a:t>
            </a:r>
            <a:r>
              <a:rPr lang="en-GB" dirty="0"/>
              <a:t> = 100 − 5 + 1 = 96</a:t>
            </a:r>
          </a:p>
          <a:p>
            <a:endParaRPr lang="en-GB" dirty="0"/>
          </a:p>
        </p:txBody>
      </p:sp>
    </p:spTree>
    <p:extLst>
      <p:ext uri="{BB962C8B-B14F-4D97-AF65-F5344CB8AC3E}">
        <p14:creationId xmlns:p14="http://schemas.microsoft.com/office/powerpoint/2010/main" val="12585052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FE2B0-97E2-1226-5D80-BE271158950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A3CD0DC-AF18-3506-ED2F-D9559FE21704}"/>
              </a:ext>
            </a:extLst>
          </p:cNvPr>
          <p:cNvSpPr>
            <a:spLocks noGrp="1"/>
          </p:cNvSpPr>
          <p:nvPr>
            <p:ph type="title"/>
          </p:nvPr>
        </p:nvSpPr>
        <p:spPr/>
        <p:txBody>
          <a:bodyPr/>
          <a:lstStyle/>
          <a:p>
            <a:r>
              <a:rPr lang="en-GB" dirty="0"/>
              <a:t>Valid convolution</a:t>
            </a:r>
          </a:p>
        </p:txBody>
      </p:sp>
      <p:sp>
        <p:nvSpPr>
          <p:cNvPr id="3" name="Segnaposto contenuto 2">
            <a:extLst>
              <a:ext uri="{FF2B5EF4-FFF2-40B4-BE49-F238E27FC236}">
                <a16:creationId xmlns:a16="http://schemas.microsoft.com/office/drawing/2014/main" id="{93A62CD6-7F9C-6E65-3674-C5FE04EB1928}"/>
              </a:ext>
            </a:extLst>
          </p:cNvPr>
          <p:cNvSpPr>
            <a:spLocks noGrp="1"/>
          </p:cNvSpPr>
          <p:nvPr>
            <p:ph idx="1"/>
          </p:nvPr>
        </p:nvSpPr>
        <p:spPr/>
        <p:txBody>
          <a:bodyPr>
            <a:normAutofit fontScale="92500" lnSpcReduction="20000"/>
          </a:bodyPr>
          <a:lstStyle/>
          <a:p>
            <a:r>
              <a:rPr lang="en-GB" b="1" dirty="0"/>
              <a:t>Advantages</a:t>
            </a:r>
          </a:p>
          <a:p>
            <a:pPr lvl="0"/>
            <a:r>
              <a:rPr lang="en-GB" dirty="0"/>
              <a:t>no artificial boundary values; </a:t>
            </a:r>
          </a:p>
          <a:p>
            <a:pPr lvl="0"/>
            <a:r>
              <a:rPr lang="en-GB" dirty="0"/>
              <a:t>simple interpretation. </a:t>
            </a:r>
          </a:p>
          <a:p>
            <a:r>
              <a:rPr lang="en-GB" b="1" dirty="0"/>
              <a:t>Limitation</a:t>
            </a:r>
          </a:p>
          <a:p>
            <a:r>
              <a:rPr lang="en-GB" dirty="0"/>
              <a:t>Temporal length decreases after every convolutional layer.</a:t>
            </a:r>
          </a:p>
          <a:p>
            <a:r>
              <a:rPr lang="en-GB" dirty="0"/>
              <a:t>For several stacked layers, this reduction may become substantial.</a:t>
            </a:r>
          </a:p>
          <a:p>
            <a:r>
              <a:rPr lang="en-GB" b="1" dirty="0"/>
              <a:t>Example</a:t>
            </a:r>
          </a:p>
          <a:p>
            <a:r>
              <a:rPr lang="en-GB" dirty="0"/>
              <a:t>Three valid convolutions with K = 5:</a:t>
            </a:r>
          </a:p>
          <a:p>
            <a:r>
              <a:rPr lang="en-GB" dirty="0"/>
              <a:t>100 → 96 → 92 → 88</a:t>
            </a:r>
          </a:p>
          <a:p>
            <a:pPr marL="0" indent="0">
              <a:buNone/>
            </a:pPr>
            <a:endParaRPr lang="en-GB" dirty="0"/>
          </a:p>
          <a:p>
            <a:r>
              <a:rPr lang="en-GB" b="1" dirty="0"/>
              <a:t>For tasks requiring one prediction per original time step, valid convolution may complicate output alignment.</a:t>
            </a:r>
          </a:p>
          <a:p>
            <a:endParaRPr lang="en-GB" dirty="0"/>
          </a:p>
        </p:txBody>
      </p:sp>
    </p:spTree>
    <p:extLst>
      <p:ext uri="{BB962C8B-B14F-4D97-AF65-F5344CB8AC3E}">
        <p14:creationId xmlns:p14="http://schemas.microsoft.com/office/powerpoint/2010/main" val="8940314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48"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49"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111827"/>
                </a:solidFill>
                <a:effectLst/>
                <a:highlight>
                  <a:srgbClr val="FFFF00"/>
                </a:highlight>
                <a:uFillTx/>
                <a:latin typeface="Aptos Display"/>
                <a:ea typeface="Aptos Display"/>
              </a:rPr>
              <a:t>Valid convolution reduces temporal length</a:t>
            </a:r>
            <a:endParaRPr lang="it-IT" sz="2200" b="0" u="none" strike="noStrike" dirty="0">
              <a:solidFill>
                <a:srgbClr val="000000"/>
              </a:solidFill>
              <a:effectLst/>
              <a:highlight>
                <a:srgbClr val="FFFF00"/>
              </a:highlight>
              <a:uFillTx/>
              <a:latin typeface="Arial"/>
            </a:endParaRPr>
          </a:p>
        </p:txBody>
      </p:sp>
      <p:sp>
        <p:nvSpPr>
          <p:cNvPr id="150"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506070"/>
                </a:solidFill>
                <a:effectLst/>
                <a:uFillTx/>
                <a:latin typeface="Aptos"/>
              </a:rPr>
              <a:t>The kernel is applied only where it fits completely inside the input.</a:t>
            </a:r>
            <a:endParaRPr lang="it-IT" sz="1200" b="1" u="none" strike="noStrike" dirty="0">
              <a:solidFill>
                <a:srgbClr val="000000"/>
              </a:solidFill>
              <a:effectLst/>
              <a:uFillTx/>
              <a:latin typeface="Arial"/>
            </a:endParaRPr>
          </a:p>
        </p:txBody>
      </p:sp>
      <p:sp>
        <p:nvSpPr>
          <p:cNvPr id="151"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52"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111827"/>
                </a:solidFill>
                <a:effectLst/>
                <a:uFillTx/>
                <a:latin typeface="Aptos"/>
              </a:rPr>
              <a:t>Valid padding avoids artificial boundary values but shortens the sequence.</a:t>
            </a:r>
            <a:endParaRPr lang="it-IT" sz="1200" b="1" u="none" strike="noStrike" dirty="0">
              <a:solidFill>
                <a:srgbClr val="000000"/>
              </a:solidFill>
              <a:effectLst/>
              <a:uFillTx/>
              <a:latin typeface="Arial"/>
            </a:endParaRPr>
          </a:p>
        </p:txBody>
      </p:sp>
      <p:sp>
        <p:nvSpPr>
          <p:cNvPr id="153" name="Shape 6"/>
          <p:cNvSpPr/>
          <p:nvPr/>
        </p:nvSpPr>
        <p:spPr>
          <a:xfrm>
            <a:off x="1005840" y="2011680"/>
            <a:ext cx="1462680" cy="822600"/>
          </a:xfrm>
          <a:prstGeom prst="roundRect">
            <a:avLst>
              <a:gd name="adj" fmla="val 555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54" name="Text 7"/>
          <p:cNvSpPr/>
          <p:nvPr/>
        </p:nvSpPr>
        <p:spPr>
          <a:xfrm>
            <a:off x="1033200" y="2322720"/>
            <a:ext cx="14079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Input</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111827"/>
                </a:solidFill>
                <a:effectLst/>
                <a:uFillTx/>
                <a:latin typeface="Aptos"/>
              </a:rPr>
              <a:t>L = 100</a:t>
            </a:r>
            <a:endParaRPr lang="it-IT" sz="1400" b="0" u="none" strike="noStrike">
              <a:solidFill>
                <a:srgbClr val="000000"/>
              </a:solidFill>
              <a:effectLst/>
              <a:uFillTx/>
              <a:latin typeface="Arial"/>
            </a:endParaRPr>
          </a:p>
        </p:txBody>
      </p:sp>
      <p:sp>
        <p:nvSpPr>
          <p:cNvPr id="155" name="Shape 8"/>
          <p:cNvSpPr/>
          <p:nvPr/>
        </p:nvSpPr>
        <p:spPr>
          <a:xfrm>
            <a:off x="2651760" y="2423160"/>
            <a:ext cx="1188720" cy="360"/>
          </a:xfrm>
          <a:prstGeom prst="line">
            <a:avLst/>
          </a:prstGeom>
          <a:ln w="1905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156" name="Shape 9"/>
          <p:cNvSpPr/>
          <p:nvPr/>
        </p:nvSpPr>
        <p:spPr>
          <a:xfrm>
            <a:off x="3977640" y="1874520"/>
            <a:ext cx="2194200" cy="1096920"/>
          </a:xfrm>
          <a:prstGeom prst="roundRect">
            <a:avLst>
              <a:gd name="adj" fmla="val 4167"/>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57" name="Text 10"/>
          <p:cNvSpPr/>
          <p:nvPr/>
        </p:nvSpPr>
        <p:spPr>
          <a:xfrm>
            <a:off x="4005000" y="232272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Conv1D</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K = 5, S = 1</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valid</a:t>
            </a:r>
            <a:endParaRPr lang="it-IT" sz="1300" b="0" u="none" strike="noStrike">
              <a:solidFill>
                <a:srgbClr val="000000"/>
              </a:solidFill>
              <a:effectLst/>
              <a:uFillTx/>
              <a:latin typeface="Arial"/>
            </a:endParaRPr>
          </a:p>
        </p:txBody>
      </p:sp>
      <p:sp>
        <p:nvSpPr>
          <p:cNvPr id="158" name="Shape 11"/>
          <p:cNvSpPr/>
          <p:nvPr/>
        </p:nvSpPr>
        <p:spPr>
          <a:xfrm>
            <a:off x="6309360" y="2423160"/>
            <a:ext cx="1188720" cy="360"/>
          </a:xfrm>
          <a:prstGeom prst="line">
            <a:avLst/>
          </a:prstGeom>
          <a:ln w="1905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159" name="Shape 12"/>
          <p:cNvSpPr/>
          <p:nvPr/>
        </p:nvSpPr>
        <p:spPr>
          <a:xfrm>
            <a:off x="7680960" y="2011680"/>
            <a:ext cx="1828440" cy="822600"/>
          </a:xfrm>
          <a:prstGeom prst="roundRect">
            <a:avLst>
              <a:gd name="adj" fmla="val 5556"/>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60" name="Text 13"/>
          <p:cNvSpPr/>
          <p:nvPr/>
        </p:nvSpPr>
        <p:spPr>
          <a:xfrm>
            <a:off x="7708320" y="2322720"/>
            <a:ext cx="17737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Output</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111827"/>
                </a:solidFill>
                <a:effectLst/>
                <a:uFillTx/>
                <a:latin typeface="Aptos"/>
              </a:rPr>
              <a:t>L_out = 96</a:t>
            </a:r>
            <a:endParaRPr lang="it-IT" sz="1400" b="0" u="none" strike="noStrike">
              <a:solidFill>
                <a:srgbClr val="000000"/>
              </a:solidFill>
              <a:effectLst/>
              <a:uFillTx/>
              <a:latin typeface="Arial"/>
            </a:endParaRPr>
          </a:p>
        </p:txBody>
      </p:sp>
      <p:sp>
        <p:nvSpPr>
          <p:cNvPr id="161" name="Shape 14"/>
          <p:cNvSpPr/>
          <p:nvPr/>
        </p:nvSpPr>
        <p:spPr>
          <a:xfrm>
            <a:off x="3840480" y="3886200"/>
            <a:ext cx="2742840" cy="502560"/>
          </a:xfrm>
          <a:prstGeom prst="roundRect">
            <a:avLst>
              <a:gd name="adj" fmla="val 9091"/>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62" name="Text 15"/>
          <p:cNvSpPr/>
          <p:nvPr/>
        </p:nvSpPr>
        <p:spPr>
          <a:xfrm>
            <a:off x="3867840" y="4037040"/>
            <a:ext cx="26881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111827"/>
                </a:solidFill>
                <a:effectLst/>
                <a:uFillTx/>
                <a:latin typeface="Aptos"/>
              </a:rPr>
              <a:t>L_out = L − K + 1</a:t>
            </a:r>
            <a:endParaRPr lang="it-IT" sz="1600" b="0" u="none" strike="noStrike">
              <a:solidFill>
                <a:srgbClr val="000000"/>
              </a:solidFill>
              <a:effectLst/>
              <a:uFillTx/>
              <a:latin typeface="Arial"/>
            </a:endParaRPr>
          </a:p>
        </p:txBody>
      </p:sp>
      <p:sp>
        <p:nvSpPr>
          <p:cNvPr id="163" name="Text 16"/>
          <p:cNvSpPr/>
          <p:nvPr/>
        </p:nvSpPr>
        <p:spPr>
          <a:xfrm>
            <a:off x="2441160" y="4716716"/>
            <a:ext cx="2770740" cy="5320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dirty="0">
                <a:solidFill>
                  <a:srgbClr val="111827"/>
                </a:solidFill>
                <a:effectLst/>
                <a:uFillTx/>
                <a:latin typeface="Aptos"/>
              </a:rPr>
              <a:t>Stacking valid convolutions keeps shrinking temporal length:</a:t>
            </a:r>
            <a:endParaRPr lang="it-IT" sz="1400" b="0" u="none" strike="noStrike" dirty="0">
              <a:solidFill>
                <a:srgbClr val="000000"/>
              </a:solidFill>
              <a:effectLst/>
              <a:uFillTx/>
              <a:latin typeface="Arial"/>
            </a:endParaRPr>
          </a:p>
        </p:txBody>
      </p:sp>
      <p:sp>
        <p:nvSpPr>
          <p:cNvPr id="164" name="Shape 17"/>
          <p:cNvSpPr/>
          <p:nvPr/>
        </p:nvSpPr>
        <p:spPr>
          <a:xfrm>
            <a:off x="5486400" y="4754880"/>
            <a:ext cx="2834280" cy="456840"/>
          </a:xfrm>
          <a:prstGeom prst="roundRect">
            <a:avLst>
              <a:gd name="adj" fmla="val 10000"/>
            </a:avLst>
          </a:prstGeom>
          <a:solidFill>
            <a:srgbClr val="F5F7FA"/>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65" name="Text 18"/>
          <p:cNvSpPr/>
          <p:nvPr/>
        </p:nvSpPr>
        <p:spPr>
          <a:xfrm>
            <a:off x="5513760" y="4883040"/>
            <a:ext cx="27795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111827"/>
                </a:solidFill>
                <a:effectLst/>
                <a:uFillTx/>
                <a:latin typeface="Aptos"/>
              </a:rPr>
              <a:t>100 → 96 → 92 → 88</a:t>
            </a:r>
            <a:endParaRPr lang="it-IT" sz="1500" b="0" u="none" strike="noStrike">
              <a:solidFill>
                <a:srgbClr val="000000"/>
              </a:solidFill>
              <a:effectLst/>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154DC37-DA20-8722-EB5F-7A7C6F5A8459}"/>
              </a:ext>
            </a:extLst>
          </p:cNvPr>
          <p:cNvSpPr>
            <a:spLocks noGrp="1"/>
          </p:cNvSpPr>
          <p:nvPr>
            <p:ph type="title"/>
          </p:nvPr>
        </p:nvSpPr>
        <p:spPr/>
        <p:txBody>
          <a:bodyPr/>
          <a:lstStyle/>
          <a:p>
            <a:r>
              <a:rPr lang="en-GB" dirty="0"/>
              <a:t>Same padding</a:t>
            </a:r>
          </a:p>
        </p:txBody>
      </p:sp>
      <p:sp>
        <p:nvSpPr>
          <p:cNvPr id="3" name="Segnaposto contenuto 2">
            <a:extLst>
              <a:ext uri="{FF2B5EF4-FFF2-40B4-BE49-F238E27FC236}">
                <a16:creationId xmlns:a16="http://schemas.microsoft.com/office/drawing/2014/main" id="{55866395-61CD-39CC-E0EE-2B7967938C34}"/>
              </a:ext>
            </a:extLst>
          </p:cNvPr>
          <p:cNvSpPr>
            <a:spLocks noGrp="1"/>
          </p:cNvSpPr>
          <p:nvPr>
            <p:ph idx="1"/>
          </p:nvPr>
        </p:nvSpPr>
        <p:spPr/>
        <p:txBody>
          <a:bodyPr>
            <a:normAutofit/>
          </a:bodyPr>
          <a:lstStyle/>
          <a:p>
            <a:r>
              <a:rPr lang="en-GB" dirty="0"/>
              <a:t>With </a:t>
            </a:r>
            <a:r>
              <a:rPr lang="en-GB" b="1" dirty="0"/>
              <a:t>same padding</a:t>
            </a:r>
            <a:r>
              <a:rPr lang="en-GB" dirty="0"/>
              <a:t>, </a:t>
            </a:r>
            <a:r>
              <a:rPr lang="en-GB" b="1" dirty="0"/>
              <a:t>artificial values </a:t>
            </a:r>
            <a:r>
              <a:rPr lang="en-GB" dirty="0"/>
              <a:t>are added around the temporal boundaries so that the output length is preserved when stride is 1.</a:t>
            </a:r>
          </a:p>
          <a:p>
            <a:r>
              <a:rPr lang="en-GB" dirty="0"/>
              <a:t>Conceptually:</a:t>
            </a:r>
          </a:p>
          <a:p>
            <a:r>
              <a:rPr lang="en-GB" dirty="0"/>
              <a:t>padding | original sequence | padding</a:t>
            </a:r>
          </a:p>
          <a:p>
            <a:r>
              <a:rPr lang="en-GB" b="1" dirty="0">
                <a:highlight>
                  <a:srgbClr val="FFFF00"/>
                </a:highlight>
              </a:rPr>
              <a:t>For example:</a:t>
            </a:r>
          </a:p>
          <a:p>
            <a:r>
              <a:rPr lang="en-GB" b="1" dirty="0"/>
              <a:t>0 0 | x1 x2 x3 x4 x5 | 0 0</a:t>
            </a:r>
          </a:p>
          <a:p>
            <a:r>
              <a:rPr lang="en-GB" dirty="0"/>
              <a:t>The exact amount of padding depends on kernel size and implementation.</a:t>
            </a:r>
          </a:p>
          <a:p>
            <a:r>
              <a:rPr lang="en-GB" b="1" dirty="0"/>
              <a:t>For stride 1</a:t>
            </a:r>
          </a:p>
          <a:p>
            <a:r>
              <a:rPr lang="en-GB" dirty="0">
                <a:highlight>
                  <a:srgbClr val="FFFF00"/>
                </a:highlight>
              </a:rPr>
              <a:t>Typically: </a:t>
            </a:r>
            <a:r>
              <a:rPr lang="en-GB" dirty="0" err="1">
                <a:highlight>
                  <a:srgbClr val="FFFF00"/>
                </a:highlight>
              </a:rPr>
              <a:t>L_out</a:t>
            </a:r>
            <a:r>
              <a:rPr lang="en-GB" dirty="0">
                <a:highlight>
                  <a:srgbClr val="FFFF00"/>
                </a:highlight>
              </a:rPr>
              <a:t> = L</a:t>
            </a:r>
          </a:p>
          <a:p>
            <a:endParaRPr lang="en-GB" dirty="0"/>
          </a:p>
        </p:txBody>
      </p:sp>
    </p:spTree>
    <p:extLst>
      <p:ext uri="{BB962C8B-B14F-4D97-AF65-F5344CB8AC3E}">
        <p14:creationId xmlns:p14="http://schemas.microsoft.com/office/powerpoint/2010/main" val="22667728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7C7BE-2336-4B9F-5C29-35684638A97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1B7E59D-9A27-3FBC-185D-1F7F094A6437}"/>
              </a:ext>
            </a:extLst>
          </p:cNvPr>
          <p:cNvSpPr>
            <a:spLocks noGrp="1"/>
          </p:cNvSpPr>
          <p:nvPr>
            <p:ph type="title"/>
          </p:nvPr>
        </p:nvSpPr>
        <p:spPr/>
        <p:txBody>
          <a:bodyPr/>
          <a:lstStyle/>
          <a:p>
            <a:r>
              <a:rPr lang="en-GB" dirty="0"/>
              <a:t>Same padding</a:t>
            </a:r>
          </a:p>
        </p:txBody>
      </p:sp>
      <p:sp>
        <p:nvSpPr>
          <p:cNvPr id="3" name="Segnaposto contenuto 2">
            <a:extLst>
              <a:ext uri="{FF2B5EF4-FFF2-40B4-BE49-F238E27FC236}">
                <a16:creationId xmlns:a16="http://schemas.microsoft.com/office/drawing/2014/main" id="{32318DB9-DCA8-4251-8277-C1D1A909F375}"/>
              </a:ext>
            </a:extLst>
          </p:cNvPr>
          <p:cNvSpPr>
            <a:spLocks noGrp="1"/>
          </p:cNvSpPr>
          <p:nvPr>
            <p:ph idx="1"/>
          </p:nvPr>
        </p:nvSpPr>
        <p:spPr/>
        <p:txBody>
          <a:bodyPr>
            <a:normAutofit fontScale="92500" lnSpcReduction="10000"/>
          </a:bodyPr>
          <a:lstStyle/>
          <a:p>
            <a:r>
              <a:rPr lang="en-GB" b="1" dirty="0">
                <a:highlight>
                  <a:srgbClr val="FFFF00"/>
                </a:highlight>
              </a:rPr>
              <a:t>Example</a:t>
            </a:r>
          </a:p>
          <a:p>
            <a:r>
              <a:rPr lang="en-GB" dirty="0"/>
              <a:t>Input: [N, 100, 4]</a:t>
            </a:r>
          </a:p>
          <a:p>
            <a:r>
              <a:rPr lang="en-GB" dirty="0"/>
              <a:t>Conv1D: kernel size K = 5;  32 filters; same padding. </a:t>
            </a:r>
          </a:p>
          <a:p>
            <a:r>
              <a:rPr lang="en-GB" dirty="0"/>
              <a:t>Output: [N, 100, 32]</a:t>
            </a:r>
          </a:p>
          <a:p>
            <a:r>
              <a:rPr lang="en-GB" b="1" dirty="0">
                <a:highlight>
                  <a:srgbClr val="FFFF00"/>
                </a:highlight>
              </a:rPr>
              <a:t>Why useful?</a:t>
            </a:r>
          </a:p>
          <a:p>
            <a:pPr lvl="1"/>
            <a:r>
              <a:rPr lang="en-GB" dirty="0"/>
              <a:t>preserves temporal resolution; </a:t>
            </a:r>
          </a:p>
          <a:p>
            <a:pPr lvl="1"/>
            <a:r>
              <a:rPr lang="en-GB" dirty="0"/>
              <a:t>simplifies deep stacks; </a:t>
            </a:r>
          </a:p>
          <a:p>
            <a:pPr lvl="1"/>
            <a:r>
              <a:rPr lang="en-GB" dirty="0"/>
              <a:t>useful for sequence labelling; </a:t>
            </a:r>
          </a:p>
          <a:p>
            <a:pPr lvl="1"/>
            <a:r>
              <a:rPr lang="en-GB" dirty="0"/>
              <a:t>facilitates alignment of input and output time steps. </a:t>
            </a:r>
          </a:p>
          <a:p>
            <a:r>
              <a:rPr lang="en-GB" b="1" dirty="0"/>
              <a:t>Important caveat</a:t>
            </a:r>
          </a:p>
          <a:p>
            <a:r>
              <a:rPr lang="en-GB" dirty="0"/>
              <a:t>Padding values are artificial and affect computations near the boundaries.</a:t>
            </a:r>
          </a:p>
          <a:p>
            <a:endParaRPr lang="en-GB" dirty="0"/>
          </a:p>
        </p:txBody>
      </p:sp>
    </p:spTree>
    <p:extLst>
      <p:ext uri="{BB962C8B-B14F-4D97-AF65-F5344CB8AC3E}">
        <p14:creationId xmlns:p14="http://schemas.microsoft.com/office/powerpoint/2010/main" val="2431482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67"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68"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Same padding preserves temporal length</a:t>
            </a:r>
            <a:endParaRPr lang="it-IT" sz="2200" b="0" u="none" strike="noStrike">
              <a:solidFill>
                <a:srgbClr val="000000"/>
              </a:solidFill>
              <a:effectLst/>
              <a:uFillTx/>
              <a:latin typeface="Arial"/>
            </a:endParaRPr>
          </a:p>
        </p:txBody>
      </p:sp>
      <p:sp>
        <p:nvSpPr>
          <p:cNvPr id="169"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506070"/>
                </a:solidFill>
                <a:effectLst/>
                <a:uFillTx/>
                <a:latin typeface="Aptos"/>
              </a:rPr>
              <a:t>Artificial boundary values are added so that </a:t>
            </a:r>
            <a:r>
              <a:rPr lang="en-US" sz="1200" b="1" u="none" strike="noStrike" dirty="0" err="1">
                <a:solidFill>
                  <a:srgbClr val="506070"/>
                </a:solidFill>
                <a:effectLst/>
                <a:uFillTx/>
                <a:latin typeface="Aptos"/>
              </a:rPr>
              <a:t>L_out</a:t>
            </a:r>
            <a:r>
              <a:rPr lang="en-US" sz="1200" b="1" u="none" strike="noStrike" dirty="0">
                <a:solidFill>
                  <a:srgbClr val="506070"/>
                </a:solidFill>
                <a:effectLst/>
                <a:uFillTx/>
                <a:latin typeface="Aptos"/>
              </a:rPr>
              <a:t> ≈ L for stride 1.</a:t>
            </a:r>
            <a:endParaRPr lang="it-IT" sz="1200" b="1" u="none" strike="noStrike" dirty="0">
              <a:solidFill>
                <a:srgbClr val="000000"/>
              </a:solidFill>
              <a:effectLst/>
              <a:uFillTx/>
              <a:latin typeface="Arial"/>
            </a:endParaRPr>
          </a:p>
        </p:txBody>
      </p:sp>
      <p:sp>
        <p:nvSpPr>
          <p:cNvPr id="170"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71"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111827"/>
                </a:solidFill>
                <a:effectLst/>
                <a:uFillTx/>
                <a:latin typeface="Aptos"/>
              </a:rPr>
              <a:t>Same padding simplifies deep stacks and time-aligned outputs.</a:t>
            </a:r>
            <a:endParaRPr lang="it-IT" sz="1200" b="1" u="none" strike="noStrike" dirty="0">
              <a:solidFill>
                <a:srgbClr val="000000"/>
              </a:solidFill>
              <a:effectLst/>
              <a:uFillTx/>
              <a:latin typeface="Arial"/>
            </a:endParaRPr>
          </a:p>
        </p:txBody>
      </p:sp>
      <p:sp>
        <p:nvSpPr>
          <p:cNvPr id="172" name="Text 6"/>
          <p:cNvSpPr/>
          <p:nvPr/>
        </p:nvSpPr>
        <p:spPr>
          <a:xfrm>
            <a:off x="914400" y="1920240"/>
            <a:ext cx="91404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u="none" strike="noStrike">
                <a:solidFill>
                  <a:srgbClr val="6B7280"/>
                </a:solidFill>
                <a:effectLst/>
                <a:uFillTx/>
                <a:latin typeface="Aptos"/>
              </a:rPr>
              <a:t>padding</a:t>
            </a:r>
            <a:endParaRPr lang="it-IT" sz="1000" b="0" u="none" strike="noStrike">
              <a:solidFill>
                <a:srgbClr val="000000"/>
              </a:solidFill>
              <a:effectLst/>
              <a:uFillTx/>
              <a:latin typeface="Arial"/>
            </a:endParaRPr>
          </a:p>
        </p:txBody>
      </p:sp>
      <p:sp>
        <p:nvSpPr>
          <p:cNvPr id="173" name="Text 7"/>
          <p:cNvSpPr/>
          <p:nvPr/>
        </p:nvSpPr>
        <p:spPr>
          <a:xfrm>
            <a:off x="1938960" y="1920240"/>
            <a:ext cx="228564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u="none" strike="noStrike">
                <a:solidFill>
                  <a:srgbClr val="6B7280"/>
                </a:solidFill>
                <a:effectLst/>
                <a:uFillTx/>
                <a:latin typeface="Aptos"/>
              </a:rPr>
              <a:t>original sequence</a:t>
            </a:r>
            <a:endParaRPr lang="it-IT" sz="1000" b="0" u="none" strike="noStrike">
              <a:solidFill>
                <a:srgbClr val="000000"/>
              </a:solidFill>
              <a:effectLst/>
              <a:uFillTx/>
              <a:latin typeface="Arial"/>
            </a:endParaRPr>
          </a:p>
        </p:txBody>
      </p:sp>
      <p:sp>
        <p:nvSpPr>
          <p:cNvPr id="174" name="Text 8"/>
          <p:cNvSpPr/>
          <p:nvPr/>
        </p:nvSpPr>
        <p:spPr>
          <a:xfrm>
            <a:off x="4224600" y="1920240"/>
            <a:ext cx="91404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u="none" strike="noStrike">
                <a:solidFill>
                  <a:srgbClr val="6B7280"/>
                </a:solidFill>
                <a:effectLst/>
                <a:uFillTx/>
                <a:latin typeface="Aptos"/>
              </a:rPr>
              <a:t>padding</a:t>
            </a:r>
            <a:endParaRPr lang="it-IT" sz="1000" b="0" u="none" strike="noStrike">
              <a:solidFill>
                <a:srgbClr val="000000"/>
              </a:solidFill>
              <a:effectLst/>
              <a:uFillTx/>
              <a:latin typeface="Arial"/>
            </a:endParaRPr>
          </a:p>
        </p:txBody>
      </p:sp>
      <p:sp>
        <p:nvSpPr>
          <p:cNvPr id="175" name="Shape 9"/>
          <p:cNvSpPr/>
          <p:nvPr/>
        </p:nvSpPr>
        <p:spPr>
          <a:xfrm>
            <a:off x="914400" y="2331720"/>
            <a:ext cx="3837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76" name="Text 10"/>
          <p:cNvSpPr/>
          <p:nvPr/>
        </p:nvSpPr>
        <p:spPr>
          <a:xfrm>
            <a:off x="941760" y="239112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0</a:t>
            </a:r>
            <a:endParaRPr lang="it-IT" sz="800" b="0" u="none" strike="noStrike">
              <a:solidFill>
                <a:srgbClr val="000000"/>
              </a:solidFill>
              <a:effectLst/>
              <a:uFillTx/>
              <a:latin typeface="Arial"/>
            </a:endParaRPr>
          </a:p>
        </p:txBody>
      </p:sp>
      <p:sp>
        <p:nvSpPr>
          <p:cNvPr id="177" name="Shape 11"/>
          <p:cNvSpPr/>
          <p:nvPr/>
        </p:nvSpPr>
        <p:spPr>
          <a:xfrm>
            <a:off x="1389960" y="2331720"/>
            <a:ext cx="3837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78" name="Text 12"/>
          <p:cNvSpPr/>
          <p:nvPr/>
        </p:nvSpPr>
        <p:spPr>
          <a:xfrm>
            <a:off x="1417320" y="239112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0</a:t>
            </a:r>
            <a:endParaRPr lang="it-IT" sz="800" b="0" u="none" strike="noStrike">
              <a:solidFill>
                <a:srgbClr val="000000"/>
              </a:solidFill>
              <a:effectLst/>
              <a:uFillTx/>
              <a:latin typeface="Arial"/>
            </a:endParaRPr>
          </a:p>
        </p:txBody>
      </p:sp>
      <p:sp>
        <p:nvSpPr>
          <p:cNvPr id="179" name="Shape 13"/>
          <p:cNvSpPr/>
          <p:nvPr/>
        </p:nvSpPr>
        <p:spPr>
          <a:xfrm>
            <a:off x="1865520" y="233172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80" name="Text 14"/>
          <p:cNvSpPr/>
          <p:nvPr/>
        </p:nvSpPr>
        <p:spPr>
          <a:xfrm>
            <a:off x="1892880" y="239112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x1</a:t>
            </a:r>
            <a:endParaRPr lang="it-IT" sz="800" b="0" u="none" strike="noStrike">
              <a:solidFill>
                <a:srgbClr val="000000"/>
              </a:solidFill>
              <a:effectLst/>
              <a:uFillTx/>
              <a:latin typeface="Arial"/>
            </a:endParaRPr>
          </a:p>
        </p:txBody>
      </p:sp>
      <p:sp>
        <p:nvSpPr>
          <p:cNvPr id="181" name="Shape 15"/>
          <p:cNvSpPr/>
          <p:nvPr/>
        </p:nvSpPr>
        <p:spPr>
          <a:xfrm>
            <a:off x="2340720" y="233172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82" name="Text 16"/>
          <p:cNvSpPr/>
          <p:nvPr/>
        </p:nvSpPr>
        <p:spPr>
          <a:xfrm>
            <a:off x="2368440" y="239112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x2</a:t>
            </a:r>
            <a:endParaRPr lang="it-IT" sz="800" b="0" u="none" strike="noStrike">
              <a:solidFill>
                <a:srgbClr val="000000"/>
              </a:solidFill>
              <a:effectLst/>
              <a:uFillTx/>
              <a:latin typeface="Arial"/>
            </a:endParaRPr>
          </a:p>
        </p:txBody>
      </p:sp>
      <p:sp>
        <p:nvSpPr>
          <p:cNvPr id="183" name="Shape 17"/>
          <p:cNvSpPr/>
          <p:nvPr/>
        </p:nvSpPr>
        <p:spPr>
          <a:xfrm>
            <a:off x="2816280" y="233172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84" name="Text 18"/>
          <p:cNvSpPr/>
          <p:nvPr/>
        </p:nvSpPr>
        <p:spPr>
          <a:xfrm>
            <a:off x="2843640" y="239112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x3</a:t>
            </a:r>
            <a:endParaRPr lang="it-IT" sz="800" b="0" u="none" strike="noStrike">
              <a:solidFill>
                <a:srgbClr val="000000"/>
              </a:solidFill>
              <a:effectLst/>
              <a:uFillTx/>
              <a:latin typeface="Arial"/>
            </a:endParaRPr>
          </a:p>
        </p:txBody>
      </p:sp>
      <p:sp>
        <p:nvSpPr>
          <p:cNvPr id="185" name="Shape 19"/>
          <p:cNvSpPr/>
          <p:nvPr/>
        </p:nvSpPr>
        <p:spPr>
          <a:xfrm>
            <a:off x="3291840" y="233172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86" name="Text 20"/>
          <p:cNvSpPr/>
          <p:nvPr/>
        </p:nvSpPr>
        <p:spPr>
          <a:xfrm>
            <a:off x="3319200" y="239112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x4</a:t>
            </a:r>
            <a:endParaRPr lang="it-IT" sz="800" b="0" u="none" strike="noStrike">
              <a:solidFill>
                <a:srgbClr val="000000"/>
              </a:solidFill>
              <a:effectLst/>
              <a:uFillTx/>
              <a:latin typeface="Arial"/>
            </a:endParaRPr>
          </a:p>
        </p:txBody>
      </p:sp>
      <p:sp>
        <p:nvSpPr>
          <p:cNvPr id="187" name="Shape 21"/>
          <p:cNvSpPr/>
          <p:nvPr/>
        </p:nvSpPr>
        <p:spPr>
          <a:xfrm>
            <a:off x="3767400" y="233172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88" name="Text 22"/>
          <p:cNvSpPr/>
          <p:nvPr/>
        </p:nvSpPr>
        <p:spPr>
          <a:xfrm>
            <a:off x="3794760" y="239112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x5</a:t>
            </a:r>
            <a:endParaRPr lang="it-IT" sz="800" b="0" u="none" strike="noStrike">
              <a:solidFill>
                <a:srgbClr val="000000"/>
              </a:solidFill>
              <a:effectLst/>
              <a:uFillTx/>
              <a:latin typeface="Arial"/>
            </a:endParaRPr>
          </a:p>
        </p:txBody>
      </p:sp>
      <p:sp>
        <p:nvSpPr>
          <p:cNvPr id="189" name="Shape 23"/>
          <p:cNvSpPr/>
          <p:nvPr/>
        </p:nvSpPr>
        <p:spPr>
          <a:xfrm>
            <a:off x="4242960" y="2331720"/>
            <a:ext cx="3837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90" name="Text 24"/>
          <p:cNvSpPr/>
          <p:nvPr/>
        </p:nvSpPr>
        <p:spPr>
          <a:xfrm>
            <a:off x="4270320" y="239112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0</a:t>
            </a:r>
            <a:endParaRPr lang="it-IT" sz="800" b="0" u="none" strike="noStrike">
              <a:solidFill>
                <a:srgbClr val="000000"/>
              </a:solidFill>
              <a:effectLst/>
              <a:uFillTx/>
              <a:latin typeface="Arial"/>
            </a:endParaRPr>
          </a:p>
        </p:txBody>
      </p:sp>
      <p:sp>
        <p:nvSpPr>
          <p:cNvPr id="191" name="Shape 25"/>
          <p:cNvSpPr/>
          <p:nvPr/>
        </p:nvSpPr>
        <p:spPr>
          <a:xfrm>
            <a:off x="4718160" y="2331720"/>
            <a:ext cx="3837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92" name="Text 26"/>
          <p:cNvSpPr/>
          <p:nvPr/>
        </p:nvSpPr>
        <p:spPr>
          <a:xfrm>
            <a:off x="4745880" y="239112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0</a:t>
            </a:r>
            <a:endParaRPr lang="it-IT" sz="800" b="0" u="none" strike="noStrike">
              <a:solidFill>
                <a:srgbClr val="000000"/>
              </a:solidFill>
              <a:effectLst/>
              <a:uFillTx/>
              <a:latin typeface="Arial"/>
            </a:endParaRPr>
          </a:p>
        </p:txBody>
      </p:sp>
      <p:sp>
        <p:nvSpPr>
          <p:cNvPr id="193" name="Shape 27"/>
          <p:cNvSpPr/>
          <p:nvPr/>
        </p:nvSpPr>
        <p:spPr>
          <a:xfrm>
            <a:off x="914400" y="3749040"/>
            <a:ext cx="1919880" cy="685440"/>
          </a:xfrm>
          <a:prstGeom prst="roundRect">
            <a:avLst>
              <a:gd name="adj" fmla="val 6667"/>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94" name="Text 28"/>
          <p:cNvSpPr/>
          <p:nvPr/>
        </p:nvSpPr>
        <p:spPr>
          <a:xfrm>
            <a:off x="941760" y="3991320"/>
            <a:ext cx="18651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Input</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[N, 100, 4]</a:t>
            </a:r>
            <a:endParaRPr lang="it-IT" sz="1300" b="0" u="none" strike="noStrike">
              <a:solidFill>
                <a:srgbClr val="000000"/>
              </a:solidFill>
              <a:effectLst/>
              <a:uFillTx/>
              <a:latin typeface="Arial"/>
            </a:endParaRPr>
          </a:p>
        </p:txBody>
      </p:sp>
      <p:sp>
        <p:nvSpPr>
          <p:cNvPr id="195" name="Shape 29"/>
          <p:cNvSpPr/>
          <p:nvPr/>
        </p:nvSpPr>
        <p:spPr>
          <a:xfrm>
            <a:off x="3108960" y="4096440"/>
            <a:ext cx="1143000" cy="360"/>
          </a:xfrm>
          <a:prstGeom prst="line">
            <a:avLst/>
          </a:prstGeom>
          <a:ln w="1778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196" name="Shape 30"/>
          <p:cNvSpPr/>
          <p:nvPr/>
        </p:nvSpPr>
        <p:spPr>
          <a:xfrm>
            <a:off x="4434840" y="3611880"/>
            <a:ext cx="2194200" cy="959760"/>
          </a:xfrm>
          <a:prstGeom prst="roundRect">
            <a:avLst>
              <a:gd name="adj" fmla="val 4762"/>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97" name="Text 31"/>
          <p:cNvSpPr/>
          <p:nvPr/>
        </p:nvSpPr>
        <p:spPr>
          <a:xfrm>
            <a:off x="4462200" y="399132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dirty="0">
                <a:solidFill>
                  <a:srgbClr val="111827"/>
                </a:solidFill>
                <a:effectLst/>
                <a:uFillTx/>
                <a:latin typeface="Aptos"/>
              </a:rPr>
              <a:t>Conv1D</a:t>
            </a:r>
            <a:endParaRPr lang="it-IT" sz="1200" b="0" u="none" strike="noStrike" dirty="0">
              <a:solidFill>
                <a:srgbClr val="000000"/>
              </a:solidFill>
              <a:effectLst/>
              <a:uFillTx/>
              <a:latin typeface="Arial"/>
            </a:endParaRPr>
          </a:p>
          <a:p>
            <a:pPr algn="ctr" defTabSz="914400">
              <a:lnSpc>
                <a:spcPct val="100000"/>
              </a:lnSpc>
              <a:tabLst>
                <a:tab pos="0" algn="l"/>
              </a:tabLst>
            </a:pPr>
            <a:r>
              <a:rPr lang="en-US" sz="1200" b="1" u="none" strike="noStrike" dirty="0">
                <a:solidFill>
                  <a:srgbClr val="111827"/>
                </a:solidFill>
                <a:effectLst/>
                <a:uFillTx/>
                <a:latin typeface="Aptos"/>
              </a:rPr>
              <a:t>K = 5, same, S=1</a:t>
            </a:r>
            <a:endParaRPr lang="it-IT" sz="1200" b="0" u="none" strike="noStrike" dirty="0">
              <a:solidFill>
                <a:srgbClr val="000000"/>
              </a:solidFill>
              <a:effectLst/>
              <a:uFillTx/>
              <a:latin typeface="Arial"/>
            </a:endParaRPr>
          </a:p>
          <a:p>
            <a:pPr algn="ctr" defTabSz="914400">
              <a:lnSpc>
                <a:spcPct val="100000"/>
              </a:lnSpc>
              <a:tabLst>
                <a:tab pos="0" algn="l"/>
              </a:tabLst>
            </a:pPr>
            <a:r>
              <a:rPr lang="en-US" sz="1200" b="1" u="none" strike="noStrike" dirty="0">
                <a:solidFill>
                  <a:srgbClr val="111827"/>
                </a:solidFill>
                <a:effectLst/>
                <a:uFillTx/>
                <a:latin typeface="Aptos"/>
              </a:rPr>
              <a:t>F = 32</a:t>
            </a:r>
            <a:endParaRPr lang="it-IT" sz="1200" b="0" u="none" strike="noStrike" dirty="0">
              <a:solidFill>
                <a:srgbClr val="000000"/>
              </a:solidFill>
              <a:effectLst/>
              <a:uFillTx/>
              <a:latin typeface="Arial"/>
            </a:endParaRPr>
          </a:p>
        </p:txBody>
      </p:sp>
      <p:sp>
        <p:nvSpPr>
          <p:cNvPr id="198" name="Shape 32"/>
          <p:cNvSpPr/>
          <p:nvPr/>
        </p:nvSpPr>
        <p:spPr>
          <a:xfrm>
            <a:off x="6812280" y="4096440"/>
            <a:ext cx="1143000" cy="360"/>
          </a:xfrm>
          <a:prstGeom prst="line">
            <a:avLst/>
          </a:prstGeom>
          <a:ln w="1778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199" name="Shape 33"/>
          <p:cNvSpPr/>
          <p:nvPr/>
        </p:nvSpPr>
        <p:spPr>
          <a:xfrm>
            <a:off x="8138160" y="3749040"/>
            <a:ext cx="2011320" cy="685440"/>
          </a:xfrm>
          <a:prstGeom prst="roundRect">
            <a:avLst>
              <a:gd name="adj" fmla="val 6667"/>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00" name="Text 34"/>
          <p:cNvSpPr/>
          <p:nvPr/>
        </p:nvSpPr>
        <p:spPr>
          <a:xfrm>
            <a:off x="8165520" y="3991320"/>
            <a:ext cx="19566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Output</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[N, 100, 32]</a:t>
            </a:r>
            <a:endParaRPr lang="it-IT" sz="1300" b="0" u="none" strike="noStrike">
              <a:solidFill>
                <a:srgbClr val="000000"/>
              </a:solidFill>
              <a:effectLst/>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B512DF5-A43F-7DC8-1F97-0AD2D43974C3}"/>
              </a:ext>
            </a:extLst>
          </p:cNvPr>
          <p:cNvSpPr>
            <a:spLocks noGrp="1"/>
          </p:cNvSpPr>
          <p:nvPr>
            <p:ph type="title"/>
          </p:nvPr>
        </p:nvSpPr>
        <p:spPr/>
        <p:txBody>
          <a:bodyPr/>
          <a:lstStyle/>
          <a:p>
            <a:r>
              <a:rPr lang="en-GB" dirty="0"/>
              <a:t>Padding determines what the network sees at sequence boundaries</a:t>
            </a:r>
          </a:p>
        </p:txBody>
      </p:sp>
      <p:sp>
        <p:nvSpPr>
          <p:cNvPr id="3" name="Segnaposto contenuto 2">
            <a:extLst>
              <a:ext uri="{FF2B5EF4-FFF2-40B4-BE49-F238E27FC236}">
                <a16:creationId xmlns:a16="http://schemas.microsoft.com/office/drawing/2014/main" id="{13A5D90A-3628-E485-890C-AF5EABFDDBE0}"/>
              </a:ext>
            </a:extLst>
          </p:cNvPr>
          <p:cNvSpPr>
            <a:spLocks noGrp="1"/>
          </p:cNvSpPr>
          <p:nvPr>
            <p:ph idx="1"/>
          </p:nvPr>
        </p:nvSpPr>
        <p:spPr/>
        <p:txBody>
          <a:bodyPr>
            <a:normAutofit/>
          </a:bodyPr>
          <a:lstStyle/>
          <a:p>
            <a:r>
              <a:rPr lang="en-GB" dirty="0"/>
              <a:t>Near the middle of a sequence, a kernel can use real observations on both sides.</a:t>
            </a:r>
          </a:p>
          <a:p>
            <a:r>
              <a:rPr lang="en-GB" dirty="0"/>
              <a:t>Near the first or last time step, some values are missing.</a:t>
            </a:r>
          </a:p>
          <a:p>
            <a:r>
              <a:rPr lang="en-GB" dirty="0"/>
              <a:t>Padding provides artificial values so that the convolution can still be evaluated.</a:t>
            </a:r>
          </a:p>
          <a:p>
            <a:r>
              <a:rPr lang="en-GB" b="1" dirty="0"/>
              <a:t>Example</a:t>
            </a:r>
          </a:p>
          <a:p>
            <a:r>
              <a:rPr lang="en-GB" dirty="0"/>
              <a:t>Kernel size: K = 3</a:t>
            </a:r>
          </a:p>
          <a:p>
            <a:r>
              <a:rPr lang="en-GB" dirty="0"/>
              <a:t>For the first observation, a same-padded convolution might use 0, x[1], x[2] instead of requiring: x[0], x[1], x[2] where x[0] does not exist.</a:t>
            </a:r>
          </a:p>
          <a:p>
            <a:endParaRPr lang="en-GB" dirty="0"/>
          </a:p>
        </p:txBody>
      </p:sp>
    </p:spTree>
    <p:extLst>
      <p:ext uri="{BB962C8B-B14F-4D97-AF65-F5344CB8AC3E}">
        <p14:creationId xmlns:p14="http://schemas.microsoft.com/office/powerpoint/2010/main" val="18223879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51E07-68F2-E91B-D663-DC4081A5F42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61ECD99-6D9B-E307-4FFC-6328887F39F6}"/>
              </a:ext>
            </a:extLst>
          </p:cNvPr>
          <p:cNvSpPr>
            <a:spLocks noGrp="1"/>
          </p:cNvSpPr>
          <p:nvPr>
            <p:ph type="title"/>
          </p:nvPr>
        </p:nvSpPr>
        <p:spPr/>
        <p:txBody>
          <a:bodyPr/>
          <a:lstStyle/>
          <a:p>
            <a:r>
              <a:rPr lang="en-GB" dirty="0"/>
              <a:t>Padding determines what the network sees at sequence boundaries</a:t>
            </a:r>
          </a:p>
        </p:txBody>
      </p:sp>
      <p:sp>
        <p:nvSpPr>
          <p:cNvPr id="3" name="Segnaposto contenuto 2">
            <a:extLst>
              <a:ext uri="{FF2B5EF4-FFF2-40B4-BE49-F238E27FC236}">
                <a16:creationId xmlns:a16="http://schemas.microsoft.com/office/drawing/2014/main" id="{B52AD2C3-77EF-D8CD-CC13-6881057142EF}"/>
              </a:ext>
            </a:extLst>
          </p:cNvPr>
          <p:cNvSpPr>
            <a:spLocks noGrp="1"/>
          </p:cNvSpPr>
          <p:nvPr>
            <p:ph idx="1"/>
          </p:nvPr>
        </p:nvSpPr>
        <p:spPr/>
        <p:txBody>
          <a:bodyPr>
            <a:normAutofit/>
          </a:bodyPr>
          <a:lstStyle/>
          <a:p>
            <a:r>
              <a:rPr lang="en-GB" b="1" dirty="0"/>
              <a:t>Common padding choices</a:t>
            </a:r>
          </a:p>
          <a:p>
            <a:pPr lvl="1"/>
            <a:r>
              <a:rPr lang="en-GB" dirty="0"/>
              <a:t>zeros; </a:t>
            </a:r>
          </a:p>
          <a:p>
            <a:pPr lvl="1"/>
            <a:r>
              <a:rPr lang="en-GB" dirty="0"/>
              <a:t>repeated edge values; </a:t>
            </a:r>
          </a:p>
          <a:p>
            <a:pPr lvl="1"/>
            <a:r>
              <a:rPr lang="en-GB" dirty="0"/>
              <a:t>reflected values. </a:t>
            </a:r>
          </a:p>
          <a:p>
            <a:pPr lvl="1"/>
            <a:r>
              <a:rPr lang="en-GB" dirty="0"/>
              <a:t>In neural Conv1D implementations, zero padding is common.</a:t>
            </a:r>
          </a:p>
          <a:p>
            <a:pPr marL="0" indent="0">
              <a:buNone/>
            </a:pPr>
            <a:endParaRPr lang="en-GB" b="1" dirty="0"/>
          </a:p>
          <a:p>
            <a:r>
              <a:rPr lang="en-GB" b="1" dirty="0"/>
              <a:t>The representation near sequence boundaries may be less reliable because part of the local context is artificial.</a:t>
            </a:r>
          </a:p>
          <a:p>
            <a:endParaRPr lang="en-GB" dirty="0"/>
          </a:p>
        </p:txBody>
      </p:sp>
    </p:spTree>
    <p:extLst>
      <p:ext uri="{BB962C8B-B14F-4D97-AF65-F5344CB8AC3E}">
        <p14:creationId xmlns:p14="http://schemas.microsoft.com/office/powerpoint/2010/main" val="15855652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02"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03"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Padding affects boundary representations</a:t>
            </a:r>
            <a:endParaRPr lang="it-IT" sz="2200" b="0" u="none" strike="noStrike">
              <a:solidFill>
                <a:srgbClr val="000000"/>
              </a:solidFill>
              <a:effectLst/>
              <a:uFillTx/>
              <a:latin typeface="Arial"/>
            </a:endParaRPr>
          </a:p>
        </p:txBody>
      </p:sp>
      <p:sp>
        <p:nvSpPr>
          <p:cNvPr id="204"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506070"/>
                </a:solidFill>
                <a:effectLst/>
                <a:uFillTx/>
                <a:latin typeface="Aptos"/>
              </a:rPr>
              <a:t>Near the boundaries, part of the local context may be artificial.</a:t>
            </a:r>
            <a:endParaRPr lang="it-IT" sz="1200" b="1" u="none" strike="noStrike" dirty="0">
              <a:solidFill>
                <a:srgbClr val="000000"/>
              </a:solidFill>
              <a:effectLst/>
              <a:uFillTx/>
              <a:latin typeface="Arial"/>
            </a:endParaRPr>
          </a:p>
        </p:txBody>
      </p:sp>
      <p:sp>
        <p:nvSpPr>
          <p:cNvPr id="205"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06"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dirty="0">
                <a:solidFill>
                  <a:srgbClr val="111827"/>
                </a:solidFill>
                <a:effectLst/>
                <a:uFillTx/>
                <a:latin typeface="Aptos"/>
              </a:rPr>
              <a:t>Boundary activations should be interpreted with care when padding is used.</a:t>
            </a:r>
            <a:endParaRPr lang="it-IT" sz="1100" b="1" u="none" strike="noStrike" dirty="0">
              <a:solidFill>
                <a:srgbClr val="000000"/>
              </a:solidFill>
              <a:effectLst/>
              <a:uFillTx/>
              <a:latin typeface="Arial"/>
            </a:endParaRPr>
          </a:p>
        </p:txBody>
      </p:sp>
      <p:sp>
        <p:nvSpPr>
          <p:cNvPr id="207" name="Shape 6"/>
          <p:cNvSpPr/>
          <p:nvPr/>
        </p:nvSpPr>
        <p:spPr>
          <a:xfrm>
            <a:off x="914400" y="20116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08" name="Text 7"/>
          <p:cNvSpPr/>
          <p:nvPr/>
        </p:nvSpPr>
        <p:spPr>
          <a:xfrm>
            <a:off x="941760" y="20574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x1</a:t>
            </a:r>
            <a:endParaRPr lang="it-IT" sz="800" b="0" u="none" strike="noStrike">
              <a:solidFill>
                <a:srgbClr val="000000"/>
              </a:solidFill>
              <a:effectLst/>
              <a:uFillTx/>
              <a:latin typeface="Arial"/>
            </a:endParaRPr>
          </a:p>
        </p:txBody>
      </p:sp>
      <p:sp>
        <p:nvSpPr>
          <p:cNvPr id="209" name="Shape 8"/>
          <p:cNvSpPr/>
          <p:nvPr/>
        </p:nvSpPr>
        <p:spPr>
          <a:xfrm>
            <a:off x="1481400" y="20116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10" name="Text 9"/>
          <p:cNvSpPr/>
          <p:nvPr/>
        </p:nvSpPr>
        <p:spPr>
          <a:xfrm>
            <a:off x="1508760" y="20574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x2</a:t>
            </a:r>
            <a:endParaRPr lang="it-IT" sz="800" b="0" u="none" strike="noStrike">
              <a:solidFill>
                <a:srgbClr val="000000"/>
              </a:solidFill>
              <a:effectLst/>
              <a:uFillTx/>
              <a:latin typeface="Arial"/>
            </a:endParaRPr>
          </a:p>
        </p:txBody>
      </p:sp>
      <p:sp>
        <p:nvSpPr>
          <p:cNvPr id="211" name="Shape 10"/>
          <p:cNvSpPr/>
          <p:nvPr/>
        </p:nvSpPr>
        <p:spPr>
          <a:xfrm>
            <a:off x="2048400" y="20116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12" name="Text 11"/>
          <p:cNvSpPr/>
          <p:nvPr/>
        </p:nvSpPr>
        <p:spPr>
          <a:xfrm>
            <a:off x="2075760" y="20574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x3</a:t>
            </a:r>
            <a:endParaRPr lang="it-IT" sz="800" b="0" u="none" strike="noStrike">
              <a:solidFill>
                <a:srgbClr val="000000"/>
              </a:solidFill>
              <a:effectLst/>
              <a:uFillTx/>
              <a:latin typeface="Arial"/>
            </a:endParaRPr>
          </a:p>
        </p:txBody>
      </p:sp>
      <p:sp>
        <p:nvSpPr>
          <p:cNvPr id="213" name="Shape 12"/>
          <p:cNvSpPr/>
          <p:nvPr/>
        </p:nvSpPr>
        <p:spPr>
          <a:xfrm>
            <a:off x="2615040" y="20116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14" name="Text 13"/>
          <p:cNvSpPr/>
          <p:nvPr/>
        </p:nvSpPr>
        <p:spPr>
          <a:xfrm>
            <a:off x="2642760" y="20574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x4</a:t>
            </a:r>
            <a:endParaRPr lang="it-IT" sz="800" b="0" u="none" strike="noStrike">
              <a:solidFill>
                <a:srgbClr val="000000"/>
              </a:solidFill>
              <a:effectLst/>
              <a:uFillTx/>
              <a:latin typeface="Arial"/>
            </a:endParaRPr>
          </a:p>
        </p:txBody>
      </p:sp>
      <p:sp>
        <p:nvSpPr>
          <p:cNvPr id="215" name="Shape 14"/>
          <p:cNvSpPr/>
          <p:nvPr/>
        </p:nvSpPr>
        <p:spPr>
          <a:xfrm>
            <a:off x="3182040" y="20116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16" name="Text 15"/>
          <p:cNvSpPr/>
          <p:nvPr/>
        </p:nvSpPr>
        <p:spPr>
          <a:xfrm>
            <a:off x="3209400" y="20574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x5</a:t>
            </a:r>
            <a:endParaRPr lang="it-IT" sz="800" b="0" u="none" strike="noStrike">
              <a:solidFill>
                <a:srgbClr val="000000"/>
              </a:solidFill>
              <a:effectLst/>
              <a:uFillTx/>
              <a:latin typeface="Arial"/>
            </a:endParaRPr>
          </a:p>
        </p:txBody>
      </p:sp>
      <p:sp>
        <p:nvSpPr>
          <p:cNvPr id="217" name="Shape 16"/>
          <p:cNvSpPr/>
          <p:nvPr/>
        </p:nvSpPr>
        <p:spPr>
          <a:xfrm>
            <a:off x="3749040" y="20116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18" name="Text 17"/>
          <p:cNvSpPr/>
          <p:nvPr/>
        </p:nvSpPr>
        <p:spPr>
          <a:xfrm>
            <a:off x="3776400" y="20574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x6</a:t>
            </a:r>
            <a:endParaRPr lang="it-IT" sz="800" b="0" u="none" strike="noStrike">
              <a:solidFill>
                <a:srgbClr val="000000"/>
              </a:solidFill>
              <a:effectLst/>
              <a:uFillTx/>
              <a:latin typeface="Arial"/>
            </a:endParaRPr>
          </a:p>
        </p:txBody>
      </p:sp>
      <p:sp>
        <p:nvSpPr>
          <p:cNvPr id="219" name="Shape 18"/>
          <p:cNvSpPr/>
          <p:nvPr/>
        </p:nvSpPr>
        <p:spPr>
          <a:xfrm>
            <a:off x="4316040" y="201168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20" name="Text 19"/>
          <p:cNvSpPr/>
          <p:nvPr/>
        </p:nvSpPr>
        <p:spPr>
          <a:xfrm>
            <a:off x="4343400" y="20574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x7</a:t>
            </a:r>
            <a:endParaRPr lang="it-IT" sz="800" b="0" u="none" strike="noStrike">
              <a:solidFill>
                <a:srgbClr val="000000"/>
              </a:solidFill>
              <a:effectLst/>
              <a:uFillTx/>
              <a:latin typeface="Arial"/>
            </a:endParaRPr>
          </a:p>
        </p:txBody>
      </p:sp>
      <p:sp>
        <p:nvSpPr>
          <p:cNvPr id="221" name="Shape 20"/>
          <p:cNvSpPr/>
          <p:nvPr/>
        </p:nvSpPr>
        <p:spPr>
          <a:xfrm>
            <a:off x="457200" y="2011680"/>
            <a:ext cx="383760" cy="292320"/>
          </a:xfrm>
          <a:prstGeom prst="roundRect">
            <a:avLst>
              <a:gd name="adj" fmla="val 15625"/>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22" name="Text 21"/>
          <p:cNvSpPr/>
          <p:nvPr/>
        </p:nvSpPr>
        <p:spPr>
          <a:xfrm>
            <a:off x="484560" y="20574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0</a:t>
            </a:r>
            <a:endParaRPr lang="it-IT" sz="800" b="0" u="none" strike="noStrike">
              <a:solidFill>
                <a:srgbClr val="000000"/>
              </a:solidFill>
              <a:effectLst/>
              <a:uFillTx/>
              <a:latin typeface="Arial"/>
            </a:endParaRPr>
          </a:p>
        </p:txBody>
      </p:sp>
      <p:sp>
        <p:nvSpPr>
          <p:cNvPr id="223" name="Shape 22"/>
          <p:cNvSpPr/>
          <p:nvPr/>
        </p:nvSpPr>
        <p:spPr>
          <a:xfrm>
            <a:off x="411480" y="1965960"/>
            <a:ext cx="1718640" cy="383760"/>
          </a:xfrm>
          <a:prstGeom prst="roundRect">
            <a:avLst>
              <a:gd name="adj" fmla="val 7143"/>
            </a:avLst>
          </a:prstGeom>
          <a:solidFill>
            <a:srgbClr val="FFECE9">
              <a:alpha val="80000"/>
            </a:srgbClr>
          </a:solidFill>
          <a:ln w="15240">
            <a:solidFill>
              <a:srgbClr val="E94B3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24" name="Text 23"/>
          <p:cNvSpPr/>
          <p:nvPr/>
        </p:nvSpPr>
        <p:spPr>
          <a:xfrm>
            <a:off x="1170360" y="181044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E94B35"/>
                </a:solidFill>
                <a:effectLst/>
                <a:uFillTx/>
                <a:latin typeface="Aptos"/>
              </a:rPr>
              <a:t>first output</a:t>
            </a:r>
            <a:endParaRPr lang="it-IT" sz="700" b="0" u="none" strike="noStrike">
              <a:solidFill>
                <a:srgbClr val="000000"/>
              </a:solidFill>
              <a:effectLst/>
              <a:uFillTx/>
              <a:latin typeface="Arial"/>
            </a:endParaRPr>
          </a:p>
        </p:txBody>
      </p:sp>
      <p:sp>
        <p:nvSpPr>
          <p:cNvPr id="225" name="Text 24"/>
          <p:cNvSpPr/>
          <p:nvPr/>
        </p:nvSpPr>
        <p:spPr>
          <a:xfrm>
            <a:off x="914400" y="2834640"/>
            <a:ext cx="301716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11827"/>
                </a:solidFill>
                <a:effectLst/>
                <a:uFillTx/>
                <a:latin typeface="Aptos"/>
              </a:rPr>
              <a:t>first output may use: 0, x1, x2</a:t>
            </a:r>
            <a:endParaRPr lang="it-IT" sz="1300" b="0" u="none" strike="noStrike">
              <a:solidFill>
                <a:srgbClr val="000000"/>
              </a:solidFill>
              <a:effectLst/>
              <a:uFillTx/>
              <a:latin typeface="Arial"/>
            </a:endParaRPr>
          </a:p>
        </p:txBody>
      </p:sp>
      <p:sp>
        <p:nvSpPr>
          <p:cNvPr id="226" name="Shape 25"/>
          <p:cNvSpPr/>
          <p:nvPr/>
        </p:nvSpPr>
        <p:spPr>
          <a:xfrm>
            <a:off x="5669280" y="1965960"/>
            <a:ext cx="2559960" cy="639720"/>
          </a:xfrm>
          <a:prstGeom prst="roundRect">
            <a:avLst>
              <a:gd name="adj" fmla="val 7143"/>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27" name="Text 26"/>
          <p:cNvSpPr/>
          <p:nvPr/>
        </p:nvSpPr>
        <p:spPr>
          <a:xfrm>
            <a:off x="5696640" y="2185560"/>
            <a:ext cx="25052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111827"/>
                </a:solidFill>
                <a:effectLst/>
                <a:uFillTx/>
                <a:latin typeface="Aptos"/>
              </a:rPr>
              <a:t>central output</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11827"/>
                </a:solidFill>
                <a:effectLst/>
                <a:uFillTx/>
                <a:latin typeface="Aptos"/>
              </a:rPr>
              <a:t>uses only real observations</a:t>
            </a:r>
            <a:endParaRPr lang="it-IT" sz="1200" b="0" u="none" strike="noStrike">
              <a:solidFill>
                <a:srgbClr val="000000"/>
              </a:solidFill>
              <a:effectLst/>
              <a:uFillTx/>
              <a:latin typeface="Arial"/>
            </a:endParaRPr>
          </a:p>
        </p:txBody>
      </p:sp>
      <p:sp>
        <p:nvSpPr>
          <p:cNvPr id="228" name="Shape 27"/>
          <p:cNvSpPr/>
          <p:nvPr/>
        </p:nvSpPr>
        <p:spPr>
          <a:xfrm>
            <a:off x="2002680" y="3474720"/>
            <a:ext cx="1718640" cy="383760"/>
          </a:xfrm>
          <a:prstGeom prst="roundRect">
            <a:avLst>
              <a:gd name="adj" fmla="val 7143"/>
            </a:avLst>
          </a:prstGeom>
          <a:solidFill>
            <a:srgbClr val="E7F4D2">
              <a:alpha val="80000"/>
            </a:srgbClr>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29" name="Text 28"/>
          <p:cNvSpPr/>
          <p:nvPr/>
        </p:nvSpPr>
        <p:spPr>
          <a:xfrm>
            <a:off x="2761560" y="331920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86BC25"/>
                </a:solidFill>
                <a:effectLst/>
                <a:uFillTx/>
                <a:latin typeface="Aptos"/>
              </a:rPr>
              <a:t>central</a:t>
            </a:r>
            <a:endParaRPr lang="it-IT" sz="700" b="0" u="none" strike="noStrike">
              <a:solidFill>
                <a:srgbClr val="000000"/>
              </a:solidFill>
              <a:effectLst/>
              <a:uFillTx/>
              <a:latin typeface="Arial"/>
            </a:endParaRPr>
          </a:p>
        </p:txBody>
      </p:sp>
      <p:sp>
        <p:nvSpPr>
          <p:cNvPr id="230" name="Text 29"/>
          <p:cNvSpPr/>
          <p:nvPr/>
        </p:nvSpPr>
        <p:spPr>
          <a:xfrm>
            <a:off x="5669280" y="2971800"/>
            <a:ext cx="25599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u="none" strike="noStrike">
                <a:solidFill>
                  <a:srgbClr val="6B7280"/>
                </a:solidFill>
                <a:effectLst/>
                <a:uFillTx/>
                <a:latin typeface="Aptos"/>
              </a:rPr>
              <a:t>Common choice: zero padding</a:t>
            </a:r>
            <a:endParaRPr lang="it-IT" sz="1100" b="0" u="none" strike="noStrike">
              <a:solidFill>
                <a:srgbClr val="000000"/>
              </a:solidFill>
              <a:effectLst/>
              <a:uFillTx/>
              <a:latin typeface="Arial"/>
            </a:endParaRPr>
          </a:p>
        </p:txBody>
      </p:sp>
      <p:sp>
        <p:nvSpPr>
          <p:cNvPr id="231" name="Text 30"/>
          <p:cNvSpPr/>
          <p:nvPr/>
        </p:nvSpPr>
        <p:spPr>
          <a:xfrm>
            <a:off x="914400" y="4846320"/>
            <a:ext cx="694908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dirty="0">
                <a:solidFill>
                  <a:srgbClr val="111827"/>
                </a:solidFill>
                <a:effectLst/>
                <a:highlight>
                  <a:srgbClr val="FFFF00"/>
                </a:highlight>
                <a:uFillTx/>
                <a:latin typeface="Aptos"/>
              </a:rPr>
              <a:t>Padding lets us preserve length, but changes local evidence at the edges.</a:t>
            </a:r>
            <a:endParaRPr lang="it-IT" sz="1300" b="1" u="none" strike="noStrike" dirty="0">
              <a:solidFill>
                <a:srgbClr val="000000"/>
              </a:solidFill>
              <a:effectLst/>
              <a:highlight>
                <a:srgbClr val="FFFF00"/>
              </a:highlight>
              <a:uFillTx/>
              <a:latin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C493EA9-F5EA-DA20-B299-91687BF2BACD}"/>
              </a:ext>
            </a:extLst>
          </p:cNvPr>
          <p:cNvSpPr>
            <a:spLocks noGrp="1"/>
          </p:cNvSpPr>
          <p:nvPr>
            <p:ph type="title"/>
          </p:nvPr>
        </p:nvSpPr>
        <p:spPr/>
        <p:txBody>
          <a:bodyPr/>
          <a:lstStyle/>
          <a:p>
            <a:r>
              <a:rPr lang="en-GB" dirty="0"/>
              <a:t>Output length with stride</a:t>
            </a:r>
          </a:p>
        </p:txBody>
      </p:sp>
      <p:sp>
        <p:nvSpPr>
          <p:cNvPr id="3" name="Segnaposto contenuto 2">
            <a:extLst>
              <a:ext uri="{FF2B5EF4-FFF2-40B4-BE49-F238E27FC236}">
                <a16:creationId xmlns:a16="http://schemas.microsoft.com/office/drawing/2014/main" id="{95003744-476F-2F21-A758-2ED4287E9840}"/>
              </a:ext>
            </a:extLst>
          </p:cNvPr>
          <p:cNvSpPr>
            <a:spLocks noGrp="1"/>
          </p:cNvSpPr>
          <p:nvPr>
            <p:ph idx="1"/>
          </p:nvPr>
        </p:nvSpPr>
        <p:spPr/>
        <p:txBody>
          <a:bodyPr>
            <a:normAutofit fontScale="92500" lnSpcReduction="10000"/>
          </a:bodyPr>
          <a:lstStyle/>
          <a:p>
            <a:r>
              <a:rPr lang="en-GB" dirty="0"/>
              <a:t>For a </a:t>
            </a:r>
            <a:r>
              <a:rPr lang="en-GB" b="1" dirty="0"/>
              <a:t>valid convolution</a:t>
            </a:r>
            <a:r>
              <a:rPr lang="en-GB" dirty="0"/>
              <a:t>, the output length can be written conceptually as:</a:t>
            </a:r>
          </a:p>
          <a:p>
            <a:r>
              <a:rPr lang="en-GB" b="1" dirty="0" err="1"/>
              <a:t>L_out</a:t>
            </a:r>
            <a:r>
              <a:rPr lang="en-GB" b="1" dirty="0"/>
              <a:t> = floor((L − K) / S) + 1</a:t>
            </a:r>
          </a:p>
          <a:p>
            <a:r>
              <a:rPr lang="en-GB" dirty="0"/>
              <a:t>where:</a:t>
            </a:r>
          </a:p>
          <a:p>
            <a:pPr lvl="1"/>
            <a:r>
              <a:rPr lang="en-GB" dirty="0"/>
              <a:t>L = input length; </a:t>
            </a:r>
          </a:p>
          <a:p>
            <a:pPr lvl="1"/>
            <a:r>
              <a:rPr lang="en-GB" dirty="0"/>
              <a:t>K = kernel size; </a:t>
            </a:r>
          </a:p>
          <a:p>
            <a:pPr lvl="1"/>
            <a:r>
              <a:rPr lang="en-GB" dirty="0"/>
              <a:t>S = stride. </a:t>
            </a:r>
          </a:p>
          <a:p>
            <a:r>
              <a:rPr lang="en-GB" b="1" dirty="0"/>
              <a:t>Example 1</a:t>
            </a:r>
          </a:p>
          <a:p>
            <a:r>
              <a:rPr lang="en-GB" dirty="0"/>
              <a:t>L = 100</a:t>
            </a:r>
          </a:p>
          <a:p>
            <a:r>
              <a:rPr lang="en-GB" dirty="0"/>
              <a:t>K = 5</a:t>
            </a:r>
          </a:p>
          <a:p>
            <a:r>
              <a:rPr lang="en-GB" dirty="0"/>
              <a:t>S = 1</a:t>
            </a:r>
          </a:p>
          <a:p>
            <a:r>
              <a:rPr lang="en-GB" dirty="0"/>
              <a:t>Then: </a:t>
            </a:r>
            <a:r>
              <a:rPr lang="en-GB" dirty="0" err="1"/>
              <a:t>L_out</a:t>
            </a:r>
            <a:r>
              <a:rPr lang="en-GB" dirty="0"/>
              <a:t> = 96</a:t>
            </a:r>
          </a:p>
          <a:p>
            <a:endParaRPr lang="en-GB" dirty="0"/>
          </a:p>
        </p:txBody>
      </p:sp>
    </p:spTree>
    <p:extLst>
      <p:ext uri="{BB962C8B-B14F-4D97-AF65-F5344CB8AC3E}">
        <p14:creationId xmlns:p14="http://schemas.microsoft.com/office/powerpoint/2010/main" val="11710260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76387-88DF-77CB-A71D-4826A9737F3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06FE96E-312D-B29D-D86C-5F33646C8083}"/>
              </a:ext>
            </a:extLst>
          </p:cNvPr>
          <p:cNvSpPr>
            <a:spLocks noGrp="1"/>
          </p:cNvSpPr>
          <p:nvPr>
            <p:ph type="title"/>
          </p:nvPr>
        </p:nvSpPr>
        <p:spPr/>
        <p:txBody>
          <a:bodyPr/>
          <a:lstStyle/>
          <a:p>
            <a:r>
              <a:rPr lang="en-GB" dirty="0"/>
              <a:t>Output length with stride</a:t>
            </a:r>
          </a:p>
        </p:txBody>
      </p:sp>
      <p:sp>
        <p:nvSpPr>
          <p:cNvPr id="3" name="Segnaposto contenuto 2">
            <a:extLst>
              <a:ext uri="{FF2B5EF4-FFF2-40B4-BE49-F238E27FC236}">
                <a16:creationId xmlns:a16="http://schemas.microsoft.com/office/drawing/2014/main" id="{849D5CEC-2CC8-B3F7-76B5-C0548B94F923}"/>
              </a:ext>
            </a:extLst>
          </p:cNvPr>
          <p:cNvSpPr>
            <a:spLocks noGrp="1"/>
          </p:cNvSpPr>
          <p:nvPr>
            <p:ph idx="1"/>
          </p:nvPr>
        </p:nvSpPr>
        <p:spPr/>
        <p:txBody>
          <a:bodyPr>
            <a:normAutofit fontScale="92500" lnSpcReduction="10000"/>
          </a:bodyPr>
          <a:lstStyle/>
          <a:p>
            <a:r>
              <a:rPr lang="en-GB" b="1" dirty="0"/>
              <a:t>Example 2</a:t>
            </a:r>
          </a:p>
          <a:p>
            <a:pPr lvl="1"/>
            <a:r>
              <a:rPr lang="en-GB" dirty="0"/>
              <a:t>L = 100</a:t>
            </a:r>
          </a:p>
          <a:p>
            <a:pPr lvl="1"/>
            <a:r>
              <a:rPr lang="en-GB" dirty="0"/>
              <a:t>K = 5</a:t>
            </a:r>
          </a:p>
          <a:p>
            <a:pPr lvl="1"/>
            <a:r>
              <a:rPr lang="en-GB" dirty="0"/>
              <a:t>S = 2</a:t>
            </a:r>
          </a:p>
          <a:p>
            <a:pPr lvl="1"/>
            <a:r>
              <a:rPr lang="en-GB" dirty="0"/>
              <a:t>Then: </a:t>
            </a:r>
            <a:r>
              <a:rPr lang="en-GB" dirty="0" err="1"/>
              <a:t>L_out</a:t>
            </a:r>
            <a:r>
              <a:rPr lang="en-GB" dirty="0"/>
              <a:t> = 48</a:t>
            </a:r>
          </a:p>
          <a:p>
            <a:endParaRPr lang="en-GB" dirty="0"/>
          </a:p>
          <a:p>
            <a:r>
              <a:rPr lang="en-GB" b="1" dirty="0"/>
              <a:t>Stride greater than 1 performs convolution and </a:t>
            </a:r>
            <a:r>
              <a:rPr lang="en-GB" b="1" dirty="0" err="1"/>
              <a:t>downsampling</a:t>
            </a:r>
            <a:r>
              <a:rPr lang="en-GB" b="1" dirty="0"/>
              <a:t> simultaneously.</a:t>
            </a:r>
          </a:p>
          <a:p>
            <a:endParaRPr lang="en-GB" dirty="0"/>
          </a:p>
          <a:p>
            <a:r>
              <a:rPr lang="en-GB" dirty="0"/>
              <a:t>A smaller output does not mean that information is necessarily lost immediately.</a:t>
            </a:r>
          </a:p>
          <a:p>
            <a:r>
              <a:rPr lang="en-GB" dirty="0"/>
              <a:t>Each output summarizes a local region.</a:t>
            </a:r>
          </a:p>
          <a:p>
            <a:r>
              <a:rPr lang="en-GB" dirty="0"/>
              <a:t>However, the temporal grid becomes coarser.</a:t>
            </a:r>
          </a:p>
          <a:p>
            <a:endParaRPr lang="en-GB" dirty="0"/>
          </a:p>
        </p:txBody>
      </p:sp>
    </p:spTree>
    <p:extLst>
      <p:ext uri="{BB962C8B-B14F-4D97-AF65-F5344CB8AC3E}">
        <p14:creationId xmlns:p14="http://schemas.microsoft.com/office/powerpoint/2010/main" val="37733524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33"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34"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Output length with stride</a:t>
            </a:r>
            <a:endParaRPr lang="it-IT" sz="2200" b="0" u="none" strike="noStrike">
              <a:solidFill>
                <a:srgbClr val="000000"/>
              </a:solidFill>
              <a:effectLst/>
              <a:uFillTx/>
              <a:latin typeface="Arial"/>
            </a:endParaRPr>
          </a:p>
        </p:txBody>
      </p:sp>
      <p:sp>
        <p:nvSpPr>
          <p:cNvPr id="235"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rPr lang="en-GB" sz="1400" b="1" dirty="0">
                <a:highlight>
                  <a:srgbClr val="FFFF00"/>
                </a:highlight>
              </a:rPr>
              <a:t>Stride greater than 1 performs convolution and </a:t>
            </a:r>
            <a:r>
              <a:rPr lang="en-GB" sz="1400" b="1" dirty="0" err="1">
                <a:highlight>
                  <a:srgbClr val="FFFF00"/>
                </a:highlight>
              </a:rPr>
              <a:t>downsampling</a:t>
            </a:r>
            <a:r>
              <a:rPr lang="en-GB" sz="1400" b="1" dirty="0">
                <a:highlight>
                  <a:srgbClr val="FFFF00"/>
                </a:highlight>
              </a:rPr>
              <a:t> simultaneously.</a:t>
            </a:r>
          </a:p>
        </p:txBody>
      </p:sp>
      <p:sp>
        <p:nvSpPr>
          <p:cNvPr id="236"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37"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dirty="0">
                <a:solidFill>
                  <a:srgbClr val="111827"/>
                </a:solidFill>
                <a:effectLst/>
                <a:uFillTx/>
                <a:latin typeface="Aptos"/>
              </a:rPr>
              <a:t>The output grid becomes coarser as stride increases.</a:t>
            </a:r>
            <a:endParaRPr lang="it-IT" sz="1400" b="0" u="none" strike="noStrike" dirty="0">
              <a:solidFill>
                <a:srgbClr val="000000"/>
              </a:solidFill>
              <a:effectLst/>
              <a:uFillTx/>
              <a:latin typeface="Arial"/>
            </a:endParaRPr>
          </a:p>
        </p:txBody>
      </p:sp>
      <p:sp>
        <p:nvSpPr>
          <p:cNvPr id="238" name="Shape 6"/>
          <p:cNvSpPr/>
          <p:nvPr/>
        </p:nvSpPr>
        <p:spPr>
          <a:xfrm>
            <a:off x="914400" y="1417320"/>
            <a:ext cx="2194200" cy="502560"/>
          </a:xfrm>
          <a:prstGeom prst="roundRect">
            <a:avLst>
              <a:gd name="adj" fmla="val 9091"/>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39" name="Text 7"/>
          <p:cNvSpPr/>
          <p:nvPr/>
        </p:nvSpPr>
        <p:spPr>
          <a:xfrm>
            <a:off x="941760" y="156816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valid convolution</a:t>
            </a:r>
            <a:endParaRPr lang="it-IT" sz="1400" b="0" u="none" strike="noStrike">
              <a:solidFill>
                <a:srgbClr val="000000"/>
              </a:solidFill>
              <a:effectLst/>
              <a:uFillTx/>
              <a:latin typeface="Arial"/>
            </a:endParaRPr>
          </a:p>
        </p:txBody>
      </p:sp>
      <p:sp>
        <p:nvSpPr>
          <p:cNvPr id="240" name="Shape 8"/>
          <p:cNvSpPr/>
          <p:nvPr/>
        </p:nvSpPr>
        <p:spPr>
          <a:xfrm>
            <a:off x="3657600" y="1417320"/>
            <a:ext cx="4023000" cy="502560"/>
          </a:xfrm>
          <a:prstGeom prst="roundRect">
            <a:avLst>
              <a:gd name="adj" fmla="val 9091"/>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41" name="Text 9"/>
          <p:cNvSpPr/>
          <p:nvPr/>
        </p:nvSpPr>
        <p:spPr>
          <a:xfrm>
            <a:off x="3684960" y="1568160"/>
            <a:ext cx="3968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111827"/>
                </a:solidFill>
                <a:effectLst/>
                <a:uFillTx/>
                <a:latin typeface="Aptos"/>
              </a:rPr>
              <a:t>L_out = floor((L − K) / S) + 1</a:t>
            </a:r>
            <a:endParaRPr lang="it-IT" sz="1600" b="0" u="none" strike="noStrike">
              <a:solidFill>
                <a:srgbClr val="000000"/>
              </a:solidFill>
              <a:effectLst/>
              <a:uFillTx/>
              <a:latin typeface="Arial"/>
            </a:endParaRPr>
          </a:p>
        </p:txBody>
      </p:sp>
      <p:sp>
        <p:nvSpPr>
          <p:cNvPr id="242" name="Text 10"/>
          <p:cNvSpPr/>
          <p:nvPr/>
        </p:nvSpPr>
        <p:spPr>
          <a:xfrm>
            <a:off x="914400" y="2743200"/>
            <a:ext cx="127980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86BC25"/>
                </a:solidFill>
                <a:effectLst/>
                <a:uFillTx/>
                <a:latin typeface="Aptos"/>
              </a:rPr>
              <a:t>Example 1</a:t>
            </a:r>
            <a:endParaRPr lang="it-IT" sz="1400" b="0" u="none" strike="noStrike">
              <a:solidFill>
                <a:srgbClr val="000000"/>
              </a:solidFill>
              <a:effectLst/>
              <a:uFillTx/>
              <a:latin typeface="Arial"/>
            </a:endParaRPr>
          </a:p>
        </p:txBody>
      </p:sp>
      <p:sp>
        <p:nvSpPr>
          <p:cNvPr id="243" name="Shape 11"/>
          <p:cNvSpPr/>
          <p:nvPr/>
        </p:nvSpPr>
        <p:spPr>
          <a:xfrm>
            <a:off x="914400" y="3200400"/>
            <a:ext cx="1371240" cy="1005480"/>
          </a:xfrm>
          <a:prstGeom prst="roundRect">
            <a:avLst>
              <a:gd name="adj" fmla="val 4545"/>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44" name="Text 12"/>
          <p:cNvSpPr/>
          <p:nvPr/>
        </p:nvSpPr>
        <p:spPr>
          <a:xfrm>
            <a:off x="941760" y="3602880"/>
            <a:ext cx="1316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111827"/>
                </a:solidFill>
                <a:effectLst/>
                <a:uFillTx/>
                <a:latin typeface="Aptos"/>
              </a:rPr>
              <a:t>L = 100</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11827"/>
                </a:solidFill>
                <a:effectLst/>
                <a:uFillTx/>
                <a:latin typeface="Aptos"/>
              </a:rPr>
              <a:t>K = 5</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11827"/>
                </a:solidFill>
                <a:effectLst/>
                <a:uFillTx/>
                <a:latin typeface="Aptos"/>
              </a:rPr>
              <a:t>S = 1</a:t>
            </a:r>
            <a:endParaRPr lang="it-IT" sz="1200" b="0" u="none" strike="noStrike">
              <a:solidFill>
                <a:srgbClr val="000000"/>
              </a:solidFill>
              <a:effectLst/>
              <a:uFillTx/>
              <a:latin typeface="Arial"/>
            </a:endParaRPr>
          </a:p>
        </p:txBody>
      </p:sp>
      <p:sp>
        <p:nvSpPr>
          <p:cNvPr id="245" name="Shape 13"/>
          <p:cNvSpPr/>
          <p:nvPr/>
        </p:nvSpPr>
        <p:spPr>
          <a:xfrm>
            <a:off x="2468880" y="3657600"/>
            <a:ext cx="1188720" cy="36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46" name="Shape 14"/>
          <p:cNvSpPr/>
          <p:nvPr/>
        </p:nvSpPr>
        <p:spPr>
          <a:xfrm>
            <a:off x="3840480" y="3429000"/>
            <a:ext cx="1645560" cy="502560"/>
          </a:xfrm>
          <a:prstGeom prst="roundRect">
            <a:avLst>
              <a:gd name="adj" fmla="val 9091"/>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47" name="Text 15"/>
          <p:cNvSpPr/>
          <p:nvPr/>
        </p:nvSpPr>
        <p:spPr>
          <a:xfrm>
            <a:off x="3867840" y="3579840"/>
            <a:ext cx="1590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L_out = 96</a:t>
            </a:r>
            <a:endParaRPr lang="it-IT" sz="1400" b="0" u="none" strike="noStrike">
              <a:solidFill>
                <a:srgbClr val="000000"/>
              </a:solidFill>
              <a:effectLst/>
              <a:uFillTx/>
              <a:latin typeface="Arial"/>
            </a:endParaRPr>
          </a:p>
        </p:txBody>
      </p:sp>
      <p:sp>
        <p:nvSpPr>
          <p:cNvPr id="248" name="Text 16"/>
          <p:cNvSpPr/>
          <p:nvPr/>
        </p:nvSpPr>
        <p:spPr>
          <a:xfrm>
            <a:off x="6400800" y="2743200"/>
            <a:ext cx="127980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F2A900"/>
                </a:solidFill>
                <a:effectLst/>
                <a:uFillTx/>
                <a:latin typeface="Aptos"/>
              </a:rPr>
              <a:t>Example 2</a:t>
            </a:r>
            <a:endParaRPr lang="it-IT" sz="1400" b="0" u="none" strike="noStrike">
              <a:solidFill>
                <a:srgbClr val="000000"/>
              </a:solidFill>
              <a:effectLst/>
              <a:uFillTx/>
              <a:latin typeface="Arial"/>
            </a:endParaRPr>
          </a:p>
        </p:txBody>
      </p:sp>
      <p:sp>
        <p:nvSpPr>
          <p:cNvPr id="249" name="Shape 17"/>
          <p:cNvSpPr/>
          <p:nvPr/>
        </p:nvSpPr>
        <p:spPr>
          <a:xfrm>
            <a:off x="6400800" y="3200400"/>
            <a:ext cx="1371240" cy="1005480"/>
          </a:xfrm>
          <a:prstGeom prst="roundRect">
            <a:avLst>
              <a:gd name="adj" fmla="val 4545"/>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50" name="Text 18"/>
          <p:cNvSpPr/>
          <p:nvPr/>
        </p:nvSpPr>
        <p:spPr>
          <a:xfrm>
            <a:off x="6428160" y="3602880"/>
            <a:ext cx="1316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111827"/>
                </a:solidFill>
                <a:effectLst/>
                <a:uFillTx/>
                <a:latin typeface="Aptos"/>
              </a:rPr>
              <a:t>L = 100</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11827"/>
                </a:solidFill>
                <a:effectLst/>
                <a:uFillTx/>
                <a:latin typeface="Aptos"/>
              </a:rPr>
              <a:t>K = 5</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11827"/>
                </a:solidFill>
                <a:effectLst/>
                <a:uFillTx/>
                <a:latin typeface="Aptos"/>
              </a:rPr>
              <a:t>S = 2</a:t>
            </a:r>
            <a:endParaRPr lang="it-IT" sz="1200" b="0" u="none" strike="noStrike">
              <a:solidFill>
                <a:srgbClr val="000000"/>
              </a:solidFill>
              <a:effectLst/>
              <a:uFillTx/>
              <a:latin typeface="Arial"/>
            </a:endParaRPr>
          </a:p>
        </p:txBody>
      </p:sp>
      <p:sp>
        <p:nvSpPr>
          <p:cNvPr id="251" name="Shape 19"/>
          <p:cNvSpPr/>
          <p:nvPr/>
        </p:nvSpPr>
        <p:spPr>
          <a:xfrm>
            <a:off x="7955280" y="3657600"/>
            <a:ext cx="1188720" cy="36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52" name="Shape 20"/>
          <p:cNvSpPr/>
          <p:nvPr/>
        </p:nvSpPr>
        <p:spPr>
          <a:xfrm>
            <a:off x="9326880" y="3429000"/>
            <a:ext cx="1645560" cy="502560"/>
          </a:xfrm>
          <a:prstGeom prst="roundRect">
            <a:avLst>
              <a:gd name="adj" fmla="val 9091"/>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53" name="Text 21"/>
          <p:cNvSpPr/>
          <p:nvPr/>
        </p:nvSpPr>
        <p:spPr>
          <a:xfrm>
            <a:off x="9354240" y="3579840"/>
            <a:ext cx="1590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L_out = 48</a:t>
            </a:r>
            <a:endParaRPr lang="it-IT" sz="1400" b="0" u="none" strike="noStrike">
              <a:solidFill>
                <a:srgbClr val="000000"/>
              </a:solidFill>
              <a:effectLst/>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DD7E02C-7C5B-9E60-F168-418A927D9D95}"/>
              </a:ext>
            </a:extLst>
          </p:cNvPr>
          <p:cNvSpPr>
            <a:spLocks noGrp="1"/>
          </p:cNvSpPr>
          <p:nvPr>
            <p:ph type="title"/>
          </p:nvPr>
        </p:nvSpPr>
        <p:spPr/>
        <p:txBody>
          <a:bodyPr/>
          <a:lstStyle/>
          <a:p>
            <a:r>
              <a:rPr lang="en-GB" dirty="0"/>
              <a:t>Temporal resolution and (for sequence </a:t>
            </a:r>
            <a:r>
              <a:rPr lang="en-GB" dirty="0" err="1"/>
              <a:t>labeling</a:t>
            </a:r>
            <a:r>
              <a:rPr lang="en-GB" dirty="0"/>
              <a:t>) target alignment</a:t>
            </a:r>
          </a:p>
        </p:txBody>
      </p:sp>
      <p:sp>
        <p:nvSpPr>
          <p:cNvPr id="3" name="Segnaposto contenuto 2">
            <a:extLst>
              <a:ext uri="{FF2B5EF4-FFF2-40B4-BE49-F238E27FC236}">
                <a16:creationId xmlns:a16="http://schemas.microsoft.com/office/drawing/2014/main" id="{7DCD1693-B698-9A05-26C1-2675415C490A}"/>
              </a:ext>
            </a:extLst>
          </p:cNvPr>
          <p:cNvSpPr>
            <a:spLocks noGrp="1"/>
          </p:cNvSpPr>
          <p:nvPr>
            <p:ph sz="half" idx="1"/>
          </p:nvPr>
        </p:nvSpPr>
        <p:spPr>
          <a:xfrm>
            <a:off x="677334" y="2160589"/>
            <a:ext cx="4184035" cy="4306886"/>
          </a:xfrm>
        </p:spPr>
        <p:txBody>
          <a:bodyPr>
            <a:normAutofit/>
          </a:bodyPr>
          <a:lstStyle/>
          <a:p>
            <a:r>
              <a:rPr lang="en-GB" dirty="0"/>
              <a:t>Suppose the input contains one sample every: 0.01 s</a:t>
            </a:r>
          </a:p>
          <a:p>
            <a:r>
              <a:rPr lang="en-GB" dirty="0"/>
              <a:t>If stride is: S = 1</a:t>
            </a:r>
          </a:p>
          <a:p>
            <a:r>
              <a:rPr lang="en-GB" dirty="0"/>
              <a:t>the output also has approximately one activation every: 0.01 s</a:t>
            </a:r>
          </a:p>
          <a:p>
            <a:r>
              <a:rPr lang="en-GB" dirty="0"/>
              <a:t>If stride is: S = 5</a:t>
            </a:r>
          </a:p>
          <a:p>
            <a:r>
              <a:rPr lang="en-GB" dirty="0"/>
              <a:t>the output has approximately one activation every: 0.05 s</a:t>
            </a:r>
          </a:p>
          <a:p>
            <a:endParaRPr lang="en-GB" dirty="0"/>
          </a:p>
        </p:txBody>
      </p:sp>
      <p:sp>
        <p:nvSpPr>
          <p:cNvPr id="4" name="Segnaposto contenuto 3">
            <a:extLst>
              <a:ext uri="{FF2B5EF4-FFF2-40B4-BE49-F238E27FC236}">
                <a16:creationId xmlns:a16="http://schemas.microsoft.com/office/drawing/2014/main" id="{067AE114-8CF9-658F-1015-E9EFA9316887}"/>
              </a:ext>
            </a:extLst>
          </p:cNvPr>
          <p:cNvSpPr>
            <a:spLocks noGrp="1"/>
          </p:cNvSpPr>
          <p:nvPr>
            <p:ph sz="half" idx="2"/>
          </p:nvPr>
        </p:nvSpPr>
        <p:spPr>
          <a:xfrm>
            <a:off x="5089969" y="2160590"/>
            <a:ext cx="6501955" cy="3735386"/>
          </a:xfrm>
        </p:spPr>
        <p:txBody>
          <a:bodyPr>
            <a:normAutofit/>
          </a:bodyPr>
          <a:lstStyle/>
          <a:p>
            <a:r>
              <a:rPr lang="en-GB" b="1" dirty="0"/>
              <a:t>This matters for different tasks</a:t>
            </a:r>
          </a:p>
          <a:p>
            <a:r>
              <a:rPr lang="en-GB" b="1" dirty="0"/>
              <a:t>Window classification</a:t>
            </a:r>
          </a:p>
          <a:p>
            <a:pPr lvl="1"/>
            <a:r>
              <a:rPr lang="en-GB" dirty="0"/>
              <a:t>Exact temporal alignment may not be important.</a:t>
            </a:r>
          </a:p>
          <a:p>
            <a:pPr lvl="1"/>
            <a:r>
              <a:rPr lang="en-GB" dirty="0"/>
              <a:t>Strong </a:t>
            </a:r>
            <a:r>
              <a:rPr lang="en-GB" dirty="0" err="1"/>
              <a:t>downsampling</a:t>
            </a:r>
            <a:r>
              <a:rPr lang="en-GB" dirty="0"/>
              <a:t> can be acceptable.</a:t>
            </a:r>
          </a:p>
          <a:p>
            <a:r>
              <a:rPr lang="en-GB" b="1" dirty="0"/>
              <a:t>Sequence labelling</a:t>
            </a:r>
          </a:p>
          <a:p>
            <a:pPr lvl="1"/>
            <a:r>
              <a:rPr lang="en-GB" dirty="0"/>
              <a:t>If we need one class for every original time step, </a:t>
            </a:r>
            <a:r>
              <a:rPr lang="en-GB" dirty="0" err="1"/>
              <a:t>downsampling</a:t>
            </a:r>
            <a:r>
              <a:rPr lang="en-GB" dirty="0"/>
              <a:t> creates an alignment problem.</a:t>
            </a:r>
          </a:p>
          <a:p>
            <a:r>
              <a:rPr lang="en-GB" b="1" dirty="0"/>
              <a:t>Event localisation</a:t>
            </a:r>
          </a:p>
          <a:p>
            <a:pPr lvl="1"/>
            <a:r>
              <a:rPr lang="en-GB" dirty="0"/>
              <a:t>Very aggressive stride may reduce the precision with which an event can be located.</a:t>
            </a:r>
          </a:p>
        </p:txBody>
      </p:sp>
      <p:sp>
        <p:nvSpPr>
          <p:cNvPr id="6" name="CasellaDiTesto 5">
            <a:extLst>
              <a:ext uri="{FF2B5EF4-FFF2-40B4-BE49-F238E27FC236}">
                <a16:creationId xmlns:a16="http://schemas.microsoft.com/office/drawing/2014/main" id="{1BE9C07D-AAC7-E71E-860C-6A2ADCC13CA8}"/>
              </a:ext>
            </a:extLst>
          </p:cNvPr>
          <p:cNvSpPr txBox="1"/>
          <p:nvPr/>
        </p:nvSpPr>
        <p:spPr>
          <a:xfrm>
            <a:off x="2566988" y="6084315"/>
            <a:ext cx="6105524" cy="584775"/>
          </a:xfrm>
          <a:prstGeom prst="rect">
            <a:avLst/>
          </a:prstGeom>
          <a:noFill/>
        </p:spPr>
        <p:txBody>
          <a:bodyPr wrap="square">
            <a:spAutoFit/>
          </a:bodyPr>
          <a:lstStyle/>
          <a:p>
            <a:r>
              <a:rPr lang="en-GB" sz="1600" b="1" dirty="0"/>
              <a:t>Temporal resolution should be selected according to the output requirement, not only computational efficiency.</a:t>
            </a:r>
          </a:p>
        </p:txBody>
      </p:sp>
    </p:spTree>
    <p:extLst>
      <p:ext uri="{BB962C8B-B14F-4D97-AF65-F5344CB8AC3E}">
        <p14:creationId xmlns:p14="http://schemas.microsoft.com/office/powerpoint/2010/main" val="22298565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55"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56"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111827"/>
                </a:solidFill>
                <a:effectLst/>
                <a:uFillTx/>
                <a:latin typeface="Aptos Display"/>
                <a:ea typeface="Aptos Display"/>
              </a:rPr>
              <a:t>Temporal resolution and (for sequence labeling) output-target alignment</a:t>
            </a:r>
            <a:endParaRPr lang="it-IT" sz="2200" b="0" u="none" strike="noStrike" dirty="0">
              <a:solidFill>
                <a:srgbClr val="000000"/>
              </a:solidFill>
              <a:effectLst/>
              <a:uFillTx/>
              <a:latin typeface="Arial"/>
            </a:endParaRPr>
          </a:p>
        </p:txBody>
      </p:sp>
      <p:sp>
        <p:nvSpPr>
          <p:cNvPr id="257"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dirty="0" err="1">
                <a:solidFill>
                  <a:srgbClr val="506070"/>
                </a:solidFill>
                <a:effectLst/>
                <a:uFillTx/>
                <a:latin typeface="Aptos"/>
              </a:rPr>
              <a:t>Downsampling</a:t>
            </a:r>
            <a:r>
              <a:rPr lang="en-US" sz="1200" b="0" u="none" strike="noStrike" dirty="0">
                <a:solidFill>
                  <a:srgbClr val="506070"/>
                </a:solidFill>
                <a:effectLst/>
                <a:uFillTx/>
                <a:latin typeface="Aptos"/>
              </a:rPr>
              <a:t> changes the spacing between output activations.</a:t>
            </a:r>
            <a:endParaRPr lang="it-IT" sz="1200" b="0" u="none" strike="noStrike" dirty="0">
              <a:solidFill>
                <a:srgbClr val="000000"/>
              </a:solidFill>
              <a:effectLst/>
              <a:uFillTx/>
              <a:latin typeface="Arial"/>
            </a:endParaRPr>
          </a:p>
        </p:txBody>
      </p:sp>
      <p:sp>
        <p:nvSpPr>
          <p:cNvPr id="258"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59"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u="none" strike="noStrike" dirty="0">
                <a:solidFill>
                  <a:srgbClr val="111827"/>
                </a:solidFill>
                <a:effectLst/>
                <a:uFillTx/>
                <a:latin typeface="Aptos"/>
              </a:rPr>
              <a:t>The output grid should match the task’s temporal precision requirements.</a:t>
            </a:r>
            <a:endParaRPr lang="it-IT" sz="1100" u="none" strike="noStrike" dirty="0">
              <a:solidFill>
                <a:srgbClr val="000000"/>
              </a:solidFill>
              <a:effectLst/>
              <a:uFillTx/>
              <a:latin typeface="Arial"/>
            </a:endParaRPr>
          </a:p>
        </p:txBody>
      </p:sp>
      <p:sp>
        <p:nvSpPr>
          <p:cNvPr id="260" name="Shape 6"/>
          <p:cNvSpPr/>
          <p:nvPr/>
        </p:nvSpPr>
        <p:spPr>
          <a:xfrm>
            <a:off x="914400" y="2011680"/>
            <a:ext cx="8412480" cy="360"/>
          </a:xfrm>
          <a:prstGeom prst="line">
            <a:avLst/>
          </a:prstGeom>
          <a:ln w="127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61" name="Shape 7"/>
          <p:cNvSpPr/>
          <p:nvPr/>
        </p:nvSpPr>
        <p:spPr>
          <a:xfrm>
            <a:off x="96480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62" name="Shape 8"/>
          <p:cNvSpPr/>
          <p:nvPr/>
        </p:nvSpPr>
        <p:spPr>
          <a:xfrm>
            <a:off x="146772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63" name="Shape 9"/>
          <p:cNvSpPr/>
          <p:nvPr/>
        </p:nvSpPr>
        <p:spPr>
          <a:xfrm>
            <a:off x="197064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64" name="Shape 10"/>
          <p:cNvSpPr/>
          <p:nvPr/>
        </p:nvSpPr>
        <p:spPr>
          <a:xfrm>
            <a:off x="247356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65" name="Shape 11"/>
          <p:cNvSpPr/>
          <p:nvPr/>
        </p:nvSpPr>
        <p:spPr>
          <a:xfrm>
            <a:off x="297648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66" name="Shape 12"/>
          <p:cNvSpPr/>
          <p:nvPr/>
        </p:nvSpPr>
        <p:spPr>
          <a:xfrm>
            <a:off x="347940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67" name="Shape 13"/>
          <p:cNvSpPr/>
          <p:nvPr/>
        </p:nvSpPr>
        <p:spPr>
          <a:xfrm>
            <a:off x="398232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68" name="Shape 14"/>
          <p:cNvSpPr/>
          <p:nvPr/>
        </p:nvSpPr>
        <p:spPr>
          <a:xfrm>
            <a:off x="448524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69" name="Shape 15"/>
          <p:cNvSpPr/>
          <p:nvPr/>
        </p:nvSpPr>
        <p:spPr>
          <a:xfrm>
            <a:off x="498816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70" name="Shape 16"/>
          <p:cNvSpPr/>
          <p:nvPr/>
        </p:nvSpPr>
        <p:spPr>
          <a:xfrm>
            <a:off x="549108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71" name="Shape 17"/>
          <p:cNvSpPr/>
          <p:nvPr/>
        </p:nvSpPr>
        <p:spPr>
          <a:xfrm>
            <a:off x="599400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72" name="Shape 18"/>
          <p:cNvSpPr/>
          <p:nvPr/>
        </p:nvSpPr>
        <p:spPr>
          <a:xfrm>
            <a:off x="6496920" y="1970640"/>
            <a:ext cx="82080" cy="8208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13320" rIns="90000" bIns="13320" anchor="t">
            <a:noAutofit/>
          </a:bodyPr>
          <a:lstStyle/>
          <a:p>
            <a:endParaRPr lang="it-IT" sz="1800" b="0" u="none" strike="noStrike">
              <a:solidFill>
                <a:srgbClr val="FFFFFF"/>
              </a:solidFill>
              <a:effectLst/>
              <a:uFillTx/>
              <a:latin typeface="Arial"/>
            </a:endParaRPr>
          </a:p>
        </p:txBody>
      </p:sp>
      <p:sp>
        <p:nvSpPr>
          <p:cNvPr id="273" name="Text 19"/>
          <p:cNvSpPr/>
          <p:nvPr/>
        </p:nvSpPr>
        <p:spPr>
          <a:xfrm>
            <a:off x="914400" y="1600200"/>
            <a:ext cx="41144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a:solidFill>
                  <a:srgbClr val="111827"/>
                </a:solidFill>
                <a:effectLst/>
                <a:uFillTx/>
                <a:latin typeface="Aptos"/>
              </a:rPr>
              <a:t>input grid: one sample every 0.01 s</a:t>
            </a:r>
            <a:endParaRPr lang="it-IT" sz="1100" b="0" u="none" strike="noStrike">
              <a:solidFill>
                <a:srgbClr val="000000"/>
              </a:solidFill>
              <a:effectLst/>
              <a:uFillTx/>
              <a:latin typeface="Arial"/>
            </a:endParaRPr>
          </a:p>
        </p:txBody>
      </p:sp>
      <p:sp>
        <p:nvSpPr>
          <p:cNvPr id="274" name="Shape 20"/>
          <p:cNvSpPr/>
          <p:nvPr/>
        </p:nvSpPr>
        <p:spPr>
          <a:xfrm>
            <a:off x="914400" y="3108960"/>
            <a:ext cx="8412480" cy="360"/>
          </a:xfrm>
          <a:prstGeom prst="line">
            <a:avLst/>
          </a:prstGeom>
          <a:ln w="127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75" name="Shape 21"/>
          <p:cNvSpPr/>
          <p:nvPr/>
        </p:nvSpPr>
        <p:spPr>
          <a:xfrm>
            <a:off x="941760" y="3044880"/>
            <a:ext cx="127800" cy="127800"/>
          </a:xfrm>
          <a:prstGeom prst="ellipse">
            <a:avLst/>
          </a:prstGeom>
          <a:solidFill>
            <a:srgbClr val="F2A900"/>
          </a:solidFill>
          <a:ln w="1270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76" name="Shape 22"/>
          <p:cNvSpPr/>
          <p:nvPr/>
        </p:nvSpPr>
        <p:spPr>
          <a:xfrm>
            <a:off x="3456360" y="3044880"/>
            <a:ext cx="127800" cy="127800"/>
          </a:xfrm>
          <a:prstGeom prst="ellipse">
            <a:avLst/>
          </a:prstGeom>
          <a:solidFill>
            <a:srgbClr val="F2A900"/>
          </a:solidFill>
          <a:ln w="1270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77" name="Shape 23"/>
          <p:cNvSpPr/>
          <p:nvPr/>
        </p:nvSpPr>
        <p:spPr>
          <a:xfrm>
            <a:off x="5970960" y="3044880"/>
            <a:ext cx="127800" cy="127800"/>
          </a:xfrm>
          <a:prstGeom prst="ellipse">
            <a:avLst/>
          </a:prstGeom>
          <a:solidFill>
            <a:srgbClr val="F2A900"/>
          </a:solidFill>
          <a:ln w="1270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78" name="Text 24"/>
          <p:cNvSpPr/>
          <p:nvPr/>
        </p:nvSpPr>
        <p:spPr>
          <a:xfrm>
            <a:off x="914400" y="2743200"/>
            <a:ext cx="475452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a:solidFill>
                  <a:srgbClr val="F2A900"/>
                </a:solidFill>
                <a:effectLst/>
                <a:uFillTx/>
                <a:latin typeface="Aptos"/>
              </a:rPr>
              <a:t>stride 5 output: one activation every 0.05 s</a:t>
            </a:r>
            <a:endParaRPr lang="it-IT" sz="1100" b="0" u="none" strike="noStrike">
              <a:solidFill>
                <a:srgbClr val="000000"/>
              </a:solidFill>
              <a:effectLst/>
              <a:uFillTx/>
              <a:latin typeface="Arial"/>
            </a:endParaRPr>
          </a:p>
        </p:txBody>
      </p:sp>
      <p:sp>
        <p:nvSpPr>
          <p:cNvPr id="279" name="Shape 25"/>
          <p:cNvSpPr/>
          <p:nvPr/>
        </p:nvSpPr>
        <p:spPr>
          <a:xfrm>
            <a:off x="914400" y="4572000"/>
            <a:ext cx="2742840" cy="731160"/>
          </a:xfrm>
          <a:prstGeom prst="roundRect">
            <a:avLst>
              <a:gd name="adj" fmla="val 6250"/>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80" name="Text 26"/>
          <p:cNvSpPr/>
          <p:nvPr/>
        </p:nvSpPr>
        <p:spPr>
          <a:xfrm>
            <a:off x="941760" y="4837320"/>
            <a:ext cx="26881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Window classification</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111827"/>
                </a:solidFill>
                <a:effectLst/>
                <a:uFillTx/>
                <a:latin typeface="Aptos"/>
              </a:rPr>
              <a:t>coarse outputs may be acceptable</a:t>
            </a:r>
            <a:endParaRPr lang="it-IT" sz="1100" b="0" u="none" strike="noStrike">
              <a:solidFill>
                <a:srgbClr val="000000"/>
              </a:solidFill>
              <a:effectLst/>
              <a:uFillTx/>
              <a:latin typeface="Arial"/>
            </a:endParaRPr>
          </a:p>
        </p:txBody>
      </p:sp>
      <p:sp>
        <p:nvSpPr>
          <p:cNvPr id="281" name="Shape 27"/>
          <p:cNvSpPr/>
          <p:nvPr/>
        </p:nvSpPr>
        <p:spPr>
          <a:xfrm>
            <a:off x="4206240" y="4572000"/>
            <a:ext cx="2559960" cy="731160"/>
          </a:xfrm>
          <a:prstGeom prst="roundRect">
            <a:avLst>
              <a:gd name="adj" fmla="val 6250"/>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82" name="Text 28"/>
          <p:cNvSpPr/>
          <p:nvPr/>
        </p:nvSpPr>
        <p:spPr>
          <a:xfrm>
            <a:off x="4233600" y="4837320"/>
            <a:ext cx="25052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dirty="0">
                <a:solidFill>
                  <a:srgbClr val="111827"/>
                </a:solidFill>
                <a:effectLst/>
                <a:uFillTx/>
                <a:latin typeface="Aptos"/>
              </a:rPr>
              <a:t>Sequence labelling</a:t>
            </a:r>
            <a:endParaRPr lang="it-IT" sz="1200" b="1" u="none" strike="noStrike" dirty="0">
              <a:solidFill>
                <a:srgbClr val="000000"/>
              </a:solidFill>
              <a:effectLst/>
              <a:uFillTx/>
              <a:latin typeface="Arial"/>
            </a:endParaRPr>
          </a:p>
          <a:p>
            <a:pPr algn="ctr" defTabSz="914400">
              <a:lnSpc>
                <a:spcPct val="100000"/>
              </a:lnSpc>
              <a:tabLst>
                <a:tab pos="0" algn="l"/>
              </a:tabLst>
            </a:pPr>
            <a:r>
              <a:rPr lang="en-GB" sz="1200" b="1" dirty="0"/>
              <a:t>We must ensure that output and target time grids are aligned</a:t>
            </a:r>
            <a:endParaRPr lang="it-IT" sz="1200" b="1" u="none" strike="noStrike" dirty="0">
              <a:solidFill>
                <a:srgbClr val="000000"/>
              </a:solidFill>
              <a:effectLst/>
              <a:uFillTx/>
              <a:latin typeface="Arial"/>
            </a:endParaRPr>
          </a:p>
        </p:txBody>
      </p:sp>
      <p:sp>
        <p:nvSpPr>
          <p:cNvPr id="283" name="Shape 29"/>
          <p:cNvSpPr/>
          <p:nvPr/>
        </p:nvSpPr>
        <p:spPr>
          <a:xfrm>
            <a:off x="7223760" y="4572000"/>
            <a:ext cx="2742840" cy="731160"/>
          </a:xfrm>
          <a:prstGeom prst="roundRect">
            <a:avLst>
              <a:gd name="adj" fmla="val 6250"/>
            </a:avLst>
          </a:prstGeom>
          <a:solidFill>
            <a:srgbClr val="FFECE9"/>
          </a:solidFill>
          <a:ln w="15240">
            <a:solidFill>
              <a:srgbClr val="E94B3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84" name="Text 30"/>
          <p:cNvSpPr/>
          <p:nvPr/>
        </p:nvSpPr>
        <p:spPr>
          <a:xfrm>
            <a:off x="7251120" y="4837320"/>
            <a:ext cx="26881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Event localization</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111827"/>
                </a:solidFill>
                <a:effectLst/>
                <a:uFillTx/>
                <a:latin typeface="Aptos"/>
              </a:rPr>
              <a:t>coarse stride may hurt precision</a:t>
            </a:r>
            <a:endParaRPr lang="it-IT" sz="1100" b="0" u="none" strike="noStrike">
              <a:solidFill>
                <a:srgbClr val="000000"/>
              </a:solidFill>
              <a:effectLst/>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B9D6281-ABAE-E0EB-380F-2F7EDB8CAB15}"/>
              </a:ext>
            </a:extLst>
          </p:cNvPr>
          <p:cNvSpPr>
            <a:spLocks noGrp="1"/>
          </p:cNvSpPr>
          <p:nvPr>
            <p:ph type="title"/>
          </p:nvPr>
        </p:nvSpPr>
        <p:spPr/>
        <p:txBody>
          <a:bodyPr/>
          <a:lstStyle/>
          <a:p>
            <a:r>
              <a:rPr lang="en-GB" b="1" dirty="0">
                <a:highlight>
                  <a:srgbClr val="FFFF00"/>
                </a:highlight>
              </a:rPr>
              <a:t>Kernel size controls local context; stride controls output spacing.</a:t>
            </a:r>
          </a:p>
        </p:txBody>
      </p:sp>
      <p:sp>
        <p:nvSpPr>
          <p:cNvPr id="3" name="Segnaposto contenuto 2">
            <a:extLst>
              <a:ext uri="{FF2B5EF4-FFF2-40B4-BE49-F238E27FC236}">
                <a16:creationId xmlns:a16="http://schemas.microsoft.com/office/drawing/2014/main" id="{C3274D93-7002-1C06-07D6-1CD292358AA6}"/>
              </a:ext>
            </a:extLst>
          </p:cNvPr>
          <p:cNvSpPr>
            <a:spLocks noGrp="1"/>
          </p:cNvSpPr>
          <p:nvPr>
            <p:ph sz="half" idx="1"/>
          </p:nvPr>
        </p:nvSpPr>
        <p:spPr>
          <a:xfrm>
            <a:off x="677334" y="2160588"/>
            <a:ext cx="4184035" cy="4383085"/>
          </a:xfrm>
        </p:spPr>
        <p:txBody>
          <a:bodyPr>
            <a:normAutofit fontScale="92500" lnSpcReduction="20000"/>
          </a:bodyPr>
          <a:lstStyle/>
          <a:p>
            <a:r>
              <a:rPr lang="en-GB" dirty="0"/>
              <a:t>These parameters are often confused.</a:t>
            </a:r>
          </a:p>
          <a:p>
            <a:endParaRPr lang="en-GB" b="1" dirty="0"/>
          </a:p>
          <a:p>
            <a:r>
              <a:rPr lang="en-GB" b="1" dirty="0"/>
              <a:t>Kernel size K</a:t>
            </a:r>
          </a:p>
          <a:p>
            <a:r>
              <a:rPr lang="en-GB" dirty="0"/>
              <a:t>How much local temporal context is inspected for one output?</a:t>
            </a:r>
          </a:p>
          <a:p>
            <a:endParaRPr lang="en-GB" b="1" dirty="0"/>
          </a:p>
          <a:p>
            <a:r>
              <a:rPr lang="en-GB" b="1" dirty="0"/>
              <a:t>Stride S</a:t>
            </a:r>
            <a:endParaRPr lang="en-GB" dirty="0"/>
          </a:p>
          <a:p>
            <a:r>
              <a:rPr lang="en-GB" dirty="0"/>
              <a:t>How far does the detector move before producing the next output?</a:t>
            </a:r>
          </a:p>
          <a:p>
            <a:endParaRPr lang="en-GB" dirty="0"/>
          </a:p>
        </p:txBody>
      </p:sp>
      <p:sp>
        <p:nvSpPr>
          <p:cNvPr id="4" name="Segnaposto contenuto 3">
            <a:extLst>
              <a:ext uri="{FF2B5EF4-FFF2-40B4-BE49-F238E27FC236}">
                <a16:creationId xmlns:a16="http://schemas.microsoft.com/office/drawing/2014/main" id="{FC859721-8562-234E-372F-ABCB03DC0B8B}"/>
              </a:ext>
            </a:extLst>
          </p:cNvPr>
          <p:cNvSpPr>
            <a:spLocks noGrp="1"/>
          </p:cNvSpPr>
          <p:nvPr>
            <p:ph sz="half" idx="2"/>
          </p:nvPr>
        </p:nvSpPr>
        <p:spPr>
          <a:xfrm>
            <a:off x="5089970" y="2160589"/>
            <a:ext cx="6424696" cy="4383086"/>
          </a:xfrm>
        </p:spPr>
        <p:txBody>
          <a:bodyPr>
            <a:normAutofit fontScale="92500" lnSpcReduction="20000"/>
          </a:bodyPr>
          <a:lstStyle/>
          <a:p>
            <a:r>
              <a:rPr lang="en-GB" dirty="0"/>
              <a:t>Example:</a:t>
            </a:r>
          </a:p>
          <a:p>
            <a:pPr lvl="1"/>
            <a:r>
              <a:rPr lang="en-GB" dirty="0"/>
              <a:t>K = 5</a:t>
            </a:r>
          </a:p>
          <a:p>
            <a:pPr lvl="1"/>
            <a:r>
              <a:rPr lang="en-GB" dirty="0"/>
              <a:t>S = 1</a:t>
            </a:r>
          </a:p>
          <a:p>
            <a:r>
              <a:rPr lang="en-GB" dirty="0"/>
              <a:t>means:</a:t>
            </a:r>
          </a:p>
          <a:p>
            <a:pPr lvl="1"/>
            <a:r>
              <a:rPr lang="en-GB" dirty="0"/>
              <a:t>each activation sees 5 samples; </a:t>
            </a:r>
          </a:p>
          <a:p>
            <a:pPr lvl="1"/>
            <a:r>
              <a:rPr lang="en-GB" dirty="0"/>
              <a:t>outputs are produced one sample apart. </a:t>
            </a:r>
          </a:p>
          <a:p>
            <a:endParaRPr lang="en-GB" dirty="0"/>
          </a:p>
          <a:p>
            <a:r>
              <a:rPr lang="en-GB" dirty="0"/>
              <a:t>Example:</a:t>
            </a:r>
          </a:p>
          <a:p>
            <a:pPr lvl="1"/>
            <a:r>
              <a:rPr lang="en-GB" dirty="0"/>
              <a:t>K = 5</a:t>
            </a:r>
          </a:p>
          <a:p>
            <a:pPr lvl="1"/>
            <a:r>
              <a:rPr lang="en-GB" dirty="0"/>
              <a:t>S = 5</a:t>
            </a:r>
          </a:p>
          <a:p>
            <a:r>
              <a:rPr lang="en-GB" dirty="0"/>
              <a:t>means:</a:t>
            </a:r>
          </a:p>
          <a:p>
            <a:pPr lvl="1"/>
            <a:r>
              <a:rPr lang="en-GB" dirty="0"/>
              <a:t>each activation still sees 5 frames (samples); </a:t>
            </a:r>
          </a:p>
          <a:p>
            <a:pPr lvl="1"/>
            <a:r>
              <a:rPr lang="en-GB" dirty="0"/>
              <a:t>outputs are produced five samples apart. </a:t>
            </a:r>
          </a:p>
        </p:txBody>
      </p:sp>
    </p:spTree>
    <p:extLst>
      <p:ext uri="{BB962C8B-B14F-4D97-AF65-F5344CB8AC3E}">
        <p14:creationId xmlns:p14="http://schemas.microsoft.com/office/powerpoint/2010/main" val="6977881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5"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86"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87"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Kernel size and stride are different concepts</a:t>
            </a:r>
            <a:endParaRPr lang="it-IT" sz="2200" b="0" u="none" strike="noStrike">
              <a:solidFill>
                <a:srgbClr val="000000"/>
              </a:solidFill>
              <a:effectLst/>
              <a:uFillTx/>
              <a:latin typeface="Arial"/>
            </a:endParaRPr>
          </a:p>
        </p:txBody>
      </p:sp>
      <p:sp>
        <p:nvSpPr>
          <p:cNvPr id="288"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506070"/>
                </a:solidFill>
                <a:effectLst/>
                <a:uFillTx/>
                <a:latin typeface="Aptos"/>
              </a:rPr>
              <a:t>Kernel size controls local context; stride controls output spacing.</a:t>
            </a:r>
            <a:endParaRPr lang="it-IT" sz="1200" b="1" u="none" strike="noStrike" dirty="0">
              <a:solidFill>
                <a:srgbClr val="000000"/>
              </a:solidFill>
              <a:effectLst/>
              <a:uFillTx/>
              <a:latin typeface="Arial"/>
            </a:endParaRPr>
          </a:p>
        </p:txBody>
      </p:sp>
      <p:sp>
        <p:nvSpPr>
          <p:cNvPr id="289"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90"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dirty="0">
                <a:solidFill>
                  <a:srgbClr val="111827"/>
                </a:solidFill>
                <a:effectLst/>
                <a:uFillTx/>
                <a:latin typeface="Aptos"/>
              </a:rPr>
              <a:t>K and S answer two different architectural questions.</a:t>
            </a:r>
            <a:endParaRPr lang="it-IT" sz="1050" b="0" u="none" strike="noStrike" dirty="0">
              <a:solidFill>
                <a:srgbClr val="000000"/>
              </a:solidFill>
              <a:effectLst/>
              <a:uFillTx/>
              <a:latin typeface="Arial"/>
            </a:endParaRPr>
          </a:p>
        </p:txBody>
      </p:sp>
      <p:sp>
        <p:nvSpPr>
          <p:cNvPr id="291" name="Shape 6"/>
          <p:cNvSpPr/>
          <p:nvPr/>
        </p:nvSpPr>
        <p:spPr>
          <a:xfrm>
            <a:off x="914400" y="1417320"/>
            <a:ext cx="2194200" cy="456840"/>
          </a:xfrm>
          <a:prstGeom prst="roundRect">
            <a:avLst>
              <a:gd name="adj" fmla="val 10000"/>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92" name="Text 7"/>
          <p:cNvSpPr/>
          <p:nvPr/>
        </p:nvSpPr>
        <p:spPr>
          <a:xfrm>
            <a:off x="941760" y="154548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K = 5, S = 1</a:t>
            </a:r>
            <a:endParaRPr lang="it-IT" sz="1400" b="0" u="none" strike="noStrike">
              <a:solidFill>
                <a:srgbClr val="000000"/>
              </a:solidFill>
              <a:effectLst/>
              <a:uFillTx/>
              <a:latin typeface="Arial"/>
            </a:endParaRPr>
          </a:p>
        </p:txBody>
      </p:sp>
      <p:sp>
        <p:nvSpPr>
          <p:cNvPr id="293" name="Shape 8"/>
          <p:cNvSpPr/>
          <p:nvPr/>
        </p:nvSpPr>
        <p:spPr>
          <a:xfrm>
            <a:off x="9144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94" name="Text 9"/>
          <p:cNvSpPr/>
          <p:nvPr/>
        </p:nvSpPr>
        <p:spPr>
          <a:xfrm>
            <a:off x="9417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x1</a:t>
            </a:r>
            <a:endParaRPr lang="it-IT" sz="800" b="0" u="none" strike="noStrike">
              <a:solidFill>
                <a:srgbClr val="000000"/>
              </a:solidFill>
              <a:effectLst/>
              <a:uFillTx/>
              <a:latin typeface="Arial"/>
            </a:endParaRPr>
          </a:p>
        </p:txBody>
      </p:sp>
      <p:sp>
        <p:nvSpPr>
          <p:cNvPr id="295" name="Shape 10"/>
          <p:cNvSpPr/>
          <p:nvPr/>
        </p:nvSpPr>
        <p:spPr>
          <a:xfrm>
            <a:off x="13716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96" name="Text 11"/>
          <p:cNvSpPr/>
          <p:nvPr/>
        </p:nvSpPr>
        <p:spPr>
          <a:xfrm>
            <a:off x="13989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x2</a:t>
            </a:r>
            <a:endParaRPr lang="it-IT" sz="800" b="0" u="none" strike="noStrike">
              <a:solidFill>
                <a:srgbClr val="000000"/>
              </a:solidFill>
              <a:effectLst/>
              <a:uFillTx/>
              <a:latin typeface="Arial"/>
            </a:endParaRPr>
          </a:p>
        </p:txBody>
      </p:sp>
      <p:sp>
        <p:nvSpPr>
          <p:cNvPr id="297" name="Shape 12"/>
          <p:cNvSpPr/>
          <p:nvPr/>
        </p:nvSpPr>
        <p:spPr>
          <a:xfrm>
            <a:off x="18288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98" name="Text 13"/>
          <p:cNvSpPr/>
          <p:nvPr/>
        </p:nvSpPr>
        <p:spPr>
          <a:xfrm>
            <a:off x="18561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x3</a:t>
            </a:r>
            <a:endParaRPr lang="it-IT" sz="800" b="0" u="none" strike="noStrike">
              <a:solidFill>
                <a:srgbClr val="000000"/>
              </a:solidFill>
              <a:effectLst/>
              <a:uFillTx/>
              <a:latin typeface="Arial"/>
            </a:endParaRPr>
          </a:p>
        </p:txBody>
      </p:sp>
      <p:sp>
        <p:nvSpPr>
          <p:cNvPr id="299" name="Shape 14"/>
          <p:cNvSpPr/>
          <p:nvPr/>
        </p:nvSpPr>
        <p:spPr>
          <a:xfrm>
            <a:off x="22860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00" name="Text 15"/>
          <p:cNvSpPr/>
          <p:nvPr/>
        </p:nvSpPr>
        <p:spPr>
          <a:xfrm>
            <a:off x="23133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x4</a:t>
            </a:r>
            <a:endParaRPr lang="it-IT" sz="800" b="0" u="none" strike="noStrike">
              <a:solidFill>
                <a:srgbClr val="000000"/>
              </a:solidFill>
              <a:effectLst/>
              <a:uFillTx/>
              <a:latin typeface="Arial"/>
            </a:endParaRPr>
          </a:p>
        </p:txBody>
      </p:sp>
      <p:sp>
        <p:nvSpPr>
          <p:cNvPr id="301" name="Shape 16"/>
          <p:cNvSpPr/>
          <p:nvPr/>
        </p:nvSpPr>
        <p:spPr>
          <a:xfrm>
            <a:off x="27432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02" name="Text 17"/>
          <p:cNvSpPr/>
          <p:nvPr/>
        </p:nvSpPr>
        <p:spPr>
          <a:xfrm>
            <a:off x="27705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x5</a:t>
            </a:r>
            <a:endParaRPr lang="it-IT" sz="800" b="0" u="none" strike="noStrike">
              <a:solidFill>
                <a:srgbClr val="000000"/>
              </a:solidFill>
              <a:effectLst/>
              <a:uFillTx/>
              <a:latin typeface="Arial"/>
            </a:endParaRPr>
          </a:p>
        </p:txBody>
      </p:sp>
      <p:sp>
        <p:nvSpPr>
          <p:cNvPr id="303" name="Shape 18"/>
          <p:cNvSpPr/>
          <p:nvPr/>
        </p:nvSpPr>
        <p:spPr>
          <a:xfrm>
            <a:off x="32004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04" name="Text 19"/>
          <p:cNvSpPr/>
          <p:nvPr/>
        </p:nvSpPr>
        <p:spPr>
          <a:xfrm>
            <a:off x="32277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x6</a:t>
            </a:r>
            <a:endParaRPr lang="it-IT" sz="800" b="0" u="none" strike="noStrike">
              <a:solidFill>
                <a:srgbClr val="000000"/>
              </a:solidFill>
              <a:effectLst/>
              <a:uFillTx/>
              <a:latin typeface="Arial"/>
            </a:endParaRPr>
          </a:p>
        </p:txBody>
      </p:sp>
      <p:sp>
        <p:nvSpPr>
          <p:cNvPr id="305" name="Shape 20"/>
          <p:cNvSpPr/>
          <p:nvPr/>
        </p:nvSpPr>
        <p:spPr>
          <a:xfrm>
            <a:off x="36576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06" name="Text 21"/>
          <p:cNvSpPr/>
          <p:nvPr/>
        </p:nvSpPr>
        <p:spPr>
          <a:xfrm>
            <a:off x="36849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x7</a:t>
            </a:r>
            <a:endParaRPr lang="it-IT" sz="800" b="0" u="none" strike="noStrike">
              <a:solidFill>
                <a:srgbClr val="000000"/>
              </a:solidFill>
              <a:effectLst/>
              <a:uFillTx/>
              <a:latin typeface="Arial"/>
            </a:endParaRPr>
          </a:p>
        </p:txBody>
      </p:sp>
      <p:sp>
        <p:nvSpPr>
          <p:cNvPr id="307" name="Shape 22"/>
          <p:cNvSpPr/>
          <p:nvPr/>
        </p:nvSpPr>
        <p:spPr>
          <a:xfrm>
            <a:off x="41148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08" name="Text 23"/>
          <p:cNvSpPr/>
          <p:nvPr/>
        </p:nvSpPr>
        <p:spPr>
          <a:xfrm>
            <a:off x="41421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x8</a:t>
            </a:r>
            <a:endParaRPr lang="it-IT" sz="800" b="0" u="none" strike="noStrike">
              <a:solidFill>
                <a:srgbClr val="000000"/>
              </a:solidFill>
              <a:effectLst/>
              <a:uFillTx/>
              <a:latin typeface="Arial"/>
            </a:endParaRPr>
          </a:p>
        </p:txBody>
      </p:sp>
      <p:sp>
        <p:nvSpPr>
          <p:cNvPr id="309" name="Shape 24"/>
          <p:cNvSpPr/>
          <p:nvPr/>
        </p:nvSpPr>
        <p:spPr>
          <a:xfrm>
            <a:off x="45720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10" name="Text 25"/>
          <p:cNvSpPr/>
          <p:nvPr/>
        </p:nvSpPr>
        <p:spPr>
          <a:xfrm>
            <a:off x="45993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x9</a:t>
            </a:r>
            <a:endParaRPr lang="it-IT" sz="800" b="0" u="none" strike="noStrike">
              <a:solidFill>
                <a:srgbClr val="000000"/>
              </a:solidFill>
              <a:effectLst/>
              <a:uFillTx/>
              <a:latin typeface="Arial"/>
            </a:endParaRPr>
          </a:p>
        </p:txBody>
      </p:sp>
      <p:sp>
        <p:nvSpPr>
          <p:cNvPr id="311" name="Shape 26"/>
          <p:cNvSpPr/>
          <p:nvPr/>
        </p:nvSpPr>
        <p:spPr>
          <a:xfrm>
            <a:off x="868680" y="2148840"/>
            <a:ext cx="2304000" cy="383760"/>
          </a:xfrm>
          <a:prstGeom prst="roundRect">
            <a:avLst>
              <a:gd name="adj" fmla="val 7143"/>
            </a:avLst>
          </a:prstGeom>
          <a:solidFill>
            <a:srgbClr val="E7F4D2">
              <a:alpha val="80000"/>
            </a:srgbClr>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12" name="Text 27"/>
          <p:cNvSpPr/>
          <p:nvPr/>
        </p:nvSpPr>
        <p:spPr>
          <a:xfrm>
            <a:off x="1920240" y="199332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86BC25"/>
                </a:solidFill>
                <a:effectLst/>
                <a:uFillTx/>
                <a:latin typeface="Aptos"/>
              </a:rPr>
              <a:t>output 1</a:t>
            </a:r>
            <a:endParaRPr lang="it-IT" sz="700" b="0" u="none" strike="noStrike">
              <a:solidFill>
                <a:srgbClr val="000000"/>
              </a:solidFill>
              <a:effectLst/>
              <a:uFillTx/>
              <a:latin typeface="Arial"/>
            </a:endParaRPr>
          </a:p>
        </p:txBody>
      </p:sp>
      <p:sp>
        <p:nvSpPr>
          <p:cNvPr id="313" name="Shape 28"/>
          <p:cNvSpPr/>
          <p:nvPr/>
        </p:nvSpPr>
        <p:spPr>
          <a:xfrm>
            <a:off x="1325880" y="2743200"/>
            <a:ext cx="2304000" cy="383760"/>
          </a:xfrm>
          <a:prstGeom prst="roundRect">
            <a:avLst>
              <a:gd name="adj" fmla="val 7143"/>
            </a:avLst>
          </a:prstGeom>
          <a:solidFill>
            <a:srgbClr val="E7F4D2">
              <a:alpha val="80000"/>
            </a:srgbClr>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14" name="Text 29"/>
          <p:cNvSpPr/>
          <p:nvPr/>
        </p:nvSpPr>
        <p:spPr>
          <a:xfrm>
            <a:off x="2377440" y="258768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86BC25"/>
                </a:solidFill>
                <a:effectLst/>
                <a:uFillTx/>
                <a:latin typeface="Aptos"/>
              </a:rPr>
              <a:t>output 2</a:t>
            </a:r>
            <a:endParaRPr lang="it-IT" sz="700" b="0" u="none" strike="noStrike">
              <a:solidFill>
                <a:srgbClr val="000000"/>
              </a:solidFill>
              <a:effectLst/>
              <a:uFillTx/>
              <a:latin typeface="Arial"/>
            </a:endParaRPr>
          </a:p>
        </p:txBody>
      </p:sp>
      <p:sp>
        <p:nvSpPr>
          <p:cNvPr id="315" name="Text 30"/>
          <p:cNvSpPr/>
          <p:nvPr/>
        </p:nvSpPr>
        <p:spPr>
          <a:xfrm>
            <a:off x="914400" y="3566160"/>
            <a:ext cx="32000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dirty="0">
                <a:solidFill>
                  <a:srgbClr val="6B7280"/>
                </a:solidFill>
                <a:effectLst/>
                <a:uFillTx/>
                <a:latin typeface="Aptos"/>
              </a:rPr>
              <a:t>same context size, dense output grid</a:t>
            </a:r>
            <a:endParaRPr lang="it-IT" sz="1100" b="1" u="none" strike="noStrike" dirty="0">
              <a:solidFill>
                <a:srgbClr val="000000"/>
              </a:solidFill>
              <a:effectLst/>
              <a:uFillTx/>
              <a:latin typeface="Arial"/>
            </a:endParaRPr>
          </a:p>
        </p:txBody>
      </p:sp>
      <p:sp>
        <p:nvSpPr>
          <p:cNvPr id="316" name="Shape 31"/>
          <p:cNvSpPr/>
          <p:nvPr/>
        </p:nvSpPr>
        <p:spPr>
          <a:xfrm>
            <a:off x="6400800" y="1417320"/>
            <a:ext cx="2194200" cy="456840"/>
          </a:xfrm>
          <a:prstGeom prst="roundRect">
            <a:avLst>
              <a:gd name="adj" fmla="val 10000"/>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17" name="Text 32"/>
          <p:cNvSpPr/>
          <p:nvPr/>
        </p:nvSpPr>
        <p:spPr>
          <a:xfrm>
            <a:off x="6428160" y="154548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K = 5, S = 5</a:t>
            </a:r>
            <a:endParaRPr lang="it-IT" sz="1400" b="0" u="none" strike="noStrike">
              <a:solidFill>
                <a:srgbClr val="000000"/>
              </a:solidFill>
              <a:effectLst/>
              <a:uFillTx/>
              <a:latin typeface="Arial"/>
            </a:endParaRPr>
          </a:p>
        </p:txBody>
      </p:sp>
      <p:sp>
        <p:nvSpPr>
          <p:cNvPr id="318" name="Shape 33"/>
          <p:cNvSpPr/>
          <p:nvPr/>
        </p:nvSpPr>
        <p:spPr>
          <a:xfrm>
            <a:off x="64008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19" name="Text 34"/>
          <p:cNvSpPr/>
          <p:nvPr/>
        </p:nvSpPr>
        <p:spPr>
          <a:xfrm>
            <a:off x="64281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x1</a:t>
            </a:r>
            <a:endParaRPr lang="it-IT" sz="800" b="0" u="none" strike="noStrike">
              <a:solidFill>
                <a:srgbClr val="000000"/>
              </a:solidFill>
              <a:effectLst/>
              <a:uFillTx/>
              <a:latin typeface="Arial"/>
            </a:endParaRPr>
          </a:p>
        </p:txBody>
      </p:sp>
      <p:sp>
        <p:nvSpPr>
          <p:cNvPr id="320" name="Shape 35"/>
          <p:cNvSpPr/>
          <p:nvPr/>
        </p:nvSpPr>
        <p:spPr>
          <a:xfrm>
            <a:off x="68580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21" name="Text 36"/>
          <p:cNvSpPr/>
          <p:nvPr/>
        </p:nvSpPr>
        <p:spPr>
          <a:xfrm>
            <a:off x="68853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x2</a:t>
            </a:r>
            <a:endParaRPr lang="it-IT" sz="800" b="0" u="none" strike="noStrike">
              <a:solidFill>
                <a:srgbClr val="000000"/>
              </a:solidFill>
              <a:effectLst/>
              <a:uFillTx/>
              <a:latin typeface="Arial"/>
            </a:endParaRPr>
          </a:p>
        </p:txBody>
      </p:sp>
      <p:sp>
        <p:nvSpPr>
          <p:cNvPr id="322" name="Shape 37"/>
          <p:cNvSpPr/>
          <p:nvPr/>
        </p:nvSpPr>
        <p:spPr>
          <a:xfrm>
            <a:off x="73152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23" name="Text 38"/>
          <p:cNvSpPr/>
          <p:nvPr/>
        </p:nvSpPr>
        <p:spPr>
          <a:xfrm>
            <a:off x="73425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x3</a:t>
            </a:r>
            <a:endParaRPr lang="it-IT" sz="800" b="0" u="none" strike="noStrike">
              <a:solidFill>
                <a:srgbClr val="000000"/>
              </a:solidFill>
              <a:effectLst/>
              <a:uFillTx/>
              <a:latin typeface="Arial"/>
            </a:endParaRPr>
          </a:p>
        </p:txBody>
      </p:sp>
      <p:sp>
        <p:nvSpPr>
          <p:cNvPr id="324" name="Shape 39"/>
          <p:cNvSpPr/>
          <p:nvPr/>
        </p:nvSpPr>
        <p:spPr>
          <a:xfrm>
            <a:off x="77724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25" name="Text 40"/>
          <p:cNvSpPr/>
          <p:nvPr/>
        </p:nvSpPr>
        <p:spPr>
          <a:xfrm>
            <a:off x="77997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x4</a:t>
            </a:r>
            <a:endParaRPr lang="it-IT" sz="800" b="0" u="none" strike="noStrike">
              <a:solidFill>
                <a:srgbClr val="000000"/>
              </a:solidFill>
              <a:effectLst/>
              <a:uFillTx/>
              <a:latin typeface="Arial"/>
            </a:endParaRPr>
          </a:p>
        </p:txBody>
      </p:sp>
      <p:sp>
        <p:nvSpPr>
          <p:cNvPr id="326" name="Shape 41"/>
          <p:cNvSpPr/>
          <p:nvPr/>
        </p:nvSpPr>
        <p:spPr>
          <a:xfrm>
            <a:off x="82296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27" name="Text 42"/>
          <p:cNvSpPr/>
          <p:nvPr/>
        </p:nvSpPr>
        <p:spPr>
          <a:xfrm>
            <a:off x="82569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x5</a:t>
            </a:r>
            <a:endParaRPr lang="it-IT" sz="800" b="0" u="none" strike="noStrike">
              <a:solidFill>
                <a:srgbClr val="000000"/>
              </a:solidFill>
              <a:effectLst/>
              <a:uFillTx/>
              <a:latin typeface="Arial"/>
            </a:endParaRPr>
          </a:p>
        </p:txBody>
      </p:sp>
      <p:sp>
        <p:nvSpPr>
          <p:cNvPr id="328" name="Shape 43"/>
          <p:cNvSpPr/>
          <p:nvPr/>
        </p:nvSpPr>
        <p:spPr>
          <a:xfrm>
            <a:off x="86868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29" name="Text 44"/>
          <p:cNvSpPr/>
          <p:nvPr/>
        </p:nvSpPr>
        <p:spPr>
          <a:xfrm>
            <a:off x="87141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x6</a:t>
            </a:r>
            <a:endParaRPr lang="it-IT" sz="800" b="0" u="none" strike="noStrike">
              <a:solidFill>
                <a:srgbClr val="000000"/>
              </a:solidFill>
              <a:effectLst/>
              <a:uFillTx/>
              <a:latin typeface="Arial"/>
            </a:endParaRPr>
          </a:p>
        </p:txBody>
      </p:sp>
      <p:sp>
        <p:nvSpPr>
          <p:cNvPr id="330" name="Shape 45"/>
          <p:cNvSpPr/>
          <p:nvPr/>
        </p:nvSpPr>
        <p:spPr>
          <a:xfrm>
            <a:off x="91440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31" name="Text 46"/>
          <p:cNvSpPr/>
          <p:nvPr/>
        </p:nvSpPr>
        <p:spPr>
          <a:xfrm>
            <a:off x="91713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x7</a:t>
            </a:r>
            <a:endParaRPr lang="it-IT" sz="800" b="0" u="none" strike="noStrike">
              <a:solidFill>
                <a:srgbClr val="000000"/>
              </a:solidFill>
              <a:effectLst/>
              <a:uFillTx/>
              <a:latin typeface="Arial"/>
            </a:endParaRPr>
          </a:p>
        </p:txBody>
      </p:sp>
      <p:sp>
        <p:nvSpPr>
          <p:cNvPr id="332" name="Shape 47"/>
          <p:cNvSpPr/>
          <p:nvPr/>
        </p:nvSpPr>
        <p:spPr>
          <a:xfrm>
            <a:off x="96012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33" name="Text 48"/>
          <p:cNvSpPr/>
          <p:nvPr/>
        </p:nvSpPr>
        <p:spPr>
          <a:xfrm>
            <a:off x="96285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x8</a:t>
            </a:r>
            <a:endParaRPr lang="it-IT" sz="800" b="0" u="none" strike="noStrike">
              <a:solidFill>
                <a:srgbClr val="000000"/>
              </a:solidFill>
              <a:effectLst/>
              <a:uFillTx/>
              <a:latin typeface="Arial"/>
            </a:endParaRPr>
          </a:p>
        </p:txBody>
      </p:sp>
      <p:sp>
        <p:nvSpPr>
          <p:cNvPr id="334" name="Shape 49"/>
          <p:cNvSpPr/>
          <p:nvPr/>
        </p:nvSpPr>
        <p:spPr>
          <a:xfrm>
            <a:off x="10058400" y="2194560"/>
            <a:ext cx="383760" cy="292320"/>
          </a:xfrm>
          <a:prstGeom prst="roundRect">
            <a:avLst>
              <a:gd name="adj" fmla="val 15625"/>
            </a:avLst>
          </a:prstGeom>
          <a:solidFill>
            <a:srgbClr val="F7FAFC"/>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35" name="Text 50"/>
          <p:cNvSpPr/>
          <p:nvPr/>
        </p:nvSpPr>
        <p:spPr>
          <a:xfrm>
            <a:off x="10085760" y="224028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x9</a:t>
            </a:r>
            <a:endParaRPr lang="it-IT" sz="800" b="0" u="none" strike="noStrike">
              <a:solidFill>
                <a:srgbClr val="000000"/>
              </a:solidFill>
              <a:effectLst/>
              <a:uFillTx/>
              <a:latin typeface="Arial"/>
            </a:endParaRPr>
          </a:p>
        </p:txBody>
      </p:sp>
      <p:sp>
        <p:nvSpPr>
          <p:cNvPr id="336" name="Shape 51"/>
          <p:cNvSpPr/>
          <p:nvPr/>
        </p:nvSpPr>
        <p:spPr>
          <a:xfrm>
            <a:off x="6355080" y="2148840"/>
            <a:ext cx="2304000" cy="383760"/>
          </a:xfrm>
          <a:prstGeom prst="roundRect">
            <a:avLst>
              <a:gd name="adj" fmla="val 7143"/>
            </a:avLst>
          </a:prstGeom>
          <a:solidFill>
            <a:srgbClr val="FFF4D7">
              <a:alpha val="80000"/>
            </a:srgbClr>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37" name="Text 52"/>
          <p:cNvSpPr/>
          <p:nvPr/>
        </p:nvSpPr>
        <p:spPr>
          <a:xfrm>
            <a:off x="7406640" y="199332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F2A900"/>
                </a:solidFill>
                <a:effectLst/>
                <a:uFillTx/>
                <a:latin typeface="Aptos"/>
              </a:rPr>
              <a:t>output 1</a:t>
            </a:r>
            <a:endParaRPr lang="it-IT" sz="700" b="0" u="none" strike="noStrike">
              <a:solidFill>
                <a:srgbClr val="000000"/>
              </a:solidFill>
              <a:effectLst/>
              <a:uFillTx/>
              <a:latin typeface="Arial"/>
            </a:endParaRPr>
          </a:p>
        </p:txBody>
      </p:sp>
      <p:sp>
        <p:nvSpPr>
          <p:cNvPr id="338" name="Shape 53"/>
          <p:cNvSpPr/>
          <p:nvPr/>
        </p:nvSpPr>
        <p:spPr>
          <a:xfrm>
            <a:off x="8641080" y="2743200"/>
            <a:ext cx="2304000" cy="383760"/>
          </a:xfrm>
          <a:prstGeom prst="roundRect">
            <a:avLst>
              <a:gd name="adj" fmla="val 7143"/>
            </a:avLst>
          </a:prstGeom>
          <a:solidFill>
            <a:srgbClr val="FFF4D7">
              <a:alpha val="80000"/>
            </a:srgbClr>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39" name="Text 54"/>
          <p:cNvSpPr/>
          <p:nvPr/>
        </p:nvSpPr>
        <p:spPr>
          <a:xfrm>
            <a:off x="9692640" y="2587680"/>
            <a:ext cx="27396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700" b="1" u="none" strike="noStrike">
                <a:solidFill>
                  <a:srgbClr val="F2A900"/>
                </a:solidFill>
                <a:effectLst/>
                <a:uFillTx/>
                <a:latin typeface="Aptos"/>
              </a:rPr>
              <a:t>output 2</a:t>
            </a:r>
            <a:endParaRPr lang="it-IT" sz="700" b="0" u="none" strike="noStrike">
              <a:solidFill>
                <a:srgbClr val="000000"/>
              </a:solidFill>
              <a:effectLst/>
              <a:uFillTx/>
              <a:latin typeface="Arial"/>
            </a:endParaRPr>
          </a:p>
        </p:txBody>
      </p:sp>
      <p:sp>
        <p:nvSpPr>
          <p:cNvPr id="340" name="Text 55"/>
          <p:cNvSpPr/>
          <p:nvPr/>
        </p:nvSpPr>
        <p:spPr>
          <a:xfrm>
            <a:off x="6400800" y="3566160"/>
            <a:ext cx="338292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dirty="0">
                <a:solidFill>
                  <a:srgbClr val="6B7280"/>
                </a:solidFill>
                <a:effectLst/>
                <a:uFillTx/>
                <a:latin typeface="Aptos"/>
              </a:rPr>
              <a:t>same context size, sparse output grid</a:t>
            </a:r>
            <a:endParaRPr lang="it-IT" sz="1100" b="1" u="none" strike="noStrike" dirty="0">
              <a:solidFill>
                <a:srgbClr val="000000"/>
              </a:solidFill>
              <a:effectLst/>
              <a:uFillTx/>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F75F0B2-8069-2C62-9D29-EFB1D663AC2A}"/>
              </a:ext>
            </a:extLst>
          </p:cNvPr>
          <p:cNvSpPr>
            <a:spLocks noGrp="1"/>
          </p:cNvSpPr>
          <p:nvPr>
            <p:ph type="title"/>
          </p:nvPr>
        </p:nvSpPr>
        <p:spPr/>
        <p:txBody>
          <a:bodyPr/>
          <a:lstStyle/>
          <a:p>
            <a:r>
              <a:rPr lang="en-GB" dirty="0"/>
              <a:t>Choosing padding depends on the task</a:t>
            </a:r>
          </a:p>
        </p:txBody>
      </p:sp>
      <p:sp>
        <p:nvSpPr>
          <p:cNvPr id="3" name="Segnaposto contenuto 2">
            <a:extLst>
              <a:ext uri="{FF2B5EF4-FFF2-40B4-BE49-F238E27FC236}">
                <a16:creationId xmlns:a16="http://schemas.microsoft.com/office/drawing/2014/main" id="{39D7E209-050B-66E2-31EE-3B480082B902}"/>
              </a:ext>
            </a:extLst>
          </p:cNvPr>
          <p:cNvSpPr>
            <a:spLocks noGrp="1"/>
          </p:cNvSpPr>
          <p:nvPr>
            <p:ph sz="half" idx="1"/>
          </p:nvPr>
        </p:nvSpPr>
        <p:spPr/>
        <p:txBody>
          <a:bodyPr>
            <a:normAutofit fontScale="92500" lnSpcReduction="10000"/>
          </a:bodyPr>
          <a:lstStyle/>
          <a:p>
            <a:r>
              <a:rPr lang="en-GB" b="1" dirty="0"/>
              <a:t>Valid padding may be useful when</a:t>
            </a:r>
          </a:p>
          <a:p>
            <a:pPr lvl="1"/>
            <a:r>
              <a:rPr lang="en-GB" dirty="0"/>
              <a:t>boundary outputs are not important; </a:t>
            </a:r>
          </a:p>
          <a:p>
            <a:pPr lvl="1"/>
            <a:r>
              <a:rPr lang="en-GB" dirty="0"/>
              <a:t>exact input/output length matching is unnecessary; </a:t>
            </a:r>
          </a:p>
          <a:p>
            <a:pPr lvl="1"/>
            <a:r>
              <a:rPr lang="en-GB" dirty="0"/>
              <a:t>the sequence is sufficiently long. </a:t>
            </a:r>
          </a:p>
          <a:p>
            <a:r>
              <a:rPr lang="en-GB" b="1" dirty="0"/>
              <a:t>Same padding may be useful when</a:t>
            </a:r>
          </a:p>
          <a:p>
            <a:pPr lvl="1"/>
            <a:r>
              <a:rPr lang="en-GB" dirty="0"/>
              <a:t>temporal resolution must be preserved; </a:t>
            </a:r>
          </a:p>
          <a:p>
            <a:pPr lvl="1"/>
            <a:r>
              <a:rPr lang="en-GB" dirty="0"/>
              <a:t>several convolutional layers are stacked; </a:t>
            </a:r>
          </a:p>
          <a:p>
            <a:pPr lvl="1"/>
            <a:r>
              <a:rPr lang="en-GB" dirty="0"/>
              <a:t>sequence labelling is required; </a:t>
            </a:r>
          </a:p>
          <a:p>
            <a:pPr lvl="1"/>
            <a:r>
              <a:rPr lang="en-GB" dirty="0"/>
              <a:t>residual connections require compatible lengths. </a:t>
            </a:r>
          </a:p>
          <a:p>
            <a:endParaRPr lang="en-GB" dirty="0"/>
          </a:p>
        </p:txBody>
      </p:sp>
      <p:sp>
        <p:nvSpPr>
          <p:cNvPr id="4" name="Segnaposto contenuto 3">
            <a:extLst>
              <a:ext uri="{FF2B5EF4-FFF2-40B4-BE49-F238E27FC236}">
                <a16:creationId xmlns:a16="http://schemas.microsoft.com/office/drawing/2014/main" id="{E5496631-F91E-D882-928D-A206E574B3D3}"/>
              </a:ext>
            </a:extLst>
          </p:cNvPr>
          <p:cNvSpPr>
            <a:spLocks noGrp="1"/>
          </p:cNvSpPr>
          <p:nvPr>
            <p:ph sz="half" idx="2"/>
          </p:nvPr>
        </p:nvSpPr>
        <p:spPr/>
        <p:txBody>
          <a:bodyPr>
            <a:normAutofit fontScale="92500" lnSpcReduction="10000"/>
          </a:bodyPr>
          <a:lstStyle/>
          <a:p>
            <a:r>
              <a:rPr lang="en-GB" b="1" dirty="0">
                <a:highlight>
                  <a:srgbClr val="FFFF00"/>
                </a:highlight>
              </a:rPr>
              <a:t>Causal padding</a:t>
            </a:r>
          </a:p>
          <a:p>
            <a:r>
              <a:rPr lang="en-GB" dirty="0">
                <a:highlight>
                  <a:srgbClr val="FFFF00"/>
                </a:highlight>
              </a:rPr>
              <a:t>For online prediction (i.e., prediction during operation, using only past and present data), padding and kernel alignment must ensure that the output at time t depends only on observations available up to t.</a:t>
            </a:r>
          </a:p>
          <a:p>
            <a:pPr lvl="1"/>
            <a:r>
              <a:rPr lang="en-GB" dirty="0"/>
              <a:t>This will be </a:t>
            </a:r>
            <a:r>
              <a:rPr lang="en-GB" dirty="0">
                <a:highlight>
                  <a:srgbClr val="FFFF00"/>
                </a:highlight>
              </a:rPr>
              <a:t>introduced later as </a:t>
            </a:r>
            <a:r>
              <a:rPr lang="en-GB" b="1" dirty="0">
                <a:highlight>
                  <a:srgbClr val="FFFF00"/>
                </a:highlight>
              </a:rPr>
              <a:t>causal convolution</a:t>
            </a:r>
            <a:r>
              <a:rPr lang="en-GB" dirty="0">
                <a:highlight>
                  <a:srgbClr val="FFFF00"/>
                </a:highlight>
              </a:rPr>
              <a:t>.</a:t>
            </a:r>
          </a:p>
          <a:p>
            <a:endParaRPr lang="en-GB" dirty="0"/>
          </a:p>
        </p:txBody>
      </p:sp>
    </p:spTree>
    <p:extLst>
      <p:ext uri="{BB962C8B-B14F-4D97-AF65-F5344CB8AC3E}">
        <p14:creationId xmlns:p14="http://schemas.microsoft.com/office/powerpoint/2010/main" val="366056350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a:extLst>
              <a:ext uri="{FF2B5EF4-FFF2-40B4-BE49-F238E27FC236}">
                <a16:creationId xmlns:a16="http://schemas.microsoft.com/office/drawing/2014/main" id="{8FB76523-09CE-06C5-7D40-685BD816C311}"/>
              </a:ext>
            </a:extLst>
          </p:cNvPr>
          <p:cNvSpPr>
            <a:spLocks noGrp="1"/>
          </p:cNvSpPr>
          <p:nvPr>
            <p:ph type="title"/>
          </p:nvPr>
        </p:nvSpPr>
        <p:spPr/>
        <p:txBody>
          <a:bodyPr/>
          <a:lstStyle/>
          <a:p>
            <a:r>
              <a:rPr lang="it-IT" dirty="0" err="1"/>
              <a:t>Transition</a:t>
            </a:r>
            <a:r>
              <a:rPr lang="it-IT" dirty="0"/>
              <a:t> to the </a:t>
            </a:r>
            <a:r>
              <a:rPr lang="it-IT" dirty="0" err="1"/>
              <a:t>next</a:t>
            </a:r>
            <a:r>
              <a:rPr lang="it-IT" dirty="0"/>
              <a:t> </a:t>
            </a:r>
            <a:r>
              <a:rPr lang="it-IT" dirty="0" err="1"/>
              <a:t>block</a:t>
            </a:r>
            <a:endParaRPr lang="en-GB" dirty="0"/>
          </a:p>
        </p:txBody>
      </p:sp>
      <p:sp>
        <p:nvSpPr>
          <p:cNvPr id="6" name="Segnaposto contenuto 5">
            <a:extLst>
              <a:ext uri="{FF2B5EF4-FFF2-40B4-BE49-F238E27FC236}">
                <a16:creationId xmlns:a16="http://schemas.microsoft.com/office/drawing/2014/main" id="{816AE70A-0FD3-B2BB-438E-F08B798CD0DE}"/>
              </a:ext>
            </a:extLst>
          </p:cNvPr>
          <p:cNvSpPr>
            <a:spLocks noGrp="1"/>
          </p:cNvSpPr>
          <p:nvPr>
            <p:ph idx="1"/>
          </p:nvPr>
        </p:nvSpPr>
        <p:spPr/>
        <p:txBody>
          <a:bodyPr/>
          <a:lstStyle/>
          <a:p>
            <a:r>
              <a:rPr lang="en-GB" dirty="0">
                <a:highlight>
                  <a:srgbClr val="FFFF00"/>
                </a:highlight>
              </a:rPr>
              <a:t>Stride</a:t>
            </a:r>
            <a:r>
              <a:rPr lang="en-GB" dirty="0"/>
              <a:t> can reduce temporal resolution directly.</a:t>
            </a:r>
          </a:p>
          <a:p>
            <a:r>
              <a:rPr lang="en-GB" dirty="0">
                <a:highlight>
                  <a:srgbClr val="FFFF00"/>
                </a:highlight>
              </a:rPr>
              <a:t>Another common way to reduce temporal resolution is </a:t>
            </a:r>
            <a:r>
              <a:rPr lang="en-GB" b="1" dirty="0">
                <a:highlight>
                  <a:srgbClr val="FFFF00"/>
                </a:highlight>
              </a:rPr>
              <a:t>pooling</a:t>
            </a:r>
            <a:r>
              <a:rPr lang="en-GB" dirty="0">
                <a:highlight>
                  <a:srgbClr val="FFFF00"/>
                </a:highlight>
              </a:rPr>
              <a:t>.</a:t>
            </a:r>
          </a:p>
          <a:p>
            <a:endParaRPr lang="en-GB" dirty="0"/>
          </a:p>
        </p:txBody>
      </p:sp>
    </p:spTree>
    <p:extLst>
      <p:ext uri="{BB962C8B-B14F-4D97-AF65-F5344CB8AC3E}">
        <p14:creationId xmlns:p14="http://schemas.microsoft.com/office/powerpoint/2010/main" val="18813849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9D084EB-2BE0-B165-881C-5A2BE9BE41D6}"/>
              </a:ext>
            </a:extLst>
          </p:cNvPr>
          <p:cNvSpPr>
            <a:spLocks noGrp="1"/>
          </p:cNvSpPr>
          <p:nvPr>
            <p:ph type="title"/>
          </p:nvPr>
        </p:nvSpPr>
        <p:spPr/>
        <p:txBody>
          <a:bodyPr/>
          <a:lstStyle/>
          <a:p>
            <a:r>
              <a:rPr lang="en-GB" dirty="0"/>
              <a:t>Block 5.D — Temporal Pooling and </a:t>
            </a:r>
            <a:r>
              <a:rPr lang="en-GB" dirty="0" err="1"/>
              <a:t>Downsampling</a:t>
            </a:r>
            <a:endParaRPr lang="en-GB" dirty="0"/>
          </a:p>
        </p:txBody>
      </p:sp>
      <p:sp>
        <p:nvSpPr>
          <p:cNvPr id="3" name="Segnaposto contenuto 2">
            <a:extLst>
              <a:ext uri="{FF2B5EF4-FFF2-40B4-BE49-F238E27FC236}">
                <a16:creationId xmlns:a16="http://schemas.microsoft.com/office/drawing/2014/main" id="{EFF4B877-E5D8-BD4E-C466-6F9541011C04}"/>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409333191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719DAEA-EAAC-DF27-21CB-96CEB218F769}"/>
              </a:ext>
            </a:extLst>
          </p:cNvPr>
          <p:cNvSpPr>
            <a:spLocks noGrp="1"/>
          </p:cNvSpPr>
          <p:nvPr>
            <p:ph type="title"/>
          </p:nvPr>
        </p:nvSpPr>
        <p:spPr/>
        <p:txBody>
          <a:bodyPr/>
          <a:lstStyle/>
          <a:p>
            <a:r>
              <a:rPr lang="en-GB" dirty="0"/>
              <a:t>Why reduce temporal resolution?</a:t>
            </a:r>
          </a:p>
        </p:txBody>
      </p:sp>
      <p:sp>
        <p:nvSpPr>
          <p:cNvPr id="3" name="Segnaposto contenuto 2">
            <a:extLst>
              <a:ext uri="{FF2B5EF4-FFF2-40B4-BE49-F238E27FC236}">
                <a16:creationId xmlns:a16="http://schemas.microsoft.com/office/drawing/2014/main" id="{0DF852EB-1FDE-C5FD-4840-AE9D47FF0CDC}"/>
              </a:ext>
            </a:extLst>
          </p:cNvPr>
          <p:cNvSpPr>
            <a:spLocks noGrp="1"/>
          </p:cNvSpPr>
          <p:nvPr>
            <p:ph sz="half" idx="1"/>
          </p:nvPr>
        </p:nvSpPr>
        <p:spPr/>
        <p:txBody>
          <a:bodyPr>
            <a:normAutofit fontScale="92500" lnSpcReduction="10000"/>
          </a:bodyPr>
          <a:lstStyle/>
          <a:p>
            <a:r>
              <a:rPr lang="en-GB" dirty="0"/>
              <a:t>After convolution, the feature maps may still be very long.</a:t>
            </a:r>
          </a:p>
          <a:p>
            <a:r>
              <a:rPr lang="en-GB" dirty="0"/>
              <a:t>Example:</a:t>
            </a:r>
          </a:p>
          <a:p>
            <a:pPr lvl="1"/>
            <a:r>
              <a:rPr lang="en-GB" dirty="0"/>
              <a:t>Input: [N, 1000, 8]</a:t>
            </a:r>
          </a:p>
          <a:p>
            <a:pPr lvl="1"/>
            <a:r>
              <a:rPr lang="en-GB" dirty="0"/>
              <a:t>After Conv1D with same padding and 64 filters:</a:t>
            </a:r>
          </a:p>
          <a:p>
            <a:pPr lvl="2"/>
            <a:r>
              <a:rPr lang="en-GB" dirty="0"/>
              <a:t>[N, 1000, 64]</a:t>
            </a:r>
          </a:p>
          <a:p>
            <a:pPr lvl="1"/>
            <a:r>
              <a:rPr lang="en-GB" dirty="0"/>
              <a:t>This contains: 1000 × 64 activations per sample.</a:t>
            </a:r>
          </a:p>
          <a:p>
            <a:endParaRPr lang="en-GB" dirty="0"/>
          </a:p>
        </p:txBody>
      </p:sp>
      <p:sp>
        <p:nvSpPr>
          <p:cNvPr id="4" name="Segnaposto contenuto 3">
            <a:extLst>
              <a:ext uri="{FF2B5EF4-FFF2-40B4-BE49-F238E27FC236}">
                <a16:creationId xmlns:a16="http://schemas.microsoft.com/office/drawing/2014/main" id="{553BAFCD-4D42-57E4-F7AF-EC8EFEB5E70B}"/>
              </a:ext>
            </a:extLst>
          </p:cNvPr>
          <p:cNvSpPr>
            <a:spLocks noGrp="1"/>
          </p:cNvSpPr>
          <p:nvPr>
            <p:ph sz="half" idx="2"/>
          </p:nvPr>
        </p:nvSpPr>
        <p:spPr>
          <a:xfrm>
            <a:off x="5089969" y="2160589"/>
            <a:ext cx="4331121" cy="3880773"/>
          </a:xfrm>
        </p:spPr>
        <p:txBody>
          <a:bodyPr>
            <a:normAutofit fontScale="92500" lnSpcReduction="10000"/>
          </a:bodyPr>
          <a:lstStyle/>
          <a:p>
            <a:r>
              <a:rPr lang="en-GB" b="1" dirty="0" err="1"/>
              <a:t>Downsampling</a:t>
            </a:r>
            <a:r>
              <a:rPr lang="en-GB" b="1" dirty="0"/>
              <a:t> can</a:t>
            </a:r>
          </a:p>
          <a:p>
            <a:pPr lvl="1"/>
            <a:r>
              <a:rPr lang="en-GB" dirty="0"/>
              <a:t>reduce computational cost; </a:t>
            </a:r>
          </a:p>
          <a:p>
            <a:pPr lvl="1"/>
            <a:r>
              <a:rPr lang="en-GB" dirty="0"/>
              <a:t>reduce memory requirements; </a:t>
            </a:r>
          </a:p>
          <a:p>
            <a:pPr lvl="1"/>
            <a:r>
              <a:rPr lang="en-GB" dirty="0"/>
              <a:t>make later layers operate on longer effective temporal scales; </a:t>
            </a:r>
          </a:p>
          <a:p>
            <a:pPr lvl="1"/>
            <a:r>
              <a:rPr lang="en-GB" dirty="0"/>
              <a:t>reduce sensitivity to small temporal shifts. </a:t>
            </a:r>
          </a:p>
          <a:p>
            <a:r>
              <a:rPr lang="en-GB" b="1" dirty="0"/>
              <a:t>Trade-off: </a:t>
            </a:r>
            <a:r>
              <a:rPr lang="en-GB" dirty="0" err="1"/>
              <a:t>Downsampling</a:t>
            </a:r>
            <a:r>
              <a:rPr lang="en-GB" dirty="0"/>
              <a:t> reduces temporal detail.</a:t>
            </a:r>
          </a:p>
          <a:p>
            <a:r>
              <a:rPr lang="en-GB" b="1" dirty="0"/>
              <a:t>Main mechanisms</a:t>
            </a:r>
          </a:p>
          <a:p>
            <a:pPr lvl="1"/>
            <a:r>
              <a:rPr lang="en-GB" dirty="0"/>
              <a:t>convolution with stride greater than 1; </a:t>
            </a:r>
          </a:p>
          <a:p>
            <a:pPr lvl="1"/>
            <a:r>
              <a:rPr lang="en-GB" dirty="0"/>
              <a:t>pooling. </a:t>
            </a:r>
          </a:p>
        </p:txBody>
      </p:sp>
      <p:sp>
        <p:nvSpPr>
          <p:cNvPr id="6" name="CasellaDiTesto 5">
            <a:extLst>
              <a:ext uri="{FF2B5EF4-FFF2-40B4-BE49-F238E27FC236}">
                <a16:creationId xmlns:a16="http://schemas.microsoft.com/office/drawing/2014/main" id="{C43C51EF-E447-B1FB-CE65-5D74E7791061}"/>
              </a:ext>
            </a:extLst>
          </p:cNvPr>
          <p:cNvSpPr txBox="1"/>
          <p:nvPr/>
        </p:nvSpPr>
        <p:spPr>
          <a:xfrm>
            <a:off x="1796701" y="6174711"/>
            <a:ext cx="7052024" cy="369332"/>
          </a:xfrm>
          <a:prstGeom prst="rect">
            <a:avLst/>
          </a:prstGeom>
          <a:noFill/>
        </p:spPr>
        <p:txBody>
          <a:bodyPr wrap="square">
            <a:spAutoFit/>
          </a:bodyPr>
          <a:lstStyle/>
          <a:p>
            <a:r>
              <a:rPr lang="en-GB" sz="1800" b="1" dirty="0">
                <a:highlight>
                  <a:srgbClr val="FFFF00"/>
                </a:highlight>
              </a:rPr>
              <a:t>How much temporal precision does the task actually require?</a:t>
            </a:r>
          </a:p>
        </p:txBody>
      </p:sp>
    </p:spTree>
    <p:extLst>
      <p:ext uri="{BB962C8B-B14F-4D97-AF65-F5344CB8AC3E}">
        <p14:creationId xmlns:p14="http://schemas.microsoft.com/office/powerpoint/2010/main" val="21206599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1"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42"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43"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Why reduce temporal resolution?</a:t>
            </a:r>
            <a:endParaRPr lang="it-IT" sz="2200" b="0" u="none" strike="noStrike">
              <a:solidFill>
                <a:srgbClr val="000000"/>
              </a:solidFill>
              <a:effectLst/>
              <a:uFillTx/>
              <a:latin typeface="Arial"/>
            </a:endParaRPr>
          </a:p>
        </p:txBody>
      </p:sp>
      <p:sp>
        <p:nvSpPr>
          <p:cNvPr id="344"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dirty="0">
                <a:solidFill>
                  <a:srgbClr val="506070"/>
                </a:solidFill>
                <a:effectLst/>
                <a:uFillTx/>
                <a:latin typeface="Aptos"/>
              </a:rPr>
              <a:t>Feature maps can be long; </a:t>
            </a:r>
            <a:r>
              <a:rPr lang="en-US" sz="1200" b="0" u="none" strike="noStrike" dirty="0" err="1">
                <a:solidFill>
                  <a:srgbClr val="506070"/>
                </a:solidFill>
                <a:effectLst/>
                <a:uFillTx/>
                <a:latin typeface="Aptos"/>
              </a:rPr>
              <a:t>downsampling</a:t>
            </a:r>
            <a:r>
              <a:rPr lang="en-US" sz="1200" b="0" u="none" strike="noStrike" dirty="0">
                <a:solidFill>
                  <a:srgbClr val="506070"/>
                </a:solidFill>
                <a:effectLst/>
                <a:uFillTx/>
                <a:latin typeface="Aptos"/>
              </a:rPr>
              <a:t> makes later processing cheaper and coarser.</a:t>
            </a:r>
            <a:endParaRPr lang="it-IT" sz="1200" b="0" u="none" strike="noStrike" dirty="0">
              <a:solidFill>
                <a:srgbClr val="000000"/>
              </a:solidFill>
              <a:effectLst/>
              <a:uFillTx/>
              <a:latin typeface="Arial"/>
            </a:endParaRPr>
          </a:p>
        </p:txBody>
      </p:sp>
      <p:sp>
        <p:nvSpPr>
          <p:cNvPr id="345"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46"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dirty="0" err="1">
                <a:solidFill>
                  <a:srgbClr val="111827"/>
                </a:solidFill>
                <a:effectLst/>
                <a:uFillTx/>
                <a:latin typeface="Aptos"/>
              </a:rPr>
              <a:t>Downsampling</a:t>
            </a:r>
            <a:r>
              <a:rPr lang="en-US" sz="1050" b="0" u="none" strike="noStrike" dirty="0">
                <a:solidFill>
                  <a:srgbClr val="111827"/>
                </a:solidFill>
                <a:effectLst/>
                <a:uFillTx/>
                <a:latin typeface="Aptos"/>
              </a:rPr>
              <a:t> is useful only if the task can tolerate reduced temporal precision.</a:t>
            </a:r>
            <a:endParaRPr lang="it-IT" sz="1050" b="0" u="none" strike="noStrike" dirty="0">
              <a:solidFill>
                <a:srgbClr val="000000"/>
              </a:solidFill>
              <a:effectLst/>
              <a:uFillTx/>
              <a:latin typeface="Arial"/>
            </a:endParaRPr>
          </a:p>
        </p:txBody>
      </p:sp>
      <p:sp>
        <p:nvSpPr>
          <p:cNvPr id="347" name="Shape 6"/>
          <p:cNvSpPr/>
          <p:nvPr/>
        </p:nvSpPr>
        <p:spPr>
          <a:xfrm>
            <a:off x="1005840" y="1828800"/>
            <a:ext cx="1919880" cy="685440"/>
          </a:xfrm>
          <a:prstGeom prst="roundRect">
            <a:avLst>
              <a:gd name="adj" fmla="val 6667"/>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48" name="Text 7"/>
          <p:cNvSpPr/>
          <p:nvPr/>
        </p:nvSpPr>
        <p:spPr>
          <a:xfrm>
            <a:off x="1033200" y="2071080"/>
            <a:ext cx="18651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Input</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[N, 1000, 8]</a:t>
            </a:r>
            <a:endParaRPr lang="it-IT" sz="1300" b="0" u="none" strike="noStrike">
              <a:solidFill>
                <a:srgbClr val="000000"/>
              </a:solidFill>
              <a:effectLst/>
              <a:uFillTx/>
              <a:latin typeface="Arial"/>
            </a:endParaRPr>
          </a:p>
        </p:txBody>
      </p:sp>
      <p:sp>
        <p:nvSpPr>
          <p:cNvPr id="349" name="Shape 8"/>
          <p:cNvSpPr/>
          <p:nvPr/>
        </p:nvSpPr>
        <p:spPr>
          <a:xfrm>
            <a:off x="3108960" y="2148840"/>
            <a:ext cx="1097280" cy="360"/>
          </a:xfrm>
          <a:prstGeom prst="line">
            <a:avLst/>
          </a:prstGeom>
          <a:ln w="1778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50" name="Shape 9"/>
          <p:cNvSpPr/>
          <p:nvPr/>
        </p:nvSpPr>
        <p:spPr>
          <a:xfrm>
            <a:off x="4389120" y="1691640"/>
            <a:ext cx="2194200" cy="959760"/>
          </a:xfrm>
          <a:prstGeom prst="roundRect">
            <a:avLst>
              <a:gd name="adj" fmla="val 4762"/>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51" name="Text 10"/>
          <p:cNvSpPr/>
          <p:nvPr/>
        </p:nvSpPr>
        <p:spPr>
          <a:xfrm>
            <a:off x="4416480" y="207108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dirty="0">
                <a:solidFill>
                  <a:srgbClr val="111827"/>
                </a:solidFill>
                <a:effectLst/>
                <a:uFillTx/>
                <a:latin typeface="Aptos"/>
              </a:rPr>
              <a:t>Conv1D</a:t>
            </a:r>
            <a:endParaRPr lang="it-IT" sz="1200" b="0" u="none" strike="noStrike" dirty="0">
              <a:solidFill>
                <a:srgbClr val="000000"/>
              </a:solidFill>
              <a:effectLst/>
              <a:uFillTx/>
              <a:latin typeface="Arial"/>
            </a:endParaRPr>
          </a:p>
          <a:p>
            <a:pPr algn="ctr" defTabSz="914400">
              <a:lnSpc>
                <a:spcPct val="100000"/>
              </a:lnSpc>
              <a:tabLst>
                <a:tab pos="0" algn="l"/>
              </a:tabLst>
            </a:pPr>
            <a:r>
              <a:rPr lang="en-US" sz="1200" b="1" u="none" strike="noStrike" dirty="0">
                <a:solidFill>
                  <a:srgbClr val="111827"/>
                </a:solidFill>
                <a:effectLst/>
                <a:highlight>
                  <a:srgbClr val="FFFF00"/>
                </a:highlight>
                <a:uFillTx/>
                <a:latin typeface="Aptos"/>
              </a:rPr>
              <a:t>same </a:t>
            </a:r>
            <a:r>
              <a:rPr lang="en-US" sz="1200" b="1" u="none" strike="noStrike" dirty="0">
                <a:solidFill>
                  <a:srgbClr val="111827"/>
                </a:solidFill>
                <a:effectLst/>
                <a:uFillTx/>
                <a:latin typeface="Aptos"/>
              </a:rPr>
              <a:t>padding</a:t>
            </a:r>
            <a:endParaRPr lang="it-IT" sz="1200" b="0" u="none" strike="noStrike" dirty="0">
              <a:solidFill>
                <a:srgbClr val="000000"/>
              </a:solidFill>
              <a:effectLst/>
              <a:uFillTx/>
              <a:latin typeface="Arial"/>
            </a:endParaRPr>
          </a:p>
          <a:p>
            <a:pPr algn="ctr" defTabSz="914400">
              <a:lnSpc>
                <a:spcPct val="100000"/>
              </a:lnSpc>
              <a:tabLst>
                <a:tab pos="0" algn="l"/>
              </a:tabLst>
            </a:pPr>
            <a:r>
              <a:rPr lang="en-US" sz="1200" b="1" u="none" strike="noStrike" dirty="0">
                <a:solidFill>
                  <a:srgbClr val="111827"/>
                </a:solidFill>
                <a:effectLst/>
                <a:uFillTx/>
                <a:latin typeface="Aptos"/>
              </a:rPr>
              <a:t>64 filters</a:t>
            </a:r>
            <a:endParaRPr lang="it-IT" sz="1200" b="0" u="none" strike="noStrike" dirty="0">
              <a:solidFill>
                <a:srgbClr val="000000"/>
              </a:solidFill>
              <a:effectLst/>
              <a:uFillTx/>
              <a:latin typeface="Arial"/>
            </a:endParaRPr>
          </a:p>
        </p:txBody>
      </p:sp>
      <p:sp>
        <p:nvSpPr>
          <p:cNvPr id="352" name="Shape 11"/>
          <p:cNvSpPr/>
          <p:nvPr/>
        </p:nvSpPr>
        <p:spPr>
          <a:xfrm>
            <a:off x="6766560" y="2148840"/>
            <a:ext cx="1097280" cy="360"/>
          </a:xfrm>
          <a:prstGeom prst="line">
            <a:avLst/>
          </a:prstGeom>
          <a:ln w="1778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53" name="Shape 12"/>
          <p:cNvSpPr/>
          <p:nvPr/>
        </p:nvSpPr>
        <p:spPr>
          <a:xfrm>
            <a:off x="8046720" y="1828800"/>
            <a:ext cx="2194200" cy="685440"/>
          </a:xfrm>
          <a:prstGeom prst="roundRect">
            <a:avLst>
              <a:gd name="adj" fmla="val 6667"/>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54" name="Text 13"/>
          <p:cNvSpPr/>
          <p:nvPr/>
        </p:nvSpPr>
        <p:spPr>
          <a:xfrm>
            <a:off x="8074080" y="207108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Feature map</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[N, 1000, 64]</a:t>
            </a:r>
            <a:endParaRPr lang="it-IT" sz="1300" b="0" u="none" strike="noStrike">
              <a:solidFill>
                <a:srgbClr val="000000"/>
              </a:solidFill>
              <a:effectLst/>
              <a:uFillTx/>
              <a:latin typeface="Arial"/>
            </a:endParaRPr>
          </a:p>
        </p:txBody>
      </p:sp>
      <p:sp>
        <p:nvSpPr>
          <p:cNvPr id="355" name="Shape 14"/>
          <p:cNvSpPr/>
          <p:nvPr/>
        </p:nvSpPr>
        <p:spPr>
          <a:xfrm>
            <a:off x="4114800" y="4023360"/>
            <a:ext cx="2742840" cy="685440"/>
          </a:xfrm>
          <a:prstGeom prst="roundRect">
            <a:avLst>
              <a:gd name="adj" fmla="val 6667"/>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56" name="Text 15"/>
          <p:cNvSpPr/>
          <p:nvPr/>
        </p:nvSpPr>
        <p:spPr>
          <a:xfrm>
            <a:off x="4142160" y="4265640"/>
            <a:ext cx="26881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Reduce length using</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111827"/>
                </a:solidFill>
                <a:effectLst/>
                <a:uFillTx/>
                <a:latin typeface="Aptos"/>
              </a:rPr>
              <a:t>stride or pooling</a:t>
            </a:r>
            <a:endParaRPr lang="it-IT" sz="1400" b="0" u="none" strike="noStrike">
              <a:solidFill>
                <a:srgbClr val="000000"/>
              </a:solidFill>
              <a:effectLst/>
              <a:uFillTx/>
              <a:latin typeface="Arial"/>
            </a:endParaRPr>
          </a:p>
        </p:txBody>
      </p:sp>
      <p:sp>
        <p:nvSpPr>
          <p:cNvPr id="357" name="Text 16"/>
          <p:cNvSpPr/>
          <p:nvPr/>
        </p:nvSpPr>
        <p:spPr>
          <a:xfrm>
            <a:off x="1005840" y="5166360"/>
            <a:ext cx="658332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111827"/>
                </a:solidFill>
                <a:effectLst/>
                <a:uFillTx/>
                <a:latin typeface="Aptos"/>
              </a:rPr>
              <a:t>Benefits: lower memory, faster later layers, larger effective temporal scale</a:t>
            </a:r>
            <a:endParaRPr lang="it-IT" sz="1200" b="0" u="none" strike="noStrike">
              <a:solidFill>
                <a:srgbClr val="000000"/>
              </a:solidFill>
              <a:effectLst/>
              <a:uFillTx/>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EABB787-DD6F-2EF4-4F94-07A38774CC25}"/>
              </a:ext>
            </a:extLst>
          </p:cNvPr>
          <p:cNvSpPr>
            <a:spLocks noGrp="1"/>
          </p:cNvSpPr>
          <p:nvPr>
            <p:ph type="title"/>
          </p:nvPr>
        </p:nvSpPr>
        <p:spPr/>
        <p:txBody>
          <a:bodyPr/>
          <a:lstStyle/>
          <a:p>
            <a:r>
              <a:rPr lang="en-GB" dirty="0">
                <a:highlight>
                  <a:srgbClr val="FFFF00"/>
                </a:highlight>
              </a:rPr>
              <a:t>Pooling summarizes </a:t>
            </a:r>
            <a:r>
              <a:rPr lang="en-GB" dirty="0" err="1">
                <a:highlight>
                  <a:srgbClr val="FFFF00"/>
                </a:highlight>
              </a:rPr>
              <a:t>neighboring</a:t>
            </a:r>
            <a:r>
              <a:rPr lang="en-GB" dirty="0">
                <a:highlight>
                  <a:srgbClr val="FFFF00"/>
                </a:highlight>
              </a:rPr>
              <a:t> activations</a:t>
            </a:r>
          </a:p>
        </p:txBody>
      </p:sp>
      <p:sp>
        <p:nvSpPr>
          <p:cNvPr id="3" name="Segnaposto contenuto 2">
            <a:extLst>
              <a:ext uri="{FF2B5EF4-FFF2-40B4-BE49-F238E27FC236}">
                <a16:creationId xmlns:a16="http://schemas.microsoft.com/office/drawing/2014/main" id="{48FC9461-C945-D12B-D838-B7FD9B446535}"/>
              </a:ext>
            </a:extLst>
          </p:cNvPr>
          <p:cNvSpPr>
            <a:spLocks noGrp="1"/>
          </p:cNvSpPr>
          <p:nvPr>
            <p:ph idx="1"/>
          </p:nvPr>
        </p:nvSpPr>
        <p:spPr/>
        <p:txBody>
          <a:bodyPr>
            <a:normAutofit/>
          </a:bodyPr>
          <a:lstStyle/>
          <a:p>
            <a:r>
              <a:rPr lang="en-GB" b="1" dirty="0">
                <a:highlight>
                  <a:srgbClr val="FFFF00"/>
                </a:highlight>
              </a:rPr>
              <a:t>Pooling operates on a feature map rather than directly learning a new weighted filter.</a:t>
            </a:r>
          </a:p>
          <a:p>
            <a:r>
              <a:rPr lang="en-GB" dirty="0"/>
              <a:t>Suppose one feature map is:</a:t>
            </a:r>
          </a:p>
          <a:p>
            <a:pPr lvl="1"/>
            <a:r>
              <a:rPr lang="en-GB" dirty="0"/>
              <a:t>0.2  0.4  2.8  2.5  0.3  0.1</a:t>
            </a:r>
          </a:p>
          <a:p>
            <a:r>
              <a:rPr lang="en-GB" dirty="0"/>
              <a:t>With pool size 2, </a:t>
            </a:r>
            <a:r>
              <a:rPr lang="en-GB" dirty="0" err="1"/>
              <a:t>neighboring</a:t>
            </a:r>
            <a:r>
              <a:rPr lang="en-GB" dirty="0"/>
              <a:t> activations are grouped.</a:t>
            </a:r>
          </a:p>
          <a:p>
            <a:pPr lvl="1"/>
            <a:r>
              <a:rPr lang="en-GB" dirty="0"/>
              <a:t>[0.2 0.4] [2.8 2.5] [0.3 0.1]</a:t>
            </a:r>
          </a:p>
          <a:p>
            <a:r>
              <a:rPr lang="en-GB" dirty="0"/>
              <a:t>Each group is replaced by a summary.</a:t>
            </a:r>
          </a:p>
          <a:p>
            <a:endParaRPr lang="en-GB" dirty="0"/>
          </a:p>
        </p:txBody>
      </p:sp>
    </p:spTree>
    <p:extLst>
      <p:ext uri="{BB962C8B-B14F-4D97-AF65-F5344CB8AC3E}">
        <p14:creationId xmlns:p14="http://schemas.microsoft.com/office/powerpoint/2010/main" val="159700130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9CF50-634D-896C-8AC2-C6475415467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4E0FFC6-76BB-DAA7-A880-7002AB0C7286}"/>
              </a:ext>
            </a:extLst>
          </p:cNvPr>
          <p:cNvSpPr>
            <a:spLocks noGrp="1"/>
          </p:cNvSpPr>
          <p:nvPr>
            <p:ph type="title"/>
          </p:nvPr>
        </p:nvSpPr>
        <p:spPr/>
        <p:txBody>
          <a:bodyPr/>
          <a:lstStyle/>
          <a:p>
            <a:r>
              <a:rPr lang="en-GB" dirty="0"/>
              <a:t>Pooling summarizes </a:t>
            </a:r>
            <a:r>
              <a:rPr lang="en-GB" dirty="0" err="1"/>
              <a:t>neighboring</a:t>
            </a:r>
            <a:r>
              <a:rPr lang="en-GB" dirty="0"/>
              <a:t> activations</a:t>
            </a:r>
          </a:p>
        </p:txBody>
      </p:sp>
      <p:sp>
        <p:nvSpPr>
          <p:cNvPr id="3" name="Segnaposto contenuto 2">
            <a:extLst>
              <a:ext uri="{FF2B5EF4-FFF2-40B4-BE49-F238E27FC236}">
                <a16:creationId xmlns:a16="http://schemas.microsoft.com/office/drawing/2014/main" id="{1569F3D7-4239-7AC7-B6D8-EDB62C7C9288}"/>
              </a:ext>
            </a:extLst>
          </p:cNvPr>
          <p:cNvSpPr>
            <a:spLocks noGrp="1"/>
          </p:cNvSpPr>
          <p:nvPr>
            <p:ph idx="1"/>
          </p:nvPr>
        </p:nvSpPr>
        <p:spPr/>
        <p:txBody>
          <a:bodyPr>
            <a:normAutofit/>
          </a:bodyPr>
          <a:lstStyle/>
          <a:p>
            <a:r>
              <a:rPr lang="en-GB" b="1" dirty="0"/>
              <a:t>Unlike convolution</a:t>
            </a:r>
          </a:p>
          <a:p>
            <a:r>
              <a:rPr lang="en-GB" dirty="0"/>
              <a:t>Pooling usually has:</a:t>
            </a:r>
          </a:p>
          <a:p>
            <a:pPr lvl="1"/>
            <a:r>
              <a:rPr lang="en-GB" b="1" dirty="0"/>
              <a:t>no learned weights; </a:t>
            </a:r>
          </a:p>
          <a:p>
            <a:pPr lvl="1"/>
            <a:r>
              <a:rPr lang="en-GB" b="1" dirty="0"/>
              <a:t>a predefined aggregation rule. </a:t>
            </a:r>
          </a:p>
          <a:p>
            <a:r>
              <a:rPr lang="en-GB" dirty="0"/>
              <a:t>Typical rules:</a:t>
            </a:r>
          </a:p>
          <a:p>
            <a:pPr lvl="1"/>
            <a:r>
              <a:rPr lang="en-GB" dirty="0"/>
              <a:t>maximum; </a:t>
            </a:r>
          </a:p>
          <a:p>
            <a:pPr lvl="1"/>
            <a:r>
              <a:rPr lang="en-GB" dirty="0"/>
              <a:t>average. </a:t>
            </a:r>
          </a:p>
          <a:p>
            <a:endParaRPr lang="en-GB" b="1" dirty="0"/>
          </a:p>
          <a:p>
            <a:r>
              <a:rPr lang="en-GB" b="1" dirty="0"/>
              <a:t>Result</a:t>
            </a:r>
          </a:p>
          <a:p>
            <a:r>
              <a:rPr lang="en-GB" b="1" dirty="0"/>
              <a:t>Temporal length is reduced.</a:t>
            </a:r>
          </a:p>
          <a:p>
            <a:endParaRPr lang="en-GB" dirty="0"/>
          </a:p>
        </p:txBody>
      </p:sp>
    </p:spTree>
    <p:extLst>
      <p:ext uri="{BB962C8B-B14F-4D97-AF65-F5344CB8AC3E}">
        <p14:creationId xmlns:p14="http://schemas.microsoft.com/office/powerpoint/2010/main" val="27040235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58C644-61FB-AEE6-4154-EBA8AC5F739A}"/>
              </a:ext>
            </a:extLst>
          </p:cNvPr>
          <p:cNvSpPr>
            <a:spLocks noGrp="1"/>
          </p:cNvSpPr>
          <p:nvPr>
            <p:ph type="title"/>
          </p:nvPr>
        </p:nvSpPr>
        <p:spPr/>
        <p:txBody>
          <a:bodyPr/>
          <a:lstStyle/>
          <a:p>
            <a:r>
              <a:rPr lang="en-GB" dirty="0"/>
              <a:t>Max pooling</a:t>
            </a:r>
          </a:p>
        </p:txBody>
      </p:sp>
      <p:sp>
        <p:nvSpPr>
          <p:cNvPr id="3" name="Segnaposto contenuto 2">
            <a:extLst>
              <a:ext uri="{FF2B5EF4-FFF2-40B4-BE49-F238E27FC236}">
                <a16:creationId xmlns:a16="http://schemas.microsoft.com/office/drawing/2014/main" id="{8144638D-CB99-882C-C0ED-408530E1E129}"/>
              </a:ext>
            </a:extLst>
          </p:cNvPr>
          <p:cNvSpPr>
            <a:spLocks noGrp="1"/>
          </p:cNvSpPr>
          <p:nvPr>
            <p:ph sz="half" idx="1"/>
          </p:nvPr>
        </p:nvSpPr>
        <p:spPr/>
        <p:txBody>
          <a:bodyPr>
            <a:normAutofit fontScale="92500" lnSpcReduction="10000"/>
          </a:bodyPr>
          <a:lstStyle/>
          <a:p>
            <a:r>
              <a:rPr lang="en-GB" dirty="0"/>
              <a:t>Max pooling retains the largest activation within each local region.</a:t>
            </a:r>
          </a:p>
          <a:p>
            <a:r>
              <a:rPr lang="en-GB" dirty="0"/>
              <a:t>Example:</a:t>
            </a:r>
          </a:p>
          <a:p>
            <a:r>
              <a:rPr lang="en-GB" dirty="0"/>
              <a:t>Input feature map:</a:t>
            </a:r>
          </a:p>
          <a:p>
            <a:r>
              <a:rPr lang="en-GB" dirty="0"/>
              <a:t>0.2  0.4  2.8  2.5  0.3  0.1</a:t>
            </a:r>
          </a:p>
          <a:p>
            <a:r>
              <a:rPr lang="en-GB" dirty="0"/>
              <a:t>Pool size: 2</a:t>
            </a:r>
          </a:p>
          <a:p>
            <a:r>
              <a:rPr lang="en-GB" dirty="0"/>
              <a:t>Output:</a:t>
            </a:r>
          </a:p>
          <a:p>
            <a:r>
              <a:rPr lang="en-GB" dirty="0"/>
              <a:t>0.4  2.8  0.3</a:t>
            </a:r>
          </a:p>
          <a:p>
            <a:endParaRPr lang="en-GB" dirty="0"/>
          </a:p>
        </p:txBody>
      </p:sp>
      <p:sp>
        <p:nvSpPr>
          <p:cNvPr id="4" name="Segnaposto contenuto 3">
            <a:extLst>
              <a:ext uri="{FF2B5EF4-FFF2-40B4-BE49-F238E27FC236}">
                <a16:creationId xmlns:a16="http://schemas.microsoft.com/office/drawing/2014/main" id="{D292038F-52C9-2B57-F37F-108C6119BF5A}"/>
              </a:ext>
            </a:extLst>
          </p:cNvPr>
          <p:cNvSpPr>
            <a:spLocks noGrp="1"/>
          </p:cNvSpPr>
          <p:nvPr>
            <p:ph sz="half" idx="2"/>
          </p:nvPr>
        </p:nvSpPr>
        <p:spPr>
          <a:xfrm>
            <a:off x="5089969" y="2160589"/>
            <a:ext cx="6559105" cy="4278311"/>
          </a:xfrm>
        </p:spPr>
        <p:txBody>
          <a:bodyPr>
            <a:normAutofit fontScale="92500" lnSpcReduction="10000"/>
          </a:bodyPr>
          <a:lstStyle/>
          <a:p>
            <a:r>
              <a:rPr lang="en-GB" b="1" dirty="0"/>
              <a:t>Interpretation</a:t>
            </a:r>
          </a:p>
          <a:p>
            <a:r>
              <a:rPr lang="en-GB" dirty="0"/>
              <a:t>Suppose a convolutional filter detects a vibration burst.</a:t>
            </a:r>
          </a:p>
          <a:p>
            <a:r>
              <a:rPr lang="en-GB" dirty="0"/>
              <a:t>High activation means:</a:t>
            </a:r>
          </a:p>
          <a:p>
            <a:pPr lvl="1"/>
            <a:r>
              <a:rPr lang="en-GB" dirty="0"/>
              <a:t>the pattern is strongly present here.</a:t>
            </a:r>
          </a:p>
          <a:p>
            <a:r>
              <a:rPr lang="en-GB" b="1" dirty="0">
                <a:highlight>
                  <a:srgbClr val="FFFF00"/>
                </a:highlight>
              </a:rPr>
              <a:t>Max pooling asks:</a:t>
            </a:r>
          </a:p>
          <a:p>
            <a:pPr lvl="1"/>
            <a:r>
              <a:rPr lang="en-GB" b="1" dirty="0">
                <a:highlight>
                  <a:srgbClr val="FFFF00"/>
                </a:highlight>
              </a:rPr>
              <a:t>Was this pattern strongly present anywhere in this local region?</a:t>
            </a:r>
          </a:p>
          <a:p>
            <a:r>
              <a:rPr lang="en-GB" b="1" dirty="0"/>
              <a:t>Benefit</a:t>
            </a:r>
          </a:p>
          <a:p>
            <a:pPr lvl="1"/>
            <a:r>
              <a:rPr lang="en-GB" dirty="0"/>
              <a:t>Pooling introduces </a:t>
            </a:r>
            <a:r>
              <a:rPr lang="en-GB" b="1" dirty="0"/>
              <a:t>some local translational invariance</a:t>
            </a:r>
            <a:r>
              <a:rPr lang="en-GB" dirty="0"/>
              <a:t> by making the representation less sensitive to small shifts in pattern position</a:t>
            </a:r>
            <a:endParaRPr lang="en-GB" b="1" dirty="0">
              <a:solidFill>
                <a:srgbClr val="FF0000"/>
              </a:solidFill>
            </a:endParaRPr>
          </a:p>
          <a:p>
            <a:r>
              <a:rPr lang="en-GB" b="1" dirty="0"/>
              <a:t>Limitation</a:t>
            </a:r>
          </a:p>
          <a:p>
            <a:pPr lvl="1"/>
            <a:r>
              <a:rPr lang="en-GB" dirty="0"/>
              <a:t>The exact location of the maximum is lost.</a:t>
            </a:r>
          </a:p>
          <a:p>
            <a:endParaRPr lang="en-GB" dirty="0"/>
          </a:p>
        </p:txBody>
      </p:sp>
    </p:spTree>
    <p:extLst>
      <p:ext uri="{BB962C8B-B14F-4D97-AF65-F5344CB8AC3E}">
        <p14:creationId xmlns:p14="http://schemas.microsoft.com/office/powerpoint/2010/main" val="228368538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59"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0"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Max pooling retains the strongest local response</a:t>
            </a:r>
            <a:endParaRPr lang="it-IT" sz="2200" b="0" u="none" strike="noStrike">
              <a:solidFill>
                <a:srgbClr val="000000"/>
              </a:solidFill>
              <a:effectLst/>
              <a:uFillTx/>
              <a:latin typeface="Arial"/>
            </a:endParaRPr>
          </a:p>
        </p:txBody>
      </p:sp>
      <p:sp>
        <p:nvSpPr>
          <p:cNvPr id="361"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dirty="0">
                <a:solidFill>
                  <a:srgbClr val="506070"/>
                </a:solidFill>
                <a:effectLst/>
                <a:uFillTx/>
                <a:latin typeface="Aptos"/>
              </a:rPr>
              <a:t>Useful when the presence of a learned pattern matters more than its exact position.</a:t>
            </a:r>
            <a:endParaRPr lang="it-IT" sz="1400" b="1" u="none" strike="noStrike" dirty="0">
              <a:solidFill>
                <a:srgbClr val="000000"/>
              </a:solidFill>
              <a:effectLst/>
              <a:uFillTx/>
              <a:latin typeface="Arial"/>
            </a:endParaRPr>
          </a:p>
        </p:txBody>
      </p:sp>
      <p:sp>
        <p:nvSpPr>
          <p:cNvPr id="362"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3"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111827"/>
                </a:solidFill>
                <a:effectLst/>
                <a:uFillTx/>
                <a:latin typeface="Aptos"/>
              </a:rPr>
              <a:t>Max pooling provides local shift tolerance but loses exact location.</a:t>
            </a:r>
            <a:endParaRPr lang="it-IT" sz="1200" b="1" u="none" strike="noStrike" dirty="0">
              <a:solidFill>
                <a:srgbClr val="000000"/>
              </a:solidFill>
              <a:effectLst/>
              <a:uFillTx/>
              <a:latin typeface="Arial"/>
            </a:endParaRPr>
          </a:p>
        </p:txBody>
      </p:sp>
      <p:sp>
        <p:nvSpPr>
          <p:cNvPr id="364" name="Shape 6"/>
          <p:cNvSpPr/>
          <p:nvPr/>
        </p:nvSpPr>
        <p:spPr>
          <a:xfrm>
            <a:off x="1005840" y="2011680"/>
            <a:ext cx="5025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5" name="Text 7"/>
          <p:cNvSpPr/>
          <p:nvPr/>
        </p:nvSpPr>
        <p:spPr>
          <a:xfrm>
            <a:off x="10332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0.2</a:t>
            </a:r>
            <a:endParaRPr lang="it-IT" sz="900" b="0" u="none" strike="noStrike">
              <a:solidFill>
                <a:srgbClr val="000000"/>
              </a:solidFill>
              <a:effectLst/>
              <a:uFillTx/>
              <a:latin typeface="Arial"/>
            </a:endParaRPr>
          </a:p>
        </p:txBody>
      </p:sp>
      <p:sp>
        <p:nvSpPr>
          <p:cNvPr id="366" name="Shape 8"/>
          <p:cNvSpPr/>
          <p:nvPr/>
        </p:nvSpPr>
        <p:spPr>
          <a:xfrm>
            <a:off x="1691640" y="2011680"/>
            <a:ext cx="5025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7" name="Text 9"/>
          <p:cNvSpPr/>
          <p:nvPr/>
        </p:nvSpPr>
        <p:spPr>
          <a:xfrm>
            <a:off x="17190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0.4</a:t>
            </a:r>
            <a:endParaRPr lang="it-IT" sz="900" b="0" u="none" strike="noStrike">
              <a:solidFill>
                <a:srgbClr val="000000"/>
              </a:solidFill>
              <a:effectLst/>
              <a:uFillTx/>
              <a:latin typeface="Arial"/>
            </a:endParaRPr>
          </a:p>
        </p:txBody>
      </p:sp>
      <p:sp>
        <p:nvSpPr>
          <p:cNvPr id="368" name="Shape 10"/>
          <p:cNvSpPr/>
          <p:nvPr/>
        </p:nvSpPr>
        <p:spPr>
          <a:xfrm>
            <a:off x="2377440" y="2011680"/>
            <a:ext cx="502560" cy="319680"/>
          </a:xfrm>
          <a:prstGeom prst="roundRect">
            <a:avLst>
              <a:gd name="adj" fmla="val 14286"/>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9" name="Text 11"/>
          <p:cNvSpPr/>
          <p:nvPr/>
        </p:nvSpPr>
        <p:spPr>
          <a:xfrm>
            <a:off x="24048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2.8</a:t>
            </a:r>
            <a:endParaRPr lang="it-IT" sz="900" b="0" u="none" strike="noStrike">
              <a:solidFill>
                <a:srgbClr val="000000"/>
              </a:solidFill>
              <a:effectLst/>
              <a:uFillTx/>
              <a:latin typeface="Arial"/>
            </a:endParaRPr>
          </a:p>
        </p:txBody>
      </p:sp>
      <p:sp>
        <p:nvSpPr>
          <p:cNvPr id="370" name="Shape 12"/>
          <p:cNvSpPr/>
          <p:nvPr/>
        </p:nvSpPr>
        <p:spPr>
          <a:xfrm>
            <a:off x="3063240" y="2011680"/>
            <a:ext cx="502560" cy="319680"/>
          </a:xfrm>
          <a:prstGeom prst="roundRect">
            <a:avLst>
              <a:gd name="adj" fmla="val 14286"/>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71" name="Text 13"/>
          <p:cNvSpPr/>
          <p:nvPr/>
        </p:nvSpPr>
        <p:spPr>
          <a:xfrm>
            <a:off x="30906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2.5</a:t>
            </a:r>
            <a:endParaRPr lang="it-IT" sz="900" b="0" u="none" strike="noStrike">
              <a:solidFill>
                <a:srgbClr val="000000"/>
              </a:solidFill>
              <a:effectLst/>
              <a:uFillTx/>
              <a:latin typeface="Arial"/>
            </a:endParaRPr>
          </a:p>
        </p:txBody>
      </p:sp>
      <p:sp>
        <p:nvSpPr>
          <p:cNvPr id="372" name="Shape 14"/>
          <p:cNvSpPr/>
          <p:nvPr/>
        </p:nvSpPr>
        <p:spPr>
          <a:xfrm>
            <a:off x="3749040" y="2011680"/>
            <a:ext cx="5025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73" name="Text 15"/>
          <p:cNvSpPr/>
          <p:nvPr/>
        </p:nvSpPr>
        <p:spPr>
          <a:xfrm>
            <a:off x="37764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0.3</a:t>
            </a:r>
            <a:endParaRPr lang="it-IT" sz="900" b="0" u="none" strike="noStrike">
              <a:solidFill>
                <a:srgbClr val="000000"/>
              </a:solidFill>
              <a:effectLst/>
              <a:uFillTx/>
              <a:latin typeface="Arial"/>
            </a:endParaRPr>
          </a:p>
        </p:txBody>
      </p:sp>
      <p:sp>
        <p:nvSpPr>
          <p:cNvPr id="374" name="Shape 16"/>
          <p:cNvSpPr/>
          <p:nvPr/>
        </p:nvSpPr>
        <p:spPr>
          <a:xfrm>
            <a:off x="4434840" y="2011680"/>
            <a:ext cx="5025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75" name="Text 17"/>
          <p:cNvSpPr/>
          <p:nvPr/>
        </p:nvSpPr>
        <p:spPr>
          <a:xfrm>
            <a:off x="44622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0.1</a:t>
            </a:r>
            <a:endParaRPr lang="it-IT" sz="900" b="0" u="none" strike="noStrike">
              <a:solidFill>
                <a:srgbClr val="000000"/>
              </a:solidFill>
              <a:effectLst/>
              <a:uFillTx/>
              <a:latin typeface="Arial"/>
            </a:endParaRPr>
          </a:p>
        </p:txBody>
      </p:sp>
      <p:sp>
        <p:nvSpPr>
          <p:cNvPr id="376" name="Text 18"/>
          <p:cNvSpPr/>
          <p:nvPr/>
        </p:nvSpPr>
        <p:spPr>
          <a:xfrm>
            <a:off x="1005840" y="1536120"/>
            <a:ext cx="13712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11827"/>
                </a:solidFill>
                <a:effectLst/>
                <a:uFillTx/>
                <a:latin typeface="Aptos"/>
              </a:rPr>
              <a:t>pool size = 2</a:t>
            </a:r>
            <a:endParaRPr lang="it-IT" sz="1200" b="0" u="none" strike="noStrike">
              <a:solidFill>
                <a:srgbClr val="000000"/>
              </a:solidFill>
              <a:effectLst/>
              <a:uFillTx/>
              <a:latin typeface="Arial"/>
            </a:endParaRPr>
          </a:p>
        </p:txBody>
      </p:sp>
      <p:sp>
        <p:nvSpPr>
          <p:cNvPr id="377" name="Shape 19"/>
          <p:cNvSpPr/>
          <p:nvPr/>
        </p:nvSpPr>
        <p:spPr>
          <a:xfrm>
            <a:off x="960120" y="2971800"/>
            <a:ext cx="1142640" cy="365400"/>
          </a:xfrm>
          <a:prstGeom prst="roundRect">
            <a:avLst>
              <a:gd name="adj" fmla="val 12500"/>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78" name="Text 20"/>
          <p:cNvSpPr/>
          <p:nvPr/>
        </p:nvSpPr>
        <p:spPr>
          <a:xfrm>
            <a:off x="987480" y="3054240"/>
            <a:ext cx="10879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[0.2, 0.4]</a:t>
            </a:r>
            <a:endParaRPr lang="it-IT" sz="900" b="0" u="none" strike="noStrike">
              <a:solidFill>
                <a:srgbClr val="000000"/>
              </a:solidFill>
              <a:effectLst/>
              <a:uFillTx/>
              <a:latin typeface="Arial"/>
            </a:endParaRPr>
          </a:p>
        </p:txBody>
      </p:sp>
      <p:sp>
        <p:nvSpPr>
          <p:cNvPr id="379" name="Shape 21"/>
          <p:cNvSpPr/>
          <p:nvPr/>
        </p:nvSpPr>
        <p:spPr>
          <a:xfrm>
            <a:off x="2331720" y="2971800"/>
            <a:ext cx="1142640" cy="365400"/>
          </a:xfrm>
          <a:prstGeom prst="roundRect">
            <a:avLst>
              <a:gd name="adj" fmla="val 12500"/>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80" name="Text 22"/>
          <p:cNvSpPr/>
          <p:nvPr/>
        </p:nvSpPr>
        <p:spPr>
          <a:xfrm>
            <a:off x="2359080" y="3054240"/>
            <a:ext cx="10879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[2.8, 2.5]</a:t>
            </a:r>
            <a:endParaRPr lang="it-IT" sz="900" b="0" u="none" strike="noStrike">
              <a:solidFill>
                <a:srgbClr val="000000"/>
              </a:solidFill>
              <a:effectLst/>
              <a:uFillTx/>
              <a:latin typeface="Arial"/>
            </a:endParaRPr>
          </a:p>
        </p:txBody>
      </p:sp>
      <p:sp>
        <p:nvSpPr>
          <p:cNvPr id="381" name="Shape 23"/>
          <p:cNvSpPr/>
          <p:nvPr/>
        </p:nvSpPr>
        <p:spPr>
          <a:xfrm>
            <a:off x="3703320" y="2971800"/>
            <a:ext cx="1142640" cy="365400"/>
          </a:xfrm>
          <a:prstGeom prst="roundRect">
            <a:avLst>
              <a:gd name="adj" fmla="val 12500"/>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82" name="Text 24"/>
          <p:cNvSpPr/>
          <p:nvPr/>
        </p:nvSpPr>
        <p:spPr>
          <a:xfrm>
            <a:off x="3730680" y="3054240"/>
            <a:ext cx="10879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[0.3, 0.1]</a:t>
            </a:r>
            <a:endParaRPr lang="it-IT" sz="900" b="0" u="none" strike="noStrike">
              <a:solidFill>
                <a:srgbClr val="000000"/>
              </a:solidFill>
              <a:effectLst/>
              <a:uFillTx/>
              <a:latin typeface="Arial"/>
            </a:endParaRPr>
          </a:p>
        </p:txBody>
      </p:sp>
      <p:sp>
        <p:nvSpPr>
          <p:cNvPr id="383" name="Shape 25"/>
          <p:cNvSpPr/>
          <p:nvPr/>
        </p:nvSpPr>
        <p:spPr>
          <a:xfrm>
            <a:off x="2834640" y="3520440"/>
            <a:ext cx="360" cy="54864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384" name="Shape 26"/>
          <p:cNvSpPr/>
          <p:nvPr/>
        </p:nvSpPr>
        <p:spPr>
          <a:xfrm>
            <a:off x="1565280" y="4227484"/>
            <a:ext cx="639720" cy="411120"/>
          </a:xfrm>
          <a:prstGeom prst="roundRect">
            <a:avLst>
              <a:gd name="adj" fmla="val 11111"/>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85" name="Text 27"/>
          <p:cNvSpPr/>
          <p:nvPr/>
        </p:nvSpPr>
        <p:spPr>
          <a:xfrm>
            <a:off x="1592640" y="4332604"/>
            <a:ext cx="5850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0.4</a:t>
            </a:r>
            <a:endParaRPr lang="it-IT" sz="1100" b="0" u="none" strike="noStrike">
              <a:solidFill>
                <a:srgbClr val="000000"/>
              </a:solidFill>
              <a:effectLst/>
              <a:uFillTx/>
              <a:latin typeface="Arial"/>
            </a:endParaRPr>
          </a:p>
        </p:txBody>
      </p:sp>
      <p:sp>
        <p:nvSpPr>
          <p:cNvPr id="386" name="Shape 28"/>
          <p:cNvSpPr/>
          <p:nvPr/>
        </p:nvSpPr>
        <p:spPr>
          <a:xfrm>
            <a:off x="2571120" y="4227484"/>
            <a:ext cx="639720" cy="411120"/>
          </a:xfrm>
          <a:prstGeom prst="roundRect">
            <a:avLst>
              <a:gd name="adj" fmla="val 11111"/>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87" name="Text 29"/>
          <p:cNvSpPr/>
          <p:nvPr/>
        </p:nvSpPr>
        <p:spPr>
          <a:xfrm>
            <a:off x="2598480" y="4332604"/>
            <a:ext cx="5850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2.8</a:t>
            </a:r>
            <a:endParaRPr lang="it-IT" sz="1100" b="0" u="none" strike="noStrike">
              <a:solidFill>
                <a:srgbClr val="000000"/>
              </a:solidFill>
              <a:effectLst/>
              <a:uFillTx/>
              <a:latin typeface="Arial"/>
            </a:endParaRPr>
          </a:p>
        </p:txBody>
      </p:sp>
      <p:sp>
        <p:nvSpPr>
          <p:cNvPr id="388" name="Shape 30"/>
          <p:cNvSpPr/>
          <p:nvPr/>
        </p:nvSpPr>
        <p:spPr>
          <a:xfrm>
            <a:off x="3576960" y="4227484"/>
            <a:ext cx="639720" cy="411120"/>
          </a:xfrm>
          <a:prstGeom prst="roundRect">
            <a:avLst>
              <a:gd name="adj" fmla="val 11111"/>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89" name="Text 31"/>
          <p:cNvSpPr/>
          <p:nvPr/>
        </p:nvSpPr>
        <p:spPr>
          <a:xfrm>
            <a:off x="3604320" y="4332604"/>
            <a:ext cx="5850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0.3</a:t>
            </a:r>
            <a:endParaRPr lang="it-IT" sz="1100" b="0" u="none" strike="noStrike">
              <a:solidFill>
                <a:srgbClr val="000000"/>
              </a:solidFill>
              <a:effectLst/>
              <a:uFillTx/>
              <a:latin typeface="Arial"/>
            </a:endParaRPr>
          </a:p>
        </p:txBody>
      </p:sp>
      <p:sp>
        <p:nvSpPr>
          <p:cNvPr id="390" name="Shape 32"/>
          <p:cNvSpPr/>
          <p:nvPr/>
        </p:nvSpPr>
        <p:spPr>
          <a:xfrm>
            <a:off x="6062940" y="3351420"/>
            <a:ext cx="1005480" cy="411120"/>
          </a:xfrm>
          <a:prstGeom prst="roundRect">
            <a:avLst>
              <a:gd name="adj" fmla="val 11111"/>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91" name="Text 33"/>
          <p:cNvSpPr/>
          <p:nvPr/>
        </p:nvSpPr>
        <p:spPr>
          <a:xfrm>
            <a:off x="6090300" y="3456540"/>
            <a:ext cx="9507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111827"/>
                </a:solidFill>
                <a:effectLst/>
                <a:uFillTx/>
                <a:latin typeface="Aptos"/>
              </a:rPr>
              <a:t>max</a:t>
            </a:r>
            <a:endParaRPr lang="it-IT" sz="1200" b="0" u="none" strike="noStrike">
              <a:solidFill>
                <a:srgbClr val="000000"/>
              </a:solidFill>
              <a:effectLst/>
              <a:uFillTx/>
              <a:latin typeface="Arial"/>
            </a:endParaRPr>
          </a:p>
        </p:txBody>
      </p:sp>
      <p:sp>
        <p:nvSpPr>
          <p:cNvPr id="392" name="Text 34"/>
          <p:cNvSpPr/>
          <p:nvPr/>
        </p:nvSpPr>
        <p:spPr>
          <a:xfrm>
            <a:off x="5267880" y="3978000"/>
            <a:ext cx="39315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dirty="0">
                <a:solidFill>
                  <a:srgbClr val="111827"/>
                </a:solidFill>
                <a:effectLst/>
                <a:uFillTx/>
                <a:latin typeface="Aptos"/>
              </a:rPr>
              <a:t>Was this pattern strongly present anywhere in the region?</a:t>
            </a:r>
            <a:endParaRPr lang="it-IT" sz="1300" b="0" u="none" strike="noStrike" dirty="0">
              <a:solidFill>
                <a:srgbClr val="000000"/>
              </a:solidFill>
              <a:effectLst/>
              <a:uFillTx/>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34933BC-8AB1-CC23-13B1-8593C4BECB73}"/>
              </a:ext>
            </a:extLst>
          </p:cNvPr>
          <p:cNvSpPr>
            <a:spLocks noGrp="1"/>
          </p:cNvSpPr>
          <p:nvPr>
            <p:ph type="title"/>
          </p:nvPr>
        </p:nvSpPr>
        <p:spPr/>
        <p:txBody>
          <a:bodyPr/>
          <a:lstStyle/>
          <a:p>
            <a:r>
              <a:rPr lang="en-GB" dirty="0"/>
              <a:t>Average pooling</a:t>
            </a:r>
          </a:p>
        </p:txBody>
      </p:sp>
      <p:sp>
        <p:nvSpPr>
          <p:cNvPr id="3" name="Segnaposto contenuto 2">
            <a:extLst>
              <a:ext uri="{FF2B5EF4-FFF2-40B4-BE49-F238E27FC236}">
                <a16:creationId xmlns:a16="http://schemas.microsoft.com/office/drawing/2014/main" id="{84B17654-FF54-A0D5-CB3E-E389C25216C3}"/>
              </a:ext>
            </a:extLst>
          </p:cNvPr>
          <p:cNvSpPr>
            <a:spLocks noGrp="1"/>
          </p:cNvSpPr>
          <p:nvPr>
            <p:ph idx="1"/>
          </p:nvPr>
        </p:nvSpPr>
        <p:spPr/>
        <p:txBody>
          <a:bodyPr>
            <a:normAutofit/>
          </a:bodyPr>
          <a:lstStyle/>
          <a:p>
            <a:r>
              <a:rPr lang="en-GB" dirty="0"/>
              <a:t>Average pooling replaces a local region with its mean activation.</a:t>
            </a:r>
          </a:p>
          <a:p>
            <a:r>
              <a:rPr lang="en-GB" dirty="0"/>
              <a:t>Example:</a:t>
            </a:r>
          </a:p>
          <a:p>
            <a:pPr lvl="1"/>
            <a:r>
              <a:rPr lang="en-GB" dirty="0"/>
              <a:t>Input: 0.2  0.4  2.8  2.5  0.3  0.1</a:t>
            </a:r>
          </a:p>
          <a:p>
            <a:pPr lvl="1"/>
            <a:r>
              <a:rPr lang="en-GB" dirty="0"/>
              <a:t>Pool size: 2</a:t>
            </a:r>
          </a:p>
          <a:p>
            <a:pPr lvl="1"/>
            <a:r>
              <a:rPr lang="en-GB" dirty="0"/>
              <a:t>Output: 0.3  2.65  0.2</a:t>
            </a:r>
          </a:p>
          <a:p>
            <a:endParaRPr lang="en-GB" b="1" dirty="0"/>
          </a:p>
          <a:p>
            <a:r>
              <a:rPr lang="en-GB" b="1" dirty="0"/>
              <a:t>Interpretation</a:t>
            </a:r>
          </a:p>
          <a:p>
            <a:r>
              <a:rPr lang="en-GB" dirty="0"/>
              <a:t>Average pooling asks approximately:</a:t>
            </a:r>
          </a:p>
          <a:p>
            <a:pPr lvl="1"/>
            <a:r>
              <a:rPr lang="en-GB" dirty="0"/>
              <a:t>How strongly was this feature active on average over this interval?</a:t>
            </a:r>
          </a:p>
          <a:p>
            <a:endParaRPr lang="en-GB" dirty="0"/>
          </a:p>
        </p:txBody>
      </p:sp>
    </p:spTree>
    <p:extLst>
      <p:ext uri="{BB962C8B-B14F-4D97-AF65-F5344CB8AC3E}">
        <p14:creationId xmlns:p14="http://schemas.microsoft.com/office/powerpoint/2010/main" val="122977966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C46BF-2902-8B7C-4B5B-77A4BA077DB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938B4F0-F1D5-E4E4-51D9-B9E1DBFA350E}"/>
              </a:ext>
            </a:extLst>
          </p:cNvPr>
          <p:cNvSpPr>
            <a:spLocks noGrp="1"/>
          </p:cNvSpPr>
          <p:nvPr>
            <p:ph type="title"/>
          </p:nvPr>
        </p:nvSpPr>
        <p:spPr/>
        <p:txBody>
          <a:bodyPr/>
          <a:lstStyle/>
          <a:p>
            <a:r>
              <a:rPr lang="en-GB" dirty="0"/>
              <a:t>Average pooling</a:t>
            </a:r>
          </a:p>
        </p:txBody>
      </p:sp>
      <p:sp>
        <p:nvSpPr>
          <p:cNvPr id="3" name="Segnaposto contenuto 2">
            <a:extLst>
              <a:ext uri="{FF2B5EF4-FFF2-40B4-BE49-F238E27FC236}">
                <a16:creationId xmlns:a16="http://schemas.microsoft.com/office/drawing/2014/main" id="{FCE6472C-5C4E-A046-3D33-3AEA4A609DCF}"/>
              </a:ext>
            </a:extLst>
          </p:cNvPr>
          <p:cNvSpPr>
            <a:spLocks noGrp="1"/>
          </p:cNvSpPr>
          <p:nvPr>
            <p:ph idx="1"/>
          </p:nvPr>
        </p:nvSpPr>
        <p:spPr/>
        <p:txBody>
          <a:bodyPr>
            <a:normAutofit fontScale="92500" lnSpcReduction="10000"/>
          </a:bodyPr>
          <a:lstStyle/>
          <a:p>
            <a:r>
              <a:rPr lang="en-GB" b="1" dirty="0"/>
              <a:t>Comparison with max pooling</a:t>
            </a:r>
          </a:p>
          <a:p>
            <a:r>
              <a:rPr lang="en-GB" dirty="0"/>
              <a:t>Max pooling emphasizes:</a:t>
            </a:r>
          </a:p>
          <a:p>
            <a:pPr lvl="1"/>
            <a:r>
              <a:rPr lang="en-GB" dirty="0"/>
              <a:t>strongest occurrence; </a:t>
            </a:r>
          </a:p>
          <a:p>
            <a:pPr lvl="1"/>
            <a:r>
              <a:rPr lang="en-GB" dirty="0"/>
              <a:t>presence of a local pattern. </a:t>
            </a:r>
          </a:p>
          <a:p>
            <a:r>
              <a:rPr lang="en-GB" dirty="0"/>
              <a:t>Average pooling emphasizes:</a:t>
            </a:r>
          </a:p>
          <a:p>
            <a:pPr lvl="1"/>
            <a:r>
              <a:rPr lang="en-GB" dirty="0"/>
              <a:t>overall activity; </a:t>
            </a:r>
          </a:p>
          <a:p>
            <a:pPr lvl="1"/>
            <a:r>
              <a:rPr lang="en-GB" dirty="0"/>
              <a:t>sustained feature response. </a:t>
            </a:r>
          </a:p>
          <a:p>
            <a:endParaRPr lang="en-GB" b="1" dirty="0"/>
          </a:p>
          <a:p>
            <a:r>
              <a:rPr lang="en-GB" b="1" dirty="0"/>
              <a:t>Which is better?</a:t>
            </a:r>
          </a:p>
          <a:p>
            <a:pPr lvl="1"/>
            <a:r>
              <a:rPr lang="en-GB" dirty="0"/>
              <a:t>It depends on the application and the type of feature being learned.</a:t>
            </a:r>
          </a:p>
          <a:p>
            <a:pPr lvl="1"/>
            <a:r>
              <a:rPr lang="en-GB" dirty="0"/>
              <a:t>Neither is universally superior.</a:t>
            </a:r>
          </a:p>
          <a:p>
            <a:endParaRPr lang="en-GB" dirty="0"/>
          </a:p>
        </p:txBody>
      </p:sp>
    </p:spTree>
    <p:extLst>
      <p:ext uri="{BB962C8B-B14F-4D97-AF65-F5344CB8AC3E}">
        <p14:creationId xmlns:p14="http://schemas.microsoft.com/office/powerpoint/2010/main" val="24774937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94"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95"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GB" sz="2400" b="1" dirty="0"/>
              <a:t>Average pooling summarizes sustained or distributed activation over a local region</a:t>
            </a:r>
            <a:endParaRPr lang="it-IT" sz="2200" b="1" u="none" strike="noStrike" dirty="0">
              <a:solidFill>
                <a:srgbClr val="000000"/>
              </a:solidFill>
              <a:effectLst/>
              <a:uFillTx/>
              <a:latin typeface="Arial"/>
            </a:endParaRPr>
          </a:p>
        </p:txBody>
      </p:sp>
      <p:sp>
        <p:nvSpPr>
          <p:cNvPr id="396"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506070"/>
                </a:solidFill>
                <a:effectLst/>
                <a:uFillTx/>
                <a:latin typeface="Aptos"/>
              </a:rPr>
              <a:t>Average pooling emphasizes overall activity within a local region.</a:t>
            </a:r>
            <a:endParaRPr lang="it-IT" sz="1200" b="1" u="none" strike="noStrike" dirty="0">
              <a:solidFill>
                <a:srgbClr val="000000"/>
              </a:solidFill>
              <a:effectLst/>
              <a:uFillTx/>
              <a:latin typeface="Arial"/>
            </a:endParaRPr>
          </a:p>
        </p:txBody>
      </p:sp>
      <p:sp>
        <p:nvSpPr>
          <p:cNvPr id="397"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98"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dirty="0">
                <a:solidFill>
                  <a:srgbClr val="111827"/>
                </a:solidFill>
                <a:effectLst/>
                <a:uFillTx/>
                <a:latin typeface="Aptos"/>
              </a:rPr>
              <a:t>Max pooling emphasizes strongest occurrence; average pooling emphasizes sustained response.</a:t>
            </a:r>
            <a:endParaRPr lang="it-IT" sz="1050" b="1" u="none" strike="noStrike" dirty="0">
              <a:solidFill>
                <a:srgbClr val="000000"/>
              </a:solidFill>
              <a:effectLst/>
              <a:uFillTx/>
              <a:latin typeface="Arial"/>
            </a:endParaRPr>
          </a:p>
        </p:txBody>
      </p:sp>
      <p:sp>
        <p:nvSpPr>
          <p:cNvPr id="399" name="Shape 6"/>
          <p:cNvSpPr/>
          <p:nvPr/>
        </p:nvSpPr>
        <p:spPr>
          <a:xfrm>
            <a:off x="1005840" y="2011680"/>
            <a:ext cx="5025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00" name="Text 7"/>
          <p:cNvSpPr/>
          <p:nvPr/>
        </p:nvSpPr>
        <p:spPr>
          <a:xfrm>
            <a:off x="10332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0.2</a:t>
            </a:r>
            <a:endParaRPr lang="it-IT" sz="900" b="0" u="none" strike="noStrike">
              <a:solidFill>
                <a:srgbClr val="000000"/>
              </a:solidFill>
              <a:effectLst/>
              <a:uFillTx/>
              <a:latin typeface="Arial"/>
            </a:endParaRPr>
          </a:p>
        </p:txBody>
      </p:sp>
      <p:sp>
        <p:nvSpPr>
          <p:cNvPr id="401" name="Shape 8"/>
          <p:cNvSpPr/>
          <p:nvPr/>
        </p:nvSpPr>
        <p:spPr>
          <a:xfrm>
            <a:off x="1691640" y="2011680"/>
            <a:ext cx="5025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02" name="Text 9"/>
          <p:cNvSpPr/>
          <p:nvPr/>
        </p:nvSpPr>
        <p:spPr>
          <a:xfrm>
            <a:off x="17190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0.4</a:t>
            </a:r>
            <a:endParaRPr lang="it-IT" sz="900" b="0" u="none" strike="noStrike">
              <a:solidFill>
                <a:srgbClr val="000000"/>
              </a:solidFill>
              <a:effectLst/>
              <a:uFillTx/>
              <a:latin typeface="Arial"/>
            </a:endParaRPr>
          </a:p>
        </p:txBody>
      </p:sp>
      <p:sp>
        <p:nvSpPr>
          <p:cNvPr id="403" name="Shape 10"/>
          <p:cNvSpPr/>
          <p:nvPr/>
        </p:nvSpPr>
        <p:spPr>
          <a:xfrm>
            <a:off x="2377440" y="2011680"/>
            <a:ext cx="502560" cy="319680"/>
          </a:xfrm>
          <a:prstGeom prst="roundRect">
            <a:avLst>
              <a:gd name="adj" fmla="val 14286"/>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04" name="Text 11"/>
          <p:cNvSpPr/>
          <p:nvPr/>
        </p:nvSpPr>
        <p:spPr>
          <a:xfrm>
            <a:off x="24048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2.8</a:t>
            </a:r>
            <a:endParaRPr lang="it-IT" sz="900" b="0" u="none" strike="noStrike">
              <a:solidFill>
                <a:srgbClr val="000000"/>
              </a:solidFill>
              <a:effectLst/>
              <a:uFillTx/>
              <a:latin typeface="Arial"/>
            </a:endParaRPr>
          </a:p>
        </p:txBody>
      </p:sp>
      <p:sp>
        <p:nvSpPr>
          <p:cNvPr id="405" name="Shape 12"/>
          <p:cNvSpPr/>
          <p:nvPr/>
        </p:nvSpPr>
        <p:spPr>
          <a:xfrm>
            <a:off x="3063240" y="2011680"/>
            <a:ext cx="502560" cy="319680"/>
          </a:xfrm>
          <a:prstGeom prst="roundRect">
            <a:avLst>
              <a:gd name="adj" fmla="val 14286"/>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06" name="Text 13"/>
          <p:cNvSpPr/>
          <p:nvPr/>
        </p:nvSpPr>
        <p:spPr>
          <a:xfrm>
            <a:off x="30906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2.5</a:t>
            </a:r>
            <a:endParaRPr lang="it-IT" sz="900" b="0" u="none" strike="noStrike">
              <a:solidFill>
                <a:srgbClr val="000000"/>
              </a:solidFill>
              <a:effectLst/>
              <a:uFillTx/>
              <a:latin typeface="Arial"/>
            </a:endParaRPr>
          </a:p>
        </p:txBody>
      </p:sp>
      <p:sp>
        <p:nvSpPr>
          <p:cNvPr id="407" name="Shape 14"/>
          <p:cNvSpPr/>
          <p:nvPr/>
        </p:nvSpPr>
        <p:spPr>
          <a:xfrm>
            <a:off x="3749040" y="2011680"/>
            <a:ext cx="5025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08" name="Text 15"/>
          <p:cNvSpPr/>
          <p:nvPr/>
        </p:nvSpPr>
        <p:spPr>
          <a:xfrm>
            <a:off x="37764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0.3</a:t>
            </a:r>
            <a:endParaRPr lang="it-IT" sz="900" b="0" u="none" strike="noStrike">
              <a:solidFill>
                <a:srgbClr val="000000"/>
              </a:solidFill>
              <a:effectLst/>
              <a:uFillTx/>
              <a:latin typeface="Arial"/>
            </a:endParaRPr>
          </a:p>
        </p:txBody>
      </p:sp>
      <p:sp>
        <p:nvSpPr>
          <p:cNvPr id="409" name="Shape 16"/>
          <p:cNvSpPr/>
          <p:nvPr/>
        </p:nvSpPr>
        <p:spPr>
          <a:xfrm>
            <a:off x="4434840" y="2011680"/>
            <a:ext cx="50256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10" name="Text 17"/>
          <p:cNvSpPr/>
          <p:nvPr/>
        </p:nvSpPr>
        <p:spPr>
          <a:xfrm>
            <a:off x="4462200" y="2071080"/>
            <a:ext cx="447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0.1</a:t>
            </a:r>
            <a:endParaRPr lang="it-IT" sz="900" b="0" u="none" strike="noStrike">
              <a:solidFill>
                <a:srgbClr val="000000"/>
              </a:solidFill>
              <a:effectLst/>
              <a:uFillTx/>
              <a:latin typeface="Arial"/>
            </a:endParaRPr>
          </a:p>
        </p:txBody>
      </p:sp>
      <p:sp>
        <p:nvSpPr>
          <p:cNvPr id="411" name="Shape 18"/>
          <p:cNvSpPr/>
          <p:nvPr/>
        </p:nvSpPr>
        <p:spPr>
          <a:xfrm>
            <a:off x="868680" y="2971800"/>
            <a:ext cx="1416960" cy="365400"/>
          </a:xfrm>
          <a:prstGeom prst="roundRect">
            <a:avLst>
              <a:gd name="adj" fmla="val 12500"/>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12" name="Text 19"/>
          <p:cNvSpPr/>
          <p:nvPr/>
        </p:nvSpPr>
        <p:spPr>
          <a:xfrm>
            <a:off x="896040" y="3054240"/>
            <a:ext cx="13622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avg(0.2,0.4)</a:t>
            </a:r>
            <a:endParaRPr lang="it-IT" sz="800" b="0" u="none" strike="noStrike">
              <a:solidFill>
                <a:srgbClr val="000000"/>
              </a:solidFill>
              <a:effectLst/>
              <a:uFillTx/>
              <a:latin typeface="Arial"/>
            </a:endParaRPr>
          </a:p>
        </p:txBody>
      </p:sp>
      <p:sp>
        <p:nvSpPr>
          <p:cNvPr id="413" name="Shape 20"/>
          <p:cNvSpPr/>
          <p:nvPr/>
        </p:nvSpPr>
        <p:spPr>
          <a:xfrm>
            <a:off x="2468880" y="2971800"/>
            <a:ext cx="1416960" cy="365400"/>
          </a:xfrm>
          <a:prstGeom prst="roundRect">
            <a:avLst>
              <a:gd name="adj" fmla="val 12500"/>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14" name="Text 21"/>
          <p:cNvSpPr/>
          <p:nvPr/>
        </p:nvSpPr>
        <p:spPr>
          <a:xfrm>
            <a:off x="2496240" y="3054240"/>
            <a:ext cx="13622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avg(2.8,2.5)</a:t>
            </a:r>
            <a:endParaRPr lang="it-IT" sz="800" b="0" u="none" strike="noStrike">
              <a:solidFill>
                <a:srgbClr val="000000"/>
              </a:solidFill>
              <a:effectLst/>
              <a:uFillTx/>
              <a:latin typeface="Arial"/>
            </a:endParaRPr>
          </a:p>
        </p:txBody>
      </p:sp>
      <p:sp>
        <p:nvSpPr>
          <p:cNvPr id="415" name="Shape 22"/>
          <p:cNvSpPr/>
          <p:nvPr/>
        </p:nvSpPr>
        <p:spPr>
          <a:xfrm>
            <a:off x="4069080" y="2971800"/>
            <a:ext cx="1416960" cy="365400"/>
          </a:xfrm>
          <a:prstGeom prst="roundRect">
            <a:avLst>
              <a:gd name="adj" fmla="val 12500"/>
            </a:avLst>
          </a:prstGeom>
          <a:solidFill>
            <a:srgbClr val="FFFFFF"/>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16" name="Text 23"/>
          <p:cNvSpPr/>
          <p:nvPr/>
        </p:nvSpPr>
        <p:spPr>
          <a:xfrm>
            <a:off x="4096440" y="3054240"/>
            <a:ext cx="13622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u="none" strike="noStrike">
                <a:solidFill>
                  <a:srgbClr val="111827"/>
                </a:solidFill>
                <a:effectLst/>
                <a:uFillTx/>
                <a:latin typeface="Aptos"/>
              </a:rPr>
              <a:t>avg(0.3,0.1)</a:t>
            </a:r>
            <a:endParaRPr lang="it-IT" sz="800" b="0" u="none" strike="noStrike">
              <a:solidFill>
                <a:srgbClr val="000000"/>
              </a:solidFill>
              <a:effectLst/>
              <a:uFillTx/>
              <a:latin typeface="Arial"/>
            </a:endParaRPr>
          </a:p>
        </p:txBody>
      </p:sp>
      <p:sp>
        <p:nvSpPr>
          <p:cNvPr id="417" name="Shape 24"/>
          <p:cNvSpPr/>
          <p:nvPr/>
        </p:nvSpPr>
        <p:spPr>
          <a:xfrm>
            <a:off x="3311698" y="3702960"/>
            <a:ext cx="360" cy="54864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418" name="Shape 25"/>
          <p:cNvSpPr/>
          <p:nvPr/>
        </p:nvSpPr>
        <p:spPr>
          <a:xfrm>
            <a:off x="2057400" y="4827960"/>
            <a:ext cx="639720" cy="411120"/>
          </a:xfrm>
          <a:prstGeom prst="roundRect">
            <a:avLst>
              <a:gd name="adj" fmla="val 11111"/>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19" name="Text 26"/>
          <p:cNvSpPr/>
          <p:nvPr/>
        </p:nvSpPr>
        <p:spPr>
          <a:xfrm>
            <a:off x="2084760" y="4933080"/>
            <a:ext cx="5850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0.3</a:t>
            </a:r>
            <a:endParaRPr lang="it-IT" sz="1100" b="0" u="none" strike="noStrike">
              <a:solidFill>
                <a:srgbClr val="000000"/>
              </a:solidFill>
              <a:effectLst/>
              <a:uFillTx/>
              <a:latin typeface="Arial"/>
            </a:endParaRPr>
          </a:p>
        </p:txBody>
      </p:sp>
      <p:sp>
        <p:nvSpPr>
          <p:cNvPr id="420" name="Shape 27"/>
          <p:cNvSpPr/>
          <p:nvPr/>
        </p:nvSpPr>
        <p:spPr>
          <a:xfrm>
            <a:off x="3063240" y="4827960"/>
            <a:ext cx="639720" cy="411120"/>
          </a:xfrm>
          <a:prstGeom prst="roundRect">
            <a:avLst>
              <a:gd name="adj" fmla="val 11111"/>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21" name="Text 28"/>
          <p:cNvSpPr/>
          <p:nvPr/>
        </p:nvSpPr>
        <p:spPr>
          <a:xfrm>
            <a:off x="3090600" y="4933080"/>
            <a:ext cx="5850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2.65</a:t>
            </a:r>
            <a:endParaRPr lang="it-IT" sz="1100" b="0" u="none" strike="noStrike">
              <a:solidFill>
                <a:srgbClr val="000000"/>
              </a:solidFill>
              <a:effectLst/>
              <a:uFillTx/>
              <a:latin typeface="Arial"/>
            </a:endParaRPr>
          </a:p>
        </p:txBody>
      </p:sp>
      <p:sp>
        <p:nvSpPr>
          <p:cNvPr id="422" name="Shape 29"/>
          <p:cNvSpPr/>
          <p:nvPr/>
        </p:nvSpPr>
        <p:spPr>
          <a:xfrm>
            <a:off x="4069080" y="4827960"/>
            <a:ext cx="639720" cy="411120"/>
          </a:xfrm>
          <a:prstGeom prst="roundRect">
            <a:avLst>
              <a:gd name="adj" fmla="val 11111"/>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23" name="Text 30"/>
          <p:cNvSpPr/>
          <p:nvPr/>
        </p:nvSpPr>
        <p:spPr>
          <a:xfrm>
            <a:off x="4096440" y="4933080"/>
            <a:ext cx="5850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0.2</a:t>
            </a:r>
            <a:endParaRPr lang="it-IT" sz="1100" b="0" u="none" strike="noStrike">
              <a:solidFill>
                <a:srgbClr val="000000"/>
              </a:solidFill>
              <a:effectLst/>
              <a:uFillTx/>
              <a:latin typeface="Arial"/>
            </a:endParaRPr>
          </a:p>
        </p:txBody>
      </p:sp>
      <p:sp>
        <p:nvSpPr>
          <p:cNvPr id="424" name="Shape 31"/>
          <p:cNvSpPr/>
          <p:nvPr/>
        </p:nvSpPr>
        <p:spPr>
          <a:xfrm>
            <a:off x="5719860" y="3758040"/>
            <a:ext cx="1188360" cy="411120"/>
          </a:xfrm>
          <a:prstGeom prst="roundRect">
            <a:avLst>
              <a:gd name="adj" fmla="val 11111"/>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25" name="Text 32"/>
          <p:cNvSpPr/>
          <p:nvPr/>
        </p:nvSpPr>
        <p:spPr>
          <a:xfrm>
            <a:off x="5747220" y="3863160"/>
            <a:ext cx="11336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111827"/>
                </a:solidFill>
                <a:effectLst/>
                <a:uFillTx/>
                <a:latin typeface="Aptos"/>
              </a:rPr>
              <a:t>average</a:t>
            </a:r>
            <a:endParaRPr lang="it-IT" sz="1200" b="0" u="none" strike="noStrike">
              <a:solidFill>
                <a:srgbClr val="000000"/>
              </a:solidFill>
              <a:effectLst/>
              <a:uFillTx/>
              <a:latin typeface="Arial"/>
            </a:endParaRPr>
          </a:p>
        </p:txBody>
      </p:sp>
      <p:sp>
        <p:nvSpPr>
          <p:cNvPr id="426" name="Text 33"/>
          <p:cNvSpPr/>
          <p:nvPr/>
        </p:nvSpPr>
        <p:spPr>
          <a:xfrm>
            <a:off x="5623380" y="4371120"/>
            <a:ext cx="2991931"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dirty="0">
                <a:solidFill>
                  <a:srgbClr val="111827"/>
                </a:solidFill>
                <a:effectLst/>
                <a:uFillTx/>
                <a:latin typeface="Aptos"/>
              </a:rPr>
              <a:t>How active was this feature on average over the interval?</a:t>
            </a:r>
            <a:endParaRPr lang="it-IT" sz="1300" b="0" u="none" strike="noStrike" dirty="0">
              <a:solidFill>
                <a:srgbClr val="000000"/>
              </a:solidFill>
              <a:effectLst/>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DC7CC16-E219-4086-B093-94327456D44F}"/>
              </a:ext>
            </a:extLst>
          </p:cNvPr>
          <p:cNvSpPr>
            <a:spLocks noGrp="1"/>
          </p:cNvSpPr>
          <p:nvPr>
            <p:ph type="title"/>
          </p:nvPr>
        </p:nvSpPr>
        <p:spPr/>
        <p:txBody>
          <a:bodyPr/>
          <a:lstStyle/>
          <a:p>
            <a:r>
              <a:rPr lang="en-GB" dirty="0"/>
              <a:t>Pool size and pooling stride</a:t>
            </a:r>
          </a:p>
        </p:txBody>
      </p:sp>
      <p:sp>
        <p:nvSpPr>
          <p:cNvPr id="3" name="Segnaposto contenuto 2">
            <a:extLst>
              <a:ext uri="{FF2B5EF4-FFF2-40B4-BE49-F238E27FC236}">
                <a16:creationId xmlns:a16="http://schemas.microsoft.com/office/drawing/2014/main" id="{89A3B1FA-0F52-FE22-8391-0FFCD74EC7B1}"/>
              </a:ext>
            </a:extLst>
          </p:cNvPr>
          <p:cNvSpPr>
            <a:spLocks noGrp="1"/>
          </p:cNvSpPr>
          <p:nvPr>
            <p:ph idx="1"/>
          </p:nvPr>
        </p:nvSpPr>
        <p:spPr/>
        <p:txBody>
          <a:bodyPr>
            <a:normAutofit/>
          </a:bodyPr>
          <a:lstStyle/>
          <a:p>
            <a:r>
              <a:rPr lang="en-GB" b="1" dirty="0"/>
              <a:t>Pooling has its own:</a:t>
            </a:r>
          </a:p>
          <a:p>
            <a:pPr lvl="1"/>
            <a:r>
              <a:rPr lang="en-GB" b="1" dirty="0"/>
              <a:t>window size; </a:t>
            </a:r>
          </a:p>
          <a:p>
            <a:pPr lvl="1"/>
            <a:r>
              <a:rPr lang="en-GB" b="1" dirty="0"/>
              <a:t>stride. </a:t>
            </a:r>
          </a:p>
          <a:p>
            <a:r>
              <a:rPr lang="en-GB" dirty="0"/>
              <a:t>Example:</a:t>
            </a:r>
          </a:p>
          <a:p>
            <a:pPr lvl="1"/>
            <a:r>
              <a:rPr lang="en-GB" dirty="0"/>
              <a:t>Pool size: 2</a:t>
            </a:r>
          </a:p>
          <a:p>
            <a:pPr lvl="1"/>
            <a:r>
              <a:rPr lang="en-GB" dirty="0"/>
              <a:t>Stride: 2</a:t>
            </a:r>
          </a:p>
          <a:p>
            <a:pPr lvl="1"/>
            <a:r>
              <a:rPr lang="en-GB" dirty="0"/>
              <a:t>Then pairs of activations are summarized without overlap.</a:t>
            </a:r>
          </a:p>
          <a:p>
            <a:pPr lvl="1"/>
            <a:r>
              <a:rPr lang="en-GB" dirty="0"/>
              <a:t>[a1 a2] [a3 a4] [a5 a6]</a:t>
            </a:r>
          </a:p>
          <a:p>
            <a:pPr lvl="1"/>
            <a:r>
              <a:rPr lang="en-GB" dirty="0"/>
              <a:t>Temporal length is approximately halved.</a:t>
            </a:r>
          </a:p>
          <a:p>
            <a:endParaRPr lang="en-GB" dirty="0"/>
          </a:p>
        </p:txBody>
      </p:sp>
    </p:spTree>
    <p:extLst>
      <p:ext uri="{BB962C8B-B14F-4D97-AF65-F5344CB8AC3E}">
        <p14:creationId xmlns:p14="http://schemas.microsoft.com/office/powerpoint/2010/main" val="386429992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59D60-A3CF-F40A-8A6E-07CA2EE2532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7D8E745-9635-80F3-6CEE-4289FE7FA384}"/>
              </a:ext>
            </a:extLst>
          </p:cNvPr>
          <p:cNvSpPr>
            <a:spLocks noGrp="1"/>
          </p:cNvSpPr>
          <p:nvPr>
            <p:ph type="title"/>
          </p:nvPr>
        </p:nvSpPr>
        <p:spPr/>
        <p:txBody>
          <a:bodyPr/>
          <a:lstStyle/>
          <a:p>
            <a:r>
              <a:rPr lang="en-GB" dirty="0"/>
              <a:t>Pool size and pooling stride</a:t>
            </a:r>
          </a:p>
        </p:txBody>
      </p:sp>
      <p:sp>
        <p:nvSpPr>
          <p:cNvPr id="3" name="Segnaposto contenuto 2">
            <a:extLst>
              <a:ext uri="{FF2B5EF4-FFF2-40B4-BE49-F238E27FC236}">
                <a16:creationId xmlns:a16="http://schemas.microsoft.com/office/drawing/2014/main" id="{EF351A63-587D-4726-72C1-9742CF462983}"/>
              </a:ext>
            </a:extLst>
          </p:cNvPr>
          <p:cNvSpPr>
            <a:spLocks noGrp="1"/>
          </p:cNvSpPr>
          <p:nvPr>
            <p:ph idx="1"/>
          </p:nvPr>
        </p:nvSpPr>
        <p:spPr/>
        <p:txBody>
          <a:bodyPr>
            <a:normAutofit/>
          </a:bodyPr>
          <a:lstStyle/>
          <a:p>
            <a:r>
              <a:rPr lang="en-GB" b="1" dirty="0"/>
              <a:t>Example</a:t>
            </a:r>
          </a:p>
          <a:p>
            <a:r>
              <a:rPr lang="en-GB" dirty="0"/>
              <a:t>Input:</a:t>
            </a:r>
          </a:p>
          <a:p>
            <a:pPr lvl="1"/>
            <a:r>
              <a:rPr lang="en-GB" dirty="0"/>
              <a:t>[N, 200, 32]</a:t>
            </a:r>
          </a:p>
          <a:p>
            <a:r>
              <a:rPr lang="en-GB" dirty="0"/>
              <a:t>After pooling by a factor of 2:</a:t>
            </a:r>
          </a:p>
          <a:p>
            <a:pPr lvl="1"/>
            <a:r>
              <a:rPr lang="en-GB" dirty="0"/>
              <a:t>[N, 100, 32]</a:t>
            </a:r>
          </a:p>
          <a:p>
            <a:r>
              <a:rPr lang="en-GB" dirty="0"/>
              <a:t>The number of feature channels does not change.</a:t>
            </a:r>
          </a:p>
          <a:p>
            <a:pPr marL="0" indent="0">
              <a:buNone/>
            </a:pPr>
            <a:endParaRPr lang="en-GB" b="1" dirty="0"/>
          </a:p>
        </p:txBody>
      </p:sp>
    </p:spTree>
    <p:extLst>
      <p:ext uri="{BB962C8B-B14F-4D97-AF65-F5344CB8AC3E}">
        <p14:creationId xmlns:p14="http://schemas.microsoft.com/office/powerpoint/2010/main" val="151078585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7"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28"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29"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Pooling reduces temporal length but not feature channels</a:t>
            </a:r>
            <a:endParaRPr lang="it-IT" sz="2200" b="0" u="none" strike="noStrike">
              <a:solidFill>
                <a:srgbClr val="000000"/>
              </a:solidFill>
              <a:effectLst/>
              <a:uFillTx/>
              <a:latin typeface="Arial"/>
            </a:endParaRPr>
          </a:p>
        </p:txBody>
      </p:sp>
      <p:sp>
        <p:nvSpPr>
          <p:cNvPr id="430"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dirty="0">
                <a:effectLst/>
                <a:highlight>
                  <a:srgbClr val="FFFF00"/>
                </a:highlight>
                <a:uFillTx/>
                <a:latin typeface="Aptos"/>
              </a:rPr>
              <a:t>Pooling is applied separately to each feature map.</a:t>
            </a:r>
            <a:endParaRPr lang="it-IT" sz="1400" b="1" u="none" strike="noStrike" dirty="0">
              <a:effectLst/>
              <a:highlight>
                <a:srgbClr val="FFFF00"/>
              </a:highlight>
              <a:uFillTx/>
              <a:latin typeface="Arial"/>
            </a:endParaRPr>
          </a:p>
        </p:txBody>
      </p:sp>
      <p:sp>
        <p:nvSpPr>
          <p:cNvPr id="431"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32"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dirty="0">
                <a:solidFill>
                  <a:srgbClr val="111827"/>
                </a:solidFill>
                <a:effectLst/>
                <a:uFillTx/>
                <a:latin typeface="Aptos"/>
              </a:rPr>
              <a:t>Pool size and stride often reduce L while keeping F unchanged.</a:t>
            </a:r>
            <a:endParaRPr lang="it-IT" sz="1000" b="0" u="none" strike="noStrike" dirty="0">
              <a:solidFill>
                <a:srgbClr val="000000"/>
              </a:solidFill>
              <a:effectLst/>
              <a:uFillTx/>
              <a:latin typeface="Arial"/>
            </a:endParaRPr>
          </a:p>
        </p:txBody>
      </p:sp>
      <p:sp>
        <p:nvSpPr>
          <p:cNvPr id="433" name="Shape 6"/>
          <p:cNvSpPr/>
          <p:nvPr/>
        </p:nvSpPr>
        <p:spPr>
          <a:xfrm>
            <a:off x="1188720" y="2286000"/>
            <a:ext cx="2285640" cy="822600"/>
          </a:xfrm>
          <a:prstGeom prst="roundRect">
            <a:avLst>
              <a:gd name="adj" fmla="val 555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34" name="Text 7"/>
          <p:cNvSpPr/>
          <p:nvPr/>
        </p:nvSpPr>
        <p:spPr>
          <a:xfrm>
            <a:off x="1216080" y="2597040"/>
            <a:ext cx="22309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Feature maps</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111827"/>
                </a:solidFill>
                <a:effectLst/>
                <a:uFillTx/>
                <a:latin typeface="Aptos"/>
              </a:rPr>
              <a:t>[N, 200, 32]</a:t>
            </a:r>
            <a:endParaRPr lang="it-IT" sz="1400" b="0" u="none" strike="noStrike">
              <a:solidFill>
                <a:srgbClr val="000000"/>
              </a:solidFill>
              <a:effectLst/>
              <a:uFillTx/>
              <a:latin typeface="Arial"/>
            </a:endParaRPr>
          </a:p>
        </p:txBody>
      </p:sp>
      <p:sp>
        <p:nvSpPr>
          <p:cNvPr id="435" name="Shape 8"/>
          <p:cNvSpPr/>
          <p:nvPr/>
        </p:nvSpPr>
        <p:spPr>
          <a:xfrm>
            <a:off x="3749040" y="2697480"/>
            <a:ext cx="1280160" cy="360"/>
          </a:xfrm>
          <a:prstGeom prst="line">
            <a:avLst/>
          </a:prstGeom>
          <a:ln w="1905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36" name="Shape 9"/>
          <p:cNvSpPr/>
          <p:nvPr/>
        </p:nvSpPr>
        <p:spPr>
          <a:xfrm>
            <a:off x="5303520" y="2148840"/>
            <a:ext cx="2011320" cy="1096920"/>
          </a:xfrm>
          <a:prstGeom prst="roundRect">
            <a:avLst>
              <a:gd name="adj" fmla="val 4167"/>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37" name="Text 10"/>
          <p:cNvSpPr/>
          <p:nvPr/>
        </p:nvSpPr>
        <p:spPr>
          <a:xfrm>
            <a:off x="5330880" y="2597040"/>
            <a:ext cx="19566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MaxPool</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size = 2</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stride = 2</a:t>
            </a:r>
            <a:endParaRPr lang="it-IT" sz="1300" b="0" u="none" strike="noStrike">
              <a:solidFill>
                <a:srgbClr val="000000"/>
              </a:solidFill>
              <a:effectLst/>
              <a:uFillTx/>
              <a:latin typeface="Arial"/>
            </a:endParaRPr>
          </a:p>
        </p:txBody>
      </p:sp>
      <p:sp>
        <p:nvSpPr>
          <p:cNvPr id="438" name="Shape 11"/>
          <p:cNvSpPr/>
          <p:nvPr/>
        </p:nvSpPr>
        <p:spPr>
          <a:xfrm>
            <a:off x="7589520" y="2697480"/>
            <a:ext cx="1280160" cy="360"/>
          </a:xfrm>
          <a:prstGeom prst="line">
            <a:avLst/>
          </a:prstGeom>
          <a:ln w="1905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39" name="Shape 12"/>
          <p:cNvSpPr/>
          <p:nvPr/>
        </p:nvSpPr>
        <p:spPr>
          <a:xfrm>
            <a:off x="8778240" y="2286000"/>
            <a:ext cx="2102760" cy="822600"/>
          </a:xfrm>
          <a:prstGeom prst="roundRect">
            <a:avLst>
              <a:gd name="adj" fmla="val 5556"/>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40" name="Text 13"/>
          <p:cNvSpPr/>
          <p:nvPr/>
        </p:nvSpPr>
        <p:spPr>
          <a:xfrm>
            <a:off x="8805600" y="2597040"/>
            <a:ext cx="20480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Pooled maps</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111827"/>
                </a:solidFill>
                <a:effectLst/>
                <a:uFillTx/>
                <a:latin typeface="Aptos"/>
              </a:rPr>
              <a:t>[N, 100, 32]</a:t>
            </a:r>
            <a:endParaRPr lang="it-IT" sz="1400" b="0" u="none" strike="noStrike">
              <a:solidFill>
                <a:srgbClr val="000000"/>
              </a:solidFill>
              <a:effectLst/>
              <a:uFillTx/>
              <a:latin typeface="Arial"/>
            </a:endParaRPr>
          </a:p>
        </p:txBody>
      </p:sp>
      <p:sp>
        <p:nvSpPr>
          <p:cNvPr id="441" name="Text 14"/>
          <p:cNvSpPr/>
          <p:nvPr/>
        </p:nvSpPr>
        <p:spPr>
          <a:xfrm>
            <a:off x="2468880" y="4297680"/>
            <a:ext cx="56689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Temporal length halves; number of feature maps stays 32.</a:t>
            </a:r>
            <a:endParaRPr lang="it-IT" sz="1400" b="0" u="none" strike="noStrike">
              <a:solidFill>
                <a:srgbClr val="000000"/>
              </a:solidFill>
              <a:effectLst/>
              <a:uFillTx/>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43A33-14CD-61A5-416D-40D7752DDBE7}"/>
              </a:ext>
            </a:extLst>
          </p:cNvPr>
          <p:cNvSpPr>
            <a:spLocks noGrp="1"/>
          </p:cNvSpPr>
          <p:nvPr>
            <p:ph type="title"/>
          </p:nvPr>
        </p:nvSpPr>
        <p:spPr/>
        <p:txBody>
          <a:bodyPr>
            <a:normAutofit fontScale="90000"/>
          </a:bodyPr>
          <a:lstStyle/>
          <a:p>
            <a:r>
              <a:rPr lang="en-GB" dirty="0" err="1">
                <a:highlight>
                  <a:srgbClr val="FFFF00"/>
                </a:highlight>
              </a:rPr>
              <a:t>Downsampling</a:t>
            </a:r>
            <a:r>
              <a:rPr lang="en-GB" dirty="0">
                <a:highlight>
                  <a:srgbClr val="FFFF00"/>
                </a:highlight>
              </a:rPr>
              <a:t> (through pooling) increases the temporal scale of later layers</a:t>
            </a:r>
          </a:p>
        </p:txBody>
      </p:sp>
      <p:sp>
        <p:nvSpPr>
          <p:cNvPr id="3" name="Segnaposto contenuto 2">
            <a:extLst>
              <a:ext uri="{FF2B5EF4-FFF2-40B4-BE49-F238E27FC236}">
                <a16:creationId xmlns:a16="http://schemas.microsoft.com/office/drawing/2014/main" id="{D1E94EF9-9BDA-2590-C56F-E0829A5B7B55}"/>
              </a:ext>
            </a:extLst>
          </p:cNvPr>
          <p:cNvSpPr>
            <a:spLocks noGrp="1"/>
          </p:cNvSpPr>
          <p:nvPr>
            <p:ph idx="1"/>
          </p:nvPr>
        </p:nvSpPr>
        <p:spPr/>
        <p:txBody>
          <a:bodyPr>
            <a:normAutofit/>
          </a:bodyPr>
          <a:lstStyle/>
          <a:p>
            <a:r>
              <a:rPr lang="en-GB" dirty="0"/>
              <a:t>Consider: input sampling: 100 Hz</a:t>
            </a:r>
          </a:p>
          <a:p>
            <a:r>
              <a:rPr lang="en-GB" b="1" dirty="0"/>
              <a:t>Before pooling</a:t>
            </a:r>
            <a:r>
              <a:rPr lang="en-GB" dirty="0"/>
              <a:t>, consecutive feature-map positions correspond approximately to: </a:t>
            </a:r>
            <a:r>
              <a:rPr lang="en-GB" b="1" dirty="0"/>
              <a:t>0.01 s</a:t>
            </a:r>
          </a:p>
          <a:p>
            <a:r>
              <a:rPr lang="en-GB" dirty="0"/>
              <a:t>Suppose pooling reduces length by a </a:t>
            </a:r>
            <a:r>
              <a:rPr lang="en-GB" b="1" dirty="0"/>
              <a:t>factor of 2.</a:t>
            </a:r>
          </a:p>
          <a:p>
            <a:r>
              <a:rPr lang="en-GB" b="1" dirty="0"/>
              <a:t>After pooling</a:t>
            </a:r>
            <a:r>
              <a:rPr lang="en-GB" dirty="0"/>
              <a:t>, consecutive positions correspond approximately to: </a:t>
            </a:r>
            <a:r>
              <a:rPr lang="en-GB" b="1" dirty="0"/>
              <a:t>0.02 s</a:t>
            </a:r>
          </a:p>
          <a:p>
            <a:r>
              <a:rPr lang="en-GB" dirty="0"/>
              <a:t>After another factor-of-2 pooling: 0.04 s</a:t>
            </a:r>
          </a:p>
          <a:p>
            <a:endParaRPr lang="en-GB" dirty="0"/>
          </a:p>
        </p:txBody>
      </p:sp>
    </p:spTree>
    <p:extLst>
      <p:ext uri="{BB962C8B-B14F-4D97-AF65-F5344CB8AC3E}">
        <p14:creationId xmlns:p14="http://schemas.microsoft.com/office/powerpoint/2010/main" val="273759100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83D53-6C05-518B-1B35-C54DAB78832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3F33A5B-CF9B-E96B-CFCE-3799A8290EAE}"/>
              </a:ext>
            </a:extLst>
          </p:cNvPr>
          <p:cNvSpPr>
            <a:spLocks noGrp="1"/>
          </p:cNvSpPr>
          <p:nvPr>
            <p:ph type="title"/>
          </p:nvPr>
        </p:nvSpPr>
        <p:spPr/>
        <p:txBody>
          <a:bodyPr/>
          <a:lstStyle/>
          <a:p>
            <a:r>
              <a:rPr lang="en-GB" dirty="0" err="1"/>
              <a:t>Downsampling</a:t>
            </a:r>
            <a:r>
              <a:rPr lang="en-GB" dirty="0"/>
              <a:t> increases the temporal scale of later layers</a:t>
            </a:r>
          </a:p>
        </p:txBody>
      </p:sp>
      <p:sp>
        <p:nvSpPr>
          <p:cNvPr id="3" name="Segnaposto contenuto 2">
            <a:extLst>
              <a:ext uri="{FF2B5EF4-FFF2-40B4-BE49-F238E27FC236}">
                <a16:creationId xmlns:a16="http://schemas.microsoft.com/office/drawing/2014/main" id="{5D69A0D2-9827-5F5F-0044-C653406AAADF}"/>
              </a:ext>
            </a:extLst>
          </p:cNvPr>
          <p:cNvSpPr>
            <a:spLocks noGrp="1"/>
          </p:cNvSpPr>
          <p:nvPr>
            <p:ph idx="1"/>
          </p:nvPr>
        </p:nvSpPr>
        <p:spPr/>
        <p:txBody>
          <a:bodyPr>
            <a:normAutofit fontScale="92500" lnSpcReduction="20000"/>
          </a:bodyPr>
          <a:lstStyle/>
          <a:p>
            <a:r>
              <a:rPr lang="en-GB" b="1" dirty="0"/>
              <a:t>Consequence</a:t>
            </a:r>
          </a:p>
          <a:p>
            <a:r>
              <a:rPr lang="en-GB" dirty="0"/>
              <a:t>Later layers operate on a coarser temporal representation.</a:t>
            </a:r>
          </a:p>
          <a:p>
            <a:r>
              <a:rPr lang="en-GB" dirty="0"/>
              <a:t>This allows a small kernel at a deeper layer to </a:t>
            </a:r>
            <a:r>
              <a:rPr lang="en-GB" b="1" dirty="0"/>
              <a:t>cover a larger physical interval </a:t>
            </a:r>
            <a:r>
              <a:rPr lang="en-GB" dirty="0"/>
              <a:t>of the original input.</a:t>
            </a:r>
          </a:p>
          <a:p>
            <a:r>
              <a:rPr lang="en-GB" b="1" dirty="0"/>
              <a:t>Example</a:t>
            </a:r>
          </a:p>
          <a:p>
            <a:r>
              <a:rPr lang="en-GB" dirty="0"/>
              <a:t>A kernel of size 3:</a:t>
            </a:r>
          </a:p>
          <a:p>
            <a:pPr lvl="0"/>
            <a:r>
              <a:rPr lang="en-GB" dirty="0"/>
              <a:t>before pooling → covers about 0.03 s; </a:t>
            </a:r>
          </a:p>
          <a:p>
            <a:pPr lvl="0"/>
            <a:r>
              <a:rPr lang="en-GB" b="1" dirty="0"/>
              <a:t>after ×4 </a:t>
            </a:r>
            <a:r>
              <a:rPr lang="en-GB" b="1" dirty="0" err="1"/>
              <a:t>downsampling</a:t>
            </a:r>
            <a:r>
              <a:rPr lang="en-GB" b="1" dirty="0"/>
              <a:t> → covers about 0.12 s of the original timeline (see next slide).</a:t>
            </a:r>
            <a:r>
              <a:rPr lang="en-GB" dirty="0"/>
              <a:t> </a:t>
            </a:r>
          </a:p>
          <a:p>
            <a:endParaRPr lang="en-GB" dirty="0"/>
          </a:p>
          <a:p>
            <a:r>
              <a:rPr lang="en-GB" b="1" dirty="0" err="1"/>
              <a:t>Downsampling</a:t>
            </a:r>
            <a:r>
              <a:rPr lang="en-GB" b="1" dirty="0"/>
              <a:t> changes the temporal scale at which later convolutional layers operate.</a:t>
            </a:r>
          </a:p>
          <a:p>
            <a:endParaRPr lang="en-GB" dirty="0"/>
          </a:p>
        </p:txBody>
      </p:sp>
    </p:spTree>
    <p:extLst>
      <p:ext uri="{BB962C8B-B14F-4D97-AF65-F5344CB8AC3E}">
        <p14:creationId xmlns:p14="http://schemas.microsoft.com/office/powerpoint/2010/main" val="3273551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43"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44"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Downsampling changes the temporal scale of later layers</a:t>
            </a:r>
            <a:endParaRPr lang="it-IT" sz="2200" b="0" u="none" strike="noStrike">
              <a:solidFill>
                <a:srgbClr val="000000"/>
              </a:solidFill>
              <a:effectLst/>
              <a:uFillTx/>
              <a:latin typeface="Arial"/>
            </a:endParaRPr>
          </a:p>
        </p:txBody>
      </p:sp>
      <p:sp>
        <p:nvSpPr>
          <p:cNvPr id="445"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GB" sz="1400" dirty="0"/>
              <a:t>After </a:t>
            </a:r>
            <a:r>
              <a:rPr lang="en-GB" sz="1400" dirty="0" err="1"/>
              <a:t>downsampling</a:t>
            </a:r>
            <a:r>
              <a:rPr lang="en-GB" sz="1400" dirty="0"/>
              <a:t>, feature-map positions are more widely spaced in time, and later kernels cover larger intervals of the original signal</a:t>
            </a:r>
            <a:endParaRPr lang="it-IT" sz="1400" b="1" u="none" strike="noStrike" dirty="0">
              <a:solidFill>
                <a:srgbClr val="000000"/>
              </a:solidFill>
              <a:effectLst/>
              <a:uFillTx/>
              <a:latin typeface="Arial"/>
            </a:endParaRPr>
          </a:p>
        </p:txBody>
      </p:sp>
      <p:sp>
        <p:nvSpPr>
          <p:cNvPr id="446"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47"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dirty="0">
                <a:solidFill>
                  <a:srgbClr val="111827"/>
                </a:solidFill>
                <a:effectLst/>
                <a:uFillTx/>
                <a:latin typeface="Aptos"/>
              </a:rPr>
              <a:t>Later kernels operate on a coarser temporal grid.</a:t>
            </a:r>
            <a:endParaRPr lang="it-IT" sz="1200" b="0" u="none" strike="noStrike" dirty="0">
              <a:solidFill>
                <a:srgbClr val="000000"/>
              </a:solidFill>
              <a:effectLst/>
              <a:uFillTx/>
              <a:latin typeface="Arial"/>
            </a:endParaRPr>
          </a:p>
        </p:txBody>
      </p:sp>
      <p:sp>
        <p:nvSpPr>
          <p:cNvPr id="448" name="Text 6"/>
          <p:cNvSpPr/>
          <p:nvPr/>
        </p:nvSpPr>
        <p:spPr>
          <a:xfrm>
            <a:off x="835800" y="1737720"/>
            <a:ext cx="22856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111827"/>
                </a:solidFill>
                <a:effectLst/>
                <a:uFillTx/>
                <a:latin typeface="Aptos"/>
              </a:rPr>
              <a:t>Input sampling: 100 Hz</a:t>
            </a:r>
            <a:endParaRPr lang="it-IT" sz="1400" b="0" u="none" strike="noStrike">
              <a:solidFill>
                <a:srgbClr val="000000"/>
              </a:solidFill>
              <a:effectLst/>
              <a:uFillTx/>
              <a:latin typeface="Arial"/>
            </a:endParaRPr>
          </a:p>
        </p:txBody>
      </p:sp>
      <p:sp>
        <p:nvSpPr>
          <p:cNvPr id="449" name="Shape 7"/>
          <p:cNvSpPr/>
          <p:nvPr/>
        </p:nvSpPr>
        <p:spPr>
          <a:xfrm>
            <a:off x="835800" y="2240640"/>
            <a:ext cx="2011320" cy="639720"/>
          </a:xfrm>
          <a:prstGeom prst="roundRect">
            <a:avLst>
              <a:gd name="adj" fmla="val 7143"/>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50" name="Text 8"/>
          <p:cNvSpPr/>
          <p:nvPr/>
        </p:nvSpPr>
        <p:spPr>
          <a:xfrm>
            <a:off x="863160" y="2460240"/>
            <a:ext cx="19566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111827"/>
                </a:solidFill>
                <a:effectLst/>
                <a:uFillTx/>
                <a:latin typeface="Aptos"/>
              </a:rPr>
              <a:t>original grid</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11827"/>
                </a:solidFill>
                <a:effectLst/>
                <a:uFillTx/>
                <a:latin typeface="Aptos"/>
              </a:rPr>
              <a:t>0.01 s per step</a:t>
            </a:r>
            <a:endParaRPr lang="it-IT" sz="1200" b="0" u="none" strike="noStrike">
              <a:solidFill>
                <a:srgbClr val="000000"/>
              </a:solidFill>
              <a:effectLst/>
              <a:uFillTx/>
              <a:latin typeface="Arial"/>
            </a:endParaRPr>
          </a:p>
        </p:txBody>
      </p:sp>
      <p:sp>
        <p:nvSpPr>
          <p:cNvPr id="451" name="Shape 9"/>
          <p:cNvSpPr/>
          <p:nvPr/>
        </p:nvSpPr>
        <p:spPr>
          <a:xfrm>
            <a:off x="3121800" y="2560680"/>
            <a:ext cx="1005840" cy="36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52" name="Shape 10"/>
          <p:cNvSpPr/>
          <p:nvPr/>
        </p:nvSpPr>
        <p:spPr>
          <a:xfrm>
            <a:off x="4310520" y="2240640"/>
            <a:ext cx="2011320" cy="639720"/>
          </a:xfrm>
          <a:prstGeom prst="roundRect">
            <a:avLst>
              <a:gd name="adj" fmla="val 7143"/>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53" name="Text 11"/>
          <p:cNvSpPr/>
          <p:nvPr/>
        </p:nvSpPr>
        <p:spPr>
          <a:xfrm>
            <a:off x="4337880" y="2460240"/>
            <a:ext cx="19566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111827"/>
                </a:solidFill>
                <a:effectLst/>
                <a:uFillTx/>
                <a:latin typeface="Aptos"/>
              </a:rPr>
              <a:t>pool ×2</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11827"/>
                </a:solidFill>
                <a:effectLst/>
                <a:uFillTx/>
                <a:latin typeface="Aptos"/>
              </a:rPr>
              <a:t>0.02 s per step</a:t>
            </a:r>
            <a:endParaRPr lang="it-IT" sz="1200" b="0" u="none" strike="noStrike">
              <a:solidFill>
                <a:srgbClr val="000000"/>
              </a:solidFill>
              <a:effectLst/>
              <a:uFillTx/>
              <a:latin typeface="Arial"/>
            </a:endParaRPr>
          </a:p>
        </p:txBody>
      </p:sp>
      <p:sp>
        <p:nvSpPr>
          <p:cNvPr id="454" name="Shape 12"/>
          <p:cNvSpPr/>
          <p:nvPr/>
        </p:nvSpPr>
        <p:spPr>
          <a:xfrm>
            <a:off x="6505080" y="2560680"/>
            <a:ext cx="1005840" cy="36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55" name="Shape 13"/>
          <p:cNvSpPr/>
          <p:nvPr/>
        </p:nvSpPr>
        <p:spPr>
          <a:xfrm>
            <a:off x="7693800" y="2240640"/>
            <a:ext cx="2194200" cy="639720"/>
          </a:xfrm>
          <a:prstGeom prst="roundRect">
            <a:avLst>
              <a:gd name="adj" fmla="val 7143"/>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56" name="Text 14"/>
          <p:cNvSpPr/>
          <p:nvPr/>
        </p:nvSpPr>
        <p:spPr>
          <a:xfrm>
            <a:off x="7721160" y="246024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111827"/>
                </a:solidFill>
                <a:effectLst/>
                <a:uFillTx/>
                <a:latin typeface="Aptos"/>
              </a:rPr>
              <a:t>pool ×2 again</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11827"/>
                </a:solidFill>
                <a:effectLst/>
                <a:uFillTx/>
                <a:latin typeface="Aptos"/>
              </a:rPr>
              <a:t>0.04 s per step</a:t>
            </a:r>
            <a:endParaRPr lang="it-IT" sz="1200" b="0" u="none" strike="noStrike">
              <a:solidFill>
                <a:srgbClr val="000000"/>
              </a:solidFill>
              <a:effectLst/>
              <a:uFillTx/>
              <a:latin typeface="Arial"/>
            </a:endParaRPr>
          </a:p>
        </p:txBody>
      </p:sp>
      <p:sp>
        <p:nvSpPr>
          <p:cNvPr id="457" name="Text 15"/>
          <p:cNvSpPr/>
          <p:nvPr/>
        </p:nvSpPr>
        <p:spPr>
          <a:xfrm>
            <a:off x="1190040" y="5181120"/>
            <a:ext cx="74977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rPr lang="en-GB" sz="1400" b="1" dirty="0">
                <a:highlight>
                  <a:srgbClr val="FFFF00"/>
                </a:highlight>
              </a:rPr>
              <a:t>A kernel of size 3 after ×4 </a:t>
            </a:r>
            <a:r>
              <a:rPr lang="en-GB" sz="1400" b="1" dirty="0" err="1">
                <a:highlight>
                  <a:srgbClr val="FFFF00"/>
                </a:highlight>
              </a:rPr>
              <a:t>downsampling</a:t>
            </a:r>
            <a:r>
              <a:rPr lang="en-GB" sz="1400" b="1" dirty="0">
                <a:highlight>
                  <a:srgbClr val="FFFF00"/>
                </a:highlight>
              </a:rPr>
              <a:t> spans 0.08 s between its first and last coarse-grid positions, but its receptive field covers 12 original samples (about 0.12 s), because each coarse-grid position summarizes 4 original samples.</a:t>
            </a:r>
            <a:endParaRPr lang="en-GB" sz="1400" dirty="0">
              <a:highlight>
                <a:srgbClr val="FFFF00"/>
              </a:highlight>
            </a:endParaRPr>
          </a:p>
          <a:p>
            <a:pPr lvl="0"/>
            <a:endParaRPr lang="en-GB" sz="1400">
              <a:highlight>
                <a:srgbClr val="FFFF00"/>
              </a:highlight>
            </a:endParaRPr>
          </a:p>
          <a:p>
            <a:pPr lvl="0"/>
            <a:r>
              <a:rPr lang="en-GB" sz="1400">
                <a:highlight>
                  <a:srgbClr val="FFFF00"/>
                </a:highlight>
              </a:rPr>
              <a:t>position </a:t>
            </a:r>
            <a:r>
              <a:rPr lang="en-GB" sz="1400" dirty="0">
                <a:highlight>
                  <a:srgbClr val="FFFF00"/>
                </a:highlight>
              </a:rPr>
              <a:t>1 → original samples 1–4 </a:t>
            </a:r>
          </a:p>
          <a:p>
            <a:pPr lvl="0"/>
            <a:r>
              <a:rPr lang="en-GB" sz="1400" dirty="0">
                <a:highlight>
                  <a:srgbClr val="FFFF00"/>
                </a:highlight>
              </a:rPr>
              <a:t>position 2 → original samples 5–8 </a:t>
            </a:r>
          </a:p>
          <a:p>
            <a:pPr lvl="0"/>
            <a:r>
              <a:rPr lang="en-GB" sz="1400" dirty="0">
                <a:highlight>
                  <a:srgbClr val="FFFF00"/>
                </a:highlight>
              </a:rPr>
              <a:t>position 3 → original samples 9–12</a:t>
            </a:r>
          </a:p>
        </p:txBody>
      </p:sp>
      <p:grpSp>
        <p:nvGrpSpPr>
          <p:cNvPr id="3" name="Gruppo 2">
            <a:extLst>
              <a:ext uri="{FF2B5EF4-FFF2-40B4-BE49-F238E27FC236}">
                <a16:creationId xmlns:a16="http://schemas.microsoft.com/office/drawing/2014/main" id="{3435FF8F-D6EA-AE6B-9E18-5C1C8E1B1864}"/>
              </a:ext>
            </a:extLst>
          </p:cNvPr>
          <p:cNvGrpSpPr/>
          <p:nvPr/>
        </p:nvGrpSpPr>
        <p:grpSpPr>
          <a:xfrm>
            <a:off x="1016340" y="3909960"/>
            <a:ext cx="6588360" cy="100080"/>
            <a:chOff x="1001160" y="4750200"/>
            <a:chExt cx="6588360" cy="100080"/>
          </a:xfrm>
        </p:grpSpPr>
        <p:sp>
          <p:nvSpPr>
            <p:cNvPr id="458" name="Shape 16"/>
            <p:cNvSpPr/>
            <p:nvPr/>
          </p:nvSpPr>
          <p:spPr>
            <a:xfrm>
              <a:off x="1005840" y="4800600"/>
              <a:ext cx="6583680" cy="360"/>
            </a:xfrm>
            <a:prstGeom prst="line">
              <a:avLst/>
            </a:prstGeom>
            <a:ln w="127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59" name="Shape 17"/>
            <p:cNvSpPr/>
            <p:nvPr/>
          </p:nvSpPr>
          <p:spPr>
            <a:xfrm>
              <a:off x="1001160" y="4750200"/>
              <a:ext cx="100080" cy="100080"/>
            </a:xfrm>
            <a:prstGeom prst="ellipse">
              <a:avLst/>
            </a:prstGeom>
            <a:solidFill>
              <a:srgbClr val="F2A900"/>
            </a:solidFill>
            <a:ln w="12700">
              <a:solidFill>
                <a:srgbClr val="F2A900"/>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it-IT" sz="1800" b="0" u="none" strike="noStrike">
                <a:solidFill>
                  <a:srgbClr val="000000"/>
                </a:solidFill>
                <a:effectLst/>
                <a:uFillTx/>
                <a:latin typeface="Arial"/>
              </a:endParaRPr>
            </a:p>
          </p:txBody>
        </p:sp>
        <p:sp>
          <p:nvSpPr>
            <p:cNvPr id="460" name="Shape 18"/>
            <p:cNvSpPr/>
            <p:nvPr/>
          </p:nvSpPr>
          <p:spPr>
            <a:xfrm>
              <a:off x="127548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61" name="Shape 19"/>
            <p:cNvSpPr/>
            <p:nvPr/>
          </p:nvSpPr>
          <p:spPr>
            <a:xfrm>
              <a:off x="153180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62" name="Shape 20"/>
            <p:cNvSpPr/>
            <p:nvPr/>
          </p:nvSpPr>
          <p:spPr>
            <a:xfrm>
              <a:off x="178776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63" name="Shape 21"/>
            <p:cNvSpPr/>
            <p:nvPr/>
          </p:nvSpPr>
          <p:spPr>
            <a:xfrm>
              <a:off x="2025360" y="4750200"/>
              <a:ext cx="100080" cy="100080"/>
            </a:xfrm>
            <a:prstGeom prst="ellipse">
              <a:avLst/>
            </a:prstGeom>
            <a:solidFill>
              <a:srgbClr val="F2A900"/>
            </a:solidFill>
            <a:ln w="12700">
              <a:solidFill>
                <a:srgbClr val="F2A900"/>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it-IT" sz="1800" b="0" u="none" strike="noStrike">
                <a:solidFill>
                  <a:srgbClr val="000000"/>
                </a:solidFill>
                <a:effectLst/>
                <a:uFillTx/>
                <a:latin typeface="Arial"/>
              </a:endParaRPr>
            </a:p>
          </p:txBody>
        </p:sp>
        <p:sp>
          <p:nvSpPr>
            <p:cNvPr id="464" name="Shape 22"/>
            <p:cNvSpPr/>
            <p:nvPr/>
          </p:nvSpPr>
          <p:spPr>
            <a:xfrm>
              <a:off x="229968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65" name="Shape 23"/>
            <p:cNvSpPr/>
            <p:nvPr/>
          </p:nvSpPr>
          <p:spPr>
            <a:xfrm>
              <a:off x="255564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66" name="Shape 24"/>
            <p:cNvSpPr/>
            <p:nvPr/>
          </p:nvSpPr>
          <p:spPr>
            <a:xfrm>
              <a:off x="281196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67" name="Shape 25"/>
            <p:cNvSpPr/>
            <p:nvPr/>
          </p:nvSpPr>
          <p:spPr>
            <a:xfrm>
              <a:off x="3049560" y="4750200"/>
              <a:ext cx="100080" cy="100080"/>
            </a:xfrm>
            <a:prstGeom prst="ellipse">
              <a:avLst/>
            </a:prstGeom>
            <a:solidFill>
              <a:srgbClr val="F2A900"/>
            </a:solidFill>
            <a:ln w="12700">
              <a:solidFill>
                <a:srgbClr val="F2A900"/>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it-IT" sz="1800" b="0" u="none" strike="noStrike">
                <a:solidFill>
                  <a:srgbClr val="000000"/>
                </a:solidFill>
                <a:effectLst/>
                <a:uFillTx/>
                <a:latin typeface="Arial"/>
              </a:endParaRPr>
            </a:p>
          </p:txBody>
        </p:sp>
        <p:sp>
          <p:nvSpPr>
            <p:cNvPr id="468" name="Shape 26"/>
            <p:cNvSpPr/>
            <p:nvPr/>
          </p:nvSpPr>
          <p:spPr>
            <a:xfrm>
              <a:off x="332388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69" name="Shape 27"/>
            <p:cNvSpPr/>
            <p:nvPr/>
          </p:nvSpPr>
          <p:spPr>
            <a:xfrm>
              <a:off x="357984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70" name="Shape 28"/>
            <p:cNvSpPr/>
            <p:nvPr/>
          </p:nvSpPr>
          <p:spPr>
            <a:xfrm>
              <a:off x="383580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71" name="Shape 29"/>
            <p:cNvSpPr/>
            <p:nvPr/>
          </p:nvSpPr>
          <p:spPr>
            <a:xfrm>
              <a:off x="4073760" y="4750200"/>
              <a:ext cx="100080" cy="100080"/>
            </a:xfrm>
            <a:prstGeom prst="ellipse">
              <a:avLst/>
            </a:prstGeom>
            <a:solidFill>
              <a:srgbClr val="F2A900"/>
            </a:solidFill>
            <a:ln w="12700">
              <a:solidFill>
                <a:srgbClr val="F2A900"/>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it-IT" sz="1800" b="0" u="none" strike="noStrike">
                <a:solidFill>
                  <a:srgbClr val="000000"/>
                </a:solidFill>
                <a:effectLst/>
                <a:uFillTx/>
                <a:latin typeface="Arial"/>
              </a:endParaRPr>
            </a:p>
          </p:txBody>
        </p:sp>
        <p:sp>
          <p:nvSpPr>
            <p:cNvPr id="472" name="Shape 30"/>
            <p:cNvSpPr/>
            <p:nvPr/>
          </p:nvSpPr>
          <p:spPr>
            <a:xfrm>
              <a:off x="434808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73" name="Shape 31"/>
            <p:cNvSpPr/>
            <p:nvPr/>
          </p:nvSpPr>
          <p:spPr>
            <a:xfrm>
              <a:off x="460404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74" name="Shape 32"/>
            <p:cNvSpPr/>
            <p:nvPr/>
          </p:nvSpPr>
          <p:spPr>
            <a:xfrm>
              <a:off x="486000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75" name="Shape 33"/>
            <p:cNvSpPr/>
            <p:nvPr/>
          </p:nvSpPr>
          <p:spPr>
            <a:xfrm>
              <a:off x="5097960" y="4750200"/>
              <a:ext cx="100080" cy="100080"/>
            </a:xfrm>
            <a:prstGeom prst="ellipse">
              <a:avLst/>
            </a:prstGeom>
            <a:solidFill>
              <a:srgbClr val="F2A900"/>
            </a:solidFill>
            <a:ln w="12700">
              <a:solidFill>
                <a:srgbClr val="F2A900"/>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it-IT" sz="1800" b="0" u="none" strike="noStrike">
                <a:solidFill>
                  <a:srgbClr val="000000"/>
                </a:solidFill>
                <a:effectLst/>
                <a:uFillTx/>
                <a:latin typeface="Arial"/>
              </a:endParaRPr>
            </a:p>
          </p:txBody>
        </p:sp>
        <p:sp>
          <p:nvSpPr>
            <p:cNvPr id="476" name="Shape 34"/>
            <p:cNvSpPr/>
            <p:nvPr/>
          </p:nvSpPr>
          <p:spPr>
            <a:xfrm>
              <a:off x="537228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77" name="Shape 35"/>
            <p:cNvSpPr/>
            <p:nvPr/>
          </p:nvSpPr>
          <p:spPr>
            <a:xfrm>
              <a:off x="562824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78" name="Shape 36"/>
            <p:cNvSpPr/>
            <p:nvPr/>
          </p:nvSpPr>
          <p:spPr>
            <a:xfrm>
              <a:off x="588420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79" name="Shape 37"/>
            <p:cNvSpPr/>
            <p:nvPr/>
          </p:nvSpPr>
          <p:spPr>
            <a:xfrm>
              <a:off x="6121800" y="4750200"/>
              <a:ext cx="100080" cy="100080"/>
            </a:xfrm>
            <a:prstGeom prst="ellipse">
              <a:avLst/>
            </a:prstGeom>
            <a:solidFill>
              <a:srgbClr val="F2A900"/>
            </a:solidFill>
            <a:ln w="12700">
              <a:solidFill>
                <a:srgbClr val="F2A900"/>
              </a:solidFill>
              <a:round/>
            </a:ln>
          </p:spPr>
          <p:style>
            <a:lnRef idx="0">
              <a:scrgbClr r="0" g="0" b="0"/>
            </a:lnRef>
            <a:fillRef idx="0">
              <a:scrgbClr r="0" g="0" b="0"/>
            </a:fillRef>
            <a:effectRef idx="0">
              <a:scrgbClr r="0" g="0" b="0"/>
            </a:effectRef>
            <a:fontRef idx="minor"/>
          </p:style>
          <p:txBody>
            <a:bodyPr lIns="90000" tIns="26280" rIns="90000" bIns="26280" anchor="t">
              <a:noAutofit/>
            </a:bodyPr>
            <a:lstStyle/>
            <a:p>
              <a:endParaRPr lang="it-IT" sz="1800" b="0" u="none" strike="noStrike">
                <a:solidFill>
                  <a:srgbClr val="000000"/>
                </a:solidFill>
                <a:effectLst/>
                <a:uFillTx/>
                <a:latin typeface="Arial"/>
              </a:endParaRPr>
            </a:p>
          </p:txBody>
        </p:sp>
        <p:sp>
          <p:nvSpPr>
            <p:cNvPr id="480" name="Shape 38"/>
            <p:cNvSpPr/>
            <p:nvPr/>
          </p:nvSpPr>
          <p:spPr>
            <a:xfrm>
              <a:off x="639612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81" name="Shape 39"/>
            <p:cNvSpPr/>
            <p:nvPr/>
          </p:nvSpPr>
          <p:spPr>
            <a:xfrm>
              <a:off x="665244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sp>
          <p:nvSpPr>
            <p:cNvPr id="482" name="Shape 40"/>
            <p:cNvSpPr/>
            <p:nvPr/>
          </p:nvSpPr>
          <p:spPr>
            <a:xfrm>
              <a:off x="6908400" y="4768560"/>
              <a:ext cx="63720" cy="63720"/>
            </a:xfrm>
            <a:prstGeom prst="ellipse">
              <a:avLst/>
            </a:prstGeom>
            <a:solidFill>
              <a:srgbClr val="2F66D0"/>
            </a:solidFill>
            <a:ln w="12700">
              <a:solidFill>
                <a:srgbClr val="2F66D0"/>
              </a:solidFill>
              <a:round/>
            </a:ln>
          </p:spPr>
          <p:style>
            <a:lnRef idx="0">
              <a:scrgbClr r="0" g="0" b="0"/>
            </a:lnRef>
            <a:fillRef idx="0">
              <a:scrgbClr r="0" g="0" b="0"/>
            </a:fillRef>
            <a:effectRef idx="0">
              <a:scrgbClr r="0" g="0" b="0"/>
            </a:effectRef>
            <a:fontRef idx="minor"/>
          </p:style>
          <p:txBody>
            <a:bodyPr lIns="90000" tIns="0" rIns="90000" bIns="0" anchor="t">
              <a:noAutofit/>
            </a:bodyPr>
            <a:lstStyle/>
            <a:p>
              <a:endParaRPr lang="it-IT" sz="1800" b="0" u="none" strike="noStrike">
                <a:solidFill>
                  <a:srgbClr val="FFFFFF"/>
                </a:solidFill>
                <a:effectLst/>
                <a:uFillTx/>
                <a:latin typeface="Arial"/>
              </a:endParaRPr>
            </a:p>
          </p:txBody>
        </p:sp>
      </p:grpSp>
      <p:sp>
        <p:nvSpPr>
          <p:cNvPr id="2" name="CasellaDiTesto 1">
            <a:extLst>
              <a:ext uri="{FF2B5EF4-FFF2-40B4-BE49-F238E27FC236}">
                <a16:creationId xmlns:a16="http://schemas.microsoft.com/office/drawing/2014/main" id="{CD82F328-5AA6-32C5-A8F6-B9A0F6D7A5D9}"/>
              </a:ext>
            </a:extLst>
          </p:cNvPr>
          <p:cNvSpPr txBox="1"/>
          <p:nvPr/>
        </p:nvSpPr>
        <p:spPr>
          <a:xfrm>
            <a:off x="6096000" y="5533530"/>
            <a:ext cx="2044380" cy="523220"/>
          </a:xfrm>
          <a:prstGeom prst="rect">
            <a:avLst/>
          </a:prstGeom>
          <a:noFill/>
        </p:spPr>
        <p:txBody>
          <a:bodyPr wrap="square" rtlCol="0">
            <a:spAutoFit/>
          </a:bodyPr>
          <a:lstStyle/>
          <a:p>
            <a:r>
              <a:rPr lang="it-IT" sz="1400" b="1" dirty="0"/>
              <a:t>- 0.08 kernel </a:t>
            </a:r>
            <a:r>
              <a:rPr lang="it-IT" sz="1400" b="1" dirty="0" err="1"/>
              <a:t>span</a:t>
            </a:r>
            <a:endParaRPr lang="it-IT" sz="1400" b="1" dirty="0"/>
          </a:p>
          <a:p>
            <a:r>
              <a:rPr lang="it-IT" sz="1400" b="1" dirty="0"/>
              <a:t>- 0.12 </a:t>
            </a:r>
            <a:r>
              <a:rPr lang="it-IT" sz="1400" b="1" dirty="0" err="1"/>
              <a:t>receptive</a:t>
            </a:r>
            <a:r>
              <a:rPr lang="it-IT" sz="1400" b="1" dirty="0"/>
              <a:t> field</a:t>
            </a:r>
            <a:endParaRPr lang="en-GB" sz="1400" b="1"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2096C06-3D3C-FA9B-16D7-D96BCB2CDB51}"/>
              </a:ext>
            </a:extLst>
          </p:cNvPr>
          <p:cNvSpPr>
            <a:spLocks noGrp="1"/>
          </p:cNvSpPr>
          <p:nvPr>
            <p:ph type="title"/>
          </p:nvPr>
        </p:nvSpPr>
        <p:spPr/>
        <p:txBody>
          <a:bodyPr/>
          <a:lstStyle/>
          <a:p>
            <a:r>
              <a:rPr lang="en-GB" dirty="0"/>
              <a:t>Pooling provides some (limited) shift tolerance</a:t>
            </a:r>
          </a:p>
        </p:txBody>
      </p:sp>
      <p:sp>
        <p:nvSpPr>
          <p:cNvPr id="3" name="Segnaposto contenuto 2">
            <a:extLst>
              <a:ext uri="{FF2B5EF4-FFF2-40B4-BE49-F238E27FC236}">
                <a16:creationId xmlns:a16="http://schemas.microsoft.com/office/drawing/2014/main" id="{1AA5CA59-4254-0039-10C2-AE674DBD28F3}"/>
              </a:ext>
            </a:extLst>
          </p:cNvPr>
          <p:cNvSpPr>
            <a:spLocks noGrp="1"/>
          </p:cNvSpPr>
          <p:nvPr>
            <p:ph idx="1"/>
          </p:nvPr>
        </p:nvSpPr>
        <p:spPr/>
        <p:txBody>
          <a:bodyPr>
            <a:normAutofit/>
          </a:bodyPr>
          <a:lstStyle/>
          <a:p>
            <a:r>
              <a:rPr lang="en-GB" dirty="0"/>
              <a:t>Suppose a filter strongly activates when it detects a peak.</a:t>
            </a:r>
          </a:p>
          <a:p>
            <a:r>
              <a:rPr lang="en-GB" dirty="0"/>
              <a:t>Two otherwise similar sequences contain the peak at slightly different positions.</a:t>
            </a:r>
          </a:p>
          <a:p>
            <a:pPr lvl="1"/>
            <a:r>
              <a:rPr lang="en-GB" dirty="0"/>
              <a:t>Without pooling:</a:t>
            </a:r>
          </a:p>
          <a:p>
            <a:pPr lvl="1"/>
            <a:r>
              <a:rPr lang="en-GB" dirty="0"/>
              <a:t>Sequence A activation: 0 0 5 0 0</a:t>
            </a:r>
          </a:p>
          <a:p>
            <a:pPr lvl="1"/>
            <a:r>
              <a:rPr lang="en-GB" dirty="0"/>
              <a:t>Sequence B activation: 0 0 0 5 0</a:t>
            </a:r>
          </a:p>
          <a:p>
            <a:pPr lvl="1"/>
            <a:r>
              <a:rPr lang="en-GB" dirty="0"/>
              <a:t>The feature maps differ in exact position.</a:t>
            </a:r>
          </a:p>
          <a:p>
            <a:r>
              <a:rPr lang="en-GB" b="1" dirty="0"/>
              <a:t>After suitable max pooling, both may produce similar pooled representations</a:t>
            </a:r>
            <a:r>
              <a:rPr lang="en-GB" dirty="0"/>
              <a:t>.</a:t>
            </a:r>
          </a:p>
          <a:p>
            <a:endParaRPr lang="en-GB" dirty="0"/>
          </a:p>
        </p:txBody>
      </p:sp>
    </p:spTree>
    <p:extLst>
      <p:ext uri="{BB962C8B-B14F-4D97-AF65-F5344CB8AC3E}">
        <p14:creationId xmlns:p14="http://schemas.microsoft.com/office/powerpoint/2010/main" val="40336422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FF1F4-9B2F-112B-3AE8-E570E564909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2AA25B4-45AC-4299-1A48-069091FA6E94}"/>
              </a:ext>
            </a:extLst>
          </p:cNvPr>
          <p:cNvSpPr>
            <a:spLocks noGrp="1"/>
          </p:cNvSpPr>
          <p:nvPr>
            <p:ph type="title"/>
          </p:nvPr>
        </p:nvSpPr>
        <p:spPr/>
        <p:txBody>
          <a:bodyPr/>
          <a:lstStyle/>
          <a:p>
            <a:r>
              <a:rPr lang="en-GB" dirty="0"/>
              <a:t>Pooling provides limited shift tolerance</a:t>
            </a:r>
          </a:p>
        </p:txBody>
      </p:sp>
      <p:sp>
        <p:nvSpPr>
          <p:cNvPr id="3" name="Segnaposto contenuto 2">
            <a:extLst>
              <a:ext uri="{FF2B5EF4-FFF2-40B4-BE49-F238E27FC236}">
                <a16:creationId xmlns:a16="http://schemas.microsoft.com/office/drawing/2014/main" id="{1B4C0C7C-1BD3-6461-FB0A-3EC9B63E0E9C}"/>
              </a:ext>
            </a:extLst>
          </p:cNvPr>
          <p:cNvSpPr>
            <a:spLocks noGrp="1"/>
          </p:cNvSpPr>
          <p:nvPr>
            <p:ph idx="1"/>
          </p:nvPr>
        </p:nvSpPr>
        <p:spPr/>
        <p:txBody>
          <a:bodyPr>
            <a:normAutofit/>
          </a:bodyPr>
          <a:lstStyle/>
          <a:p>
            <a:r>
              <a:rPr lang="en-GB" b="1" dirty="0"/>
              <a:t>Benefit</a:t>
            </a:r>
          </a:p>
          <a:p>
            <a:r>
              <a:rPr lang="en-GB" dirty="0"/>
              <a:t>This provides some tolerance to:</a:t>
            </a:r>
          </a:p>
          <a:p>
            <a:pPr lvl="1"/>
            <a:r>
              <a:rPr lang="en-GB" dirty="0"/>
              <a:t>small timing variation; </a:t>
            </a:r>
          </a:p>
          <a:p>
            <a:pPr lvl="1"/>
            <a:r>
              <a:rPr lang="en-GB" dirty="0"/>
              <a:t>slight misalignment; </a:t>
            </a:r>
          </a:p>
          <a:p>
            <a:pPr lvl="1"/>
            <a:r>
              <a:rPr lang="en-GB" dirty="0"/>
              <a:t>local temporal shifts. </a:t>
            </a:r>
          </a:p>
          <a:p>
            <a:endParaRPr lang="en-GB" b="1" dirty="0"/>
          </a:p>
          <a:p>
            <a:r>
              <a:rPr lang="en-GB" b="1" dirty="0"/>
              <a:t>Important distinction from DTW</a:t>
            </a:r>
          </a:p>
          <a:p>
            <a:pPr lvl="1"/>
            <a:r>
              <a:rPr lang="en-GB" dirty="0"/>
              <a:t>Pooling provides only </a:t>
            </a:r>
            <a:r>
              <a:rPr lang="en-GB" b="1" dirty="0"/>
              <a:t>local tolerance</a:t>
            </a:r>
            <a:r>
              <a:rPr lang="en-GB" dirty="0"/>
              <a:t> to shifts.</a:t>
            </a:r>
          </a:p>
          <a:p>
            <a:pPr lvl="1"/>
            <a:r>
              <a:rPr lang="en-GB" dirty="0"/>
              <a:t>It does not perform explicit nonlinear temporal alignment like Dynamic Time Warping.</a:t>
            </a:r>
          </a:p>
          <a:p>
            <a:endParaRPr lang="en-GB" dirty="0"/>
          </a:p>
        </p:txBody>
      </p:sp>
    </p:spTree>
    <p:extLst>
      <p:ext uri="{BB962C8B-B14F-4D97-AF65-F5344CB8AC3E}">
        <p14:creationId xmlns:p14="http://schemas.microsoft.com/office/powerpoint/2010/main" val="244140878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3"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84"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85"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Pooling provides limited shift tolerance</a:t>
            </a:r>
            <a:endParaRPr lang="it-IT" sz="2200" b="0" u="none" strike="noStrike">
              <a:solidFill>
                <a:srgbClr val="000000"/>
              </a:solidFill>
              <a:effectLst/>
              <a:uFillTx/>
              <a:latin typeface="Arial"/>
            </a:endParaRPr>
          </a:p>
        </p:txBody>
      </p:sp>
      <p:sp>
        <p:nvSpPr>
          <p:cNvPr id="486"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dirty="0">
                <a:solidFill>
                  <a:srgbClr val="506070"/>
                </a:solidFill>
                <a:effectLst/>
                <a:uFillTx/>
                <a:latin typeface="Aptos"/>
              </a:rPr>
              <a:t>Small temporal shifts may produce similar pooled representations.</a:t>
            </a:r>
            <a:endParaRPr lang="it-IT" sz="1050" b="0" u="none" strike="noStrike" dirty="0">
              <a:solidFill>
                <a:srgbClr val="000000"/>
              </a:solidFill>
              <a:effectLst/>
              <a:uFillTx/>
              <a:latin typeface="Arial"/>
            </a:endParaRPr>
          </a:p>
        </p:txBody>
      </p:sp>
      <p:sp>
        <p:nvSpPr>
          <p:cNvPr id="487"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88"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dirty="0">
                <a:solidFill>
                  <a:srgbClr val="111827"/>
                </a:solidFill>
                <a:effectLst/>
                <a:uFillTx/>
                <a:latin typeface="Aptos"/>
              </a:rPr>
              <a:t>Pooling is not DTW; it only provides </a:t>
            </a:r>
            <a:r>
              <a:rPr lang="en-US" sz="1000" b="1" u="none" strike="noStrike" dirty="0">
                <a:solidFill>
                  <a:srgbClr val="111827"/>
                </a:solidFill>
                <a:effectLst/>
                <a:uFillTx/>
                <a:latin typeface="Aptos"/>
              </a:rPr>
              <a:t>local tolerance </a:t>
            </a:r>
            <a:r>
              <a:rPr lang="en-US" sz="1000" b="0" u="none" strike="noStrike" dirty="0">
                <a:solidFill>
                  <a:srgbClr val="111827"/>
                </a:solidFill>
                <a:effectLst/>
                <a:uFillTx/>
                <a:latin typeface="Aptos"/>
              </a:rPr>
              <a:t>to timing changes.</a:t>
            </a:r>
            <a:endParaRPr lang="it-IT" sz="1000" b="0" u="none" strike="noStrike" dirty="0">
              <a:solidFill>
                <a:srgbClr val="000000"/>
              </a:solidFill>
              <a:effectLst/>
              <a:uFillTx/>
              <a:latin typeface="Arial"/>
            </a:endParaRPr>
          </a:p>
        </p:txBody>
      </p:sp>
      <p:sp>
        <p:nvSpPr>
          <p:cNvPr id="489" name="Text 6"/>
          <p:cNvSpPr/>
          <p:nvPr/>
        </p:nvSpPr>
        <p:spPr>
          <a:xfrm>
            <a:off x="914400" y="1234440"/>
            <a:ext cx="292572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11827"/>
                </a:solidFill>
                <a:effectLst/>
                <a:uFillTx/>
                <a:latin typeface="Aptos"/>
              </a:rPr>
              <a:t>Activation maps before pooling</a:t>
            </a:r>
            <a:endParaRPr lang="it-IT" sz="1300" b="0" u="none" strike="noStrike">
              <a:solidFill>
                <a:srgbClr val="000000"/>
              </a:solidFill>
              <a:effectLst/>
              <a:uFillTx/>
              <a:latin typeface="Arial"/>
            </a:endParaRPr>
          </a:p>
        </p:txBody>
      </p:sp>
      <p:sp>
        <p:nvSpPr>
          <p:cNvPr id="490" name="Shape 7"/>
          <p:cNvSpPr/>
          <p:nvPr/>
        </p:nvSpPr>
        <p:spPr>
          <a:xfrm>
            <a:off x="914400" y="1828800"/>
            <a:ext cx="36540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1" name="Text 8"/>
          <p:cNvSpPr/>
          <p:nvPr/>
        </p:nvSpPr>
        <p:spPr>
          <a:xfrm>
            <a:off x="941760" y="18882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a:t>
            </a:r>
            <a:endParaRPr lang="it-IT" sz="900" b="0" u="none" strike="noStrike">
              <a:solidFill>
                <a:srgbClr val="000000"/>
              </a:solidFill>
              <a:effectLst/>
              <a:uFillTx/>
              <a:latin typeface="Arial"/>
            </a:endParaRPr>
          </a:p>
        </p:txBody>
      </p:sp>
      <p:sp>
        <p:nvSpPr>
          <p:cNvPr id="492" name="Shape 9"/>
          <p:cNvSpPr/>
          <p:nvPr/>
        </p:nvSpPr>
        <p:spPr>
          <a:xfrm>
            <a:off x="1417320" y="1828800"/>
            <a:ext cx="36540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3" name="Text 10"/>
          <p:cNvSpPr/>
          <p:nvPr/>
        </p:nvSpPr>
        <p:spPr>
          <a:xfrm>
            <a:off x="1444680" y="18882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a:t>
            </a:r>
            <a:endParaRPr lang="it-IT" sz="900" b="0" u="none" strike="noStrike">
              <a:solidFill>
                <a:srgbClr val="000000"/>
              </a:solidFill>
              <a:effectLst/>
              <a:uFillTx/>
              <a:latin typeface="Arial"/>
            </a:endParaRPr>
          </a:p>
        </p:txBody>
      </p:sp>
      <p:sp>
        <p:nvSpPr>
          <p:cNvPr id="494" name="Shape 11"/>
          <p:cNvSpPr/>
          <p:nvPr/>
        </p:nvSpPr>
        <p:spPr>
          <a:xfrm>
            <a:off x="1920240" y="1828800"/>
            <a:ext cx="365400" cy="319680"/>
          </a:xfrm>
          <a:prstGeom prst="roundRect">
            <a:avLst>
              <a:gd name="adj" fmla="val 14286"/>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5" name="Text 12"/>
          <p:cNvSpPr/>
          <p:nvPr/>
        </p:nvSpPr>
        <p:spPr>
          <a:xfrm>
            <a:off x="1947600" y="18882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5</a:t>
            </a:r>
            <a:endParaRPr lang="it-IT" sz="900" b="0" u="none" strike="noStrike">
              <a:solidFill>
                <a:srgbClr val="000000"/>
              </a:solidFill>
              <a:effectLst/>
              <a:uFillTx/>
              <a:latin typeface="Arial"/>
            </a:endParaRPr>
          </a:p>
        </p:txBody>
      </p:sp>
      <p:sp>
        <p:nvSpPr>
          <p:cNvPr id="496" name="Shape 13"/>
          <p:cNvSpPr/>
          <p:nvPr/>
        </p:nvSpPr>
        <p:spPr>
          <a:xfrm>
            <a:off x="2423160" y="1828800"/>
            <a:ext cx="36540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7" name="Text 14"/>
          <p:cNvSpPr/>
          <p:nvPr/>
        </p:nvSpPr>
        <p:spPr>
          <a:xfrm>
            <a:off x="2450520" y="18882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a:t>
            </a:r>
            <a:endParaRPr lang="it-IT" sz="900" b="0" u="none" strike="noStrike">
              <a:solidFill>
                <a:srgbClr val="000000"/>
              </a:solidFill>
              <a:effectLst/>
              <a:uFillTx/>
              <a:latin typeface="Arial"/>
            </a:endParaRPr>
          </a:p>
        </p:txBody>
      </p:sp>
      <p:sp>
        <p:nvSpPr>
          <p:cNvPr id="498" name="Shape 15"/>
          <p:cNvSpPr/>
          <p:nvPr/>
        </p:nvSpPr>
        <p:spPr>
          <a:xfrm>
            <a:off x="2926080" y="1828800"/>
            <a:ext cx="36540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9" name="Text 16"/>
          <p:cNvSpPr/>
          <p:nvPr/>
        </p:nvSpPr>
        <p:spPr>
          <a:xfrm>
            <a:off x="2953440" y="18882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a:t>
            </a:r>
            <a:endParaRPr lang="it-IT" sz="900" b="0" u="none" strike="noStrike">
              <a:solidFill>
                <a:srgbClr val="000000"/>
              </a:solidFill>
              <a:effectLst/>
              <a:uFillTx/>
              <a:latin typeface="Arial"/>
            </a:endParaRPr>
          </a:p>
        </p:txBody>
      </p:sp>
      <p:sp>
        <p:nvSpPr>
          <p:cNvPr id="500" name="Text 17"/>
          <p:cNvSpPr/>
          <p:nvPr/>
        </p:nvSpPr>
        <p:spPr>
          <a:xfrm>
            <a:off x="914400" y="1600200"/>
            <a:ext cx="109692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0" u="none" strike="noStrike">
                <a:solidFill>
                  <a:srgbClr val="6B7280"/>
                </a:solidFill>
                <a:effectLst/>
                <a:uFillTx/>
                <a:latin typeface="Aptos"/>
              </a:rPr>
              <a:t>Sequence A</a:t>
            </a:r>
            <a:endParaRPr lang="it-IT" sz="900" b="0" u="none" strike="noStrike">
              <a:solidFill>
                <a:srgbClr val="000000"/>
              </a:solidFill>
              <a:effectLst/>
              <a:uFillTx/>
              <a:latin typeface="Arial"/>
            </a:endParaRPr>
          </a:p>
        </p:txBody>
      </p:sp>
      <p:sp>
        <p:nvSpPr>
          <p:cNvPr id="501" name="Shape 18"/>
          <p:cNvSpPr/>
          <p:nvPr/>
        </p:nvSpPr>
        <p:spPr>
          <a:xfrm>
            <a:off x="914400" y="2743200"/>
            <a:ext cx="36540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2" name="Text 19"/>
          <p:cNvSpPr/>
          <p:nvPr/>
        </p:nvSpPr>
        <p:spPr>
          <a:xfrm>
            <a:off x="941760" y="28026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a:t>
            </a:r>
            <a:endParaRPr lang="it-IT" sz="900" b="0" u="none" strike="noStrike">
              <a:solidFill>
                <a:srgbClr val="000000"/>
              </a:solidFill>
              <a:effectLst/>
              <a:uFillTx/>
              <a:latin typeface="Arial"/>
            </a:endParaRPr>
          </a:p>
        </p:txBody>
      </p:sp>
      <p:sp>
        <p:nvSpPr>
          <p:cNvPr id="503" name="Shape 20"/>
          <p:cNvSpPr/>
          <p:nvPr/>
        </p:nvSpPr>
        <p:spPr>
          <a:xfrm>
            <a:off x="1417320" y="2743200"/>
            <a:ext cx="36540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4" name="Text 21"/>
          <p:cNvSpPr/>
          <p:nvPr/>
        </p:nvSpPr>
        <p:spPr>
          <a:xfrm>
            <a:off x="1444680" y="28026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a:t>
            </a:r>
            <a:endParaRPr lang="it-IT" sz="900" b="0" u="none" strike="noStrike">
              <a:solidFill>
                <a:srgbClr val="000000"/>
              </a:solidFill>
              <a:effectLst/>
              <a:uFillTx/>
              <a:latin typeface="Arial"/>
            </a:endParaRPr>
          </a:p>
        </p:txBody>
      </p:sp>
      <p:sp>
        <p:nvSpPr>
          <p:cNvPr id="505" name="Shape 22"/>
          <p:cNvSpPr/>
          <p:nvPr/>
        </p:nvSpPr>
        <p:spPr>
          <a:xfrm>
            <a:off x="1920240" y="2743200"/>
            <a:ext cx="36540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6" name="Text 23"/>
          <p:cNvSpPr/>
          <p:nvPr/>
        </p:nvSpPr>
        <p:spPr>
          <a:xfrm>
            <a:off x="1947600" y="28026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a:t>
            </a:r>
            <a:endParaRPr lang="it-IT" sz="900" b="0" u="none" strike="noStrike">
              <a:solidFill>
                <a:srgbClr val="000000"/>
              </a:solidFill>
              <a:effectLst/>
              <a:uFillTx/>
              <a:latin typeface="Arial"/>
            </a:endParaRPr>
          </a:p>
        </p:txBody>
      </p:sp>
      <p:sp>
        <p:nvSpPr>
          <p:cNvPr id="507" name="Shape 24"/>
          <p:cNvSpPr/>
          <p:nvPr/>
        </p:nvSpPr>
        <p:spPr>
          <a:xfrm>
            <a:off x="2423160" y="2743200"/>
            <a:ext cx="365400" cy="319680"/>
          </a:xfrm>
          <a:prstGeom prst="roundRect">
            <a:avLst>
              <a:gd name="adj" fmla="val 14286"/>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8" name="Text 25"/>
          <p:cNvSpPr/>
          <p:nvPr/>
        </p:nvSpPr>
        <p:spPr>
          <a:xfrm>
            <a:off x="2450520" y="28026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5</a:t>
            </a:r>
            <a:endParaRPr lang="it-IT" sz="900" b="0" u="none" strike="noStrike">
              <a:solidFill>
                <a:srgbClr val="000000"/>
              </a:solidFill>
              <a:effectLst/>
              <a:uFillTx/>
              <a:latin typeface="Arial"/>
            </a:endParaRPr>
          </a:p>
        </p:txBody>
      </p:sp>
      <p:sp>
        <p:nvSpPr>
          <p:cNvPr id="509" name="Shape 26"/>
          <p:cNvSpPr/>
          <p:nvPr/>
        </p:nvSpPr>
        <p:spPr>
          <a:xfrm>
            <a:off x="2926080" y="2743200"/>
            <a:ext cx="365400" cy="319680"/>
          </a:xfrm>
          <a:prstGeom prst="roundRect">
            <a:avLst>
              <a:gd name="adj" fmla="val 14286"/>
            </a:avLst>
          </a:prstGeom>
          <a:solidFill>
            <a:srgbClr val="F3F4F6"/>
          </a:solidFill>
          <a:ln w="1524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0" name="Text 27"/>
          <p:cNvSpPr/>
          <p:nvPr/>
        </p:nvSpPr>
        <p:spPr>
          <a:xfrm>
            <a:off x="2953440" y="2802600"/>
            <a:ext cx="310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0" u="none" strike="noStrike">
                <a:solidFill>
                  <a:srgbClr val="111827"/>
                </a:solidFill>
                <a:effectLst/>
                <a:uFillTx/>
                <a:latin typeface="Aptos"/>
              </a:rPr>
              <a:t>0</a:t>
            </a:r>
            <a:endParaRPr lang="it-IT" sz="900" b="0" u="none" strike="noStrike">
              <a:solidFill>
                <a:srgbClr val="000000"/>
              </a:solidFill>
              <a:effectLst/>
              <a:uFillTx/>
              <a:latin typeface="Arial"/>
            </a:endParaRPr>
          </a:p>
        </p:txBody>
      </p:sp>
      <p:sp>
        <p:nvSpPr>
          <p:cNvPr id="511" name="Text 28"/>
          <p:cNvSpPr/>
          <p:nvPr/>
        </p:nvSpPr>
        <p:spPr>
          <a:xfrm>
            <a:off x="914400" y="2514600"/>
            <a:ext cx="109692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0" u="none" strike="noStrike">
                <a:solidFill>
                  <a:srgbClr val="6B7280"/>
                </a:solidFill>
                <a:effectLst/>
                <a:uFillTx/>
                <a:latin typeface="Aptos"/>
              </a:rPr>
              <a:t>Sequence B</a:t>
            </a:r>
            <a:endParaRPr lang="it-IT" sz="900" b="0" u="none" strike="noStrike">
              <a:solidFill>
                <a:srgbClr val="000000"/>
              </a:solidFill>
              <a:effectLst/>
              <a:uFillTx/>
              <a:latin typeface="Arial"/>
            </a:endParaRPr>
          </a:p>
        </p:txBody>
      </p:sp>
      <p:sp>
        <p:nvSpPr>
          <p:cNvPr id="512" name="Shape 29"/>
          <p:cNvSpPr/>
          <p:nvPr/>
        </p:nvSpPr>
        <p:spPr>
          <a:xfrm>
            <a:off x="3840480" y="2377440"/>
            <a:ext cx="1005840" cy="36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13" name="Text 30"/>
          <p:cNvSpPr/>
          <p:nvPr/>
        </p:nvSpPr>
        <p:spPr>
          <a:xfrm>
            <a:off x="4480560" y="1554480"/>
            <a:ext cx="36572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dirty="0">
                <a:solidFill>
                  <a:srgbClr val="111827"/>
                </a:solidFill>
                <a:effectLst/>
                <a:uFillTx/>
                <a:latin typeface="Aptos"/>
              </a:rPr>
              <a:t>After max pooling over a suitable region</a:t>
            </a:r>
            <a:endParaRPr lang="it-IT" sz="1300" b="0" u="none" strike="noStrike" dirty="0">
              <a:solidFill>
                <a:srgbClr val="000000"/>
              </a:solidFill>
              <a:effectLst/>
              <a:uFillTx/>
              <a:latin typeface="Arial"/>
            </a:endParaRPr>
          </a:p>
        </p:txBody>
      </p:sp>
      <p:sp>
        <p:nvSpPr>
          <p:cNvPr id="514" name="Shape 31"/>
          <p:cNvSpPr/>
          <p:nvPr/>
        </p:nvSpPr>
        <p:spPr>
          <a:xfrm>
            <a:off x="5577840" y="2057400"/>
            <a:ext cx="2742840" cy="914040"/>
          </a:xfrm>
          <a:prstGeom prst="roundRect">
            <a:avLst>
              <a:gd name="adj" fmla="val 5000"/>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5" name="Text 32"/>
          <p:cNvSpPr/>
          <p:nvPr/>
        </p:nvSpPr>
        <p:spPr>
          <a:xfrm>
            <a:off x="5605200" y="2414160"/>
            <a:ext cx="26881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same strong evidence</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111827"/>
                </a:solidFill>
                <a:effectLst/>
                <a:uFillTx/>
                <a:latin typeface="Aptos"/>
              </a:rPr>
              <a:t>peak detected in region</a:t>
            </a:r>
            <a:endParaRPr lang="it-IT" sz="1400" b="0" u="none" strike="noStrike">
              <a:solidFill>
                <a:srgbClr val="000000"/>
              </a:solidFill>
              <a:effectLst/>
              <a:uFillTx/>
              <a:latin typeface="Arial"/>
            </a:endParaRPr>
          </a:p>
        </p:txBody>
      </p:sp>
      <p:sp>
        <p:nvSpPr>
          <p:cNvPr id="516" name="Text 33"/>
          <p:cNvSpPr/>
          <p:nvPr/>
        </p:nvSpPr>
        <p:spPr>
          <a:xfrm>
            <a:off x="5852160" y="3337560"/>
            <a:ext cx="22856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u="none" strike="noStrike">
                <a:solidFill>
                  <a:srgbClr val="6B7280"/>
                </a:solidFill>
                <a:effectLst/>
                <a:uFillTx/>
                <a:latin typeface="Aptos"/>
              </a:rPr>
              <a:t>exact location is less important</a:t>
            </a:r>
            <a:endParaRPr lang="it-IT" sz="1000" b="0" u="none" strike="noStrike">
              <a:solidFill>
                <a:srgbClr val="000000"/>
              </a:solidFill>
              <a:effectLst/>
              <a:uFillTx/>
              <a:latin typeface="Arial"/>
            </a:endParaRPr>
          </a:p>
        </p:txBody>
      </p:sp>
      <p:sp>
        <p:nvSpPr>
          <p:cNvPr id="2" name="CasellaDiTesto 1">
            <a:extLst>
              <a:ext uri="{FF2B5EF4-FFF2-40B4-BE49-F238E27FC236}">
                <a16:creationId xmlns:a16="http://schemas.microsoft.com/office/drawing/2014/main" id="{655D3C5D-95D4-639F-AD25-26AE278A7E06}"/>
              </a:ext>
            </a:extLst>
          </p:cNvPr>
          <p:cNvSpPr txBox="1"/>
          <p:nvPr/>
        </p:nvSpPr>
        <p:spPr>
          <a:xfrm>
            <a:off x="1570182" y="3429000"/>
            <a:ext cx="1819563" cy="307777"/>
          </a:xfrm>
          <a:prstGeom prst="rect">
            <a:avLst/>
          </a:prstGeom>
          <a:noFill/>
        </p:spPr>
        <p:txBody>
          <a:bodyPr wrap="square" rtlCol="0">
            <a:spAutoFit/>
          </a:bodyPr>
          <a:lstStyle/>
          <a:p>
            <a:r>
              <a:rPr lang="it-IT" sz="1400" dirty="0"/>
              <a:t>Stride 2 pooling</a:t>
            </a:r>
            <a:endParaRPr lang="en-GB" sz="1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FD36467-7997-0487-DFE5-1F9529506DCD}"/>
              </a:ext>
            </a:extLst>
          </p:cNvPr>
          <p:cNvSpPr>
            <a:spLocks noGrp="1"/>
          </p:cNvSpPr>
          <p:nvPr>
            <p:ph type="title"/>
          </p:nvPr>
        </p:nvSpPr>
        <p:spPr/>
        <p:txBody>
          <a:bodyPr/>
          <a:lstStyle/>
          <a:p>
            <a:r>
              <a:rPr lang="en-GB" dirty="0"/>
              <a:t>Pooling can be harmful when exact timing matters</a:t>
            </a:r>
          </a:p>
        </p:txBody>
      </p:sp>
      <p:sp>
        <p:nvSpPr>
          <p:cNvPr id="3" name="Segnaposto contenuto 2">
            <a:extLst>
              <a:ext uri="{FF2B5EF4-FFF2-40B4-BE49-F238E27FC236}">
                <a16:creationId xmlns:a16="http://schemas.microsoft.com/office/drawing/2014/main" id="{BC9FD407-AF7B-21EF-16C6-4E9D28CB46E1}"/>
              </a:ext>
            </a:extLst>
          </p:cNvPr>
          <p:cNvSpPr>
            <a:spLocks noGrp="1"/>
          </p:cNvSpPr>
          <p:nvPr>
            <p:ph sz="half" idx="1"/>
          </p:nvPr>
        </p:nvSpPr>
        <p:spPr>
          <a:xfrm>
            <a:off x="677334" y="2160589"/>
            <a:ext cx="6653299" cy="3880772"/>
          </a:xfrm>
        </p:spPr>
        <p:txBody>
          <a:bodyPr>
            <a:normAutofit fontScale="92500" lnSpcReduction="10000"/>
          </a:bodyPr>
          <a:lstStyle/>
          <a:p>
            <a:r>
              <a:rPr lang="en-GB" dirty="0"/>
              <a:t>Consider sequence labelling.</a:t>
            </a:r>
          </a:p>
          <a:p>
            <a:pPr lvl="1"/>
            <a:r>
              <a:rPr lang="en-GB" dirty="0"/>
              <a:t>Input:</a:t>
            </a:r>
          </a:p>
          <a:p>
            <a:pPr lvl="2"/>
            <a:r>
              <a:rPr lang="en-GB" dirty="0"/>
              <a:t>time:        1 2 3 4 5 6 7 8</a:t>
            </a:r>
          </a:p>
          <a:p>
            <a:pPr lvl="2"/>
            <a:r>
              <a:rPr lang="en-GB" dirty="0"/>
              <a:t>true label:  N </a:t>
            </a:r>
            <a:r>
              <a:rPr lang="en-GB" dirty="0" err="1"/>
              <a:t>N</a:t>
            </a:r>
            <a:r>
              <a:rPr lang="en-GB" dirty="0"/>
              <a:t> </a:t>
            </a:r>
            <a:r>
              <a:rPr lang="en-GB" dirty="0" err="1"/>
              <a:t>N</a:t>
            </a:r>
            <a:r>
              <a:rPr lang="en-GB" dirty="0"/>
              <a:t> F </a:t>
            </a:r>
            <a:r>
              <a:rPr lang="en-GB" dirty="0" err="1"/>
              <a:t>F</a:t>
            </a:r>
            <a:r>
              <a:rPr lang="en-GB" dirty="0"/>
              <a:t> </a:t>
            </a:r>
            <a:r>
              <a:rPr lang="en-GB" dirty="0" err="1"/>
              <a:t>F</a:t>
            </a:r>
            <a:r>
              <a:rPr lang="en-GB" dirty="0"/>
              <a:t> N </a:t>
            </a:r>
            <a:r>
              <a:rPr lang="en-GB" dirty="0" err="1"/>
              <a:t>N</a:t>
            </a:r>
            <a:endParaRPr lang="en-GB" dirty="0"/>
          </a:p>
          <a:p>
            <a:r>
              <a:rPr lang="en-GB" dirty="0"/>
              <a:t>If the representation is </a:t>
            </a:r>
            <a:r>
              <a:rPr lang="en-GB" dirty="0" err="1"/>
              <a:t>downsampled</a:t>
            </a:r>
            <a:r>
              <a:rPr lang="en-GB" dirty="0"/>
              <a:t> heavily, the model may know that a fault occurred in a region but not precisely when it began.</a:t>
            </a:r>
          </a:p>
          <a:p>
            <a:r>
              <a:rPr lang="en-GB" b="1" dirty="0">
                <a:highlight>
                  <a:srgbClr val="FFFF00"/>
                </a:highlight>
              </a:rPr>
              <a:t>Tasks where temporal precision matters</a:t>
            </a:r>
          </a:p>
          <a:p>
            <a:pPr lvl="1"/>
            <a:r>
              <a:rPr lang="en-GB" dirty="0"/>
              <a:t>event onset detection; </a:t>
            </a:r>
          </a:p>
          <a:p>
            <a:pPr lvl="1"/>
            <a:r>
              <a:rPr lang="en-GB" dirty="0"/>
              <a:t>sequence segmentation; </a:t>
            </a:r>
          </a:p>
          <a:p>
            <a:pPr lvl="1"/>
            <a:r>
              <a:rPr lang="en-GB" dirty="0"/>
              <a:t>per-time-step classification; </a:t>
            </a:r>
          </a:p>
          <a:p>
            <a:pPr lvl="1"/>
            <a:r>
              <a:rPr lang="en-GB" dirty="0"/>
              <a:t>precise anomaly localisation. </a:t>
            </a:r>
          </a:p>
          <a:p>
            <a:endParaRPr lang="en-GB" dirty="0"/>
          </a:p>
        </p:txBody>
      </p:sp>
      <p:sp>
        <p:nvSpPr>
          <p:cNvPr id="4" name="Segnaposto contenuto 3">
            <a:extLst>
              <a:ext uri="{FF2B5EF4-FFF2-40B4-BE49-F238E27FC236}">
                <a16:creationId xmlns:a16="http://schemas.microsoft.com/office/drawing/2014/main" id="{CB384348-E243-18F0-DF45-D4AF3A4F46A2}"/>
              </a:ext>
            </a:extLst>
          </p:cNvPr>
          <p:cNvSpPr>
            <a:spLocks noGrp="1"/>
          </p:cNvSpPr>
          <p:nvPr>
            <p:ph sz="half" idx="2"/>
          </p:nvPr>
        </p:nvSpPr>
        <p:spPr>
          <a:xfrm>
            <a:off x="7425883" y="2367627"/>
            <a:ext cx="4184034" cy="3880773"/>
          </a:xfrm>
        </p:spPr>
        <p:txBody>
          <a:bodyPr>
            <a:normAutofit fontScale="92500" lnSpcReduction="10000"/>
          </a:bodyPr>
          <a:lstStyle/>
          <a:p>
            <a:r>
              <a:rPr lang="en-GB" b="1" dirty="0">
                <a:highlight>
                  <a:srgbClr val="FFFF00"/>
                </a:highlight>
              </a:rPr>
              <a:t>In these tasks</a:t>
            </a:r>
          </a:p>
          <a:p>
            <a:r>
              <a:rPr lang="en-GB" dirty="0">
                <a:highlight>
                  <a:srgbClr val="FFFF00"/>
                </a:highlight>
              </a:rPr>
              <a:t>We may prefer:</a:t>
            </a:r>
          </a:p>
          <a:p>
            <a:pPr lvl="1"/>
            <a:r>
              <a:rPr lang="en-GB" dirty="0"/>
              <a:t>stride 1; </a:t>
            </a:r>
          </a:p>
          <a:p>
            <a:pPr lvl="1"/>
            <a:r>
              <a:rPr lang="en-GB" dirty="0"/>
              <a:t>limited pooling; </a:t>
            </a:r>
          </a:p>
          <a:p>
            <a:pPr lvl="1"/>
            <a:r>
              <a:rPr lang="en-GB" dirty="0"/>
              <a:t>same padding; </a:t>
            </a:r>
          </a:p>
          <a:p>
            <a:pPr lvl="1"/>
            <a:r>
              <a:rPr lang="en-GB" dirty="0"/>
              <a:t>architectures that restore temporal resolution later. </a:t>
            </a:r>
          </a:p>
          <a:p>
            <a:endParaRPr lang="en-GB" dirty="0"/>
          </a:p>
          <a:p>
            <a:endParaRPr lang="en-GB" dirty="0"/>
          </a:p>
        </p:txBody>
      </p:sp>
      <p:sp>
        <p:nvSpPr>
          <p:cNvPr id="6" name="CasellaDiTesto 5">
            <a:extLst>
              <a:ext uri="{FF2B5EF4-FFF2-40B4-BE49-F238E27FC236}">
                <a16:creationId xmlns:a16="http://schemas.microsoft.com/office/drawing/2014/main" id="{D8C4E32F-1A36-304A-0EB1-996BF3FC52F8}"/>
              </a:ext>
            </a:extLst>
          </p:cNvPr>
          <p:cNvSpPr txBox="1"/>
          <p:nvPr/>
        </p:nvSpPr>
        <p:spPr>
          <a:xfrm>
            <a:off x="7475008" y="5602069"/>
            <a:ext cx="4039658" cy="646331"/>
          </a:xfrm>
          <a:prstGeom prst="rect">
            <a:avLst/>
          </a:prstGeom>
          <a:noFill/>
        </p:spPr>
        <p:txBody>
          <a:bodyPr wrap="square">
            <a:spAutoFit/>
          </a:bodyPr>
          <a:lstStyle/>
          <a:p>
            <a:r>
              <a:rPr lang="en-GB" sz="1800" b="1" dirty="0">
                <a:highlight>
                  <a:srgbClr val="FFFF00"/>
                </a:highlight>
              </a:rPr>
              <a:t>Pooling trades temporal precision for compactness and invariance</a:t>
            </a:r>
          </a:p>
        </p:txBody>
      </p:sp>
    </p:spTree>
    <p:extLst>
      <p:ext uri="{BB962C8B-B14F-4D97-AF65-F5344CB8AC3E}">
        <p14:creationId xmlns:p14="http://schemas.microsoft.com/office/powerpoint/2010/main" val="146770966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8"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9"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Pooling can be harmful when exact timing matters</a:t>
            </a:r>
            <a:endParaRPr lang="it-IT" sz="2200" b="0" u="none" strike="noStrike">
              <a:solidFill>
                <a:srgbClr val="000000"/>
              </a:solidFill>
              <a:effectLst/>
              <a:uFillTx/>
              <a:latin typeface="Arial"/>
            </a:endParaRPr>
          </a:p>
        </p:txBody>
      </p:sp>
      <p:sp>
        <p:nvSpPr>
          <p:cNvPr id="520"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dirty="0" err="1">
                <a:solidFill>
                  <a:srgbClr val="506070"/>
                </a:solidFill>
                <a:effectLst/>
                <a:uFillTx/>
                <a:latin typeface="Aptos"/>
              </a:rPr>
              <a:t>Downsampling</a:t>
            </a:r>
            <a:r>
              <a:rPr lang="en-US" sz="1400" b="0" u="none" strike="noStrike" dirty="0">
                <a:solidFill>
                  <a:srgbClr val="506070"/>
                </a:solidFill>
                <a:effectLst/>
                <a:uFillTx/>
                <a:latin typeface="Aptos"/>
              </a:rPr>
              <a:t> may preserve that something happened, but not precisely when.</a:t>
            </a:r>
            <a:endParaRPr lang="it-IT" sz="1400" b="0" u="none" strike="noStrike" dirty="0">
              <a:solidFill>
                <a:srgbClr val="000000"/>
              </a:solidFill>
              <a:effectLst/>
              <a:uFillTx/>
              <a:latin typeface="Arial"/>
            </a:endParaRPr>
          </a:p>
        </p:txBody>
      </p:sp>
      <p:sp>
        <p:nvSpPr>
          <p:cNvPr id="521"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2"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dirty="0">
                <a:solidFill>
                  <a:srgbClr val="111827"/>
                </a:solidFill>
                <a:effectLst/>
                <a:uFillTx/>
                <a:latin typeface="Aptos"/>
              </a:rPr>
              <a:t>Sequence labelling and event onset detection often require limited </a:t>
            </a:r>
            <a:r>
              <a:rPr lang="en-US" sz="1100" b="1" u="none" strike="noStrike" dirty="0" err="1">
                <a:solidFill>
                  <a:srgbClr val="111827"/>
                </a:solidFill>
                <a:effectLst/>
                <a:uFillTx/>
                <a:latin typeface="Aptos"/>
              </a:rPr>
              <a:t>downsampling</a:t>
            </a:r>
            <a:r>
              <a:rPr lang="en-US" sz="1100" b="1" u="none" strike="noStrike" dirty="0">
                <a:solidFill>
                  <a:srgbClr val="111827"/>
                </a:solidFill>
                <a:effectLst/>
                <a:uFillTx/>
                <a:latin typeface="Aptos"/>
              </a:rPr>
              <a:t>.</a:t>
            </a:r>
            <a:endParaRPr lang="it-IT" sz="1100" b="1" u="none" strike="noStrike" dirty="0">
              <a:solidFill>
                <a:srgbClr val="000000"/>
              </a:solidFill>
              <a:effectLst/>
              <a:uFillTx/>
              <a:latin typeface="Arial"/>
            </a:endParaRPr>
          </a:p>
        </p:txBody>
      </p:sp>
      <p:sp>
        <p:nvSpPr>
          <p:cNvPr id="523" name="Text 6"/>
          <p:cNvSpPr/>
          <p:nvPr/>
        </p:nvSpPr>
        <p:spPr>
          <a:xfrm>
            <a:off x="914400" y="1325880"/>
            <a:ext cx="27428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11827"/>
                </a:solidFill>
                <a:effectLst/>
                <a:uFillTx/>
                <a:latin typeface="Aptos"/>
              </a:rPr>
              <a:t>True labels at each time step</a:t>
            </a:r>
            <a:endParaRPr lang="it-IT" sz="1300" b="0" u="none" strike="noStrike">
              <a:solidFill>
                <a:srgbClr val="000000"/>
              </a:solidFill>
              <a:effectLst/>
              <a:uFillTx/>
              <a:latin typeface="Arial"/>
            </a:endParaRPr>
          </a:p>
        </p:txBody>
      </p:sp>
      <p:sp>
        <p:nvSpPr>
          <p:cNvPr id="524" name="Shape 7"/>
          <p:cNvSpPr/>
          <p:nvPr/>
        </p:nvSpPr>
        <p:spPr>
          <a:xfrm>
            <a:off x="914400" y="182880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5" name="Text 8"/>
          <p:cNvSpPr/>
          <p:nvPr/>
        </p:nvSpPr>
        <p:spPr>
          <a:xfrm>
            <a:off x="941760" y="18882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111827"/>
                </a:solidFill>
                <a:effectLst/>
                <a:uFillTx/>
                <a:latin typeface="Aptos"/>
              </a:rPr>
              <a:t>N</a:t>
            </a:r>
            <a:endParaRPr lang="it-IT" sz="900" b="0" u="none" strike="noStrike">
              <a:solidFill>
                <a:srgbClr val="000000"/>
              </a:solidFill>
              <a:effectLst/>
              <a:uFillTx/>
              <a:latin typeface="Arial"/>
            </a:endParaRPr>
          </a:p>
        </p:txBody>
      </p:sp>
      <p:sp>
        <p:nvSpPr>
          <p:cNvPr id="526" name="Shape 9"/>
          <p:cNvSpPr/>
          <p:nvPr/>
        </p:nvSpPr>
        <p:spPr>
          <a:xfrm>
            <a:off x="1417320" y="182880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7" name="Text 10"/>
          <p:cNvSpPr/>
          <p:nvPr/>
        </p:nvSpPr>
        <p:spPr>
          <a:xfrm>
            <a:off x="1444680" y="18882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111827"/>
                </a:solidFill>
                <a:effectLst/>
                <a:uFillTx/>
                <a:latin typeface="Aptos"/>
              </a:rPr>
              <a:t>N</a:t>
            </a:r>
            <a:endParaRPr lang="it-IT" sz="900" b="0" u="none" strike="noStrike">
              <a:solidFill>
                <a:srgbClr val="000000"/>
              </a:solidFill>
              <a:effectLst/>
              <a:uFillTx/>
              <a:latin typeface="Arial"/>
            </a:endParaRPr>
          </a:p>
        </p:txBody>
      </p:sp>
      <p:sp>
        <p:nvSpPr>
          <p:cNvPr id="528" name="Shape 11"/>
          <p:cNvSpPr/>
          <p:nvPr/>
        </p:nvSpPr>
        <p:spPr>
          <a:xfrm>
            <a:off x="1920240" y="182880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9" name="Text 12"/>
          <p:cNvSpPr/>
          <p:nvPr/>
        </p:nvSpPr>
        <p:spPr>
          <a:xfrm>
            <a:off x="1947600" y="18882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111827"/>
                </a:solidFill>
                <a:effectLst/>
                <a:uFillTx/>
                <a:latin typeface="Aptos"/>
              </a:rPr>
              <a:t>N</a:t>
            </a:r>
            <a:endParaRPr lang="it-IT" sz="900" b="0" u="none" strike="noStrike">
              <a:solidFill>
                <a:srgbClr val="000000"/>
              </a:solidFill>
              <a:effectLst/>
              <a:uFillTx/>
              <a:latin typeface="Arial"/>
            </a:endParaRPr>
          </a:p>
        </p:txBody>
      </p:sp>
      <p:sp>
        <p:nvSpPr>
          <p:cNvPr id="530" name="Shape 13"/>
          <p:cNvSpPr/>
          <p:nvPr/>
        </p:nvSpPr>
        <p:spPr>
          <a:xfrm>
            <a:off x="2423160" y="1828800"/>
            <a:ext cx="383760" cy="319680"/>
          </a:xfrm>
          <a:prstGeom prst="roundRect">
            <a:avLst>
              <a:gd name="adj" fmla="val 14286"/>
            </a:avLst>
          </a:prstGeom>
          <a:solidFill>
            <a:srgbClr val="FFECE9"/>
          </a:solidFill>
          <a:ln w="15240">
            <a:solidFill>
              <a:srgbClr val="E94B3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31" name="Text 14"/>
          <p:cNvSpPr/>
          <p:nvPr/>
        </p:nvSpPr>
        <p:spPr>
          <a:xfrm>
            <a:off x="2450520" y="18882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111827"/>
                </a:solidFill>
                <a:effectLst/>
                <a:uFillTx/>
                <a:latin typeface="Aptos"/>
              </a:rPr>
              <a:t>F</a:t>
            </a:r>
            <a:endParaRPr lang="it-IT" sz="900" b="0" u="none" strike="noStrike">
              <a:solidFill>
                <a:srgbClr val="000000"/>
              </a:solidFill>
              <a:effectLst/>
              <a:uFillTx/>
              <a:latin typeface="Arial"/>
            </a:endParaRPr>
          </a:p>
        </p:txBody>
      </p:sp>
      <p:sp>
        <p:nvSpPr>
          <p:cNvPr id="532" name="Shape 15"/>
          <p:cNvSpPr/>
          <p:nvPr/>
        </p:nvSpPr>
        <p:spPr>
          <a:xfrm>
            <a:off x="2926080" y="1828800"/>
            <a:ext cx="383760" cy="319680"/>
          </a:xfrm>
          <a:prstGeom prst="roundRect">
            <a:avLst>
              <a:gd name="adj" fmla="val 14286"/>
            </a:avLst>
          </a:prstGeom>
          <a:solidFill>
            <a:srgbClr val="FFECE9"/>
          </a:solidFill>
          <a:ln w="15240">
            <a:solidFill>
              <a:srgbClr val="E94B3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33" name="Text 16"/>
          <p:cNvSpPr/>
          <p:nvPr/>
        </p:nvSpPr>
        <p:spPr>
          <a:xfrm>
            <a:off x="2953440" y="18882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111827"/>
                </a:solidFill>
                <a:effectLst/>
                <a:uFillTx/>
                <a:latin typeface="Aptos"/>
              </a:rPr>
              <a:t>F</a:t>
            </a:r>
            <a:endParaRPr lang="it-IT" sz="900" b="0" u="none" strike="noStrike">
              <a:solidFill>
                <a:srgbClr val="000000"/>
              </a:solidFill>
              <a:effectLst/>
              <a:uFillTx/>
              <a:latin typeface="Arial"/>
            </a:endParaRPr>
          </a:p>
        </p:txBody>
      </p:sp>
      <p:sp>
        <p:nvSpPr>
          <p:cNvPr id="534" name="Shape 17"/>
          <p:cNvSpPr/>
          <p:nvPr/>
        </p:nvSpPr>
        <p:spPr>
          <a:xfrm>
            <a:off x="3429000" y="1828800"/>
            <a:ext cx="383760" cy="319680"/>
          </a:xfrm>
          <a:prstGeom prst="roundRect">
            <a:avLst>
              <a:gd name="adj" fmla="val 14286"/>
            </a:avLst>
          </a:prstGeom>
          <a:solidFill>
            <a:srgbClr val="FFECE9"/>
          </a:solidFill>
          <a:ln w="15240">
            <a:solidFill>
              <a:srgbClr val="E94B3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35" name="Text 18"/>
          <p:cNvSpPr/>
          <p:nvPr/>
        </p:nvSpPr>
        <p:spPr>
          <a:xfrm>
            <a:off x="3456360" y="18882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111827"/>
                </a:solidFill>
                <a:effectLst/>
                <a:uFillTx/>
                <a:latin typeface="Aptos"/>
              </a:rPr>
              <a:t>F</a:t>
            </a:r>
            <a:endParaRPr lang="it-IT" sz="900" b="0" u="none" strike="noStrike">
              <a:solidFill>
                <a:srgbClr val="000000"/>
              </a:solidFill>
              <a:effectLst/>
              <a:uFillTx/>
              <a:latin typeface="Arial"/>
            </a:endParaRPr>
          </a:p>
        </p:txBody>
      </p:sp>
      <p:sp>
        <p:nvSpPr>
          <p:cNvPr id="536" name="Shape 19"/>
          <p:cNvSpPr/>
          <p:nvPr/>
        </p:nvSpPr>
        <p:spPr>
          <a:xfrm>
            <a:off x="3931920" y="182880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37" name="Text 20"/>
          <p:cNvSpPr/>
          <p:nvPr/>
        </p:nvSpPr>
        <p:spPr>
          <a:xfrm>
            <a:off x="3959280" y="18882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111827"/>
                </a:solidFill>
                <a:effectLst/>
                <a:uFillTx/>
                <a:latin typeface="Aptos"/>
              </a:rPr>
              <a:t>N</a:t>
            </a:r>
            <a:endParaRPr lang="it-IT" sz="900" b="0" u="none" strike="noStrike">
              <a:solidFill>
                <a:srgbClr val="000000"/>
              </a:solidFill>
              <a:effectLst/>
              <a:uFillTx/>
              <a:latin typeface="Arial"/>
            </a:endParaRPr>
          </a:p>
        </p:txBody>
      </p:sp>
      <p:sp>
        <p:nvSpPr>
          <p:cNvPr id="538" name="Shape 21"/>
          <p:cNvSpPr/>
          <p:nvPr/>
        </p:nvSpPr>
        <p:spPr>
          <a:xfrm>
            <a:off x="4434840" y="1828800"/>
            <a:ext cx="383760" cy="319680"/>
          </a:xfrm>
          <a:prstGeom prst="roundRect">
            <a:avLst>
              <a:gd name="adj" fmla="val 14286"/>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39" name="Text 22"/>
          <p:cNvSpPr/>
          <p:nvPr/>
        </p:nvSpPr>
        <p:spPr>
          <a:xfrm>
            <a:off x="4462200" y="1888200"/>
            <a:ext cx="3286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111827"/>
                </a:solidFill>
                <a:effectLst/>
                <a:uFillTx/>
                <a:latin typeface="Aptos"/>
              </a:rPr>
              <a:t>N</a:t>
            </a:r>
            <a:endParaRPr lang="it-IT" sz="900" b="0" u="none" strike="noStrike">
              <a:solidFill>
                <a:srgbClr val="000000"/>
              </a:solidFill>
              <a:effectLst/>
              <a:uFillTx/>
              <a:latin typeface="Arial"/>
            </a:endParaRPr>
          </a:p>
        </p:txBody>
      </p:sp>
      <p:sp>
        <p:nvSpPr>
          <p:cNvPr id="540" name="Text 23"/>
          <p:cNvSpPr/>
          <p:nvPr/>
        </p:nvSpPr>
        <p:spPr>
          <a:xfrm>
            <a:off x="2423160" y="2331720"/>
            <a:ext cx="9140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u="none" strike="noStrike">
                <a:solidFill>
                  <a:srgbClr val="E94B35"/>
                </a:solidFill>
                <a:effectLst/>
                <a:uFillTx/>
                <a:latin typeface="Aptos"/>
              </a:rPr>
              <a:t>fault onset</a:t>
            </a:r>
            <a:endParaRPr lang="it-IT" sz="900" b="0" u="none" strike="noStrike">
              <a:solidFill>
                <a:srgbClr val="000000"/>
              </a:solidFill>
              <a:effectLst/>
              <a:uFillTx/>
              <a:latin typeface="Arial"/>
            </a:endParaRPr>
          </a:p>
        </p:txBody>
      </p:sp>
      <p:sp>
        <p:nvSpPr>
          <p:cNvPr id="541" name="Shape 24"/>
          <p:cNvSpPr/>
          <p:nvPr/>
        </p:nvSpPr>
        <p:spPr>
          <a:xfrm flipV="1">
            <a:off x="2697480" y="2057400"/>
            <a:ext cx="360" cy="228600"/>
          </a:xfrm>
          <a:prstGeom prst="line">
            <a:avLst/>
          </a:prstGeom>
          <a:ln w="12700">
            <a:solidFill>
              <a:srgbClr val="E94B35"/>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42" name="Shape 25"/>
          <p:cNvSpPr/>
          <p:nvPr/>
        </p:nvSpPr>
        <p:spPr>
          <a:xfrm>
            <a:off x="4206240" y="2011680"/>
            <a:ext cx="1188720" cy="360"/>
          </a:xfrm>
          <a:prstGeom prst="line">
            <a:avLst/>
          </a:prstGeom>
          <a:ln w="1651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43" name="Shape 26"/>
          <p:cNvSpPr/>
          <p:nvPr/>
        </p:nvSpPr>
        <p:spPr>
          <a:xfrm>
            <a:off x="5577840" y="1691640"/>
            <a:ext cx="2011320" cy="639720"/>
          </a:xfrm>
          <a:prstGeom prst="roundRect">
            <a:avLst>
              <a:gd name="adj" fmla="val 7143"/>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44" name="Text 27"/>
          <p:cNvSpPr/>
          <p:nvPr/>
        </p:nvSpPr>
        <p:spPr>
          <a:xfrm>
            <a:off x="5605200" y="1911240"/>
            <a:ext cx="19566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heavy downsampling</a:t>
            </a:r>
            <a:endParaRPr lang="it-IT" sz="1300" b="0" u="none" strike="noStrike">
              <a:solidFill>
                <a:srgbClr val="000000"/>
              </a:solidFill>
              <a:effectLst/>
              <a:uFillTx/>
              <a:latin typeface="Arial"/>
            </a:endParaRPr>
          </a:p>
        </p:txBody>
      </p:sp>
      <p:sp>
        <p:nvSpPr>
          <p:cNvPr id="545" name="Shape 28"/>
          <p:cNvSpPr/>
          <p:nvPr/>
        </p:nvSpPr>
        <p:spPr>
          <a:xfrm>
            <a:off x="7772400" y="2011680"/>
            <a:ext cx="1005840" cy="360"/>
          </a:xfrm>
          <a:prstGeom prst="line">
            <a:avLst/>
          </a:prstGeom>
          <a:ln w="1651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46" name="Shape 29"/>
          <p:cNvSpPr/>
          <p:nvPr/>
        </p:nvSpPr>
        <p:spPr>
          <a:xfrm>
            <a:off x="8961120" y="1691640"/>
            <a:ext cx="1828440" cy="639720"/>
          </a:xfrm>
          <a:prstGeom prst="roundRect">
            <a:avLst>
              <a:gd name="adj" fmla="val 7143"/>
            </a:avLst>
          </a:prstGeom>
          <a:solidFill>
            <a:srgbClr val="FFECE9"/>
          </a:solidFill>
          <a:ln w="15240">
            <a:solidFill>
              <a:srgbClr val="E94B3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47" name="Text 30"/>
          <p:cNvSpPr/>
          <p:nvPr/>
        </p:nvSpPr>
        <p:spPr>
          <a:xfrm>
            <a:off x="8988480" y="1911240"/>
            <a:ext cx="17737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111827"/>
                </a:solidFill>
                <a:effectLst/>
                <a:uFillTx/>
                <a:latin typeface="Aptos"/>
              </a:rPr>
              <a:t>fault somewhere</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11827"/>
                </a:solidFill>
                <a:effectLst/>
                <a:uFillTx/>
                <a:latin typeface="Aptos"/>
              </a:rPr>
              <a:t>in region</a:t>
            </a:r>
            <a:endParaRPr lang="it-IT" sz="1200" b="0" u="none" strike="noStrike">
              <a:solidFill>
                <a:srgbClr val="000000"/>
              </a:solidFill>
              <a:effectLst/>
              <a:uFillTx/>
              <a:latin typeface="Arial"/>
            </a:endParaRPr>
          </a:p>
        </p:txBody>
      </p:sp>
      <p:sp>
        <p:nvSpPr>
          <p:cNvPr id="548" name="Text 31"/>
          <p:cNvSpPr/>
          <p:nvPr/>
        </p:nvSpPr>
        <p:spPr>
          <a:xfrm>
            <a:off x="914400" y="3931920"/>
            <a:ext cx="36572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111827"/>
                </a:solidFill>
                <a:effectLst/>
                <a:uFillTx/>
                <a:latin typeface="Aptos"/>
              </a:rPr>
              <a:t>Exact onset may become ambiguous.</a:t>
            </a:r>
            <a:endParaRPr lang="it-IT" sz="1400" b="0" u="none" strike="noStrike">
              <a:solidFill>
                <a:srgbClr val="000000"/>
              </a:solidFill>
              <a:effectLst/>
              <a:uFillTx/>
              <a:latin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8044E9-ABAD-495D-292F-BD063C19626F}"/>
              </a:ext>
            </a:extLst>
          </p:cNvPr>
          <p:cNvSpPr>
            <a:spLocks noGrp="1"/>
          </p:cNvSpPr>
          <p:nvPr>
            <p:ph type="title"/>
          </p:nvPr>
        </p:nvSpPr>
        <p:spPr/>
        <p:txBody>
          <a:bodyPr/>
          <a:lstStyle/>
          <a:p>
            <a:r>
              <a:rPr lang="en-GB" dirty="0">
                <a:highlight>
                  <a:srgbClr val="FFFF00"/>
                </a:highlight>
              </a:rPr>
              <a:t>Global average </a:t>
            </a:r>
            <a:r>
              <a:rPr lang="en-GB" dirty="0"/>
              <a:t>pooling</a:t>
            </a:r>
          </a:p>
        </p:txBody>
      </p:sp>
      <p:sp>
        <p:nvSpPr>
          <p:cNvPr id="3" name="Segnaposto contenuto 2">
            <a:extLst>
              <a:ext uri="{FF2B5EF4-FFF2-40B4-BE49-F238E27FC236}">
                <a16:creationId xmlns:a16="http://schemas.microsoft.com/office/drawing/2014/main" id="{36960E51-029E-F970-8114-D17790448473}"/>
              </a:ext>
            </a:extLst>
          </p:cNvPr>
          <p:cNvSpPr>
            <a:spLocks noGrp="1"/>
          </p:cNvSpPr>
          <p:nvPr>
            <p:ph sz="half" idx="1"/>
          </p:nvPr>
        </p:nvSpPr>
        <p:spPr/>
        <p:txBody>
          <a:bodyPr>
            <a:normAutofit lnSpcReduction="10000"/>
          </a:bodyPr>
          <a:lstStyle/>
          <a:p>
            <a:r>
              <a:rPr lang="en-GB" dirty="0"/>
              <a:t>Local pooling reduces length gradually.</a:t>
            </a:r>
          </a:p>
          <a:p>
            <a:r>
              <a:rPr lang="en-GB" dirty="0"/>
              <a:t>Global pooling removes the temporal dimension completely.</a:t>
            </a:r>
          </a:p>
          <a:p>
            <a:r>
              <a:rPr lang="en-GB" dirty="0"/>
              <a:t>Suppose a convolutional network produces: </a:t>
            </a:r>
            <a:r>
              <a:rPr lang="en-GB" dirty="0">
                <a:highlight>
                  <a:srgbClr val="FFFF00"/>
                </a:highlight>
              </a:rPr>
              <a:t>[N, L, F]</a:t>
            </a:r>
          </a:p>
          <a:p>
            <a:r>
              <a:rPr lang="en-GB" dirty="0"/>
              <a:t>Global average pooling computes one average for each feature map.</a:t>
            </a:r>
          </a:p>
          <a:p>
            <a:r>
              <a:rPr lang="en-GB" dirty="0"/>
              <a:t>Output: </a:t>
            </a:r>
            <a:r>
              <a:rPr lang="en-GB" dirty="0">
                <a:highlight>
                  <a:srgbClr val="FFFF00"/>
                </a:highlight>
              </a:rPr>
              <a:t>[N, F]</a:t>
            </a:r>
          </a:p>
          <a:p>
            <a:endParaRPr lang="en-GB" dirty="0"/>
          </a:p>
        </p:txBody>
      </p:sp>
      <p:sp>
        <p:nvSpPr>
          <p:cNvPr id="4" name="Segnaposto contenuto 3">
            <a:extLst>
              <a:ext uri="{FF2B5EF4-FFF2-40B4-BE49-F238E27FC236}">
                <a16:creationId xmlns:a16="http://schemas.microsoft.com/office/drawing/2014/main" id="{56CDD897-A342-345F-D001-9938AEE55A6C}"/>
              </a:ext>
            </a:extLst>
          </p:cNvPr>
          <p:cNvSpPr>
            <a:spLocks noGrp="1"/>
          </p:cNvSpPr>
          <p:nvPr>
            <p:ph sz="half" idx="2"/>
          </p:nvPr>
        </p:nvSpPr>
        <p:spPr>
          <a:xfrm>
            <a:off x="5089969" y="2160589"/>
            <a:ext cx="6882955" cy="4411661"/>
          </a:xfrm>
        </p:spPr>
        <p:txBody>
          <a:bodyPr>
            <a:normAutofit lnSpcReduction="10000"/>
          </a:bodyPr>
          <a:lstStyle/>
          <a:p>
            <a:r>
              <a:rPr lang="en-GB" b="1" dirty="0"/>
              <a:t>Conceptually</a:t>
            </a:r>
          </a:p>
          <a:p>
            <a:r>
              <a:rPr lang="en-GB" dirty="0"/>
              <a:t>feature map 1: average over all time positions → value 1</a:t>
            </a:r>
          </a:p>
          <a:p>
            <a:r>
              <a:rPr lang="en-GB" dirty="0"/>
              <a:t>feature map 2: average over all time positions → value 2</a:t>
            </a:r>
          </a:p>
          <a:p>
            <a:r>
              <a:rPr lang="en-GB" dirty="0"/>
              <a:t>...</a:t>
            </a:r>
          </a:p>
          <a:p>
            <a:r>
              <a:rPr lang="en-GB" dirty="0"/>
              <a:t>feature map F: average over all time positions → value F</a:t>
            </a:r>
          </a:p>
          <a:p>
            <a:r>
              <a:rPr lang="en-GB" b="1" dirty="0"/>
              <a:t>Interpretation</a:t>
            </a:r>
          </a:p>
          <a:p>
            <a:pPr lvl="1"/>
            <a:r>
              <a:rPr lang="en-GB" dirty="0"/>
              <a:t>For each learned feature:</a:t>
            </a:r>
          </a:p>
          <a:p>
            <a:pPr lvl="1"/>
            <a:r>
              <a:rPr lang="en-GB" b="1" dirty="0"/>
              <a:t>How strongly was this feature active </a:t>
            </a:r>
            <a:r>
              <a:rPr lang="en-GB" b="1" dirty="0">
                <a:highlight>
                  <a:srgbClr val="FFFF00"/>
                </a:highlight>
              </a:rPr>
              <a:t>on average over the complete sequence?</a:t>
            </a:r>
          </a:p>
          <a:p>
            <a:r>
              <a:rPr lang="en-GB" b="1" dirty="0"/>
              <a:t>Typical use</a:t>
            </a:r>
          </a:p>
          <a:p>
            <a:pPr lvl="1"/>
            <a:r>
              <a:rPr lang="en-GB" dirty="0"/>
              <a:t>window classification/regression; </a:t>
            </a:r>
          </a:p>
          <a:p>
            <a:pPr lvl="1"/>
            <a:r>
              <a:rPr lang="en-GB" dirty="0"/>
              <a:t>sequence classification/regression.</a:t>
            </a:r>
          </a:p>
          <a:p>
            <a:endParaRPr lang="en-GB" dirty="0"/>
          </a:p>
        </p:txBody>
      </p:sp>
    </p:spTree>
    <p:extLst>
      <p:ext uri="{BB962C8B-B14F-4D97-AF65-F5344CB8AC3E}">
        <p14:creationId xmlns:p14="http://schemas.microsoft.com/office/powerpoint/2010/main" val="6018892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E5C1DBD-00D4-30D5-6D15-42D3FE85A09E}"/>
              </a:ext>
            </a:extLst>
          </p:cNvPr>
          <p:cNvSpPr>
            <a:spLocks noGrp="1"/>
          </p:cNvSpPr>
          <p:nvPr>
            <p:ph type="title"/>
          </p:nvPr>
        </p:nvSpPr>
        <p:spPr/>
        <p:txBody>
          <a:bodyPr/>
          <a:lstStyle/>
          <a:p>
            <a:r>
              <a:rPr lang="en-GB" dirty="0"/>
              <a:t>Global max pooling</a:t>
            </a:r>
          </a:p>
        </p:txBody>
      </p:sp>
      <p:sp>
        <p:nvSpPr>
          <p:cNvPr id="3" name="Segnaposto contenuto 2">
            <a:extLst>
              <a:ext uri="{FF2B5EF4-FFF2-40B4-BE49-F238E27FC236}">
                <a16:creationId xmlns:a16="http://schemas.microsoft.com/office/drawing/2014/main" id="{DC4ED0D8-6C36-478D-5573-79511973D7AF}"/>
              </a:ext>
            </a:extLst>
          </p:cNvPr>
          <p:cNvSpPr>
            <a:spLocks noGrp="1"/>
          </p:cNvSpPr>
          <p:nvPr>
            <p:ph sz="half" idx="1"/>
          </p:nvPr>
        </p:nvSpPr>
        <p:spPr>
          <a:xfrm>
            <a:off x="677334" y="2160588"/>
            <a:ext cx="6752166" cy="4392611"/>
          </a:xfrm>
        </p:spPr>
        <p:txBody>
          <a:bodyPr>
            <a:normAutofit fontScale="92500" lnSpcReduction="10000"/>
          </a:bodyPr>
          <a:lstStyle/>
          <a:p>
            <a:r>
              <a:rPr lang="en-GB" dirty="0"/>
              <a:t>Global max pooling also converts: [N, L, F]</a:t>
            </a:r>
          </a:p>
          <a:p>
            <a:r>
              <a:rPr lang="en-GB" dirty="0"/>
              <a:t>into: [N, F]</a:t>
            </a:r>
          </a:p>
          <a:p>
            <a:r>
              <a:rPr lang="en-GB" dirty="0"/>
              <a:t>but uses the maximum activation of each feature map.</a:t>
            </a:r>
          </a:p>
          <a:p>
            <a:r>
              <a:rPr lang="en-GB" b="1" dirty="0"/>
              <a:t>Interpretation</a:t>
            </a:r>
          </a:p>
          <a:p>
            <a:r>
              <a:rPr lang="en-GB" dirty="0"/>
              <a:t>For each learned feature:</a:t>
            </a:r>
          </a:p>
          <a:p>
            <a:pPr lvl="1"/>
            <a:r>
              <a:rPr lang="en-GB" b="1" dirty="0">
                <a:highlight>
                  <a:srgbClr val="FFFF00"/>
                </a:highlight>
              </a:rPr>
              <a:t>What was the strongest occurrence of this pattern anywhere in the sequence?</a:t>
            </a:r>
          </a:p>
          <a:p>
            <a:endParaRPr lang="en-GB" b="1" dirty="0"/>
          </a:p>
          <a:p>
            <a:r>
              <a:rPr lang="en-GB" b="1" dirty="0"/>
              <a:t>Example</a:t>
            </a:r>
          </a:p>
          <a:p>
            <a:r>
              <a:rPr lang="en-GB" dirty="0"/>
              <a:t>If one filter detects a fault signature, global max pooling can retain the strongest evidence regardless of where the event occurred.</a:t>
            </a:r>
          </a:p>
          <a:p>
            <a:endParaRPr lang="en-GB" dirty="0"/>
          </a:p>
        </p:txBody>
      </p:sp>
      <p:sp>
        <p:nvSpPr>
          <p:cNvPr id="4" name="Segnaposto contenuto 3">
            <a:extLst>
              <a:ext uri="{FF2B5EF4-FFF2-40B4-BE49-F238E27FC236}">
                <a16:creationId xmlns:a16="http://schemas.microsoft.com/office/drawing/2014/main" id="{8F1DED26-45B9-8DD9-7DEB-EFF0E9BE8235}"/>
              </a:ext>
            </a:extLst>
          </p:cNvPr>
          <p:cNvSpPr>
            <a:spLocks noGrp="1"/>
          </p:cNvSpPr>
          <p:nvPr>
            <p:ph sz="half" idx="2"/>
          </p:nvPr>
        </p:nvSpPr>
        <p:spPr>
          <a:xfrm>
            <a:off x="7623620" y="2160588"/>
            <a:ext cx="4184034" cy="4392612"/>
          </a:xfrm>
        </p:spPr>
        <p:txBody>
          <a:bodyPr>
            <a:normAutofit fontScale="92500" lnSpcReduction="10000"/>
          </a:bodyPr>
          <a:lstStyle/>
          <a:p>
            <a:r>
              <a:rPr lang="en-GB" b="1" dirty="0"/>
              <a:t>Comparison</a:t>
            </a:r>
          </a:p>
          <a:p>
            <a:r>
              <a:rPr lang="en-GB" dirty="0"/>
              <a:t>Global average pooling:</a:t>
            </a:r>
          </a:p>
          <a:p>
            <a:pPr lvl="1"/>
            <a:r>
              <a:rPr lang="en-GB" b="1" dirty="0"/>
              <a:t>reflects overall feature activity. </a:t>
            </a:r>
          </a:p>
          <a:p>
            <a:r>
              <a:rPr lang="en-GB" dirty="0"/>
              <a:t>Global max pooling:</a:t>
            </a:r>
          </a:p>
          <a:p>
            <a:pPr lvl="1"/>
            <a:r>
              <a:rPr lang="en-GB" b="1" dirty="0"/>
              <a:t>emphasizes strongest occurrence. </a:t>
            </a:r>
          </a:p>
          <a:p>
            <a:r>
              <a:rPr lang="en-GB" b="1" dirty="0"/>
              <a:t>Loss of information</a:t>
            </a:r>
          </a:p>
          <a:p>
            <a:r>
              <a:rPr lang="en-GB" b="1" dirty="0"/>
              <a:t>Both discard:</a:t>
            </a:r>
          </a:p>
          <a:p>
            <a:pPr lvl="1"/>
            <a:r>
              <a:rPr lang="en-GB" dirty="0"/>
              <a:t>exact temporal location; </a:t>
            </a:r>
          </a:p>
          <a:p>
            <a:pPr lvl="1"/>
            <a:r>
              <a:rPr lang="en-GB" dirty="0"/>
              <a:t>temporal ordering of the final activations. </a:t>
            </a:r>
          </a:p>
          <a:p>
            <a:r>
              <a:rPr lang="en-GB" b="1" dirty="0">
                <a:highlight>
                  <a:srgbClr val="FFFF00"/>
                </a:highlight>
              </a:rPr>
              <a:t>Therefore they are appropriate only when the final target does not require precise timing.</a:t>
            </a:r>
          </a:p>
          <a:p>
            <a:endParaRPr lang="en-GB" dirty="0"/>
          </a:p>
        </p:txBody>
      </p:sp>
    </p:spTree>
    <p:extLst>
      <p:ext uri="{BB962C8B-B14F-4D97-AF65-F5344CB8AC3E}">
        <p14:creationId xmlns:p14="http://schemas.microsoft.com/office/powerpoint/2010/main" val="111902041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50"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51"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111827"/>
                </a:solidFill>
                <a:effectLst/>
                <a:highlight>
                  <a:srgbClr val="FFFF00"/>
                </a:highlight>
                <a:uFillTx/>
                <a:latin typeface="Aptos Display"/>
                <a:ea typeface="Aptos Display"/>
              </a:rPr>
              <a:t>Global pooling removes the temporal dimension</a:t>
            </a:r>
            <a:endParaRPr lang="it-IT" sz="2200" b="0" u="none" strike="noStrike" dirty="0">
              <a:solidFill>
                <a:srgbClr val="000000"/>
              </a:solidFill>
              <a:effectLst/>
              <a:highlight>
                <a:srgbClr val="FFFF00"/>
              </a:highlight>
              <a:uFillTx/>
              <a:latin typeface="Arial"/>
            </a:endParaRPr>
          </a:p>
        </p:txBody>
      </p:sp>
      <p:sp>
        <p:nvSpPr>
          <p:cNvPr id="552"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dirty="0">
                <a:solidFill>
                  <a:srgbClr val="506070"/>
                </a:solidFill>
                <a:effectLst/>
                <a:uFillTx/>
                <a:latin typeface="Aptos"/>
              </a:rPr>
              <a:t>A temporal feature map becomes one fixed-size vector.</a:t>
            </a:r>
            <a:endParaRPr lang="it-IT" sz="1200" b="0" u="none" strike="noStrike" dirty="0">
              <a:solidFill>
                <a:srgbClr val="000000"/>
              </a:solidFill>
              <a:effectLst/>
              <a:uFillTx/>
              <a:latin typeface="Arial"/>
            </a:endParaRPr>
          </a:p>
        </p:txBody>
      </p:sp>
      <p:sp>
        <p:nvSpPr>
          <p:cNvPr id="553"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54"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u="none" strike="noStrike" dirty="0">
                <a:solidFill>
                  <a:srgbClr val="111827"/>
                </a:solidFill>
                <a:effectLst/>
                <a:uFillTx/>
                <a:latin typeface="Aptos"/>
              </a:rPr>
              <a:t>Global pooling is useful for </a:t>
            </a:r>
            <a:r>
              <a:rPr lang="en-US" sz="1050" b="1" u="none" strike="noStrike" dirty="0">
                <a:solidFill>
                  <a:srgbClr val="111827"/>
                </a:solidFill>
                <a:effectLst/>
                <a:uFillTx/>
                <a:latin typeface="Aptos"/>
              </a:rPr>
              <a:t>sequence/window </a:t>
            </a:r>
            <a:r>
              <a:rPr lang="en-US" sz="1050" b="0" u="none" strike="noStrike" dirty="0">
                <a:solidFill>
                  <a:srgbClr val="111827"/>
                </a:solidFill>
                <a:effectLst/>
                <a:uFillTx/>
                <a:latin typeface="Aptos"/>
              </a:rPr>
              <a:t>classification and regression.</a:t>
            </a:r>
            <a:endParaRPr lang="it-IT" sz="1050" b="0" u="none" strike="noStrike" dirty="0">
              <a:solidFill>
                <a:srgbClr val="000000"/>
              </a:solidFill>
              <a:effectLst/>
              <a:uFillTx/>
              <a:latin typeface="Arial"/>
            </a:endParaRPr>
          </a:p>
        </p:txBody>
      </p:sp>
      <p:sp>
        <p:nvSpPr>
          <p:cNvPr id="555" name="Shape 6"/>
          <p:cNvSpPr/>
          <p:nvPr/>
        </p:nvSpPr>
        <p:spPr>
          <a:xfrm>
            <a:off x="1097280" y="2011680"/>
            <a:ext cx="2377080" cy="776880"/>
          </a:xfrm>
          <a:prstGeom prst="roundRect">
            <a:avLst>
              <a:gd name="adj" fmla="val 5882"/>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56" name="Text 7"/>
          <p:cNvSpPr/>
          <p:nvPr/>
        </p:nvSpPr>
        <p:spPr>
          <a:xfrm>
            <a:off x="1124640" y="2299680"/>
            <a:ext cx="23223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Temporal feature maps</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111827"/>
                </a:solidFill>
                <a:effectLst/>
                <a:uFillTx/>
                <a:latin typeface="Aptos"/>
              </a:rPr>
              <a:t>[N, L, F]</a:t>
            </a:r>
            <a:endParaRPr lang="it-IT" sz="1400" b="0" u="none" strike="noStrike">
              <a:solidFill>
                <a:srgbClr val="000000"/>
              </a:solidFill>
              <a:effectLst/>
              <a:uFillTx/>
              <a:latin typeface="Arial"/>
            </a:endParaRPr>
          </a:p>
        </p:txBody>
      </p:sp>
      <p:sp>
        <p:nvSpPr>
          <p:cNvPr id="557" name="Shape 8"/>
          <p:cNvSpPr/>
          <p:nvPr/>
        </p:nvSpPr>
        <p:spPr>
          <a:xfrm>
            <a:off x="3657600" y="2423160"/>
            <a:ext cx="1188720" cy="360"/>
          </a:xfrm>
          <a:prstGeom prst="line">
            <a:avLst/>
          </a:prstGeom>
          <a:ln w="1778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58" name="Shape 9"/>
          <p:cNvSpPr/>
          <p:nvPr/>
        </p:nvSpPr>
        <p:spPr>
          <a:xfrm>
            <a:off x="5074920" y="1920240"/>
            <a:ext cx="2194200" cy="914040"/>
          </a:xfrm>
          <a:prstGeom prst="roundRect">
            <a:avLst>
              <a:gd name="adj" fmla="val 5000"/>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59" name="Text 10"/>
          <p:cNvSpPr/>
          <p:nvPr/>
        </p:nvSpPr>
        <p:spPr>
          <a:xfrm>
            <a:off x="5102280" y="2277000"/>
            <a:ext cx="21394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Global average</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or max pooling</a:t>
            </a:r>
            <a:endParaRPr lang="it-IT" sz="1300" b="0" u="none" strike="noStrike">
              <a:solidFill>
                <a:srgbClr val="000000"/>
              </a:solidFill>
              <a:effectLst/>
              <a:uFillTx/>
              <a:latin typeface="Arial"/>
            </a:endParaRPr>
          </a:p>
        </p:txBody>
      </p:sp>
      <p:sp>
        <p:nvSpPr>
          <p:cNvPr id="560" name="Shape 11"/>
          <p:cNvSpPr/>
          <p:nvPr/>
        </p:nvSpPr>
        <p:spPr>
          <a:xfrm>
            <a:off x="7498080" y="2423160"/>
            <a:ext cx="1188720" cy="360"/>
          </a:xfrm>
          <a:prstGeom prst="line">
            <a:avLst/>
          </a:prstGeom>
          <a:ln w="1778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61" name="Shape 12"/>
          <p:cNvSpPr/>
          <p:nvPr/>
        </p:nvSpPr>
        <p:spPr>
          <a:xfrm>
            <a:off x="8915400" y="2011680"/>
            <a:ext cx="1828440" cy="776880"/>
          </a:xfrm>
          <a:prstGeom prst="roundRect">
            <a:avLst>
              <a:gd name="adj" fmla="val 5882"/>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62" name="Text 13"/>
          <p:cNvSpPr/>
          <p:nvPr/>
        </p:nvSpPr>
        <p:spPr>
          <a:xfrm>
            <a:off x="8942760" y="2299680"/>
            <a:ext cx="17737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111827"/>
                </a:solidFill>
                <a:effectLst/>
                <a:uFillTx/>
                <a:latin typeface="Aptos"/>
              </a:rPr>
              <a:t>Fixed vector</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111827"/>
                </a:solidFill>
                <a:effectLst/>
                <a:uFillTx/>
                <a:latin typeface="Aptos"/>
              </a:rPr>
              <a:t>[N, F]</a:t>
            </a:r>
            <a:endParaRPr lang="it-IT" sz="1400" b="0" u="none" strike="noStrike">
              <a:solidFill>
                <a:srgbClr val="000000"/>
              </a:solidFill>
              <a:effectLst/>
              <a:uFillTx/>
              <a:latin typeface="Arial"/>
            </a:endParaRPr>
          </a:p>
        </p:txBody>
      </p:sp>
      <p:sp>
        <p:nvSpPr>
          <p:cNvPr id="563" name="Text 14"/>
          <p:cNvSpPr/>
          <p:nvPr/>
        </p:nvSpPr>
        <p:spPr>
          <a:xfrm>
            <a:off x="5075280" y="3988431"/>
            <a:ext cx="30171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11827"/>
                </a:solidFill>
                <a:effectLst/>
                <a:uFillTx/>
                <a:latin typeface="Aptos"/>
              </a:rPr>
              <a:t>Average pooling: overall feature activity</a:t>
            </a:r>
            <a:endParaRPr lang="it-IT" sz="1200" b="0" u="none" strike="noStrike">
              <a:solidFill>
                <a:srgbClr val="000000"/>
              </a:solidFill>
              <a:effectLst/>
              <a:uFillTx/>
              <a:latin typeface="Arial"/>
            </a:endParaRPr>
          </a:p>
        </p:txBody>
      </p:sp>
      <p:sp>
        <p:nvSpPr>
          <p:cNvPr id="564" name="Text 15"/>
          <p:cNvSpPr/>
          <p:nvPr/>
        </p:nvSpPr>
        <p:spPr>
          <a:xfrm>
            <a:off x="5074920" y="3453138"/>
            <a:ext cx="4114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dirty="0">
                <a:solidFill>
                  <a:srgbClr val="111827"/>
                </a:solidFill>
                <a:effectLst/>
                <a:uFillTx/>
                <a:latin typeface="Aptos"/>
              </a:rPr>
              <a:t>Max pooling: strongest occurrence of each feature</a:t>
            </a:r>
            <a:endParaRPr lang="it-IT" sz="1200" b="0" u="none" strike="noStrike" dirty="0">
              <a:solidFill>
                <a:srgbClr val="000000"/>
              </a:solidFill>
              <a:effectLst/>
              <a:uFillTx/>
              <a:latin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B480321-1A1B-2215-CE5D-256C5DEB027C}"/>
              </a:ext>
            </a:extLst>
          </p:cNvPr>
          <p:cNvSpPr>
            <a:spLocks noGrp="1"/>
          </p:cNvSpPr>
          <p:nvPr>
            <p:ph type="title"/>
          </p:nvPr>
        </p:nvSpPr>
        <p:spPr/>
        <p:txBody>
          <a:bodyPr/>
          <a:lstStyle/>
          <a:p>
            <a:r>
              <a:rPr lang="en-GB" dirty="0"/>
              <a:t>CNN sequence classification with global pooling</a:t>
            </a:r>
          </a:p>
        </p:txBody>
      </p:sp>
      <p:sp>
        <p:nvSpPr>
          <p:cNvPr id="3" name="Segnaposto contenuto 2">
            <a:extLst>
              <a:ext uri="{FF2B5EF4-FFF2-40B4-BE49-F238E27FC236}">
                <a16:creationId xmlns:a16="http://schemas.microsoft.com/office/drawing/2014/main" id="{DB0BFA87-DFB4-FFE2-C379-6A01E12A8B14}"/>
              </a:ext>
            </a:extLst>
          </p:cNvPr>
          <p:cNvSpPr>
            <a:spLocks noGrp="1"/>
          </p:cNvSpPr>
          <p:nvPr>
            <p:ph idx="1"/>
          </p:nvPr>
        </p:nvSpPr>
        <p:spPr>
          <a:xfrm>
            <a:off x="677334" y="2160589"/>
            <a:ext cx="8596668" cy="4478336"/>
          </a:xfrm>
        </p:spPr>
        <p:txBody>
          <a:bodyPr>
            <a:normAutofit fontScale="62500" lnSpcReduction="20000"/>
          </a:bodyPr>
          <a:lstStyle/>
          <a:p>
            <a:r>
              <a:rPr lang="en-GB" dirty="0"/>
              <a:t>A common temporal classification architecture is:</a:t>
            </a:r>
          </a:p>
          <a:p>
            <a:pPr lvl="1"/>
            <a:r>
              <a:rPr lang="en-GB" dirty="0"/>
              <a:t>input sequence</a:t>
            </a:r>
          </a:p>
          <a:p>
            <a:pPr lvl="1"/>
            <a:r>
              <a:rPr lang="en-GB" dirty="0"/>
              <a:t>      ↓</a:t>
            </a:r>
          </a:p>
          <a:p>
            <a:pPr lvl="1"/>
            <a:r>
              <a:rPr lang="en-GB" dirty="0"/>
              <a:t>Conv1D</a:t>
            </a:r>
          </a:p>
          <a:p>
            <a:pPr lvl="1"/>
            <a:r>
              <a:rPr lang="en-GB" dirty="0"/>
              <a:t>      ↓</a:t>
            </a:r>
          </a:p>
          <a:p>
            <a:pPr lvl="1"/>
            <a:r>
              <a:rPr lang="en-GB" dirty="0"/>
              <a:t>activation</a:t>
            </a:r>
          </a:p>
          <a:p>
            <a:pPr lvl="1"/>
            <a:r>
              <a:rPr lang="en-GB" dirty="0"/>
              <a:t>      ↓</a:t>
            </a:r>
          </a:p>
          <a:p>
            <a:pPr lvl="1"/>
            <a:r>
              <a:rPr lang="en-GB" dirty="0"/>
              <a:t>Conv1D</a:t>
            </a:r>
          </a:p>
          <a:p>
            <a:pPr lvl="1"/>
            <a:r>
              <a:rPr lang="en-GB" dirty="0"/>
              <a:t>      ↓</a:t>
            </a:r>
          </a:p>
          <a:p>
            <a:pPr lvl="1"/>
            <a:r>
              <a:rPr lang="en-GB" dirty="0"/>
              <a:t>temporal feature maps</a:t>
            </a:r>
          </a:p>
          <a:p>
            <a:pPr lvl="1"/>
            <a:r>
              <a:rPr lang="en-GB" dirty="0"/>
              <a:t>      ↓</a:t>
            </a:r>
          </a:p>
          <a:p>
            <a:pPr lvl="1"/>
            <a:r>
              <a:rPr lang="en-GB" dirty="0"/>
              <a:t>global average / max pooling</a:t>
            </a:r>
          </a:p>
          <a:p>
            <a:pPr lvl="1"/>
            <a:r>
              <a:rPr lang="en-GB" dirty="0"/>
              <a:t>      ↓</a:t>
            </a:r>
          </a:p>
          <a:p>
            <a:pPr lvl="1"/>
            <a:r>
              <a:rPr lang="en-GB" dirty="0"/>
              <a:t>fixed-size vector</a:t>
            </a:r>
          </a:p>
          <a:p>
            <a:pPr lvl="1"/>
            <a:r>
              <a:rPr lang="en-GB" dirty="0"/>
              <a:t>      ↓</a:t>
            </a:r>
          </a:p>
          <a:p>
            <a:pPr lvl="1"/>
            <a:r>
              <a:rPr lang="en-GB" dirty="0"/>
              <a:t>classification layer</a:t>
            </a:r>
          </a:p>
          <a:p>
            <a:pPr lvl="1"/>
            <a:r>
              <a:rPr lang="en-GB" dirty="0"/>
              <a:t>      ↓</a:t>
            </a:r>
          </a:p>
          <a:p>
            <a:pPr lvl="1"/>
            <a:r>
              <a:rPr lang="en-GB" dirty="0"/>
              <a:t>class probabilities</a:t>
            </a:r>
          </a:p>
          <a:p>
            <a:endParaRPr lang="en-GB" dirty="0"/>
          </a:p>
        </p:txBody>
      </p:sp>
    </p:spTree>
    <p:extLst>
      <p:ext uri="{BB962C8B-B14F-4D97-AF65-F5344CB8AC3E}">
        <p14:creationId xmlns:p14="http://schemas.microsoft.com/office/powerpoint/2010/main" val="156394725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0AF7E-7F98-649A-E0FA-5CA329761F0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C76BDF4-F57A-4BC9-6D28-5AFED20B348D}"/>
              </a:ext>
            </a:extLst>
          </p:cNvPr>
          <p:cNvSpPr>
            <a:spLocks noGrp="1"/>
          </p:cNvSpPr>
          <p:nvPr>
            <p:ph type="title"/>
          </p:nvPr>
        </p:nvSpPr>
        <p:spPr/>
        <p:txBody>
          <a:bodyPr/>
          <a:lstStyle/>
          <a:p>
            <a:r>
              <a:rPr lang="en-GB" dirty="0"/>
              <a:t>CNN sequence classification with global pooling</a:t>
            </a:r>
          </a:p>
        </p:txBody>
      </p:sp>
      <p:sp>
        <p:nvSpPr>
          <p:cNvPr id="3" name="Segnaposto contenuto 2">
            <a:extLst>
              <a:ext uri="{FF2B5EF4-FFF2-40B4-BE49-F238E27FC236}">
                <a16:creationId xmlns:a16="http://schemas.microsoft.com/office/drawing/2014/main" id="{6D8ABC89-930A-ADC1-9698-ACD76CDC47DB}"/>
              </a:ext>
            </a:extLst>
          </p:cNvPr>
          <p:cNvSpPr>
            <a:spLocks noGrp="1"/>
          </p:cNvSpPr>
          <p:nvPr>
            <p:ph idx="1"/>
          </p:nvPr>
        </p:nvSpPr>
        <p:spPr/>
        <p:txBody>
          <a:bodyPr>
            <a:normAutofit lnSpcReduction="10000"/>
          </a:bodyPr>
          <a:lstStyle/>
          <a:p>
            <a:r>
              <a:rPr lang="en-GB" b="1" dirty="0"/>
              <a:t>Tensor example</a:t>
            </a:r>
          </a:p>
          <a:p>
            <a:r>
              <a:rPr lang="en-GB" dirty="0"/>
              <a:t>Input: [64, 500, 6], </a:t>
            </a:r>
            <a:r>
              <a:rPr lang="it-IT" dirty="0"/>
              <a:t>[samples, </a:t>
            </a:r>
            <a:r>
              <a:rPr lang="it-IT" dirty="0" err="1"/>
              <a:t>length</a:t>
            </a:r>
            <a:r>
              <a:rPr lang="it-IT" dirty="0"/>
              <a:t>, features]</a:t>
            </a:r>
            <a:endParaRPr lang="en-GB" dirty="0"/>
          </a:p>
          <a:p>
            <a:r>
              <a:rPr lang="en-GB" dirty="0"/>
              <a:t>Final convolutional representation: [64, 125, 64]</a:t>
            </a:r>
          </a:p>
          <a:p>
            <a:r>
              <a:rPr lang="en-GB" dirty="0"/>
              <a:t>After global pooling: [64, 64]</a:t>
            </a:r>
          </a:p>
          <a:p>
            <a:r>
              <a:rPr lang="en-GB" dirty="0"/>
              <a:t>For four classes: [64, 4]</a:t>
            </a:r>
          </a:p>
          <a:p>
            <a:r>
              <a:rPr lang="en-GB" b="1" dirty="0">
                <a:highlight>
                  <a:srgbClr val="FFFF00"/>
                </a:highlight>
              </a:rPr>
              <a:t>Analogy with recurrent models</a:t>
            </a:r>
          </a:p>
          <a:p>
            <a:r>
              <a:rPr lang="en-GB" b="1" dirty="0"/>
              <a:t>RNN</a:t>
            </a:r>
            <a:r>
              <a:rPr lang="en-GB" dirty="0"/>
              <a:t> sequence classification may use:</a:t>
            </a:r>
          </a:p>
          <a:p>
            <a:pPr lvl="1"/>
            <a:r>
              <a:rPr lang="en-GB" dirty="0"/>
              <a:t>final hidden state → classifier</a:t>
            </a:r>
          </a:p>
          <a:p>
            <a:r>
              <a:rPr lang="en-GB" b="1" dirty="0"/>
              <a:t>CNN</a:t>
            </a:r>
            <a:r>
              <a:rPr lang="en-GB" dirty="0"/>
              <a:t> sequence classification may use:</a:t>
            </a:r>
          </a:p>
          <a:p>
            <a:pPr lvl="1"/>
            <a:r>
              <a:rPr lang="en-GB" dirty="0"/>
              <a:t>global pooled feature maps → classifier</a:t>
            </a:r>
          </a:p>
          <a:p>
            <a:endParaRPr lang="en-GB" dirty="0"/>
          </a:p>
        </p:txBody>
      </p:sp>
    </p:spTree>
    <p:extLst>
      <p:ext uri="{BB962C8B-B14F-4D97-AF65-F5344CB8AC3E}">
        <p14:creationId xmlns:p14="http://schemas.microsoft.com/office/powerpoint/2010/main" val="32985335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5"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66"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67"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CNN sequence classification with global pooling</a:t>
            </a:r>
            <a:endParaRPr lang="it-IT" sz="2200" b="0" u="none" strike="noStrike">
              <a:solidFill>
                <a:srgbClr val="000000"/>
              </a:solidFill>
              <a:effectLst/>
              <a:uFillTx/>
              <a:latin typeface="Arial"/>
            </a:endParaRPr>
          </a:p>
        </p:txBody>
      </p:sp>
      <p:sp>
        <p:nvSpPr>
          <p:cNvPr id="568"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dirty="0">
                <a:solidFill>
                  <a:srgbClr val="506070"/>
                </a:solidFill>
                <a:effectLst/>
                <a:uFillTx/>
                <a:latin typeface="Aptos"/>
              </a:rPr>
              <a:t>A temporal CNN can convert a sequence into class probabilities.</a:t>
            </a:r>
            <a:endParaRPr lang="it-IT" sz="1200" b="0" u="none" strike="noStrike" dirty="0">
              <a:solidFill>
                <a:srgbClr val="000000"/>
              </a:solidFill>
              <a:effectLst/>
              <a:uFillTx/>
              <a:latin typeface="Arial"/>
            </a:endParaRPr>
          </a:p>
        </p:txBody>
      </p:sp>
      <p:sp>
        <p:nvSpPr>
          <p:cNvPr id="569"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70"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dirty="0">
                <a:solidFill>
                  <a:srgbClr val="111827"/>
                </a:solidFill>
                <a:effectLst/>
                <a:uFillTx/>
                <a:latin typeface="Aptos"/>
              </a:rPr>
              <a:t>Global pooling is the CNN analogue of reducing a sequence to one representation.</a:t>
            </a:r>
            <a:endParaRPr lang="it-IT" sz="1000" b="0" u="none" strike="noStrike" dirty="0">
              <a:solidFill>
                <a:srgbClr val="000000"/>
              </a:solidFill>
              <a:effectLst/>
              <a:uFillTx/>
              <a:latin typeface="Arial"/>
            </a:endParaRPr>
          </a:p>
        </p:txBody>
      </p:sp>
      <p:sp>
        <p:nvSpPr>
          <p:cNvPr id="571" name="Shape 6"/>
          <p:cNvSpPr/>
          <p:nvPr/>
        </p:nvSpPr>
        <p:spPr>
          <a:xfrm>
            <a:off x="914400" y="2743200"/>
            <a:ext cx="1188360" cy="685440"/>
          </a:xfrm>
          <a:prstGeom prst="roundRect">
            <a:avLst>
              <a:gd name="adj" fmla="val 6667"/>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72" name="Text 7"/>
          <p:cNvSpPr/>
          <p:nvPr/>
        </p:nvSpPr>
        <p:spPr>
          <a:xfrm>
            <a:off x="941760" y="2985480"/>
            <a:ext cx="11336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input</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111827"/>
                </a:solidFill>
                <a:effectLst/>
                <a:uFillTx/>
                <a:latin typeface="Aptos"/>
              </a:rPr>
              <a:t>[N,L,d]</a:t>
            </a:r>
            <a:endParaRPr lang="it-IT" sz="1100" b="0" u="none" strike="noStrike">
              <a:solidFill>
                <a:srgbClr val="000000"/>
              </a:solidFill>
              <a:effectLst/>
              <a:uFillTx/>
              <a:latin typeface="Arial"/>
            </a:endParaRPr>
          </a:p>
        </p:txBody>
      </p:sp>
      <p:sp>
        <p:nvSpPr>
          <p:cNvPr id="573" name="Shape 8"/>
          <p:cNvSpPr/>
          <p:nvPr/>
        </p:nvSpPr>
        <p:spPr>
          <a:xfrm>
            <a:off x="2121120" y="3090600"/>
            <a:ext cx="393480" cy="360"/>
          </a:xfrm>
          <a:prstGeom prst="line">
            <a:avLst/>
          </a:prstGeom>
          <a:ln w="1270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74" name="Shape 9"/>
          <p:cNvSpPr/>
          <p:nvPr/>
        </p:nvSpPr>
        <p:spPr>
          <a:xfrm>
            <a:off x="2560320" y="2743200"/>
            <a:ext cx="1188360" cy="685440"/>
          </a:xfrm>
          <a:prstGeom prst="roundRect">
            <a:avLst>
              <a:gd name="adj" fmla="val 6667"/>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75" name="Text 10"/>
          <p:cNvSpPr/>
          <p:nvPr/>
        </p:nvSpPr>
        <p:spPr>
          <a:xfrm>
            <a:off x="2587680" y="2985480"/>
            <a:ext cx="11336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Conv1D</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111827"/>
                </a:solidFill>
                <a:effectLst/>
                <a:uFillTx/>
                <a:latin typeface="Aptos"/>
              </a:rPr>
              <a:t>features</a:t>
            </a:r>
            <a:endParaRPr lang="it-IT" sz="1100" b="0" u="none" strike="noStrike">
              <a:solidFill>
                <a:srgbClr val="000000"/>
              </a:solidFill>
              <a:effectLst/>
              <a:uFillTx/>
              <a:latin typeface="Arial"/>
            </a:endParaRPr>
          </a:p>
        </p:txBody>
      </p:sp>
      <p:sp>
        <p:nvSpPr>
          <p:cNvPr id="576" name="Shape 11"/>
          <p:cNvSpPr/>
          <p:nvPr/>
        </p:nvSpPr>
        <p:spPr>
          <a:xfrm>
            <a:off x="3767040" y="3090600"/>
            <a:ext cx="393480" cy="360"/>
          </a:xfrm>
          <a:prstGeom prst="line">
            <a:avLst/>
          </a:prstGeom>
          <a:ln w="1270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77" name="Shape 12"/>
          <p:cNvSpPr/>
          <p:nvPr/>
        </p:nvSpPr>
        <p:spPr>
          <a:xfrm>
            <a:off x="4206240" y="2743200"/>
            <a:ext cx="1188360" cy="685440"/>
          </a:xfrm>
          <a:prstGeom prst="roundRect">
            <a:avLst>
              <a:gd name="adj" fmla="val 6667"/>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78" name="Text 13"/>
          <p:cNvSpPr/>
          <p:nvPr/>
        </p:nvSpPr>
        <p:spPr>
          <a:xfrm>
            <a:off x="4233600" y="2985480"/>
            <a:ext cx="11336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Conv1D</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111827"/>
                </a:solidFill>
                <a:effectLst/>
                <a:uFillTx/>
                <a:latin typeface="Aptos"/>
              </a:rPr>
              <a:t>features</a:t>
            </a:r>
            <a:endParaRPr lang="it-IT" sz="1100" b="0" u="none" strike="noStrike">
              <a:solidFill>
                <a:srgbClr val="000000"/>
              </a:solidFill>
              <a:effectLst/>
              <a:uFillTx/>
              <a:latin typeface="Arial"/>
            </a:endParaRPr>
          </a:p>
        </p:txBody>
      </p:sp>
      <p:sp>
        <p:nvSpPr>
          <p:cNvPr id="579" name="Shape 14"/>
          <p:cNvSpPr/>
          <p:nvPr/>
        </p:nvSpPr>
        <p:spPr>
          <a:xfrm>
            <a:off x="5412960" y="3090600"/>
            <a:ext cx="393480" cy="360"/>
          </a:xfrm>
          <a:prstGeom prst="line">
            <a:avLst/>
          </a:prstGeom>
          <a:ln w="1270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80" name="Shape 15"/>
          <p:cNvSpPr/>
          <p:nvPr/>
        </p:nvSpPr>
        <p:spPr>
          <a:xfrm>
            <a:off x="5852160" y="2743200"/>
            <a:ext cx="1188360" cy="685440"/>
          </a:xfrm>
          <a:prstGeom prst="roundRect">
            <a:avLst>
              <a:gd name="adj" fmla="val 6667"/>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81" name="Text 16"/>
          <p:cNvSpPr/>
          <p:nvPr/>
        </p:nvSpPr>
        <p:spPr>
          <a:xfrm>
            <a:off x="5879520" y="2985480"/>
            <a:ext cx="11336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global</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111827"/>
                </a:solidFill>
                <a:effectLst/>
                <a:uFillTx/>
                <a:latin typeface="Aptos"/>
              </a:rPr>
              <a:t>pooling</a:t>
            </a:r>
            <a:endParaRPr lang="it-IT" sz="1100" b="0" u="none" strike="noStrike">
              <a:solidFill>
                <a:srgbClr val="000000"/>
              </a:solidFill>
              <a:effectLst/>
              <a:uFillTx/>
              <a:latin typeface="Arial"/>
            </a:endParaRPr>
          </a:p>
        </p:txBody>
      </p:sp>
      <p:sp>
        <p:nvSpPr>
          <p:cNvPr id="582" name="Shape 17"/>
          <p:cNvSpPr/>
          <p:nvPr/>
        </p:nvSpPr>
        <p:spPr>
          <a:xfrm>
            <a:off x="7058880" y="3090600"/>
            <a:ext cx="393480" cy="360"/>
          </a:xfrm>
          <a:prstGeom prst="line">
            <a:avLst/>
          </a:prstGeom>
          <a:ln w="1270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83" name="Shape 18"/>
          <p:cNvSpPr/>
          <p:nvPr/>
        </p:nvSpPr>
        <p:spPr>
          <a:xfrm>
            <a:off x="7498080" y="2743200"/>
            <a:ext cx="1188360" cy="685440"/>
          </a:xfrm>
          <a:prstGeom prst="roundRect">
            <a:avLst>
              <a:gd name="adj" fmla="val 6667"/>
            </a:avLst>
          </a:prstGeom>
          <a:solidFill>
            <a:srgbClr val="F1EAFE"/>
          </a:solidFill>
          <a:ln w="15240">
            <a:solidFill>
              <a:srgbClr val="7C3AE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84" name="Text 19"/>
          <p:cNvSpPr/>
          <p:nvPr/>
        </p:nvSpPr>
        <p:spPr>
          <a:xfrm>
            <a:off x="7525440" y="2985480"/>
            <a:ext cx="11336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fixed vector</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111827"/>
                </a:solidFill>
                <a:effectLst/>
                <a:uFillTx/>
                <a:latin typeface="Aptos"/>
              </a:rPr>
              <a:t>[N,F]</a:t>
            </a:r>
            <a:endParaRPr lang="it-IT" sz="1100" b="0" u="none" strike="noStrike">
              <a:solidFill>
                <a:srgbClr val="000000"/>
              </a:solidFill>
              <a:effectLst/>
              <a:uFillTx/>
              <a:latin typeface="Arial"/>
            </a:endParaRPr>
          </a:p>
        </p:txBody>
      </p:sp>
      <p:sp>
        <p:nvSpPr>
          <p:cNvPr id="585" name="Shape 20"/>
          <p:cNvSpPr/>
          <p:nvPr/>
        </p:nvSpPr>
        <p:spPr>
          <a:xfrm>
            <a:off x="8704800" y="3090600"/>
            <a:ext cx="393480" cy="360"/>
          </a:xfrm>
          <a:prstGeom prst="line">
            <a:avLst/>
          </a:prstGeom>
          <a:ln w="1270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86" name="Shape 21"/>
          <p:cNvSpPr/>
          <p:nvPr/>
        </p:nvSpPr>
        <p:spPr>
          <a:xfrm>
            <a:off x="9144000" y="2743200"/>
            <a:ext cx="1188360" cy="685440"/>
          </a:xfrm>
          <a:prstGeom prst="roundRect">
            <a:avLst>
              <a:gd name="adj" fmla="val 6667"/>
            </a:avLst>
          </a:prstGeom>
          <a:solidFill>
            <a:srgbClr val="FFECE9"/>
          </a:solidFill>
          <a:ln w="15240">
            <a:solidFill>
              <a:srgbClr val="E94B3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87" name="Text 22"/>
          <p:cNvSpPr/>
          <p:nvPr/>
        </p:nvSpPr>
        <p:spPr>
          <a:xfrm>
            <a:off x="9171360" y="2985480"/>
            <a:ext cx="11336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u="none" strike="noStrike">
                <a:solidFill>
                  <a:srgbClr val="111827"/>
                </a:solidFill>
                <a:effectLst/>
                <a:uFillTx/>
                <a:latin typeface="Aptos"/>
              </a:rPr>
              <a:t>classifier</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111827"/>
                </a:solidFill>
                <a:effectLst/>
                <a:uFillTx/>
                <a:latin typeface="Aptos"/>
              </a:rPr>
              <a:t>[N,K]</a:t>
            </a:r>
            <a:endParaRPr lang="it-IT" sz="1100" b="0" u="none" strike="noStrike">
              <a:solidFill>
                <a:srgbClr val="000000"/>
              </a:solidFill>
              <a:effectLst/>
              <a:uFillTx/>
              <a:latin typeface="Arial"/>
            </a:endParaRPr>
          </a:p>
        </p:txBody>
      </p:sp>
      <p:sp>
        <p:nvSpPr>
          <p:cNvPr id="588" name="Text 23"/>
          <p:cNvSpPr/>
          <p:nvPr/>
        </p:nvSpPr>
        <p:spPr>
          <a:xfrm>
            <a:off x="914400" y="4251960"/>
            <a:ext cx="77720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111827"/>
                </a:solidFill>
                <a:effectLst/>
                <a:uFillTx/>
                <a:latin typeface="Aptos"/>
              </a:rPr>
              <a:t>Example: [64, 500, 6] → [64, 125, 64] → [64, 64] → [64, 4]</a:t>
            </a:r>
            <a:endParaRPr lang="it-IT" sz="1300" b="0" u="none" strike="noStrike">
              <a:solidFill>
                <a:srgbClr val="000000"/>
              </a:solidFill>
              <a:effectLst/>
              <a:uFillTx/>
              <a:latin typeface="Arial"/>
            </a:endParaRPr>
          </a:p>
        </p:txBody>
      </p:sp>
      <p:sp>
        <p:nvSpPr>
          <p:cNvPr id="2" name="CasellaDiTesto 1">
            <a:extLst>
              <a:ext uri="{FF2B5EF4-FFF2-40B4-BE49-F238E27FC236}">
                <a16:creationId xmlns:a16="http://schemas.microsoft.com/office/drawing/2014/main" id="{053B5D39-2CCF-B562-48D6-B5FA7D8F6A8C}"/>
              </a:ext>
            </a:extLst>
          </p:cNvPr>
          <p:cNvSpPr txBox="1"/>
          <p:nvPr/>
        </p:nvSpPr>
        <p:spPr>
          <a:xfrm>
            <a:off x="1257300" y="5172075"/>
            <a:ext cx="2041140" cy="276999"/>
          </a:xfrm>
          <a:prstGeom prst="rect">
            <a:avLst/>
          </a:prstGeom>
          <a:noFill/>
        </p:spPr>
        <p:txBody>
          <a:bodyPr wrap="square" rtlCol="0">
            <a:spAutoFit/>
          </a:bodyPr>
          <a:lstStyle/>
          <a:p>
            <a:r>
              <a:rPr lang="it-IT" sz="1200" dirty="0"/>
              <a:t>[samples, </a:t>
            </a:r>
            <a:r>
              <a:rPr lang="it-IT" sz="1200" dirty="0" err="1"/>
              <a:t>length</a:t>
            </a:r>
            <a:r>
              <a:rPr lang="it-IT" sz="1200" dirty="0"/>
              <a:t>, features]</a:t>
            </a:r>
            <a:endParaRPr lang="en-GB" sz="1200" dirty="0"/>
          </a:p>
        </p:txBody>
      </p:sp>
      <p:cxnSp>
        <p:nvCxnSpPr>
          <p:cNvPr id="4" name="Connettore 2 3">
            <a:extLst>
              <a:ext uri="{FF2B5EF4-FFF2-40B4-BE49-F238E27FC236}">
                <a16:creationId xmlns:a16="http://schemas.microsoft.com/office/drawing/2014/main" id="{C7E55970-B9E7-7B85-B584-D0C8AE310E99}"/>
              </a:ext>
            </a:extLst>
          </p:cNvPr>
          <p:cNvCxnSpPr/>
          <p:nvPr/>
        </p:nvCxnSpPr>
        <p:spPr>
          <a:xfrm flipV="1">
            <a:off x="1762125" y="4480200"/>
            <a:ext cx="358995" cy="577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9967506-0A8F-8FDA-C0DC-76A07C4B61DF}"/>
              </a:ext>
            </a:extLst>
          </p:cNvPr>
          <p:cNvSpPr>
            <a:spLocks noGrp="1"/>
          </p:cNvSpPr>
          <p:nvPr>
            <p:ph type="title"/>
          </p:nvPr>
        </p:nvSpPr>
        <p:spPr/>
        <p:txBody>
          <a:bodyPr/>
          <a:lstStyle/>
          <a:p>
            <a:r>
              <a:rPr lang="en-GB" dirty="0" err="1"/>
              <a:t>Strided</a:t>
            </a:r>
            <a:r>
              <a:rPr lang="en-GB" dirty="0"/>
              <a:t> convolution or pooling?</a:t>
            </a:r>
          </a:p>
        </p:txBody>
      </p:sp>
      <p:sp>
        <p:nvSpPr>
          <p:cNvPr id="3" name="Segnaposto contenuto 2">
            <a:extLst>
              <a:ext uri="{FF2B5EF4-FFF2-40B4-BE49-F238E27FC236}">
                <a16:creationId xmlns:a16="http://schemas.microsoft.com/office/drawing/2014/main" id="{420B147F-7C01-886D-F7D3-C930D353B86B}"/>
              </a:ext>
            </a:extLst>
          </p:cNvPr>
          <p:cNvSpPr>
            <a:spLocks noGrp="1"/>
          </p:cNvSpPr>
          <p:nvPr>
            <p:ph idx="1"/>
          </p:nvPr>
        </p:nvSpPr>
        <p:spPr/>
        <p:txBody>
          <a:bodyPr>
            <a:normAutofit/>
          </a:bodyPr>
          <a:lstStyle/>
          <a:p>
            <a:r>
              <a:rPr lang="en-GB" b="1" dirty="0"/>
              <a:t>Both can reduce temporal resolution.</a:t>
            </a:r>
          </a:p>
          <a:p>
            <a:r>
              <a:rPr lang="en-GB" b="1" dirty="0" err="1">
                <a:highlight>
                  <a:srgbClr val="FFFF00"/>
                </a:highlight>
              </a:rPr>
              <a:t>Strided</a:t>
            </a:r>
            <a:r>
              <a:rPr lang="en-GB" b="1" dirty="0">
                <a:highlight>
                  <a:srgbClr val="FFFF00"/>
                </a:highlight>
              </a:rPr>
              <a:t> convolution</a:t>
            </a:r>
          </a:p>
          <a:p>
            <a:pPr lvl="1"/>
            <a:r>
              <a:rPr lang="en-GB" dirty="0" err="1"/>
              <a:t>downsampling</a:t>
            </a:r>
            <a:r>
              <a:rPr lang="en-GB" dirty="0"/>
              <a:t> and feature extraction happen together; </a:t>
            </a:r>
          </a:p>
          <a:p>
            <a:pPr lvl="1"/>
            <a:r>
              <a:rPr lang="en-GB" dirty="0"/>
              <a:t>weights are learned; </a:t>
            </a:r>
          </a:p>
          <a:p>
            <a:pPr lvl="1"/>
            <a:r>
              <a:rPr lang="en-GB" b="1" dirty="0">
                <a:highlight>
                  <a:srgbClr val="FFFF00"/>
                </a:highlight>
              </a:rPr>
              <a:t>potentially more flexible. </a:t>
            </a:r>
          </a:p>
          <a:p>
            <a:r>
              <a:rPr lang="en-GB" b="1" dirty="0">
                <a:highlight>
                  <a:srgbClr val="FFFF00"/>
                </a:highlight>
              </a:rPr>
              <a:t>Pooling</a:t>
            </a:r>
          </a:p>
          <a:p>
            <a:pPr lvl="1"/>
            <a:r>
              <a:rPr lang="en-GB" dirty="0"/>
              <a:t>uses a predefined aggregation rule; </a:t>
            </a:r>
          </a:p>
          <a:p>
            <a:pPr lvl="1"/>
            <a:r>
              <a:rPr lang="en-GB" dirty="0"/>
              <a:t>no additional learned filter weights; </a:t>
            </a:r>
          </a:p>
          <a:p>
            <a:pPr lvl="1"/>
            <a:r>
              <a:rPr lang="en-GB" b="1" dirty="0">
                <a:highlight>
                  <a:srgbClr val="FFFF00"/>
                </a:highlight>
              </a:rPr>
              <a:t>simple and computationally efficient. </a:t>
            </a:r>
          </a:p>
          <a:p>
            <a:endParaRPr lang="en-GB" dirty="0"/>
          </a:p>
        </p:txBody>
      </p:sp>
    </p:spTree>
    <p:extLst>
      <p:ext uri="{BB962C8B-B14F-4D97-AF65-F5344CB8AC3E}">
        <p14:creationId xmlns:p14="http://schemas.microsoft.com/office/powerpoint/2010/main" val="13821980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DFBAF-DC14-6725-41AA-075246E336D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A4E3A5A-0A91-2F43-7E98-50DE24393F8B}"/>
              </a:ext>
            </a:extLst>
          </p:cNvPr>
          <p:cNvSpPr>
            <a:spLocks noGrp="1"/>
          </p:cNvSpPr>
          <p:nvPr>
            <p:ph type="title"/>
          </p:nvPr>
        </p:nvSpPr>
        <p:spPr/>
        <p:txBody>
          <a:bodyPr/>
          <a:lstStyle/>
          <a:p>
            <a:r>
              <a:rPr lang="en-GB" dirty="0" err="1"/>
              <a:t>Strided</a:t>
            </a:r>
            <a:r>
              <a:rPr lang="en-GB" dirty="0"/>
              <a:t> convolution or pooling?</a:t>
            </a:r>
          </a:p>
        </p:txBody>
      </p:sp>
      <p:sp>
        <p:nvSpPr>
          <p:cNvPr id="3" name="Segnaposto contenuto 2">
            <a:extLst>
              <a:ext uri="{FF2B5EF4-FFF2-40B4-BE49-F238E27FC236}">
                <a16:creationId xmlns:a16="http://schemas.microsoft.com/office/drawing/2014/main" id="{F4F4126E-4B62-3D1F-6B47-8E2319524DEB}"/>
              </a:ext>
            </a:extLst>
          </p:cNvPr>
          <p:cNvSpPr>
            <a:spLocks noGrp="1"/>
          </p:cNvSpPr>
          <p:nvPr>
            <p:ph idx="1"/>
          </p:nvPr>
        </p:nvSpPr>
        <p:spPr/>
        <p:txBody>
          <a:bodyPr>
            <a:normAutofit fontScale="85000" lnSpcReduction="20000"/>
          </a:bodyPr>
          <a:lstStyle/>
          <a:p>
            <a:r>
              <a:rPr lang="en-GB" b="1" dirty="0"/>
              <a:t>Example</a:t>
            </a:r>
          </a:p>
          <a:p>
            <a:r>
              <a:rPr lang="en-GB" dirty="0"/>
              <a:t>Option A:</a:t>
            </a:r>
          </a:p>
          <a:p>
            <a:pPr lvl="1"/>
            <a:r>
              <a:rPr lang="en-GB" dirty="0"/>
              <a:t>Conv1D stride 2</a:t>
            </a:r>
          </a:p>
          <a:p>
            <a:r>
              <a:rPr lang="en-GB" dirty="0"/>
              <a:t>Option B:</a:t>
            </a:r>
          </a:p>
          <a:p>
            <a:pPr lvl="1"/>
            <a:r>
              <a:rPr lang="en-GB" dirty="0"/>
              <a:t>Conv1D stride 1</a:t>
            </a:r>
          </a:p>
          <a:p>
            <a:pPr lvl="1"/>
            <a:r>
              <a:rPr lang="en-GB" dirty="0"/>
              <a:t>↓</a:t>
            </a:r>
          </a:p>
          <a:p>
            <a:pPr lvl="1"/>
            <a:r>
              <a:rPr lang="en-GB" dirty="0" err="1"/>
              <a:t>MaxPool</a:t>
            </a:r>
            <a:r>
              <a:rPr lang="en-GB" dirty="0"/>
              <a:t> stride 2</a:t>
            </a:r>
          </a:p>
          <a:p>
            <a:r>
              <a:rPr lang="en-GB" dirty="0"/>
              <a:t>Both can reduce temporal length approximately by a factor of 2.</a:t>
            </a:r>
          </a:p>
          <a:p>
            <a:endParaRPr lang="en-GB" b="1" dirty="0"/>
          </a:p>
          <a:p>
            <a:r>
              <a:rPr lang="en-GB" b="1" dirty="0"/>
              <a:t>Which should be used?</a:t>
            </a:r>
          </a:p>
          <a:p>
            <a:r>
              <a:rPr lang="en-GB" dirty="0"/>
              <a:t>This is an architectural choice to be validated empirically.</a:t>
            </a:r>
          </a:p>
          <a:p>
            <a:r>
              <a:rPr lang="en-GB" dirty="0"/>
              <a:t>Modern temporal CNNs often use </a:t>
            </a:r>
            <a:r>
              <a:rPr lang="en-GB" dirty="0" err="1"/>
              <a:t>strided</a:t>
            </a:r>
            <a:r>
              <a:rPr lang="en-GB" dirty="0"/>
              <a:t> convolution, pooling, or both depending on the task.</a:t>
            </a:r>
          </a:p>
          <a:p>
            <a:endParaRPr lang="en-GB" dirty="0"/>
          </a:p>
        </p:txBody>
      </p:sp>
    </p:spTree>
    <p:extLst>
      <p:ext uri="{BB962C8B-B14F-4D97-AF65-F5344CB8AC3E}">
        <p14:creationId xmlns:p14="http://schemas.microsoft.com/office/powerpoint/2010/main" val="61208796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9"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90"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91"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Strided convolution or pooling?</a:t>
            </a:r>
            <a:endParaRPr lang="it-IT" sz="2200" b="0" u="none" strike="noStrike">
              <a:solidFill>
                <a:srgbClr val="000000"/>
              </a:solidFill>
              <a:effectLst/>
              <a:uFillTx/>
              <a:latin typeface="Arial"/>
            </a:endParaRPr>
          </a:p>
        </p:txBody>
      </p:sp>
      <p:sp>
        <p:nvSpPr>
          <p:cNvPr id="592"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u="none" strike="noStrike" dirty="0">
                <a:solidFill>
                  <a:srgbClr val="506070"/>
                </a:solidFill>
                <a:effectLst/>
                <a:uFillTx/>
                <a:latin typeface="Aptos"/>
              </a:rPr>
              <a:t>Both can reduce temporal length, but they do it differently.</a:t>
            </a:r>
            <a:endParaRPr lang="it-IT" sz="1050" u="none" strike="noStrike" dirty="0">
              <a:solidFill>
                <a:srgbClr val="000000"/>
              </a:solidFill>
              <a:effectLst/>
              <a:uFillTx/>
              <a:latin typeface="Arial"/>
            </a:endParaRPr>
          </a:p>
        </p:txBody>
      </p:sp>
      <p:sp>
        <p:nvSpPr>
          <p:cNvPr id="593" name="Shape 4"/>
          <p:cNvSpPr/>
          <p:nvPr/>
        </p:nvSpPr>
        <p:spPr>
          <a:xfrm>
            <a:off x="502920" y="6364080"/>
            <a:ext cx="10240920" cy="383760"/>
          </a:xfrm>
          <a:prstGeom prst="rect">
            <a:avLst/>
          </a:prstGeom>
          <a:solidFill>
            <a:srgbClr val="FFFFFF"/>
          </a:solidFill>
          <a:ln w="10160">
            <a:solidFill>
              <a:srgbClr val="D1D5D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94" name="Text 5"/>
          <p:cNvSpPr/>
          <p:nvPr/>
        </p:nvSpPr>
        <p:spPr>
          <a:xfrm>
            <a:off x="594360" y="6455520"/>
            <a:ext cx="10058040" cy="12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dirty="0">
                <a:solidFill>
                  <a:srgbClr val="111827"/>
                </a:solidFill>
                <a:effectLst/>
                <a:uFillTx/>
                <a:latin typeface="Aptos"/>
              </a:rPr>
              <a:t>This is an architectural choice to validate empirically.</a:t>
            </a:r>
            <a:endParaRPr lang="it-IT" sz="1400" b="1" u="none" strike="noStrike" dirty="0">
              <a:solidFill>
                <a:srgbClr val="000000"/>
              </a:solidFill>
              <a:effectLst/>
              <a:uFillTx/>
              <a:latin typeface="Arial"/>
            </a:endParaRPr>
          </a:p>
        </p:txBody>
      </p:sp>
      <p:sp>
        <p:nvSpPr>
          <p:cNvPr id="595" name="Text 6"/>
          <p:cNvSpPr/>
          <p:nvPr/>
        </p:nvSpPr>
        <p:spPr>
          <a:xfrm>
            <a:off x="1097280" y="1371600"/>
            <a:ext cx="292572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86BC25"/>
                </a:solidFill>
                <a:effectLst/>
                <a:uFillTx/>
                <a:latin typeface="Aptos"/>
              </a:rPr>
              <a:t>Option A: strided convolution</a:t>
            </a:r>
            <a:endParaRPr lang="it-IT" sz="1400" b="0" u="none" strike="noStrike">
              <a:solidFill>
                <a:srgbClr val="000000"/>
              </a:solidFill>
              <a:effectLst/>
              <a:uFillTx/>
              <a:latin typeface="Arial"/>
            </a:endParaRPr>
          </a:p>
        </p:txBody>
      </p:sp>
      <p:sp>
        <p:nvSpPr>
          <p:cNvPr id="596" name="Shape 7"/>
          <p:cNvSpPr/>
          <p:nvPr/>
        </p:nvSpPr>
        <p:spPr>
          <a:xfrm>
            <a:off x="1097280" y="2011680"/>
            <a:ext cx="1828440" cy="685440"/>
          </a:xfrm>
          <a:prstGeom prst="roundRect">
            <a:avLst>
              <a:gd name="adj" fmla="val 6667"/>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97" name="Text 8"/>
          <p:cNvSpPr/>
          <p:nvPr/>
        </p:nvSpPr>
        <p:spPr>
          <a:xfrm>
            <a:off x="1124640" y="2253960"/>
            <a:ext cx="17737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Conv1D</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stride 2</a:t>
            </a:r>
            <a:endParaRPr lang="it-IT" sz="1300" b="0" u="none" strike="noStrike">
              <a:solidFill>
                <a:srgbClr val="000000"/>
              </a:solidFill>
              <a:effectLst/>
              <a:uFillTx/>
              <a:latin typeface="Arial"/>
            </a:endParaRPr>
          </a:p>
        </p:txBody>
      </p:sp>
      <p:sp>
        <p:nvSpPr>
          <p:cNvPr id="600" name="Text 11"/>
          <p:cNvSpPr/>
          <p:nvPr/>
        </p:nvSpPr>
        <p:spPr>
          <a:xfrm>
            <a:off x="962080" y="2935080"/>
            <a:ext cx="22309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dirty="0">
                <a:solidFill>
                  <a:srgbClr val="111827"/>
                </a:solidFill>
                <a:effectLst/>
                <a:highlight>
                  <a:srgbClr val="FFFF00"/>
                </a:highlight>
                <a:uFillTx/>
                <a:latin typeface="Aptos"/>
              </a:rPr>
              <a:t>feature extraction</a:t>
            </a:r>
            <a:endParaRPr lang="it-IT" sz="1200" b="0" u="none" strike="noStrike" dirty="0">
              <a:solidFill>
                <a:srgbClr val="000000"/>
              </a:solidFill>
              <a:effectLst/>
              <a:highlight>
                <a:srgbClr val="FFFF00"/>
              </a:highlight>
              <a:uFillTx/>
              <a:latin typeface="Arial"/>
            </a:endParaRPr>
          </a:p>
          <a:p>
            <a:pPr algn="ctr" defTabSz="914400">
              <a:lnSpc>
                <a:spcPct val="100000"/>
              </a:lnSpc>
              <a:tabLst>
                <a:tab pos="0" algn="l"/>
              </a:tabLst>
            </a:pPr>
            <a:r>
              <a:rPr lang="en-US" sz="1200" b="1" u="none" strike="noStrike" dirty="0">
                <a:solidFill>
                  <a:srgbClr val="111827"/>
                </a:solidFill>
                <a:effectLst/>
                <a:highlight>
                  <a:srgbClr val="FFFF00"/>
                </a:highlight>
                <a:uFillTx/>
                <a:latin typeface="Aptos"/>
              </a:rPr>
              <a:t>+ </a:t>
            </a:r>
            <a:r>
              <a:rPr lang="en-US" sz="1200" b="1" u="none" strike="noStrike" dirty="0" err="1">
                <a:solidFill>
                  <a:srgbClr val="111827"/>
                </a:solidFill>
                <a:effectLst/>
                <a:highlight>
                  <a:srgbClr val="FFFF00"/>
                </a:highlight>
                <a:uFillTx/>
                <a:latin typeface="Aptos"/>
              </a:rPr>
              <a:t>downsampling</a:t>
            </a:r>
            <a:endParaRPr lang="it-IT" sz="1200" b="0" u="none" strike="noStrike" dirty="0">
              <a:solidFill>
                <a:srgbClr val="000000"/>
              </a:solidFill>
              <a:effectLst/>
              <a:highlight>
                <a:srgbClr val="FFFF00"/>
              </a:highlight>
              <a:uFillTx/>
              <a:latin typeface="Arial"/>
            </a:endParaRPr>
          </a:p>
        </p:txBody>
      </p:sp>
      <p:sp>
        <p:nvSpPr>
          <p:cNvPr id="601" name="Text 12"/>
          <p:cNvSpPr/>
          <p:nvPr/>
        </p:nvSpPr>
        <p:spPr>
          <a:xfrm>
            <a:off x="1097280" y="3657600"/>
            <a:ext cx="3291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F2A900"/>
                </a:solidFill>
                <a:effectLst/>
                <a:uFillTx/>
                <a:latin typeface="Aptos"/>
              </a:rPr>
              <a:t>Option B: convolution then pooling</a:t>
            </a:r>
            <a:endParaRPr lang="it-IT" sz="1400" b="0" u="none" strike="noStrike">
              <a:solidFill>
                <a:srgbClr val="000000"/>
              </a:solidFill>
              <a:effectLst/>
              <a:uFillTx/>
              <a:latin typeface="Arial"/>
            </a:endParaRPr>
          </a:p>
        </p:txBody>
      </p:sp>
      <p:sp>
        <p:nvSpPr>
          <p:cNvPr id="602" name="Shape 13"/>
          <p:cNvSpPr/>
          <p:nvPr/>
        </p:nvSpPr>
        <p:spPr>
          <a:xfrm>
            <a:off x="1097280" y="4297680"/>
            <a:ext cx="1828440" cy="685440"/>
          </a:xfrm>
          <a:prstGeom prst="roundRect">
            <a:avLst>
              <a:gd name="adj" fmla="val 6667"/>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03" name="Text 14"/>
          <p:cNvSpPr/>
          <p:nvPr/>
        </p:nvSpPr>
        <p:spPr>
          <a:xfrm>
            <a:off x="1124640" y="4539960"/>
            <a:ext cx="17737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Conv1D</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stride 1</a:t>
            </a:r>
            <a:endParaRPr lang="it-IT" sz="1300" b="0" u="none" strike="noStrike">
              <a:solidFill>
                <a:srgbClr val="000000"/>
              </a:solidFill>
              <a:effectLst/>
              <a:uFillTx/>
              <a:latin typeface="Arial"/>
            </a:endParaRPr>
          </a:p>
        </p:txBody>
      </p:sp>
      <p:sp>
        <p:nvSpPr>
          <p:cNvPr id="604" name="Shape 15"/>
          <p:cNvSpPr/>
          <p:nvPr/>
        </p:nvSpPr>
        <p:spPr>
          <a:xfrm>
            <a:off x="3108960" y="4645080"/>
            <a:ext cx="914400" cy="36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605" name="Shape 16"/>
          <p:cNvSpPr/>
          <p:nvPr/>
        </p:nvSpPr>
        <p:spPr>
          <a:xfrm>
            <a:off x="4206240" y="4297680"/>
            <a:ext cx="1828440" cy="685440"/>
          </a:xfrm>
          <a:prstGeom prst="roundRect">
            <a:avLst>
              <a:gd name="adj" fmla="val 6667"/>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06" name="Text 17"/>
          <p:cNvSpPr/>
          <p:nvPr/>
        </p:nvSpPr>
        <p:spPr>
          <a:xfrm>
            <a:off x="4233600" y="4539960"/>
            <a:ext cx="17737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MaxPool</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stride 2</a:t>
            </a:r>
            <a:endParaRPr lang="it-IT" sz="1300" b="0" u="none" strike="noStrike">
              <a:solidFill>
                <a:srgbClr val="000000"/>
              </a:solidFill>
              <a:effectLst/>
              <a:uFillTx/>
              <a:latin typeface="Arial"/>
            </a:endParaRPr>
          </a:p>
        </p:txBody>
      </p:sp>
      <p:sp>
        <p:nvSpPr>
          <p:cNvPr id="609" name="Text 20"/>
          <p:cNvSpPr/>
          <p:nvPr/>
        </p:nvSpPr>
        <p:spPr>
          <a:xfrm>
            <a:off x="2404980" y="5499720"/>
            <a:ext cx="232236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dirty="0">
                <a:solidFill>
                  <a:srgbClr val="111827"/>
                </a:solidFill>
                <a:effectLst/>
                <a:highlight>
                  <a:srgbClr val="FFFF00"/>
                </a:highlight>
                <a:uFillTx/>
                <a:latin typeface="Aptos"/>
              </a:rPr>
              <a:t>separate feature</a:t>
            </a:r>
            <a:endParaRPr lang="it-IT" sz="1200" b="0" u="none" strike="noStrike" dirty="0">
              <a:solidFill>
                <a:srgbClr val="000000"/>
              </a:solidFill>
              <a:effectLst/>
              <a:highlight>
                <a:srgbClr val="FFFF00"/>
              </a:highlight>
              <a:uFillTx/>
              <a:latin typeface="Arial"/>
            </a:endParaRPr>
          </a:p>
          <a:p>
            <a:pPr algn="ctr" defTabSz="914400">
              <a:lnSpc>
                <a:spcPct val="100000"/>
              </a:lnSpc>
              <a:tabLst>
                <a:tab pos="0" algn="l"/>
              </a:tabLst>
            </a:pPr>
            <a:r>
              <a:rPr lang="en-US" sz="1200" b="1" u="none" strike="noStrike" dirty="0">
                <a:solidFill>
                  <a:srgbClr val="111827"/>
                </a:solidFill>
                <a:effectLst/>
                <a:highlight>
                  <a:srgbClr val="FFFF00"/>
                </a:highlight>
                <a:uFillTx/>
                <a:latin typeface="Aptos"/>
              </a:rPr>
              <a:t>extraction + pooling</a:t>
            </a:r>
            <a:endParaRPr lang="it-IT" sz="1200" b="0" u="none" strike="noStrike" dirty="0">
              <a:solidFill>
                <a:srgbClr val="000000"/>
              </a:solidFill>
              <a:effectLst/>
              <a:highlight>
                <a:srgbClr val="FFFF00"/>
              </a:highlight>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FCD8BA1-1EA3-3EA9-47E7-EF6E3FCEBA36}"/>
              </a:ext>
            </a:extLst>
          </p:cNvPr>
          <p:cNvSpPr>
            <a:spLocks noGrp="1"/>
          </p:cNvSpPr>
          <p:nvPr>
            <p:ph type="title"/>
          </p:nvPr>
        </p:nvSpPr>
        <p:spPr/>
        <p:txBody>
          <a:bodyPr/>
          <a:lstStyle/>
          <a:p>
            <a:r>
              <a:rPr lang="en-GB" dirty="0" err="1"/>
              <a:t>Downsampling</a:t>
            </a:r>
            <a:r>
              <a:rPr lang="en-GB" dirty="0"/>
              <a:t> changes information and computation</a:t>
            </a:r>
          </a:p>
        </p:txBody>
      </p:sp>
      <p:sp>
        <p:nvSpPr>
          <p:cNvPr id="3" name="Segnaposto contenuto 2">
            <a:extLst>
              <a:ext uri="{FF2B5EF4-FFF2-40B4-BE49-F238E27FC236}">
                <a16:creationId xmlns:a16="http://schemas.microsoft.com/office/drawing/2014/main" id="{34B1C174-CA88-5E82-FBC2-2A69388726EB}"/>
              </a:ext>
            </a:extLst>
          </p:cNvPr>
          <p:cNvSpPr>
            <a:spLocks noGrp="1"/>
          </p:cNvSpPr>
          <p:nvPr>
            <p:ph sz="half" idx="1"/>
          </p:nvPr>
        </p:nvSpPr>
        <p:spPr/>
        <p:txBody>
          <a:bodyPr>
            <a:normAutofit fontScale="92500" lnSpcReduction="10000"/>
          </a:bodyPr>
          <a:lstStyle/>
          <a:p>
            <a:r>
              <a:rPr lang="en-GB" dirty="0"/>
              <a:t>Increasing </a:t>
            </a:r>
            <a:r>
              <a:rPr lang="en-GB" dirty="0" err="1"/>
              <a:t>downsampling</a:t>
            </a:r>
            <a:r>
              <a:rPr lang="en-GB" dirty="0"/>
              <a:t> generally gives:</a:t>
            </a:r>
          </a:p>
          <a:p>
            <a:r>
              <a:rPr lang="en-GB" b="1" dirty="0"/>
              <a:t>Advantages</a:t>
            </a:r>
          </a:p>
          <a:p>
            <a:pPr lvl="1"/>
            <a:r>
              <a:rPr lang="en-GB" dirty="0"/>
              <a:t>shorter feature maps; </a:t>
            </a:r>
          </a:p>
          <a:p>
            <a:pPr lvl="1"/>
            <a:r>
              <a:rPr lang="en-GB" dirty="0"/>
              <a:t>lower memory; </a:t>
            </a:r>
          </a:p>
          <a:p>
            <a:pPr lvl="1"/>
            <a:r>
              <a:rPr lang="en-GB" dirty="0"/>
              <a:t>faster later layers; </a:t>
            </a:r>
          </a:p>
          <a:p>
            <a:pPr lvl="1"/>
            <a:r>
              <a:rPr lang="en-GB" dirty="0"/>
              <a:t>wider effective temporal context; </a:t>
            </a:r>
          </a:p>
          <a:p>
            <a:pPr lvl="1"/>
            <a:r>
              <a:rPr lang="en-GB" dirty="0"/>
              <a:t>some tolerance to small shifts. </a:t>
            </a:r>
          </a:p>
          <a:p>
            <a:endParaRPr lang="en-GB" dirty="0"/>
          </a:p>
        </p:txBody>
      </p:sp>
      <p:sp>
        <p:nvSpPr>
          <p:cNvPr id="4" name="Segnaposto contenuto 3">
            <a:extLst>
              <a:ext uri="{FF2B5EF4-FFF2-40B4-BE49-F238E27FC236}">
                <a16:creationId xmlns:a16="http://schemas.microsoft.com/office/drawing/2014/main" id="{3DC481A5-0F7B-E138-874A-EC7BEAC9F315}"/>
              </a:ext>
            </a:extLst>
          </p:cNvPr>
          <p:cNvSpPr>
            <a:spLocks noGrp="1"/>
          </p:cNvSpPr>
          <p:nvPr>
            <p:ph sz="half" idx="2"/>
          </p:nvPr>
        </p:nvSpPr>
        <p:spPr/>
        <p:txBody>
          <a:bodyPr>
            <a:normAutofit fontScale="92500" lnSpcReduction="10000"/>
          </a:bodyPr>
          <a:lstStyle/>
          <a:p>
            <a:r>
              <a:rPr lang="en-GB" b="1" dirty="0"/>
              <a:t>Disadvantages</a:t>
            </a:r>
          </a:p>
          <a:p>
            <a:pPr lvl="1"/>
            <a:r>
              <a:rPr lang="en-GB" dirty="0"/>
              <a:t>lower temporal resolution; </a:t>
            </a:r>
          </a:p>
          <a:p>
            <a:pPr lvl="1"/>
            <a:r>
              <a:rPr lang="en-GB" dirty="0"/>
              <a:t>possible loss of short events; </a:t>
            </a:r>
          </a:p>
          <a:p>
            <a:pPr lvl="1"/>
            <a:r>
              <a:rPr lang="en-GB" dirty="0"/>
              <a:t>reduced event-localisation precision; </a:t>
            </a:r>
          </a:p>
          <a:p>
            <a:pPr lvl="1"/>
            <a:r>
              <a:rPr lang="en-GB" dirty="0"/>
              <a:t>potential loss of high-frequency temporal structure. </a:t>
            </a:r>
          </a:p>
          <a:p>
            <a:r>
              <a:rPr lang="en-GB" b="1" dirty="0"/>
              <a:t>Engineering trade-off</a:t>
            </a:r>
          </a:p>
          <a:p>
            <a:r>
              <a:rPr lang="en-GB" dirty="0"/>
              <a:t>Suppose an event lasts only: 20 ms</a:t>
            </a:r>
          </a:p>
          <a:p>
            <a:pPr lvl="1"/>
            <a:r>
              <a:rPr lang="en-GB" dirty="0"/>
              <a:t>If aggressive </a:t>
            </a:r>
            <a:r>
              <a:rPr lang="en-GB" dirty="0" err="1"/>
              <a:t>downsampling</a:t>
            </a:r>
            <a:r>
              <a:rPr lang="en-GB" dirty="0"/>
              <a:t> produces one representation every: 100 ms</a:t>
            </a:r>
          </a:p>
          <a:p>
            <a:pPr lvl="1"/>
            <a:r>
              <a:rPr lang="en-GB" dirty="0"/>
              <a:t>the event may become difficult to localize or may disappear entirely.</a:t>
            </a:r>
          </a:p>
          <a:p>
            <a:endParaRPr lang="en-GB" dirty="0"/>
          </a:p>
        </p:txBody>
      </p:sp>
      <p:sp>
        <p:nvSpPr>
          <p:cNvPr id="6" name="CasellaDiTesto 5">
            <a:extLst>
              <a:ext uri="{FF2B5EF4-FFF2-40B4-BE49-F238E27FC236}">
                <a16:creationId xmlns:a16="http://schemas.microsoft.com/office/drawing/2014/main" id="{242AF5CA-04FD-9167-57A9-92C201A0F376}"/>
              </a:ext>
            </a:extLst>
          </p:cNvPr>
          <p:cNvSpPr txBox="1"/>
          <p:nvPr/>
        </p:nvSpPr>
        <p:spPr>
          <a:xfrm>
            <a:off x="2500313" y="6041361"/>
            <a:ext cx="6105524" cy="584775"/>
          </a:xfrm>
          <a:prstGeom prst="rect">
            <a:avLst/>
          </a:prstGeom>
          <a:noFill/>
        </p:spPr>
        <p:txBody>
          <a:bodyPr wrap="square">
            <a:spAutoFit/>
          </a:bodyPr>
          <a:lstStyle/>
          <a:p>
            <a:r>
              <a:rPr lang="en-GB" sz="1600" b="1" dirty="0" err="1">
                <a:highlight>
                  <a:srgbClr val="FFFF00"/>
                </a:highlight>
              </a:rPr>
              <a:t>Downsampling</a:t>
            </a:r>
            <a:r>
              <a:rPr lang="en-GB" sz="1600" b="1" dirty="0">
                <a:highlight>
                  <a:srgbClr val="FFFF00"/>
                </a:highlight>
              </a:rPr>
              <a:t> should be chosen relative to the shortest temporal phenomenon that must be detectable.</a:t>
            </a:r>
          </a:p>
        </p:txBody>
      </p:sp>
    </p:spTree>
    <p:extLst>
      <p:ext uri="{BB962C8B-B14F-4D97-AF65-F5344CB8AC3E}">
        <p14:creationId xmlns:p14="http://schemas.microsoft.com/office/powerpoint/2010/main" val="215277641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B55A08F-751D-F316-F3E7-33164CD2EC57}"/>
              </a:ext>
            </a:extLst>
          </p:cNvPr>
          <p:cNvSpPr>
            <a:spLocks noGrp="1"/>
          </p:cNvSpPr>
          <p:nvPr>
            <p:ph type="title"/>
          </p:nvPr>
        </p:nvSpPr>
        <p:spPr/>
        <p:txBody>
          <a:bodyPr/>
          <a:lstStyle/>
          <a:p>
            <a:r>
              <a:rPr lang="en-GB" dirty="0"/>
              <a:t>Introducing the receptive field</a:t>
            </a:r>
          </a:p>
        </p:txBody>
      </p:sp>
      <p:sp>
        <p:nvSpPr>
          <p:cNvPr id="3" name="Segnaposto contenuto 2">
            <a:extLst>
              <a:ext uri="{FF2B5EF4-FFF2-40B4-BE49-F238E27FC236}">
                <a16:creationId xmlns:a16="http://schemas.microsoft.com/office/drawing/2014/main" id="{3FD44B1E-CCA6-FCE2-7CB0-56B617A93269}"/>
              </a:ext>
            </a:extLst>
          </p:cNvPr>
          <p:cNvSpPr>
            <a:spLocks noGrp="1"/>
          </p:cNvSpPr>
          <p:nvPr>
            <p:ph idx="1"/>
          </p:nvPr>
        </p:nvSpPr>
        <p:spPr/>
        <p:txBody>
          <a:bodyPr>
            <a:normAutofit fontScale="70000" lnSpcReduction="20000"/>
          </a:bodyPr>
          <a:lstStyle/>
          <a:p>
            <a:r>
              <a:rPr lang="en-GB" b="1" dirty="0">
                <a:highlight>
                  <a:srgbClr val="FFFF00"/>
                </a:highlight>
              </a:rPr>
              <a:t>Kernel size and pooling both determine how much original input contributes to a deeper feature.</a:t>
            </a:r>
          </a:p>
          <a:p>
            <a:r>
              <a:rPr lang="en-GB" dirty="0">
                <a:highlight>
                  <a:srgbClr val="FFFF00"/>
                </a:highlight>
              </a:rPr>
              <a:t>Consider:</a:t>
            </a:r>
          </a:p>
          <a:p>
            <a:pPr lvl="1"/>
            <a:r>
              <a:rPr lang="en-GB" dirty="0"/>
              <a:t>Conv1D </a:t>
            </a:r>
            <a:r>
              <a:rPr lang="en-GB" b="1" dirty="0"/>
              <a:t>kernel = 3</a:t>
            </a:r>
          </a:p>
          <a:p>
            <a:pPr lvl="1"/>
            <a:r>
              <a:rPr lang="en-GB" dirty="0"/>
              <a:t>↓</a:t>
            </a:r>
          </a:p>
          <a:p>
            <a:pPr lvl="1"/>
            <a:r>
              <a:rPr lang="en-GB" b="1" dirty="0"/>
              <a:t>Pool by 2</a:t>
            </a:r>
          </a:p>
          <a:p>
            <a:pPr lvl="1"/>
            <a:r>
              <a:rPr lang="en-GB" dirty="0"/>
              <a:t>↓</a:t>
            </a:r>
          </a:p>
          <a:p>
            <a:pPr lvl="1"/>
            <a:r>
              <a:rPr lang="en-GB" dirty="0"/>
              <a:t>Conv1D </a:t>
            </a:r>
            <a:r>
              <a:rPr lang="en-GB" b="1" dirty="0"/>
              <a:t>kernel = 3</a:t>
            </a:r>
          </a:p>
          <a:p>
            <a:r>
              <a:rPr lang="en-GB" dirty="0"/>
              <a:t>The </a:t>
            </a:r>
            <a:r>
              <a:rPr lang="en-GB" b="1" dirty="0"/>
              <a:t>second convolution </a:t>
            </a:r>
            <a:r>
              <a:rPr lang="en-GB" dirty="0"/>
              <a:t>does not see only three original input frames.</a:t>
            </a:r>
          </a:p>
          <a:p>
            <a:r>
              <a:rPr lang="en-GB" dirty="0"/>
              <a:t>Each of its inputs already summarizes a region from the previous layer.</a:t>
            </a:r>
          </a:p>
          <a:p>
            <a:r>
              <a:rPr lang="en-GB" dirty="0"/>
              <a:t>Therefore </a:t>
            </a:r>
            <a:r>
              <a:rPr lang="en-GB" b="1" dirty="0"/>
              <a:t>its effective temporal context is larger.</a:t>
            </a:r>
          </a:p>
          <a:p>
            <a:endParaRPr lang="en-GB" b="1" dirty="0"/>
          </a:p>
          <a:p>
            <a:r>
              <a:rPr lang="en-GB" b="1" dirty="0">
                <a:highlight>
                  <a:srgbClr val="FFFF00"/>
                </a:highlight>
              </a:rPr>
              <a:t>A central CNN concept: receptive field</a:t>
            </a:r>
          </a:p>
          <a:p>
            <a:r>
              <a:rPr lang="en-GB" dirty="0"/>
              <a:t>How large a region of the original input can influence one activation in a deeper layer?</a:t>
            </a:r>
          </a:p>
          <a:p>
            <a:r>
              <a:rPr lang="en-GB" dirty="0"/>
              <a:t>This region is called the </a:t>
            </a:r>
            <a:r>
              <a:rPr lang="en-GB" b="1" dirty="0"/>
              <a:t>receptive field</a:t>
            </a:r>
            <a:r>
              <a:rPr lang="en-GB" dirty="0"/>
              <a:t>.</a:t>
            </a:r>
          </a:p>
          <a:p>
            <a:endParaRPr lang="en-GB" dirty="0"/>
          </a:p>
        </p:txBody>
      </p:sp>
    </p:spTree>
    <p:extLst>
      <p:ext uri="{BB962C8B-B14F-4D97-AF65-F5344CB8AC3E}">
        <p14:creationId xmlns:p14="http://schemas.microsoft.com/office/powerpoint/2010/main" val="28639794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 name="Shape 0"/>
          <p:cNvSpPr/>
          <p:nvPr/>
        </p:nvSpPr>
        <p:spPr>
          <a:xfrm>
            <a:off x="11466720" y="0"/>
            <a:ext cx="722160" cy="6857640"/>
          </a:xfrm>
          <a:prstGeom prst="rect">
            <a:avLst/>
          </a:prstGeom>
          <a:solidFill>
            <a:srgbClr val="86BC25"/>
          </a:solidFill>
          <a:ln w="1270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11" name="Shape 1"/>
          <p:cNvSpPr/>
          <p:nvPr/>
        </p:nvSpPr>
        <p:spPr>
          <a:xfrm>
            <a:off x="11301840" y="0"/>
            <a:ext cx="54360" cy="6857640"/>
          </a:xfrm>
          <a:prstGeom prst="rect">
            <a:avLst/>
          </a:prstGeom>
          <a:solidFill>
            <a:srgbClr val="E7F4D2"/>
          </a:solidFill>
          <a:ln w="12700">
            <a:solidFill>
              <a:srgbClr val="E7F4D2">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12" name="Text 2"/>
          <p:cNvSpPr/>
          <p:nvPr/>
        </p:nvSpPr>
        <p:spPr>
          <a:xfrm>
            <a:off x="502920" y="320040"/>
            <a:ext cx="105609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111827"/>
                </a:solidFill>
                <a:effectLst/>
                <a:uFillTx/>
                <a:latin typeface="Aptos Display"/>
                <a:ea typeface="Aptos Display"/>
              </a:rPr>
              <a:t>From pooling to receptive field</a:t>
            </a:r>
            <a:endParaRPr lang="it-IT" sz="2200" b="0" u="none" strike="noStrike">
              <a:solidFill>
                <a:srgbClr val="000000"/>
              </a:solidFill>
              <a:effectLst/>
              <a:uFillTx/>
              <a:latin typeface="Arial"/>
            </a:endParaRPr>
          </a:p>
        </p:txBody>
      </p:sp>
      <p:sp>
        <p:nvSpPr>
          <p:cNvPr id="613" name="Text 3"/>
          <p:cNvSpPr/>
          <p:nvPr/>
        </p:nvSpPr>
        <p:spPr>
          <a:xfrm>
            <a:off x="502920" y="841320"/>
            <a:ext cx="10332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dirty="0">
                <a:solidFill>
                  <a:srgbClr val="506070"/>
                </a:solidFill>
                <a:effectLst/>
                <a:uFillTx/>
                <a:latin typeface="Aptos"/>
              </a:rPr>
              <a:t>Later layers see regions that have already summarized earlier local regions.</a:t>
            </a:r>
            <a:endParaRPr lang="it-IT" sz="1200" b="0" u="none" strike="noStrike" dirty="0">
              <a:solidFill>
                <a:srgbClr val="000000"/>
              </a:solidFill>
              <a:effectLst/>
              <a:uFillTx/>
              <a:latin typeface="Arial"/>
            </a:endParaRPr>
          </a:p>
        </p:txBody>
      </p:sp>
      <p:sp>
        <p:nvSpPr>
          <p:cNvPr id="616" name="Shape 6"/>
          <p:cNvSpPr/>
          <p:nvPr/>
        </p:nvSpPr>
        <p:spPr>
          <a:xfrm>
            <a:off x="1097280" y="2011680"/>
            <a:ext cx="1645560" cy="594000"/>
          </a:xfrm>
          <a:prstGeom prst="roundRect">
            <a:avLst>
              <a:gd name="adj" fmla="val 7692"/>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17" name="Text 7"/>
          <p:cNvSpPr/>
          <p:nvPr/>
        </p:nvSpPr>
        <p:spPr>
          <a:xfrm>
            <a:off x="1124640" y="2208240"/>
            <a:ext cx="1590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Conv1D</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K = 3</a:t>
            </a:r>
            <a:endParaRPr lang="it-IT" sz="1300" b="0" u="none" strike="noStrike">
              <a:solidFill>
                <a:srgbClr val="000000"/>
              </a:solidFill>
              <a:effectLst/>
              <a:uFillTx/>
              <a:latin typeface="Arial"/>
            </a:endParaRPr>
          </a:p>
        </p:txBody>
      </p:sp>
      <p:sp>
        <p:nvSpPr>
          <p:cNvPr id="618" name="Shape 8"/>
          <p:cNvSpPr/>
          <p:nvPr/>
        </p:nvSpPr>
        <p:spPr>
          <a:xfrm>
            <a:off x="2926080" y="2331720"/>
            <a:ext cx="822960" cy="36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619" name="Shape 9"/>
          <p:cNvSpPr/>
          <p:nvPr/>
        </p:nvSpPr>
        <p:spPr>
          <a:xfrm>
            <a:off x="3931920" y="2011680"/>
            <a:ext cx="1554120" cy="594000"/>
          </a:xfrm>
          <a:prstGeom prst="roundRect">
            <a:avLst>
              <a:gd name="adj" fmla="val 7692"/>
            </a:avLst>
          </a:prstGeom>
          <a:solidFill>
            <a:srgbClr val="FFF4D7"/>
          </a:solidFill>
          <a:ln w="15240">
            <a:solidFill>
              <a:srgbClr val="F2A9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20" name="Text 10"/>
          <p:cNvSpPr/>
          <p:nvPr/>
        </p:nvSpPr>
        <p:spPr>
          <a:xfrm>
            <a:off x="3959280" y="2208240"/>
            <a:ext cx="149940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Pool ×2</a:t>
            </a:r>
            <a:endParaRPr lang="it-IT" sz="1300" b="0" u="none" strike="noStrike">
              <a:solidFill>
                <a:srgbClr val="000000"/>
              </a:solidFill>
              <a:effectLst/>
              <a:uFillTx/>
              <a:latin typeface="Arial"/>
            </a:endParaRPr>
          </a:p>
        </p:txBody>
      </p:sp>
      <p:sp>
        <p:nvSpPr>
          <p:cNvPr id="621" name="Shape 11"/>
          <p:cNvSpPr/>
          <p:nvPr/>
        </p:nvSpPr>
        <p:spPr>
          <a:xfrm>
            <a:off x="5669280" y="2331720"/>
            <a:ext cx="822960" cy="360"/>
          </a:xfrm>
          <a:prstGeom prst="line">
            <a:avLst/>
          </a:prstGeom>
          <a:ln w="15240">
            <a:solidFill>
              <a:srgbClr val="6B72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622" name="Shape 12"/>
          <p:cNvSpPr/>
          <p:nvPr/>
        </p:nvSpPr>
        <p:spPr>
          <a:xfrm>
            <a:off x="6675120" y="2011680"/>
            <a:ext cx="1645560" cy="594000"/>
          </a:xfrm>
          <a:prstGeom prst="roundRect">
            <a:avLst>
              <a:gd name="adj" fmla="val 7692"/>
            </a:avLst>
          </a:prstGeom>
          <a:solidFill>
            <a:srgbClr val="E7F4D2"/>
          </a:solidFill>
          <a:ln w="15240">
            <a:solidFill>
              <a:srgbClr val="86BC2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23" name="Text 13"/>
          <p:cNvSpPr/>
          <p:nvPr/>
        </p:nvSpPr>
        <p:spPr>
          <a:xfrm>
            <a:off x="6702480" y="2208240"/>
            <a:ext cx="1590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1" u="none" strike="noStrike">
                <a:solidFill>
                  <a:srgbClr val="111827"/>
                </a:solidFill>
                <a:effectLst/>
                <a:uFillTx/>
                <a:latin typeface="Aptos"/>
              </a:rPr>
              <a:t>Conv1D</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11827"/>
                </a:solidFill>
                <a:effectLst/>
                <a:uFillTx/>
                <a:latin typeface="Aptos"/>
              </a:rPr>
              <a:t>K = 3</a:t>
            </a:r>
            <a:endParaRPr lang="it-IT" sz="1300" b="0" u="none" strike="noStrike">
              <a:solidFill>
                <a:srgbClr val="000000"/>
              </a:solidFill>
              <a:effectLst/>
              <a:uFillTx/>
              <a:latin typeface="Arial"/>
            </a:endParaRPr>
          </a:p>
        </p:txBody>
      </p:sp>
      <p:sp>
        <p:nvSpPr>
          <p:cNvPr id="624" name="Text 14"/>
          <p:cNvSpPr/>
          <p:nvPr/>
        </p:nvSpPr>
        <p:spPr>
          <a:xfrm>
            <a:off x="1097280" y="3337560"/>
            <a:ext cx="804636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dirty="0">
                <a:solidFill>
                  <a:srgbClr val="111827"/>
                </a:solidFill>
                <a:effectLst/>
                <a:uFillTx/>
                <a:latin typeface="Aptos"/>
              </a:rPr>
              <a:t>The second convolution sees 3 positions in the pooled map, but each of those positions already summarizes multiple original frames.</a:t>
            </a:r>
            <a:endParaRPr lang="it-IT" sz="1600" b="1" u="none" strike="noStrike" dirty="0">
              <a:solidFill>
                <a:srgbClr val="000000"/>
              </a:solidFill>
              <a:effectLst/>
              <a:uFillTx/>
              <a:latin typeface="Arial"/>
            </a:endParaRPr>
          </a:p>
        </p:txBody>
      </p:sp>
      <p:sp>
        <p:nvSpPr>
          <p:cNvPr id="625" name="Shape 15"/>
          <p:cNvSpPr/>
          <p:nvPr/>
        </p:nvSpPr>
        <p:spPr>
          <a:xfrm>
            <a:off x="2194560" y="4572000"/>
            <a:ext cx="5303160" cy="594000"/>
          </a:xfrm>
          <a:prstGeom prst="roundRect">
            <a:avLst>
              <a:gd name="adj" fmla="val 7692"/>
            </a:avLst>
          </a:prstGeom>
          <a:solidFill>
            <a:srgbClr val="FFFF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26" name="Text 16"/>
          <p:cNvSpPr/>
          <p:nvPr/>
        </p:nvSpPr>
        <p:spPr>
          <a:xfrm>
            <a:off x="2221920" y="4768560"/>
            <a:ext cx="5248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111827"/>
                </a:solidFill>
                <a:effectLst/>
                <a:uFillTx/>
                <a:latin typeface="Aptos"/>
              </a:rPr>
              <a:t>How much original input can influence one deeper activation?</a:t>
            </a:r>
            <a:endParaRPr lang="it-IT" sz="1600" b="0" u="none" strike="noStrike">
              <a:solidFill>
                <a:srgbClr val="000000"/>
              </a:solidFill>
              <a:effectLst/>
              <a:uFillTx/>
              <a:latin typeface="Arial"/>
            </a:endParaRPr>
          </a:p>
        </p:txBody>
      </p:sp>
      <p:sp>
        <p:nvSpPr>
          <p:cNvPr id="627" name="Shape 17"/>
          <p:cNvSpPr/>
          <p:nvPr/>
        </p:nvSpPr>
        <p:spPr>
          <a:xfrm>
            <a:off x="7818120" y="4572000"/>
            <a:ext cx="2102760" cy="594000"/>
          </a:xfrm>
          <a:prstGeom prst="roundRect">
            <a:avLst>
              <a:gd name="adj" fmla="val 7692"/>
            </a:avLst>
          </a:prstGeom>
          <a:solidFill>
            <a:srgbClr val="EAF2FF"/>
          </a:solidFill>
          <a:ln w="15240">
            <a:solidFill>
              <a:srgbClr val="2F66D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28" name="Text 18"/>
          <p:cNvSpPr/>
          <p:nvPr/>
        </p:nvSpPr>
        <p:spPr>
          <a:xfrm>
            <a:off x="7845480" y="4768560"/>
            <a:ext cx="20480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111827"/>
                </a:solidFill>
                <a:effectLst/>
                <a:uFillTx/>
                <a:latin typeface="Aptos"/>
              </a:rPr>
              <a:t>receptive field</a:t>
            </a:r>
            <a:endParaRPr lang="it-IT" sz="1600" b="0" u="none" strike="noStrike">
              <a:solidFill>
                <a:srgbClr val="000000"/>
              </a:solidFill>
              <a:effectLst/>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68AA36D-6F7B-B40D-3756-BF77445E93ED}"/>
              </a:ext>
            </a:extLst>
          </p:cNvPr>
          <p:cNvSpPr>
            <a:spLocks noGrp="1"/>
          </p:cNvSpPr>
          <p:nvPr>
            <p:ph type="title"/>
          </p:nvPr>
        </p:nvSpPr>
        <p:spPr/>
        <p:txBody>
          <a:bodyPr/>
          <a:lstStyle/>
          <a:p>
            <a:r>
              <a:rPr lang="en-GB" dirty="0"/>
              <a:t>Block 5.E — Receptive Field</a:t>
            </a:r>
          </a:p>
        </p:txBody>
      </p:sp>
      <p:sp>
        <p:nvSpPr>
          <p:cNvPr id="3" name="Segnaposto contenuto 2">
            <a:extLst>
              <a:ext uri="{FF2B5EF4-FFF2-40B4-BE49-F238E27FC236}">
                <a16:creationId xmlns:a16="http://schemas.microsoft.com/office/drawing/2014/main" id="{541222FC-4941-1251-F5B9-98C4D1F78EF6}"/>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08705277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6F2F0B1-3506-3480-2892-8AD7B148CFF2}"/>
              </a:ext>
            </a:extLst>
          </p:cNvPr>
          <p:cNvSpPr>
            <a:spLocks noGrp="1"/>
          </p:cNvSpPr>
          <p:nvPr>
            <p:ph type="title"/>
          </p:nvPr>
        </p:nvSpPr>
        <p:spPr/>
        <p:txBody>
          <a:bodyPr/>
          <a:lstStyle/>
          <a:p>
            <a:r>
              <a:rPr lang="en-GB" dirty="0"/>
              <a:t>What is the receptive field?</a:t>
            </a:r>
          </a:p>
        </p:txBody>
      </p:sp>
      <p:sp>
        <p:nvSpPr>
          <p:cNvPr id="3" name="Segnaposto contenuto 2">
            <a:extLst>
              <a:ext uri="{FF2B5EF4-FFF2-40B4-BE49-F238E27FC236}">
                <a16:creationId xmlns:a16="http://schemas.microsoft.com/office/drawing/2014/main" id="{1894FC09-0715-C26E-2208-DCCA39897144}"/>
              </a:ext>
            </a:extLst>
          </p:cNvPr>
          <p:cNvSpPr>
            <a:spLocks noGrp="1"/>
          </p:cNvSpPr>
          <p:nvPr>
            <p:ph idx="1"/>
          </p:nvPr>
        </p:nvSpPr>
        <p:spPr/>
        <p:txBody>
          <a:bodyPr>
            <a:normAutofit fontScale="92500" lnSpcReduction="20000"/>
          </a:bodyPr>
          <a:lstStyle/>
          <a:p>
            <a:r>
              <a:rPr lang="en-GB" dirty="0"/>
              <a:t>For a convolutional network, </a:t>
            </a:r>
            <a:r>
              <a:rPr lang="en-GB" dirty="0">
                <a:highlight>
                  <a:srgbClr val="FFFF00"/>
                </a:highlight>
              </a:rPr>
              <a:t>the </a:t>
            </a:r>
            <a:r>
              <a:rPr lang="en-GB" b="1" dirty="0">
                <a:highlight>
                  <a:srgbClr val="FFFF00"/>
                </a:highlight>
              </a:rPr>
              <a:t>receptive field of one activation </a:t>
            </a:r>
            <a:r>
              <a:rPr lang="en-GB" dirty="0">
                <a:highlight>
                  <a:srgbClr val="FFFF00"/>
                </a:highlight>
              </a:rPr>
              <a:t>is: the region of the original input sequence that can influence that activation</a:t>
            </a:r>
            <a:r>
              <a:rPr lang="en-GB" dirty="0"/>
              <a:t>.</a:t>
            </a:r>
          </a:p>
          <a:p>
            <a:r>
              <a:rPr lang="en-GB" dirty="0"/>
              <a:t>Consider a Conv1D layer with:</a:t>
            </a:r>
          </a:p>
          <a:p>
            <a:r>
              <a:rPr lang="en-GB" dirty="0"/>
              <a:t>kernel size K = 3</a:t>
            </a:r>
          </a:p>
          <a:p>
            <a:r>
              <a:rPr lang="en-GB" dirty="0"/>
              <a:t>One output activation depends directly on three </a:t>
            </a:r>
            <a:r>
              <a:rPr lang="en-GB" dirty="0" err="1"/>
              <a:t>neighboring</a:t>
            </a:r>
            <a:r>
              <a:rPr lang="en-GB" dirty="0"/>
              <a:t> input time steps.</a:t>
            </a:r>
          </a:p>
          <a:p>
            <a:r>
              <a:rPr lang="en-GB" dirty="0"/>
              <a:t>Conceptually:</a:t>
            </a:r>
          </a:p>
          <a:p>
            <a:r>
              <a:rPr lang="en-GB" dirty="0"/>
              <a:t>input:</a:t>
            </a:r>
          </a:p>
          <a:p>
            <a:pPr lvl="1"/>
            <a:r>
              <a:rPr lang="en-GB" dirty="0"/>
              <a:t>x[1] x[2] x[3] x[4] x[5]</a:t>
            </a:r>
          </a:p>
          <a:p>
            <a:pPr lvl="1"/>
            <a:r>
              <a:rPr lang="en-GB" dirty="0"/>
              <a:t>             ↓</a:t>
            </a:r>
          </a:p>
          <a:p>
            <a:pPr lvl="1"/>
            <a:r>
              <a:rPr lang="en-GB" dirty="0"/>
              <a:t>output at one position</a:t>
            </a:r>
          </a:p>
          <a:p>
            <a:r>
              <a:rPr lang="en-GB" dirty="0"/>
              <a:t>      depends on 3 inputs</a:t>
            </a:r>
          </a:p>
          <a:p>
            <a:r>
              <a:rPr lang="en-GB" b="1" dirty="0"/>
              <a:t>First-layer receptive field</a:t>
            </a:r>
          </a:p>
          <a:p>
            <a:endParaRPr lang="en-GB" dirty="0"/>
          </a:p>
        </p:txBody>
      </p:sp>
    </p:spTree>
    <p:extLst>
      <p:ext uri="{BB962C8B-B14F-4D97-AF65-F5344CB8AC3E}">
        <p14:creationId xmlns:p14="http://schemas.microsoft.com/office/powerpoint/2010/main" val="302676622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B19F796-913F-C352-F1D6-2E7D00771F18}"/>
              </a:ext>
            </a:extLst>
          </p:cNvPr>
          <p:cNvSpPr>
            <a:spLocks noGrp="1"/>
          </p:cNvSpPr>
          <p:nvPr>
            <p:ph type="title"/>
          </p:nvPr>
        </p:nvSpPr>
        <p:spPr/>
        <p:txBody>
          <a:bodyPr/>
          <a:lstStyle/>
          <a:p>
            <a:r>
              <a:rPr lang="en-GB" dirty="0"/>
              <a:t>What is the receptive field?</a:t>
            </a:r>
          </a:p>
        </p:txBody>
      </p:sp>
      <p:sp>
        <p:nvSpPr>
          <p:cNvPr id="3" name="Segnaposto contenuto 2">
            <a:extLst>
              <a:ext uri="{FF2B5EF4-FFF2-40B4-BE49-F238E27FC236}">
                <a16:creationId xmlns:a16="http://schemas.microsoft.com/office/drawing/2014/main" id="{6A54A954-8F00-F93D-5738-742D3E2ECC08}"/>
              </a:ext>
            </a:extLst>
          </p:cNvPr>
          <p:cNvSpPr>
            <a:spLocks noGrp="1"/>
          </p:cNvSpPr>
          <p:nvPr>
            <p:ph idx="1"/>
          </p:nvPr>
        </p:nvSpPr>
        <p:spPr/>
        <p:txBody>
          <a:bodyPr>
            <a:normAutofit/>
          </a:bodyPr>
          <a:lstStyle/>
          <a:p>
            <a:r>
              <a:rPr lang="en-GB" dirty="0"/>
              <a:t>For a single convolutional layer with:</a:t>
            </a:r>
          </a:p>
          <a:p>
            <a:pPr lvl="0"/>
            <a:r>
              <a:rPr lang="en-GB" dirty="0"/>
              <a:t>stride 1; </a:t>
            </a:r>
          </a:p>
          <a:p>
            <a:pPr lvl="0"/>
            <a:r>
              <a:rPr lang="en-GB" dirty="0"/>
              <a:t>no dilation; </a:t>
            </a:r>
          </a:p>
          <a:p>
            <a:r>
              <a:rPr lang="en-GB" dirty="0"/>
              <a:t>the receptive field is simply: K (kernel size)</a:t>
            </a:r>
          </a:p>
          <a:p>
            <a:r>
              <a:rPr lang="en-GB" b="1" dirty="0"/>
              <a:t>Example</a:t>
            </a:r>
          </a:p>
          <a:p>
            <a:r>
              <a:rPr lang="en-GB" dirty="0"/>
              <a:t>K = 5</a:t>
            </a:r>
          </a:p>
          <a:p>
            <a:r>
              <a:rPr lang="en-GB" dirty="0"/>
              <a:t>means each first-layer activation directly depends on five original time steps.</a:t>
            </a:r>
          </a:p>
          <a:p>
            <a:endParaRPr lang="en-GB" dirty="0"/>
          </a:p>
          <a:p>
            <a:r>
              <a:rPr lang="en-GB" b="1" dirty="0"/>
              <a:t>The receptive field tells us how much temporal context an output can actually use.</a:t>
            </a:r>
          </a:p>
          <a:p>
            <a:endParaRPr lang="en-GB" dirty="0"/>
          </a:p>
        </p:txBody>
      </p:sp>
    </p:spTree>
    <p:extLst>
      <p:ext uri="{BB962C8B-B14F-4D97-AF65-F5344CB8AC3E}">
        <p14:creationId xmlns:p14="http://schemas.microsoft.com/office/powerpoint/2010/main" val="350899481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5.E.1 — Receptive field: one activation sees a local region</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dirty="0">
                <a:solidFill>
                  <a:srgbClr val="475569"/>
                </a:solidFill>
                <a:highlight>
                  <a:srgbClr val="FFFF00"/>
                </a:highlight>
                <a:latin typeface="Aptos" pitchFamily="34" charset="0"/>
                <a:ea typeface="Aptos" pitchFamily="34" charset="-122"/>
                <a:cs typeface="Aptos" pitchFamily="34" charset="-120"/>
              </a:rPr>
              <a:t>A </a:t>
            </a:r>
            <a:r>
              <a:rPr lang="en-US" sz="1350" b="1" dirty="0">
                <a:solidFill>
                  <a:srgbClr val="475569"/>
                </a:solidFill>
                <a:highlight>
                  <a:srgbClr val="FFFF00"/>
                </a:highlight>
                <a:latin typeface="Aptos" pitchFamily="34" charset="0"/>
                <a:ea typeface="Aptos" pitchFamily="34" charset="-122"/>
                <a:cs typeface="Aptos" pitchFamily="34" charset="-120"/>
              </a:rPr>
              <a:t>single first-layer Conv1D activation </a:t>
            </a:r>
            <a:r>
              <a:rPr lang="en-US" sz="1350" dirty="0">
                <a:solidFill>
                  <a:srgbClr val="475569"/>
                </a:solidFill>
                <a:highlight>
                  <a:srgbClr val="FFFF00"/>
                </a:highlight>
                <a:latin typeface="Aptos" pitchFamily="34" charset="0"/>
                <a:ea typeface="Aptos" pitchFamily="34" charset="-122"/>
                <a:cs typeface="Aptos" pitchFamily="34" charset="-120"/>
              </a:rPr>
              <a:t>depends only on the frames covered by its kernel.</a:t>
            </a:r>
            <a:endParaRPr lang="en-US" sz="1350" dirty="0">
              <a:highlight>
                <a:srgbClr val="FFFF00"/>
              </a:highlight>
            </a:endParaRPr>
          </a:p>
        </p:txBody>
      </p:sp>
      <p:sp>
        <p:nvSpPr>
          <p:cNvPr id="6" name="Text 4"/>
          <p:cNvSpPr/>
          <p:nvPr/>
        </p:nvSpPr>
        <p:spPr>
          <a:xfrm>
            <a:off x="777240" y="1417320"/>
            <a:ext cx="2743200" cy="228600"/>
          </a:xfrm>
          <a:prstGeom prst="rect">
            <a:avLst/>
          </a:prstGeom>
          <a:noFill/>
          <a:ln/>
        </p:spPr>
        <p:txBody>
          <a:bodyPr wrap="square" lIns="0" tIns="0" rIns="0" bIns="0" rtlCol="0" anchor="ctr">
            <a:normAutofit/>
          </a:bodyPr>
          <a:lstStyle/>
          <a:p>
            <a:pPr marL="0" indent="0" algn="l">
              <a:buNone/>
            </a:pPr>
            <a:r>
              <a:rPr lang="en-US" sz="1200" dirty="0">
                <a:solidFill>
                  <a:srgbClr val="475569"/>
                </a:solidFill>
              </a:rPr>
              <a:t>original input sequence</a:t>
            </a:r>
            <a:endParaRPr lang="en-US" sz="1200" dirty="0"/>
          </a:p>
        </p:txBody>
      </p:sp>
      <p:sp>
        <p:nvSpPr>
          <p:cNvPr id="7" name="Shape 5"/>
          <p:cNvSpPr/>
          <p:nvPr/>
        </p:nvSpPr>
        <p:spPr>
          <a:xfrm>
            <a:off x="822960" y="187452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8" name="Text 6"/>
          <p:cNvSpPr/>
          <p:nvPr/>
        </p:nvSpPr>
        <p:spPr>
          <a:xfrm>
            <a:off x="822960" y="200253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x1</a:t>
            </a:r>
            <a:endParaRPr lang="en-US" sz="1050" dirty="0"/>
          </a:p>
        </p:txBody>
      </p:sp>
      <p:sp>
        <p:nvSpPr>
          <p:cNvPr id="9" name="Shape 7"/>
          <p:cNvSpPr/>
          <p:nvPr/>
        </p:nvSpPr>
        <p:spPr>
          <a:xfrm>
            <a:off x="1508760" y="187452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0" name="Text 8"/>
          <p:cNvSpPr/>
          <p:nvPr/>
        </p:nvSpPr>
        <p:spPr>
          <a:xfrm>
            <a:off x="1508760" y="200253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x2</a:t>
            </a:r>
            <a:endParaRPr lang="en-US" sz="1050" dirty="0"/>
          </a:p>
        </p:txBody>
      </p:sp>
      <p:sp>
        <p:nvSpPr>
          <p:cNvPr id="11" name="Shape 9"/>
          <p:cNvSpPr/>
          <p:nvPr/>
        </p:nvSpPr>
        <p:spPr>
          <a:xfrm>
            <a:off x="2194560" y="187452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12" name="Text 10"/>
          <p:cNvSpPr/>
          <p:nvPr/>
        </p:nvSpPr>
        <p:spPr>
          <a:xfrm>
            <a:off x="2194560" y="20025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x3</a:t>
            </a:r>
            <a:endParaRPr lang="en-US" sz="1050" dirty="0"/>
          </a:p>
        </p:txBody>
      </p:sp>
      <p:sp>
        <p:nvSpPr>
          <p:cNvPr id="13" name="Shape 11"/>
          <p:cNvSpPr/>
          <p:nvPr/>
        </p:nvSpPr>
        <p:spPr>
          <a:xfrm>
            <a:off x="2880360" y="187452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14" name="Text 12"/>
          <p:cNvSpPr/>
          <p:nvPr/>
        </p:nvSpPr>
        <p:spPr>
          <a:xfrm>
            <a:off x="2880360" y="20025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x4</a:t>
            </a:r>
            <a:endParaRPr lang="en-US" sz="1050" dirty="0"/>
          </a:p>
        </p:txBody>
      </p:sp>
      <p:sp>
        <p:nvSpPr>
          <p:cNvPr id="15" name="Shape 13"/>
          <p:cNvSpPr/>
          <p:nvPr/>
        </p:nvSpPr>
        <p:spPr>
          <a:xfrm>
            <a:off x="3566160" y="187452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16" name="Text 14"/>
          <p:cNvSpPr/>
          <p:nvPr/>
        </p:nvSpPr>
        <p:spPr>
          <a:xfrm>
            <a:off x="3566160" y="20025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x5</a:t>
            </a:r>
            <a:endParaRPr lang="en-US" sz="1050" dirty="0"/>
          </a:p>
        </p:txBody>
      </p:sp>
      <p:sp>
        <p:nvSpPr>
          <p:cNvPr id="17" name="Shape 15"/>
          <p:cNvSpPr/>
          <p:nvPr/>
        </p:nvSpPr>
        <p:spPr>
          <a:xfrm>
            <a:off x="4251960" y="187452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8" name="Text 16"/>
          <p:cNvSpPr/>
          <p:nvPr/>
        </p:nvSpPr>
        <p:spPr>
          <a:xfrm>
            <a:off x="4251960" y="200253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x6</a:t>
            </a:r>
            <a:endParaRPr lang="en-US" sz="1050" dirty="0"/>
          </a:p>
        </p:txBody>
      </p:sp>
      <p:sp>
        <p:nvSpPr>
          <p:cNvPr id="19" name="Shape 17"/>
          <p:cNvSpPr/>
          <p:nvPr/>
        </p:nvSpPr>
        <p:spPr>
          <a:xfrm>
            <a:off x="4937760" y="187452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20" name="Text 18"/>
          <p:cNvSpPr/>
          <p:nvPr/>
        </p:nvSpPr>
        <p:spPr>
          <a:xfrm>
            <a:off x="4937760" y="200253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x7</a:t>
            </a:r>
            <a:endParaRPr lang="en-US" sz="1050" dirty="0"/>
          </a:p>
        </p:txBody>
      </p:sp>
      <p:sp>
        <p:nvSpPr>
          <p:cNvPr id="21" name="Shape 19"/>
          <p:cNvSpPr/>
          <p:nvPr/>
        </p:nvSpPr>
        <p:spPr>
          <a:xfrm flipV="1">
            <a:off x="2148840" y="2441448"/>
            <a:ext cx="1783080" cy="274320"/>
          </a:xfrm>
          <a:prstGeom prst="bracePair">
            <a:avLst/>
          </a:prstGeom>
          <a:noFill/>
          <a:ln w="16510">
            <a:solidFill>
              <a:srgbClr val="84B91F"/>
            </a:solidFill>
            <a:prstDash val="solid"/>
          </a:ln>
        </p:spPr>
        <p:txBody>
          <a:bodyPr/>
          <a:lstStyle/>
          <a:p>
            <a:endParaRPr lang="en-GB"/>
          </a:p>
        </p:txBody>
      </p:sp>
      <p:sp>
        <p:nvSpPr>
          <p:cNvPr id="22" name="Text 20"/>
          <p:cNvSpPr/>
          <p:nvPr/>
        </p:nvSpPr>
        <p:spPr>
          <a:xfrm>
            <a:off x="2011680" y="2761488"/>
            <a:ext cx="2011680" cy="320040"/>
          </a:xfrm>
          <a:prstGeom prst="rect">
            <a:avLst/>
          </a:prstGeom>
          <a:noFill/>
          <a:ln/>
        </p:spPr>
        <p:txBody>
          <a:bodyPr wrap="square" lIns="0" tIns="0" rIns="0" bIns="0" rtlCol="0" anchor="ctr">
            <a:normAutofit/>
          </a:bodyPr>
          <a:lstStyle/>
          <a:p>
            <a:pPr marL="0" indent="0" algn="ctr">
              <a:buNone/>
            </a:pPr>
            <a:r>
              <a:rPr lang="en-US" sz="1200" b="1" dirty="0">
                <a:solidFill>
                  <a:srgbClr val="84B91F"/>
                </a:solidFill>
              </a:rPr>
              <a:t>kernel K = 3</a:t>
            </a:r>
            <a:endParaRPr lang="en-US" sz="1200" dirty="0"/>
          </a:p>
        </p:txBody>
      </p:sp>
      <p:sp>
        <p:nvSpPr>
          <p:cNvPr id="23" name="Shape 21"/>
          <p:cNvSpPr/>
          <p:nvPr/>
        </p:nvSpPr>
        <p:spPr>
          <a:xfrm>
            <a:off x="3063240" y="3154680"/>
            <a:ext cx="0" cy="731520"/>
          </a:xfrm>
          <a:prstGeom prst="line">
            <a:avLst/>
          </a:prstGeom>
          <a:noFill/>
          <a:ln w="27940">
            <a:solidFill>
              <a:srgbClr val="84B91F"/>
            </a:solidFill>
            <a:prstDash val="solid"/>
            <a:headEnd type="none"/>
            <a:tailEnd type="triangle"/>
          </a:ln>
        </p:spPr>
        <p:txBody>
          <a:bodyPr/>
          <a:lstStyle/>
          <a:p>
            <a:endParaRPr lang="en-GB"/>
          </a:p>
        </p:txBody>
      </p:sp>
      <p:sp>
        <p:nvSpPr>
          <p:cNvPr id="24" name="Shape 22"/>
          <p:cNvSpPr/>
          <p:nvPr/>
        </p:nvSpPr>
        <p:spPr>
          <a:xfrm>
            <a:off x="2240280" y="3977640"/>
            <a:ext cx="1645920" cy="640080"/>
          </a:xfrm>
          <a:prstGeom prst="roundRect">
            <a:avLst>
              <a:gd name="adj" fmla="val 8571"/>
            </a:avLst>
          </a:prstGeom>
          <a:solidFill>
            <a:srgbClr val="E7F5C7"/>
          </a:solidFill>
          <a:ln w="15240">
            <a:solidFill>
              <a:srgbClr val="84B91F"/>
            </a:solidFill>
            <a:prstDash val="solid"/>
          </a:ln>
        </p:spPr>
        <p:txBody>
          <a:bodyPr/>
          <a:lstStyle/>
          <a:p>
            <a:endParaRPr lang="en-GB"/>
          </a:p>
        </p:txBody>
      </p:sp>
      <p:sp>
        <p:nvSpPr>
          <p:cNvPr id="25" name="Text 23"/>
          <p:cNvSpPr/>
          <p:nvPr/>
        </p:nvSpPr>
        <p:spPr>
          <a:xfrm>
            <a:off x="2286000" y="4164178"/>
            <a:ext cx="1554480" cy="384048"/>
          </a:xfrm>
          <a:prstGeom prst="rect">
            <a:avLst/>
          </a:prstGeom>
          <a:noFill/>
          <a:ln/>
        </p:spPr>
        <p:txBody>
          <a:bodyPr wrap="square" lIns="0" tIns="0" rIns="0" bIns="0" rtlCol="0" anchor="ctr">
            <a:normAutofit lnSpcReduction="10000"/>
          </a:bodyPr>
          <a:lstStyle/>
          <a:p>
            <a:pPr marL="0" indent="0" algn="ctr">
              <a:buNone/>
            </a:pPr>
            <a:r>
              <a:rPr lang="en-US" sz="1300" b="1" dirty="0">
                <a:solidFill>
                  <a:srgbClr val="0F172A"/>
                </a:solidFill>
              </a:rPr>
              <a:t>one output activation</a:t>
            </a:r>
            <a:endParaRPr lang="en-US" sz="1300" dirty="0"/>
          </a:p>
        </p:txBody>
      </p:sp>
      <p:sp>
        <p:nvSpPr>
          <p:cNvPr id="26" name="Text 24"/>
          <p:cNvSpPr/>
          <p:nvPr/>
        </p:nvSpPr>
        <p:spPr>
          <a:xfrm>
            <a:off x="1051560" y="4983480"/>
            <a:ext cx="4206240" cy="365760"/>
          </a:xfrm>
          <a:prstGeom prst="rect">
            <a:avLst/>
          </a:prstGeom>
          <a:noFill/>
          <a:ln/>
        </p:spPr>
        <p:txBody>
          <a:bodyPr wrap="square" lIns="0" tIns="0" rIns="0" bIns="0" rtlCol="0" anchor="ctr">
            <a:normAutofit/>
          </a:bodyPr>
          <a:lstStyle/>
          <a:p>
            <a:pPr marL="0" indent="0" algn="ctr">
              <a:buNone/>
            </a:pPr>
            <a:r>
              <a:rPr lang="en-US" sz="1600" b="1" dirty="0">
                <a:solidFill>
                  <a:srgbClr val="0F172A"/>
                </a:solidFill>
              </a:rPr>
              <a:t>receptive field = 3 input time steps</a:t>
            </a:r>
            <a:endParaRPr lang="en-US" sz="1600" dirty="0"/>
          </a:p>
        </p:txBody>
      </p:sp>
      <p:sp>
        <p:nvSpPr>
          <p:cNvPr id="27" name="Shape 25"/>
          <p:cNvSpPr/>
          <p:nvPr/>
        </p:nvSpPr>
        <p:spPr>
          <a:xfrm>
            <a:off x="5623560" y="1828800"/>
            <a:ext cx="3611880" cy="1143000"/>
          </a:xfrm>
          <a:prstGeom prst="roundRect">
            <a:avLst>
              <a:gd name="adj" fmla="val 4800"/>
            </a:avLst>
          </a:prstGeom>
          <a:solidFill>
            <a:srgbClr val="F8FAFC"/>
          </a:solidFill>
          <a:ln w="15240">
            <a:solidFill>
              <a:srgbClr val="CBD5E1"/>
            </a:solidFill>
            <a:prstDash val="solid"/>
          </a:ln>
        </p:spPr>
        <p:txBody>
          <a:bodyPr/>
          <a:lstStyle/>
          <a:p>
            <a:endParaRPr lang="en-GB"/>
          </a:p>
        </p:txBody>
      </p:sp>
      <p:sp>
        <p:nvSpPr>
          <p:cNvPr id="28" name="Text 26"/>
          <p:cNvSpPr/>
          <p:nvPr/>
        </p:nvSpPr>
        <p:spPr>
          <a:xfrm>
            <a:off x="5696711" y="2040599"/>
            <a:ext cx="3520440" cy="685800"/>
          </a:xfrm>
          <a:prstGeom prst="rect">
            <a:avLst/>
          </a:prstGeom>
          <a:noFill/>
          <a:ln/>
        </p:spPr>
        <p:txBody>
          <a:bodyPr wrap="square" lIns="0" tIns="0" rIns="0" bIns="0" rtlCol="0" anchor="ctr">
            <a:normAutofit/>
          </a:bodyPr>
          <a:lstStyle/>
          <a:p>
            <a:pPr marL="0" indent="0" algn="ctr">
              <a:buNone/>
            </a:pPr>
            <a:r>
              <a:rPr lang="en-US" sz="1600" b="1" dirty="0">
                <a:solidFill>
                  <a:srgbClr val="0F172A"/>
                </a:solidFill>
              </a:rPr>
              <a:t>Output can only use</a:t>
            </a:r>
            <a:endParaRPr lang="en-US" sz="1600" dirty="0"/>
          </a:p>
          <a:p>
            <a:pPr marL="0" indent="0" algn="ctr">
              <a:buNone/>
            </a:pPr>
            <a:r>
              <a:rPr lang="en-US" sz="1600" b="1" dirty="0">
                <a:solidFill>
                  <a:srgbClr val="0F172A"/>
                </a:solidFill>
              </a:rPr>
              <a:t>what is inside the highlighted region</a:t>
            </a:r>
            <a:endParaRPr lang="en-US" sz="1600" dirty="0"/>
          </a:p>
        </p:txBody>
      </p:sp>
      <p:sp>
        <p:nvSpPr>
          <p:cNvPr id="30" name="Text 28"/>
          <p:cNvSpPr/>
          <p:nvPr/>
        </p:nvSpPr>
        <p:spPr>
          <a:xfrm>
            <a:off x="5669280" y="3006492"/>
            <a:ext cx="3657600" cy="731520"/>
          </a:xfrm>
          <a:prstGeom prst="rect">
            <a:avLst/>
          </a:prstGeom>
          <a:noFill/>
          <a:ln/>
        </p:spPr>
        <p:txBody>
          <a:bodyPr wrap="square" lIns="0" tIns="0" rIns="0" bIns="0" rtlCol="0" anchor="ctr">
            <a:normAutofit/>
          </a:bodyPr>
          <a:lstStyle/>
          <a:p>
            <a:pPr marL="0" indent="0" algn="ctr">
              <a:buNone/>
            </a:pPr>
            <a:r>
              <a:rPr lang="en-US" sz="1600" dirty="0">
                <a:solidFill>
                  <a:srgbClr val="475569"/>
                </a:solidFill>
              </a:rPr>
              <a:t>No information outside the receptive field can influence this activation.</a:t>
            </a:r>
            <a:endParaRPr lang="en-US" sz="1600" dirty="0"/>
          </a:p>
        </p:txBody>
      </p:sp>
      <p:sp>
        <p:nvSpPr>
          <p:cNvPr id="31" name="Shape 29"/>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32" name="Text 30"/>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dirty="0">
                <a:solidFill>
                  <a:srgbClr val="0F172A"/>
                </a:solidFill>
                <a:highlight>
                  <a:srgbClr val="FFFF00"/>
                </a:highlight>
              </a:rPr>
              <a:t>Receptive field = region of the original input that can influence an output activation.</a:t>
            </a:r>
            <a:endParaRPr lang="en-US" sz="1200" dirty="0">
              <a:highlight>
                <a:srgbClr val="FFFF00"/>
              </a:highlight>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F19B8AA-D522-8960-4D60-3A490B5CCE35}"/>
              </a:ext>
            </a:extLst>
          </p:cNvPr>
          <p:cNvSpPr>
            <a:spLocks noGrp="1"/>
          </p:cNvSpPr>
          <p:nvPr>
            <p:ph type="title"/>
          </p:nvPr>
        </p:nvSpPr>
        <p:spPr/>
        <p:txBody>
          <a:bodyPr/>
          <a:lstStyle/>
          <a:p>
            <a:r>
              <a:rPr lang="en-GB" dirty="0"/>
              <a:t>Receptive field grows with depth</a:t>
            </a:r>
          </a:p>
        </p:txBody>
      </p:sp>
      <p:sp>
        <p:nvSpPr>
          <p:cNvPr id="3" name="Segnaposto contenuto 2">
            <a:extLst>
              <a:ext uri="{FF2B5EF4-FFF2-40B4-BE49-F238E27FC236}">
                <a16:creationId xmlns:a16="http://schemas.microsoft.com/office/drawing/2014/main" id="{28A7930C-8C77-5758-56AC-078273346B65}"/>
              </a:ext>
            </a:extLst>
          </p:cNvPr>
          <p:cNvSpPr>
            <a:spLocks noGrp="1"/>
          </p:cNvSpPr>
          <p:nvPr>
            <p:ph idx="1"/>
          </p:nvPr>
        </p:nvSpPr>
        <p:spPr/>
        <p:txBody>
          <a:bodyPr>
            <a:normAutofit fontScale="92500" lnSpcReduction="20000"/>
          </a:bodyPr>
          <a:lstStyle/>
          <a:p>
            <a:r>
              <a:rPr lang="en-GB" dirty="0"/>
              <a:t>Consider two Conv1D layers.</a:t>
            </a:r>
          </a:p>
          <a:p>
            <a:r>
              <a:rPr lang="en-GB" dirty="0"/>
              <a:t>Both have:</a:t>
            </a:r>
          </a:p>
          <a:p>
            <a:r>
              <a:rPr lang="en-GB" dirty="0"/>
              <a:t>kernel size = 3</a:t>
            </a:r>
          </a:p>
          <a:p>
            <a:r>
              <a:rPr lang="en-GB" dirty="0"/>
              <a:t>and:</a:t>
            </a:r>
          </a:p>
          <a:p>
            <a:r>
              <a:rPr lang="en-GB" dirty="0"/>
              <a:t>stride = 1</a:t>
            </a:r>
          </a:p>
          <a:p>
            <a:r>
              <a:rPr lang="en-GB" b="1" dirty="0"/>
              <a:t>Layer 1</a:t>
            </a:r>
          </a:p>
          <a:p>
            <a:r>
              <a:rPr lang="en-GB" dirty="0"/>
              <a:t>One activation depends on: 3 original input samples</a:t>
            </a:r>
          </a:p>
          <a:p>
            <a:r>
              <a:rPr lang="en-GB" b="1" dirty="0"/>
              <a:t>Layer 2</a:t>
            </a:r>
          </a:p>
          <a:p>
            <a:r>
              <a:rPr lang="en-GB" dirty="0"/>
              <a:t>One activation depends on three activations from Layer 1.</a:t>
            </a:r>
          </a:p>
          <a:p>
            <a:r>
              <a:rPr lang="en-GB" dirty="0"/>
              <a:t>But each Layer-1 activation already depends on three original inputs.</a:t>
            </a:r>
          </a:p>
          <a:p>
            <a:r>
              <a:rPr lang="en-GB" b="1" dirty="0"/>
              <a:t>Therefore the Layer-2 activation depends on a larger region of the original sequence.</a:t>
            </a:r>
          </a:p>
          <a:p>
            <a:endParaRPr lang="en-GB" dirty="0"/>
          </a:p>
        </p:txBody>
      </p:sp>
    </p:spTree>
    <p:extLst>
      <p:ext uri="{BB962C8B-B14F-4D97-AF65-F5344CB8AC3E}">
        <p14:creationId xmlns:p14="http://schemas.microsoft.com/office/powerpoint/2010/main" val="162297465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8DCED-5350-5372-C589-08D68C08AA3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8914366-463D-6A23-33F9-30463B7952B0}"/>
              </a:ext>
            </a:extLst>
          </p:cNvPr>
          <p:cNvSpPr>
            <a:spLocks noGrp="1"/>
          </p:cNvSpPr>
          <p:nvPr>
            <p:ph type="title"/>
          </p:nvPr>
        </p:nvSpPr>
        <p:spPr/>
        <p:txBody>
          <a:bodyPr/>
          <a:lstStyle/>
          <a:p>
            <a:r>
              <a:rPr lang="en-GB" dirty="0"/>
              <a:t>Receptive field grows with depth</a:t>
            </a:r>
          </a:p>
        </p:txBody>
      </p:sp>
      <p:sp>
        <p:nvSpPr>
          <p:cNvPr id="3" name="Segnaposto contenuto 2">
            <a:extLst>
              <a:ext uri="{FF2B5EF4-FFF2-40B4-BE49-F238E27FC236}">
                <a16:creationId xmlns:a16="http://schemas.microsoft.com/office/drawing/2014/main" id="{05B96A8D-4013-16F6-5D24-E31E9D963814}"/>
              </a:ext>
            </a:extLst>
          </p:cNvPr>
          <p:cNvSpPr>
            <a:spLocks noGrp="1"/>
          </p:cNvSpPr>
          <p:nvPr>
            <p:ph idx="1"/>
          </p:nvPr>
        </p:nvSpPr>
        <p:spPr/>
        <p:txBody>
          <a:bodyPr>
            <a:normAutofit fontScale="85000" lnSpcReduction="20000"/>
          </a:bodyPr>
          <a:lstStyle/>
          <a:p>
            <a:r>
              <a:rPr lang="en-GB" dirty="0"/>
              <a:t>Input:</a:t>
            </a:r>
          </a:p>
          <a:p>
            <a:r>
              <a:rPr lang="en-GB" dirty="0"/>
              <a:t>x1 x2 x3 x4 x5</a:t>
            </a:r>
          </a:p>
          <a:p>
            <a:r>
              <a:rPr lang="en-GB" dirty="0"/>
              <a:t>Layer 1:</a:t>
            </a:r>
          </a:p>
          <a:p>
            <a:r>
              <a:rPr lang="en-GB" dirty="0"/>
              <a:t>   a1 a2 a3</a:t>
            </a:r>
            <a:br>
              <a:rPr lang="en-GB" dirty="0"/>
            </a:br>
            <a:endParaRPr lang="en-GB" dirty="0"/>
          </a:p>
          <a:p>
            <a:r>
              <a:rPr lang="en-GB" dirty="0"/>
              <a:t>Layer 2:</a:t>
            </a:r>
          </a:p>
          <a:p>
            <a:r>
              <a:rPr lang="en-GB" dirty="0"/>
              <a:t>      b1</a:t>
            </a:r>
          </a:p>
          <a:p>
            <a:r>
              <a:rPr lang="en-GB" dirty="0"/>
              <a:t>b1 can depend on:</a:t>
            </a:r>
          </a:p>
          <a:p>
            <a:r>
              <a:rPr lang="en-GB" dirty="0"/>
              <a:t>x1 ... x5</a:t>
            </a:r>
          </a:p>
          <a:p>
            <a:r>
              <a:rPr lang="en-GB" b="1" dirty="0"/>
              <a:t>Result</a:t>
            </a:r>
          </a:p>
          <a:p>
            <a:r>
              <a:rPr lang="en-GB" dirty="0"/>
              <a:t>For two layers with K = 3: receptive field = 5</a:t>
            </a:r>
          </a:p>
          <a:p>
            <a:endParaRPr lang="en-GB" b="1" dirty="0"/>
          </a:p>
          <a:p>
            <a:r>
              <a:rPr lang="en-GB" b="1" dirty="0">
                <a:highlight>
                  <a:srgbClr val="FFFF00"/>
                </a:highlight>
              </a:rPr>
              <a:t>Stacking local convolutions produces progressively larger temporal context.</a:t>
            </a:r>
          </a:p>
          <a:p>
            <a:endParaRPr lang="en-GB" dirty="0"/>
          </a:p>
        </p:txBody>
      </p:sp>
    </p:spTree>
    <p:extLst>
      <p:ext uri="{BB962C8B-B14F-4D97-AF65-F5344CB8AC3E}">
        <p14:creationId xmlns:p14="http://schemas.microsoft.com/office/powerpoint/2010/main" val="172441452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06123E1-BCAF-2CA7-F67A-D3E7000872D8}"/>
              </a:ext>
            </a:extLst>
          </p:cNvPr>
          <p:cNvSpPr>
            <a:spLocks noGrp="1"/>
          </p:cNvSpPr>
          <p:nvPr>
            <p:ph type="title"/>
          </p:nvPr>
        </p:nvSpPr>
        <p:spPr/>
        <p:txBody>
          <a:bodyPr/>
          <a:lstStyle/>
          <a:p>
            <a:r>
              <a:rPr lang="en-GB" dirty="0"/>
              <a:t>Example: three convolutional layers</a:t>
            </a:r>
          </a:p>
        </p:txBody>
      </p:sp>
      <p:sp>
        <p:nvSpPr>
          <p:cNvPr id="3" name="Segnaposto contenuto 2">
            <a:extLst>
              <a:ext uri="{FF2B5EF4-FFF2-40B4-BE49-F238E27FC236}">
                <a16:creationId xmlns:a16="http://schemas.microsoft.com/office/drawing/2014/main" id="{1C4A0051-49F2-A0D0-151E-46DC24DE48F8}"/>
              </a:ext>
            </a:extLst>
          </p:cNvPr>
          <p:cNvSpPr>
            <a:spLocks noGrp="1"/>
          </p:cNvSpPr>
          <p:nvPr>
            <p:ph sz="half" idx="1"/>
          </p:nvPr>
        </p:nvSpPr>
        <p:spPr/>
        <p:txBody>
          <a:bodyPr>
            <a:normAutofit fontScale="85000" lnSpcReduction="20000"/>
          </a:bodyPr>
          <a:lstStyle/>
          <a:p>
            <a:r>
              <a:rPr lang="en-GB" dirty="0"/>
              <a:t>Suppose we stack three convolutional layers.</a:t>
            </a:r>
          </a:p>
          <a:p>
            <a:r>
              <a:rPr lang="en-GB" dirty="0"/>
              <a:t>Each uses:</a:t>
            </a:r>
          </a:p>
          <a:p>
            <a:pPr lvl="0"/>
            <a:r>
              <a:rPr lang="en-GB" dirty="0"/>
              <a:t>kernel size K = 3; </a:t>
            </a:r>
          </a:p>
          <a:p>
            <a:pPr lvl="0"/>
            <a:r>
              <a:rPr lang="en-GB" dirty="0"/>
              <a:t>stride 1; </a:t>
            </a:r>
          </a:p>
          <a:p>
            <a:pPr lvl="0"/>
            <a:r>
              <a:rPr lang="en-GB" dirty="0"/>
              <a:t>no dilation. </a:t>
            </a:r>
          </a:p>
          <a:p>
            <a:r>
              <a:rPr lang="en-GB" b="1" dirty="0"/>
              <a:t>Layer 1</a:t>
            </a:r>
          </a:p>
          <a:p>
            <a:r>
              <a:rPr lang="en-GB" dirty="0"/>
              <a:t>Receptive field (number of original frames): 3</a:t>
            </a:r>
          </a:p>
          <a:p>
            <a:r>
              <a:rPr lang="en-GB" b="1" dirty="0"/>
              <a:t>Layer 2</a:t>
            </a:r>
          </a:p>
          <a:p>
            <a:r>
              <a:rPr lang="en-GB" dirty="0"/>
              <a:t>Receptive field: 5</a:t>
            </a:r>
          </a:p>
          <a:p>
            <a:r>
              <a:rPr lang="en-GB" b="1" dirty="0"/>
              <a:t>Layer 3</a:t>
            </a:r>
          </a:p>
          <a:p>
            <a:r>
              <a:rPr lang="en-GB" dirty="0"/>
              <a:t>Receptive field: 7</a:t>
            </a:r>
          </a:p>
          <a:p>
            <a:endParaRPr lang="en-GB" dirty="0"/>
          </a:p>
        </p:txBody>
      </p:sp>
      <p:sp>
        <p:nvSpPr>
          <p:cNvPr id="4" name="Segnaposto contenuto 3">
            <a:extLst>
              <a:ext uri="{FF2B5EF4-FFF2-40B4-BE49-F238E27FC236}">
                <a16:creationId xmlns:a16="http://schemas.microsoft.com/office/drawing/2014/main" id="{B5A14495-D945-DC2C-356F-AE259A7B632F}"/>
              </a:ext>
            </a:extLst>
          </p:cNvPr>
          <p:cNvSpPr>
            <a:spLocks noGrp="1"/>
          </p:cNvSpPr>
          <p:nvPr>
            <p:ph sz="half" idx="2"/>
          </p:nvPr>
        </p:nvSpPr>
        <p:spPr>
          <a:xfrm>
            <a:off x="5089970" y="2160589"/>
            <a:ext cx="6663880" cy="4516436"/>
          </a:xfrm>
        </p:spPr>
        <p:txBody>
          <a:bodyPr>
            <a:normAutofit fontScale="85000" lnSpcReduction="20000"/>
          </a:bodyPr>
          <a:lstStyle/>
          <a:p>
            <a:r>
              <a:rPr lang="en-GB" b="1" dirty="0">
                <a:highlight>
                  <a:srgbClr val="FFFF00"/>
                </a:highlight>
              </a:rPr>
              <a:t>General pattern for stride 1</a:t>
            </a:r>
          </a:p>
          <a:p>
            <a:r>
              <a:rPr lang="en-GB" dirty="0"/>
              <a:t>For n layers with the same kernel size K:</a:t>
            </a:r>
          </a:p>
          <a:p>
            <a:r>
              <a:rPr lang="en-GB" dirty="0">
                <a:highlight>
                  <a:srgbClr val="FFFF00"/>
                </a:highlight>
              </a:rPr>
              <a:t>receptive field of the n-</a:t>
            </a:r>
            <a:r>
              <a:rPr lang="en-GB" dirty="0" err="1">
                <a:highlight>
                  <a:srgbClr val="FFFF00"/>
                </a:highlight>
              </a:rPr>
              <a:t>th</a:t>
            </a:r>
            <a:r>
              <a:rPr lang="en-GB" dirty="0">
                <a:highlight>
                  <a:srgbClr val="FFFF00"/>
                </a:highlight>
              </a:rPr>
              <a:t> layer = 1 + n × (K − 1)</a:t>
            </a:r>
          </a:p>
          <a:p>
            <a:endParaRPr lang="en-GB" b="1" dirty="0"/>
          </a:p>
          <a:p>
            <a:r>
              <a:rPr lang="en-GB" b="1" dirty="0"/>
              <a:t>Example</a:t>
            </a:r>
          </a:p>
          <a:p>
            <a:r>
              <a:rPr lang="en-GB" dirty="0"/>
              <a:t>For: n = 4</a:t>
            </a:r>
          </a:p>
          <a:p>
            <a:r>
              <a:rPr lang="en-GB" dirty="0"/>
              <a:t>and:</a:t>
            </a:r>
          </a:p>
          <a:p>
            <a:r>
              <a:rPr lang="en-GB" dirty="0"/>
              <a:t>K = 5</a:t>
            </a:r>
          </a:p>
          <a:p>
            <a:r>
              <a:rPr lang="en-GB" dirty="0"/>
              <a:t>we obtain:</a:t>
            </a:r>
          </a:p>
          <a:p>
            <a:r>
              <a:rPr lang="en-GB" dirty="0"/>
              <a:t>1 + 4 × 4 = 17</a:t>
            </a:r>
          </a:p>
          <a:p>
            <a:r>
              <a:rPr lang="en-GB" dirty="0"/>
              <a:t>original time steps.</a:t>
            </a:r>
          </a:p>
        </p:txBody>
      </p:sp>
    </p:spTree>
    <p:extLst>
      <p:ext uri="{BB962C8B-B14F-4D97-AF65-F5344CB8AC3E}">
        <p14:creationId xmlns:p14="http://schemas.microsoft.com/office/powerpoint/2010/main" val="158136718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highlight>
                  <a:srgbClr val="FFFF00"/>
                </a:highlight>
                <a:latin typeface="Aptos Display" pitchFamily="34" charset="0"/>
                <a:ea typeface="Aptos Display" pitchFamily="34" charset="-122"/>
                <a:cs typeface="Aptos Display" pitchFamily="34" charset="-120"/>
              </a:rPr>
              <a:t>5.E.2 — Receptive field grows with depth</a:t>
            </a:r>
            <a:endParaRPr lang="en-US" sz="2600" dirty="0">
              <a:highlight>
                <a:srgbClr val="FFFF00"/>
              </a:highlight>
            </a:endParaRPr>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b="1" dirty="0">
                <a:solidFill>
                  <a:srgbClr val="475569"/>
                </a:solidFill>
                <a:latin typeface="Aptos" pitchFamily="34" charset="0"/>
                <a:ea typeface="Aptos" pitchFamily="34" charset="-122"/>
                <a:cs typeface="Aptos" pitchFamily="34" charset="-120"/>
              </a:rPr>
              <a:t>Stacking local convolutions creates larger temporal context in deeper layers.</a:t>
            </a:r>
            <a:endParaRPr lang="en-US" sz="1350" b="1" dirty="0"/>
          </a:p>
        </p:txBody>
      </p:sp>
      <p:sp>
        <p:nvSpPr>
          <p:cNvPr id="6" name="Shape 4"/>
          <p:cNvSpPr/>
          <p:nvPr/>
        </p:nvSpPr>
        <p:spPr>
          <a:xfrm>
            <a:off x="914400" y="4846320"/>
            <a:ext cx="530352" cy="457200"/>
          </a:xfrm>
          <a:prstGeom prst="roundRect">
            <a:avLst>
              <a:gd name="adj" fmla="val 8000"/>
            </a:avLst>
          </a:prstGeom>
          <a:solidFill>
            <a:srgbClr val="FFFFFF"/>
          </a:solidFill>
          <a:ln w="13970">
            <a:solidFill>
              <a:srgbClr val="84B91F"/>
            </a:solidFill>
            <a:prstDash val="solid"/>
          </a:ln>
        </p:spPr>
        <p:txBody>
          <a:bodyPr/>
          <a:lstStyle/>
          <a:p>
            <a:endParaRPr lang="en-GB"/>
          </a:p>
        </p:txBody>
      </p:sp>
      <p:sp>
        <p:nvSpPr>
          <p:cNvPr id="7" name="Text 5"/>
          <p:cNvSpPr/>
          <p:nvPr/>
        </p:nvSpPr>
        <p:spPr>
          <a:xfrm>
            <a:off x="914400" y="4974336"/>
            <a:ext cx="530352" cy="182880"/>
          </a:xfrm>
          <a:prstGeom prst="rect">
            <a:avLst/>
          </a:prstGeom>
          <a:noFill/>
          <a:ln/>
        </p:spPr>
        <p:txBody>
          <a:bodyPr wrap="square" lIns="0" tIns="0" rIns="0" bIns="0" rtlCol="0" anchor="ctr"/>
          <a:lstStyle/>
          <a:p>
            <a:pPr marL="0" indent="0" algn="ctr">
              <a:buNone/>
            </a:pPr>
            <a:r>
              <a:rPr lang="en-US" sz="1050" b="1" dirty="0">
                <a:solidFill>
                  <a:srgbClr val="0F172A"/>
                </a:solidFill>
              </a:rPr>
              <a:t>x1</a:t>
            </a:r>
            <a:endParaRPr lang="en-US" sz="1050" dirty="0"/>
          </a:p>
        </p:txBody>
      </p:sp>
      <p:sp>
        <p:nvSpPr>
          <p:cNvPr id="8" name="Shape 6"/>
          <p:cNvSpPr/>
          <p:nvPr/>
        </p:nvSpPr>
        <p:spPr>
          <a:xfrm>
            <a:off x="1508760" y="4846320"/>
            <a:ext cx="530352" cy="457200"/>
          </a:xfrm>
          <a:prstGeom prst="roundRect">
            <a:avLst>
              <a:gd name="adj" fmla="val 8000"/>
            </a:avLst>
          </a:prstGeom>
          <a:solidFill>
            <a:srgbClr val="FFFFFF"/>
          </a:solidFill>
          <a:ln w="13970">
            <a:solidFill>
              <a:srgbClr val="84B91F"/>
            </a:solidFill>
            <a:prstDash val="solid"/>
          </a:ln>
        </p:spPr>
        <p:txBody>
          <a:bodyPr/>
          <a:lstStyle/>
          <a:p>
            <a:endParaRPr lang="en-GB"/>
          </a:p>
        </p:txBody>
      </p:sp>
      <p:sp>
        <p:nvSpPr>
          <p:cNvPr id="9" name="Text 7"/>
          <p:cNvSpPr/>
          <p:nvPr/>
        </p:nvSpPr>
        <p:spPr>
          <a:xfrm>
            <a:off x="1508760" y="4974336"/>
            <a:ext cx="530352" cy="182880"/>
          </a:xfrm>
          <a:prstGeom prst="rect">
            <a:avLst/>
          </a:prstGeom>
          <a:noFill/>
          <a:ln/>
        </p:spPr>
        <p:txBody>
          <a:bodyPr wrap="square" lIns="0" tIns="0" rIns="0" bIns="0" rtlCol="0" anchor="ctr"/>
          <a:lstStyle/>
          <a:p>
            <a:pPr marL="0" indent="0" algn="ctr">
              <a:buNone/>
            </a:pPr>
            <a:r>
              <a:rPr lang="en-US" sz="1050" b="1" dirty="0">
                <a:solidFill>
                  <a:srgbClr val="0F172A"/>
                </a:solidFill>
              </a:rPr>
              <a:t>x2</a:t>
            </a:r>
            <a:endParaRPr lang="en-US" sz="1050" dirty="0"/>
          </a:p>
        </p:txBody>
      </p:sp>
      <p:sp>
        <p:nvSpPr>
          <p:cNvPr id="10" name="Shape 8"/>
          <p:cNvSpPr/>
          <p:nvPr/>
        </p:nvSpPr>
        <p:spPr>
          <a:xfrm>
            <a:off x="2103120" y="4846320"/>
            <a:ext cx="530352" cy="457200"/>
          </a:xfrm>
          <a:prstGeom prst="roundRect">
            <a:avLst>
              <a:gd name="adj" fmla="val 8000"/>
            </a:avLst>
          </a:prstGeom>
          <a:solidFill>
            <a:srgbClr val="FFFFFF"/>
          </a:solidFill>
          <a:ln w="13970">
            <a:solidFill>
              <a:srgbClr val="84B91F"/>
            </a:solidFill>
            <a:prstDash val="solid"/>
          </a:ln>
        </p:spPr>
        <p:txBody>
          <a:bodyPr/>
          <a:lstStyle/>
          <a:p>
            <a:endParaRPr lang="en-GB"/>
          </a:p>
        </p:txBody>
      </p:sp>
      <p:sp>
        <p:nvSpPr>
          <p:cNvPr id="11" name="Text 9"/>
          <p:cNvSpPr/>
          <p:nvPr/>
        </p:nvSpPr>
        <p:spPr>
          <a:xfrm>
            <a:off x="2103120" y="4974336"/>
            <a:ext cx="530352" cy="182880"/>
          </a:xfrm>
          <a:prstGeom prst="rect">
            <a:avLst/>
          </a:prstGeom>
          <a:noFill/>
          <a:ln/>
        </p:spPr>
        <p:txBody>
          <a:bodyPr wrap="square" lIns="0" tIns="0" rIns="0" bIns="0" rtlCol="0" anchor="ctr"/>
          <a:lstStyle/>
          <a:p>
            <a:pPr marL="0" indent="0" algn="ctr">
              <a:buNone/>
            </a:pPr>
            <a:r>
              <a:rPr lang="en-US" sz="1050" b="1" dirty="0">
                <a:solidFill>
                  <a:srgbClr val="0F172A"/>
                </a:solidFill>
              </a:rPr>
              <a:t>x3</a:t>
            </a:r>
            <a:endParaRPr lang="en-US" sz="1050" dirty="0"/>
          </a:p>
        </p:txBody>
      </p:sp>
      <p:sp>
        <p:nvSpPr>
          <p:cNvPr id="12" name="Shape 10"/>
          <p:cNvSpPr/>
          <p:nvPr/>
        </p:nvSpPr>
        <p:spPr>
          <a:xfrm>
            <a:off x="2697480" y="4846320"/>
            <a:ext cx="530352" cy="457200"/>
          </a:xfrm>
          <a:prstGeom prst="roundRect">
            <a:avLst>
              <a:gd name="adj" fmla="val 8000"/>
            </a:avLst>
          </a:prstGeom>
          <a:solidFill>
            <a:srgbClr val="FFFFFF"/>
          </a:solidFill>
          <a:ln w="13970">
            <a:solidFill>
              <a:srgbClr val="84B91F"/>
            </a:solidFill>
            <a:prstDash val="solid"/>
          </a:ln>
        </p:spPr>
        <p:txBody>
          <a:bodyPr/>
          <a:lstStyle/>
          <a:p>
            <a:endParaRPr lang="en-GB"/>
          </a:p>
        </p:txBody>
      </p:sp>
      <p:sp>
        <p:nvSpPr>
          <p:cNvPr id="13" name="Text 11"/>
          <p:cNvSpPr/>
          <p:nvPr/>
        </p:nvSpPr>
        <p:spPr>
          <a:xfrm>
            <a:off x="2697480" y="4974336"/>
            <a:ext cx="530352" cy="182880"/>
          </a:xfrm>
          <a:prstGeom prst="rect">
            <a:avLst/>
          </a:prstGeom>
          <a:noFill/>
          <a:ln/>
        </p:spPr>
        <p:txBody>
          <a:bodyPr wrap="square" lIns="0" tIns="0" rIns="0" bIns="0" rtlCol="0" anchor="ctr"/>
          <a:lstStyle/>
          <a:p>
            <a:pPr marL="0" indent="0" algn="ctr">
              <a:buNone/>
            </a:pPr>
            <a:r>
              <a:rPr lang="en-US" sz="1050" b="1" dirty="0">
                <a:solidFill>
                  <a:srgbClr val="0F172A"/>
                </a:solidFill>
              </a:rPr>
              <a:t>x4</a:t>
            </a:r>
            <a:endParaRPr lang="en-US" sz="1050" dirty="0"/>
          </a:p>
        </p:txBody>
      </p:sp>
      <p:sp>
        <p:nvSpPr>
          <p:cNvPr id="14" name="Shape 12"/>
          <p:cNvSpPr/>
          <p:nvPr/>
        </p:nvSpPr>
        <p:spPr>
          <a:xfrm>
            <a:off x="3291840" y="4846320"/>
            <a:ext cx="530352" cy="457200"/>
          </a:xfrm>
          <a:prstGeom prst="roundRect">
            <a:avLst>
              <a:gd name="adj" fmla="val 8000"/>
            </a:avLst>
          </a:prstGeom>
          <a:solidFill>
            <a:srgbClr val="FFFFFF"/>
          </a:solidFill>
          <a:ln w="13970">
            <a:solidFill>
              <a:srgbClr val="84B91F"/>
            </a:solidFill>
            <a:prstDash val="solid"/>
          </a:ln>
        </p:spPr>
        <p:txBody>
          <a:bodyPr/>
          <a:lstStyle/>
          <a:p>
            <a:endParaRPr lang="en-GB"/>
          </a:p>
        </p:txBody>
      </p:sp>
      <p:sp>
        <p:nvSpPr>
          <p:cNvPr id="15" name="Text 13"/>
          <p:cNvSpPr/>
          <p:nvPr/>
        </p:nvSpPr>
        <p:spPr>
          <a:xfrm>
            <a:off x="3291840" y="4974336"/>
            <a:ext cx="530352" cy="182880"/>
          </a:xfrm>
          <a:prstGeom prst="rect">
            <a:avLst/>
          </a:prstGeom>
          <a:noFill/>
          <a:ln/>
        </p:spPr>
        <p:txBody>
          <a:bodyPr wrap="square" lIns="0" tIns="0" rIns="0" bIns="0" rtlCol="0" anchor="ctr"/>
          <a:lstStyle/>
          <a:p>
            <a:pPr marL="0" indent="0" algn="ctr">
              <a:buNone/>
            </a:pPr>
            <a:r>
              <a:rPr lang="en-US" sz="1050" b="1" dirty="0">
                <a:solidFill>
                  <a:srgbClr val="0F172A"/>
                </a:solidFill>
              </a:rPr>
              <a:t>x5</a:t>
            </a:r>
            <a:endParaRPr lang="en-US" sz="1050" dirty="0"/>
          </a:p>
        </p:txBody>
      </p:sp>
      <p:sp>
        <p:nvSpPr>
          <p:cNvPr id="16" name="Shape 14"/>
          <p:cNvSpPr/>
          <p:nvPr/>
        </p:nvSpPr>
        <p:spPr>
          <a:xfrm>
            <a:off x="3886200" y="4846320"/>
            <a:ext cx="530352" cy="457200"/>
          </a:xfrm>
          <a:prstGeom prst="roundRect">
            <a:avLst>
              <a:gd name="adj" fmla="val 8000"/>
            </a:avLst>
          </a:prstGeom>
          <a:solidFill>
            <a:srgbClr val="FFFFFF"/>
          </a:solidFill>
          <a:ln w="13970">
            <a:solidFill>
              <a:srgbClr val="84B91F"/>
            </a:solidFill>
            <a:prstDash val="solid"/>
          </a:ln>
        </p:spPr>
        <p:txBody>
          <a:bodyPr/>
          <a:lstStyle/>
          <a:p>
            <a:endParaRPr lang="en-GB"/>
          </a:p>
        </p:txBody>
      </p:sp>
      <p:sp>
        <p:nvSpPr>
          <p:cNvPr id="17" name="Text 15"/>
          <p:cNvSpPr/>
          <p:nvPr/>
        </p:nvSpPr>
        <p:spPr>
          <a:xfrm>
            <a:off x="3886200" y="4974336"/>
            <a:ext cx="530352" cy="182880"/>
          </a:xfrm>
          <a:prstGeom prst="rect">
            <a:avLst/>
          </a:prstGeom>
          <a:noFill/>
          <a:ln/>
        </p:spPr>
        <p:txBody>
          <a:bodyPr wrap="square" lIns="0" tIns="0" rIns="0" bIns="0" rtlCol="0" anchor="ctr"/>
          <a:lstStyle/>
          <a:p>
            <a:pPr marL="0" indent="0" algn="ctr">
              <a:buNone/>
            </a:pPr>
            <a:r>
              <a:rPr lang="en-US" sz="1050" b="1" dirty="0">
                <a:solidFill>
                  <a:srgbClr val="0F172A"/>
                </a:solidFill>
              </a:rPr>
              <a:t>x6</a:t>
            </a:r>
            <a:endParaRPr lang="en-US" sz="1050" dirty="0"/>
          </a:p>
        </p:txBody>
      </p:sp>
      <p:sp>
        <p:nvSpPr>
          <p:cNvPr id="18" name="Shape 16"/>
          <p:cNvSpPr/>
          <p:nvPr/>
        </p:nvSpPr>
        <p:spPr>
          <a:xfrm>
            <a:off x="4480560" y="4846320"/>
            <a:ext cx="530352" cy="457200"/>
          </a:xfrm>
          <a:prstGeom prst="roundRect">
            <a:avLst>
              <a:gd name="adj" fmla="val 8000"/>
            </a:avLst>
          </a:prstGeom>
          <a:solidFill>
            <a:srgbClr val="FFFFFF"/>
          </a:solidFill>
          <a:ln w="13970">
            <a:solidFill>
              <a:srgbClr val="84B91F"/>
            </a:solidFill>
            <a:prstDash val="solid"/>
          </a:ln>
        </p:spPr>
        <p:txBody>
          <a:bodyPr/>
          <a:lstStyle/>
          <a:p>
            <a:endParaRPr lang="en-GB"/>
          </a:p>
        </p:txBody>
      </p:sp>
      <p:sp>
        <p:nvSpPr>
          <p:cNvPr id="19" name="Text 17"/>
          <p:cNvSpPr/>
          <p:nvPr/>
        </p:nvSpPr>
        <p:spPr>
          <a:xfrm>
            <a:off x="4480560" y="4974336"/>
            <a:ext cx="530352" cy="182880"/>
          </a:xfrm>
          <a:prstGeom prst="rect">
            <a:avLst/>
          </a:prstGeom>
          <a:noFill/>
          <a:ln/>
        </p:spPr>
        <p:txBody>
          <a:bodyPr wrap="square" lIns="0" tIns="0" rIns="0" bIns="0" rtlCol="0" anchor="ctr"/>
          <a:lstStyle/>
          <a:p>
            <a:pPr marL="0" indent="0" algn="ctr">
              <a:buNone/>
            </a:pPr>
            <a:r>
              <a:rPr lang="en-US" sz="1050" b="1" dirty="0">
                <a:solidFill>
                  <a:srgbClr val="0F172A"/>
                </a:solidFill>
              </a:rPr>
              <a:t>x7</a:t>
            </a:r>
            <a:endParaRPr lang="en-US" sz="1050" dirty="0"/>
          </a:p>
        </p:txBody>
      </p:sp>
      <p:sp>
        <p:nvSpPr>
          <p:cNvPr id="20" name="Text 18"/>
          <p:cNvSpPr/>
          <p:nvPr/>
        </p:nvSpPr>
        <p:spPr>
          <a:xfrm>
            <a:off x="91440" y="4983480"/>
            <a:ext cx="685800" cy="228600"/>
          </a:xfrm>
          <a:prstGeom prst="rect">
            <a:avLst/>
          </a:prstGeom>
          <a:noFill/>
          <a:ln/>
        </p:spPr>
        <p:txBody>
          <a:bodyPr wrap="square" lIns="0" tIns="0" rIns="0" bIns="0" rtlCol="0" anchor="ctr">
            <a:normAutofit/>
          </a:bodyPr>
          <a:lstStyle/>
          <a:p>
            <a:pPr marL="0" indent="0" algn="r">
              <a:buNone/>
            </a:pPr>
            <a:r>
              <a:rPr lang="en-US" sz="1200" b="1" dirty="0">
                <a:solidFill>
                  <a:srgbClr val="0F172A"/>
                </a:solidFill>
              </a:rPr>
              <a:t>Input</a:t>
            </a:r>
            <a:endParaRPr lang="en-US" sz="1200" dirty="0"/>
          </a:p>
        </p:txBody>
      </p:sp>
      <p:sp>
        <p:nvSpPr>
          <p:cNvPr id="21" name="Shape 19"/>
          <p:cNvSpPr/>
          <p:nvPr/>
        </p:nvSpPr>
        <p:spPr>
          <a:xfrm>
            <a:off x="1216152" y="3794760"/>
            <a:ext cx="457200" cy="411480"/>
          </a:xfrm>
          <a:prstGeom prst="roundRect">
            <a:avLst>
              <a:gd name="adj" fmla="val 13333"/>
            </a:avLst>
          </a:prstGeom>
          <a:solidFill>
            <a:srgbClr val="E7F5C7"/>
          </a:solidFill>
          <a:ln w="15240">
            <a:solidFill>
              <a:srgbClr val="84B91F"/>
            </a:solidFill>
            <a:prstDash val="solid"/>
          </a:ln>
        </p:spPr>
        <p:txBody>
          <a:bodyPr/>
          <a:lstStyle/>
          <a:p>
            <a:endParaRPr lang="en-GB"/>
          </a:p>
        </p:txBody>
      </p:sp>
      <p:sp>
        <p:nvSpPr>
          <p:cNvPr id="22" name="Text 20"/>
          <p:cNvSpPr/>
          <p:nvPr/>
        </p:nvSpPr>
        <p:spPr>
          <a:xfrm>
            <a:off x="1261872" y="3908146"/>
            <a:ext cx="365760" cy="246888"/>
          </a:xfrm>
          <a:prstGeom prst="rect">
            <a:avLst/>
          </a:prstGeom>
          <a:noFill/>
          <a:ln/>
        </p:spPr>
        <p:txBody>
          <a:bodyPr wrap="square" lIns="0" tIns="0" rIns="0" bIns="0" rtlCol="0" anchor="ctr">
            <a:normAutofit/>
          </a:bodyPr>
          <a:lstStyle/>
          <a:p>
            <a:pPr marL="0" indent="0" algn="ctr">
              <a:buNone/>
            </a:pPr>
            <a:r>
              <a:rPr lang="en-US" sz="1000" b="1" dirty="0">
                <a:solidFill>
                  <a:srgbClr val="0F172A"/>
                </a:solidFill>
              </a:rPr>
              <a:t>a1</a:t>
            </a:r>
            <a:endParaRPr lang="en-US" sz="1000" dirty="0"/>
          </a:p>
        </p:txBody>
      </p:sp>
      <p:sp>
        <p:nvSpPr>
          <p:cNvPr id="23" name="Shape 21"/>
          <p:cNvSpPr/>
          <p:nvPr/>
        </p:nvSpPr>
        <p:spPr>
          <a:xfrm>
            <a:off x="1810512" y="3794760"/>
            <a:ext cx="457200" cy="411480"/>
          </a:xfrm>
          <a:prstGeom prst="roundRect">
            <a:avLst>
              <a:gd name="adj" fmla="val 13333"/>
            </a:avLst>
          </a:prstGeom>
          <a:solidFill>
            <a:srgbClr val="E7F5C7"/>
          </a:solidFill>
          <a:ln w="15240">
            <a:solidFill>
              <a:srgbClr val="84B91F"/>
            </a:solidFill>
            <a:prstDash val="solid"/>
          </a:ln>
        </p:spPr>
        <p:txBody>
          <a:bodyPr/>
          <a:lstStyle/>
          <a:p>
            <a:endParaRPr lang="en-GB"/>
          </a:p>
        </p:txBody>
      </p:sp>
      <p:sp>
        <p:nvSpPr>
          <p:cNvPr id="24" name="Text 22"/>
          <p:cNvSpPr/>
          <p:nvPr/>
        </p:nvSpPr>
        <p:spPr>
          <a:xfrm>
            <a:off x="1856232" y="3908146"/>
            <a:ext cx="365760" cy="246888"/>
          </a:xfrm>
          <a:prstGeom prst="rect">
            <a:avLst/>
          </a:prstGeom>
          <a:noFill/>
          <a:ln/>
        </p:spPr>
        <p:txBody>
          <a:bodyPr wrap="square" lIns="0" tIns="0" rIns="0" bIns="0" rtlCol="0" anchor="ctr">
            <a:normAutofit/>
          </a:bodyPr>
          <a:lstStyle/>
          <a:p>
            <a:pPr marL="0" indent="0" algn="ctr">
              <a:buNone/>
            </a:pPr>
            <a:r>
              <a:rPr lang="en-US" sz="1000" b="1" dirty="0">
                <a:solidFill>
                  <a:srgbClr val="0F172A"/>
                </a:solidFill>
              </a:rPr>
              <a:t>a2</a:t>
            </a:r>
            <a:endParaRPr lang="en-US" sz="1000" dirty="0"/>
          </a:p>
        </p:txBody>
      </p:sp>
      <p:sp>
        <p:nvSpPr>
          <p:cNvPr id="25" name="Shape 23"/>
          <p:cNvSpPr/>
          <p:nvPr/>
        </p:nvSpPr>
        <p:spPr>
          <a:xfrm>
            <a:off x="2404872" y="3794760"/>
            <a:ext cx="457200" cy="411480"/>
          </a:xfrm>
          <a:prstGeom prst="roundRect">
            <a:avLst>
              <a:gd name="adj" fmla="val 13333"/>
            </a:avLst>
          </a:prstGeom>
          <a:solidFill>
            <a:srgbClr val="E7F5C7"/>
          </a:solidFill>
          <a:ln w="15240">
            <a:solidFill>
              <a:srgbClr val="84B91F"/>
            </a:solidFill>
            <a:prstDash val="solid"/>
          </a:ln>
        </p:spPr>
        <p:txBody>
          <a:bodyPr/>
          <a:lstStyle/>
          <a:p>
            <a:endParaRPr lang="en-GB"/>
          </a:p>
        </p:txBody>
      </p:sp>
      <p:sp>
        <p:nvSpPr>
          <p:cNvPr id="26" name="Text 24"/>
          <p:cNvSpPr/>
          <p:nvPr/>
        </p:nvSpPr>
        <p:spPr>
          <a:xfrm>
            <a:off x="2450592" y="3908146"/>
            <a:ext cx="365760" cy="246888"/>
          </a:xfrm>
          <a:prstGeom prst="rect">
            <a:avLst/>
          </a:prstGeom>
          <a:noFill/>
          <a:ln/>
        </p:spPr>
        <p:txBody>
          <a:bodyPr wrap="square" lIns="0" tIns="0" rIns="0" bIns="0" rtlCol="0" anchor="ctr">
            <a:normAutofit/>
          </a:bodyPr>
          <a:lstStyle/>
          <a:p>
            <a:pPr marL="0" indent="0" algn="ctr">
              <a:buNone/>
            </a:pPr>
            <a:r>
              <a:rPr lang="en-US" sz="1000" b="1" dirty="0">
                <a:solidFill>
                  <a:srgbClr val="0F172A"/>
                </a:solidFill>
              </a:rPr>
              <a:t>a3</a:t>
            </a:r>
            <a:endParaRPr lang="en-US" sz="1000" dirty="0"/>
          </a:p>
        </p:txBody>
      </p:sp>
      <p:sp>
        <p:nvSpPr>
          <p:cNvPr id="27" name="Shape 25"/>
          <p:cNvSpPr/>
          <p:nvPr/>
        </p:nvSpPr>
        <p:spPr>
          <a:xfrm>
            <a:off x="2999232" y="3794760"/>
            <a:ext cx="457200" cy="411480"/>
          </a:xfrm>
          <a:prstGeom prst="roundRect">
            <a:avLst>
              <a:gd name="adj" fmla="val 13333"/>
            </a:avLst>
          </a:prstGeom>
          <a:solidFill>
            <a:srgbClr val="E7F5C7"/>
          </a:solidFill>
          <a:ln w="15240">
            <a:solidFill>
              <a:srgbClr val="84B91F"/>
            </a:solidFill>
            <a:prstDash val="solid"/>
          </a:ln>
        </p:spPr>
        <p:txBody>
          <a:bodyPr/>
          <a:lstStyle/>
          <a:p>
            <a:endParaRPr lang="en-GB"/>
          </a:p>
        </p:txBody>
      </p:sp>
      <p:sp>
        <p:nvSpPr>
          <p:cNvPr id="28" name="Text 26"/>
          <p:cNvSpPr/>
          <p:nvPr/>
        </p:nvSpPr>
        <p:spPr>
          <a:xfrm>
            <a:off x="3044952" y="3908146"/>
            <a:ext cx="365760" cy="246888"/>
          </a:xfrm>
          <a:prstGeom prst="rect">
            <a:avLst/>
          </a:prstGeom>
          <a:noFill/>
          <a:ln/>
        </p:spPr>
        <p:txBody>
          <a:bodyPr wrap="square" lIns="0" tIns="0" rIns="0" bIns="0" rtlCol="0" anchor="ctr">
            <a:normAutofit/>
          </a:bodyPr>
          <a:lstStyle/>
          <a:p>
            <a:pPr marL="0" indent="0" algn="ctr">
              <a:buNone/>
            </a:pPr>
            <a:r>
              <a:rPr lang="en-US" sz="1000" b="1" dirty="0">
                <a:solidFill>
                  <a:srgbClr val="0F172A"/>
                </a:solidFill>
              </a:rPr>
              <a:t>a4</a:t>
            </a:r>
            <a:endParaRPr lang="en-US" sz="1000" dirty="0"/>
          </a:p>
        </p:txBody>
      </p:sp>
      <p:sp>
        <p:nvSpPr>
          <p:cNvPr id="29" name="Shape 27"/>
          <p:cNvSpPr/>
          <p:nvPr/>
        </p:nvSpPr>
        <p:spPr>
          <a:xfrm>
            <a:off x="3593592" y="3794760"/>
            <a:ext cx="457200" cy="411480"/>
          </a:xfrm>
          <a:prstGeom prst="roundRect">
            <a:avLst>
              <a:gd name="adj" fmla="val 13333"/>
            </a:avLst>
          </a:prstGeom>
          <a:solidFill>
            <a:srgbClr val="E7F5C7"/>
          </a:solidFill>
          <a:ln w="15240">
            <a:solidFill>
              <a:srgbClr val="84B91F"/>
            </a:solidFill>
            <a:prstDash val="solid"/>
          </a:ln>
        </p:spPr>
        <p:txBody>
          <a:bodyPr/>
          <a:lstStyle/>
          <a:p>
            <a:endParaRPr lang="en-GB"/>
          </a:p>
        </p:txBody>
      </p:sp>
      <p:sp>
        <p:nvSpPr>
          <p:cNvPr id="30" name="Text 28"/>
          <p:cNvSpPr/>
          <p:nvPr/>
        </p:nvSpPr>
        <p:spPr>
          <a:xfrm>
            <a:off x="3639312" y="3908146"/>
            <a:ext cx="365760" cy="246888"/>
          </a:xfrm>
          <a:prstGeom prst="rect">
            <a:avLst/>
          </a:prstGeom>
          <a:noFill/>
          <a:ln/>
        </p:spPr>
        <p:txBody>
          <a:bodyPr wrap="square" lIns="0" tIns="0" rIns="0" bIns="0" rtlCol="0" anchor="ctr">
            <a:normAutofit/>
          </a:bodyPr>
          <a:lstStyle/>
          <a:p>
            <a:pPr marL="0" indent="0" algn="ctr">
              <a:buNone/>
            </a:pPr>
            <a:r>
              <a:rPr lang="en-US" sz="1000" b="1" dirty="0">
                <a:solidFill>
                  <a:srgbClr val="0F172A"/>
                </a:solidFill>
              </a:rPr>
              <a:t>a5</a:t>
            </a:r>
            <a:endParaRPr lang="en-US" sz="1000" dirty="0"/>
          </a:p>
        </p:txBody>
      </p:sp>
      <p:sp>
        <p:nvSpPr>
          <p:cNvPr id="31" name="Text 29"/>
          <p:cNvSpPr/>
          <p:nvPr/>
        </p:nvSpPr>
        <p:spPr>
          <a:xfrm>
            <a:off x="91440" y="3886200"/>
            <a:ext cx="822960" cy="228600"/>
          </a:xfrm>
          <a:prstGeom prst="rect">
            <a:avLst/>
          </a:prstGeom>
          <a:noFill/>
          <a:ln/>
        </p:spPr>
        <p:txBody>
          <a:bodyPr wrap="square" lIns="0" tIns="0" rIns="0" bIns="0" rtlCol="0" anchor="ctr">
            <a:normAutofit/>
          </a:bodyPr>
          <a:lstStyle/>
          <a:p>
            <a:pPr marL="0" indent="0" algn="r">
              <a:buNone/>
            </a:pPr>
            <a:r>
              <a:rPr lang="en-US" sz="1200" b="1" dirty="0">
                <a:solidFill>
                  <a:srgbClr val="0F172A"/>
                </a:solidFill>
              </a:rPr>
              <a:t>Layer 1</a:t>
            </a:r>
            <a:endParaRPr lang="en-US" sz="1200" dirty="0"/>
          </a:p>
        </p:txBody>
      </p:sp>
      <p:sp>
        <p:nvSpPr>
          <p:cNvPr id="32" name="Shape 30"/>
          <p:cNvSpPr/>
          <p:nvPr/>
        </p:nvSpPr>
        <p:spPr>
          <a:xfrm>
            <a:off x="1810512" y="2743200"/>
            <a:ext cx="457200" cy="411480"/>
          </a:xfrm>
          <a:prstGeom prst="roundRect">
            <a:avLst>
              <a:gd name="adj" fmla="val 13333"/>
            </a:avLst>
          </a:prstGeom>
          <a:solidFill>
            <a:srgbClr val="FFF7CC"/>
          </a:solidFill>
          <a:ln w="15240">
            <a:solidFill>
              <a:srgbClr val="F7C948"/>
            </a:solidFill>
            <a:prstDash val="solid"/>
          </a:ln>
        </p:spPr>
        <p:txBody>
          <a:bodyPr/>
          <a:lstStyle/>
          <a:p>
            <a:endParaRPr lang="en-GB"/>
          </a:p>
        </p:txBody>
      </p:sp>
      <p:sp>
        <p:nvSpPr>
          <p:cNvPr id="33" name="Text 31"/>
          <p:cNvSpPr/>
          <p:nvPr/>
        </p:nvSpPr>
        <p:spPr>
          <a:xfrm>
            <a:off x="1856232" y="2856586"/>
            <a:ext cx="365760" cy="246888"/>
          </a:xfrm>
          <a:prstGeom prst="rect">
            <a:avLst/>
          </a:prstGeom>
          <a:noFill/>
          <a:ln/>
        </p:spPr>
        <p:txBody>
          <a:bodyPr wrap="square" lIns="0" tIns="0" rIns="0" bIns="0" rtlCol="0" anchor="ctr">
            <a:normAutofit/>
          </a:bodyPr>
          <a:lstStyle/>
          <a:p>
            <a:pPr marL="0" indent="0" algn="ctr">
              <a:buNone/>
            </a:pPr>
            <a:r>
              <a:rPr lang="en-US" sz="1000" b="1" dirty="0">
                <a:solidFill>
                  <a:srgbClr val="0F172A"/>
                </a:solidFill>
              </a:rPr>
              <a:t>b1</a:t>
            </a:r>
            <a:endParaRPr lang="en-US" sz="1000" dirty="0"/>
          </a:p>
        </p:txBody>
      </p:sp>
      <p:sp>
        <p:nvSpPr>
          <p:cNvPr id="34" name="Shape 32"/>
          <p:cNvSpPr/>
          <p:nvPr/>
        </p:nvSpPr>
        <p:spPr>
          <a:xfrm>
            <a:off x="2404872" y="2743200"/>
            <a:ext cx="457200" cy="411480"/>
          </a:xfrm>
          <a:prstGeom prst="roundRect">
            <a:avLst>
              <a:gd name="adj" fmla="val 13333"/>
            </a:avLst>
          </a:prstGeom>
          <a:solidFill>
            <a:srgbClr val="FFF7CC"/>
          </a:solidFill>
          <a:ln w="15240">
            <a:solidFill>
              <a:srgbClr val="F7C948"/>
            </a:solidFill>
            <a:prstDash val="solid"/>
          </a:ln>
        </p:spPr>
        <p:txBody>
          <a:bodyPr/>
          <a:lstStyle/>
          <a:p>
            <a:endParaRPr lang="en-GB"/>
          </a:p>
        </p:txBody>
      </p:sp>
      <p:sp>
        <p:nvSpPr>
          <p:cNvPr id="35" name="Text 33"/>
          <p:cNvSpPr/>
          <p:nvPr/>
        </p:nvSpPr>
        <p:spPr>
          <a:xfrm>
            <a:off x="2450592" y="2856586"/>
            <a:ext cx="365760" cy="246888"/>
          </a:xfrm>
          <a:prstGeom prst="rect">
            <a:avLst/>
          </a:prstGeom>
          <a:noFill/>
          <a:ln/>
        </p:spPr>
        <p:txBody>
          <a:bodyPr wrap="square" lIns="0" tIns="0" rIns="0" bIns="0" rtlCol="0" anchor="ctr">
            <a:normAutofit/>
          </a:bodyPr>
          <a:lstStyle/>
          <a:p>
            <a:pPr marL="0" indent="0" algn="ctr">
              <a:buNone/>
            </a:pPr>
            <a:r>
              <a:rPr lang="en-US" sz="1000" b="1" dirty="0">
                <a:solidFill>
                  <a:srgbClr val="0F172A"/>
                </a:solidFill>
              </a:rPr>
              <a:t>b2</a:t>
            </a:r>
            <a:endParaRPr lang="en-US" sz="1000" dirty="0"/>
          </a:p>
        </p:txBody>
      </p:sp>
      <p:sp>
        <p:nvSpPr>
          <p:cNvPr id="36" name="Shape 34"/>
          <p:cNvSpPr/>
          <p:nvPr/>
        </p:nvSpPr>
        <p:spPr>
          <a:xfrm>
            <a:off x="2999232" y="2743200"/>
            <a:ext cx="457200" cy="411480"/>
          </a:xfrm>
          <a:prstGeom prst="roundRect">
            <a:avLst>
              <a:gd name="adj" fmla="val 13333"/>
            </a:avLst>
          </a:prstGeom>
          <a:solidFill>
            <a:srgbClr val="FFF7CC"/>
          </a:solidFill>
          <a:ln w="15240">
            <a:solidFill>
              <a:srgbClr val="F7C948"/>
            </a:solidFill>
            <a:prstDash val="solid"/>
          </a:ln>
        </p:spPr>
        <p:txBody>
          <a:bodyPr/>
          <a:lstStyle/>
          <a:p>
            <a:endParaRPr lang="en-GB"/>
          </a:p>
        </p:txBody>
      </p:sp>
      <p:sp>
        <p:nvSpPr>
          <p:cNvPr id="37" name="Text 35"/>
          <p:cNvSpPr/>
          <p:nvPr/>
        </p:nvSpPr>
        <p:spPr>
          <a:xfrm>
            <a:off x="3044952" y="2856586"/>
            <a:ext cx="365760" cy="246888"/>
          </a:xfrm>
          <a:prstGeom prst="rect">
            <a:avLst/>
          </a:prstGeom>
          <a:noFill/>
          <a:ln/>
        </p:spPr>
        <p:txBody>
          <a:bodyPr wrap="square" lIns="0" tIns="0" rIns="0" bIns="0" rtlCol="0" anchor="ctr">
            <a:normAutofit/>
          </a:bodyPr>
          <a:lstStyle/>
          <a:p>
            <a:pPr marL="0" indent="0" algn="ctr">
              <a:buNone/>
            </a:pPr>
            <a:r>
              <a:rPr lang="en-US" sz="1000" b="1" dirty="0">
                <a:solidFill>
                  <a:srgbClr val="0F172A"/>
                </a:solidFill>
              </a:rPr>
              <a:t>b3</a:t>
            </a:r>
            <a:endParaRPr lang="en-US" sz="1000" dirty="0"/>
          </a:p>
        </p:txBody>
      </p:sp>
      <p:sp>
        <p:nvSpPr>
          <p:cNvPr id="38" name="Text 36"/>
          <p:cNvSpPr/>
          <p:nvPr/>
        </p:nvSpPr>
        <p:spPr>
          <a:xfrm>
            <a:off x="91440" y="2852928"/>
            <a:ext cx="822960" cy="228600"/>
          </a:xfrm>
          <a:prstGeom prst="rect">
            <a:avLst/>
          </a:prstGeom>
          <a:noFill/>
          <a:ln/>
        </p:spPr>
        <p:txBody>
          <a:bodyPr wrap="square" lIns="0" tIns="0" rIns="0" bIns="0" rtlCol="0" anchor="ctr">
            <a:normAutofit/>
          </a:bodyPr>
          <a:lstStyle/>
          <a:p>
            <a:pPr marL="0" indent="0" algn="r">
              <a:buNone/>
            </a:pPr>
            <a:r>
              <a:rPr lang="en-US" sz="1200" b="1" dirty="0">
                <a:solidFill>
                  <a:srgbClr val="0F172A"/>
                </a:solidFill>
              </a:rPr>
              <a:t>Layer 2</a:t>
            </a:r>
            <a:endParaRPr lang="en-US" sz="1200" dirty="0"/>
          </a:p>
        </p:txBody>
      </p:sp>
      <p:sp>
        <p:nvSpPr>
          <p:cNvPr id="39" name="Shape 37"/>
          <p:cNvSpPr/>
          <p:nvPr/>
        </p:nvSpPr>
        <p:spPr>
          <a:xfrm>
            <a:off x="2404872" y="1691640"/>
            <a:ext cx="457200" cy="411480"/>
          </a:xfrm>
          <a:prstGeom prst="roundRect">
            <a:avLst>
              <a:gd name="adj" fmla="val 13333"/>
            </a:avLst>
          </a:prstGeom>
          <a:solidFill>
            <a:srgbClr val="EDE9FE"/>
          </a:solidFill>
          <a:ln w="15240">
            <a:solidFill>
              <a:srgbClr val="7C3AED"/>
            </a:solidFill>
            <a:prstDash val="solid"/>
          </a:ln>
        </p:spPr>
        <p:txBody>
          <a:bodyPr/>
          <a:lstStyle/>
          <a:p>
            <a:endParaRPr lang="en-GB"/>
          </a:p>
        </p:txBody>
      </p:sp>
      <p:sp>
        <p:nvSpPr>
          <p:cNvPr id="40" name="Text 38"/>
          <p:cNvSpPr/>
          <p:nvPr/>
        </p:nvSpPr>
        <p:spPr>
          <a:xfrm>
            <a:off x="2450592" y="1805026"/>
            <a:ext cx="365760" cy="246888"/>
          </a:xfrm>
          <a:prstGeom prst="rect">
            <a:avLst/>
          </a:prstGeom>
          <a:noFill/>
          <a:ln/>
        </p:spPr>
        <p:txBody>
          <a:bodyPr wrap="square" lIns="0" tIns="0" rIns="0" bIns="0" rtlCol="0" anchor="ctr">
            <a:normAutofit/>
          </a:bodyPr>
          <a:lstStyle/>
          <a:p>
            <a:pPr marL="0" indent="0" algn="ctr">
              <a:buNone/>
            </a:pPr>
            <a:r>
              <a:rPr lang="en-US" sz="1000" b="1" dirty="0">
                <a:solidFill>
                  <a:srgbClr val="0F172A"/>
                </a:solidFill>
              </a:rPr>
              <a:t>c1</a:t>
            </a:r>
            <a:endParaRPr lang="en-US" sz="1000" dirty="0"/>
          </a:p>
        </p:txBody>
      </p:sp>
      <p:sp>
        <p:nvSpPr>
          <p:cNvPr id="41" name="Text 39"/>
          <p:cNvSpPr/>
          <p:nvPr/>
        </p:nvSpPr>
        <p:spPr>
          <a:xfrm>
            <a:off x="91440" y="1801368"/>
            <a:ext cx="822960" cy="228600"/>
          </a:xfrm>
          <a:prstGeom prst="rect">
            <a:avLst/>
          </a:prstGeom>
          <a:noFill/>
          <a:ln/>
        </p:spPr>
        <p:txBody>
          <a:bodyPr wrap="square" lIns="0" tIns="0" rIns="0" bIns="0" rtlCol="0" anchor="ctr">
            <a:normAutofit/>
          </a:bodyPr>
          <a:lstStyle/>
          <a:p>
            <a:pPr marL="0" indent="0" algn="r">
              <a:buNone/>
            </a:pPr>
            <a:r>
              <a:rPr lang="en-US" sz="1200" b="1" dirty="0">
                <a:solidFill>
                  <a:srgbClr val="0F172A"/>
                </a:solidFill>
              </a:rPr>
              <a:t>Layer 3</a:t>
            </a:r>
            <a:endParaRPr lang="en-US" sz="1200" dirty="0"/>
          </a:p>
        </p:txBody>
      </p:sp>
      <p:sp>
        <p:nvSpPr>
          <p:cNvPr id="42" name="Shape 40"/>
          <p:cNvSpPr/>
          <p:nvPr/>
        </p:nvSpPr>
        <p:spPr>
          <a:xfrm>
            <a:off x="1143000" y="4846320"/>
            <a:ext cx="301752" cy="0"/>
          </a:xfrm>
          <a:prstGeom prst="line">
            <a:avLst/>
          </a:prstGeom>
          <a:noFill/>
          <a:ln w="12700">
            <a:solidFill>
              <a:srgbClr val="84B91F"/>
            </a:solidFill>
            <a:prstDash val="solid"/>
          </a:ln>
        </p:spPr>
        <p:txBody>
          <a:bodyPr/>
          <a:lstStyle/>
          <a:p>
            <a:endParaRPr lang="en-GB"/>
          </a:p>
        </p:txBody>
      </p:sp>
      <p:sp>
        <p:nvSpPr>
          <p:cNvPr id="43" name="Shape 41"/>
          <p:cNvSpPr/>
          <p:nvPr/>
        </p:nvSpPr>
        <p:spPr>
          <a:xfrm>
            <a:off x="1737360" y="4846320"/>
            <a:ext cx="0" cy="0"/>
          </a:xfrm>
          <a:prstGeom prst="line">
            <a:avLst/>
          </a:prstGeom>
          <a:noFill/>
          <a:ln w="12700">
            <a:solidFill>
              <a:srgbClr val="84B91F"/>
            </a:solidFill>
            <a:prstDash val="solid"/>
          </a:ln>
        </p:spPr>
        <p:txBody>
          <a:bodyPr/>
          <a:lstStyle/>
          <a:p>
            <a:endParaRPr lang="en-GB"/>
          </a:p>
        </p:txBody>
      </p:sp>
      <p:sp>
        <p:nvSpPr>
          <p:cNvPr id="44" name="Shape 42"/>
          <p:cNvSpPr/>
          <p:nvPr/>
        </p:nvSpPr>
        <p:spPr>
          <a:xfrm>
            <a:off x="2331720" y="4846320"/>
            <a:ext cx="0" cy="0"/>
          </a:xfrm>
          <a:prstGeom prst="line">
            <a:avLst/>
          </a:prstGeom>
          <a:noFill/>
          <a:ln w="12700">
            <a:solidFill>
              <a:srgbClr val="84B91F"/>
            </a:solidFill>
            <a:prstDash val="solid"/>
          </a:ln>
        </p:spPr>
        <p:txBody>
          <a:bodyPr/>
          <a:lstStyle/>
          <a:p>
            <a:endParaRPr lang="en-GB"/>
          </a:p>
        </p:txBody>
      </p:sp>
      <p:sp>
        <p:nvSpPr>
          <p:cNvPr id="45" name="Shape 43"/>
          <p:cNvSpPr/>
          <p:nvPr/>
        </p:nvSpPr>
        <p:spPr>
          <a:xfrm>
            <a:off x="2331720" y="4846320"/>
            <a:ext cx="0" cy="0"/>
          </a:xfrm>
          <a:prstGeom prst="line">
            <a:avLst/>
          </a:prstGeom>
          <a:noFill/>
          <a:ln w="12700">
            <a:solidFill>
              <a:srgbClr val="84B91F"/>
            </a:solidFill>
            <a:prstDash val="solid"/>
          </a:ln>
        </p:spPr>
        <p:txBody>
          <a:bodyPr/>
          <a:lstStyle/>
          <a:p>
            <a:endParaRPr lang="en-GB"/>
          </a:p>
        </p:txBody>
      </p:sp>
      <p:sp>
        <p:nvSpPr>
          <p:cNvPr id="46" name="Shape 44"/>
          <p:cNvSpPr/>
          <p:nvPr/>
        </p:nvSpPr>
        <p:spPr>
          <a:xfrm>
            <a:off x="2926080" y="4846320"/>
            <a:ext cx="0" cy="0"/>
          </a:xfrm>
          <a:prstGeom prst="line">
            <a:avLst/>
          </a:prstGeom>
          <a:noFill/>
          <a:ln w="12700">
            <a:solidFill>
              <a:srgbClr val="84B91F"/>
            </a:solidFill>
            <a:prstDash val="solid"/>
          </a:ln>
        </p:spPr>
        <p:txBody>
          <a:bodyPr/>
          <a:lstStyle/>
          <a:p>
            <a:endParaRPr lang="en-GB"/>
          </a:p>
        </p:txBody>
      </p:sp>
      <p:sp>
        <p:nvSpPr>
          <p:cNvPr id="47" name="Shape 45"/>
          <p:cNvSpPr/>
          <p:nvPr/>
        </p:nvSpPr>
        <p:spPr>
          <a:xfrm>
            <a:off x="3520440" y="4846320"/>
            <a:ext cx="0" cy="0"/>
          </a:xfrm>
          <a:prstGeom prst="line">
            <a:avLst/>
          </a:prstGeom>
          <a:noFill/>
          <a:ln w="12700">
            <a:solidFill>
              <a:srgbClr val="84B91F"/>
            </a:solidFill>
            <a:prstDash val="solid"/>
          </a:ln>
        </p:spPr>
        <p:txBody>
          <a:bodyPr/>
          <a:lstStyle/>
          <a:p>
            <a:endParaRPr lang="en-GB"/>
          </a:p>
        </p:txBody>
      </p:sp>
      <p:sp>
        <p:nvSpPr>
          <p:cNvPr id="48" name="Shape 46"/>
          <p:cNvSpPr/>
          <p:nvPr/>
        </p:nvSpPr>
        <p:spPr>
          <a:xfrm>
            <a:off x="3520440" y="4846320"/>
            <a:ext cx="0" cy="0"/>
          </a:xfrm>
          <a:prstGeom prst="line">
            <a:avLst/>
          </a:prstGeom>
          <a:noFill/>
          <a:ln w="12700">
            <a:solidFill>
              <a:srgbClr val="84B91F"/>
            </a:solidFill>
            <a:prstDash val="solid"/>
          </a:ln>
        </p:spPr>
        <p:txBody>
          <a:bodyPr/>
          <a:lstStyle/>
          <a:p>
            <a:endParaRPr lang="en-GB"/>
          </a:p>
        </p:txBody>
      </p:sp>
      <p:sp>
        <p:nvSpPr>
          <p:cNvPr id="49" name="Shape 47"/>
          <p:cNvSpPr/>
          <p:nvPr/>
        </p:nvSpPr>
        <p:spPr>
          <a:xfrm>
            <a:off x="4114800" y="4846320"/>
            <a:ext cx="0" cy="0"/>
          </a:xfrm>
          <a:prstGeom prst="line">
            <a:avLst/>
          </a:prstGeom>
          <a:noFill/>
          <a:ln w="12700">
            <a:solidFill>
              <a:srgbClr val="84B91F"/>
            </a:solidFill>
            <a:prstDash val="solid"/>
          </a:ln>
        </p:spPr>
        <p:txBody>
          <a:bodyPr/>
          <a:lstStyle/>
          <a:p>
            <a:endParaRPr lang="en-GB"/>
          </a:p>
        </p:txBody>
      </p:sp>
      <p:sp>
        <p:nvSpPr>
          <p:cNvPr id="50" name="Shape 48"/>
          <p:cNvSpPr/>
          <p:nvPr/>
        </p:nvSpPr>
        <p:spPr>
          <a:xfrm>
            <a:off x="4709160" y="4846320"/>
            <a:ext cx="0" cy="0"/>
          </a:xfrm>
          <a:prstGeom prst="line">
            <a:avLst/>
          </a:prstGeom>
          <a:noFill/>
          <a:ln w="12700">
            <a:solidFill>
              <a:srgbClr val="84B91F"/>
            </a:solidFill>
            <a:prstDash val="solid"/>
          </a:ln>
        </p:spPr>
        <p:txBody>
          <a:bodyPr/>
          <a:lstStyle/>
          <a:p>
            <a:endParaRPr lang="en-GB"/>
          </a:p>
        </p:txBody>
      </p:sp>
      <p:sp>
        <p:nvSpPr>
          <p:cNvPr id="51" name="Shape 49"/>
          <p:cNvSpPr/>
          <p:nvPr/>
        </p:nvSpPr>
        <p:spPr>
          <a:xfrm flipV="1">
            <a:off x="2487259" y="3694176"/>
            <a:ext cx="1398921" cy="8220"/>
          </a:xfrm>
          <a:prstGeom prst="line">
            <a:avLst/>
          </a:prstGeom>
          <a:noFill/>
          <a:ln w="12700">
            <a:solidFill>
              <a:srgbClr val="F7C948"/>
            </a:solidFill>
            <a:prstDash val="solid"/>
          </a:ln>
        </p:spPr>
        <p:txBody>
          <a:bodyPr/>
          <a:lstStyle/>
          <a:p>
            <a:endParaRPr lang="en-GB"/>
          </a:p>
        </p:txBody>
      </p:sp>
      <p:sp>
        <p:nvSpPr>
          <p:cNvPr id="52" name="Shape 50"/>
          <p:cNvSpPr/>
          <p:nvPr/>
        </p:nvSpPr>
        <p:spPr>
          <a:xfrm>
            <a:off x="2039112" y="3794760"/>
            <a:ext cx="0" cy="0"/>
          </a:xfrm>
          <a:prstGeom prst="line">
            <a:avLst/>
          </a:prstGeom>
          <a:noFill/>
          <a:ln w="12700">
            <a:solidFill>
              <a:srgbClr val="F7C948"/>
            </a:solidFill>
            <a:prstDash val="solid"/>
          </a:ln>
        </p:spPr>
        <p:txBody>
          <a:bodyPr/>
          <a:lstStyle/>
          <a:p>
            <a:endParaRPr lang="en-GB"/>
          </a:p>
        </p:txBody>
      </p:sp>
      <p:sp>
        <p:nvSpPr>
          <p:cNvPr id="53" name="Shape 51"/>
          <p:cNvSpPr/>
          <p:nvPr/>
        </p:nvSpPr>
        <p:spPr>
          <a:xfrm>
            <a:off x="2633472" y="3794760"/>
            <a:ext cx="0" cy="0"/>
          </a:xfrm>
          <a:prstGeom prst="line">
            <a:avLst/>
          </a:prstGeom>
          <a:noFill/>
          <a:ln w="12700">
            <a:solidFill>
              <a:srgbClr val="F7C948"/>
            </a:solidFill>
            <a:prstDash val="solid"/>
          </a:ln>
        </p:spPr>
        <p:txBody>
          <a:bodyPr/>
          <a:lstStyle/>
          <a:p>
            <a:endParaRPr lang="en-GB"/>
          </a:p>
        </p:txBody>
      </p:sp>
      <p:sp>
        <p:nvSpPr>
          <p:cNvPr id="54" name="Shape 52"/>
          <p:cNvSpPr/>
          <p:nvPr/>
        </p:nvSpPr>
        <p:spPr>
          <a:xfrm>
            <a:off x="2633472" y="3794760"/>
            <a:ext cx="0" cy="0"/>
          </a:xfrm>
          <a:prstGeom prst="line">
            <a:avLst/>
          </a:prstGeom>
          <a:noFill/>
          <a:ln w="12700">
            <a:solidFill>
              <a:srgbClr val="F7C948"/>
            </a:solidFill>
            <a:prstDash val="solid"/>
          </a:ln>
        </p:spPr>
        <p:txBody>
          <a:bodyPr/>
          <a:lstStyle/>
          <a:p>
            <a:endParaRPr lang="en-GB"/>
          </a:p>
        </p:txBody>
      </p:sp>
      <p:sp>
        <p:nvSpPr>
          <p:cNvPr id="55" name="Shape 53"/>
          <p:cNvSpPr/>
          <p:nvPr/>
        </p:nvSpPr>
        <p:spPr>
          <a:xfrm>
            <a:off x="3227832" y="3794760"/>
            <a:ext cx="0" cy="0"/>
          </a:xfrm>
          <a:prstGeom prst="line">
            <a:avLst/>
          </a:prstGeom>
          <a:noFill/>
          <a:ln w="12700">
            <a:solidFill>
              <a:srgbClr val="F7C948"/>
            </a:solidFill>
            <a:prstDash val="solid"/>
          </a:ln>
        </p:spPr>
        <p:txBody>
          <a:bodyPr/>
          <a:lstStyle/>
          <a:p>
            <a:endParaRPr lang="en-GB"/>
          </a:p>
        </p:txBody>
      </p:sp>
      <p:sp>
        <p:nvSpPr>
          <p:cNvPr id="56" name="Shape 54"/>
          <p:cNvSpPr/>
          <p:nvPr/>
        </p:nvSpPr>
        <p:spPr>
          <a:xfrm>
            <a:off x="3822192" y="3794760"/>
            <a:ext cx="0" cy="0"/>
          </a:xfrm>
          <a:prstGeom prst="line">
            <a:avLst/>
          </a:prstGeom>
          <a:noFill/>
          <a:ln w="12700">
            <a:solidFill>
              <a:srgbClr val="F7C948"/>
            </a:solidFill>
            <a:prstDash val="solid"/>
          </a:ln>
        </p:spPr>
        <p:txBody>
          <a:bodyPr/>
          <a:lstStyle/>
          <a:p>
            <a:endParaRPr lang="en-GB"/>
          </a:p>
        </p:txBody>
      </p:sp>
      <p:sp>
        <p:nvSpPr>
          <p:cNvPr id="57" name="Shape 55"/>
          <p:cNvSpPr/>
          <p:nvPr/>
        </p:nvSpPr>
        <p:spPr>
          <a:xfrm flipV="1">
            <a:off x="1970486" y="2642617"/>
            <a:ext cx="1257346" cy="8220"/>
          </a:xfrm>
          <a:prstGeom prst="line">
            <a:avLst/>
          </a:prstGeom>
          <a:noFill/>
          <a:ln w="12700">
            <a:solidFill>
              <a:srgbClr val="7C3AED"/>
            </a:solidFill>
            <a:prstDash val="solid"/>
          </a:ln>
        </p:spPr>
        <p:txBody>
          <a:bodyPr/>
          <a:lstStyle/>
          <a:p>
            <a:endParaRPr lang="en-GB"/>
          </a:p>
        </p:txBody>
      </p:sp>
      <p:sp>
        <p:nvSpPr>
          <p:cNvPr id="58" name="Shape 56"/>
          <p:cNvSpPr/>
          <p:nvPr/>
        </p:nvSpPr>
        <p:spPr>
          <a:xfrm>
            <a:off x="2633472" y="2743200"/>
            <a:ext cx="0" cy="0"/>
          </a:xfrm>
          <a:prstGeom prst="line">
            <a:avLst/>
          </a:prstGeom>
          <a:noFill/>
          <a:ln w="12700">
            <a:solidFill>
              <a:srgbClr val="7C3AED"/>
            </a:solidFill>
            <a:prstDash val="solid"/>
          </a:ln>
        </p:spPr>
        <p:txBody>
          <a:bodyPr/>
          <a:lstStyle/>
          <a:p>
            <a:endParaRPr lang="en-GB"/>
          </a:p>
        </p:txBody>
      </p:sp>
      <p:sp>
        <p:nvSpPr>
          <p:cNvPr id="59" name="Shape 57"/>
          <p:cNvSpPr/>
          <p:nvPr/>
        </p:nvSpPr>
        <p:spPr>
          <a:xfrm>
            <a:off x="3227832" y="2743200"/>
            <a:ext cx="0" cy="0"/>
          </a:xfrm>
          <a:prstGeom prst="line">
            <a:avLst/>
          </a:prstGeom>
          <a:noFill/>
          <a:ln w="12700">
            <a:solidFill>
              <a:srgbClr val="7C3AED"/>
            </a:solidFill>
            <a:prstDash val="solid"/>
          </a:ln>
        </p:spPr>
        <p:txBody>
          <a:bodyPr/>
          <a:lstStyle/>
          <a:p>
            <a:endParaRPr lang="en-GB"/>
          </a:p>
        </p:txBody>
      </p:sp>
      <p:sp>
        <p:nvSpPr>
          <p:cNvPr id="60" name="Shape 58"/>
          <p:cNvSpPr/>
          <p:nvPr/>
        </p:nvSpPr>
        <p:spPr>
          <a:xfrm>
            <a:off x="5486400" y="1737360"/>
            <a:ext cx="3474720" cy="1828800"/>
          </a:xfrm>
          <a:prstGeom prst="roundRect">
            <a:avLst>
              <a:gd name="adj" fmla="val 3000"/>
            </a:avLst>
          </a:prstGeom>
          <a:solidFill>
            <a:srgbClr val="F8FAFC"/>
          </a:solidFill>
          <a:ln w="15240">
            <a:solidFill>
              <a:srgbClr val="CBD5E1"/>
            </a:solidFill>
            <a:prstDash val="solid"/>
          </a:ln>
        </p:spPr>
        <p:txBody>
          <a:bodyPr/>
          <a:lstStyle/>
          <a:p>
            <a:endParaRPr lang="en-GB"/>
          </a:p>
        </p:txBody>
      </p:sp>
      <p:sp>
        <p:nvSpPr>
          <p:cNvPr id="61" name="Text 59"/>
          <p:cNvSpPr/>
          <p:nvPr/>
        </p:nvSpPr>
        <p:spPr>
          <a:xfrm>
            <a:off x="5532120" y="2304288"/>
            <a:ext cx="3383280" cy="1097280"/>
          </a:xfrm>
          <a:prstGeom prst="rect">
            <a:avLst/>
          </a:prstGeom>
          <a:noFill/>
          <a:ln/>
        </p:spPr>
        <p:txBody>
          <a:bodyPr wrap="square" lIns="0" tIns="0" rIns="0" bIns="0" rtlCol="0" anchor="ctr">
            <a:normAutofit/>
          </a:bodyPr>
          <a:lstStyle/>
          <a:p>
            <a:pPr marL="0" indent="0" algn="ctr">
              <a:buNone/>
            </a:pPr>
            <a:r>
              <a:rPr lang="en-US" sz="1800" b="1" dirty="0">
                <a:solidFill>
                  <a:srgbClr val="0F172A"/>
                </a:solidFill>
              </a:rPr>
              <a:t>K = 3</a:t>
            </a:r>
            <a:endParaRPr lang="en-US" sz="1800" dirty="0"/>
          </a:p>
          <a:p>
            <a:pPr marL="0" indent="0" algn="ctr">
              <a:buNone/>
            </a:pPr>
            <a:r>
              <a:rPr lang="en-US" sz="1800" b="1" dirty="0">
                <a:solidFill>
                  <a:srgbClr val="0F172A"/>
                </a:solidFill>
              </a:rPr>
              <a:t>1 layer → RF = 3</a:t>
            </a:r>
            <a:endParaRPr lang="en-US" sz="1800" dirty="0"/>
          </a:p>
          <a:p>
            <a:pPr marL="0" indent="0" algn="ctr">
              <a:buNone/>
            </a:pPr>
            <a:r>
              <a:rPr lang="en-US" sz="1800" b="1" dirty="0">
                <a:solidFill>
                  <a:srgbClr val="0F172A"/>
                </a:solidFill>
              </a:rPr>
              <a:t>2 layers → RF = 5</a:t>
            </a:r>
            <a:endParaRPr lang="en-US" sz="1800" dirty="0"/>
          </a:p>
          <a:p>
            <a:pPr marL="0" indent="0" algn="ctr">
              <a:buNone/>
            </a:pPr>
            <a:r>
              <a:rPr lang="en-US" sz="1800" b="1" dirty="0">
                <a:solidFill>
                  <a:srgbClr val="0F172A"/>
                </a:solidFill>
              </a:rPr>
              <a:t>3 layers → RF = 7</a:t>
            </a:r>
            <a:endParaRPr lang="en-US" sz="1800" dirty="0"/>
          </a:p>
        </p:txBody>
      </p:sp>
      <p:sp>
        <p:nvSpPr>
          <p:cNvPr id="62" name="Text 60"/>
          <p:cNvSpPr/>
          <p:nvPr/>
        </p:nvSpPr>
        <p:spPr>
          <a:xfrm>
            <a:off x="5440680" y="4069080"/>
            <a:ext cx="3566160" cy="640080"/>
          </a:xfrm>
          <a:prstGeom prst="rect">
            <a:avLst/>
          </a:prstGeom>
          <a:noFill/>
          <a:ln/>
        </p:spPr>
        <p:txBody>
          <a:bodyPr wrap="square" lIns="0" tIns="0" rIns="0" bIns="0" rtlCol="0" anchor="ctr">
            <a:normAutofit/>
          </a:bodyPr>
          <a:lstStyle/>
          <a:p>
            <a:pPr marL="0" indent="0" algn="ctr">
              <a:buNone/>
            </a:pPr>
            <a:r>
              <a:rPr lang="en-US" sz="1600" dirty="0">
                <a:solidFill>
                  <a:srgbClr val="475569"/>
                </a:solidFill>
              </a:rPr>
              <a:t>A deeper activation can depend on a wider region of the original input.</a:t>
            </a:r>
            <a:endParaRPr lang="en-US" sz="1600" dirty="0"/>
          </a:p>
        </p:txBody>
      </p:sp>
      <p:sp>
        <p:nvSpPr>
          <p:cNvPr id="63" name="Shape 61"/>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64" name="Text 62"/>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b="1" dirty="0">
                <a:solidFill>
                  <a:srgbClr val="0F172A"/>
                </a:solidFill>
              </a:rPr>
              <a:t>Depth increases receptive field</a:t>
            </a:r>
            <a:endParaRPr lang="en-US" sz="1200" b="1" dirty="0"/>
          </a:p>
        </p:txBody>
      </p:sp>
      <p:sp>
        <p:nvSpPr>
          <p:cNvPr id="66" name="Shape 55">
            <a:extLst>
              <a:ext uri="{FF2B5EF4-FFF2-40B4-BE49-F238E27FC236}">
                <a16:creationId xmlns:a16="http://schemas.microsoft.com/office/drawing/2014/main" id="{8BF3558E-BBC2-24B9-86CA-0D117E9CC787}"/>
              </a:ext>
            </a:extLst>
          </p:cNvPr>
          <p:cNvSpPr/>
          <p:nvPr/>
        </p:nvSpPr>
        <p:spPr>
          <a:xfrm flipV="1">
            <a:off x="3456431" y="4695444"/>
            <a:ext cx="1281823" cy="0"/>
          </a:xfrm>
          <a:prstGeom prst="line">
            <a:avLst/>
          </a:prstGeom>
          <a:noFill/>
          <a:ln w="12700">
            <a:solidFill>
              <a:srgbClr val="7C3AED"/>
            </a:solidFill>
            <a:prstDash val="solid"/>
          </a:ln>
        </p:spPr>
        <p:txBody>
          <a:bodyPr/>
          <a:lstStyle/>
          <a:p>
            <a:endParaRPr lang="en-GB"/>
          </a:p>
        </p:txBody>
      </p:sp>
      <p:sp>
        <p:nvSpPr>
          <p:cNvPr id="68" name="CasellaDiTesto 67">
            <a:extLst>
              <a:ext uri="{FF2B5EF4-FFF2-40B4-BE49-F238E27FC236}">
                <a16:creationId xmlns:a16="http://schemas.microsoft.com/office/drawing/2014/main" id="{379BEC87-9638-8F74-0087-839D6F7478C8}"/>
              </a:ext>
            </a:extLst>
          </p:cNvPr>
          <p:cNvSpPr txBox="1"/>
          <p:nvPr/>
        </p:nvSpPr>
        <p:spPr>
          <a:xfrm>
            <a:off x="7993610" y="5054060"/>
            <a:ext cx="4106950" cy="738664"/>
          </a:xfrm>
          <a:prstGeom prst="rect">
            <a:avLst/>
          </a:prstGeom>
          <a:noFill/>
        </p:spPr>
        <p:txBody>
          <a:bodyPr wrap="square">
            <a:spAutoFit/>
          </a:bodyPr>
          <a:lstStyle/>
          <a:p>
            <a:r>
              <a:rPr lang="en-GB" sz="1400" b="1" dirty="0">
                <a:highlight>
                  <a:srgbClr val="FFFF00"/>
                </a:highlight>
              </a:rPr>
              <a:t>General pattern for </a:t>
            </a:r>
            <a:r>
              <a:rPr lang="en-GB" sz="1400" b="1" dirty="0">
                <a:highlight>
                  <a:srgbClr val="00FF00"/>
                </a:highlight>
              </a:rPr>
              <a:t>stride 1</a:t>
            </a:r>
          </a:p>
          <a:p>
            <a:r>
              <a:rPr lang="en-GB" sz="1400" dirty="0"/>
              <a:t>For n layers with the same kernel size K:</a:t>
            </a:r>
          </a:p>
          <a:p>
            <a:r>
              <a:rPr lang="en-GB" sz="1400" dirty="0">
                <a:highlight>
                  <a:srgbClr val="00FF00"/>
                </a:highlight>
              </a:rPr>
              <a:t>receptive field</a:t>
            </a:r>
            <a:r>
              <a:rPr lang="en-GB" sz="1400" dirty="0">
                <a:highlight>
                  <a:srgbClr val="FFFF00"/>
                </a:highlight>
              </a:rPr>
              <a:t> of the n-</a:t>
            </a:r>
            <a:r>
              <a:rPr lang="en-GB" sz="1400" dirty="0" err="1">
                <a:highlight>
                  <a:srgbClr val="FFFF00"/>
                </a:highlight>
              </a:rPr>
              <a:t>th</a:t>
            </a:r>
            <a:r>
              <a:rPr lang="en-GB" sz="1400" dirty="0">
                <a:highlight>
                  <a:srgbClr val="FFFF00"/>
                </a:highlight>
              </a:rPr>
              <a:t> layer = 1 + n × (K − 1)</a:t>
            </a:r>
            <a:endParaRPr lang="en-GB" sz="1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78A866-B884-7B2E-9B34-F3F32C70C662}"/>
              </a:ext>
            </a:extLst>
          </p:cNvPr>
          <p:cNvSpPr>
            <a:spLocks noGrp="1"/>
          </p:cNvSpPr>
          <p:nvPr>
            <p:ph type="title"/>
          </p:nvPr>
        </p:nvSpPr>
        <p:spPr/>
        <p:txBody>
          <a:bodyPr/>
          <a:lstStyle/>
          <a:p>
            <a:r>
              <a:rPr lang="en-GB" dirty="0"/>
              <a:t>Receptive field is different from kernel size</a:t>
            </a:r>
          </a:p>
        </p:txBody>
      </p:sp>
      <p:sp>
        <p:nvSpPr>
          <p:cNvPr id="3" name="Segnaposto contenuto 2">
            <a:extLst>
              <a:ext uri="{FF2B5EF4-FFF2-40B4-BE49-F238E27FC236}">
                <a16:creationId xmlns:a16="http://schemas.microsoft.com/office/drawing/2014/main" id="{05C42C4F-5D55-D054-B355-37C33DF213FF}"/>
              </a:ext>
            </a:extLst>
          </p:cNvPr>
          <p:cNvSpPr>
            <a:spLocks noGrp="1"/>
          </p:cNvSpPr>
          <p:nvPr>
            <p:ph sz="half" idx="1"/>
          </p:nvPr>
        </p:nvSpPr>
        <p:spPr/>
        <p:txBody>
          <a:bodyPr>
            <a:normAutofit fontScale="92500" lnSpcReduction="20000"/>
          </a:bodyPr>
          <a:lstStyle/>
          <a:p>
            <a:r>
              <a:rPr lang="en-GB" dirty="0"/>
              <a:t>These two concepts should not be confused.</a:t>
            </a:r>
          </a:p>
          <a:p>
            <a:endParaRPr lang="en-GB" b="1" dirty="0"/>
          </a:p>
          <a:p>
            <a:r>
              <a:rPr lang="en-GB" b="1" dirty="0"/>
              <a:t>Kernel size</a:t>
            </a:r>
          </a:p>
          <a:p>
            <a:pPr lvl="1"/>
            <a:r>
              <a:rPr lang="en-GB" dirty="0"/>
              <a:t>Describes the local region seen by </a:t>
            </a:r>
            <a:r>
              <a:rPr lang="en-GB" b="1" dirty="0"/>
              <a:t>one convolutional layer</a:t>
            </a:r>
            <a:r>
              <a:rPr lang="en-GB" dirty="0"/>
              <a:t>.</a:t>
            </a:r>
          </a:p>
          <a:p>
            <a:r>
              <a:rPr lang="en-GB" dirty="0"/>
              <a:t>Example:</a:t>
            </a:r>
          </a:p>
          <a:p>
            <a:pPr lvl="1"/>
            <a:r>
              <a:rPr lang="en-GB" dirty="0"/>
              <a:t>K = 3</a:t>
            </a:r>
          </a:p>
          <a:p>
            <a:endParaRPr lang="en-GB" b="1" dirty="0"/>
          </a:p>
          <a:p>
            <a:r>
              <a:rPr lang="en-GB" b="1" dirty="0"/>
              <a:t>Receptive field</a:t>
            </a:r>
          </a:p>
          <a:p>
            <a:r>
              <a:rPr lang="en-GB" dirty="0"/>
              <a:t>Describes how much of the </a:t>
            </a:r>
            <a:r>
              <a:rPr lang="en-GB" b="1" dirty="0"/>
              <a:t>original input sequence</a:t>
            </a:r>
            <a:r>
              <a:rPr lang="en-GB" dirty="0"/>
              <a:t> can influence an activation after several layers.</a:t>
            </a:r>
          </a:p>
          <a:p>
            <a:endParaRPr lang="en-GB" dirty="0"/>
          </a:p>
        </p:txBody>
      </p:sp>
      <p:sp>
        <p:nvSpPr>
          <p:cNvPr id="4" name="Segnaposto contenuto 3">
            <a:extLst>
              <a:ext uri="{FF2B5EF4-FFF2-40B4-BE49-F238E27FC236}">
                <a16:creationId xmlns:a16="http://schemas.microsoft.com/office/drawing/2014/main" id="{18B5FD87-2E0F-7D43-0256-4A2AF6B7D048}"/>
              </a:ext>
            </a:extLst>
          </p:cNvPr>
          <p:cNvSpPr>
            <a:spLocks noGrp="1"/>
          </p:cNvSpPr>
          <p:nvPr>
            <p:ph sz="half" idx="2"/>
          </p:nvPr>
        </p:nvSpPr>
        <p:spPr>
          <a:xfrm>
            <a:off x="5089970" y="2160589"/>
            <a:ext cx="6701980" cy="3880773"/>
          </a:xfrm>
        </p:spPr>
        <p:txBody>
          <a:bodyPr>
            <a:normAutofit fontScale="92500" lnSpcReduction="20000"/>
          </a:bodyPr>
          <a:lstStyle/>
          <a:p>
            <a:r>
              <a:rPr lang="en-GB" dirty="0"/>
              <a:t>Example:</a:t>
            </a:r>
          </a:p>
          <a:p>
            <a:r>
              <a:rPr lang="en-GB" dirty="0"/>
              <a:t>Conv K=3</a:t>
            </a:r>
          </a:p>
          <a:p>
            <a:r>
              <a:rPr lang="en-GB" dirty="0"/>
              <a:t>↓</a:t>
            </a:r>
          </a:p>
          <a:p>
            <a:r>
              <a:rPr lang="en-GB" dirty="0"/>
              <a:t>Conv K=3</a:t>
            </a:r>
          </a:p>
          <a:p>
            <a:r>
              <a:rPr lang="en-GB" dirty="0"/>
              <a:t>↓</a:t>
            </a:r>
          </a:p>
          <a:p>
            <a:r>
              <a:rPr lang="en-GB" dirty="0"/>
              <a:t>Conv K=3</a:t>
            </a:r>
          </a:p>
          <a:p>
            <a:r>
              <a:rPr lang="en-GB" dirty="0"/>
              <a:t>Final kernel size is still: 3</a:t>
            </a:r>
          </a:p>
          <a:p>
            <a:r>
              <a:rPr lang="en-GB" dirty="0"/>
              <a:t>but the receptive field is: 7</a:t>
            </a:r>
          </a:p>
          <a:p>
            <a:endParaRPr lang="en-GB" dirty="0"/>
          </a:p>
          <a:p>
            <a:r>
              <a:rPr lang="en-GB" dirty="0"/>
              <a:t>Kernel size is a layer parameter; receptive field is a property of the complete computation leading to an output.</a:t>
            </a:r>
          </a:p>
          <a:p>
            <a:endParaRPr lang="en-GB" dirty="0"/>
          </a:p>
        </p:txBody>
      </p:sp>
    </p:spTree>
    <p:extLst>
      <p:ext uri="{BB962C8B-B14F-4D97-AF65-F5344CB8AC3E}">
        <p14:creationId xmlns:p14="http://schemas.microsoft.com/office/powerpoint/2010/main" val="231024572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5.E.3 — Kernel size is not the same as receptive field</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dirty="0">
                <a:solidFill>
                  <a:srgbClr val="475569"/>
                </a:solidFill>
                <a:latin typeface="Aptos" pitchFamily="34" charset="0"/>
                <a:ea typeface="Aptos" pitchFamily="34" charset="-122"/>
                <a:cs typeface="Aptos" pitchFamily="34" charset="-120"/>
              </a:rPr>
              <a:t>Kernel size is a layer parameter; receptive field is a property of the path to an output.</a:t>
            </a:r>
            <a:endParaRPr lang="en-US" sz="1350" dirty="0"/>
          </a:p>
        </p:txBody>
      </p:sp>
      <p:sp>
        <p:nvSpPr>
          <p:cNvPr id="6" name="Shape 4"/>
          <p:cNvSpPr/>
          <p:nvPr/>
        </p:nvSpPr>
        <p:spPr>
          <a:xfrm>
            <a:off x="914400" y="1463040"/>
            <a:ext cx="2468880" cy="502920"/>
          </a:xfrm>
          <a:prstGeom prst="roundRect">
            <a:avLst>
              <a:gd name="adj" fmla="val 10909"/>
            </a:avLst>
          </a:prstGeom>
          <a:solidFill>
            <a:srgbClr val="E7F5C7"/>
          </a:solidFill>
          <a:ln w="15240">
            <a:solidFill>
              <a:srgbClr val="84B91F"/>
            </a:solidFill>
            <a:prstDash val="solid"/>
          </a:ln>
        </p:spPr>
        <p:txBody>
          <a:bodyPr/>
          <a:lstStyle/>
          <a:p>
            <a:endParaRPr lang="en-GB"/>
          </a:p>
        </p:txBody>
      </p:sp>
      <p:sp>
        <p:nvSpPr>
          <p:cNvPr id="7" name="Text 5"/>
          <p:cNvSpPr/>
          <p:nvPr/>
        </p:nvSpPr>
        <p:spPr>
          <a:xfrm>
            <a:off x="960120" y="1605686"/>
            <a:ext cx="2377440" cy="301752"/>
          </a:xfrm>
          <a:prstGeom prst="rect">
            <a:avLst/>
          </a:prstGeom>
          <a:noFill/>
          <a:ln/>
        </p:spPr>
        <p:txBody>
          <a:bodyPr wrap="square" lIns="0" tIns="0" rIns="0" bIns="0" rtlCol="0" anchor="ctr">
            <a:normAutofit/>
          </a:bodyPr>
          <a:lstStyle/>
          <a:p>
            <a:pPr marL="0" indent="0" algn="ctr">
              <a:buNone/>
            </a:pPr>
            <a:r>
              <a:rPr lang="en-US" sz="1600" b="1" dirty="0">
                <a:solidFill>
                  <a:srgbClr val="0F172A"/>
                </a:solidFill>
              </a:rPr>
              <a:t>Single layer</a:t>
            </a:r>
            <a:endParaRPr lang="en-US" sz="1600" dirty="0"/>
          </a:p>
        </p:txBody>
      </p:sp>
      <p:sp>
        <p:nvSpPr>
          <p:cNvPr id="8" name="Shape 6"/>
          <p:cNvSpPr/>
          <p:nvPr/>
        </p:nvSpPr>
        <p:spPr>
          <a:xfrm>
            <a:off x="868680" y="2423160"/>
            <a:ext cx="484632"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9" name="Text 7"/>
          <p:cNvSpPr/>
          <p:nvPr/>
        </p:nvSpPr>
        <p:spPr>
          <a:xfrm>
            <a:off x="868680" y="2551176"/>
            <a:ext cx="484632" cy="182880"/>
          </a:xfrm>
          <a:prstGeom prst="rect">
            <a:avLst/>
          </a:prstGeom>
          <a:noFill/>
          <a:ln/>
        </p:spPr>
        <p:txBody>
          <a:bodyPr wrap="square" lIns="0" tIns="0" rIns="0" bIns="0" rtlCol="0" anchor="ctr"/>
          <a:lstStyle/>
          <a:p>
            <a:pPr marL="0" indent="0" algn="ctr">
              <a:buNone/>
            </a:pPr>
            <a:r>
              <a:rPr lang="en-US" sz="1050" dirty="0">
                <a:solidFill>
                  <a:srgbClr val="0F172A"/>
                </a:solidFill>
              </a:rPr>
              <a:t>x1</a:t>
            </a:r>
            <a:endParaRPr lang="en-US" sz="1050" dirty="0"/>
          </a:p>
        </p:txBody>
      </p:sp>
      <p:sp>
        <p:nvSpPr>
          <p:cNvPr id="10" name="Shape 8"/>
          <p:cNvSpPr/>
          <p:nvPr/>
        </p:nvSpPr>
        <p:spPr>
          <a:xfrm>
            <a:off x="1417320" y="2423160"/>
            <a:ext cx="484632"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11" name="Text 9"/>
          <p:cNvSpPr/>
          <p:nvPr/>
        </p:nvSpPr>
        <p:spPr>
          <a:xfrm>
            <a:off x="1417320" y="2551176"/>
            <a:ext cx="484632" cy="182880"/>
          </a:xfrm>
          <a:prstGeom prst="rect">
            <a:avLst/>
          </a:prstGeom>
          <a:noFill/>
          <a:ln/>
        </p:spPr>
        <p:txBody>
          <a:bodyPr wrap="square" lIns="0" tIns="0" rIns="0" bIns="0" rtlCol="0" anchor="ctr"/>
          <a:lstStyle/>
          <a:p>
            <a:pPr marL="0" indent="0" algn="ctr">
              <a:buNone/>
            </a:pPr>
            <a:r>
              <a:rPr lang="en-US" sz="1050" b="1" dirty="0">
                <a:solidFill>
                  <a:srgbClr val="0F172A"/>
                </a:solidFill>
              </a:rPr>
              <a:t>x2</a:t>
            </a:r>
            <a:endParaRPr lang="en-US" sz="1050" dirty="0"/>
          </a:p>
        </p:txBody>
      </p:sp>
      <p:sp>
        <p:nvSpPr>
          <p:cNvPr id="12" name="Shape 10"/>
          <p:cNvSpPr/>
          <p:nvPr/>
        </p:nvSpPr>
        <p:spPr>
          <a:xfrm>
            <a:off x="1965960" y="2423160"/>
            <a:ext cx="484632"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13" name="Text 11"/>
          <p:cNvSpPr/>
          <p:nvPr/>
        </p:nvSpPr>
        <p:spPr>
          <a:xfrm>
            <a:off x="1965960" y="2551176"/>
            <a:ext cx="484632" cy="182880"/>
          </a:xfrm>
          <a:prstGeom prst="rect">
            <a:avLst/>
          </a:prstGeom>
          <a:noFill/>
          <a:ln/>
        </p:spPr>
        <p:txBody>
          <a:bodyPr wrap="square" lIns="0" tIns="0" rIns="0" bIns="0" rtlCol="0" anchor="ctr"/>
          <a:lstStyle/>
          <a:p>
            <a:pPr marL="0" indent="0" algn="ctr">
              <a:buNone/>
            </a:pPr>
            <a:r>
              <a:rPr lang="en-US" sz="1050" b="1" dirty="0">
                <a:solidFill>
                  <a:srgbClr val="0F172A"/>
                </a:solidFill>
              </a:rPr>
              <a:t>x3</a:t>
            </a:r>
            <a:endParaRPr lang="en-US" sz="1050" dirty="0"/>
          </a:p>
        </p:txBody>
      </p:sp>
      <p:sp>
        <p:nvSpPr>
          <p:cNvPr id="14" name="Shape 12"/>
          <p:cNvSpPr/>
          <p:nvPr/>
        </p:nvSpPr>
        <p:spPr>
          <a:xfrm>
            <a:off x="2514600" y="2423160"/>
            <a:ext cx="484632"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15" name="Text 13"/>
          <p:cNvSpPr/>
          <p:nvPr/>
        </p:nvSpPr>
        <p:spPr>
          <a:xfrm>
            <a:off x="2514600" y="2551176"/>
            <a:ext cx="484632" cy="182880"/>
          </a:xfrm>
          <a:prstGeom prst="rect">
            <a:avLst/>
          </a:prstGeom>
          <a:noFill/>
          <a:ln/>
        </p:spPr>
        <p:txBody>
          <a:bodyPr wrap="square" lIns="0" tIns="0" rIns="0" bIns="0" rtlCol="0" anchor="ctr"/>
          <a:lstStyle/>
          <a:p>
            <a:pPr marL="0" indent="0" algn="ctr">
              <a:buNone/>
            </a:pPr>
            <a:r>
              <a:rPr lang="en-US" sz="1050" b="1" dirty="0">
                <a:solidFill>
                  <a:srgbClr val="0F172A"/>
                </a:solidFill>
              </a:rPr>
              <a:t>x4</a:t>
            </a:r>
            <a:endParaRPr lang="en-US" sz="1050" dirty="0"/>
          </a:p>
        </p:txBody>
      </p:sp>
      <p:sp>
        <p:nvSpPr>
          <p:cNvPr id="16" name="Shape 14"/>
          <p:cNvSpPr/>
          <p:nvPr/>
        </p:nvSpPr>
        <p:spPr>
          <a:xfrm>
            <a:off x="3063240" y="2423160"/>
            <a:ext cx="484632"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7" name="Text 15"/>
          <p:cNvSpPr/>
          <p:nvPr/>
        </p:nvSpPr>
        <p:spPr>
          <a:xfrm>
            <a:off x="3063240" y="2551176"/>
            <a:ext cx="484632" cy="182880"/>
          </a:xfrm>
          <a:prstGeom prst="rect">
            <a:avLst/>
          </a:prstGeom>
          <a:noFill/>
          <a:ln/>
        </p:spPr>
        <p:txBody>
          <a:bodyPr wrap="square" lIns="0" tIns="0" rIns="0" bIns="0" rtlCol="0" anchor="ctr"/>
          <a:lstStyle/>
          <a:p>
            <a:pPr marL="0" indent="0" algn="ctr">
              <a:buNone/>
            </a:pPr>
            <a:r>
              <a:rPr lang="en-US" sz="1050" dirty="0">
                <a:solidFill>
                  <a:srgbClr val="0F172A"/>
                </a:solidFill>
              </a:rPr>
              <a:t>x5</a:t>
            </a:r>
            <a:endParaRPr lang="en-US" sz="1050" dirty="0"/>
          </a:p>
        </p:txBody>
      </p:sp>
      <p:sp>
        <p:nvSpPr>
          <p:cNvPr id="18" name="Shape 16"/>
          <p:cNvSpPr/>
          <p:nvPr/>
        </p:nvSpPr>
        <p:spPr>
          <a:xfrm>
            <a:off x="1143000" y="3337560"/>
            <a:ext cx="1828800" cy="548640"/>
          </a:xfrm>
          <a:prstGeom prst="roundRect">
            <a:avLst>
              <a:gd name="adj" fmla="val 10000"/>
            </a:avLst>
          </a:prstGeom>
          <a:solidFill>
            <a:srgbClr val="FFFFFF"/>
          </a:solidFill>
          <a:ln w="15240">
            <a:solidFill>
              <a:srgbClr val="84B91F"/>
            </a:solidFill>
            <a:prstDash val="solid"/>
          </a:ln>
        </p:spPr>
        <p:txBody>
          <a:bodyPr/>
          <a:lstStyle/>
          <a:p>
            <a:endParaRPr lang="en-GB"/>
          </a:p>
        </p:txBody>
      </p:sp>
      <p:sp>
        <p:nvSpPr>
          <p:cNvPr id="19" name="Text 17"/>
          <p:cNvSpPr/>
          <p:nvPr/>
        </p:nvSpPr>
        <p:spPr>
          <a:xfrm>
            <a:off x="1188720" y="3494837"/>
            <a:ext cx="1737360" cy="329184"/>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Conv K = 3</a:t>
            </a:r>
            <a:endParaRPr lang="en-US" sz="1500" dirty="0"/>
          </a:p>
        </p:txBody>
      </p:sp>
      <p:sp>
        <p:nvSpPr>
          <p:cNvPr id="20" name="Shape 18"/>
          <p:cNvSpPr/>
          <p:nvPr/>
        </p:nvSpPr>
        <p:spPr>
          <a:xfrm>
            <a:off x="2057400" y="2898648"/>
            <a:ext cx="0" cy="420624"/>
          </a:xfrm>
          <a:prstGeom prst="line">
            <a:avLst/>
          </a:prstGeom>
          <a:noFill/>
          <a:ln w="22860">
            <a:solidFill>
              <a:srgbClr val="84B91F"/>
            </a:solidFill>
            <a:prstDash val="solid"/>
            <a:headEnd type="none"/>
            <a:tailEnd type="triangle"/>
          </a:ln>
        </p:spPr>
        <p:txBody>
          <a:bodyPr/>
          <a:lstStyle/>
          <a:p>
            <a:endParaRPr lang="en-GB"/>
          </a:p>
        </p:txBody>
      </p:sp>
      <p:sp>
        <p:nvSpPr>
          <p:cNvPr id="21" name="Text 19"/>
          <p:cNvSpPr/>
          <p:nvPr/>
        </p:nvSpPr>
        <p:spPr>
          <a:xfrm>
            <a:off x="1051560" y="4251960"/>
            <a:ext cx="2148840" cy="640080"/>
          </a:xfrm>
          <a:prstGeom prst="rect">
            <a:avLst/>
          </a:prstGeom>
          <a:noFill/>
          <a:ln/>
        </p:spPr>
        <p:txBody>
          <a:bodyPr wrap="square" lIns="0" tIns="0" rIns="0" bIns="0" rtlCol="0" anchor="ctr">
            <a:normAutofit/>
          </a:bodyPr>
          <a:lstStyle/>
          <a:p>
            <a:pPr marL="0" indent="0" algn="ctr">
              <a:buNone/>
            </a:pPr>
            <a:r>
              <a:rPr lang="en-US" sz="1700" b="1" dirty="0">
                <a:solidFill>
                  <a:srgbClr val="0F172A"/>
                </a:solidFill>
              </a:rPr>
              <a:t>kernel size = 3</a:t>
            </a:r>
            <a:endParaRPr lang="en-US" sz="1700" dirty="0"/>
          </a:p>
          <a:p>
            <a:pPr marL="0" indent="0" algn="ctr">
              <a:buNone/>
            </a:pPr>
            <a:r>
              <a:rPr lang="en-US" sz="1700" b="1" dirty="0">
                <a:solidFill>
                  <a:srgbClr val="0F172A"/>
                </a:solidFill>
              </a:rPr>
              <a:t>receptive field = 3</a:t>
            </a:r>
            <a:endParaRPr lang="en-US" sz="1700" dirty="0"/>
          </a:p>
        </p:txBody>
      </p:sp>
      <p:sp>
        <p:nvSpPr>
          <p:cNvPr id="22" name="Shape 20"/>
          <p:cNvSpPr/>
          <p:nvPr/>
        </p:nvSpPr>
        <p:spPr>
          <a:xfrm>
            <a:off x="5257800" y="1463040"/>
            <a:ext cx="2926080" cy="502920"/>
          </a:xfrm>
          <a:prstGeom prst="roundRect">
            <a:avLst>
              <a:gd name="adj" fmla="val 10909"/>
            </a:avLst>
          </a:prstGeom>
          <a:solidFill>
            <a:srgbClr val="FFF7CC"/>
          </a:solidFill>
          <a:ln w="15240">
            <a:solidFill>
              <a:srgbClr val="F7C948"/>
            </a:solidFill>
            <a:prstDash val="solid"/>
          </a:ln>
        </p:spPr>
        <p:txBody>
          <a:bodyPr/>
          <a:lstStyle/>
          <a:p>
            <a:endParaRPr lang="en-GB"/>
          </a:p>
        </p:txBody>
      </p:sp>
      <p:sp>
        <p:nvSpPr>
          <p:cNvPr id="23" name="Text 21"/>
          <p:cNvSpPr/>
          <p:nvPr/>
        </p:nvSpPr>
        <p:spPr>
          <a:xfrm>
            <a:off x="5303520" y="1605686"/>
            <a:ext cx="2834640" cy="301752"/>
          </a:xfrm>
          <a:prstGeom prst="rect">
            <a:avLst/>
          </a:prstGeom>
          <a:noFill/>
          <a:ln/>
        </p:spPr>
        <p:txBody>
          <a:bodyPr wrap="square" lIns="0" tIns="0" rIns="0" bIns="0" rtlCol="0" anchor="ctr">
            <a:normAutofit/>
          </a:bodyPr>
          <a:lstStyle/>
          <a:p>
            <a:pPr marL="0" indent="0" algn="ctr">
              <a:buNone/>
            </a:pPr>
            <a:r>
              <a:rPr lang="en-US" sz="1600" b="1" dirty="0">
                <a:solidFill>
                  <a:srgbClr val="0F172A"/>
                </a:solidFill>
              </a:rPr>
              <a:t>Three stacked layers</a:t>
            </a:r>
            <a:endParaRPr lang="en-US" sz="1600" dirty="0"/>
          </a:p>
        </p:txBody>
      </p:sp>
      <p:sp>
        <p:nvSpPr>
          <p:cNvPr id="24" name="Shape 22"/>
          <p:cNvSpPr/>
          <p:nvPr/>
        </p:nvSpPr>
        <p:spPr>
          <a:xfrm>
            <a:off x="4983480" y="2423160"/>
            <a:ext cx="411480" cy="457200"/>
          </a:xfrm>
          <a:prstGeom prst="roundRect">
            <a:avLst>
              <a:gd name="adj" fmla="val 8889"/>
            </a:avLst>
          </a:prstGeom>
          <a:solidFill>
            <a:srgbClr val="E7F5C7"/>
          </a:solidFill>
          <a:ln w="13970">
            <a:solidFill>
              <a:srgbClr val="84B91F"/>
            </a:solidFill>
            <a:prstDash val="solid"/>
          </a:ln>
        </p:spPr>
        <p:txBody>
          <a:bodyPr/>
          <a:lstStyle/>
          <a:p>
            <a:endParaRPr lang="en-GB"/>
          </a:p>
        </p:txBody>
      </p:sp>
      <p:sp>
        <p:nvSpPr>
          <p:cNvPr id="25" name="Text 23"/>
          <p:cNvSpPr/>
          <p:nvPr/>
        </p:nvSpPr>
        <p:spPr>
          <a:xfrm>
            <a:off x="4983480" y="2551176"/>
            <a:ext cx="411480" cy="182880"/>
          </a:xfrm>
          <a:prstGeom prst="rect">
            <a:avLst/>
          </a:prstGeom>
          <a:noFill/>
          <a:ln/>
        </p:spPr>
        <p:txBody>
          <a:bodyPr wrap="square" lIns="0" tIns="0" rIns="0" bIns="0" rtlCol="0" anchor="ctr"/>
          <a:lstStyle/>
          <a:p>
            <a:pPr marL="0" indent="0" algn="ctr">
              <a:buNone/>
            </a:pPr>
            <a:r>
              <a:rPr lang="en-US" sz="1050" b="1" dirty="0">
                <a:solidFill>
                  <a:srgbClr val="0F172A"/>
                </a:solidFill>
              </a:rPr>
              <a:t>x1</a:t>
            </a:r>
            <a:endParaRPr lang="en-US" sz="1050" dirty="0"/>
          </a:p>
        </p:txBody>
      </p:sp>
      <p:sp>
        <p:nvSpPr>
          <p:cNvPr id="26" name="Shape 24"/>
          <p:cNvSpPr/>
          <p:nvPr/>
        </p:nvSpPr>
        <p:spPr>
          <a:xfrm>
            <a:off x="5458968" y="2423160"/>
            <a:ext cx="411480" cy="457200"/>
          </a:xfrm>
          <a:prstGeom prst="roundRect">
            <a:avLst>
              <a:gd name="adj" fmla="val 8889"/>
            </a:avLst>
          </a:prstGeom>
          <a:solidFill>
            <a:srgbClr val="E7F5C7"/>
          </a:solidFill>
          <a:ln w="13970">
            <a:solidFill>
              <a:srgbClr val="84B91F"/>
            </a:solidFill>
            <a:prstDash val="solid"/>
          </a:ln>
        </p:spPr>
        <p:txBody>
          <a:bodyPr/>
          <a:lstStyle/>
          <a:p>
            <a:endParaRPr lang="en-GB"/>
          </a:p>
        </p:txBody>
      </p:sp>
      <p:sp>
        <p:nvSpPr>
          <p:cNvPr id="27" name="Text 25"/>
          <p:cNvSpPr/>
          <p:nvPr/>
        </p:nvSpPr>
        <p:spPr>
          <a:xfrm>
            <a:off x="5458968" y="2551176"/>
            <a:ext cx="411480" cy="182880"/>
          </a:xfrm>
          <a:prstGeom prst="rect">
            <a:avLst/>
          </a:prstGeom>
          <a:noFill/>
          <a:ln/>
        </p:spPr>
        <p:txBody>
          <a:bodyPr wrap="square" lIns="0" tIns="0" rIns="0" bIns="0" rtlCol="0" anchor="ctr"/>
          <a:lstStyle/>
          <a:p>
            <a:pPr marL="0" indent="0" algn="ctr">
              <a:buNone/>
            </a:pPr>
            <a:r>
              <a:rPr lang="en-US" sz="1050" b="1" dirty="0">
                <a:solidFill>
                  <a:srgbClr val="0F172A"/>
                </a:solidFill>
              </a:rPr>
              <a:t>x2</a:t>
            </a:r>
            <a:endParaRPr lang="en-US" sz="1050" dirty="0"/>
          </a:p>
        </p:txBody>
      </p:sp>
      <p:sp>
        <p:nvSpPr>
          <p:cNvPr id="28" name="Shape 26"/>
          <p:cNvSpPr/>
          <p:nvPr/>
        </p:nvSpPr>
        <p:spPr>
          <a:xfrm>
            <a:off x="5934456" y="2423160"/>
            <a:ext cx="411480" cy="457200"/>
          </a:xfrm>
          <a:prstGeom prst="roundRect">
            <a:avLst>
              <a:gd name="adj" fmla="val 8889"/>
            </a:avLst>
          </a:prstGeom>
          <a:solidFill>
            <a:srgbClr val="E7F5C7"/>
          </a:solidFill>
          <a:ln w="13970">
            <a:solidFill>
              <a:srgbClr val="84B91F"/>
            </a:solidFill>
            <a:prstDash val="solid"/>
          </a:ln>
        </p:spPr>
        <p:txBody>
          <a:bodyPr/>
          <a:lstStyle/>
          <a:p>
            <a:endParaRPr lang="en-GB"/>
          </a:p>
        </p:txBody>
      </p:sp>
      <p:sp>
        <p:nvSpPr>
          <p:cNvPr id="29" name="Text 27"/>
          <p:cNvSpPr/>
          <p:nvPr/>
        </p:nvSpPr>
        <p:spPr>
          <a:xfrm>
            <a:off x="5934456" y="2551176"/>
            <a:ext cx="411480" cy="182880"/>
          </a:xfrm>
          <a:prstGeom prst="rect">
            <a:avLst/>
          </a:prstGeom>
          <a:noFill/>
          <a:ln/>
        </p:spPr>
        <p:txBody>
          <a:bodyPr wrap="square" lIns="0" tIns="0" rIns="0" bIns="0" rtlCol="0" anchor="ctr"/>
          <a:lstStyle/>
          <a:p>
            <a:pPr marL="0" indent="0" algn="ctr">
              <a:buNone/>
            </a:pPr>
            <a:r>
              <a:rPr lang="en-US" sz="1050" b="1" dirty="0">
                <a:solidFill>
                  <a:srgbClr val="0F172A"/>
                </a:solidFill>
              </a:rPr>
              <a:t>x3</a:t>
            </a:r>
            <a:endParaRPr lang="en-US" sz="1050" dirty="0"/>
          </a:p>
        </p:txBody>
      </p:sp>
      <p:sp>
        <p:nvSpPr>
          <p:cNvPr id="30" name="Shape 28"/>
          <p:cNvSpPr/>
          <p:nvPr/>
        </p:nvSpPr>
        <p:spPr>
          <a:xfrm>
            <a:off x="6409944" y="2423160"/>
            <a:ext cx="411480" cy="457200"/>
          </a:xfrm>
          <a:prstGeom prst="roundRect">
            <a:avLst>
              <a:gd name="adj" fmla="val 8889"/>
            </a:avLst>
          </a:prstGeom>
          <a:solidFill>
            <a:srgbClr val="E7F5C7"/>
          </a:solidFill>
          <a:ln w="13970">
            <a:solidFill>
              <a:srgbClr val="84B91F"/>
            </a:solidFill>
            <a:prstDash val="solid"/>
          </a:ln>
        </p:spPr>
        <p:txBody>
          <a:bodyPr/>
          <a:lstStyle/>
          <a:p>
            <a:endParaRPr lang="en-GB"/>
          </a:p>
        </p:txBody>
      </p:sp>
      <p:sp>
        <p:nvSpPr>
          <p:cNvPr id="31" name="Text 29"/>
          <p:cNvSpPr/>
          <p:nvPr/>
        </p:nvSpPr>
        <p:spPr>
          <a:xfrm>
            <a:off x="6409944" y="2551176"/>
            <a:ext cx="411480" cy="182880"/>
          </a:xfrm>
          <a:prstGeom prst="rect">
            <a:avLst/>
          </a:prstGeom>
          <a:noFill/>
          <a:ln/>
        </p:spPr>
        <p:txBody>
          <a:bodyPr wrap="square" lIns="0" tIns="0" rIns="0" bIns="0" rtlCol="0" anchor="ctr"/>
          <a:lstStyle/>
          <a:p>
            <a:pPr marL="0" indent="0" algn="ctr">
              <a:buNone/>
            </a:pPr>
            <a:r>
              <a:rPr lang="en-US" sz="1050" b="1" dirty="0">
                <a:solidFill>
                  <a:srgbClr val="0F172A"/>
                </a:solidFill>
              </a:rPr>
              <a:t>x4</a:t>
            </a:r>
            <a:endParaRPr lang="en-US" sz="1050" dirty="0"/>
          </a:p>
        </p:txBody>
      </p:sp>
      <p:sp>
        <p:nvSpPr>
          <p:cNvPr id="32" name="Shape 30"/>
          <p:cNvSpPr/>
          <p:nvPr/>
        </p:nvSpPr>
        <p:spPr>
          <a:xfrm>
            <a:off x="6885432" y="2423160"/>
            <a:ext cx="411480" cy="457200"/>
          </a:xfrm>
          <a:prstGeom prst="roundRect">
            <a:avLst>
              <a:gd name="adj" fmla="val 8889"/>
            </a:avLst>
          </a:prstGeom>
          <a:solidFill>
            <a:srgbClr val="E7F5C7"/>
          </a:solidFill>
          <a:ln w="13970">
            <a:solidFill>
              <a:srgbClr val="84B91F"/>
            </a:solidFill>
            <a:prstDash val="solid"/>
          </a:ln>
        </p:spPr>
        <p:txBody>
          <a:bodyPr/>
          <a:lstStyle/>
          <a:p>
            <a:endParaRPr lang="en-GB"/>
          </a:p>
        </p:txBody>
      </p:sp>
      <p:sp>
        <p:nvSpPr>
          <p:cNvPr id="33" name="Text 31"/>
          <p:cNvSpPr/>
          <p:nvPr/>
        </p:nvSpPr>
        <p:spPr>
          <a:xfrm>
            <a:off x="6885432" y="2551176"/>
            <a:ext cx="411480" cy="182880"/>
          </a:xfrm>
          <a:prstGeom prst="rect">
            <a:avLst/>
          </a:prstGeom>
          <a:noFill/>
          <a:ln/>
        </p:spPr>
        <p:txBody>
          <a:bodyPr wrap="square" lIns="0" tIns="0" rIns="0" bIns="0" rtlCol="0" anchor="ctr"/>
          <a:lstStyle/>
          <a:p>
            <a:pPr marL="0" indent="0" algn="ctr">
              <a:buNone/>
            </a:pPr>
            <a:r>
              <a:rPr lang="en-US" sz="1050" b="1" dirty="0">
                <a:solidFill>
                  <a:srgbClr val="0F172A"/>
                </a:solidFill>
              </a:rPr>
              <a:t>x5</a:t>
            </a:r>
            <a:endParaRPr lang="en-US" sz="1050" dirty="0"/>
          </a:p>
        </p:txBody>
      </p:sp>
      <p:sp>
        <p:nvSpPr>
          <p:cNvPr id="34" name="Shape 32"/>
          <p:cNvSpPr/>
          <p:nvPr/>
        </p:nvSpPr>
        <p:spPr>
          <a:xfrm>
            <a:off x="7360920" y="2423160"/>
            <a:ext cx="411480" cy="457200"/>
          </a:xfrm>
          <a:prstGeom prst="roundRect">
            <a:avLst>
              <a:gd name="adj" fmla="val 8889"/>
            </a:avLst>
          </a:prstGeom>
          <a:solidFill>
            <a:srgbClr val="E7F5C7"/>
          </a:solidFill>
          <a:ln w="13970">
            <a:solidFill>
              <a:srgbClr val="84B91F"/>
            </a:solidFill>
            <a:prstDash val="solid"/>
          </a:ln>
        </p:spPr>
        <p:txBody>
          <a:bodyPr/>
          <a:lstStyle/>
          <a:p>
            <a:endParaRPr lang="en-GB"/>
          </a:p>
        </p:txBody>
      </p:sp>
      <p:sp>
        <p:nvSpPr>
          <p:cNvPr id="35" name="Text 33"/>
          <p:cNvSpPr/>
          <p:nvPr/>
        </p:nvSpPr>
        <p:spPr>
          <a:xfrm>
            <a:off x="7360920" y="2551176"/>
            <a:ext cx="411480" cy="182880"/>
          </a:xfrm>
          <a:prstGeom prst="rect">
            <a:avLst/>
          </a:prstGeom>
          <a:noFill/>
          <a:ln/>
        </p:spPr>
        <p:txBody>
          <a:bodyPr wrap="square" lIns="0" tIns="0" rIns="0" bIns="0" rtlCol="0" anchor="ctr"/>
          <a:lstStyle/>
          <a:p>
            <a:pPr marL="0" indent="0" algn="ctr">
              <a:buNone/>
            </a:pPr>
            <a:r>
              <a:rPr lang="en-US" sz="1050" b="1" dirty="0">
                <a:solidFill>
                  <a:srgbClr val="0F172A"/>
                </a:solidFill>
              </a:rPr>
              <a:t>x6</a:t>
            </a:r>
            <a:endParaRPr lang="en-US" sz="1050" dirty="0"/>
          </a:p>
        </p:txBody>
      </p:sp>
      <p:sp>
        <p:nvSpPr>
          <p:cNvPr id="36" name="Shape 34"/>
          <p:cNvSpPr/>
          <p:nvPr/>
        </p:nvSpPr>
        <p:spPr>
          <a:xfrm>
            <a:off x="7836408" y="2423160"/>
            <a:ext cx="411480" cy="457200"/>
          </a:xfrm>
          <a:prstGeom prst="roundRect">
            <a:avLst>
              <a:gd name="adj" fmla="val 8889"/>
            </a:avLst>
          </a:prstGeom>
          <a:solidFill>
            <a:srgbClr val="E7F5C7"/>
          </a:solidFill>
          <a:ln w="13970">
            <a:solidFill>
              <a:srgbClr val="84B91F"/>
            </a:solidFill>
            <a:prstDash val="solid"/>
          </a:ln>
        </p:spPr>
        <p:txBody>
          <a:bodyPr/>
          <a:lstStyle/>
          <a:p>
            <a:endParaRPr lang="en-GB"/>
          </a:p>
        </p:txBody>
      </p:sp>
      <p:sp>
        <p:nvSpPr>
          <p:cNvPr id="37" name="Text 35"/>
          <p:cNvSpPr/>
          <p:nvPr/>
        </p:nvSpPr>
        <p:spPr>
          <a:xfrm>
            <a:off x="7836408" y="2551176"/>
            <a:ext cx="411480" cy="182880"/>
          </a:xfrm>
          <a:prstGeom prst="rect">
            <a:avLst/>
          </a:prstGeom>
          <a:noFill/>
          <a:ln/>
        </p:spPr>
        <p:txBody>
          <a:bodyPr wrap="square" lIns="0" tIns="0" rIns="0" bIns="0" rtlCol="0" anchor="ctr"/>
          <a:lstStyle/>
          <a:p>
            <a:pPr marL="0" indent="0" algn="ctr">
              <a:buNone/>
            </a:pPr>
            <a:r>
              <a:rPr lang="en-US" sz="1050" b="1" dirty="0">
                <a:solidFill>
                  <a:srgbClr val="0F172A"/>
                </a:solidFill>
              </a:rPr>
              <a:t>x7</a:t>
            </a:r>
            <a:endParaRPr lang="en-US" sz="1050" dirty="0"/>
          </a:p>
        </p:txBody>
      </p:sp>
      <p:sp>
        <p:nvSpPr>
          <p:cNvPr id="38" name="Shape 36"/>
          <p:cNvSpPr/>
          <p:nvPr/>
        </p:nvSpPr>
        <p:spPr>
          <a:xfrm>
            <a:off x="5096256" y="3176626"/>
            <a:ext cx="1280160" cy="411480"/>
          </a:xfrm>
          <a:prstGeom prst="roundRect">
            <a:avLst>
              <a:gd name="adj" fmla="val 13333"/>
            </a:avLst>
          </a:prstGeom>
          <a:solidFill>
            <a:srgbClr val="FFFFFF"/>
          </a:solidFill>
          <a:ln w="15240">
            <a:solidFill>
              <a:srgbClr val="84B91F"/>
            </a:solidFill>
            <a:prstDash val="solid"/>
          </a:ln>
        </p:spPr>
        <p:txBody>
          <a:bodyPr/>
          <a:lstStyle/>
          <a:p>
            <a:endParaRPr lang="en-GB"/>
          </a:p>
        </p:txBody>
      </p:sp>
      <p:sp>
        <p:nvSpPr>
          <p:cNvPr id="39" name="Text 37"/>
          <p:cNvSpPr/>
          <p:nvPr/>
        </p:nvSpPr>
        <p:spPr>
          <a:xfrm>
            <a:off x="5092827" y="3267227"/>
            <a:ext cx="1188720" cy="246888"/>
          </a:xfrm>
          <a:prstGeom prst="rect">
            <a:avLst/>
          </a:prstGeom>
          <a:noFill/>
          <a:ln/>
        </p:spPr>
        <p:txBody>
          <a:bodyPr wrap="square" lIns="0" tIns="0" rIns="0" bIns="0" rtlCol="0" anchor="ctr">
            <a:normAutofit/>
          </a:bodyPr>
          <a:lstStyle/>
          <a:p>
            <a:pPr marL="0" indent="0" algn="ctr">
              <a:buNone/>
            </a:pPr>
            <a:r>
              <a:rPr lang="en-US" sz="1100" b="1" dirty="0">
                <a:solidFill>
                  <a:srgbClr val="0F172A"/>
                </a:solidFill>
              </a:rPr>
              <a:t>Conv K = 3</a:t>
            </a:r>
            <a:endParaRPr lang="en-US" sz="1100" dirty="0"/>
          </a:p>
        </p:txBody>
      </p:sp>
      <p:sp>
        <p:nvSpPr>
          <p:cNvPr id="40" name="Shape 38"/>
          <p:cNvSpPr/>
          <p:nvPr/>
        </p:nvSpPr>
        <p:spPr>
          <a:xfrm>
            <a:off x="5975604" y="3703320"/>
            <a:ext cx="1280160" cy="411480"/>
          </a:xfrm>
          <a:prstGeom prst="roundRect">
            <a:avLst>
              <a:gd name="adj" fmla="val 13333"/>
            </a:avLst>
          </a:prstGeom>
          <a:solidFill>
            <a:srgbClr val="FFFFFF"/>
          </a:solidFill>
          <a:ln w="15240">
            <a:solidFill>
              <a:srgbClr val="F7C948"/>
            </a:solidFill>
            <a:prstDash val="solid"/>
          </a:ln>
        </p:spPr>
        <p:txBody>
          <a:bodyPr/>
          <a:lstStyle/>
          <a:p>
            <a:endParaRPr lang="en-GB"/>
          </a:p>
        </p:txBody>
      </p:sp>
      <p:sp>
        <p:nvSpPr>
          <p:cNvPr id="41" name="Text 39"/>
          <p:cNvSpPr/>
          <p:nvPr/>
        </p:nvSpPr>
        <p:spPr>
          <a:xfrm>
            <a:off x="6126480" y="3816706"/>
            <a:ext cx="1188720" cy="246888"/>
          </a:xfrm>
          <a:prstGeom prst="rect">
            <a:avLst/>
          </a:prstGeom>
          <a:noFill/>
          <a:ln/>
        </p:spPr>
        <p:txBody>
          <a:bodyPr wrap="square" lIns="0" tIns="0" rIns="0" bIns="0" rtlCol="0" anchor="ctr">
            <a:normAutofit/>
          </a:bodyPr>
          <a:lstStyle/>
          <a:p>
            <a:pPr marL="0" indent="0" algn="ctr">
              <a:buNone/>
            </a:pPr>
            <a:r>
              <a:rPr lang="en-US" sz="1100" b="1" dirty="0">
                <a:solidFill>
                  <a:srgbClr val="0F172A"/>
                </a:solidFill>
              </a:rPr>
              <a:t>Conv K = 3</a:t>
            </a:r>
            <a:endParaRPr lang="en-US" sz="1100" dirty="0"/>
          </a:p>
        </p:txBody>
      </p:sp>
      <p:sp>
        <p:nvSpPr>
          <p:cNvPr id="42" name="Shape 40"/>
          <p:cNvSpPr/>
          <p:nvPr/>
        </p:nvSpPr>
        <p:spPr>
          <a:xfrm>
            <a:off x="6949440" y="4251960"/>
            <a:ext cx="1280160" cy="411480"/>
          </a:xfrm>
          <a:prstGeom prst="roundRect">
            <a:avLst>
              <a:gd name="adj" fmla="val 13333"/>
            </a:avLst>
          </a:prstGeom>
          <a:solidFill>
            <a:srgbClr val="FFFFFF"/>
          </a:solidFill>
          <a:ln w="15240">
            <a:solidFill>
              <a:srgbClr val="7C3AED"/>
            </a:solidFill>
            <a:prstDash val="solid"/>
          </a:ln>
        </p:spPr>
        <p:txBody>
          <a:bodyPr/>
          <a:lstStyle/>
          <a:p>
            <a:endParaRPr lang="en-GB"/>
          </a:p>
        </p:txBody>
      </p:sp>
      <p:sp>
        <p:nvSpPr>
          <p:cNvPr id="43" name="Text 41"/>
          <p:cNvSpPr/>
          <p:nvPr/>
        </p:nvSpPr>
        <p:spPr>
          <a:xfrm>
            <a:off x="6995160" y="4365346"/>
            <a:ext cx="1188720" cy="246888"/>
          </a:xfrm>
          <a:prstGeom prst="rect">
            <a:avLst/>
          </a:prstGeom>
          <a:noFill/>
          <a:ln/>
        </p:spPr>
        <p:txBody>
          <a:bodyPr wrap="square" lIns="0" tIns="0" rIns="0" bIns="0" rtlCol="0" anchor="ctr">
            <a:normAutofit/>
          </a:bodyPr>
          <a:lstStyle/>
          <a:p>
            <a:pPr marL="0" indent="0" algn="ctr">
              <a:buNone/>
            </a:pPr>
            <a:r>
              <a:rPr lang="en-US" sz="1100" b="1" dirty="0">
                <a:solidFill>
                  <a:srgbClr val="0F172A"/>
                </a:solidFill>
              </a:rPr>
              <a:t>Conv K = 3</a:t>
            </a:r>
            <a:endParaRPr lang="en-US" sz="1100" dirty="0"/>
          </a:p>
        </p:txBody>
      </p:sp>
      <p:sp>
        <p:nvSpPr>
          <p:cNvPr id="44" name="Shape 42"/>
          <p:cNvSpPr/>
          <p:nvPr/>
        </p:nvSpPr>
        <p:spPr>
          <a:xfrm>
            <a:off x="5852160" y="2880360"/>
            <a:ext cx="0" cy="256032"/>
          </a:xfrm>
          <a:prstGeom prst="line">
            <a:avLst/>
          </a:prstGeom>
          <a:noFill/>
          <a:ln w="16510">
            <a:solidFill>
              <a:srgbClr val="84B91F"/>
            </a:solidFill>
            <a:prstDash val="solid"/>
            <a:headEnd type="none"/>
            <a:tailEnd type="triangle"/>
          </a:ln>
        </p:spPr>
        <p:txBody>
          <a:bodyPr/>
          <a:lstStyle/>
          <a:p>
            <a:endParaRPr lang="en-GB"/>
          </a:p>
        </p:txBody>
      </p:sp>
      <p:sp>
        <p:nvSpPr>
          <p:cNvPr id="45" name="Shape 43"/>
          <p:cNvSpPr/>
          <p:nvPr/>
        </p:nvSpPr>
        <p:spPr>
          <a:xfrm>
            <a:off x="6720840" y="3566160"/>
            <a:ext cx="0" cy="118872"/>
          </a:xfrm>
          <a:prstGeom prst="line">
            <a:avLst/>
          </a:prstGeom>
          <a:noFill/>
          <a:ln w="16510">
            <a:solidFill>
              <a:srgbClr val="F7C948"/>
            </a:solidFill>
            <a:prstDash val="solid"/>
            <a:headEnd type="none"/>
            <a:tailEnd type="triangle"/>
          </a:ln>
        </p:spPr>
        <p:txBody>
          <a:bodyPr/>
          <a:lstStyle/>
          <a:p>
            <a:endParaRPr lang="en-GB"/>
          </a:p>
        </p:txBody>
      </p:sp>
      <p:sp>
        <p:nvSpPr>
          <p:cNvPr id="46" name="Shape 44"/>
          <p:cNvSpPr/>
          <p:nvPr/>
        </p:nvSpPr>
        <p:spPr>
          <a:xfrm>
            <a:off x="7543800" y="4114800"/>
            <a:ext cx="0" cy="118872"/>
          </a:xfrm>
          <a:prstGeom prst="line">
            <a:avLst/>
          </a:prstGeom>
          <a:noFill/>
          <a:ln w="16510">
            <a:solidFill>
              <a:srgbClr val="7C3AED"/>
            </a:solidFill>
            <a:prstDash val="solid"/>
            <a:headEnd type="none"/>
            <a:tailEnd type="triangle"/>
          </a:ln>
        </p:spPr>
        <p:txBody>
          <a:bodyPr/>
          <a:lstStyle/>
          <a:p>
            <a:endParaRPr lang="en-GB"/>
          </a:p>
        </p:txBody>
      </p:sp>
      <p:sp>
        <p:nvSpPr>
          <p:cNvPr id="47" name="Text 45"/>
          <p:cNvSpPr/>
          <p:nvPr/>
        </p:nvSpPr>
        <p:spPr>
          <a:xfrm>
            <a:off x="5577840" y="4983480"/>
            <a:ext cx="2926080" cy="640080"/>
          </a:xfrm>
          <a:prstGeom prst="rect">
            <a:avLst/>
          </a:prstGeom>
          <a:noFill/>
          <a:ln/>
        </p:spPr>
        <p:txBody>
          <a:bodyPr wrap="square" lIns="0" tIns="0" rIns="0" bIns="0" rtlCol="0" anchor="ctr">
            <a:normAutofit/>
          </a:bodyPr>
          <a:lstStyle/>
          <a:p>
            <a:pPr marL="0" indent="0" algn="ctr">
              <a:buNone/>
            </a:pPr>
            <a:r>
              <a:rPr lang="en-US" sz="1700" b="1" dirty="0">
                <a:solidFill>
                  <a:srgbClr val="0F172A"/>
                </a:solidFill>
              </a:rPr>
              <a:t>each kernel = 3</a:t>
            </a:r>
            <a:endParaRPr lang="en-US" sz="1700" dirty="0"/>
          </a:p>
          <a:p>
            <a:pPr marL="0" indent="0" algn="ctr">
              <a:buNone/>
            </a:pPr>
            <a:r>
              <a:rPr lang="en-US" sz="1700" b="1" dirty="0">
                <a:solidFill>
                  <a:srgbClr val="0F172A"/>
                </a:solidFill>
              </a:rPr>
              <a:t>final receptive field = 7</a:t>
            </a:r>
            <a:endParaRPr lang="en-US" sz="1700" dirty="0"/>
          </a:p>
        </p:txBody>
      </p:sp>
      <p:sp>
        <p:nvSpPr>
          <p:cNvPr id="48" name="Shape 46"/>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49" name="Text 47"/>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dirty="0">
                <a:solidFill>
                  <a:srgbClr val="0F172A"/>
                </a:solidFill>
              </a:rPr>
              <a:t>Do not infer temporal context only from the final layer kernel size.</a:t>
            </a:r>
            <a:endParaRPr lang="en-US"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7F33593-92BE-90E9-993A-D56B6F60507B}"/>
              </a:ext>
            </a:extLst>
          </p:cNvPr>
          <p:cNvSpPr>
            <a:spLocks noGrp="1"/>
          </p:cNvSpPr>
          <p:nvPr>
            <p:ph type="title"/>
          </p:nvPr>
        </p:nvSpPr>
        <p:spPr/>
        <p:txBody>
          <a:bodyPr/>
          <a:lstStyle/>
          <a:p>
            <a:r>
              <a:rPr lang="en-GB" dirty="0"/>
              <a:t>Receptive field must match the temporal dependency</a:t>
            </a:r>
          </a:p>
        </p:txBody>
      </p:sp>
      <p:sp>
        <p:nvSpPr>
          <p:cNvPr id="3" name="Segnaposto contenuto 2">
            <a:extLst>
              <a:ext uri="{FF2B5EF4-FFF2-40B4-BE49-F238E27FC236}">
                <a16:creationId xmlns:a16="http://schemas.microsoft.com/office/drawing/2014/main" id="{879840FD-39A0-5034-C930-B380ACA30829}"/>
              </a:ext>
            </a:extLst>
          </p:cNvPr>
          <p:cNvSpPr>
            <a:spLocks noGrp="1"/>
          </p:cNvSpPr>
          <p:nvPr>
            <p:ph idx="1"/>
          </p:nvPr>
        </p:nvSpPr>
        <p:spPr/>
        <p:txBody>
          <a:bodyPr>
            <a:normAutofit/>
          </a:bodyPr>
          <a:lstStyle/>
          <a:p>
            <a:r>
              <a:rPr lang="en-GB" dirty="0"/>
              <a:t>Suppose a model receives sensor data at: 100 Hz</a:t>
            </a:r>
          </a:p>
          <a:p>
            <a:r>
              <a:rPr lang="en-GB" dirty="0"/>
              <a:t>and a relevant process dependency extends over: 5 seconds</a:t>
            </a:r>
          </a:p>
          <a:p>
            <a:r>
              <a:rPr lang="en-GB" dirty="0"/>
              <a:t>Then the architecture must potentially access: 5 × 100 = 500 samples</a:t>
            </a:r>
          </a:p>
          <a:p>
            <a:r>
              <a:rPr lang="en-GB" b="1" dirty="0"/>
              <a:t>If the receptive field is only: </a:t>
            </a:r>
            <a:r>
              <a:rPr lang="en-GB" dirty="0"/>
              <a:t>50 frames </a:t>
            </a:r>
          </a:p>
          <a:p>
            <a:r>
              <a:rPr lang="en-GB" dirty="0"/>
              <a:t>then the model sees only: 0.5 seconds of effective context.</a:t>
            </a:r>
          </a:p>
          <a:p>
            <a:r>
              <a:rPr lang="en-GB" dirty="0"/>
              <a:t>Even if the full input window contains 500 frames, the prediction cannot use the entire history if the architecture's receptive field covers only 50.</a:t>
            </a:r>
          </a:p>
          <a:p>
            <a:endParaRPr lang="en-GB" dirty="0"/>
          </a:p>
        </p:txBody>
      </p:sp>
    </p:spTree>
    <p:extLst>
      <p:ext uri="{BB962C8B-B14F-4D97-AF65-F5344CB8AC3E}">
        <p14:creationId xmlns:p14="http://schemas.microsoft.com/office/powerpoint/2010/main" val="353014372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EC24E-2D55-A976-2414-364768643D2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967428F-1BF0-40E2-F386-31CBB0BAF850}"/>
              </a:ext>
            </a:extLst>
          </p:cNvPr>
          <p:cNvSpPr>
            <a:spLocks noGrp="1"/>
          </p:cNvSpPr>
          <p:nvPr>
            <p:ph type="title"/>
          </p:nvPr>
        </p:nvSpPr>
        <p:spPr/>
        <p:txBody>
          <a:bodyPr/>
          <a:lstStyle/>
          <a:p>
            <a:r>
              <a:rPr lang="en-GB" dirty="0"/>
              <a:t>Receptive field must match the temporal dependency</a:t>
            </a:r>
          </a:p>
        </p:txBody>
      </p:sp>
      <p:sp>
        <p:nvSpPr>
          <p:cNvPr id="3" name="Segnaposto contenuto 2">
            <a:extLst>
              <a:ext uri="{FF2B5EF4-FFF2-40B4-BE49-F238E27FC236}">
                <a16:creationId xmlns:a16="http://schemas.microsoft.com/office/drawing/2014/main" id="{D12BC83A-D7AB-725F-83DC-27ECDBDDA7FA}"/>
              </a:ext>
            </a:extLst>
          </p:cNvPr>
          <p:cNvSpPr>
            <a:spLocks noGrp="1"/>
          </p:cNvSpPr>
          <p:nvPr>
            <p:ph idx="1"/>
          </p:nvPr>
        </p:nvSpPr>
        <p:spPr/>
        <p:txBody>
          <a:bodyPr>
            <a:normAutofit/>
          </a:bodyPr>
          <a:lstStyle/>
          <a:p>
            <a:r>
              <a:rPr lang="en-GB" b="1" dirty="0"/>
              <a:t>Important consequence</a:t>
            </a:r>
          </a:p>
          <a:p>
            <a:r>
              <a:rPr lang="en-GB" dirty="0"/>
              <a:t>Input-window length and receptive field are different.</a:t>
            </a:r>
          </a:p>
          <a:p>
            <a:r>
              <a:rPr lang="en-GB" dirty="0"/>
              <a:t>A model may receive L = 1000 time steps,</a:t>
            </a:r>
          </a:p>
          <a:p>
            <a:r>
              <a:rPr lang="en-GB" dirty="0"/>
              <a:t>but an output may depend on only 100 of them.</a:t>
            </a:r>
          </a:p>
          <a:p>
            <a:endParaRPr lang="en-GB" dirty="0"/>
          </a:p>
          <a:p>
            <a:r>
              <a:rPr lang="en-GB" b="1" dirty="0">
                <a:highlight>
                  <a:srgbClr val="FFFF00"/>
                </a:highlight>
              </a:rPr>
              <a:t>A long input window is useful only if the architecture provides a path from that history to the prediction.</a:t>
            </a:r>
          </a:p>
          <a:p>
            <a:endParaRPr lang="en-GB" dirty="0"/>
          </a:p>
        </p:txBody>
      </p:sp>
    </p:spTree>
    <p:extLst>
      <p:ext uri="{BB962C8B-B14F-4D97-AF65-F5344CB8AC3E}">
        <p14:creationId xmlns:p14="http://schemas.microsoft.com/office/powerpoint/2010/main" val="15924645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CD9C492-636A-5E76-ABBE-6D9393F99574}"/>
              </a:ext>
            </a:extLst>
          </p:cNvPr>
          <p:cNvSpPr>
            <a:spLocks noGrp="1"/>
          </p:cNvSpPr>
          <p:nvPr>
            <p:ph type="title"/>
          </p:nvPr>
        </p:nvSpPr>
        <p:spPr/>
        <p:txBody>
          <a:bodyPr/>
          <a:lstStyle/>
          <a:p>
            <a:r>
              <a:rPr lang="en-GB" dirty="0"/>
              <a:t>Physical interpretation of the receptive field</a:t>
            </a:r>
          </a:p>
        </p:txBody>
      </p:sp>
      <p:sp>
        <p:nvSpPr>
          <p:cNvPr id="3" name="Segnaposto contenuto 2">
            <a:extLst>
              <a:ext uri="{FF2B5EF4-FFF2-40B4-BE49-F238E27FC236}">
                <a16:creationId xmlns:a16="http://schemas.microsoft.com/office/drawing/2014/main" id="{C4B4AF48-A276-926E-E683-5527C4B756E4}"/>
              </a:ext>
            </a:extLst>
          </p:cNvPr>
          <p:cNvSpPr>
            <a:spLocks noGrp="1"/>
          </p:cNvSpPr>
          <p:nvPr>
            <p:ph sz="half" idx="1"/>
          </p:nvPr>
        </p:nvSpPr>
        <p:spPr>
          <a:xfrm>
            <a:off x="677334" y="2160588"/>
            <a:ext cx="5523441" cy="4487861"/>
          </a:xfrm>
        </p:spPr>
        <p:txBody>
          <a:bodyPr>
            <a:normAutofit/>
          </a:bodyPr>
          <a:lstStyle/>
          <a:p>
            <a:r>
              <a:rPr lang="en-GB" sz="1900" b="1" dirty="0"/>
              <a:t>A receptive field should always be translated into physical time.</a:t>
            </a:r>
            <a:endParaRPr lang="en-GB" b="1" dirty="0"/>
          </a:p>
          <a:p>
            <a:r>
              <a:rPr lang="en-GB" dirty="0"/>
              <a:t>Suppose: Fs = 50 Hz</a:t>
            </a:r>
          </a:p>
          <a:p>
            <a:r>
              <a:rPr lang="en-GB" dirty="0"/>
              <a:t>and the receptive field is: R = 200 frames</a:t>
            </a:r>
          </a:p>
          <a:p>
            <a:r>
              <a:rPr lang="en-GB" dirty="0"/>
              <a:t>Then the temporal duration represented is: 200 / 50 = 4 seconds</a:t>
            </a:r>
          </a:p>
          <a:p>
            <a:r>
              <a:rPr lang="en-GB" b="1" dirty="0"/>
              <a:t>Another example</a:t>
            </a:r>
          </a:p>
          <a:p>
            <a:r>
              <a:rPr lang="en-GB" dirty="0"/>
              <a:t>Hourly demand data:</a:t>
            </a:r>
          </a:p>
          <a:p>
            <a:r>
              <a:rPr lang="en-GB" dirty="0"/>
              <a:t>one sample = 1 hour</a:t>
            </a:r>
          </a:p>
          <a:p>
            <a:r>
              <a:rPr lang="en-GB" dirty="0"/>
              <a:t>A receptive field of: 168 frames</a:t>
            </a:r>
          </a:p>
          <a:p>
            <a:r>
              <a:rPr lang="en-GB" dirty="0"/>
              <a:t>corresponds to: 168 hours = 7 days</a:t>
            </a:r>
          </a:p>
          <a:p>
            <a:endParaRPr lang="en-GB" dirty="0"/>
          </a:p>
        </p:txBody>
      </p:sp>
      <p:sp>
        <p:nvSpPr>
          <p:cNvPr id="4" name="Segnaposto contenuto 3">
            <a:extLst>
              <a:ext uri="{FF2B5EF4-FFF2-40B4-BE49-F238E27FC236}">
                <a16:creationId xmlns:a16="http://schemas.microsoft.com/office/drawing/2014/main" id="{9B0DB639-A479-D2FE-1EBF-A58218F17064}"/>
              </a:ext>
            </a:extLst>
          </p:cNvPr>
          <p:cNvSpPr>
            <a:spLocks noGrp="1"/>
          </p:cNvSpPr>
          <p:nvPr>
            <p:ph sz="half" idx="2"/>
          </p:nvPr>
        </p:nvSpPr>
        <p:spPr>
          <a:xfrm>
            <a:off x="6423469" y="2197102"/>
            <a:ext cx="5416105" cy="4317998"/>
          </a:xfrm>
        </p:spPr>
        <p:txBody>
          <a:bodyPr>
            <a:normAutofit/>
          </a:bodyPr>
          <a:lstStyle/>
          <a:p>
            <a:r>
              <a:rPr lang="en-GB" b="1" dirty="0"/>
              <a:t>Why this matters</a:t>
            </a:r>
          </a:p>
          <a:p>
            <a:r>
              <a:rPr lang="en-GB" dirty="0">
                <a:highlight>
                  <a:srgbClr val="FFFF00"/>
                </a:highlight>
              </a:rPr>
              <a:t>The same numerical receptive field has very different physical meaning depending on sampling.</a:t>
            </a:r>
          </a:p>
          <a:p>
            <a:r>
              <a:rPr lang="en-GB" dirty="0">
                <a:highlight>
                  <a:srgbClr val="FFFF00"/>
                </a:highlight>
              </a:rPr>
              <a:t>R = 100 could mean:</a:t>
            </a:r>
          </a:p>
          <a:p>
            <a:pPr lvl="1"/>
            <a:r>
              <a:rPr lang="en-GB" dirty="0"/>
              <a:t>1 second at 100 Hz; </a:t>
            </a:r>
          </a:p>
          <a:p>
            <a:pPr lvl="1"/>
            <a:r>
              <a:rPr lang="en-GB" dirty="0"/>
              <a:t>100 seconds at 1 Hz; </a:t>
            </a:r>
          </a:p>
          <a:p>
            <a:pPr lvl="1"/>
            <a:r>
              <a:rPr lang="en-GB" dirty="0"/>
              <a:t>100 hours for hourly data. </a:t>
            </a:r>
          </a:p>
          <a:p>
            <a:endParaRPr lang="en-GB" b="1" dirty="0"/>
          </a:p>
          <a:p>
            <a:r>
              <a:rPr lang="en-GB" b="1" dirty="0">
                <a:highlight>
                  <a:srgbClr val="FFFF00"/>
                </a:highlight>
              </a:rPr>
              <a:t>Engineering question</a:t>
            </a:r>
          </a:p>
          <a:p>
            <a:r>
              <a:rPr lang="en-GB" dirty="0"/>
              <a:t>Does the receptive field cover the physical time scale over which relevant effects occur?</a:t>
            </a:r>
          </a:p>
          <a:p>
            <a:endParaRPr lang="en-GB" dirty="0"/>
          </a:p>
        </p:txBody>
      </p:sp>
    </p:spTree>
    <p:extLst>
      <p:ext uri="{BB962C8B-B14F-4D97-AF65-F5344CB8AC3E}">
        <p14:creationId xmlns:p14="http://schemas.microsoft.com/office/powerpoint/2010/main" val="53279198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5.E.4 — Receptive field has physical duration</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b="1" dirty="0">
                <a:solidFill>
                  <a:srgbClr val="475569"/>
                </a:solidFill>
                <a:highlight>
                  <a:srgbClr val="FFFF00"/>
                </a:highlight>
                <a:latin typeface="Aptos" pitchFamily="34" charset="0"/>
                <a:ea typeface="Aptos" pitchFamily="34" charset="-122"/>
                <a:cs typeface="Aptos" pitchFamily="34" charset="-120"/>
              </a:rPr>
              <a:t>Translate samples into seconds, minutes, hours, or cycles.</a:t>
            </a:r>
            <a:endParaRPr lang="en-US" sz="1350" b="1" dirty="0">
              <a:highlight>
                <a:srgbClr val="FFFF00"/>
              </a:highlight>
            </a:endParaRPr>
          </a:p>
        </p:txBody>
      </p:sp>
      <p:sp>
        <p:nvSpPr>
          <p:cNvPr id="6" name="Shape 4"/>
          <p:cNvSpPr/>
          <p:nvPr/>
        </p:nvSpPr>
        <p:spPr>
          <a:xfrm>
            <a:off x="960120" y="1508760"/>
            <a:ext cx="2468880" cy="1005840"/>
          </a:xfrm>
          <a:prstGeom prst="roundRect">
            <a:avLst>
              <a:gd name="adj" fmla="val 5455"/>
            </a:avLst>
          </a:prstGeom>
          <a:solidFill>
            <a:srgbClr val="F8FAFC"/>
          </a:solidFill>
          <a:ln w="15240">
            <a:solidFill>
              <a:srgbClr val="CBD5E1"/>
            </a:solidFill>
            <a:prstDash val="solid"/>
          </a:ln>
        </p:spPr>
        <p:txBody>
          <a:bodyPr/>
          <a:lstStyle/>
          <a:p>
            <a:endParaRPr lang="en-GB"/>
          </a:p>
        </p:txBody>
      </p:sp>
      <p:sp>
        <p:nvSpPr>
          <p:cNvPr id="7" name="Text 5"/>
          <p:cNvSpPr/>
          <p:nvPr/>
        </p:nvSpPr>
        <p:spPr>
          <a:xfrm>
            <a:off x="1005840" y="1812341"/>
            <a:ext cx="2377440" cy="603504"/>
          </a:xfrm>
          <a:prstGeom prst="rect">
            <a:avLst/>
          </a:prstGeom>
          <a:noFill/>
          <a:ln/>
        </p:spPr>
        <p:txBody>
          <a:bodyPr wrap="square" lIns="0" tIns="0" rIns="0" bIns="0" rtlCol="0" anchor="ctr">
            <a:normAutofit/>
          </a:bodyPr>
          <a:lstStyle/>
          <a:p>
            <a:pPr marL="0" indent="0" algn="ctr">
              <a:buNone/>
            </a:pPr>
            <a:r>
              <a:rPr lang="en-US" sz="1700" b="1" dirty="0">
                <a:solidFill>
                  <a:srgbClr val="0F172A"/>
                </a:solidFill>
              </a:rPr>
              <a:t>Sampling frequency</a:t>
            </a:r>
            <a:endParaRPr lang="en-US" sz="1700" dirty="0"/>
          </a:p>
          <a:p>
            <a:pPr marL="0" indent="0" algn="ctr">
              <a:buNone/>
            </a:pPr>
            <a:r>
              <a:rPr lang="en-US" sz="1700" b="1" dirty="0">
                <a:solidFill>
                  <a:srgbClr val="0F172A"/>
                </a:solidFill>
              </a:rPr>
              <a:t>Fs = 50 Hz</a:t>
            </a:r>
            <a:endParaRPr lang="en-US" sz="1700" dirty="0"/>
          </a:p>
        </p:txBody>
      </p:sp>
      <p:sp>
        <p:nvSpPr>
          <p:cNvPr id="8" name="Shape 6"/>
          <p:cNvSpPr/>
          <p:nvPr/>
        </p:nvSpPr>
        <p:spPr>
          <a:xfrm>
            <a:off x="4160520" y="1508760"/>
            <a:ext cx="2743200" cy="1005840"/>
          </a:xfrm>
          <a:prstGeom prst="roundRect">
            <a:avLst>
              <a:gd name="adj" fmla="val 5455"/>
            </a:avLst>
          </a:prstGeom>
          <a:solidFill>
            <a:srgbClr val="E7F5C7"/>
          </a:solidFill>
          <a:ln w="15240">
            <a:solidFill>
              <a:srgbClr val="84B91F"/>
            </a:solidFill>
            <a:prstDash val="solid"/>
          </a:ln>
        </p:spPr>
        <p:txBody>
          <a:bodyPr/>
          <a:lstStyle/>
          <a:p>
            <a:endParaRPr lang="en-GB"/>
          </a:p>
        </p:txBody>
      </p:sp>
      <p:sp>
        <p:nvSpPr>
          <p:cNvPr id="9" name="Text 7"/>
          <p:cNvSpPr/>
          <p:nvPr/>
        </p:nvSpPr>
        <p:spPr>
          <a:xfrm>
            <a:off x="4206240" y="1812341"/>
            <a:ext cx="2651760" cy="603504"/>
          </a:xfrm>
          <a:prstGeom prst="rect">
            <a:avLst/>
          </a:prstGeom>
          <a:noFill/>
          <a:ln/>
        </p:spPr>
        <p:txBody>
          <a:bodyPr wrap="square" lIns="0" tIns="0" rIns="0" bIns="0" rtlCol="0" anchor="ctr">
            <a:normAutofit/>
          </a:bodyPr>
          <a:lstStyle/>
          <a:p>
            <a:pPr marL="0" indent="0" algn="ctr">
              <a:buNone/>
            </a:pPr>
            <a:r>
              <a:rPr lang="en-US" sz="1700" b="1" dirty="0">
                <a:solidFill>
                  <a:srgbClr val="0F172A"/>
                </a:solidFill>
              </a:rPr>
              <a:t>Receptive field</a:t>
            </a:r>
            <a:endParaRPr lang="en-US" sz="1700" dirty="0"/>
          </a:p>
          <a:p>
            <a:pPr marL="0" indent="0" algn="ctr">
              <a:buNone/>
            </a:pPr>
            <a:r>
              <a:rPr lang="en-US" sz="1700" b="1" dirty="0">
                <a:solidFill>
                  <a:srgbClr val="0F172A"/>
                </a:solidFill>
              </a:rPr>
              <a:t>R = 200 frames</a:t>
            </a:r>
            <a:endParaRPr lang="en-US" sz="1700" dirty="0"/>
          </a:p>
        </p:txBody>
      </p:sp>
      <p:sp>
        <p:nvSpPr>
          <p:cNvPr id="10" name="Shape 8"/>
          <p:cNvSpPr/>
          <p:nvPr/>
        </p:nvSpPr>
        <p:spPr>
          <a:xfrm>
            <a:off x="3566160" y="2011680"/>
            <a:ext cx="502920" cy="0"/>
          </a:xfrm>
          <a:prstGeom prst="line">
            <a:avLst/>
          </a:prstGeom>
          <a:noFill/>
          <a:ln w="25400">
            <a:solidFill>
              <a:srgbClr val="84B91F"/>
            </a:solidFill>
            <a:prstDash val="solid"/>
            <a:headEnd type="none"/>
            <a:tailEnd type="triangle"/>
          </a:ln>
        </p:spPr>
        <p:txBody>
          <a:bodyPr/>
          <a:lstStyle/>
          <a:p>
            <a:endParaRPr lang="en-GB"/>
          </a:p>
        </p:txBody>
      </p:sp>
      <p:sp>
        <p:nvSpPr>
          <p:cNvPr id="11" name="Shape 9"/>
          <p:cNvSpPr/>
          <p:nvPr/>
        </p:nvSpPr>
        <p:spPr>
          <a:xfrm>
            <a:off x="7086600" y="2011680"/>
            <a:ext cx="502920" cy="0"/>
          </a:xfrm>
          <a:prstGeom prst="line">
            <a:avLst/>
          </a:prstGeom>
          <a:noFill/>
          <a:ln w="25400">
            <a:solidFill>
              <a:srgbClr val="84B91F"/>
            </a:solidFill>
            <a:prstDash val="solid"/>
            <a:headEnd type="none"/>
            <a:tailEnd type="triangle"/>
          </a:ln>
        </p:spPr>
        <p:txBody>
          <a:bodyPr/>
          <a:lstStyle/>
          <a:p>
            <a:endParaRPr lang="en-GB"/>
          </a:p>
        </p:txBody>
      </p:sp>
      <p:sp>
        <p:nvSpPr>
          <p:cNvPr id="12" name="Shape 10"/>
          <p:cNvSpPr/>
          <p:nvPr/>
        </p:nvSpPr>
        <p:spPr>
          <a:xfrm>
            <a:off x="7680960" y="1325880"/>
            <a:ext cx="2468880" cy="1371600"/>
          </a:xfrm>
          <a:prstGeom prst="roundRect">
            <a:avLst>
              <a:gd name="adj" fmla="val 4000"/>
            </a:avLst>
          </a:prstGeom>
          <a:solidFill>
            <a:srgbClr val="FFF7CC"/>
          </a:solidFill>
          <a:ln w="15240">
            <a:solidFill>
              <a:srgbClr val="F7C948"/>
            </a:solidFill>
            <a:prstDash val="solid"/>
          </a:ln>
        </p:spPr>
        <p:txBody>
          <a:bodyPr/>
          <a:lstStyle/>
          <a:p>
            <a:endParaRPr lang="en-GB"/>
          </a:p>
        </p:txBody>
      </p:sp>
      <p:sp>
        <p:nvSpPr>
          <p:cNvPr id="13" name="Text 11"/>
          <p:cNvSpPr/>
          <p:nvPr/>
        </p:nvSpPr>
        <p:spPr>
          <a:xfrm>
            <a:off x="7726680" y="1746504"/>
            <a:ext cx="2377440" cy="822960"/>
          </a:xfrm>
          <a:prstGeom prst="rect">
            <a:avLst/>
          </a:prstGeom>
          <a:noFill/>
          <a:ln/>
        </p:spPr>
        <p:txBody>
          <a:bodyPr wrap="square" lIns="0" tIns="0" rIns="0" bIns="0" rtlCol="0" anchor="ctr">
            <a:normAutofit/>
          </a:bodyPr>
          <a:lstStyle/>
          <a:p>
            <a:pPr marL="0" indent="0" algn="ctr">
              <a:buNone/>
            </a:pPr>
            <a:r>
              <a:rPr lang="en-US" sz="1800" b="1" dirty="0">
                <a:solidFill>
                  <a:srgbClr val="0F172A"/>
                </a:solidFill>
              </a:rPr>
              <a:t>Duration = R / Fs</a:t>
            </a:r>
            <a:endParaRPr lang="en-US" sz="1800" dirty="0"/>
          </a:p>
          <a:p>
            <a:pPr marL="0" indent="0" algn="ctr">
              <a:buNone/>
            </a:pPr>
            <a:r>
              <a:rPr lang="en-US" sz="1800" b="1" dirty="0">
                <a:solidFill>
                  <a:srgbClr val="0F172A"/>
                </a:solidFill>
              </a:rPr>
              <a:t>= 200 / 50</a:t>
            </a:r>
            <a:endParaRPr lang="en-US" sz="1800" dirty="0"/>
          </a:p>
          <a:p>
            <a:pPr marL="0" indent="0" algn="ctr">
              <a:buNone/>
            </a:pPr>
            <a:r>
              <a:rPr lang="en-US" sz="1800" b="1" dirty="0">
                <a:solidFill>
                  <a:srgbClr val="0F172A"/>
                </a:solidFill>
              </a:rPr>
              <a:t>= 4 seconds</a:t>
            </a:r>
            <a:endParaRPr lang="en-US" sz="1800" dirty="0"/>
          </a:p>
        </p:txBody>
      </p:sp>
      <p:sp>
        <p:nvSpPr>
          <p:cNvPr id="14" name="Shape 12"/>
          <p:cNvSpPr/>
          <p:nvPr/>
        </p:nvSpPr>
        <p:spPr>
          <a:xfrm>
            <a:off x="1097280" y="4206240"/>
            <a:ext cx="8321040" cy="0"/>
          </a:xfrm>
          <a:prstGeom prst="line">
            <a:avLst/>
          </a:prstGeom>
          <a:noFill/>
          <a:ln w="25400">
            <a:solidFill>
              <a:srgbClr val="94A3B8"/>
            </a:solidFill>
            <a:prstDash val="solid"/>
          </a:ln>
        </p:spPr>
        <p:txBody>
          <a:bodyPr/>
          <a:lstStyle/>
          <a:p>
            <a:endParaRPr lang="en-GB"/>
          </a:p>
        </p:txBody>
      </p:sp>
      <p:sp>
        <p:nvSpPr>
          <p:cNvPr id="15" name="Shape 13"/>
          <p:cNvSpPr/>
          <p:nvPr/>
        </p:nvSpPr>
        <p:spPr>
          <a:xfrm>
            <a:off x="1097280" y="4069080"/>
            <a:ext cx="0" cy="274320"/>
          </a:xfrm>
          <a:prstGeom prst="line">
            <a:avLst/>
          </a:prstGeom>
          <a:noFill/>
          <a:ln w="12700">
            <a:solidFill>
              <a:srgbClr val="94A3B8"/>
            </a:solidFill>
            <a:prstDash val="solid"/>
          </a:ln>
        </p:spPr>
        <p:txBody>
          <a:bodyPr/>
          <a:lstStyle/>
          <a:p>
            <a:endParaRPr lang="en-GB"/>
          </a:p>
        </p:txBody>
      </p:sp>
      <p:sp>
        <p:nvSpPr>
          <p:cNvPr id="16" name="Shape 14"/>
          <p:cNvSpPr/>
          <p:nvPr/>
        </p:nvSpPr>
        <p:spPr>
          <a:xfrm>
            <a:off x="2130552" y="4069080"/>
            <a:ext cx="0" cy="274320"/>
          </a:xfrm>
          <a:prstGeom prst="line">
            <a:avLst/>
          </a:prstGeom>
          <a:noFill/>
          <a:ln w="12700">
            <a:solidFill>
              <a:srgbClr val="94A3B8"/>
            </a:solidFill>
            <a:prstDash val="solid"/>
          </a:ln>
        </p:spPr>
        <p:txBody>
          <a:bodyPr/>
          <a:lstStyle/>
          <a:p>
            <a:endParaRPr lang="en-GB"/>
          </a:p>
        </p:txBody>
      </p:sp>
      <p:sp>
        <p:nvSpPr>
          <p:cNvPr id="17" name="Shape 15"/>
          <p:cNvSpPr/>
          <p:nvPr/>
        </p:nvSpPr>
        <p:spPr>
          <a:xfrm>
            <a:off x="3163824" y="4069080"/>
            <a:ext cx="0" cy="274320"/>
          </a:xfrm>
          <a:prstGeom prst="line">
            <a:avLst/>
          </a:prstGeom>
          <a:noFill/>
          <a:ln w="12700">
            <a:solidFill>
              <a:srgbClr val="94A3B8"/>
            </a:solidFill>
            <a:prstDash val="solid"/>
          </a:ln>
        </p:spPr>
        <p:txBody>
          <a:bodyPr/>
          <a:lstStyle/>
          <a:p>
            <a:endParaRPr lang="en-GB"/>
          </a:p>
        </p:txBody>
      </p:sp>
      <p:sp>
        <p:nvSpPr>
          <p:cNvPr id="18" name="Shape 16"/>
          <p:cNvSpPr/>
          <p:nvPr/>
        </p:nvSpPr>
        <p:spPr>
          <a:xfrm>
            <a:off x="4197096" y="4069080"/>
            <a:ext cx="0" cy="274320"/>
          </a:xfrm>
          <a:prstGeom prst="line">
            <a:avLst/>
          </a:prstGeom>
          <a:noFill/>
          <a:ln w="12700">
            <a:solidFill>
              <a:srgbClr val="94A3B8"/>
            </a:solidFill>
            <a:prstDash val="solid"/>
          </a:ln>
        </p:spPr>
        <p:txBody>
          <a:bodyPr/>
          <a:lstStyle/>
          <a:p>
            <a:endParaRPr lang="en-GB"/>
          </a:p>
        </p:txBody>
      </p:sp>
      <p:sp>
        <p:nvSpPr>
          <p:cNvPr id="19" name="Shape 17"/>
          <p:cNvSpPr/>
          <p:nvPr/>
        </p:nvSpPr>
        <p:spPr>
          <a:xfrm>
            <a:off x="5230368" y="4069080"/>
            <a:ext cx="0" cy="274320"/>
          </a:xfrm>
          <a:prstGeom prst="line">
            <a:avLst/>
          </a:prstGeom>
          <a:noFill/>
          <a:ln w="12700">
            <a:solidFill>
              <a:srgbClr val="94A3B8"/>
            </a:solidFill>
            <a:prstDash val="solid"/>
          </a:ln>
        </p:spPr>
        <p:txBody>
          <a:bodyPr/>
          <a:lstStyle/>
          <a:p>
            <a:endParaRPr lang="en-GB"/>
          </a:p>
        </p:txBody>
      </p:sp>
      <p:sp>
        <p:nvSpPr>
          <p:cNvPr id="20" name="Shape 18"/>
          <p:cNvSpPr/>
          <p:nvPr/>
        </p:nvSpPr>
        <p:spPr>
          <a:xfrm>
            <a:off x="6263640" y="4069080"/>
            <a:ext cx="0" cy="274320"/>
          </a:xfrm>
          <a:prstGeom prst="line">
            <a:avLst/>
          </a:prstGeom>
          <a:noFill/>
          <a:ln w="12700">
            <a:solidFill>
              <a:srgbClr val="94A3B8"/>
            </a:solidFill>
            <a:prstDash val="solid"/>
          </a:ln>
        </p:spPr>
        <p:txBody>
          <a:bodyPr/>
          <a:lstStyle/>
          <a:p>
            <a:endParaRPr lang="en-GB"/>
          </a:p>
        </p:txBody>
      </p:sp>
      <p:sp>
        <p:nvSpPr>
          <p:cNvPr id="21" name="Shape 19"/>
          <p:cNvSpPr/>
          <p:nvPr/>
        </p:nvSpPr>
        <p:spPr>
          <a:xfrm>
            <a:off x="7296912" y="4069080"/>
            <a:ext cx="0" cy="274320"/>
          </a:xfrm>
          <a:prstGeom prst="line">
            <a:avLst/>
          </a:prstGeom>
          <a:noFill/>
          <a:ln w="12700">
            <a:solidFill>
              <a:srgbClr val="94A3B8"/>
            </a:solidFill>
            <a:prstDash val="solid"/>
          </a:ln>
        </p:spPr>
        <p:txBody>
          <a:bodyPr/>
          <a:lstStyle/>
          <a:p>
            <a:endParaRPr lang="en-GB"/>
          </a:p>
        </p:txBody>
      </p:sp>
      <p:sp>
        <p:nvSpPr>
          <p:cNvPr id="22" name="Shape 20"/>
          <p:cNvSpPr/>
          <p:nvPr/>
        </p:nvSpPr>
        <p:spPr>
          <a:xfrm>
            <a:off x="8330184" y="4069080"/>
            <a:ext cx="0" cy="274320"/>
          </a:xfrm>
          <a:prstGeom prst="line">
            <a:avLst/>
          </a:prstGeom>
          <a:noFill/>
          <a:ln w="12700">
            <a:solidFill>
              <a:srgbClr val="94A3B8"/>
            </a:solidFill>
            <a:prstDash val="solid"/>
          </a:ln>
        </p:spPr>
        <p:txBody>
          <a:bodyPr/>
          <a:lstStyle/>
          <a:p>
            <a:endParaRPr lang="en-GB"/>
          </a:p>
        </p:txBody>
      </p:sp>
      <p:sp>
        <p:nvSpPr>
          <p:cNvPr id="23" name="Shape 21"/>
          <p:cNvSpPr/>
          <p:nvPr/>
        </p:nvSpPr>
        <p:spPr>
          <a:xfrm>
            <a:off x="9363456" y="4069080"/>
            <a:ext cx="0" cy="274320"/>
          </a:xfrm>
          <a:prstGeom prst="line">
            <a:avLst/>
          </a:prstGeom>
          <a:noFill/>
          <a:ln w="12700">
            <a:solidFill>
              <a:srgbClr val="94A3B8"/>
            </a:solidFill>
            <a:prstDash val="solid"/>
          </a:ln>
        </p:spPr>
        <p:txBody>
          <a:bodyPr/>
          <a:lstStyle/>
          <a:p>
            <a:endParaRPr lang="en-GB"/>
          </a:p>
        </p:txBody>
      </p:sp>
      <p:sp>
        <p:nvSpPr>
          <p:cNvPr id="24" name="Shape 22"/>
          <p:cNvSpPr/>
          <p:nvPr/>
        </p:nvSpPr>
        <p:spPr>
          <a:xfrm flipV="1">
            <a:off x="1143000" y="4434840"/>
            <a:ext cx="8229600" cy="320040"/>
          </a:xfrm>
          <a:prstGeom prst="bracePair">
            <a:avLst/>
          </a:prstGeom>
          <a:noFill/>
          <a:ln w="19050">
            <a:solidFill>
              <a:srgbClr val="84B91F"/>
            </a:solidFill>
            <a:prstDash val="solid"/>
          </a:ln>
        </p:spPr>
        <p:txBody>
          <a:bodyPr/>
          <a:lstStyle/>
          <a:p>
            <a:endParaRPr lang="en-GB"/>
          </a:p>
        </p:txBody>
      </p:sp>
      <p:sp>
        <p:nvSpPr>
          <p:cNvPr id="25" name="Text 23"/>
          <p:cNvSpPr/>
          <p:nvPr/>
        </p:nvSpPr>
        <p:spPr>
          <a:xfrm>
            <a:off x="3108960" y="4892040"/>
            <a:ext cx="4389120" cy="320040"/>
          </a:xfrm>
          <a:prstGeom prst="rect">
            <a:avLst/>
          </a:prstGeom>
          <a:noFill/>
          <a:ln/>
        </p:spPr>
        <p:txBody>
          <a:bodyPr wrap="square" lIns="0" tIns="0" rIns="0" bIns="0" rtlCol="0" anchor="ctr">
            <a:normAutofit/>
          </a:bodyPr>
          <a:lstStyle/>
          <a:p>
            <a:pPr marL="0" indent="0" algn="ctr">
              <a:buNone/>
            </a:pPr>
            <a:r>
              <a:rPr lang="en-US" sz="1800" b="1" dirty="0">
                <a:solidFill>
                  <a:srgbClr val="0F172A"/>
                </a:solidFill>
              </a:rPr>
              <a:t>200 samples = 4 seconds at 50 Hz</a:t>
            </a:r>
            <a:endParaRPr lang="en-US" sz="1800" dirty="0"/>
          </a:p>
        </p:txBody>
      </p:sp>
      <p:sp>
        <p:nvSpPr>
          <p:cNvPr id="26" name="Shape 24"/>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27" name="Text 25"/>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dirty="0">
                <a:solidFill>
                  <a:srgbClr val="0F172A"/>
                </a:solidFill>
              </a:rPr>
              <a:t>The same R has different meaning for high-frequency sensors and hourly demand data.</a:t>
            </a:r>
            <a:endParaRPr lang="en-US" sz="12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C659376-B3E9-9BEC-D86F-BFFABBF53286}"/>
              </a:ext>
            </a:extLst>
          </p:cNvPr>
          <p:cNvSpPr>
            <a:spLocks noGrp="1"/>
          </p:cNvSpPr>
          <p:nvPr>
            <p:ph type="title"/>
          </p:nvPr>
        </p:nvSpPr>
        <p:spPr/>
        <p:txBody>
          <a:bodyPr/>
          <a:lstStyle/>
          <a:p>
            <a:r>
              <a:rPr lang="en-GB" dirty="0"/>
              <a:t>Stride changes receptive-field growth</a:t>
            </a:r>
          </a:p>
        </p:txBody>
      </p:sp>
      <p:sp>
        <p:nvSpPr>
          <p:cNvPr id="3" name="Segnaposto contenuto 2">
            <a:extLst>
              <a:ext uri="{FF2B5EF4-FFF2-40B4-BE49-F238E27FC236}">
                <a16:creationId xmlns:a16="http://schemas.microsoft.com/office/drawing/2014/main" id="{3E1B9BE6-8E5A-F39F-8A90-3217DDCDC190}"/>
              </a:ext>
            </a:extLst>
          </p:cNvPr>
          <p:cNvSpPr>
            <a:spLocks noGrp="1"/>
          </p:cNvSpPr>
          <p:nvPr>
            <p:ph idx="1"/>
          </p:nvPr>
        </p:nvSpPr>
        <p:spPr/>
        <p:txBody>
          <a:bodyPr>
            <a:normAutofit/>
          </a:bodyPr>
          <a:lstStyle/>
          <a:p>
            <a:r>
              <a:rPr lang="en-GB" dirty="0"/>
              <a:t>When stride is greater than 1, deeper-layer positions correspond to larger jumps in the original input.</a:t>
            </a:r>
          </a:p>
          <a:p>
            <a:r>
              <a:rPr lang="en-GB" dirty="0"/>
              <a:t>Consider:</a:t>
            </a:r>
          </a:p>
          <a:p>
            <a:r>
              <a:rPr lang="en-GB" dirty="0">
                <a:highlight>
                  <a:srgbClr val="FFFF00"/>
                </a:highlight>
              </a:rPr>
              <a:t>Conv1: kernel 3, stride 2</a:t>
            </a:r>
          </a:p>
          <a:p>
            <a:r>
              <a:rPr lang="en-GB" dirty="0">
                <a:highlight>
                  <a:srgbClr val="FFFF00"/>
                </a:highlight>
              </a:rPr>
              <a:t>Conv2: kernel 3, stride 1</a:t>
            </a:r>
          </a:p>
          <a:p>
            <a:r>
              <a:rPr lang="en-GB" dirty="0"/>
              <a:t>The second-layer convolution processes activations that are already spaced farther apart in the original sequence.</a:t>
            </a:r>
          </a:p>
          <a:p>
            <a:r>
              <a:rPr lang="en-GB" b="1" dirty="0">
                <a:highlight>
                  <a:srgbClr val="FFFF00"/>
                </a:highlight>
              </a:rPr>
              <a:t>Consequence</a:t>
            </a:r>
          </a:p>
          <a:p>
            <a:r>
              <a:rPr lang="en-GB" dirty="0">
                <a:highlight>
                  <a:srgbClr val="FFFF00"/>
                </a:highlight>
              </a:rPr>
              <a:t>The receptive field grows faster than with stride 1 everywhere.</a:t>
            </a:r>
          </a:p>
          <a:p>
            <a:endParaRPr lang="en-GB" dirty="0"/>
          </a:p>
        </p:txBody>
      </p:sp>
    </p:spTree>
    <p:extLst>
      <p:ext uri="{BB962C8B-B14F-4D97-AF65-F5344CB8AC3E}">
        <p14:creationId xmlns:p14="http://schemas.microsoft.com/office/powerpoint/2010/main" val="2846782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BA226-FAA1-1C47-0305-27E16BBCAE0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887A3B7-5951-B934-AF8A-F9AAA4FDB19C}"/>
              </a:ext>
            </a:extLst>
          </p:cNvPr>
          <p:cNvSpPr>
            <a:spLocks noGrp="1"/>
          </p:cNvSpPr>
          <p:nvPr>
            <p:ph type="title"/>
          </p:nvPr>
        </p:nvSpPr>
        <p:spPr/>
        <p:txBody>
          <a:bodyPr/>
          <a:lstStyle/>
          <a:p>
            <a:r>
              <a:rPr lang="en-GB" dirty="0"/>
              <a:t>Stride changes receptive-field growth</a:t>
            </a:r>
          </a:p>
        </p:txBody>
      </p:sp>
      <p:sp>
        <p:nvSpPr>
          <p:cNvPr id="3" name="Segnaposto contenuto 2">
            <a:extLst>
              <a:ext uri="{FF2B5EF4-FFF2-40B4-BE49-F238E27FC236}">
                <a16:creationId xmlns:a16="http://schemas.microsoft.com/office/drawing/2014/main" id="{69C3E16D-7565-0221-F1BE-63726BD3570F}"/>
              </a:ext>
            </a:extLst>
          </p:cNvPr>
          <p:cNvSpPr>
            <a:spLocks noGrp="1"/>
          </p:cNvSpPr>
          <p:nvPr>
            <p:ph idx="1"/>
          </p:nvPr>
        </p:nvSpPr>
        <p:spPr/>
        <p:txBody>
          <a:bodyPr>
            <a:normAutofit/>
          </a:bodyPr>
          <a:lstStyle/>
          <a:p>
            <a:r>
              <a:rPr lang="en-GB" b="1" dirty="0"/>
              <a:t>Intuitive interpretation</a:t>
            </a:r>
          </a:p>
          <a:p>
            <a:r>
              <a:rPr lang="en-GB" dirty="0" err="1"/>
              <a:t>Downsampling</a:t>
            </a:r>
            <a:r>
              <a:rPr lang="en-GB" dirty="0"/>
              <a:t> causes later layers to operate on a coarser temporal grid.</a:t>
            </a:r>
          </a:p>
          <a:p>
            <a:r>
              <a:rPr lang="en-GB" dirty="0"/>
              <a:t>A small kernel in a deeper layer may therefore span a relatively large interval of the original signal.</a:t>
            </a:r>
          </a:p>
          <a:p>
            <a:endParaRPr lang="en-GB" b="1" dirty="0"/>
          </a:p>
          <a:p>
            <a:r>
              <a:rPr lang="en-GB" b="1" dirty="0">
                <a:highlight>
                  <a:srgbClr val="FFFF00"/>
                </a:highlight>
              </a:rPr>
              <a:t>Stride affects both:</a:t>
            </a:r>
          </a:p>
          <a:p>
            <a:pPr lvl="1"/>
            <a:r>
              <a:rPr lang="en-GB" dirty="0">
                <a:highlight>
                  <a:srgbClr val="FFFF00"/>
                </a:highlight>
              </a:rPr>
              <a:t>temporal resolution; </a:t>
            </a:r>
          </a:p>
          <a:p>
            <a:pPr lvl="1"/>
            <a:r>
              <a:rPr lang="en-GB" dirty="0">
                <a:highlight>
                  <a:srgbClr val="FFFF00"/>
                </a:highlight>
              </a:rPr>
              <a:t>receptive-field growth. </a:t>
            </a:r>
          </a:p>
          <a:p>
            <a:r>
              <a:rPr lang="en-GB" dirty="0">
                <a:highlight>
                  <a:srgbClr val="FFFF00"/>
                </a:highlight>
              </a:rPr>
              <a:t>This is one reason convolutional architectures can build long temporal context efficiently.</a:t>
            </a:r>
          </a:p>
          <a:p>
            <a:endParaRPr lang="en-GB" dirty="0"/>
          </a:p>
        </p:txBody>
      </p:sp>
    </p:spTree>
    <p:extLst>
      <p:ext uri="{BB962C8B-B14F-4D97-AF65-F5344CB8AC3E}">
        <p14:creationId xmlns:p14="http://schemas.microsoft.com/office/powerpoint/2010/main" val="205246622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5.E.5 — Long input window ≠ long usable context</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dirty="0">
                <a:solidFill>
                  <a:srgbClr val="475569"/>
                </a:solidFill>
                <a:latin typeface="Aptos" pitchFamily="34" charset="0"/>
                <a:ea typeface="Aptos" pitchFamily="34" charset="-122"/>
                <a:cs typeface="Aptos" pitchFamily="34" charset="-120"/>
              </a:rPr>
              <a:t>One local output can only use the part of the input inside its receptive field.</a:t>
            </a:r>
            <a:endParaRPr lang="en-US" sz="1350" dirty="0"/>
          </a:p>
        </p:txBody>
      </p:sp>
      <p:sp>
        <p:nvSpPr>
          <p:cNvPr id="6" name="Shape 4"/>
          <p:cNvSpPr/>
          <p:nvPr/>
        </p:nvSpPr>
        <p:spPr>
          <a:xfrm>
            <a:off x="868680" y="3063240"/>
            <a:ext cx="8183880" cy="0"/>
          </a:xfrm>
          <a:prstGeom prst="line">
            <a:avLst/>
          </a:prstGeom>
          <a:noFill/>
          <a:ln w="50800">
            <a:solidFill>
              <a:srgbClr val="CBD5E1"/>
            </a:solidFill>
            <a:prstDash val="solid"/>
          </a:ln>
        </p:spPr>
        <p:txBody>
          <a:bodyPr/>
          <a:lstStyle/>
          <a:p>
            <a:endParaRPr lang="en-GB"/>
          </a:p>
        </p:txBody>
      </p:sp>
      <p:sp>
        <p:nvSpPr>
          <p:cNvPr id="7" name="Text 5"/>
          <p:cNvSpPr/>
          <p:nvPr/>
        </p:nvSpPr>
        <p:spPr>
          <a:xfrm>
            <a:off x="2926080" y="2514600"/>
            <a:ext cx="4114800" cy="320040"/>
          </a:xfrm>
          <a:prstGeom prst="rect">
            <a:avLst/>
          </a:prstGeom>
          <a:noFill/>
          <a:ln/>
        </p:spPr>
        <p:txBody>
          <a:bodyPr wrap="square" lIns="0" tIns="0" rIns="0" bIns="0" rtlCol="0" anchor="ctr">
            <a:normAutofit/>
          </a:bodyPr>
          <a:lstStyle/>
          <a:p>
            <a:pPr marL="0" indent="0" algn="ctr">
              <a:buNone/>
            </a:pPr>
            <a:r>
              <a:rPr lang="en-US" sz="1700" b="1" dirty="0">
                <a:solidFill>
                  <a:srgbClr val="0F172A"/>
                </a:solidFill>
              </a:rPr>
              <a:t>input window: L = 1000 frames</a:t>
            </a:r>
            <a:endParaRPr lang="en-US" sz="1700" dirty="0"/>
          </a:p>
        </p:txBody>
      </p:sp>
      <p:sp>
        <p:nvSpPr>
          <p:cNvPr id="8" name="Shape 6"/>
          <p:cNvSpPr/>
          <p:nvPr/>
        </p:nvSpPr>
        <p:spPr>
          <a:xfrm>
            <a:off x="868680" y="2834640"/>
            <a:ext cx="8183880" cy="457200"/>
          </a:xfrm>
          <a:prstGeom prst="rect">
            <a:avLst/>
          </a:prstGeom>
          <a:solidFill>
            <a:srgbClr val="FFFFFF">
              <a:alpha val="0"/>
            </a:srgbClr>
          </a:solidFill>
          <a:ln w="12700">
            <a:solidFill>
              <a:srgbClr val="CBD5E1"/>
            </a:solidFill>
            <a:prstDash val="solid"/>
          </a:ln>
        </p:spPr>
        <p:txBody>
          <a:bodyPr/>
          <a:lstStyle/>
          <a:p>
            <a:endParaRPr lang="en-GB"/>
          </a:p>
        </p:txBody>
      </p:sp>
      <p:sp>
        <p:nvSpPr>
          <p:cNvPr id="9" name="Shape 7"/>
          <p:cNvSpPr/>
          <p:nvPr/>
        </p:nvSpPr>
        <p:spPr>
          <a:xfrm>
            <a:off x="4617720" y="2779776"/>
            <a:ext cx="1005840" cy="566928"/>
          </a:xfrm>
          <a:prstGeom prst="rect">
            <a:avLst/>
          </a:prstGeom>
          <a:solidFill>
            <a:srgbClr val="E7F5C7"/>
          </a:solidFill>
          <a:ln w="19050">
            <a:solidFill>
              <a:srgbClr val="84B91F"/>
            </a:solidFill>
            <a:prstDash val="solid"/>
          </a:ln>
        </p:spPr>
        <p:txBody>
          <a:bodyPr/>
          <a:lstStyle/>
          <a:p>
            <a:endParaRPr lang="en-GB"/>
          </a:p>
        </p:txBody>
      </p:sp>
      <p:sp>
        <p:nvSpPr>
          <p:cNvPr id="10" name="Shape 8"/>
          <p:cNvSpPr/>
          <p:nvPr/>
        </p:nvSpPr>
        <p:spPr>
          <a:xfrm>
            <a:off x="5120640" y="3474720"/>
            <a:ext cx="0" cy="777240"/>
          </a:xfrm>
          <a:prstGeom prst="line">
            <a:avLst/>
          </a:prstGeom>
          <a:noFill/>
          <a:ln w="25400">
            <a:solidFill>
              <a:srgbClr val="84B91F"/>
            </a:solidFill>
            <a:prstDash val="solid"/>
            <a:headEnd type="none"/>
            <a:tailEnd type="triangle"/>
          </a:ln>
        </p:spPr>
        <p:txBody>
          <a:bodyPr/>
          <a:lstStyle/>
          <a:p>
            <a:endParaRPr lang="en-GB"/>
          </a:p>
        </p:txBody>
      </p:sp>
      <p:sp>
        <p:nvSpPr>
          <p:cNvPr id="11" name="Shape 9"/>
          <p:cNvSpPr/>
          <p:nvPr/>
        </p:nvSpPr>
        <p:spPr>
          <a:xfrm>
            <a:off x="4389120" y="4389120"/>
            <a:ext cx="1463040" cy="502920"/>
          </a:xfrm>
          <a:prstGeom prst="roundRect">
            <a:avLst>
              <a:gd name="adj" fmla="val 10909"/>
            </a:avLst>
          </a:prstGeom>
          <a:solidFill>
            <a:srgbClr val="E7F5C7"/>
          </a:solidFill>
          <a:ln w="15240">
            <a:solidFill>
              <a:srgbClr val="84B91F"/>
            </a:solidFill>
            <a:prstDash val="solid"/>
          </a:ln>
        </p:spPr>
        <p:txBody>
          <a:bodyPr/>
          <a:lstStyle/>
          <a:p>
            <a:endParaRPr lang="en-GB"/>
          </a:p>
        </p:txBody>
      </p:sp>
      <p:sp>
        <p:nvSpPr>
          <p:cNvPr id="12" name="Text 10"/>
          <p:cNvSpPr/>
          <p:nvPr/>
        </p:nvSpPr>
        <p:spPr>
          <a:xfrm>
            <a:off x="4434840" y="4531766"/>
            <a:ext cx="1371600" cy="301752"/>
          </a:xfrm>
          <a:prstGeom prst="rect">
            <a:avLst/>
          </a:prstGeom>
          <a:noFill/>
          <a:ln/>
        </p:spPr>
        <p:txBody>
          <a:bodyPr wrap="square" lIns="0" tIns="0" rIns="0" bIns="0" rtlCol="0" anchor="ctr">
            <a:normAutofit/>
          </a:bodyPr>
          <a:lstStyle/>
          <a:p>
            <a:pPr marL="0" indent="0" algn="ctr">
              <a:buNone/>
            </a:pPr>
            <a:r>
              <a:rPr lang="en-US" sz="1300" b="1" dirty="0">
                <a:solidFill>
                  <a:srgbClr val="0F172A"/>
                </a:solidFill>
              </a:rPr>
              <a:t>local output</a:t>
            </a:r>
            <a:endParaRPr lang="en-US" sz="1300" dirty="0"/>
          </a:p>
        </p:txBody>
      </p:sp>
      <p:sp>
        <p:nvSpPr>
          <p:cNvPr id="13" name="Text 11"/>
          <p:cNvSpPr/>
          <p:nvPr/>
        </p:nvSpPr>
        <p:spPr>
          <a:xfrm>
            <a:off x="5120640" y="3575304"/>
            <a:ext cx="4046215" cy="457200"/>
          </a:xfrm>
          <a:prstGeom prst="rect">
            <a:avLst/>
          </a:prstGeom>
          <a:noFill/>
          <a:ln/>
        </p:spPr>
        <p:txBody>
          <a:bodyPr wrap="square" lIns="0" tIns="0" rIns="0" bIns="0" rtlCol="0" anchor="ctr">
            <a:normAutofit lnSpcReduction="10000"/>
          </a:bodyPr>
          <a:lstStyle/>
          <a:p>
            <a:pPr algn="ctr"/>
            <a:r>
              <a:rPr lang="en-GB" sz="1600" dirty="0"/>
              <a:t>RF = 121 frames: insufficient if relevant dependencies extend beyond 121 frames</a:t>
            </a:r>
            <a:endParaRPr lang="en-US" sz="1600" dirty="0"/>
          </a:p>
        </p:txBody>
      </p:sp>
      <p:sp>
        <p:nvSpPr>
          <p:cNvPr id="14" name="Shape 12"/>
          <p:cNvSpPr/>
          <p:nvPr/>
        </p:nvSpPr>
        <p:spPr>
          <a:xfrm>
            <a:off x="6217920" y="4187952"/>
            <a:ext cx="3337560" cy="1143000"/>
          </a:xfrm>
          <a:prstGeom prst="roundRect">
            <a:avLst>
              <a:gd name="adj" fmla="val 4800"/>
            </a:avLst>
          </a:prstGeom>
          <a:solidFill>
            <a:srgbClr val="F8FAFC"/>
          </a:solidFill>
          <a:ln w="15240">
            <a:solidFill>
              <a:srgbClr val="CBD5E1"/>
            </a:solidFill>
            <a:prstDash val="solid"/>
          </a:ln>
        </p:spPr>
        <p:txBody>
          <a:bodyPr/>
          <a:lstStyle/>
          <a:p>
            <a:endParaRPr lang="en-GB"/>
          </a:p>
        </p:txBody>
      </p:sp>
      <p:sp>
        <p:nvSpPr>
          <p:cNvPr id="15" name="Text 13"/>
          <p:cNvSpPr/>
          <p:nvPr/>
        </p:nvSpPr>
        <p:spPr>
          <a:xfrm>
            <a:off x="6217920" y="4206240"/>
            <a:ext cx="3246120" cy="1124712"/>
          </a:xfrm>
          <a:prstGeom prst="rect">
            <a:avLst/>
          </a:prstGeom>
          <a:noFill/>
          <a:ln/>
        </p:spPr>
        <p:txBody>
          <a:bodyPr wrap="square" lIns="0" tIns="0" rIns="0" bIns="0" rtlCol="0" anchor="ctr">
            <a:normAutofit fontScale="92500" lnSpcReduction="10000"/>
          </a:bodyPr>
          <a:lstStyle/>
          <a:p>
            <a:pPr algn="ctr"/>
            <a:r>
              <a:rPr lang="en-GB" sz="1600" dirty="0"/>
              <a:t>A long input window does not guarantee that each local representation can use long-range context: its accessible context is limited by the receptive field.</a:t>
            </a:r>
            <a:endParaRPr lang="en-US" sz="1500" dirty="0"/>
          </a:p>
        </p:txBody>
      </p:sp>
      <p:sp>
        <p:nvSpPr>
          <p:cNvPr id="16" name="Shape 14"/>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17" name="Text 15"/>
          <p:cNvSpPr/>
          <p:nvPr/>
        </p:nvSpPr>
        <p:spPr>
          <a:xfrm>
            <a:off x="749808" y="6345936"/>
            <a:ext cx="9509760" cy="219456"/>
          </a:xfrm>
          <a:prstGeom prst="rect">
            <a:avLst/>
          </a:prstGeom>
          <a:noFill/>
          <a:ln/>
        </p:spPr>
        <p:txBody>
          <a:bodyPr wrap="square" lIns="0" tIns="0" rIns="0" bIns="0" rtlCol="0" anchor="ctr"/>
          <a:lstStyle/>
          <a:p>
            <a:r>
              <a:rPr lang="en-GB" sz="1200" dirty="0"/>
              <a:t>Check that the receptive field is large enough for the dependencies the task is expected to require.</a:t>
            </a:r>
            <a:endParaRPr lang="en-US" sz="1200" b="1"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239D28A-5A9E-5FD1-8296-22CE32292318}"/>
              </a:ext>
            </a:extLst>
          </p:cNvPr>
          <p:cNvSpPr>
            <a:spLocks noGrp="1"/>
          </p:cNvSpPr>
          <p:nvPr>
            <p:ph type="title"/>
          </p:nvPr>
        </p:nvSpPr>
        <p:spPr/>
        <p:txBody>
          <a:bodyPr/>
          <a:lstStyle/>
          <a:p>
            <a:r>
              <a:rPr lang="en-GB" dirty="0"/>
              <a:t>Pooling also increases effective context</a:t>
            </a:r>
          </a:p>
        </p:txBody>
      </p:sp>
      <p:sp>
        <p:nvSpPr>
          <p:cNvPr id="3" name="Segnaposto contenuto 2">
            <a:extLst>
              <a:ext uri="{FF2B5EF4-FFF2-40B4-BE49-F238E27FC236}">
                <a16:creationId xmlns:a16="http://schemas.microsoft.com/office/drawing/2014/main" id="{D6C0D24F-4B53-F48E-C2E1-C5E73B81417F}"/>
              </a:ext>
            </a:extLst>
          </p:cNvPr>
          <p:cNvSpPr>
            <a:spLocks noGrp="1"/>
          </p:cNvSpPr>
          <p:nvPr>
            <p:ph sz="half" idx="1"/>
          </p:nvPr>
        </p:nvSpPr>
        <p:spPr>
          <a:xfrm>
            <a:off x="677334" y="2160588"/>
            <a:ext cx="4828116" cy="4087811"/>
          </a:xfrm>
        </p:spPr>
        <p:txBody>
          <a:bodyPr>
            <a:normAutofit fontScale="92500" lnSpcReduction="10000"/>
          </a:bodyPr>
          <a:lstStyle/>
          <a:p>
            <a:r>
              <a:rPr lang="en-GB" dirty="0"/>
              <a:t>Consider:</a:t>
            </a:r>
          </a:p>
          <a:p>
            <a:r>
              <a:rPr lang="en-GB" dirty="0"/>
              <a:t>Conv1D</a:t>
            </a:r>
          </a:p>
          <a:p>
            <a:r>
              <a:rPr lang="en-GB" dirty="0"/>
              <a:t>↓</a:t>
            </a:r>
          </a:p>
          <a:p>
            <a:r>
              <a:rPr lang="en-GB" dirty="0" err="1"/>
              <a:t>MaxPool</a:t>
            </a:r>
            <a:r>
              <a:rPr lang="en-GB" dirty="0"/>
              <a:t> by 2</a:t>
            </a:r>
          </a:p>
          <a:p>
            <a:r>
              <a:rPr lang="en-GB" dirty="0"/>
              <a:t>↓</a:t>
            </a:r>
          </a:p>
          <a:p>
            <a:r>
              <a:rPr lang="en-GB" dirty="0"/>
              <a:t>Conv1D</a:t>
            </a:r>
          </a:p>
          <a:p>
            <a:r>
              <a:rPr lang="en-GB" dirty="0"/>
              <a:t>The pooling layer reduces the temporal grid.</a:t>
            </a:r>
          </a:p>
          <a:p>
            <a:r>
              <a:rPr lang="en-GB" dirty="0"/>
              <a:t>After pooling, one activation summarizes a larger interval of the original input.</a:t>
            </a:r>
          </a:p>
          <a:p>
            <a:r>
              <a:rPr lang="en-GB" dirty="0"/>
              <a:t>Therefore a later convolution covers more original time steps.</a:t>
            </a:r>
          </a:p>
          <a:p>
            <a:endParaRPr lang="en-GB" dirty="0"/>
          </a:p>
        </p:txBody>
      </p:sp>
      <p:sp>
        <p:nvSpPr>
          <p:cNvPr id="4" name="Segnaposto contenuto 3">
            <a:extLst>
              <a:ext uri="{FF2B5EF4-FFF2-40B4-BE49-F238E27FC236}">
                <a16:creationId xmlns:a16="http://schemas.microsoft.com/office/drawing/2014/main" id="{80DB23ED-2639-ADBB-5F4F-967D9BF0D742}"/>
              </a:ext>
            </a:extLst>
          </p:cNvPr>
          <p:cNvSpPr>
            <a:spLocks noGrp="1"/>
          </p:cNvSpPr>
          <p:nvPr>
            <p:ph sz="half" idx="2"/>
          </p:nvPr>
        </p:nvSpPr>
        <p:spPr>
          <a:xfrm>
            <a:off x="5861495" y="2065339"/>
            <a:ext cx="5959030" cy="4354511"/>
          </a:xfrm>
        </p:spPr>
        <p:txBody>
          <a:bodyPr>
            <a:normAutofit fontScale="92500" lnSpcReduction="10000"/>
          </a:bodyPr>
          <a:lstStyle/>
          <a:p>
            <a:r>
              <a:rPr lang="en-GB" b="1" dirty="0"/>
              <a:t>Example intuition</a:t>
            </a:r>
          </a:p>
          <a:p>
            <a:r>
              <a:rPr lang="en-GB" dirty="0"/>
              <a:t>Before pooling:</a:t>
            </a:r>
          </a:p>
          <a:p>
            <a:pPr lvl="1"/>
            <a:r>
              <a:rPr lang="en-GB" dirty="0"/>
              <a:t>one position ≈ one original temporal step</a:t>
            </a:r>
          </a:p>
          <a:p>
            <a:r>
              <a:rPr lang="en-GB" dirty="0"/>
              <a:t>After pooling by 2:</a:t>
            </a:r>
          </a:p>
          <a:p>
            <a:pPr lvl="1"/>
            <a:r>
              <a:rPr lang="en-GB" dirty="0"/>
              <a:t>one position ≈ two original temporal steps</a:t>
            </a:r>
          </a:p>
          <a:p>
            <a:r>
              <a:rPr lang="en-GB" dirty="0"/>
              <a:t>A kernel of size 3 after pooling therefore spans approximately six original steps, plus the context introduced by previous convolution.</a:t>
            </a:r>
          </a:p>
          <a:p>
            <a:pPr marL="0" indent="0">
              <a:buNone/>
            </a:pPr>
            <a:endParaRPr lang="en-GB" b="1" dirty="0"/>
          </a:p>
          <a:p>
            <a:r>
              <a:rPr lang="en-GB" b="1" dirty="0">
                <a:highlight>
                  <a:srgbClr val="FFFF00"/>
                </a:highlight>
              </a:rPr>
              <a:t>Pooling and stride not only reduce computation but also alter the temporal scale of later feature extraction.</a:t>
            </a:r>
          </a:p>
          <a:p>
            <a:endParaRPr lang="en-GB" dirty="0"/>
          </a:p>
        </p:txBody>
      </p:sp>
    </p:spTree>
    <p:extLst>
      <p:ext uri="{BB962C8B-B14F-4D97-AF65-F5344CB8AC3E}">
        <p14:creationId xmlns:p14="http://schemas.microsoft.com/office/powerpoint/2010/main" val="183578638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6E81EB8-08FA-F978-A41D-7ACAC036B355}"/>
              </a:ext>
            </a:extLst>
          </p:cNvPr>
          <p:cNvSpPr>
            <a:spLocks noGrp="1"/>
          </p:cNvSpPr>
          <p:nvPr>
            <p:ph type="title"/>
          </p:nvPr>
        </p:nvSpPr>
        <p:spPr/>
        <p:txBody>
          <a:bodyPr/>
          <a:lstStyle/>
          <a:p>
            <a:r>
              <a:rPr lang="en-GB" dirty="0"/>
              <a:t>Several ways to increase receptive field</a:t>
            </a:r>
          </a:p>
        </p:txBody>
      </p:sp>
      <p:sp>
        <p:nvSpPr>
          <p:cNvPr id="3" name="Segnaposto contenuto 2">
            <a:extLst>
              <a:ext uri="{FF2B5EF4-FFF2-40B4-BE49-F238E27FC236}">
                <a16:creationId xmlns:a16="http://schemas.microsoft.com/office/drawing/2014/main" id="{F33F9864-D809-3A5D-BC90-E0B26B115C74}"/>
              </a:ext>
            </a:extLst>
          </p:cNvPr>
          <p:cNvSpPr>
            <a:spLocks noGrp="1"/>
          </p:cNvSpPr>
          <p:nvPr>
            <p:ph sz="half" idx="1"/>
          </p:nvPr>
        </p:nvSpPr>
        <p:spPr>
          <a:xfrm>
            <a:off x="677334" y="2160589"/>
            <a:ext cx="4961466" cy="4306886"/>
          </a:xfrm>
        </p:spPr>
        <p:txBody>
          <a:bodyPr>
            <a:normAutofit fontScale="85000" lnSpcReduction="20000"/>
          </a:bodyPr>
          <a:lstStyle/>
          <a:p>
            <a:r>
              <a:rPr lang="en-GB" b="1" dirty="0"/>
              <a:t>Larger kernels</a:t>
            </a:r>
          </a:p>
          <a:p>
            <a:r>
              <a:rPr lang="en-GB" dirty="0"/>
              <a:t>Example: K = 15</a:t>
            </a:r>
          </a:p>
          <a:p>
            <a:r>
              <a:rPr lang="en-GB" dirty="0"/>
              <a:t>Advantage:</a:t>
            </a:r>
          </a:p>
          <a:p>
            <a:pPr lvl="1"/>
            <a:r>
              <a:rPr lang="en-GB" dirty="0"/>
              <a:t>large context immediately. </a:t>
            </a:r>
          </a:p>
          <a:p>
            <a:r>
              <a:rPr lang="en-GB" dirty="0"/>
              <a:t>Cost:</a:t>
            </a:r>
          </a:p>
          <a:p>
            <a:pPr lvl="1"/>
            <a:r>
              <a:rPr lang="en-GB" dirty="0"/>
              <a:t>more parameters. </a:t>
            </a:r>
          </a:p>
          <a:p>
            <a:endParaRPr lang="en-GB" b="1" dirty="0"/>
          </a:p>
          <a:p>
            <a:r>
              <a:rPr lang="en-GB" b="1" dirty="0"/>
              <a:t>Greater depth</a:t>
            </a:r>
          </a:p>
          <a:p>
            <a:r>
              <a:rPr lang="en-GB" dirty="0"/>
              <a:t>Stack several small kernels.</a:t>
            </a:r>
          </a:p>
          <a:p>
            <a:r>
              <a:rPr lang="en-GB" dirty="0"/>
              <a:t>Example:</a:t>
            </a:r>
          </a:p>
          <a:p>
            <a:r>
              <a:rPr lang="en-GB" dirty="0"/>
              <a:t>K=3 → K=3 → K=3 → K=3</a:t>
            </a:r>
          </a:p>
          <a:p>
            <a:r>
              <a:rPr lang="en-GB" dirty="0"/>
              <a:t>Advantage:</a:t>
            </a:r>
          </a:p>
          <a:p>
            <a:pPr lvl="1"/>
            <a:r>
              <a:rPr lang="en-GB" dirty="0"/>
              <a:t>hierarchical nonlinear representation. </a:t>
            </a:r>
          </a:p>
          <a:p>
            <a:endParaRPr lang="en-GB" dirty="0"/>
          </a:p>
        </p:txBody>
      </p:sp>
      <p:sp>
        <p:nvSpPr>
          <p:cNvPr id="4" name="Segnaposto contenuto 3">
            <a:extLst>
              <a:ext uri="{FF2B5EF4-FFF2-40B4-BE49-F238E27FC236}">
                <a16:creationId xmlns:a16="http://schemas.microsoft.com/office/drawing/2014/main" id="{787A091A-0AE1-9DB2-7A75-2AE6B13BBA87}"/>
              </a:ext>
            </a:extLst>
          </p:cNvPr>
          <p:cNvSpPr>
            <a:spLocks noGrp="1"/>
          </p:cNvSpPr>
          <p:nvPr>
            <p:ph sz="half" idx="2"/>
          </p:nvPr>
        </p:nvSpPr>
        <p:spPr>
          <a:xfrm>
            <a:off x="5251894" y="2160589"/>
            <a:ext cx="6606731" cy="4459286"/>
          </a:xfrm>
        </p:spPr>
        <p:txBody>
          <a:bodyPr>
            <a:normAutofit fontScale="85000" lnSpcReduction="20000"/>
          </a:bodyPr>
          <a:lstStyle/>
          <a:p>
            <a:r>
              <a:rPr lang="en-GB" b="1" dirty="0" err="1"/>
              <a:t>Downsampling</a:t>
            </a:r>
            <a:endParaRPr lang="en-GB" b="1" dirty="0"/>
          </a:p>
          <a:p>
            <a:r>
              <a:rPr lang="en-GB" dirty="0"/>
              <a:t>Use:</a:t>
            </a:r>
          </a:p>
          <a:p>
            <a:pPr lvl="1"/>
            <a:r>
              <a:rPr lang="en-GB" dirty="0"/>
              <a:t>stride; </a:t>
            </a:r>
          </a:p>
          <a:p>
            <a:pPr lvl="1"/>
            <a:r>
              <a:rPr lang="en-GB" dirty="0"/>
              <a:t>pooling. </a:t>
            </a:r>
          </a:p>
          <a:p>
            <a:r>
              <a:rPr lang="en-GB" dirty="0"/>
              <a:t>Advantage:</a:t>
            </a:r>
          </a:p>
          <a:p>
            <a:pPr lvl="1"/>
            <a:r>
              <a:rPr lang="en-GB" dirty="0"/>
              <a:t>rapid growth of effective temporal scale. </a:t>
            </a:r>
          </a:p>
          <a:p>
            <a:r>
              <a:rPr lang="en-GB" dirty="0"/>
              <a:t>Cost:</a:t>
            </a:r>
          </a:p>
          <a:p>
            <a:pPr lvl="1"/>
            <a:r>
              <a:rPr lang="en-GB" dirty="0"/>
              <a:t>reduced temporal resolution. </a:t>
            </a:r>
          </a:p>
          <a:p>
            <a:endParaRPr lang="en-GB" b="1" dirty="0"/>
          </a:p>
          <a:p>
            <a:r>
              <a:rPr lang="en-GB" b="1" dirty="0">
                <a:highlight>
                  <a:srgbClr val="FFFF00"/>
                </a:highlight>
              </a:rPr>
              <a:t>Dilation</a:t>
            </a:r>
          </a:p>
          <a:p>
            <a:r>
              <a:rPr lang="en-GB" dirty="0"/>
              <a:t>Introduce gaps between kernel positions.</a:t>
            </a:r>
          </a:p>
          <a:p>
            <a:r>
              <a:rPr lang="en-GB" dirty="0"/>
              <a:t>Advantage:</a:t>
            </a:r>
          </a:p>
          <a:p>
            <a:pPr lvl="1"/>
            <a:r>
              <a:rPr lang="en-GB" dirty="0"/>
              <a:t>large receptive field without aggressive </a:t>
            </a:r>
            <a:r>
              <a:rPr lang="en-GB" dirty="0" err="1"/>
              <a:t>downsampling</a:t>
            </a:r>
            <a:r>
              <a:rPr lang="en-GB" dirty="0"/>
              <a:t>. </a:t>
            </a:r>
          </a:p>
          <a:p>
            <a:r>
              <a:rPr lang="en-GB" dirty="0"/>
              <a:t>This will be introduced in Block 5.G.</a:t>
            </a:r>
          </a:p>
          <a:p>
            <a:endParaRPr lang="en-GB" dirty="0"/>
          </a:p>
        </p:txBody>
      </p:sp>
    </p:spTree>
    <p:extLst>
      <p:ext uri="{BB962C8B-B14F-4D97-AF65-F5344CB8AC3E}">
        <p14:creationId xmlns:p14="http://schemas.microsoft.com/office/powerpoint/2010/main" val="314432091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5.E.6 — </a:t>
            </a:r>
            <a:r>
              <a:rPr lang="en-US" sz="2600" b="1" dirty="0">
                <a:solidFill>
                  <a:srgbClr val="0F172A"/>
                </a:solidFill>
                <a:highlight>
                  <a:srgbClr val="FFFF00"/>
                </a:highlight>
                <a:latin typeface="Aptos Display" pitchFamily="34" charset="0"/>
                <a:ea typeface="Aptos Display" pitchFamily="34" charset="-122"/>
                <a:cs typeface="Aptos Display" pitchFamily="34" charset="-120"/>
              </a:rPr>
              <a:t>Four ways to increase receptive field</a:t>
            </a:r>
            <a:endParaRPr lang="en-US" sz="2600" dirty="0">
              <a:highlight>
                <a:srgbClr val="FFFF00"/>
              </a:highlight>
            </a:endParaRPr>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dirty="0">
                <a:solidFill>
                  <a:srgbClr val="475569"/>
                </a:solidFill>
                <a:highlight>
                  <a:srgbClr val="FFFF00"/>
                </a:highlight>
                <a:latin typeface="Aptos" pitchFamily="34" charset="0"/>
                <a:ea typeface="Aptos" pitchFamily="34" charset="-122"/>
                <a:cs typeface="Aptos" pitchFamily="34" charset="-120"/>
              </a:rPr>
              <a:t>Each option </a:t>
            </a:r>
            <a:r>
              <a:rPr lang="en-US" sz="1350" b="1" dirty="0">
                <a:solidFill>
                  <a:srgbClr val="475569"/>
                </a:solidFill>
                <a:highlight>
                  <a:srgbClr val="FFFF00"/>
                </a:highlight>
                <a:latin typeface="Aptos" pitchFamily="34" charset="0"/>
                <a:ea typeface="Aptos" pitchFamily="34" charset="-122"/>
                <a:cs typeface="Aptos" pitchFamily="34" charset="-120"/>
              </a:rPr>
              <a:t>increases temporal context with different costs.</a:t>
            </a:r>
            <a:endParaRPr lang="en-US" sz="1350" b="1" dirty="0">
              <a:highlight>
                <a:srgbClr val="FFFF00"/>
              </a:highlight>
            </a:endParaRPr>
          </a:p>
        </p:txBody>
      </p:sp>
      <p:sp>
        <p:nvSpPr>
          <p:cNvPr id="6" name="Shape 4"/>
          <p:cNvSpPr/>
          <p:nvPr/>
        </p:nvSpPr>
        <p:spPr>
          <a:xfrm>
            <a:off x="777240" y="1371600"/>
            <a:ext cx="2148840" cy="457200"/>
          </a:xfrm>
          <a:prstGeom prst="roundRect">
            <a:avLst>
              <a:gd name="adj" fmla="val 12000"/>
            </a:avLst>
          </a:prstGeom>
          <a:solidFill>
            <a:srgbClr val="FFF7CC"/>
          </a:solidFill>
          <a:ln w="15240">
            <a:solidFill>
              <a:srgbClr val="F7C948"/>
            </a:solidFill>
            <a:prstDash val="solid"/>
          </a:ln>
        </p:spPr>
        <p:txBody>
          <a:bodyPr/>
          <a:lstStyle/>
          <a:p>
            <a:endParaRPr lang="en-GB"/>
          </a:p>
        </p:txBody>
      </p:sp>
      <p:sp>
        <p:nvSpPr>
          <p:cNvPr id="7" name="Text 5"/>
          <p:cNvSpPr/>
          <p:nvPr/>
        </p:nvSpPr>
        <p:spPr>
          <a:xfrm>
            <a:off x="822960" y="1499616"/>
            <a:ext cx="2057400" cy="274320"/>
          </a:xfrm>
          <a:prstGeom prst="rect">
            <a:avLst/>
          </a:prstGeom>
          <a:noFill/>
          <a:ln/>
        </p:spPr>
        <p:txBody>
          <a:bodyPr wrap="square" lIns="0" tIns="0" rIns="0" bIns="0" rtlCol="0" anchor="ctr">
            <a:normAutofit/>
          </a:bodyPr>
          <a:lstStyle/>
          <a:p>
            <a:pPr marL="0" indent="0" algn="ctr">
              <a:buNone/>
            </a:pPr>
            <a:r>
              <a:rPr lang="en-US" sz="1400" b="1" dirty="0">
                <a:solidFill>
                  <a:srgbClr val="0F172A"/>
                </a:solidFill>
              </a:rPr>
              <a:t>Larger kernels</a:t>
            </a:r>
            <a:endParaRPr lang="en-US" sz="1400" dirty="0"/>
          </a:p>
        </p:txBody>
      </p:sp>
      <p:sp>
        <p:nvSpPr>
          <p:cNvPr id="8" name="Shape 6"/>
          <p:cNvSpPr/>
          <p:nvPr/>
        </p:nvSpPr>
        <p:spPr>
          <a:xfrm>
            <a:off x="777240" y="2103120"/>
            <a:ext cx="2148840" cy="502920"/>
          </a:xfrm>
          <a:prstGeom prst="roundRect">
            <a:avLst>
              <a:gd name="adj" fmla="val 10909"/>
            </a:avLst>
          </a:prstGeom>
          <a:solidFill>
            <a:srgbClr val="FFFFFF"/>
          </a:solidFill>
          <a:ln w="15240">
            <a:solidFill>
              <a:srgbClr val="CBD5E1"/>
            </a:solidFill>
            <a:prstDash val="solid"/>
          </a:ln>
        </p:spPr>
        <p:txBody>
          <a:bodyPr/>
          <a:lstStyle/>
          <a:p>
            <a:endParaRPr lang="en-GB"/>
          </a:p>
        </p:txBody>
      </p:sp>
      <p:sp>
        <p:nvSpPr>
          <p:cNvPr id="9" name="Text 7"/>
          <p:cNvSpPr/>
          <p:nvPr/>
        </p:nvSpPr>
        <p:spPr>
          <a:xfrm>
            <a:off x="822960" y="2245766"/>
            <a:ext cx="2057400" cy="301752"/>
          </a:xfrm>
          <a:prstGeom prst="rect">
            <a:avLst/>
          </a:prstGeom>
          <a:noFill/>
          <a:ln/>
        </p:spPr>
        <p:txBody>
          <a:bodyPr wrap="square" lIns="0" tIns="0" rIns="0" bIns="0" rtlCol="0" anchor="ctr">
            <a:normAutofit/>
          </a:bodyPr>
          <a:lstStyle/>
          <a:p>
            <a:pPr marL="0" indent="0" algn="ctr">
              <a:buNone/>
            </a:pPr>
            <a:r>
              <a:rPr lang="en-US" sz="1200" b="1" dirty="0">
                <a:solidFill>
                  <a:srgbClr val="0F172A"/>
                </a:solidFill>
              </a:rPr>
              <a:t>K = 15</a:t>
            </a:r>
            <a:endParaRPr lang="en-US" sz="1200" dirty="0"/>
          </a:p>
        </p:txBody>
      </p:sp>
      <p:sp>
        <p:nvSpPr>
          <p:cNvPr id="10" name="Text 8"/>
          <p:cNvSpPr/>
          <p:nvPr/>
        </p:nvSpPr>
        <p:spPr>
          <a:xfrm>
            <a:off x="822960" y="2880360"/>
            <a:ext cx="2057400" cy="228600"/>
          </a:xfrm>
          <a:prstGeom prst="rect">
            <a:avLst/>
          </a:prstGeom>
          <a:noFill/>
          <a:ln/>
        </p:spPr>
        <p:txBody>
          <a:bodyPr wrap="square" lIns="0" tIns="0" rIns="0" bIns="0" rtlCol="0" anchor="ctr">
            <a:normAutofit/>
          </a:bodyPr>
          <a:lstStyle/>
          <a:p>
            <a:pPr marL="0" indent="0" algn="ctr">
              <a:buNone/>
            </a:pPr>
            <a:r>
              <a:rPr lang="en-US" sz="1050" dirty="0">
                <a:solidFill>
                  <a:srgbClr val="475569"/>
                </a:solidFill>
              </a:rPr>
              <a:t>large context immediately</a:t>
            </a:r>
            <a:endParaRPr lang="en-US" sz="1050" dirty="0"/>
          </a:p>
        </p:txBody>
      </p:sp>
      <p:sp>
        <p:nvSpPr>
          <p:cNvPr id="11" name="Text 9"/>
          <p:cNvSpPr/>
          <p:nvPr/>
        </p:nvSpPr>
        <p:spPr>
          <a:xfrm>
            <a:off x="822960" y="3200400"/>
            <a:ext cx="2057400" cy="228600"/>
          </a:xfrm>
          <a:prstGeom prst="rect">
            <a:avLst/>
          </a:prstGeom>
          <a:noFill/>
          <a:ln/>
        </p:spPr>
        <p:txBody>
          <a:bodyPr wrap="square" lIns="0" tIns="0" rIns="0" bIns="0" rtlCol="0" anchor="ctr">
            <a:normAutofit/>
          </a:bodyPr>
          <a:lstStyle/>
          <a:p>
            <a:pPr marL="0" indent="0" algn="ctr">
              <a:buNone/>
            </a:pPr>
            <a:r>
              <a:rPr lang="en-US" sz="1050" dirty="0"/>
              <a:t>more parameters</a:t>
            </a:r>
          </a:p>
        </p:txBody>
      </p:sp>
      <p:sp>
        <p:nvSpPr>
          <p:cNvPr id="12" name="Shape 10"/>
          <p:cNvSpPr/>
          <p:nvPr/>
        </p:nvSpPr>
        <p:spPr>
          <a:xfrm>
            <a:off x="3337560" y="1371600"/>
            <a:ext cx="2148840" cy="457200"/>
          </a:xfrm>
          <a:prstGeom prst="roundRect">
            <a:avLst>
              <a:gd name="adj" fmla="val 12000"/>
            </a:avLst>
          </a:prstGeom>
          <a:solidFill>
            <a:srgbClr val="E7F5C7"/>
          </a:solidFill>
          <a:ln w="15240">
            <a:solidFill>
              <a:srgbClr val="84B91F"/>
            </a:solidFill>
            <a:prstDash val="solid"/>
          </a:ln>
        </p:spPr>
        <p:txBody>
          <a:bodyPr/>
          <a:lstStyle/>
          <a:p>
            <a:endParaRPr lang="en-GB"/>
          </a:p>
        </p:txBody>
      </p:sp>
      <p:sp>
        <p:nvSpPr>
          <p:cNvPr id="13" name="Text 11"/>
          <p:cNvSpPr/>
          <p:nvPr/>
        </p:nvSpPr>
        <p:spPr>
          <a:xfrm>
            <a:off x="3383280" y="1499616"/>
            <a:ext cx="2057400" cy="274320"/>
          </a:xfrm>
          <a:prstGeom prst="rect">
            <a:avLst/>
          </a:prstGeom>
          <a:noFill/>
          <a:ln/>
        </p:spPr>
        <p:txBody>
          <a:bodyPr wrap="square" lIns="0" tIns="0" rIns="0" bIns="0" rtlCol="0" anchor="ctr">
            <a:normAutofit/>
          </a:bodyPr>
          <a:lstStyle/>
          <a:p>
            <a:pPr marL="0" indent="0" algn="ctr">
              <a:buNone/>
            </a:pPr>
            <a:r>
              <a:rPr lang="en-US" sz="1400" b="1" dirty="0">
                <a:solidFill>
                  <a:srgbClr val="0F172A"/>
                </a:solidFill>
              </a:rPr>
              <a:t>Greater depth</a:t>
            </a:r>
            <a:endParaRPr lang="en-US" sz="1400" dirty="0"/>
          </a:p>
        </p:txBody>
      </p:sp>
      <p:sp>
        <p:nvSpPr>
          <p:cNvPr id="14" name="Shape 12"/>
          <p:cNvSpPr/>
          <p:nvPr/>
        </p:nvSpPr>
        <p:spPr>
          <a:xfrm>
            <a:off x="3337560" y="2103120"/>
            <a:ext cx="2148840" cy="502920"/>
          </a:xfrm>
          <a:prstGeom prst="roundRect">
            <a:avLst>
              <a:gd name="adj" fmla="val 10909"/>
            </a:avLst>
          </a:prstGeom>
          <a:solidFill>
            <a:srgbClr val="FFFFFF"/>
          </a:solidFill>
          <a:ln w="15240">
            <a:solidFill>
              <a:srgbClr val="CBD5E1"/>
            </a:solidFill>
            <a:prstDash val="solid"/>
          </a:ln>
        </p:spPr>
        <p:txBody>
          <a:bodyPr/>
          <a:lstStyle/>
          <a:p>
            <a:endParaRPr lang="en-GB"/>
          </a:p>
        </p:txBody>
      </p:sp>
      <p:sp>
        <p:nvSpPr>
          <p:cNvPr id="15" name="Text 13"/>
          <p:cNvSpPr/>
          <p:nvPr/>
        </p:nvSpPr>
        <p:spPr>
          <a:xfrm>
            <a:off x="3383280" y="2245766"/>
            <a:ext cx="2057400" cy="301752"/>
          </a:xfrm>
          <a:prstGeom prst="rect">
            <a:avLst/>
          </a:prstGeom>
          <a:noFill/>
          <a:ln/>
        </p:spPr>
        <p:txBody>
          <a:bodyPr wrap="square" lIns="0" tIns="0" rIns="0" bIns="0" rtlCol="0" anchor="ctr">
            <a:normAutofit/>
          </a:bodyPr>
          <a:lstStyle/>
          <a:p>
            <a:pPr marL="0" indent="0" algn="ctr">
              <a:buNone/>
            </a:pPr>
            <a:r>
              <a:rPr lang="en-US" sz="1200" b="1" dirty="0">
                <a:solidFill>
                  <a:srgbClr val="0F172A"/>
                </a:solidFill>
              </a:rPr>
              <a:t>K=3 → K=3 → K=3</a:t>
            </a:r>
            <a:endParaRPr lang="en-US" sz="1200" dirty="0"/>
          </a:p>
        </p:txBody>
      </p:sp>
      <p:sp>
        <p:nvSpPr>
          <p:cNvPr id="16" name="Text 14"/>
          <p:cNvSpPr/>
          <p:nvPr/>
        </p:nvSpPr>
        <p:spPr>
          <a:xfrm>
            <a:off x="3383280" y="2880360"/>
            <a:ext cx="2057400" cy="228600"/>
          </a:xfrm>
          <a:prstGeom prst="rect">
            <a:avLst/>
          </a:prstGeom>
          <a:noFill/>
          <a:ln/>
        </p:spPr>
        <p:txBody>
          <a:bodyPr wrap="square" lIns="0" tIns="0" rIns="0" bIns="0" rtlCol="0" anchor="ctr">
            <a:normAutofit/>
          </a:bodyPr>
          <a:lstStyle/>
          <a:p>
            <a:pPr marL="0" indent="0" algn="ctr">
              <a:buNone/>
            </a:pPr>
            <a:r>
              <a:rPr lang="en-US" sz="1050" dirty="0">
                <a:solidFill>
                  <a:srgbClr val="475569"/>
                </a:solidFill>
              </a:rPr>
              <a:t>hierarchical features</a:t>
            </a:r>
            <a:endParaRPr lang="en-US" sz="1050" dirty="0"/>
          </a:p>
        </p:txBody>
      </p:sp>
      <p:sp>
        <p:nvSpPr>
          <p:cNvPr id="17" name="Text 15"/>
          <p:cNvSpPr/>
          <p:nvPr/>
        </p:nvSpPr>
        <p:spPr>
          <a:xfrm>
            <a:off x="3383280" y="3200400"/>
            <a:ext cx="2057400" cy="228600"/>
          </a:xfrm>
          <a:prstGeom prst="rect">
            <a:avLst/>
          </a:prstGeom>
          <a:noFill/>
          <a:ln/>
        </p:spPr>
        <p:txBody>
          <a:bodyPr wrap="square" lIns="0" tIns="0" rIns="0" bIns="0" rtlCol="0" anchor="ctr">
            <a:normAutofit/>
          </a:bodyPr>
          <a:lstStyle/>
          <a:p>
            <a:pPr marL="0" indent="0" algn="ctr">
              <a:buNone/>
            </a:pPr>
            <a:r>
              <a:rPr lang="en-US" sz="1050" dirty="0"/>
              <a:t>more layers</a:t>
            </a:r>
          </a:p>
        </p:txBody>
      </p:sp>
      <p:sp>
        <p:nvSpPr>
          <p:cNvPr id="18" name="Shape 16"/>
          <p:cNvSpPr/>
          <p:nvPr/>
        </p:nvSpPr>
        <p:spPr>
          <a:xfrm>
            <a:off x="5897880" y="1371600"/>
            <a:ext cx="2148840" cy="457200"/>
          </a:xfrm>
          <a:prstGeom prst="roundRect">
            <a:avLst>
              <a:gd name="adj" fmla="val 12000"/>
            </a:avLst>
          </a:prstGeom>
          <a:solidFill>
            <a:srgbClr val="FFF7CC"/>
          </a:solidFill>
          <a:ln w="15240">
            <a:solidFill>
              <a:srgbClr val="F7C948"/>
            </a:solidFill>
            <a:prstDash val="solid"/>
          </a:ln>
        </p:spPr>
        <p:txBody>
          <a:bodyPr/>
          <a:lstStyle/>
          <a:p>
            <a:endParaRPr lang="en-GB"/>
          </a:p>
        </p:txBody>
      </p:sp>
      <p:sp>
        <p:nvSpPr>
          <p:cNvPr id="19" name="Text 17"/>
          <p:cNvSpPr/>
          <p:nvPr/>
        </p:nvSpPr>
        <p:spPr>
          <a:xfrm>
            <a:off x="5943600" y="1499616"/>
            <a:ext cx="2057400" cy="274320"/>
          </a:xfrm>
          <a:prstGeom prst="rect">
            <a:avLst/>
          </a:prstGeom>
          <a:noFill/>
          <a:ln/>
        </p:spPr>
        <p:txBody>
          <a:bodyPr wrap="square" lIns="0" tIns="0" rIns="0" bIns="0" rtlCol="0" anchor="ctr">
            <a:normAutofit/>
          </a:bodyPr>
          <a:lstStyle/>
          <a:p>
            <a:pPr marL="0" indent="0" algn="ctr">
              <a:buNone/>
            </a:pPr>
            <a:r>
              <a:rPr lang="en-US" sz="1400" b="1" dirty="0">
                <a:solidFill>
                  <a:srgbClr val="0F172A"/>
                </a:solidFill>
              </a:rPr>
              <a:t>Downsampling</a:t>
            </a:r>
            <a:endParaRPr lang="en-US" sz="1400" dirty="0"/>
          </a:p>
        </p:txBody>
      </p:sp>
      <p:sp>
        <p:nvSpPr>
          <p:cNvPr id="20" name="Shape 18"/>
          <p:cNvSpPr/>
          <p:nvPr/>
        </p:nvSpPr>
        <p:spPr>
          <a:xfrm>
            <a:off x="5897880" y="2103120"/>
            <a:ext cx="2148840" cy="502920"/>
          </a:xfrm>
          <a:prstGeom prst="roundRect">
            <a:avLst>
              <a:gd name="adj" fmla="val 10909"/>
            </a:avLst>
          </a:prstGeom>
          <a:solidFill>
            <a:srgbClr val="FFFFFF"/>
          </a:solidFill>
          <a:ln w="15240">
            <a:solidFill>
              <a:srgbClr val="CBD5E1"/>
            </a:solidFill>
            <a:prstDash val="solid"/>
          </a:ln>
        </p:spPr>
        <p:txBody>
          <a:bodyPr/>
          <a:lstStyle/>
          <a:p>
            <a:endParaRPr lang="en-GB"/>
          </a:p>
        </p:txBody>
      </p:sp>
      <p:sp>
        <p:nvSpPr>
          <p:cNvPr id="21" name="Text 19"/>
          <p:cNvSpPr/>
          <p:nvPr/>
        </p:nvSpPr>
        <p:spPr>
          <a:xfrm>
            <a:off x="5943600" y="2245766"/>
            <a:ext cx="2057400" cy="301752"/>
          </a:xfrm>
          <a:prstGeom prst="rect">
            <a:avLst/>
          </a:prstGeom>
          <a:noFill/>
          <a:ln/>
        </p:spPr>
        <p:txBody>
          <a:bodyPr wrap="square" lIns="0" tIns="0" rIns="0" bIns="0" rtlCol="0" anchor="ctr">
            <a:normAutofit/>
          </a:bodyPr>
          <a:lstStyle/>
          <a:p>
            <a:pPr marL="0" indent="0" algn="ctr">
              <a:buNone/>
            </a:pPr>
            <a:r>
              <a:rPr lang="en-US" sz="1200" b="1" dirty="0">
                <a:solidFill>
                  <a:srgbClr val="0F172A"/>
                </a:solidFill>
              </a:rPr>
              <a:t>stride / pooling</a:t>
            </a:r>
            <a:endParaRPr lang="en-US" sz="1200" dirty="0"/>
          </a:p>
        </p:txBody>
      </p:sp>
      <p:sp>
        <p:nvSpPr>
          <p:cNvPr id="22" name="Text 20"/>
          <p:cNvSpPr/>
          <p:nvPr/>
        </p:nvSpPr>
        <p:spPr>
          <a:xfrm>
            <a:off x="5943600" y="2880360"/>
            <a:ext cx="2057400" cy="228600"/>
          </a:xfrm>
          <a:prstGeom prst="rect">
            <a:avLst/>
          </a:prstGeom>
          <a:noFill/>
          <a:ln/>
        </p:spPr>
        <p:txBody>
          <a:bodyPr wrap="square" lIns="0" tIns="0" rIns="0" bIns="0" rtlCol="0" anchor="ctr">
            <a:normAutofit/>
          </a:bodyPr>
          <a:lstStyle/>
          <a:p>
            <a:pPr marL="0" indent="0" algn="ctr">
              <a:buNone/>
            </a:pPr>
            <a:r>
              <a:rPr lang="en-US" sz="1050" dirty="0">
                <a:solidFill>
                  <a:srgbClr val="475569"/>
                </a:solidFill>
              </a:rPr>
              <a:t>fast context growth</a:t>
            </a:r>
            <a:endParaRPr lang="en-US" sz="1050" dirty="0"/>
          </a:p>
        </p:txBody>
      </p:sp>
      <p:sp>
        <p:nvSpPr>
          <p:cNvPr id="23" name="Text 21"/>
          <p:cNvSpPr/>
          <p:nvPr/>
        </p:nvSpPr>
        <p:spPr>
          <a:xfrm>
            <a:off x="5943600" y="3200400"/>
            <a:ext cx="2057400" cy="228600"/>
          </a:xfrm>
          <a:prstGeom prst="rect">
            <a:avLst/>
          </a:prstGeom>
          <a:noFill/>
          <a:ln/>
        </p:spPr>
        <p:txBody>
          <a:bodyPr wrap="square" lIns="0" tIns="0" rIns="0" bIns="0" rtlCol="0" anchor="ctr">
            <a:normAutofit/>
          </a:bodyPr>
          <a:lstStyle/>
          <a:p>
            <a:pPr marL="0" indent="0" algn="ctr">
              <a:buNone/>
            </a:pPr>
            <a:r>
              <a:rPr lang="en-US" sz="1050" dirty="0"/>
              <a:t>lower resolution</a:t>
            </a:r>
          </a:p>
        </p:txBody>
      </p:sp>
      <p:sp>
        <p:nvSpPr>
          <p:cNvPr id="24" name="Shape 22"/>
          <p:cNvSpPr/>
          <p:nvPr/>
        </p:nvSpPr>
        <p:spPr>
          <a:xfrm>
            <a:off x="8458200" y="1371600"/>
            <a:ext cx="2148840" cy="457200"/>
          </a:xfrm>
          <a:prstGeom prst="roundRect">
            <a:avLst>
              <a:gd name="adj" fmla="val 12000"/>
            </a:avLst>
          </a:prstGeom>
          <a:solidFill>
            <a:srgbClr val="E7F5C7"/>
          </a:solidFill>
          <a:ln w="15240">
            <a:solidFill>
              <a:srgbClr val="84B91F"/>
            </a:solidFill>
            <a:prstDash val="solid"/>
          </a:ln>
        </p:spPr>
        <p:txBody>
          <a:bodyPr/>
          <a:lstStyle/>
          <a:p>
            <a:endParaRPr lang="en-GB"/>
          </a:p>
        </p:txBody>
      </p:sp>
      <p:sp>
        <p:nvSpPr>
          <p:cNvPr id="25" name="Text 23"/>
          <p:cNvSpPr/>
          <p:nvPr/>
        </p:nvSpPr>
        <p:spPr>
          <a:xfrm>
            <a:off x="8503920" y="1499616"/>
            <a:ext cx="2057400" cy="274320"/>
          </a:xfrm>
          <a:prstGeom prst="rect">
            <a:avLst/>
          </a:prstGeom>
          <a:noFill/>
          <a:ln/>
        </p:spPr>
        <p:txBody>
          <a:bodyPr wrap="square" lIns="0" tIns="0" rIns="0" bIns="0" rtlCol="0" anchor="ctr">
            <a:normAutofit/>
          </a:bodyPr>
          <a:lstStyle/>
          <a:p>
            <a:pPr marL="0" indent="0" algn="ctr">
              <a:buNone/>
            </a:pPr>
            <a:r>
              <a:rPr lang="en-US" sz="1400" b="1" dirty="0">
                <a:solidFill>
                  <a:srgbClr val="0F172A"/>
                </a:solidFill>
              </a:rPr>
              <a:t>Dilation</a:t>
            </a:r>
            <a:endParaRPr lang="en-US" sz="1400" dirty="0"/>
          </a:p>
        </p:txBody>
      </p:sp>
      <p:sp>
        <p:nvSpPr>
          <p:cNvPr id="26" name="Shape 24"/>
          <p:cNvSpPr/>
          <p:nvPr/>
        </p:nvSpPr>
        <p:spPr>
          <a:xfrm>
            <a:off x="8458200" y="2103120"/>
            <a:ext cx="2148840" cy="502920"/>
          </a:xfrm>
          <a:prstGeom prst="roundRect">
            <a:avLst>
              <a:gd name="adj" fmla="val 10909"/>
            </a:avLst>
          </a:prstGeom>
          <a:solidFill>
            <a:srgbClr val="FFFFFF"/>
          </a:solidFill>
          <a:ln w="15240">
            <a:solidFill>
              <a:srgbClr val="CBD5E1"/>
            </a:solidFill>
            <a:prstDash val="solid"/>
          </a:ln>
        </p:spPr>
        <p:txBody>
          <a:bodyPr/>
          <a:lstStyle/>
          <a:p>
            <a:endParaRPr lang="en-GB"/>
          </a:p>
        </p:txBody>
      </p:sp>
      <p:sp>
        <p:nvSpPr>
          <p:cNvPr id="27" name="Text 25"/>
          <p:cNvSpPr/>
          <p:nvPr/>
        </p:nvSpPr>
        <p:spPr>
          <a:xfrm>
            <a:off x="8503920" y="2245766"/>
            <a:ext cx="2057400" cy="301752"/>
          </a:xfrm>
          <a:prstGeom prst="rect">
            <a:avLst/>
          </a:prstGeom>
          <a:noFill/>
          <a:ln/>
        </p:spPr>
        <p:txBody>
          <a:bodyPr wrap="square" lIns="0" tIns="0" rIns="0" bIns="0" rtlCol="0" anchor="ctr">
            <a:normAutofit/>
          </a:bodyPr>
          <a:lstStyle/>
          <a:p>
            <a:pPr marL="0" indent="0" algn="ctr">
              <a:buNone/>
            </a:pPr>
            <a:r>
              <a:rPr lang="en-US" sz="1200" b="1" dirty="0">
                <a:solidFill>
                  <a:srgbClr val="0F172A"/>
                </a:solidFill>
              </a:rPr>
              <a:t>skip input positions</a:t>
            </a:r>
            <a:endParaRPr lang="en-US" sz="1200" dirty="0"/>
          </a:p>
        </p:txBody>
      </p:sp>
      <p:sp>
        <p:nvSpPr>
          <p:cNvPr id="28" name="Text 26"/>
          <p:cNvSpPr/>
          <p:nvPr/>
        </p:nvSpPr>
        <p:spPr>
          <a:xfrm>
            <a:off x="8503920" y="2880360"/>
            <a:ext cx="2057400" cy="228600"/>
          </a:xfrm>
          <a:prstGeom prst="rect">
            <a:avLst/>
          </a:prstGeom>
          <a:noFill/>
          <a:ln/>
        </p:spPr>
        <p:txBody>
          <a:bodyPr wrap="square" lIns="0" tIns="0" rIns="0" bIns="0" rtlCol="0" anchor="ctr">
            <a:normAutofit/>
          </a:bodyPr>
          <a:lstStyle/>
          <a:p>
            <a:pPr marL="0" indent="0" algn="ctr">
              <a:buNone/>
            </a:pPr>
            <a:r>
              <a:rPr lang="en-US" sz="1050" dirty="0">
                <a:solidFill>
                  <a:srgbClr val="475569"/>
                </a:solidFill>
              </a:rPr>
              <a:t>large RF, small kernels</a:t>
            </a:r>
            <a:endParaRPr lang="en-US" sz="1050" dirty="0"/>
          </a:p>
        </p:txBody>
      </p:sp>
      <p:sp>
        <p:nvSpPr>
          <p:cNvPr id="29" name="Text 27"/>
          <p:cNvSpPr/>
          <p:nvPr/>
        </p:nvSpPr>
        <p:spPr>
          <a:xfrm>
            <a:off x="8503920" y="3200400"/>
            <a:ext cx="2057400" cy="228600"/>
          </a:xfrm>
          <a:prstGeom prst="rect">
            <a:avLst/>
          </a:prstGeom>
          <a:noFill/>
          <a:ln/>
        </p:spPr>
        <p:txBody>
          <a:bodyPr wrap="square" lIns="0" tIns="0" rIns="0" bIns="0" rtlCol="0" anchor="ctr">
            <a:normAutofit/>
          </a:bodyPr>
          <a:lstStyle/>
          <a:p>
            <a:pPr marL="0" indent="0" algn="ctr">
              <a:buNone/>
            </a:pPr>
            <a:r>
              <a:rPr lang="en-US" sz="1050" dirty="0"/>
              <a:t>sparser sampling</a:t>
            </a:r>
          </a:p>
        </p:txBody>
      </p:sp>
      <p:sp>
        <p:nvSpPr>
          <p:cNvPr id="30" name="Shape 28"/>
          <p:cNvSpPr/>
          <p:nvPr/>
        </p:nvSpPr>
        <p:spPr>
          <a:xfrm>
            <a:off x="1005840"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31" name="Text 29"/>
          <p:cNvSpPr/>
          <p:nvPr/>
        </p:nvSpPr>
        <p:spPr>
          <a:xfrm>
            <a:off x="1005840"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32" name="Shape 30"/>
          <p:cNvSpPr/>
          <p:nvPr/>
        </p:nvSpPr>
        <p:spPr>
          <a:xfrm>
            <a:off x="1298448"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33" name="Text 31"/>
          <p:cNvSpPr/>
          <p:nvPr/>
        </p:nvSpPr>
        <p:spPr>
          <a:xfrm>
            <a:off x="1298448"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34" name="Shape 32"/>
          <p:cNvSpPr/>
          <p:nvPr/>
        </p:nvSpPr>
        <p:spPr>
          <a:xfrm>
            <a:off x="1591056"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35" name="Text 33"/>
          <p:cNvSpPr/>
          <p:nvPr/>
        </p:nvSpPr>
        <p:spPr>
          <a:xfrm>
            <a:off x="1591056"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36" name="Shape 34"/>
          <p:cNvSpPr/>
          <p:nvPr/>
        </p:nvSpPr>
        <p:spPr>
          <a:xfrm>
            <a:off x="1883664"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37" name="Text 35"/>
          <p:cNvSpPr/>
          <p:nvPr/>
        </p:nvSpPr>
        <p:spPr>
          <a:xfrm>
            <a:off x="1883664"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38" name="Shape 36"/>
          <p:cNvSpPr/>
          <p:nvPr/>
        </p:nvSpPr>
        <p:spPr>
          <a:xfrm>
            <a:off x="2176272"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39" name="Text 37"/>
          <p:cNvSpPr/>
          <p:nvPr/>
        </p:nvSpPr>
        <p:spPr>
          <a:xfrm>
            <a:off x="2176272"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40" name="Shape 38"/>
          <p:cNvSpPr/>
          <p:nvPr/>
        </p:nvSpPr>
        <p:spPr>
          <a:xfrm>
            <a:off x="3566160" y="4343400"/>
            <a:ext cx="228600" cy="457200"/>
          </a:xfrm>
          <a:prstGeom prst="roundRect">
            <a:avLst>
              <a:gd name="adj" fmla="val 16000"/>
            </a:avLst>
          </a:prstGeom>
          <a:solidFill>
            <a:srgbClr val="FFFFFF"/>
          </a:solidFill>
          <a:ln w="13970">
            <a:solidFill>
              <a:srgbClr val="CBD5E1"/>
            </a:solidFill>
            <a:prstDash val="solid"/>
          </a:ln>
        </p:spPr>
        <p:txBody>
          <a:bodyPr/>
          <a:lstStyle/>
          <a:p>
            <a:endParaRPr lang="en-GB"/>
          </a:p>
        </p:txBody>
      </p:sp>
      <p:sp>
        <p:nvSpPr>
          <p:cNvPr id="41" name="Text 39"/>
          <p:cNvSpPr/>
          <p:nvPr/>
        </p:nvSpPr>
        <p:spPr>
          <a:xfrm>
            <a:off x="3566160"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42" name="Shape 40"/>
          <p:cNvSpPr/>
          <p:nvPr/>
        </p:nvSpPr>
        <p:spPr>
          <a:xfrm>
            <a:off x="3858768"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43" name="Text 41"/>
          <p:cNvSpPr/>
          <p:nvPr/>
        </p:nvSpPr>
        <p:spPr>
          <a:xfrm>
            <a:off x="3858768"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44" name="Shape 42"/>
          <p:cNvSpPr/>
          <p:nvPr/>
        </p:nvSpPr>
        <p:spPr>
          <a:xfrm>
            <a:off x="4151376"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45" name="Text 43"/>
          <p:cNvSpPr/>
          <p:nvPr/>
        </p:nvSpPr>
        <p:spPr>
          <a:xfrm>
            <a:off x="4151376"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46" name="Shape 44"/>
          <p:cNvSpPr/>
          <p:nvPr/>
        </p:nvSpPr>
        <p:spPr>
          <a:xfrm>
            <a:off x="4443984"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47" name="Text 45"/>
          <p:cNvSpPr/>
          <p:nvPr/>
        </p:nvSpPr>
        <p:spPr>
          <a:xfrm>
            <a:off x="4443984"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48" name="Shape 46"/>
          <p:cNvSpPr/>
          <p:nvPr/>
        </p:nvSpPr>
        <p:spPr>
          <a:xfrm>
            <a:off x="4736592" y="4343400"/>
            <a:ext cx="228600" cy="457200"/>
          </a:xfrm>
          <a:prstGeom prst="roundRect">
            <a:avLst>
              <a:gd name="adj" fmla="val 16000"/>
            </a:avLst>
          </a:prstGeom>
          <a:solidFill>
            <a:srgbClr val="FFFFFF"/>
          </a:solidFill>
          <a:ln w="13970">
            <a:solidFill>
              <a:srgbClr val="CBD5E1"/>
            </a:solidFill>
            <a:prstDash val="solid"/>
          </a:ln>
        </p:spPr>
        <p:txBody>
          <a:bodyPr/>
          <a:lstStyle/>
          <a:p>
            <a:endParaRPr lang="en-GB"/>
          </a:p>
        </p:txBody>
      </p:sp>
      <p:sp>
        <p:nvSpPr>
          <p:cNvPr id="49" name="Text 47"/>
          <p:cNvSpPr/>
          <p:nvPr/>
        </p:nvSpPr>
        <p:spPr>
          <a:xfrm>
            <a:off x="4736592"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50" name="Shape 48"/>
          <p:cNvSpPr/>
          <p:nvPr/>
        </p:nvSpPr>
        <p:spPr>
          <a:xfrm>
            <a:off x="6126480"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51" name="Text 49"/>
          <p:cNvSpPr/>
          <p:nvPr/>
        </p:nvSpPr>
        <p:spPr>
          <a:xfrm>
            <a:off x="6126480"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52" name="Shape 50"/>
          <p:cNvSpPr/>
          <p:nvPr/>
        </p:nvSpPr>
        <p:spPr>
          <a:xfrm>
            <a:off x="6419088" y="4343400"/>
            <a:ext cx="228600" cy="457200"/>
          </a:xfrm>
          <a:prstGeom prst="roundRect">
            <a:avLst>
              <a:gd name="adj" fmla="val 16000"/>
            </a:avLst>
          </a:prstGeom>
          <a:solidFill>
            <a:srgbClr val="FFFFFF"/>
          </a:solidFill>
          <a:ln w="13970">
            <a:solidFill>
              <a:srgbClr val="CBD5E1"/>
            </a:solidFill>
            <a:prstDash val="solid"/>
          </a:ln>
        </p:spPr>
        <p:txBody>
          <a:bodyPr/>
          <a:lstStyle/>
          <a:p>
            <a:endParaRPr lang="en-GB"/>
          </a:p>
        </p:txBody>
      </p:sp>
      <p:sp>
        <p:nvSpPr>
          <p:cNvPr id="53" name="Text 51"/>
          <p:cNvSpPr/>
          <p:nvPr/>
        </p:nvSpPr>
        <p:spPr>
          <a:xfrm>
            <a:off x="6419088"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54" name="Shape 52"/>
          <p:cNvSpPr/>
          <p:nvPr/>
        </p:nvSpPr>
        <p:spPr>
          <a:xfrm>
            <a:off x="6711696"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55" name="Text 53"/>
          <p:cNvSpPr/>
          <p:nvPr/>
        </p:nvSpPr>
        <p:spPr>
          <a:xfrm>
            <a:off x="6711696"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56" name="Shape 54"/>
          <p:cNvSpPr/>
          <p:nvPr/>
        </p:nvSpPr>
        <p:spPr>
          <a:xfrm>
            <a:off x="7004304" y="4343400"/>
            <a:ext cx="228600" cy="457200"/>
          </a:xfrm>
          <a:prstGeom prst="roundRect">
            <a:avLst>
              <a:gd name="adj" fmla="val 16000"/>
            </a:avLst>
          </a:prstGeom>
          <a:solidFill>
            <a:srgbClr val="FFFFFF"/>
          </a:solidFill>
          <a:ln w="13970">
            <a:solidFill>
              <a:srgbClr val="CBD5E1"/>
            </a:solidFill>
            <a:prstDash val="solid"/>
          </a:ln>
        </p:spPr>
        <p:txBody>
          <a:bodyPr/>
          <a:lstStyle/>
          <a:p>
            <a:endParaRPr lang="en-GB"/>
          </a:p>
        </p:txBody>
      </p:sp>
      <p:sp>
        <p:nvSpPr>
          <p:cNvPr id="57" name="Text 55"/>
          <p:cNvSpPr/>
          <p:nvPr/>
        </p:nvSpPr>
        <p:spPr>
          <a:xfrm>
            <a:off x="7004304"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58" name="Shape 56"/>
          <p:cNvSpPr/>
          <p:nvPr/>
        </p:nvSpPr>
        <p:spPr>
          <a:xfrm>
            <a:off x="7296912"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59" name="Text 57"/>
          <p:cNvSpPr/>
          <p:nvPr/>
        </p:nvSpPr>
        <p:spPr>
          <a:xfrm>
            <a:off x="7296912"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60" name="Shape 58"/>
          <p:cNvSpPr/>
          <p:nvPr/>
        </p:nvSpPr>
        <p:spPr>
          <a:xfrm>
            <a:off x="8686800"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61" name="Text 59"/>
          <p:cNvSpPr/>
          <p:nvPr/>
        </p:nvSpPr>
        <p:spPr>
          <a:xfrm>
            <a:off x="8686800"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62" name="Shape 60"/>
          <p:cNvSpPr/>
          <p:nvPr/>
        </p:nvSpPr>
        <p:spPr>
          <a:xfrm>
            <a:off x="8979408" y="4343400"/>
            <a:ext cx="228600" cy="457200"/>
          </a:xfrm>
          <a:prstGeom prst="roundRect">
            <a:avLst>
              <a:gd name="adj" fmla="val 16000"/>
            </a:avLst>
          </a:prstGeom>
          <a:solidFill>
            <a:srgbClr val="FFFFFF"/>
          </a:solidFill>
          <a:ln w="13970">
            <a:solidFill>
              <a:srgbClr val="CBD5E1"/>
            </a:solidFill>
            <a:prstDash val="solid"/>
          </a:ln>
        </p:spPr>
        <p:txBody>
          <a:bodyPr/>
          <a:lstStyle/>
          <a:p>
            <a:endParaRPr lang="en-GB"/>
          </a:p>
        </p:txBody>
      </p:sp>
      <p:sp>
        <p:nvSpPr>
          <p:cNvPr id="63" name="Text 61"/>
          <p:cNvSpPr/>
          <p:nvPr/>
        </p:nvSpPr>
        <p:spPr>
          <a:xfrm>
            <a:off x="8979408"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64" name="Shape 62"/>
          <p:cNvSpPr/>
          <p:nvPr/>
        </p:nvSpPr>
        <p:spPr>
          <a:xfrm>
            <a:off x="9272016"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65" name="Text 63"/>
          <p:cNvSpPr/>
          <p:nvPr/>
        </p:nvSpPr>
        <p:spPr>
          <a:xfrm>
            <a:off x="9272016"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66" name="Shape 64"/>
          <p:cNvSpPr/>
          <p:nvPr/>
        </p:nvSpPr>
        <p:spPr>
          <a:xfrm>
            <a:off x="9564624" y="4343400"/>
            <a:ext cx="228600" cy="457200"/>
          </a:xfrm>
          <a:prstGeom prst="roundRect">
            <a:avLst>
              <a:gd name="adj" fmla="val 16000"/>
            </a:avLst>
          </a:prstGeom>
          <a:solidFill>
            <a:srgbClr val="FFFFFF"/>
          </a:solidFill>
          <a:ln w="13970">
            <a:solidFill>
              <a:srgbClr val="CBD5E1"/>
            </a:solidFill>
            <a:prstDash val="solid"/>
          </a:ln>
        </p:spPr>
        <p:txBody>
          <a:bodyPr/>
          <a:lstStyle/>
          <a:p>
            <a:endParaRPr lang="en-GB"/>
          </a:p>
        </p:txBody>
      </p:sp>
      <p:sp>
        <p:nvSpPr>
          <p:cNvPr id="67" name="Text 65"/>
          <p:cNvSpPr/>
          <p:nvPr/>
        </p:nvSpPr>
        <p:spPr>
          <a:xfrm>
            <a:off x="9564624"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68" name="Shape 66"/>
          <p:cNvSpPr/>
          <p:nvPr/>
        </p:nvSpPr>
        <p:spPr>
          <a:xfrm>
            <a:off x="9857232" y="4343400"/>
            <a:ext cx="228600" cy="457200"/>
          </a:xfrm>
          <a:prstGeom prst="roundRect">
            <a:avLst>
              <a:gd name="adj" fmla="val 16000"/>
            </a:avLst>
          </a:prstGeom>
          <a:solidFill>
            <a:srgbClr val="E7F5C7"/>
          </a:solidFill>
          <a:ln w="13970">
            <a:solidFill>
              <a:srgbClr val="84B91F"/>
            </a:solidFill>
            <a:prstDash val="solid"/>
          </a:ln>
        </p:spPr>
        <p:txBody>
          <a:bodyPr/>
          <a:lstStyle/>
          <a:p>
            <a:endParaRPr lang="en-GB"/>
          </a:p>
        </p:txBody>
      </p:sp>
      <p:sp>
        <p:nvSpPr>
          <p:cNvPr id="69" name="Text 67"/>
          <p:cNvSpPr/>
          <p:nvPr/>
        </p:nvSpPr>
        <p:spPr>
          <a:xfrm>
            <a:off x="9857232" y="4471416"/>
            <a:ext cx="228600" cy="182880"/>
          </a:xfrm>
          <a:prstGeom prst="rect">
            <a:avLst/>
          </a:prstGeom>
          <a:noFill/>
          <a:ln/>
        </p:spPr>
        <p:txBody>
          <a:bodyPr wrap="square" lIns="0" tIns="0" rIns="0" bIns="0" rtlCol="0" anchor="ctr"/>
          <a:lstStyle/>
          <a:p>
            <a:pPr marL="0" indent="0" algn="ctr">
              <a:buNone/>
            </a:pPr>
            <a:endParaRPr lang="en-US" sz="1050" dirty="0"/>
          </a:p>
        </p:txBody>
      </p:sp>
      <p:sp>
        <p:nvSpPr>
          <p:cNvPr id="70" name="Shape 68"/>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71" name="Text 69"/>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dirty="0">
                <a:solidFill>
                  <a:srgbClr val="0F172A"/>
                </a:solidFill>
              </a:rPr>
              <a:t>Large context can be obtained through architecture, not only by increasing input-window length.</a:t>
            </a:r>
            <a:endParaRPr lang="en-US" sz="12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B13D559-E9B3-B0F1-4381-BA9FDDECF470}"/>
              </a:ext>
            </a:extLst>
          </p:cNvPr>
          <p:cNvSpPr>
            <a:spLocks noGrp="1"/>
          </p:cNvSpPr>
          <p:nvPr>
            <p:ph type="title"/>
          </p:nvPr>
        </p:nvSpPr>
        <p:spPr/>
        <p:txBody>
          <a:bodyPr/>
          <a:lstStyle/>
          <a:p>
            <a:r>
              <a:rPr lang="en-GB" dirty="0"/>
              <a:t>Receptive field and classification</a:t>
            </a:r>
          </a:p>
        </p:txBody>
      </p:sp>
      <p:sp>
        <p:nvSpPr>
          <p:cNvPr id="3" name="Segnaposto contenuto 2">
            <a:extLst>
              <a:ext uri="{FF2B5EF4-FFF2-40B4-BE49-F238E27FC236}">
                <a16:creationId xmlns:a16="http://schemas.microsoft.com/office/drawing/2014/main" id="{B7802759-DF73-C1EF-2431-2B8F1B76F29C}"/>
              </a:ext>
            </a:extLst>
          </p:cNvPr>
          <p:cNvSpPr>
            <a:spLocks noGrp="1"/>
          </p:cNvSpPr>
          <p:nvPr>
            <p:ph idx="1"/>
          </p:nvPr>
        </p:nvSpPr>
        <p:spPr/>
        <p:txBody>
          <a:bodyPr>
            <a:normAutofit fontScale="85000" lnSpcReduction="20000"/>
          </a:bodyPr>
          <a:lstStyle/>
          <a:p>
            <a:r>
              <a:rPr lang="en-GB" dirty="0"/>
              <a:t>For sequence classification, the final prediction may need information from the complete window.</a:t>
            </a:r>
          </a:p>
          <a:p>
            <a:r>
              <a:rPr lang="en-GB" dirty="0"/>
              <a:t>Example:</a:t>
            </a:r>
          </a:p>
          <a:p>
            <a:r>
              <a:rPr lang="en-GB" dirty="0"/>
              <a:t>500-step vibration window</a:t>
            </a:r>
          </a:p>
          <a:p>
            <a:r>
              <a:rPr lang="en-GB" dirty="0"/>
              <a:t>        ↓</a:t>
            </a:r>
          </a:p>
          <a:p>
            <a:r>
              <a:rPr lang="en-GB" dirty="0"/>
              <a:t>Conv layers</a:t>
            </a:r>
          </a:p>
          <a:p>
            <a:r>
              <a:rPr lang="en-GB" dirty="0"/>
              <a:t>        ↓</a:t>
            </a:r>
          </a:p>
          <a:p>
            <a:r>
              <a:rPr lang="en-GB" dirty="0"/>
              <a:t>global pooling</a:t>
            </a:r>
          </a:p>
          <a:p>
            <a:r>
              <a:rPr lang="en-GB" dirty="0"/>
              <a:t>        ↓</a:t>
            </a:r>
          </a:p>
          <a:p>
            <a:r>
              <a:rPr lang="en-GB" dirty="0"/>
              <a:t>fault class</a:t>
            </a:r>
          </a:p>
          <a:p>
            <a:r>
              <a:rPr lang="en-GB" b="1" dirty="0">
                <a:highlight>
                  <a:srgbClr val="FFFF00"/>
                </a:highlight>
              </a:rPr>
              <a:t>Global pooling aggregates local features across the complete temporal window.</a:t>
            </a:r>
            <a:endParaRPr lang="en-GB" dirty="0">
              <a:highlight>
                <a:srgbClr val="FFFF00"/>
              </a:highlight>
            </a:endParaRPr>
          </a:p>
          <a:p>
            <a:r>
              <a:rPr lang="en-GB" b="1" dirty="0">
                <a:highlight>
                  <a:srgbClr val="FFFF00"/>
                </a:highlight>
              </a:rPr>
              <a:t>Each local feature is still limited by its receptive field, so long-range interactions may remain inaccessible.</a:t>
            </a:r>
            <a:endParaRPr lang="en-GB" dirty="0"/>
          </a:p>
        </p:txBody>
      </p:sp>
    </p:spTree>
    <p:extLst>
      <p:ext uri="{BB962C8B-B14F-4D97-AF65-F5344CB8AC3E}">
        <p14:creationId xmlns:p14="http://schemas.microsoft.com/office/powerpoint/2010/main" val="231231682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4A9C8-12D0-9A23-671D-60526C6FE94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97274AF-2132-C065-2B41-1AB074F6E326}"/>
              </a:ext>
            </a:extLst>
          </p:cNvPr>
          <p:cNvSpPr>
            <a:spLocks noGrp="1"/>
          </p:cNvSpPr>
          <p:nvPr>
            <p:ph type="title"/>
          </p:nvPr>
        </p:nvSpPr>
        <p:spPr/>
        <p:txBody>
          <a:bodyPr/>
          <a:lstStyle/>
          <a:p>
            <a:r>
              <a:rPr lang="en-GB" dirty="0">
                <a:highlight>
                  <a:srgbClr val="FFFF00"/>
                </a:highlight>
              </a:rPr>
              <a:t>Receptive field and classification</a:t>
            </a:r>
          </a:p>
        </p:txBody>
      </p:sp>
      <p:sp>
        <p:nvSpPr>
          <p:cNvPr id="3" name="Segnaposto contenuto 2">
            <a:extLst>
              <a:ext uri="{FF2B5EF4-FFF2-40B4-BE49-F238E27FC236}">
                <a16:creationId xmlns:a16="http://schemas.microsoft.com/office/drawing/2014/main" id="{FB91B38E-6718-F987-DB34-083E9F105041}"/>
              </a:ext>
            </a:extLst>
          </p:cNvPr>
          <p:cNvSpPr>
            <a:spLocks noGrp="1"/>
          </p:cNvSpPr>
          <p:nvPr>
            <p:ph idx="1"/>
          </p:nvPr>
        </p:nvSpPr>
        <p:spPr/>
        <p:txBody>
          <a:bodyPr>
            <a:normAutofit lnSpcReduction="10000"/>
          </a:bodyPr>
          <a:lstStyle/>
          <a:p>
            <a:r>
              <a:rPr lang="en-GB" b="1" dirty="0"/>
              <a:t>If the discriminative pattern is local</a:t>
            </a:r>
          </a:p>
          <a:p>
            <a:pPr lvl="1"/>
            <a:r>
              <a:rPr lang="en-GB" dirty="0"/>
              <a:t>A moderate receptive field may be sufficient.</a:t>
            </a:r>
          </a:p>
          <a:p>
            <a:r>
              <a:rPr lang="en-GB" b="1" dirty="0"/>
              <a:t>If classification depends on a long temporal relation</a:t>
            </a:r>
          </a:p>
          <a:p>
            <a:pPr lvl="1"/>
            <a:r>
              <a:rPr lang="en-GB" dirty="0"/>
              <a:t>Example:</a:t>
            </a:r>
          </a:p>
          <a:p>
            <a:pPr lvl="2"/>
            <a:r>
              <a:rPr lang="en-GB" dirty="0"/>
              <a:t>a first event followed several seconds later by another event</a:t>
            </a:r>
          </a:p>
          <a:p>
            <a:pPr lvl="1"/>
            <a:r>
              <a:rPr lang="en-GB" dirty="0"/>
              <a:t>then the network must have a receptive field large enough to combine both events before final aggregation.</a:t>
            </a:r>
          </a:p>
          <a:p>
            <a:endParaRPr lang="en-GB" b="1" dirty="0"/>
          </a:p>
          <a:p>
            <a:r>
              <a:rPr lang="en-GB" b="1" dirty="0">
                <a:solidFill>
                  <a:schemeClr val="tx1"/>
                </a:solidFill>
                <a:highlight>
                  <a:srgbClr val="FFFF00"/>
                </a:highlight>
              </a:rPr>
              <a:t>Key point</a:t>
            </a:r>
          </a:p>
          <a:p>
            <a:r>
              <a:rPr lang="en-GB" dirty="0"/>
              <a:t>Global pooling does not automatically create arbitrary temporal interactions.</a:t>
            </a:r>
          </a:p>
          <a:p>
            <a:r>
              <a:rPr lang="en-GB" dirty="0"/>
              <a:t>The preceding convolutional representation still matters.</a:t>
            </a:r>
          </a:p>
          <a:p>
            <a:endParaRPr lang="en-GB" dirty="0"/>
          </a:p>
        </p:txBody>
      </p:sp>
    </p:spTree>
    <p:extLst>
      <p:ext uri="{BB962C8B-B14F-4D97-AF65-F5344CB8AC3E}">
        <p14:creationId xmlns:p14="http://schemas.microsoft.com/office/powerpoint/2010/main" val="136610714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E147FD4-B52F-859B-8350-171F9C7E47AD}"/>
              </a:ext>
            </a:extLst>
          </p:cNvPr>
          <p:cNvSpPr>
            <a:spLocks noGrp="1"/>
          </p:cNvSpPr>
          <p:nvPr>
            <p:ph type="title"/>
          </p:nvPr>
        </p:nvSpPr>
        <p:spPr/>
        <p:txBody>
          <a:bodyPr/>
          <a:lstStyle/>
          <a:p>
            <a:r>
              <a:rPr lang="en-GB" dirty="0"/>
              <a:t>Receptive field and </a:t>
            </a:r>
            <a:r>
              <a:rPr lang="en-GB" dirty="0">
                <a:highlight>
                  <a:srgbClr val="FFFF00"/>
                </a:highlight>
              </a:rPr>
              <a:t>sequence labelling</a:t>
            </a:r>
          </a:p>
        </p:txBody>
      </p:sp>
      <p:sp>
        <p:nvSpPr>
          <p:cNvPr id="3" name="Segnaposto contenuto 2">
            <a:extLst>
              <a:ext uri="{FF2B5EF4-FFF2-40B4-BE49-F238E27FC236}">
                <a16:creationId xmlns:a16="http://schemas.microsoft.com/office/drawing/2014/main" id="{5462B126-2B61-86FA-AB29-A93CCE3FE1FE}"/>
              </a:ext>
            </a:extLst>
          </p:cNvPr>
          <p:cNvSpPr>
            <a:spLocks noGrp="1"/>
          </p:cNvSpPr>
          <p:nvPr>
            <p:ph idx="1"/>
          </p:nvPr>
        </p:nvSpPr>
        <p:spPr/>
        <p:txBody>
          <a:bodyPr>
            <a:normAutofit/>
          </a:bodyPr>
          <a:lstStyle/>
          <a:p>
            <a:r>
              <a:rPr lang="en-GB" dirty="0"/>
              <a:t>For sequence labelling, each output: </a:t>
            </a:r>
            <a:r>
              <a:rPr lang="en-GB" dirty="0" err="1"/>
              <a:t>y_hat</a:t>
            </a:r>
            <a:r>
              <a:rPr lang="en-GB" dirty="0"/>
              <a:t>[t]</a:t>
            </a:r>
          </a:p>
          <a:p>
            <a:r>
              <a:rPr lang="en-GB" dirty="0"/>
              <a:t>should depend on an appropriate temporal </a:t>
            </a:r>
            <a:r>
              <a:rPr lang="en-GB" dirty="0" err="1"/>
              <a:t>neighborhood</a:t>
            </a:r>
            <a:r>
              <a:rPr lang="en-GB" dirty="0"/>
              <a:t>.</a:t>
            </a:r>
          </a:p>
          <a:p>
            <a:endParaRPr lang="en-GB" b="1" dirty="0"/>
          </a:p>
          <a:p>
            <a:r>
              <a:rPr lang="en-GB" b="1" dirty="0">
                <a:highlight>
                  <a:srgbClr val="FFFF00"/>
                </a:highlight>
              </a:rPr>
              <a:t>Small receptive field</a:t>
            </a:r>
          </a:p>
          <a:p>
            <a:r>
              <a:rPr lang="en-GB" dirty="0">
                <a:highlight>
                  <a:srgbClr val="FFFF00"/>
                </a:highlight>
              </a:rPr>
              <a:t>Advantages:</a:t>
            </a:r>
          </a:p>
          <a:p>
            <a:pPr lvl="1"/>
            <a:r>
              <a:rPr lang="en-GB" dirty="0"/>
              <a:t>precise local decisions; </a:t>
            </a:r>
          </a:p>
          <a:p>
            <a:pPr lvl="1"/>
            <a:r>
              <a:rPr lang="en-GB" dirty="0"/>
              <a:t>low latency. </a:t>
            </a:r>
          </a:p>
          <a:p>
            <a:r>
              <a:rPr lang="en-GB" dirty="0">
                <a:highlight>
                  <a:srgbClr val="FFFF00"/>
                </a:highlight>
              </a:rPr>
              <a:t>Limitation:</a:t>
            </a:r>
          </a:p>
          <a:p>
            <a:pPr lvl="1"/>
            <a:r>
              <a:rPr lang="en-GB" dirty="0"/>
              <a:t>may miss broader context. </a:t>
            </a:r>
          </a:p>
          <a:p>
            <a:endParaRPr lang="en-GB" dirty="0"/>
          </a:p>
        </p:txBody>
      </p:sp>
    </p:spTree>
    <p:extLst>
      <p:ext uri="{BB962C8B-B14F-4D97-AF65-F5344CB8AC3E}">
        <p14:creationId xmlns:p14="http://schemas.microsoft.com/office/powerpoint/2010/main" val="421493314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1CC1F-E7E0-498A-9822-D408AEE8BC3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E101C8C-C835-0B13-19F8-73BF27156BEC}"/>
              </a:ext>
            </a:extLst>
          </p:cNvPr>
          <p:cNvSpPr>
            <a:spLocks noGrp="1"/>
          </p:cNvSpPr>
          <p:nvPr>
            <p:ph type="title"/>
          </p:nvPr>
        </p:nvSpPr>
        <p:spPr/>
        <p:txBody>
          <a:bodyPr/>
          <a:lstStyle/>
          <a:p>
            <a:r>
              <a:rPr lang="en-GB" dirty="0"/>
              <a:t>Receptive field and sequence labelling</a:t>
            </a:r>
          </a:p>
        </p:txBody>
      </p:sp>
      <p:sp>
        <p:nvSpPr>
          <p:cNvPr id="3" name="Segnaposto contenuto 2">
            <a:extLst>
              <a:ext uri="{FF2B5EF4-FFF2-40B4-BE49-F238E27FC236}">
                <a16:creationId xmlns:a16="http://schemas.microsoft.com/office/drawing/2014/main" id="{AFEEA17F-CE43-26B0-2A7C-8CFD960D7C9D}"/>
              </a:ext>
            </a:extLst>
          </p:cNvPr>
          <p:cNvSpPr>
            <a:spLocks noGrp="1"/>
          </p:cNvSpPr>
          <p:nvPr>
            <p:ph idx="1"/>
          </p:nvPr>
        </p:nvSpPr>
        <p:spPr/>
        <p:txBody>
          <a:bodyPr>
            <a:normAutofit fontScale="70000" lnSpcReduction="20000"/>
          </a:bodyPr>
          <a:lstStyle/>
          <a:p>
            <a:r>
              <a:rPr lang="en-GB" b="1" dirty="0">
                <a:highlight>
                  <a:srgbClr val="FFFF00"/>
                </a:highlight>
              </a:rPr>
              <a:t>Large receptive field</a:t>
            </a:r>
          </a:p>
          <a:p>
            <a:r>
              <a:rPr lang="en-GB" dirty="0">
                <a:highlight>
                  <a:srgbClr val="FFFF00"/>
                </a:highlight>
              </a:rPr>
              <a:t>Advantages:</a:t>
            </a:r>
          </a:p>
          <a:p>
            <a:pPr lvl="1"/>
            <a:r>
              <a:rPr lang="en-GB" dirty="0"/>
              <a:t>incorporates long temporal context. </a:t>
            </a:r>
          </a:p>
          <a:p>
            <a:r>
              <a:rPr lang="en-GB" dirty="0">
                <a:highlight>
                  <a:srgbClr val="FFFF00"/>
                </a:highlight>
              </a:rPr>
              <a:t>Potential limitation:</a:t>
            </a:r>
          </a:p>
          <a:p>
            <a:pPr lvl="1"/>
            <a:r>
              <a:rPr lang="en-GB" dirty="0"/>
              <a:t>may blur local temporal distinctions; </a:t>
            </a:r>
          </a:p>
          <a:p>
            <a:pPr lvl="1"/>
            <a:r>
              <a:rPr lang="en-GB" dirty="0"/>
              <a:t>increases computation. </a:t>
            </a:r>
          </a:p>
          <a:p>
            <a:endParaRPr lang="en-GB" b="1" dirty="0"/>
          </a:p>
          <a:p>
            <a:r>
              <a:rPr lang="en-GB" b="1" dirty="0"/>
              <a:t>Example</a:t>
            </a:r>
          </a:p>
          <a:p>
            <a:r>
              <a:rPr lang="en-GB" dirty="0"/>
              <a:t>For activity recognition:</a:t>
            </a:r>
          </a:p>
          <a:p>
            <a:r>
              <a:rPr lang="en-GB" dirty="0"/>
              <a:t>A single accelerometer spike may be ambiguous.</a:t>
            </a:r>
          </a:p>
          <a:p>
            <a:r>
              <a:rPr lang="en-GB" dirty="0"/>
              <a:t>Several seconds of motion context may be needed to distinguish:</a:t>
            </a:r>
          </a:p>
          <a:p>
            <a:pPr lvl="1"/>
            <a:r>
              <a:rPr lang="en-GB" dirty="0"/>
              <a:t>walking; </a:t>
            </a:r>
          </a:p>
          <a:p>
            <a:pPr lvl="1"/>
            <a:r>
              <a:rPr lang="en-GB" dirty="0"/>
              <a:t>running; </a:t>
            </a:r>
          </a:p>
          <a:p>
            <a:pPr lvl="1"/>
            <a:r>
              <a:rPr lang="en-GB" dirty="0"/>
              <a:t>climbing stairs. </a:t>
            </a:r>
          </a:p>
        </p:txBody>
      </p:sp>
      <p:sp>
        <p:nvSpPr>
          <p:cNvPr id="5" name="CasellaDiTesto 4">
            <a:extLst>
              <a:ext uri="{FF2B5EF4-FFF2-40B4-BE49-F238E27FC236}">
                <a16:creationId xmlns:a16="http://schemas.microsoft.com/office/drawing/2014/main" id="{20A2AD61-D985-557A-B647-AC67FC5467F7}"/>
              </a:ext>
            </a:extLst>
          </p:cNvPr>
          <p:cNvSpPr txBox="1"/>
          <p:nvPr/>
        </p:nvSpPr>
        <p:spPr>
          <a:xfrm>
            <a:off x="5338763" y="5948385"/>
            <a:ext cx="6105524" cy="646331"/>
          </a:xfrm>
          <a:prstGeom prst="rect">
            <a:avLst/>
          </a:prstGeom>
          <a:noFill/>
        </p:spPr>
        <p:txBody>
          <a:bodyPr wrap="square">
            <a:spAutoFit/>
          </a:bodyPr>
          <a:lstStyle/>
          <a:p>
            <a:r>
              <a:rPr lang="en-GB" sz="1800" b="1" dirty="0"/>
              <a:t>For per-time-step prediction, receptive field defines how much context supports each temporal decision.</a:t>
            </a:r>
          </a:p>
        </p:txBody>
      </p:sp>
    </p:spTree>
    <p:extLst>
      <p:ext uri="{BB962C8B-B14F-4D97-AF65-F5344CB8AC3E}">
        <p14:creationId xmlns:p14="http://schemas.microsoft.com/office/powerpoint/2010/main" val="40861757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D3C41AB-2206-0C98-D161-EDC86C9420E5}"/>
              </a:ext>
            </a:extLst>
          </p:cNvPr>
          <p:cNvSpPr>
            <a:spLocks noGrp="1"/>
          </p:cNvSpPr>
          <p:nvPr>
            <p:ph type="title"/>
          </p:nvPr>
        </p:nvSpPr>
        <p:spPr/>
        <p:txBody>
          <a:bodyPr/>
          <a:lstStyle/>
          <a:p>
            <a:r>
              <a:rPr lang="en-GB" dirty="0"/>
              <a:t>Receptive field is an architectural constraint</a:t>
            </a:r>
          </a:p>
        </p:txBody>
      </p:sp>
      <p:sp>
        <p:nvSpPr>
          <p:cNvPr id="3" name="Segnaposto contenuto 2">
            <a:extLst>
              <a:ext uri="{FF2B5EF4-FFF2-40B4-BE49-F238E27FC236}">
                <a16:creationId xmlns:a16="http://schemas.microsoft.com/office/drawing/2014/main" id="{60AFDC18-4966-C77F-2E3E-B84B1CD7B6F9}"/>
              </a:ext>
            </a:extLst>
          </p:cNvPr>
          <p:cNvSpPr>
            <a:spLocks noGrp="1"/>
          </p:cNvSpPr>
          <p:nvPr>
            <p:ph idx="1"/>
          </p:nvPr>
        </p:nvSpPr>
        <p:spPr/>
        <p:txBody>
          <a:bodyPr>
            <a:normAutofit fontScale="70000" lnSpcReduction="20000"/>
          </a:bodyPr>
          <a:lstStyle/>
          <a:p>
            <a:r>
              <a:rPr lang="en-GB" dirty="0">
                <a:highlight>
                  <a:srgbClr val="FFFF00"/>
                </a:highlight>
              </a:rPr>
              <a:t>Suppose:</a:t>
            </a:r>
          </a:p>
          <a:p>
            <a:pPr lvl="1"/>
            <a:r>
              <a:rPr lang="en-GB" dirty="0"/>
              <a:t>input window length = 1000; </a:t>
            </a:r>
          </a:p>
          <a:p>
            <a:pPr lvl="1"/>
            <a:r>
              <a:rPr lang="en-GB" dirty="0"/>
              <a:t>receptive field = 121. </a:t>
            </a:r>
          </a:p>
          <a:p>
            <a:r>
              <a:rPr lang="en-GB" dirty="0">
                <a:highlight>
                  <a:srgbClr val="FFFF00"/>
                </a:highlight>
              </a:rPr>
              <a:t>Then</a:t>
            </a:r>
            <a:r>
              <a:rPr lang="en-GB" dirty="0"/>
              <a:t> the network receives 1000 input steps, but one local output can be influenced by at most 121 of them.</a:t>
            </a:r>
          </a:p>
          <a:p>
            <a:r>
              <a:rPr lang="en-GB" b="1" dirty="0">
                <a:highlight>
                  <a:srgbClr val="FFFF00"/>
                </a:highlight>
              </a:rPr>
              <a:t>If the relevant dependency is longer than 121</a:t>
            </a:r>
          </a:p>
          <a:p>
            <a:pPr lvl="1"/>
            <a:r>
              <a:rPr lang="en-GB" dirty="0"/>
              <a:t>No amount of additional training can make that local output directly use the missing information.</a:t>
            </a:r>
          </a:p>
          <a:p>
            <a:pPr lvl="1"/>
            <a:r>
              <a:rPr lang="en-GB" dirty="0"/>
              <a:t>The architecture itself prevents the interaction.</a:t>
            </a:r>
          </a:p>
          <a:p>
            <a:endParaRPr lang="en-GB" b="1" dirty="0"/>
          </a:p>
          <a:p>
            <a:r>
              <a:rPr lang="en-GB" b="1" dirty="0">
                <a:highlight>
                  <a:srgbClr val="FFFF00"/>
                </a:highlight>
              </a:rPr>
              <a:t>Therefore receptive field should be checked before training</a:t>
            </a:r>
          </a:p>
          <a:p>
            <a:r>
              <a:rPr lang="en-GB" dirty="0">
                <a:highlight>
                  <a:srgbClr val="FFFF00"/>
                </a:highlight>
              </a:rPr>
              <a:t>Ask:</a:t>
            </a:r>
          </a:p>
          <a:p>
            <a:pPr lvl="1"/>
            <a:r>
              <a:rPr lang="en-GB" dirty="0"/>
              <a:t>What is the expected temporal dependency? </a:t>
            </a:r>
          </a:p>
          <a:p>
            <a:pPr lvl="1"/>
            <a:r>
              <a:rPr lang="en-GB" dirty="0"/>
              <a:t>How many samples (</a:t>
            </a:r>
            <a:r>
              <a:rPr lang="en-GB" b="1" dirty="0"/>
              <a:t>frames</a:t>
            </a:r>
            <a:r>
              <a:rPr lang="en-GB" dirty="0"/>
              <a:t>) correspond to that duration? </a:t>
            </a:r>
          </a:p>
          <a:p>
            <a:pPr lvl="1"/>
            <a:r>
              <a:rPr lang="en-GB" dirty="0"/>
              <a:t>Does the architecture's receptive field cover it? </a:t>
            </a:r>
          </a:p>
          <a:p>
            <a:pPr lvl="1"/>
            <a:r>
              <a:rPr lang="en-GB" dirty="0"/>
              <a:t>Is temporal resolution still sufficient? </a:t>
            </a:r>
          </a:p>
          <a:p>
            <a:endParaRPr lang="en-GB" dirty="0"/>
          </a:p>
        </p:txBody>
      </p:sp>
    </p:spTree>
    <p:extLst>
      <p:ext uri="{BB962C8B-B14F-4D97-AF65-F5344CB8AC3E}">
        <p14:creationId xmlns:p14="http://schemas.microsoft.com/office/powerpoint/2010/main" val="403287645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DD25571-4CBB-B760-CDF0-C119934E0DCD}"/>
              </a:ext>
            </a:extLst>
          </p:cNvPr>
          <p:cNvSpPr>
            <a:spLocks noGrp="1"/>
          </p:cNvSpPr>
          <p:nvPr>
            <p:ph type="title"/>
          </p:nvPr>
        </p:nvSpPr>
        <p:spPr/>
        <p:txBody>
          <a:bodyPr/>
          <a:lstStyle/>
          <a:p>
            <a:r>
              <a:rPr lang="en-GB" b="1" dirty="0"/>
              <a:t>Transition</a:t>
            </a:r>
            <a:br>
              <a:rPr lang="en-GB" b="1" dirty="0"/>
            </a:br>
            <a:endParaRPr lang="en-GB" dirty="0"/>
          </a:p>
        </p:txBody>
      </p:sp>
      <p:sp>
        <p:nvSpPr>
          <p:cNvPr id="3" name="Segnaposto contenuto 2">
            <a:extLst>
              <a:ext uri="{FF2B5EF4-FFF2-40B4-BE49-F238E27FC236}">
                <a16:creationId xmlns:a16="http://schemas.microsoft.com/office/drawing/2014/main" id="{CF652E91-475F-654D-D4CA-CAA42D1DD8B2}"/>
              </a:ext>
            </a:extLst>
          </p:cNvPr>
          <p:cNvSpPr>
            <a:spLocks noGrp="1"/>
          </p:cNvSpPr>
          <p:nvPr>
            <p:ph idx="1"/>
          </p:nvPr>
        </p:nvSpPr>
        <p:spPr/>
        <p:txBody>
          <a:bodyPr/>
          <a:lstStyle/>
          <a:p>
            <a:r>
              <a:rPr lang="en-GB" dirty="0"/>
              <a:t>A large receptive field alone is not enough for forecasting.</a:t>
            </a:r>
          </a:p>
          <a:p>
            <a:r>
              <a:rPr lang="en-GB" dirty="0">
                <a:highlight>
                  <a:srgbClr val="FFFF00"/>
                </a:highlight>
              </a:rPr>
              <a:t>We must also control </a:t>
            </a:r>
            <a:r>
              <a:rPr lang="en-GB" b="1" dirty="0">
                <a:highlight>
                  <a:srgbClr val="FFFF00"/>
                </a:highlight>
              </a:rPr>
              <a:t>which side of time</a:t>
            </a:r>
            <a:r>
              <a:rPr lang="en-GB" dirty="0">
                <a:highlight>
                  <a:srgbClr val="FFFF00"/>
                </a:highlight>
              </a:rPr>
              <a:t> the receptive field can access.</a:t>
            </a:r>
          </a:p>
          <a:p>
            <a:r>
              <a:rPr lang="en-GB" dirty="0"/>
              <a:t>This leads to causal convolution.</a:t>
            </a:r>
          </a:p>
          <a:p>
            <a:endParaRPr lang="en-GB" dirty="0"/>
          </a:p>
        </p:txBody>
      </p:sp>
    </p:spTree>
    <p:extLst>
      <p:ext uri="{BB962C8B-B14F-4D97-AF65-F5344CB8AC3E}">
        <p14:creationId xmlns:p14="http://schemas.microsoft.com/office/powerpoint/2010/main" val="26126408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1B7845B-EE46-E55B-08B1-C86D5CDD222C}"/>
              </a:ext>
            </a:extLst>
          </p:cNvPr>
          <p:cNvSpPr>
            <a:spLocks noGrp="1"/>
          </p:cNvSpPr>
          <p:nvPr>
            <p:ph type="title"/>
          </p:nvPr>
        </p:nvSpPr>
        <p:spPr/>
        <p:txBody>
          <a:bodyPr/>
          <a:lstStyle/>
          <a:p>
            <a:r>
              <a:rPr lang="en-GB" dirty="0"/>
              <a:t>Block 5.F — Causal Convolution</a:t>
            </a:r>
          </a:p>
        </p:txBody>
      </p:sp>
      <p:sp>
        <p:nvSpPr>
          <p:cNvPr id="3" name="Segnaposto contenuto 2">
            <a:extLst>
              <a:ext uri="{FF2B5EF4-FFF2-40B4-BE49-F238E27FC236}">
                <a16:creationId xmlns:a16="http://schemas.microsoft.com/office/drawing/2014/main" id="{994DB1DE-E476-4487-CC09-2907E844E89E}"/>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277244115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E3917F9-036E-F753-2D9C-DD4FD21854D4}"/>
              </a:ext>
            </a:extLst>
          </p:cNvPr>
          <p:cNvSpPr>
            <a:spLocks noGrp="1"/>
          </p:cNvSpPr>
          <p:nvPr>
            <p:ph type="title"/>
          </p:nvPr>
        </p:nvSpPr>
        <p:spPr/>
        <p:txBody>
          <a:bodyPr/>
          <a:lstStyle/>
          <a:p>
            <a:r>
              <a:rPr lang="en-GB" dirty="0"/>
              <a:t>A temporal convolution can accidentally use the future</a:t>
            </a:r>
          </a:p>
        </p:txBody>
      </p:sp>
      <p:sp>
        <p:nvSpPr>
          <p:cNvPr id="3" name="Segnaposto contenuto 2">
            <a:extLst>
              <a:ext uri="{FF2B5EF4-FFF2-40B4-BE49-F238E27FC236}">
                <a16:creationId xmlns:a16="http://schemas.microsoft.com/office/drawing/2014/main" id="{EFA40C0F-56B0-3793-71C8-50DEB6097FA9}"/>
              </a:ext>
            </a:extLst>
          </p:cNvPr>
          <p:cNvSpPr>
            <a:spLocks noGrp="1"/>
          </p:cNvSpPr>
          <p:nvPr>
            <p:ph sz="half" idx="1"/>
          </p:nvPr>
        </p:nvSpPr>
        <p:spPr>
          <a:xfrm>
            <a:off x="677334" y="2160589"/>
            <a:ext cx="6086881" cy="3880772"/>
          </a:xfrm>
        </p:spPr>
        <p:txBody>
          <a:bodyPr>
            <a:normAutofit/>
          </a:bodyPr>
          <a:lstStyle/>
          <a:p>
            <a:r>
              <a:rPr lang="en-GB" dirty="0"/>
              <a:t>Consider a sequence:</a:t>
            </a:r>
          </a:p>
          <a:p>
            <a:r>
              <a:rPr lang="en-GB" dirty="0"/>
              <a:t>... x[t−2], x[t−1], x[t], x[t+1], x[t+2] ...</a:t>
            </a:r>
          </a:p>
          <a:p>
            <a:r>
              <a:rPr lang="en-GB" dirty="0"/>
              <a:t>Suppose we want an output associated with time: t</a:t>
            </a:r>
          </a:p>
          <a:p>
            <a:r>
              <a:rPr lang="en-GB" b="1" dirty="0">
                <a:highlight>
                  <a:srgbClr val="FFFF00"/>
                </a:highlight>
              </a:rPr>
              <a:t>A </a:t>
            </a:r>
            <a:r>
              <a:rPr lang="en-GB" b="1" dirty="0" err="1">
                <a:highlight>
                  <a:srgbClr val="FFFF00"/>
                </a:highlight>
              </a:rPr>
              <a:t>centered</a:t>
            </a:r>
            <a:r>
              <a:rPr lang="en-GB" b="1" dirty="0">
                <a:highlight>
                  <a:srgbClr val="FFFF00"/>
                </a:highlight>
              </a:rPr>
              <a:t> convolution </a:t>
            </a:r>
            <a:r>
              <a:rPr lang="en-GB" dirty="0">
                <a:highlight>
                  <a:srgbClr val="FFFF00"/>
                </a:highlight>
              </a:rPr>
              <a:t>with kernel size 3 might use:</a:t>
            </a:r>
          </a:p>
          <a:p>
            <a:r>
              <a:rPr lang="en-GB" dirty="0">
                <a:highlight>
                  <a:srgbClr val="FFFF00"/>
                </a:highlight>
              </a:rPr>
              <a:t>x[t−1], x[t], x[t+1]</a:t>
            </a:r>
          </a:p>
          <a:p>
            <a:r>
              <a:rPr lang="en-GB" dirty="0"/>
              <a:t>This is perfectly reasonable for </a:t>
            </a:r>
            <a:r>
              <a:rPr lang="en-GB" b="1" dirty="0"/>
              <a:t>some offline tasks</a:t>
            </a:r>
            <a:r>
              <a:rPr lang="en-GB" dirty="0"/>
              <a:t>.</a:t>
            </a:r>
          </a:p>
          <a:p>
            <a:r>
              <a:rPr lang="en-GB" dirty="0"/>
              <a:t>But it uses:</a:t>
            </a:r>
          </a:p>
          <a:p>
            <a:r>
              <a:rPr lang="en-GB" dirty="0"/>
              <a:t>x[t+1]</a:t>
            </a:r>
          </a:p>
          <a:p>
            <a:r>
              <a:rPr lang="en-GB" dirty="0"/>
              <a:t>which is a future observation relative to time t.</a:t>
            </a:r>
          </a:p>
          <a:p>
            <a:endParaRPr lang="en-GB" dirty="0"/>
          </a:p>
        </p:txBody>
      </p:sp>
      <p:sp>
        <p:nvSpPr>
          <p:cNvPr id="4" name="Segnaposto contenuto 3">
            <a:extLst>
              <a:ext uri="{FF2B5EF4-FFF2-40B4-BE49-F238E27FC236}">
                <a16:creationId xmlns:a16="http://schemas.microsoft.com/office/drawing/2014/main" id="{7B5C80C6-2B66-4A24-A8A0-0FED7A23098A}"/>
              </a:ext>
            </a:extLst>
          </p:cNvPr>
          <p:cNvSpPr>
            <a:spLocks noGrp="1"/>
          </p:cNvSpPr>
          <p:nvPr>
            <p:ph sz="half" idx="2"/>
          </p:nvPr>
        </p:nvSpPr>
        <p:spPr>
          <a:xfrm>
            <a:off x="7330633" y="2160589"/>
            <a:ext cx="4184034" cy="3880773"/>
          </a:xfrm>
        </p:spPr>
        <p:txBody>
          <a:bodyPr>
            <a:normAutofit/>
          </a:bodyPr>
          <a:lstStyle/>
          <a:p>
            <a:r>
              <a:rPr lang="en-GB" b="1" dirty="0">
                <a:highlight>
                  <a:srgbClr val="FFFF00"/>
                </a:highlight>
              </a:rPr>
              <a:t>For real-time prediction</a:t>
            </a:r>
          </a:p>
          <a:p>
            <a:pPr lvl="1"/>
            <a:r>
              <a:rPr lang="en-GB" dirty="0">
                <a:highlight>
                  <a:srgbClr val="FFFF00"/>
                </a:highlight>
              </a:rPr>
              <a:t>That value is unavailable.</a:t>
            </a:r>
          </a:p>
          <a:p>
            <a:r>
              <a:rPr lang="en-GB" b="1" dirty="0"/>
              <a:t>Therefore</a:t>
            </a:r>
          </a:p>
          <a:p>
            <a:pPr lvl="1"/>
            <a:r>
              <a:rPr lang="en-GB" dirty="0"/>
              <a:t>A standard temporal convolution is not automatically causal.</a:t>
            </a:r>
          </a:p>
          <a:p>
            <a:endParaRPr lang="en-GB" dirty="0"/>
          </a:p>
          <a:p>
            <a:r>
              <a:rPr lang="en-GB" b="1" dirty="0">
                <a:highlight>
                  <a:srgbClr val="FFFF00"/>
                </a:highlight>
              </a:rPr>
              <a:t>Convolution specifies local connectivity; causality specifies which temporal positions are allowed to contribute.</a:t>
            </a:r>
          </a:p>
          <a:p>
            <a:endParaRPr lang="en-GB" dirty="0"/>
          </a:p>
        </p:txBody>
      </p:sp>
    </p:spTree>
    <p:extLst>
      <p:ext uri="{BB962C8B-B14F-4D97-AF65-F5344CB8AC3E}">
        <p14:creationId xmlns:p14="http://schemas.microsoft.com/office/powerpoint/2010/main" val="24420469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AB4E720-D363-87AF-DAA5-D82A5DDC12A4}"/>
              </a:ext>
            </a:extLst>
          </p:cNvPr>
          <p:cNvSpPr>
            <a:spLocks noGrp="1"/>
          </p:cNvSpPr>
          <p:nvPr>
            <p:ph type="title"/>
          </p:nvPr>
        </p:nvSpPr>
        <p:spPr/>
        <p:txBody>
          <a:bodyPr/>
          <a:lstStyle/>
          <a:p>
            <a:r>
              <a:rPr lang="en-GB" dirty="0"/>
              <a:t>Non-causal convolution</a:t>
            </a:r>
          </a:p>
        </p:txBody>
      </p:sp>
      <p:sp>
        <p:nvSpPr>
          <p:cNvPr id="3" name="Segnaposto contenuto 2">
            <a:extLst>
              <a:ext uri="{FF2B5EF4-FFF2-40B4-BE49-F238E27FC236}">
                <a16:creationId xmlns:a16="http://schemas.microsoft.com/office/drawing/2014/main" id="{5C3F66CA-CBFF-411B-D60E-5BDDA2DA3384}"/>
              </a:ext>
            </a:extLst>
          </p:cNvPr>
          <p:cNvSpPr>
            <a:spLocks noGrp="1"/>
          </p:cNvSpPr>
          <p:nvPr>
            <p:ph sz="half" idx="1"/>
          </p:nvPr>
        </p:nvSpPr>
        <p:spPr>
          <a:xfrm>
            <a:off x="677334" y="2160589"/>
            <a:ext cx="6321343" cy="4451226"/>
          </a:xfrm>
        </p:spPr>
        <p:txBody>
          <a:bodyPr>
            <a:normAutofit fontScale="70000" lnSpcReduction="20000"/>
          </a:bodyPr>
          <a:lstStyle/>
          <a:p>
            <a:r>
              <a:rPr lang="en-GB" dirty="0"/>
              <a:t>A non-causal convolution may use observations on both sides of the output time.</a:t>
            </a:r>
          </a:p>
          <a:p>
            <a:r>
              <a:rPr lang="en-GB" dirty="0"/>
              <a:t>Example:</a:t>
            </a:r>
          </a:p>
          <a:p>
            <a:r>
              <a:rPr lang="en-GB" dirty="0"/>
              <a:t>   past          now        future</a:t>
            </a:r>
          </a:p>
          <a:p>
            <a:br>
              <a:rPr lang="en-GB" dirty="0"/>
            </a:br>
            <a:endParaRPr lang="en-GB" dirty="0"/>
          </a:p>
          <a:p>
            <a:r>
              <a:rPr lang="en-GB" dirty="0"/>
              <a:t>x[t−2] x[t−1] x[t] x[t+1] x[t+2]</a:t>
            </a:r>
          </a:p>
          <a:p>
            <a:r>
              <a:rPr lang="en-GB" dirty="0"/>
              <a:t>        └──────┬──────┘</a:t>
            </a:r>
          </a:p>
          <a:p>
            <a:r>
              <a:rPr lang="en-GB" dirty="0"/>
              <a:t>               ↓</a:t>
            </a:r>
          </a:p>
          <a:p>
            <a:r>
              <a:rPr lang="en-GB" dirty="0"/>
              <a:t>            output[t]</a:t>
            </a:r>
          </a:p>
          <a:p>
            <a:r>
              <a:rPr lang="en-GB" b="1" dirty="0"/>
              <a:t>Appropriate applications</a:t>
            </a:r>
          </a:p>
          <a:p>
            <a:r>
              <a:rPr lang="en-GB" dirty="0"/>
              <a:t>When the complete sequence is already available:</a:t>
            </a:r>
          </a:p>
          <a:p>
            <a:pPr lvl="0"/>
            <a:r>
              <a:rPr lang="en-GB" dirty="0"/>
              <a:t>offline sequence classification; </a:t>
            </a:r>
          </a:p>
          <a:p>
            <a:pPr lvl="0"/>
            <a:r>
              <a:rPr lang="en-GB" dirty="0"/>
              <a:t>retrospective segmentation; </a:t>
            </a:r>
          </a:p>
          <a:p>
            <a:pPr lvl="0"/>
            <a:r>
              <a:rPr lang="en-GB" dirty="0"/>
              <a:t>post-processing; </a:t>
            </a:r>
          </a:p>
          <a:p>
            <a:pPr lvl="0"/>
            <a:r>
              <a:rPr lang="en-GB" dirty="0"/>
              <a:t>analysis of stored recordings. </a:t>
            </a:r>
          </a:p>
          <a:p>
            <a:endParaRPr lang="en-GB" dirty="0"/>
          </a:p>
        </p:txBody>
      </p:sp>
      <p:sp>
        <p:nvSpPr>
          <p:cNvPr id="4" name="Segnaposto contenuto 3">
            <a:extLst>
              <a:ext uri="{FF2B5EF4-FFF2-40B4-BE49-F238E27FC236}">
                <a16:creationId xmlns:a16="http://schemas.microsoft.com/office/drawing/2014/main" id="{E38EDBCC-FC96-A4C3-F641-E36F7A558347}"/>
              </a:ext>
            </a:extLst>
          </p:cNvPr>
          <p:cNvSpPr>
            <a:spLocks noGrp="1"/>
          </p:cNvSpPr>
          <p:nvPr>
            <p:ph sz="half" idx="2"/>
          </p:nvPr>
        </p:nvSpPr>
        <p:spPr>
          <a:xfrm>
            <a:off x="7330633" y="2160588"/>
            <a:ext cx="4184034" cy="4333997"/>
          </a:xfrm>
        </p:spPr>
        <p:txBody>
          <a:bodyPr>
            <a:normAutofit fontScale="70000" lnSpcReduction="20000"/>
          </a:bodyPr>
          <a:lstStyle/>
          <a:p>
            <a:r>
              <a:rPr lang="en-GB" b="1" dirty="0"/>
              <a:t>Advantage</a:t>
            </a:r>
          </a:p>
          <a:p>
            <a:r>
              <a:rPr lang="en-GB" dirty="0"/>
              <a:t>The model can exploit both earlier and later context.</a:t>
            </a:r>
          </a:p>
          <a:p>
            <a:r>
              <a:rPr lang="en-GB" b="1" dirty="0">
                <a:highlight>
                  <a:srgbClr val="FFFF00"/>
                </a:highlight>
              </a:rPr>
              <a:t>Example</a:t>
            </a:r>
          </a:p>
          <a:p>
            <a:r>
              <a:rPr lang="en-GB" dirty="0"/>
              <a:t>When labelling a stored production cycle, observations immediately after a transition may help identify precisely when the transition occurred.</a:t>
            </a:r>
          </a:p>
          <a:p>
            <a:endParaRPr lang="en-GB" dirty="0"/>
          </a:p>
          <a:p>
            <a:r>
              <a:rPr lang="en-GB" b="1" dirty="0">
                <a:highlight>
                  <a:srgbClr val="FFFF00"/>
                </a:highlight>
              </a:rPr>
              <a:t>Non-causal does not mean incorrect.</a:t>
            </a:r>
          </a:p>
          <a:p>
            <a:r>
              <a:rPr lang="en-GB" dirty="0"/>
              <a:t>It is incorrect only when future observations would not exist at deployment time.</a:t>
            </a:r>
          </a:p>
          <a:p>
            <a:endParaRPr lang="en-GB" dirty="0"/>
          </a:p>
        </p:txBody>
      </p:sp>
    </p:spTree>
    <p:extLst>
      <p:ext uri="{BB962C8B-B14F-4D97-AF65-F5344CB8AC3E}">
        <p14:creationId xmlns:p14="http://schemas.microsoft.com/office/powerpoint/2010/main" val="314689358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5.F.1 — </a:t>
            </a:r>
            <a:r>
              <a:rPr lang="en-US" sz="2600" b="1" dirty="0">
                <a:solidFill>
                  <a:srgbClr val="0F172A"/>
                </a:solidFill>
                <a:highlight>
                  <a:srgbClr val="FFFF00"/>
                </a:highlight>
                <a:latin typeface="Aptos Display" pitchFamily="34" charset="0"/>
                <a:ea typeface="Aptos Display" pitchFamily="34" charset="-122"/>
                <a:cs typeface="Aptos Display" pitchFamily="34" charset="-120"/>
              </a:rPr>
              <a:t>Non-causal</a:t>
            </a:r>
            <a:r>
              <a:rPr lang="en-US" sz="2600" b="1" dirty="0">
                <a:solidFill>
                  <a:srgbClr val="0F172A"/>
                </a:solidFill>
                <a:latin typeface="Aptos Display" pitchFamily="34" charset="0"/>
                <a:ea typeface="Aptos Display" pitchFamily="34" charset="-122"/>
                <a:cs typeface="Aptos Display" pitchFamily="34" charset="-120"/>
              </a:rPr>
              <a:t> convolution can use future observations</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dirty="0">
                <a:solidFill>
                  <a:srgbClr val="475569"/>
                </a:solidFill>
                <a:latin typeface="Aptos" pitchFamily="34" charset="0"/>
                <a:ea typeface="Aptos" pitchFamily="34" charset="-122"/>
                <a:cs typeface="Aptos" pitchFamily="34" charset="-120"/>
              </a:rPr>
              <a:t>A </a:t>
            </a:r>
            <a:r>
              <a:rPr lang="en-US" sz="1350" b="1" dirty="0">
                <a:solidFill>
                  <a:srgbClr val="475569"/>
                </a:solidFill>
                <a:latin typeface="Aptos" pitchFamily="34" charset="0"/>
                <a:ea typeface="Aptos" pitchFamily="34" charset="-122"/>
                <a:cs typeface="Aptos" pitchFamily="34" charset="-120"/>
              </a:rPr>
              <a:t>centered temporal kernel </a:t>
            </a:r>
            <a:r>
              <a:rPr lang="en-US" sz="1350" dirty="0">
                <a:solidFill>
                  <a:srgbClr val="475569"/>
                </a:solidFill>
                <a:latin typeface="Aptos" pitchFamily="34" charset="0"/>
                <a:ea typeface="Aptos" pitchFamily="34" charset="-122"/>
                <a:cs typeface="Aptos" pitchFamily="34" charset="-120"/>
              </a:rPr>
              <a:t>may look both backward and forward around time t.</a:t>
            </a:r>
            <a:endParaRPr lang="en-US" sz="1350" dirty="0"/>
          </a:p>
        </p:txBody>
      </p:sp>
      <p:sp>
        <p:nvSpPr>
          <p:cNvPr id="6" name="Text 4"/>
          <p:cNvSpPr/>
          <p:nvPr/>
        </p:nvSpPr>
        <p:spPr>
          <a:xfrm>
            <a:off x="1097280" y="1691640"/>
            <a:ext cx="914400" cy="228600"/>
          </a:xfrm>
          <a:prstGeom prst="rect">
            <a:avLst/>
          </a:prstGeom>
          <a:noFill/>
          <a:ln/>
        </p:spPr>
        <p:txBody>
          <a:bodyPr wrap="square" lIns="0" tIns="0" rIns="0" bIns="0" rtlCol="0" anchor="ctr">
            <a:normAutofit/>
          </a:bodyPr>
          <a:lstStyle/>
          <a:p>
            <a:pPr marL="0" indent="0" algn="ctr">
              <a:buNone/>
            </a:pPr>
            <a:r>
              <a:rPr lang="en-US" sz="1400" b="1" dirty="0">
                <a:solidFill>
                  <a:srgbClr val="475569"/>
                </a:solidFill>
              </a:rPr>
              <a:t>past</a:t>
            </a:r>
            <a:endParaRPr lang="en-US" sz="1400" dirty="0"/>
          </a:p>
        </p:txBody>
      </p:sp>
      <p:sp>
        <p:nvSpPr>
          <p:cNvPr id="7" name="Text 5"/>
          <p:cNvSpPr/>
          <p:nvPr/>
        </p:nvSpPr>
        <p:spPr>
          <a:xfrm>
            <a:off x="3840480" y="1691640"/>
            <a:ext cx="914400" cy="228600"/>
          </a:xfrm>
          <a:prstGeom prst="rect">
            <a:avLst/>
          </a:prstGeom>
          <a:noFill/>
          <a:ln/>
        </p:spPr>
        <p:txBody>
          <a:bodyPr wrap="square" lIns="0" tIns="0" rIns="0" bIns="0" rtlCol="0" anchor="ctr">
            <a:normAutofit/>
          </a:bodyPr>
          <a:lstStyle/>
          <a:p>
            <a:pPr marL="0" indent="0" algn="ctr">
              <a:buNone/>
            </a:pPr>
            <a:r>
              <a:rPr lang="en-US" sz="1400" b="1" dirty="0">
                <a:solidFill>
                  <a:srgbClr val="0F172A"/>
                </a:solidFill>
              </a:rPr>
              <a:t>now</a:t>
            </a:r>
            <a:endParaRPr lang="en-US" sz="1400" dirty="0"/>
          </a:p>
        </p:txBody>
      </p:sp>
      <p:sp>
        <p:nvSpPr>
          <p:cNvPr id="8" name="Text 6"/>
          <p:cNvSpPr/>
          <p:nvPr/>
        </p:nvSpPr>
        <p:spPr>
          <a:xfrm>
            <a:off x="5943600" y="1691640"/>
            <a:ext cx="1097280" cy="228600"/>
          </a:xfrm>
          <a:prstGeom prst="rect">
            <a:avLst/>
          </a:prstGeom>
          <a:noFill/>
          <a:ln/>
        </p:spPr>
        <p:txBody>
          <a:bodyPr wrap="square" lIns="0" tIns="0" rIns="0" bIns="0" rtlCol="0" anchor="ctr">
            <a:normAutofit/>
          </a:bodyPr>
          <a:lstStyle/>
          <a:p>
            <a:pPr marL="0" indent="0" algn="ctr">
              <a:buNone/>
            </a:pPr>
            <a:r>
              <a:rPr lang="en-US" sz="1400" b="1" dirty="0"/>
              <a:t>future</a:t>
            </a:r>
            <a:endParaRPr lang="en-US" sz="1400" dirty="0"/>
          </a:p>
        </p:txBody>
      </p:sp>
      <p:sp>
        <p:nvSpPr>
          <p:cNvPr id="9" name="Shape 7"/>
          <p:cNvSpPr/>
          <p:nvPr/>
        </p:nvSpPr>
        <p:spPr>
          <a:xfrm>
            <a:off x="1005840" y="22860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0" name="Text 8"/>
          <p:cNvSpPr/>
          <p:nvPr/>
        </p:nvSpPr>
        <p:spPr>
          <a:xfrm>
            <a:off x="1005840" y="241401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x[t−2]</a:t>
            </a:r>
            <a:endParaRPr lang="en-US" sz="1050" dirty="0"/>
          </a:p>
        </p:txBody>
      </p:sp>
      <p:sp>
        <p:nvSpPr>
          <p:cNvPr id="11" name="Shape 9"/>
          <p:cNvSpPr/>
          <p:nvPr/>
        </p:nvSpPr>
        <p:spPr>
          <a:xfrm>
            <a:off x="2194560" y="2286000"/>
            <a:ext cx="548640" cy="457200"/>
          </a:xfrm>
          <a:prstGeom prst="roundRect">
            <a:avLst>
              <a:gd name="adj" fmla="val 8000"/>
            </a:avLst>
          </a:prstGeom>
          <a:solidFill>
            <a:srgbClr val="FFE4E6"/>
          </a:solidFill>
          <a:ln w="13970">
            <a:solidFill>
              <a:srgbClr val="DC2626"/>
            </a:solidFill>
            <a:prstDash val="solid"/>
          </a:ln>
        </p:spPr>
        <p:txBody>
          <a:bodyPr/>
          <a:lstStyle/>
          <a:p>
            <a:endParaRPr lang="en-GB"/>
          </a:p>
        </p:txBody>
      </p:sp>
      <p:sp>
        <p:nvSpPr>
          <p:cNvPr id="12" name="Text 10"/>
          <p:cNvSpPr/>
          <p:nvPr/>
        </p:nvSpPr>
        <p:spPr>
          <a:xfrm>
            <a:off x="2194560" y="24140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x[t−1]</a:t>
            </a:r>
            <a:endParaRPr lang="en-US" sz="1050" dirty="0"/>
          </a:p>
        </p:txBody>
      </p:sp>
      <p:sp>
        <p:nvSpPr>
          <p:cNvPr id="13" name="Shape 11"/>
          <p:cNvSpPr/>
          <p:nvPr/>
        </p:nvSpPr>
        <p:spPr>
          <a:xfrm>
            <a:off x="3383280" y="2286000"/>
            <a:ext cx="548640" cy="457200"/>
          </a:xfrm>
          <a:prstGeom prst="roundRect">
            <a:avLst>
              <a:gd name="adj" fmla="val 8000"/>
            </a:avLst>
          </a:prstGeom>
          <a:solidFill>
            <a:srgbClr val="FFE4E6"/>
          </a:solidFill>
          <a:ln w="13970">
            <a:solidFill>
              <a:srgbClr val="DC2626"/>
            </a:solidFill>
            <a:prstDash val="solid"/>
          </a:ln>
        </p:spPr>
        <p:txBody>
          <a:bodyPr/>
          <a:lstStyle/>
          <a:p>
            <a:endParaRPr lang="en-GB"/>
          </a:p>
        </p:txBody>
      </p:sp>
      <p:sp>
        <p:nvSpPr>
          <p:cNvPr id="14" name="Text 12"/>
          <p:cNvSpPr/>
          <p:nvPr/>
        </p:nvSpPr>
        <p:spPr>
          <a:xfrm>
            <a:off x="3383280" y="24140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a:t>
            </a:r>
            <a:endParaRPr lang="en-US" sz="1050" dirty="0"/>
          </a:p>
        </p:txBody>
      </p:sp>
      <p:sp>
        <p:nvSpPr>
          <p:cNvPr id="15" name="Shape 13"/>
          <p:cNvSpPr/>
          <p:nvPr/>
        </p:nvSpPr>
        <p:spPr>
          <a:xfrm>
            <a:off x="4572000" y="2286000"/>
            <a:ext cx="548640" cy="457200"/>
          </a:xfrm>
          <a:prstGeom prst="roundRect">
            <a:avLst>
              <a:gd name="adj" fmla="val 8000"/>
            </a:avLst>
          </a:prstGeom>
          <a:solidFill>
            <a:srgbClr val="FFE4E6"/>
          </a:solidFill>
          <a:ln w="13970">
            <a:solidFill>
              <a:srgbClr val="DC2626"/>
            </a:solidFill>
            <a:prstDash val="solid"/>
          </a:ln>
        </p:spPr>
        <p:txBody>
          <a:bodyPr/>
          <a:lstStyle/>
          <a:p>
            <a:endParaRPr lang="en-GB"/>
          </a:p>
        </p:txBody>
      </p:sp>
      <p:sp>
        <p:nvSpPr>
          <p:cNvPr id="16" name="Text 14"/>
          <p:cNvSpPr/>
          <p:nvPr/>
        </p:nvSpPr>
        <p:spPr>
          <a:xfrm>
            <a:off x="4572000" y="24140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x[t+1]</a:t>
            </a:r>
            <a:endParaRPr lang="en-US" sz="1050" dirty="0"/>
          </a:p>
        </p:txBody>
      </p:sp>
      <p:sp>
        <p:nvSpPr>
          <p:cNvPr id="17" name="Shape 15"/>
          <p:cNvSpPr/>
          <p:nvPr/>
        </p:nvSpPr>
        <p:spPr>
          <a:xfrm>
            <a:off x="5760720" y="22860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8" name="Text 16"/>
          <p:cNvSpPr/>
          <p:nvPr/>
        </p:nvSpPr>
        <p:spPr>
          <a:xfrm>
            <a:off x="5760720" y="241401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x[t+2]</a:t>
            </a:r>
            <a:endParaRPr lang="en-US" sz="1050" dirty="0"/>
          </a:p>
        </p:txBody>
      </p:sp>
      <p:sp>
        <p:nvSpPr>
          <p:cNvPr id="19" name="Shape 17"/>
          <p:cNvSpPr/>
          <p:nvPr/>
        </p:nvSpPr>
        <p:spPr>
          <a:xfrm flipV="1">
            <a:off x="2148840" y="2926080"/>
            <a:ext cx="3154680" cy="320040"/>
          </a:xfrm>
          <a:prstGeom prst="bracePair">
            <a:avLst/>
          </a:prstGeom>
          <a:noFill/>
          <a:ln w="20320">
            <a:solidFill>
              <a:srgbClr val="DC2626"/>
            </a:solidFill>
            <a:prstDash val="solid"/>
          </a:ln>
        </p:spPr>
        <p:txBody>
          <a:bodyPr/>
          <a:lstStyle/>
          <a:p>
            <a:endParaRPr lang="en-GB"/>
          </a:p>
        </p:txBody>
      </p:sp>
      <p:sp>
        <p:nvSpPr>
          <p:cNvPr id="20" name="Text 18"/>
          <p:cNvSpPr/>
          <p:nvPr/>
        </p:nvSpPr>
        <p:spPr>
          <a:xfrm>
            <a:off x="1828800" y="3364992"/>
            <a:ext cx="3840480" cy="320040"/>
          </a:xfrm>
          <a:prstGeom prst="rect">
            <a:avLst/>
          </a:prstGeom>
          <a:noFill/>
          <a:ln/>
        </p:spPr>
        <p:txBody>
          <a:bodyPr wrap="square" lIns="0" tIns="0" rIns="0" bIns="0" rtlCol="0" anchor="ctr">
            <a:normAutofit fontScale="92500"/>
          </a:bodyPr>
          <a:lstStyle/>
          <a:p>
            <a:pPr marL="0" indent="0" algn="ctr">
              <a:buNone/>
            </a:pPr>
            <a:r>
              <a:rPr lang="en-US" sz="1600" b="1" dirty="0">
                <a:solidFill>
                  <a:srgbClr val="DC2626"/>
                </a:solidFill>
              </a:rPr>
              <a:t>centered kernel uses x[t−1], x[t], x[t+1]</a:t>
            </a:r>
            <a:endParaRPr lang="en-US" sz="1600" dirty="0"/>
          </a:p>
        </p:txBody>
      </p:sp>
      <p:sp>
        <p:nvSpPr>
          <p:cNvPr id="21" name="Shape 19"/>
          <p:cNvSpPr/>
          <p:nvPr/>
        </p:nvSpPr>
        <p:spPr>
          <a:xfrm>
            <a:off x="3977640" y="3749040"/>
            <a:ext cx="0" cy="822960"/>
          </a:xfrm>
          <a:prstGeom prst="line">
            <a:avLst/>
          </a:prstGeom>
          <a:noFill/>
          <a:ln w="27940">
            <a:solidFill>
              <a:srgbClr val="DC2626"/>
            </a:solidFill>
            <a:prstDash val="solid"/>
            <a:headEnd type="none"/>
            <a:tailEnd type="triangle"/>
          </a:ln>
        </p:spPr>
        <p:txBody>
          <a:bodyPr/>
          <a:lstStyle/>
          <a:p>
            <a:endParaRPr lang="en-GB"/>
          </a:p>
        </p:txBody>
      </p:sp>
      <p:sp>
        <p:nvSpPr>
          <p:cNvPr id="22" name="Shape 20"/>
          <p:cNvSpPr/>
          <p:nvPr/>
        </p:nvSpPr>
        <p:spPr>
          <a:xfrm>
            <a:off x="3246120" y="4709160"/>
            <a:ext cx="1463040" cy="594360"/>
          </a:xfrm>
          <a:prstGeom prst="roundRect">
            <a:avLst>
              <a:gd name="adj" fmla="val 9231"/>
            </a:avLst>
          </a:prstGeom>
          <a:solidFill>
            <a:srgbClr val="FFE4E6"/>
          </a:solidFill>
          <a:ln w="15240">
            <a:solidFill>
              <a:srgbClr val="DC2626"/>
            </a:solidFill>
            <a:prstDash val="solid"/>
          </a:ln>
        </p:spPr>
        <p:txBody>
          <a:bodyPr/>
          <a:lstStyle/>
          <a:p>
            <a:endParaRPr lang="en-GB"/>
          </a:p>
        </p:txBody>
      </p:sp>
      <p:sp>
        <p:nvSpPr>
          <p:cNvPr id="23" name="Text 21"/>
          <p:cNvSpPr/>
          <p:nvPr/>
        </p:nvSpPr>
        <p:spPr>
          <a:xfrm>
            <a:off x="3291840" y="4881067"/>
            <a:ext cx="1371600" cy="356616"/>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output[t]</a:t>
            </a:r>
            <a:endParaRPr lang="en-US" sz="1500" dirty="0"/>
          </a:p>
        </p:txBody>
      </p:sp>
      <p:sp>
        <p:nvSpPr>
          <p:cNvPr id="24" name="Shape 22"/>
          <p:cNvSpPr/>
          <p:nvPr/>
        </p:nvSpPr>
        <p:spPr>
          <a:xfrm>
            <a:off x="6172200" y="4283964"/>
            <a:ext cx="3108960" cy="1005840"/>
          </a:xfrm>
          <a:prstGeom prst="roundRect">
            <a:avLst>
              <a:gd name="adj" fmla="val 5455"/>
            </a:avLst>
          </a:prstGeom>
          <a:solidFill>
            <a:srgbClr val="F8FAFC"/>
          </a:solidFill>
          <a:ln w="15240">
            <a:solidFill>
              <a:srgbClr val="CBD5E1"/>
            </a:solidFill>
            <a:prstDash val="solid"/>
          </a:ln>
        </p:spPr>
        <p:txBody>
          <a:bodyPr/>
          <a:lstStyle/>
          <a:p>
            <a:endParaRPr lang="en-GB"/>
          </a:p>
        </p:txBody>
      </p:sp>
      <p:sp>
        <p:nvSpPr>
          <p:cNvPr id="25" name="Text 23"/>
          <p:cNvSpPr/>
          <p:nvPr/>
        </p:nvSpPr>
        <p:spPr>
          <a:xfrm>
            <a:off x="6217920" y="4464101"/>
            <a:ext cx="3017520" cy="603504"/>
          </a:xfrm>
          <a:prstGeom prst="rect">
            <a:avLst/>
          </a:prstGeom>
          <a:noFill/>
          <a:ln/>
        </p:spPr>
        <p:txBody>
          <a:bodyPr wrap="square" lIns="0" tIns="0" rIns="0" bIns="0" rtlCol="0" anchor="ctr">
            <a:normAutofit fontScale="92500"/>
          </a:bodyPr>
          <a:lstStyle/>
          <a:p>
            <a:pPr marL="0" indent="0" algn="ctr">
              <a:buNone/>
            </a:pPr>
            <a:r>
              <a:rPr lang="en-US" sz="1600" b="1" dirty="0">
                <a:solidFill>
                  <a:srgbClr val="0F172A"/>
                </a:solidFill>
              </a:rPr>
              <a:t>Valid for offline analysis</a:t>
            </a:r>
            <a:endParaRPr lang="en-US" sz="1600" dirty="0"/>
          </a:p>
          <a:p>
            <a:pPr marL="0" indent="0" algn="ctr">
              <a:buNone/>
            </a:pPr>
            <a:r>
              <a:rPr lang="en-US" sz="1600" b="1" dirty="0">
                <a:solidFill>
                  <a:srgbClr val="0F172A"/>
                </a:solidFill>
              </a:rPr>
              <a:t>Invalid for real-time forecasting</a:t>
            </a:r>
            <a:endParaRPr lang="en-US" sz="1600" dirty="0"/>
          </a:p>
        </p:txBody>
      </p:sp>
      <p:sp>
        <p:nvSpPr>
          <p:cNvPr id="26" name="Shape 24"/>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27" name="Text 25"/>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dirty="0">
                <a:solidFill>
                  <a:srgbClr val="0F172A"/>
                </a:solidFill>
              </a:rPr>
              <a:t>Non-causal is not wrong by itself; </a:t>
            </a:r>
            <a:r>
              <a:rPr lang="en-US" sz="1200" b="1" dirty="0">
                <a:solidFill>
                  <a:srgbClr val="0F172A"/>
                </a:solidFill>
              </a:rPr>
              <a:t>it is wrong when future values are unavailable at deployment</a:t>
            </a:r>
            <a:r>
              <a:rPr lang="en-US" sz="1200" dirty="0">
                <a:solidFill>
                  <a:srgbClr val="0F172A"/>
                </a:solidFill>
              </a:rPr>
              <a:t>.</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70269CB-902D-FAD1-9478-322CDAC2BD5B}"/>
              </a:ext>
            </a:extLst>
          </p:cNvPr>
          <p:cNvSpPr>
            <a:spLocks noGrp="1"/>
          </p:cNvSpPr>
          <p:nvPr>
            <p:ph type="title"/>
          </p:nvPr>
        </p:nvSpPr>
        <p:spPr/>
        <p:txBody>
          <a:bodyPr/>
          <a:lstStyle/>
          <a:p>
            <a:r>
              <a:rPr lang="en-GB" dirty="0"/>
              <a:t>Causal convolution</a:t>
            </a:r>
          </a:p>
        </p:txBody>
      </p:sp>
      <p:sp>
        <p:nvSpPr>
          <p:cNvPr id="3" name="Segnaposto contenuto 2">
            <a:extLst>
              <a:ext uri="{FF2B5EF4-FFF2-40B4-BE49-F238E27FC236}">
                <a16:creationId xmlns:a16="http://schemas.microsoft.com/office/drawing/2014/main" id="{5958F644-5397-03E7-DBB0-827E5F29EFAE}"/>
              </a:ext>
            </a:extLst>
          </p:cNvPr>
          <p:cNvSpPr>
            <a:spLocks noGrp="1"/>
          </p:cNvSpPr>
          <p:nvPr>
            <p:ph sz="half" idx="1"/>
          </p:nvPr>
        </p:nvSpPr>
        <p:spPr>
          <a:xfrm>
            <a:off x="677334" y="2160589"/>
            <a:ext cx="5535897" cy="4333996"/>
          </a:xfrm>
        </p:spPr>
        <p:txBody>
          <a:bodyPr>
            <a:normAutofit fontScale="92500" lnSpcReduction="10000"/>
          </a:bodyPr>
          <a:lstStyle/>
          <a:p>
            <a:r>
              <a:rPr lang="en-GB" dirty="0"/>
              <a:t>A causal convolution ensures that an output at time t uses only:</a:t>
            </a:r>
          </a:p>
          <a:p>
            <a:r>
              <a:rPr lang="en-GB" dirty="0"/>
              <a:t>x[t], x[t−1], x[t−2], ...</a:t>
            </a:r>
          </a:p>
          <a:p>
            <a:r>
              <a:rPr lang="en-GB" dirty="0"/>
              <a:t>and never:</a:t>
            </a:r>
          </a:p>
          <a:p>
            <a:r>
              <a:rPr lang="en-GB" dirty="0"/>
              <a:t>x[t+1], x[t+2], ...</a:t>
            </a:r>
          </a:p>
          <a:p>
            <a:r>
              <a:rPr lang="en-GB" dirty="0"/>
              <a:t>For kernel size 3:</a:t>
            </a:r>
          </a:p>
          <a:p>
            <a:r>
              <a:rPr lang="en-GB" dirty="0"/>
              <a:t>past                 now       future</a:t>
            </a:r>
          </a:p>
          <a:p>
            <a:br>
              <a:rPr lang="en-GB" dirty="0"/>
            </a:br>
            <a:endParaRPr lang="en-GB" dirty="0"/>
          </a:p>
          <a:p>
            <a:r>
              <a:rPr lang="en-GB" dirty="0"/>
              <a:t>x[t−2]  x[t−1]  x[t] | x[t+1] x[t+2]</a:t>
            </a:r>
          </a:p>
          <a:p>
            <a:r>
              <a:rPr lang="en-GB" dirty="0"/>
              <a:t>  └──────┘</a:t>
            </a:r>
          </a:p>
          <a:p>
            <a:r>
              <a:rPr lang="en-GB" dirty="0"/>
              <a:t>       allowed</a:t>
            </a:r>
          </a:p>
          <a:p>
            <a:endParaRPr lang="en-GB" dirty="0"/>
          </a:p>
        </p:txBody>
      </p:sp>
      <p:sp>
        <p:nvSpPr>
          <p:cNvPr id="4" name="Segnaposto contenuto 3">
            <a:extLst>
              <a:ext uri="{FF2B5EF4-FFF2-40B4-BE49-F238E27FC236}">
                <a16:creationId xmlns:a16="http://schemas.microsoft.com/office/drawing/2014/main" id="{A36834F2-10D7-B35D-0820-681465E0AC5C}"/>
              </a:ext>
            </a:extLst>
          </p:cNvPr>
          <p:cNvSpPr>
            <a:spLocks noGrp="1"/>
          </p:cNvSpPr>
          <p:nvPr>
            <p:ph sz="half" idx="2"/>
          </p:nvPr>
        </p:nvSpPr>
        <p:spPr>
          <a:xfrm>
            <a:off x="6637415" y="2160588"/>
            <a:ext cx="5109107" cy="4333997"/>
          </a:xfrm>
        </p:spPr>
        <p:txBody>
          <a:bodyPr>
            <a:normAutofit fontScale="92500" lnSpcReduction="10000"/>
          </a:bodyPr>
          <a:lstStyle/>
          <a:p>
            <a:r>
              <a:rPr lang="en-GB" b="1" dirty="0"/>
              <a:t>Causal dependency</a:t>
            </a:r>
          </a:p>
          <a:p>
            <a:r>
              <a:rPr lang="en-GB" dirty="0"/>
              <a:t>output[t]</a:t>
            </a:r>
          </a:p>
          <a:p>
            <a:r>
              <a:rPr lang="en-GB" dirty="0"/>
              <a:t>can depend on:</a:t>
            </a:r>
          </a:p>
          <a:p>
            <a:pPr lvl="1"/>
            <a:r>
              <a:rPr lang="en-GB" dirty="0"/>
              <a:t>current input; </a:t>
            </a:r>
          </a:p>
          <a:p>
            <a:pPr lvl="1"/>
            <a:r>
              <a:rPr lang="en-GB" dirty="0"/>
              <a:t>previous inputs. </a:t>
            </a:r>
          </a:p>
          <a:p>
            <a:r>
              <a:rPr lang="en-GB" dirty="0"/>
              <a:t>It cannot depend on future values.</a:t>
            </a:r>
          </a:p>
          <a:p>
            <a:endParaRPr lang="en-GB" b="1" dirty="0"/>
          </a:p>
          <a:p>
            <a:r>
              <a:rPr lang="en-GB" b="1" dirty="0">
                <a:highlight>
                  <a:srgbClr val="FFFF00"/>
                </a:highlight>
              </a:rPr>
              <a:t>Applications</a:t>
            </a:r>
          </a:p>
          <a:p>
            <a:pPr lvl="1"/>
            <a:r>
              <a:rPr lang="en-GB" dirty="0"/>
              <a:t>forecasting; </a:t>
            </a:r>
          </a:p>
          <a:p>
            <a:pPr lvl="1"/>
            <a:r>
              <a:rPr lang="en-GB" dirty="0"/>
              <a:t>online anomaly detection; </a:t>
            </a:r>
          </a:p>
          <a:p>
            <a:pPr lvl="1"/>
            <a:r>
              <a:rPr lang="en-GB" dirty="0"/>
              <a:t>real-time sequence labelling; </a:t>
            </a:r>
          </a:p>
          <a:p>
            <a:pPr lvl="1"/>
            <a:r>
              <a:rPr lang="en-GB" dirty="0"/>
              <a:t>streaming condition monitoring.</a:t>
            </a:r>
          </a:p>
          <a:p>
            <a:endParaRPr lang="en-GB" dirty="0"/>
          </a:p>
        </p:txBody>
      </p:sp>
    </p:spTree>
    <p:extLst>
      <p:ext uri="{BB962C8B-B14F-4D97-AF65-F5344CB8AC3E}">
        <p14:creationId xmlns:p14="http://schemas.microsoft.com/office/powerpoint/2010/main" val="235145508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5.F.2 — </a:t>
            </a:r>
            <a:r>
              <a:rPr lang="en-US" sz="2600" b="1" dirty="0">
                <a:solidFill>
                  <a:srgbClr val="0F172A"/>
                </a:solidFill>
                <a:highlight>
                  <a:srgbClr val="FFFF00"/>
                </a:highlight>
                <a:latin typeface="Aptos Display" pitchFamily="34" charset="0"/>
                <a:ea typeface="Aptos Display" pitchFamily="34" charset="-122"/>
                <a:cs typeface="Aptos Display" pitchFamily="34" charset="-120"/>
              </a:rPr>
              <a:t>Causal</a:t>
            </a:r>
            <a:r>
              <a:rPr lang="en-US" sz="2600" b="1" dirty="0">
                <a:solidFill>
                  <a:srgbClr val="0F172A"/>
                </a:solidFill>
                <a:latin typeface="Aptos Display" pitchFamily="34" charset="0"/>
                <a:ea typeface="Aptos Display" pitchFamily="34" charset="-122"/>
                <a:cs typeface="Aptos Display" pitchFamily="34" charset="-120"/>
              </a:rPr>
              <a:t> convolution: use only past and present</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dirty="0">
                <a:solidFill>
                  <a:srgbClr val="475569"/>
                </a:solidFill>
                <a:latin typeface="Aptos" pitchFamily="34" charset="0"/>
                <a:ea typeface="Aptos" pitchFamily="34" charset="-122"/>
                <a:cs typeface="Aptos" pitchFamily="34" charset="-120"/>
              </a:rPr>
              <a:t>At time t, a causal output never depends on x[t+1], x[t+2], ...</a:t>
            </a:r>
            <a:endParaRPr lang="en-US" sz="1350" dirty="0"/>
          </a:p>
        </p:txBody>
      </p:sp>
      <p:sp>
        <p:nvSpPr>
          <p:cNvPr id="6" name="Text 4"/>
          <p:cNvSpPr/>
          <p:nvPr/>
        </p:nvSpPr>
        <p:spPr>
          <a:xfrm>
            <a:off x="1143000" y="1600200"/>
            <a:ext cx="2286000" cy="228600"/>
          </a:xfrm>
          <a:prstGeom prst="rect">
            <a:avLst/>
          </a:prstGeom>
          <a:noFill/>
          <a:ln/>
        </p:spPr>
        <p:txBody>
          <a:bodyPr wrap="square" lIns="0" tIns="0" rIns="0" bIns="0" rtlCol="0" anchor="ctr">
            <a:normAutofit/>
          </a:bodyPr>
          <a:lstStyle/>
          <a:p>
            <a:pPr marL="0" indent="0" algn="ctr">
              <a:buNone/>
            </a:pPr>
            <a:r>
              <a:rPr lang="en-US" sz="1400" b="1" dirty="0">
                <a:solidFill>
                  <a:srgbClr val="84B91F"/>
                </a:solidFill>
              </a:rPr>
              <a:t>allowed history</a:t>
            </a:r>
            <a:endParaRPr lang="en-US" sz="1400" dirty="0"/>
          </a:p>
        </p:txBody>
      </p:sp>
      <p:sp>
        <p:nvSpPr>
          <p:cNvPr id="7" name="Text 5"/>
          <p:cNvSpPr/>
          <p:nvPr/>
        </p:nvSpPr>
        <p:spPr>
          <a:xfrm>
            <a:off x="5669280" y="1600200"/>
            <a:ext cx="2011680" cy="228600"/>
          </a:xfrm>
          <a:prstGeom prst="rect">
            <a:avLst/>
          </a:prstGeom>
          <a:noFill/>
          <a:ln/>
        </p:spPr>
        <p:txBody>
          <a:bodyPr wrap="square" lIns="0" tIns="0" rIns="0" bIns="0" rtlCol="0" anchor="ctr">
            <a:normAutofit/>
          </a:bodyPr>
          <a:lstStyle/>
          <a:p>
            <a:pPr marL="0" indent="0" algn="ctr">
              <a:buNone/>
            </a:pPr>
            <a:r>
              <a:rPr lang="en-US" sz="1400" b="1" dirty="0"/>
              <a:t>future not allowed</a:t>
            </a:r>
            <a:endParaRPr lang="en-US" sz="1400" dirty="0"/>
          </a:p>
        </p:txBody>
      </p:sp>
      <p:sp>
        <p:nvSpPr>
          <p:cNvPr id="8" name="Shape 6"/>
          <p:cNvSpPr/>
          <p:nvPr/>
        </p:nvSpPr>
        <p:spPr>
          <a:xfrm>
            <a:off x="868680" y="224028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9" name="Text 7"/>
          <p:cNvSpPr/>
          <p:nvPr/>
        </p:nvSpPr>
        <p:spPr>
          <a:xfrm>
            <a:off x="868680" y="236829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x[t−4]</a:t>
            </a:r>
            <a:endParaRPr lang="en-US" sz="1050" dirty="0"/>
          </a:p>
        </p:txBody>
      </p:sp>
      <p:sp>
        <p:nvSpPr>
          <p:cNvPr id="10" name="Shape 8"/>
          <p:cNvSpPr/>
          <p:nvPr/>
        </p:nvSpPr>
        <p:spPr>
          <a:xfrm>
            <a:off x="1874520" y="224028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1" name="Text 9"/>
          <p:cNvSpPr/>
          <p:nvPr/>
        </p:nvSpPr>
        <p:spPr>
          <a:xfrm>
            <a:off x="1874520" y="236829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x[t−3]</a:t>
            </a:r>
            <a:endParaRPr lang="en-US" sz="1050" dirty="0"/>
          </a:p>
        </p:txBody>
      </p:sp>
      <p:sp>
        <p:nvSpPr>
          <p:cNvPr id="12" name="Shape 10"/>
          <p:cNvSpPr/>
          <p:nvPr/>
        </p:nvSpPr>
        <p:spPr>
          <a:xfrm>
            <a:off x="2880360" y="224028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13" name="Text 11"/>
          <p:cNvSpPr/>
          <p:nvPr/>
        </p:nvSpPr>
        <p:spPr>
          <a:xfrm>
            <a:off x="2880360" y="236829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x[t−2]</a:t>
            </a:r>
            <a:endParaRPr lang="en-US" sz="1050" dirty="0"/>
          </a:p>
        </p:txBody>
      </p:sp>
      <p:sp>
        <p:nvSpPr>
          <p:cNvPr id="14" name="Shape 12"/>
          <p:cNvSpPr/>
          <p:nvPr/>
        </p:nvSpPr>
        <p:spPr>
          <a:xfrm>
            <a:off x="3886200" y="224028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15" name="Text 13"/>
          <p:cNvSpPr/>
          <p:nvPr/>
        </p:nvSpPr>
        <p:spPr>
          <a:xfrm>
            <a:off x="3886200" y="236829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x[t−1]</a:t>
            </a:r>
            <a:endParaRPr lang="en-US" sz="1050" dirty="0"/>
          </a:p>
        </p:txBody>
      </p:sp>
      <p:sp>
        <p:nvSpPr>
          <p:cNvPr id="16" name="Shape 14"/>
          <p:cNvSpPr/>
          <p:nvPr/>
        </p:nvSpPr>
        <p:spPr>
          <a:xfrm>
            <a:off x="4892040" y="224028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17" name="Text 15"/>
          <p:cNvSpPr/>
          <p:nvPr/>
        </p:nvSpPr>
        <p:spPr>
          <a:xfrm>
            <a:off x="4892040" y="236829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a:t>
            </a:r>
            <a:endParaRPr lang="en-US" sz="1050" dirty="0"/>
          </a:p>
        </p:txBody>
      </p:sp>
      <p:sp>
        <p:nvSpPr>
          <p:cNvPr id="18" name="Shape 16"/>
          <p:cNvSpPr/>
          <p:nvPr/>
        </p:nvSpPr>
        <p:spPr>
          <a:xfrm>
            <a:off x="5897880" y="224028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9" name="Text 17"/>
          <p:cNvSpPr/>
          <p:nvPr/>
        </p:nvSpPr>
        <p:spPr>
          <a:xfrm>
            <a:off x="5897880" y="236829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x[t+1]</a:t>
            </a:r>
            <a:endParaRPr lang="en-US" sz="1050" dirty="0"/>
          </a:p>
        </p:txBody>
      </p:sp>
      <p:sp>
        <p:nvSpPr>
          <p:cNvPr id="20" name="Shape 18"/>
          <p:cNvSpPr/>
          <p:nvPr/>
        </p:nvSpPr>
        <p:spPr>
          <a:xfrm>
            <a:off x="6903720" y="224028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21" name="Text 19"/>
          <p:cNvSpPr/>
          <p:nvPr/>
        </p:nvSpPr>
        <p:spPr>
          <a:xfrm>
            <a:off x="6903720" y="236829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x[t+2]</a:t>
            </a:r>
            <a:endParaRPr lang="en-US" sz="1050" dirty="0"/>
          </a:p>
        </p:txBody>
      </p:sp>
      <p:sp>
        <p:nvSpPr>
          <p:cNvPr id="22" name="Shape 20"/>
          <p:cNvSpPr/>
          <p:nvPr/>
        </p:nvSpPr>
        <p:spPr>
          <a:xfrm>
            <a:off x="5897880" y="2852928"/>
            <a:ext cx="1645920" cy="0"/>
          </a:xfrm>
          <a:prstGeom prst="line">
            <a:avLst/>
          </a:prstGeom>
          <a:noFill/>
          <a:ln w="25400">
            <a:solidFill>
              <a:schemeClr val="tx1"/>
            </a:solidFill>
            <a:prstDash val="solid"/>
          </a:ln>
        </p:spPr>
        <p:txBody>
          <a:bodyPr/>
          <a:lstStyle/>
          <a:p>
            <a:endParaRPr lang="en-GB"/>
          </a:p>
        </p:txBody>
      </p:sp>
      <p:sp>
        <p:nvSpPr>
          <p:cNvPr id="23" name="Text 21"/>
          <p:cNvSpPr/>
          <p:nvPr/>
        </p:nvSpPr>
        <p:spPr>
          <a:xfrm>
            <a:off x="5760720" y="2953512"/>
            <a:ext cx="1920240" cy="228600"/>
          </a:xfrm>
          <a:prstGeom prst="rect">
            <a:avLst/>
          </a:prstGeom>
          <a:noFill/>
          <a:ln/>
        </p:spPr>
        <p:txBody>
          <a:bodyPr wrap="square" lIns="0" tIns="0" rIns="0" bIns="0" rtlCol="0" anchor="ctr">
            <a:normAutofit/>
          </a:bodyPr>
          <a:lstStyle/>
          <a:p>
            <a:pPr marL="0" indent="0" algn="ctr">
              <a:buNone/>
            </a:pPr>
            <a:r>
              <a:rPr lang="en-US" sz="1050" b="1" dirty="0"/>
              <a:t>future values are not available</a:t>
            </a:r>
            <a:endParaRPr lang="en-US" sz="1050" dirty="0"/>
          </a:p>
        </p:txBody>
      </p:sp>
      <p:sp>
        <p:nvSpPr>
          <p:cNvPr id="24" name="Shape 22"/>
          <p:cNvSpPr/>
          <p:nvPr/>
        </p:nvSpPr>
        <p:spPr>
          <a:xfrm flipV="1">
            <a:off x="2834640" y="2926080"/>
            <a:ext cx="2560320" cy="320040"/>
          </a:xfrm>
          <a:prstGeom prst="bracePair">
            <a:avLst/>
          </a:prstGeom>
          <a:noFill/>
          <a:ln w="20320">
            <a:solidFill>
              <a:srgbClr val="84B91F"/>
            </a:solidFill>
            <a:prstDash val="solid"/>
          </a:ln>
        </p:spPr>
        <p:txBody>
          <a:bodyPr/>
          <a:lstStyle/>
          <a:p>
            <a:endParaRPr lang="en-GB"/>
          </a:p>
        </p:txBody>
      </p:sp>
      <p:sp>
        <p:nvSpPr>
          <p:cNvPr id="25" name="Text 23"/>
          <p:cNvSpPr/>
          <p:nvPr/>
        </p:nvSpPr>
        <p:spPr>
          <a:xfrm>
            <a:off x="2971800" y="3364992"/>
            <a:ext cx="2194560" cy="320040"/>
          </a:xfrm>
          <a:prstGeom prst="rect">
            <a:avLst/>
          </a:prstGeom>
          <a:noFill/>
          <a:ln/>
        </p:spPr>
        <p:txBody>
          <a:bodyPr wrap="square" lIns="0" tIns="0" rIns="0" bIns="0" rtlCol="0" anchor="ctr">
            <a:normAutofit/>
          </a:bodyPr>
          <a:lstStyle/>
          <a:p>
            <a:pPr marL="0" indent="0" algn="ctr">
              <a:buNone/>
            </a:pPr>
            <a:r>
              <a:rPr lang="en-US" sz="1600" b="1" dirty="0">
                <a:solidFill>
                  <a:srgbClr val="84B91F"/>
                </a:solidFill>
              </a:rPr>
              <a:t>causal kernel K = 3</a:t>
            </a:r>
            <a:endParaRPr lang="en-US" sz="1600" dirty="0"/>
          </a:p>
        </p:txBody>
      </p:sp>
      <p:sp>
        <p:nvSpPr>
          <p:cNvPr id="26" name="Shape 24"/>
          <p:cNvSpPr/>
          <p:nvPr/>
        </p:nvSpPr>
        <p:spPr>
          <a:xfrm>
            <a:off x="4114800" y="3749040"/>
            <a:ext cx="0" cy="731520"/>
          </a:xfrm>
          <a:prstGeom prst="line">
            <a:avLst/>
          </a:prstGeom>
          <a:noFill/>
          <a:ln w="27940">
            <a:solidFill>
              <a:srgbClr val="84B91F"/>
            </a:solidFill>
            <a:prstDash val="solid"/>
            <a:headEnd type="none"/>
            <a:tailEnd type="triangle"/>
          </a:ln>
        </p:spPr>
        <p:txBody>
          <a:bodyPr/>
          <a:lstStyle/>
          <a:p>
            <a:endParaRPr lang="en-GB"/>
          </a:p>
        </p:txBody>
      </p:sp>
      <p:sp>
        <p:nvSpPr>
          <p:cNvPr id="27" name="Shape 25"/>
          <p:cNvSpPr/>
          <p:nvPr/>
        </p:nvSpPr>
        <p:spPr>
          <a:xfrm>
            <a:off x="3383280" y="4617720"/>
            <a:ext cx="1463040" cy="594360"/>
          </a:xfrm>
          <a:prstGeom prst="roundRect">
            <a:avLst>
              <a:gd name="adj" fmla="val 9231"/>
            </a:avLst>
          </a:prstGeom>
          <a:solidFill>
            <a:srgbClr val="E7F5C7"/>
          </a:solidFill>
          <a:ln w="15240">
            <a:solidFill>
              <a:srgbClr val="84B91F"/>
            </a:solidFill>
            <a:prstDash val="solid"/>
          </a:ln>
        </p:spPr>
        <p:txBody>
          <a:bodyPr/>
          <a:lstStyle/>
          <a:p>
            <a:endParaRPr lang="en-GB"/>
          </a:p>
        </p:txBody>
      </p:sp>
      <p:sp>
        <p:nvSpPr>
          <p:cNvPr id="28" name="Text 26"/>
          <p:cNvSpPr/>
          <p:nvPr/>
        </p:nvSpPr>
        <p:spPr>
          <a:xfrm>
            <a:off x="3429000" y="4789627"/>
            <a:ext cx="1371600" cy="356616"/>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output[t]</a:t>
            </a:r>
            <a:endParaRPr lang="en-US" sz="1500" dirty="0"/>
          </a:p>
        </p:txBody>
      </p:sp>
      <p:sp>
        <p:nvSpPr>
          <p:cNvPr id="29" name="Shape 27"/>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30" name="Text 28"/>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dirty="0">
                <a:solidFill>
                  <a:srgbClr val="0F172A"/>
                </a:solidFill>
              </a:rPr>
              <a:t>For forecasting and online monitoring, causal connectivity enforces prediction-time availability.</a:t>
            </a:r>
            <a:endParaRPr lang="en-US" sz="1200" dirty="0"/>
          </a:p>
        </p:txBody>
      </p:sp>
      <p:sp>
        <p:nvSpPr>
          <p:cNvPr id="31" name="CasellaDiTesto 30">
            <a:extLst>
              <a:ext uri="{FF2B5EF4-FFF2-40B4-BE49-F238E27FC236}">
                <a16:creationId xmlns:a16="http://schemas.microsoft.com/office/drawing/2014/main" id="{114B12FE-870B-1D5C-3EF2-732DDB988758}"/>
              </a:ext>
            </a:extLst>
          </p:cNvPr>
          <p:cNvSpPr txBox="1"/>
          <p:nvPr/>
        </p:nvSpPr>
        <p:spPr>
          <a:xfrm>
            <a:off x="8164945" y="4137891"/>
            <a:ext cx="3823855" cy="2031325"/>
          </a:xfrm>
          <a:prstGeom prst="rect">
            <a:avLst/>
          </a:prstGeom>
          <a:noFill/>
        </p:spPr>
        <p:txBody>
          <a:bodyPr wrap="square" rtlCol="0">
            <a:spAutoFit/>
          </a:bodyPr>
          <a:lstStyle/>
          <a:p>
            <a:r>
              <a:rPr lang="en-GB" b="1" dirty="0">
                <a:highlight>
                  <a:srgbClr val="FFFF00"/>
                </a:highlight>
              </a:rPr>
              <a:t>Leakage issue:</a:t>
            </a:r>
            <a:r>
              <a:rPr lang="en-GB" dirty="0"/>
              <a:t> a dataset may contain future observations relative to the prediction time. These observations must not be used as inputs unless they would genuinely be known at prediction time in the real application.</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5DD7D58-F9E3-294D-ADD3-EA7F6BB37F98}"/>
              </a:ext>
            </a:extLst>
          </p:cNvPr>
          <p:cNvSpPr>
            <a:spLocks noGrp="1"/>
          </p:cNvSpPr>
          <p:nvPr>
            <p:ph type="title"/>
          </p:nvPr>
        </p:nvSpPr>
        <p:spPr/>
        <p:txBody>
          <a:bodyPr/>
          <a:lstStyle/>
          <a:p>
            <a:r>
              <a:rPr lang="en-GB" dirty="0">
                <a:highlight>
                  <a:srgbClr val="FFFF00"/>
                </a:highlight>
              </a:rPr>
              <a:t>Causal padding </a:t>
            </a:r>
            <a:r>
              <a:rPr lang="en-GB" u="sng" dirty="0">
                <a:highlight>
                  <a:srgbClr val="FFFF00"/>
                </a:highlight>
              </a:rPr>
              <a:t>preserves temporal length</a:t>
            </a:r>
          </a:p>
        </p:txBody>
      </p:sp>
      <p:sp>
        <p:nvSpPr>
          <p:cNvPr id="3" name="Segnaposto contenuto 2">
            <a:extLst>
              <a:ext uri="{FF2B5EF4-FFF2-40B4-BE49-F238E27FC236}">
                <a16:creationId xmlns:a16="http://schemas.microsoft.com/office/drawing/2014/main" id="{1C3B2042-DDDC-45F4-5D04-17E33FB358EB}"/>
              </a:ext>
            </a:extLst>
          </p:cNvPr>
          <p:cNvSpPr>
            <a:spLocks noGrp="1"/>
          </p:cNvSpPr>
          <p:nvPr>
            <p:ph sz="half" idx="1"/>
          </p:nvPr>
        </p:nvSpPr>
        <p:spPr>
          <a:xfrm>
            <a:off x="524934" y="2175856"/>
            <a:ext cx="4184035" cy="3880772"/>
          </a:xfrm>
        </p:spPr>
        <p:txBody>
          <a:bodyPr>
            <a:normAutofit/>
          </a:bodyPr>
          <a:lstStyle/>
          <a:p>
            <a:r>
              <a:rPr lang="en-GB" dirty="0">
                <a:highlight>
                  <a:srgbClr val="FFFF00"/>
                </a:highlight>
              </a:rPr>
              <a:t>Suppose:</a:t>
            </a:r>
          </a:p>
          <a:p>
            <a:pPr lvl="1"/>
            <a:r>
              <a:rPr lang="en-GB" dirty="0"/>
              <a:t>kernel size K = 3; </a:t>
            </a:r>
          </a:p>
          <a:p>
            <a:pPr lvl="1"/>
            <a:r>
              <a:rPr lang="en-GB" dirty="0"/>
              <a:t>stride 1. </a:t>
            </a:r>
          </a:p>
          <a:p>
            <a:r>
              <a:rPr lang="en-GB" dirty="0"/>
              <a:t>To produce an output at the first time step, two earlier observations would normally be required.</a:t>
            </a:r>
          </a:p>
          <a:p>
            <a:r>
              <a:rPr lang="en-GB" dirty="0"/>
              <a:t>But they do not exist.</a:t>
            </a:r>
          </a:p>
          <a:p>
            <a:r>
              <a:rPr lang="en-GB" b="1" dirty="0"/>
              <a:t>Causal padding</a:t>
            </a:r>
          </a:p>
          <a:p>
            <a:pPr lvl="1"/>
            <a:r>
              <a:rPr lang="en-GB" dirty="0"/>
              <a:t>Add padding only on the </a:t>
            </a:r>
            <a:r>
              <a:rPr lang="en-GB" b="1" dirty="0"/>
              <a:t>left side</a:t>
            </a:r>
            <a:r>
              <a:rPr lang="en-GB" dirty="0"/>
              <a:t>.</a:t>
            </a:r>
          </a:p>
          <a:p>
            <a:pPr lvl="1"/>
            <a:r>
              <a:rPr lang="en-GB" dirty="0"/>
              <a:t>0  0  x[1] x[2] x[3] x[4] ...</a:t>
            </a:r>
          </a:p>
          <a:p>
            <a:endParaRPr lang="en-GB" dirty="0"/>
          </a:p>
        </p:txBody>
      </p:sp>
      <p:sp>
        <p:nvSpPr>
          <p:cNvPr id="4" name="Segnaposto contenuto 3">
            <a:extLst>
              <a:ext uri="{FF2B5EF4-FFF2-40B4-BE49-F238E27FC236}">
                <a16:creationId xmlns:a16="http://schemas.microsoft.com/office/drawing/2014/main" id="{C644F014-2766-FF4C-6EC1-F16C60B817BC}"/>
              </a:ext>
            </a:extLst>
          </p:cNvPr>
          <p:cNvSpPr>
            <a:spLocks noGrp="1"/>
          </p:cNvSpPr>
          <p:nvPr>
            <p:ph sz="half" idx="2"/>
          </p:nvPr>
        </p:nvSpPr>
        <p:spPr>
          <a:xfrm>
            <a:off x="7809724" y="2160589"/>
            <a:ext cx="4184034" cy="3880773"/>
          </a:xfrm>
        </p:spPr>
        <p:txBody>
          <a:bodyPr>
            <a:normAutofit/>
          </a:bodyPr>
          <a:lstStyle/>
          <a:p>
            <a:r>
              <a:rPr lang="en-GB" b="1" dirty="0">
                <a:highlight>
                  <a:srgbClr val="FFFF00"/>
                </a:highlight>
              </a:rPr>
              <a:t>Result</a:t>
            </a:r>
          </a:p>
          <a:p>
            <a:r>
              <a:rPr lang="en-GB" dirty="0"/>
              <a:t>Input length: L</a:t>
            </a:r>
          </a:p>
          <a:p>
            <a:r>
              <a:rPr lang="en-GB" dirty="0"/>
              <a:t>Output length: L</a:t>
            </a:r>
          </a:p>
          <a:p>
            <a:r>
              <a:rPr lang="en-GB" dirty="0"/>
              <a:t>while causality is preserved.</a:t>
            </a:r>
          </a:p>
          <a:p>
            <a:endParaRPr lang="en-GB" dirty="0"/>
          </a:p>
          <a:p>
            <a:r>
              <a:rPr lang="en-GB" b="1" dirty="0">
                <a:highlight>
                  <a:srgbClr val="FFFF00"/>
                </a:highlight>
              </a:rPr>
              <a:t>Same-length output does not require symmetric padding.</a:t>
            </a:r>
          </a:p>
          <a:p>
            <a:r>
              <a:rPr lang="en-GB" b="1" dirty="0">
                <a:highlight>
                  <a:srgbClr val="FFFF00"/>
                </a:highlight>
              </a:rPr>
              <a:t>For causal convolution, padding is placed only before the sequence.</a:t>
            </a:r>
          </a:p>
          <a:p>
            <a:endParaRPr lang="en-GB" dirty="0"/>
          </a:p>
        </p:txBody>
      </p:sp>
      <p:sp>
        <p:nvSpPr>
          <p:cNvPr id="7" name="Segnaposto contenuto 3">
            <a:extLst>
              <a:ext uri="{FF2B5EF4-FFF2-40B4-BE49-F238E27FC236}">
                <a16:creationId xmlns:a16="http://schemas.microsoft.com/office/drawing/2014/main" id="{9BB95004-2298-2C5E-1C9E-A783A22995EE}"/>
              </a:ext>
            </a:extLst>
          </p:cNvPr>
          <p:cNvSpPr txBox="1">
            <a:spLocks/>
          </p:cNvSpPr>
          <p:nvPr/>
        </p:nvSpPr>
        <p:spPr>
          <a:xfrm>
            <a:off x="4861369" y="2247799"/>
            <a:ext cx="4184034"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highlight>
                  <a:srgbClr val="FFFF00"/>
                </a:highlight>
              </a:rPr>
              <a:t>Then:</a:t>
            </a:r>
          </a:p>
          <a:p>
            <a:r>
              <a:rPr lang="en-GB" dirty="0"/>
              <a:t>output[1] uses:</a:t>
            </a:r>
          </a:p>
          <a:p>
            <a:r>
              <a:rPr lang="en-GB" dirty="0"/>
              <a:t>0, 0, x[1]</a:t>
            </a:r>
            <a:br>
              <a:rPr lang="en-GB" dirty="0"/>
            </a:br>
            <a:endParaRPr lang="en-GB" dirty="0"/>
          </a:p>
          <a:p>
            <a:r>
              <a:rPr lang="en-GB" dirty="0"/>
              <a:t>output[2] uses:</a:t>
            </a:r>
          </a:p>
          <a:p>
            <a:r>
              <a:rPr lang="en-GB" dirty="0"/>
              <a:t>0, x[1], x[2]</a:t>
            </a:r>
            <a:br>
              <a:rPr lang="en-GB" dirty="0"/>
            </a:br>
            <a:endParaRPr lang="en-GB" dirty="0"/>
          </a:p>
          <a:p>
            <a:r>
              <a:rPr lang="en-GB" dirty="0"/>
              <a:t>output[3] uses:</a:t>
            </a:r>
          </a:p>
          <a:p>
            <a:r>
              <a:rPr lang="en-GB" dirty="0"/>
              <a:t>x[1], x[2], x[3]</a:t>
            </a:r>
          </a:p>
          <a:p>
            <a:endParaRPr lang="en-GB" dirty="0"/>
          </a:p>
        </p:txBody>
      </p:sp>
    </p:spTree>
    <p:extLst>
      <p:ext uri="{BB962C8B-B14F-4D97-AF65-F5344CB8AC3E}">
        <p14:creationId xmlns:p14="http://schemas.microsoft.com/office/powerpoint/2010/main" val="427043049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5.F.3 — Causal padding preserves length without using the future</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b="1" dirty="0">
                <a:solidFill>
                  <a:srgbClr val="475569"/>
                </a:solidFill>
                <a:latin typeface="Aptos" pitchFamily="34" charset="0"/>
                <a:ea typeface="Aptos" pitchFamily="34" charset="-122"/>
                <a:cs typeface="Aptos" pitchFamily="34" charset="-120"/>
              </a:rPr>
              <a:t>Padding is added only before the sequence.</a:t>
            </a:r>
            <a:endParaRPr lang="en-US" sz="1350" b="1" dirty="0"/>
          </a:p>
        </p:txBody>
      </p:sp>
      <p:sp>
        <p:nvSpPr>
          <p:cNvPr id="6" name="Text 4"/>
          <p:cNvSpPr/>
          <p:nvPr/>
        </p:nvSpPr>
        <p:spPr>
          <a:xfrm>
            <a:off x="868680" y="1417320"/>
            <a:ext cx="2743200" cy="228600"/>
          </a:xfrm>
          <a:prstGeom prst="rect">
            <a:avLst/>
          </a:prstGeom>
          <a:noFill/>
          <a:ln/>
        </p:spPr>
        <p:txBody>
          <a:bodyPr wrap="square" lIns="0" tIns="0" rIns="0" bIns="0" rtlCol="0" anchor="ctr">
            <a:normAutofit/>
          </a:bodyPr>
          <a:lstStyle/>
          <a:p>
            <a:pPr marL="0" indent="0" algn="l">
              <a:buNone/>
            </a:pPr>
            <a:r>
              <a:rPr lang="en-US" sz="1400" b="1" dirty="0">
                <a:solidFill>
                  <a:srgbClr val="475569"/>
                </a:solidFill>
              </a:rPr>
              <a:t>causally padded sequence</a:t>
            </a:r>
            <a:endParaRPr lang="en-US" sz="1400" dirty="0"/>
          </a:p>
        </p:txBody>
      </p:sp>
      <p:sp>
        <p:nvSpPr>
          <p:cNvPr id="7" name="Shape 5"/>
          <p:cNvSpPr/>
          <p:nvPr/>
        </p:nvSpPr>
        <p:spPr>
          <a:xfrm>
            <a:off x="960120" y="1920240"/>
            <a:ext cx="548640" cy="457200"/>
          </a:xfrm>
          <a:prstGeom prst="roundRect">
            <a:avLst>
              <a:gd name="adj" fmla="val 8000"/>
            </a:avLst>
          </a:prstGeom>
          <a:solidFill>
            <a:srgbClr val="F1F5F9"/>
          </a:solidFill>
          <a:ln w="13970">
            <a:solidFill>
              <a:srgbClr val="94A3B8"/>
            </a:solidFill>
            <a:prstDash val="solid"/>
          </a:ln>
        </p:spPr>
        <p:txBody>
          <a:bodyPr/>
          <a:lstStyle/>
          <a:p>
            <a:endParaRPr lang="en-GB"/>
          </a:p>
        </p:txBody>
      </p:sp>
      <p:sp>
        <p:nvSpPr>
          <p:cNvPr id="8" name="Text 6"/>
          <p:cNvSpPr/>
          <p:nvPr/>
        </p:nvSpPr>
        <p:spPr>
          <a:xfrm>
            <a:off x="960120" y="204825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0</a:t>
            </a:r>
            <a:endParaRPr lang="en-US" sz="1050" dirty="0"/>
          </a:p>
        </p:txBody>
      </p:sp>
      <p:sp>
        <p:nvSpPr>
          <p:cNvPr id="9" name="Shape 7"/>
          <p:cNvSpPr/>
          <p:nvPr/>
        </p:nvSpPr>
        <p:spPr>
          <a:xfrm>
            <a:off x="1691640" y="1920240"/>
            <a:ext cx="548640" cy="457200"/>
          </a:xfrm>
          <a:prstGeom prst="roundRect">
            <a:avLst>
              <a:gd name="adj" fmla="val 8000"/>
            </a:avLst>
          </a:prstGeom>
          <a:solidFill>
            <a:srgbClr val="F1F5F9"/>
          </a:solidFill>
          <a:ln w="13970">
            <a:solidFill>
              <a:srgbClr val="94A3B8"/>
            </a:solidFill>
            <a:prstDash val="solid"/>
          </a:ln>
        </p:spPr>
        <p:txBody>
          <a:bodyPr/>
          <a:lstStyle/>
          <a:p>
            <a:endParaRPr lang="en-GB"/>
          </a:p>
        </p:txBody>
      </p:sp>
      <p:sp>
        <p:nvSpPr>
          <p:cNvPr id="10" name="Text 8"/>
          <p:cNvSpPr/>
          <p:nvPr/>
        </p:nvSpPr>
        <p:spPr>
          <a:xfrm>
            <a:off x="1691640" y="204825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0</a:t>
            </a:r>
            <a:endParaRPr lang="en-US" sz="1050" dirty="0"/>
          </a:p>
        </p:txBody>
      </p:sp>
      <p:sp>
        <p:nvSpPr>
          <p:cNvPr id="11" name="Shape 9"/>
          <p:cNvSpPr/>
          <p:nvPr/>
        </p:nvSpPr>
        <p:spPr>
          <a:xfrm>
            <a:off x="2423160" y="1920240"/>
            <a:ext cx="548640" cy="457200"/>
          </a:xfrm>
          <a:prstGeom prst="roundRect">
            <a:avLst>
              <a:gd name="adj" fmla="val 8000"/>
            </a:avLst>
          </a:prstGeom>
          <a:solidFill>
            <a:srgbClr val="F1F5F9"/>
          </a:solidFill>
          <a:ln w="13970">
            <a:solidFill>
              <a:srgbClr val="94A3B8"/>
            </a:solidFill>
            <a:prstDash val="solid"/>
          </a:ln>
        </p:spPr>
        <p:txBody>
          <a:bodyPr/>
          <a:lstStyle/>
          <a:p>
            <a:endParaRPr lang="en-GB"/>
          </a:p>
        </p:txBody>
      </p:sp>
      <p:sp>
        <p:nvSpPr>
          <p:cNvPr id="12" name="Text 10"/>
          <p:cNvSpPr/>
          <p:nvPr/>
        </p:nvSpPr>
        <p:spPr>
          <a:xfrm>
            <a:off x="2423160" y="204825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x1</a:t>
            </a:r>
            <a:endParaRPr lang="en-US" sz="1050" dirty="0"/>
          </a:p>
        </p:txBody>
      </p:sp>
      <p:sp>
        <p:nvSpPr>
          <p:cNvPr id="13" name="Shape 11"/>
          <p:cNvSpPr/>
          <p:nvPr/>
        </p:nvSpPr>
        <p:spPr>
          <a:xfrm>
            <a:off x="3154680" y="192024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4" name="Text 12"/>
          <p:cNvSpPr/>
          <p:nvPr/>
        </p:nvSpPr>
        <p:spPr>
          <a:xfrm>
            <a:off x="3154680" y="204825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x2</a:t>
            </a:r>
            <a:endParaRPr lang="en-US" sz="1050" dirty="0"/>
          </a:p>
        </p:txBody>
      </p:sp>
      <p:sp>
        <p:nvSpPr>
          <p:cNvPr id="15" name="Shape 13"/>
          <p:cNvSpPr/>
          <p:nvPr/>
        </p:nvSpPr>
        <p:spPr>
          <a:xfrm>
            <a:off x="3886200" y="192024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6" name="Text 14"/>
          <p:cNvSpPr/>
          <p:nvPr/>
        </p:nvSpPr>
        <p:spPr>
          <a:xfrm>
            <a:off x="3886200" y="204825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x3</a:t>
            </a:r>
            <a:endParaRPr lang="en-US" sz="1050" dirty="0"/>
          </a:p>
        </p:txBody>
      </p:sp>
      <p:sp>
        <p:nvSpPr>
          <p:cNvPr id="17" name="Shape 15"/>
          <p:cNvSpPr/>
          <p:nvPr/>
        </p:nvSpPr>
        <p:spPr>
          <a:xfrm>
            <a:off x="4617720" y="192024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8" name="Text 16"/>
          <p:cNvSpPr/>
          <p:nvPr/>
        </p:nvSpPr>
        <p:spPr>
          <a:xfrm>
            <a:off x="4617720" y="204825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x4</a:t>
            </a:r>
            <a:endParaRPr lang="en-US" sz="1050" dirty="0"/>
          </a:p>
        </p:txBody>
      </p:sp>
      <p:sp>
        <p:nvSpPr>
          <p:cNvPr id="19" name="Shape 17"/>
          <p:cNvSpPr/>
          <p:nvPr/>
        </p:nvSpPr>
        <p:spPr>
          <a:xfrm>
            <a:off x="5349240" y="192024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20" name="Text 18"/>
          <p:cNvSpPr/>
          <p:nvPr/>
        </p:nvSpPr>
        <p:spPr>
          <a:xfrm>
            <a:off x="5349240" y="204825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x5</a:t>
            </a:r>
            <a:endParaRPr lang="en-US" sz="1050" dirty="0"/>
          </a:p>
        </p:txBody>
      </p:sp>
      <p:sp>
        <p:nvSpPr>
          <p:cNvPr id="21" name="Text 19"/>
          <p:cNvSpPr/>
          <p:nvPr/>
        </p:nvSpPr>
        <p:spPr>
          <a:xfrm>
            <a:off x="914400" y="2606040"/>
            <a:ext cx="1508760" cy="228600"/>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padding</a:t>
            </a:r>
            <a:endParaRPr lang="en-US" sz="1100" dirty="0"/>
          </a:p>
        </p:txBody>
      </p:sp>
      <p:sp>
        <p:nvSpPr>
          <p:cNvPr id="22" name="Text 20"/>
          <p:cNvSpPr/>
          <p:nvPr/>
        </p:nvSpPr>
        <p:spPr>
          <a:xfrm>
            <a:off x="2423160" y="2606040"/>
            <a:ext cx="3474720" cy="228600"/>
          </a:xfrm>
          <a:prstGeom prst="rect">
            <a:avLst/>
          </a:prstGeom>
          <a:noFill/>
          <a:ln/>
        </p:spPr>
        <p:txBody>
          <a:bodyPr wrap="square" lIns="0" tIns="0" rIns="0" bIns="0" rtlCol="0" anchor="ctr">
            <a:normAutofit/>
          </a:bodyPr>
          <a:lstStyle/>
          <a:p>
            <a:pPr marL="0" indent="0" algn="ctr">
              <a:buNone/>
            </a:pPr>
            <a:r>
              <a:rPr lang="en-US" sz="1100" dirty="0">
                <a:solidFill>
                  <a:srgbClr val="475569"/>
                </a:solidFill>
              </a:rPr>
              <a:t>real observations</a:t>
            </a:r>
            <a:endParaRPr lang="en-US" sz="1100" dirty="0"/>
          </a:p>
        </p:txBody>
      </p:sp>
      <p:sp>
        <p:nvSpPr>
          <p:cNvPr id="23" name="Shape 21"/>
          <p:cNvSpPr/>
          <p:nvPr/>
        </p:nvSpPr>
        <p:spPr>
          <a:xfrm>
            <a:off x="914400" y="3657600"/>
            <a:ext cx="1920240" cy="777240"/>
          </a:xfrm>
          <a:prstGeom prst="roundRect">
            <a:avLst>
              <a:gd name="adj" fmla="val 7059"/>
            </a:avLst>
          </a:prstGeom>
          <a:solidFill>
            <a:srgbClr val="E7F5C7"/>
          </a:solidFill>
          <a:ln w="15240">
            <a:solidFill>
              <a:srgbClr val="84B91F"/>
            </a:solidFill>
            <a:prstDash val="solid"/>
          </a:ln>
        </p:spPr>
        <p:txBody>
          <a:bodyPr/>
          <a:lstStyle/>
          <a:p>
            <a:endParaRPr lang="en-GB"/>
          </a:p>
        </p:txBody>
      </p:sp>
      <p:sp>
        <p:nvSpPr>
          <p:cNvPr id="24" name="Text 22"/>
          <p:cNvSpPr/>
          <p:nvPr/>
        </p:nvSpPr>
        <p:spPr>
          <a:xfrm>
            <a:off x="960120" y="3888029"/>
            <a:ext cx="1828800" cy="466344"/>
          </a:xfrm>
          <a:prstGeom prst="rect">
            <a:avLst/>
          </a:prstGeom>
          <a:noFill/>
          <a:ln/>
        </p:spPr>
        <p:txBody>
          <a:bodyPr wrap="square" lIns="0" tIns="0" rIns="0" bIns="0" rtlCol="0" anchor="ctr">
            <a:normAutofit/>
          </a:bodyPr>
          <a:lstStyle/>
          <a:p>
            <a:pPr marL="0" indent="0" algn="ctr">
              <a:buNone/>
            </a:pPr>
            <a:r>
              <a:rPr lang="en-US" sz="1300" b="1" dirty="0">
                <a:solidFill>
                  <a:srgbClr val="0F172A"/>
                </a:solidFill>
              </a:rPr>
              <a:t>output[1]</a:t>
            </a:r>
            <a:endParaRPr lang="en-US" sz="1300" dirty="0"/>
          </a:p>
          <a:p>
            <a:pPr marL="0" indent="0" algn="ctr">
              <a:buNone/>
            </a:pPr>
            <a:r>
              <a:rPr lang="en-US" sz="1300" b="1" dirty="0">
                <a:solidFill>
                  <a:srgbClr val="0F172A"/>
                </a:solidFill>
              </a:rPr>
              <a:t>uses 0, 0, x1</a:t>
            </a:r>
            <a:endParaRPr lang="en-US" sz="1300" dirty="0"/>
          </a:p>
        </p:txBody>
      </p:sp>
      <p:sp>
        <p:nvSpPr>
          <p:cNvPr id="25" name="Shape 23"/>
          <p:cNvSpPr/>
          <p:nvPr/>
        </p:nvSpPr>
        <p:spPr>
          <a:xfrm>
            <a:off x="3108960" y="3657600"/>
            <a:ext cx="1920240" cy="777240"/>
          </a:xfrm>
          <a:prstGeom prst="roundRect">
            <a:avLst>
              <a:gd name="adj" fmla="val 7059"/>
            </a:avLst>
          </a:prstGeom>
          <a:solidFill>
            <a:srgbClr val="E7F5C7"/>
          </a:solidFill>
          <a:ln w="15240">
            <a:solidFill>
              <a:srgbClr val="84B91F"/>
            </a:solidFill>
            <a:prstDash val="solid"/>
          </a:ln>
        </p:spPr>
        <p:txBody>
          <a:bodyPr/>
          <a:lstStyle/>
          <a:p>
            <a:endParaRPr lang="en-GB"/>
          </a:p>
        </p:txBody>
      </p:sp>
      <p:sp>
        <p:nvSpPr>
          <p:cNvPr id="26" name="Text 24"/>
          <p:cNvSpPr/>
          <p:nvPr/>
        </p:nvSpPr>
        <p:spPr>
          <a:xfrm>
            <a:off x="3154680" y="3888029"/>
            <a:ext cx="1828800" cy="466344"/>
          </a:xfrm>
          <a:prstGeom prst="rect">
            <a:avLst/>
          </a:prstGeom>
          <a:noFill/>
          <a:ln/>
        </p:spPr>
        <p:txBody>
          <a:bodyPr wrap="square" lIns="0" tIns="0" rIns="0" bIns="0" rtlCol="0" anchor="ctr">
            <a:normAutofit/>
          </a:bodyPr>
          <a:lstStyle/>
          <a:p>
            <a:pPr marL="0" indent="0" algn="ctr">
              <a:buNone/>
            </a:pPr>
            <a:r>
              <a:rPr lang="en-US" sz="1300" b="1" dirty="0">
                <a:solidFill>
                  <a:srgbClr val="0F172A"/>
                </a:solidFill>
              </a:rPr>
              <a:t>output[2]</a:t>
            </a:r>
            <a:endParaRPr lang="en-US" sz="1300" dirty="0"/>
          </a:p>
          <a:p>
            <a:pPr marL="0" indent="0" algn="ctr">
              <a:buNone/>
            </a:pPr>
            <a:r>
              <a:rPr lang="en-US" sz="1300" b="1" dirty="0">
                <a:solidFill>
                  <a:srgbClr val="0F172A"/>
                </a:solidFill>
              </a:rPr>
              <a:t>uses 0, x1, x2</a:t>
            </a:r>
            <a:endParaRPr lang="en-US" sz="1300" dirty="0"/>
          </a:p>
        </p:txBody>
      </p:sp>
      <p:sp>
        <p:nvSpPr>
          <p:cNvPr id="27" name="Shape 25"/>
          <p:cNvSpPr/>
          <p:nvPr/>
        </p:nvSpPr>
        <p:spPr>
          <a:xfrm>
            <a:off x="5303520" y="3657600"/>
            <a:ext cx="1920240" cy="777240"/>
          </a:xfrm>
          <a:prstGeom prst="roundRect">
            <a:avLst>
              <a:gd name="adj" fmla="val 7059"/>
            </a:avLst>
          </a:prstGeom>
          <a:solidFill>
            <a:srgbClr val="E7F5C7"/>
          </a:solidFill>
          <a:ln w="15240">
            <a:solidFill>
              <a:srgbClr val="84B91F"/>
            </a:solidFill>
            <a:prstDash val="solid"/>
          </a:ln>
        </p:spPr>
        <p:txBody>
          <a:bodyPr/>
          <a:lstStyle/>
          <a:p>
            <a:endParaRPr lang="en-GB"/>
          </a:p>
        </p:txBody>
      </p:sp>
      <p:sp>
        <p:nvSpPr>
          <p:cNvPr id="28" name="Text 26"/>
          <p:cNvSpPr/>
          <p:nvPr/>
        </p:nvSpPr>
        <p:spPr>
          <a:xfrm>
            <a:off x="5349240" y="3888029"/>
            <a:ext cx="1828800" cy="466344"/>
          </a:xfrm>
          <a:prstGeom prst="rect">
            <a:avLst/>
          </a:prstGeom>
          <a:noFill/>
          <a:ln/>
        </p:spPr>
        <p:txBody>
          <a:bodyPr wrap="square" lIns="0" tIns="0" rIns="0" bIns="0" rtlCol="0" anchor="ctr">
            <a:normAutofit/>
          </a:bodyPr>
          <a:lstStyle/>
          <a:p>
            <a:pPr marL="0" indent="0" algn="ctr">
              <a:buNone/>
            </a:pPr>
            <a:r>
              <a:rPr lang="en-US" sz="1300" b="1" dirty="0">
                <a:solidFill>
                  <a:srgbClr val="0F172A"/>
                </a:solidFill>
              </a:rPr>
              <a:t>output[3]</a:t>
            </a:r>
            <a:endParaRPr lang="en-US" sz="1300" dirty="0"/>
          </a:p>
          <a:p>
            <a:pPr marL="0" indent="0" algn="ctr">
              <a:buNone/>
            </a:pPr>
            <a:r>
              <a:rPr lang="en-US" sz="1300" b="1" dirty="0">
                <a:solidFill>
                  <a:srgbClr val="0F172A"/>
                </a:solidFill>
              </a:rPr>
              <a:t>uses x1, x2, x3</a:t>
            </a:r>
            <a:endParaRPr lang="en-US" sz="1300" dirty="0"/>
          </a:p>
        </p:txBody>
      </p:sp>
      <p:sp>
        <p:nvSpPr>
          <p:cNvPr id="29" name="Text 27"/>
          <p:cNvSpPr/>
          <p:nvPr/>
        </p:nvSpPr>
        <p:spPr>
          <a:xfrm>
            <a:off x="2743200" y="4983480"/>
            <a:ext cx="3474720" cy="365760"/>
          </a:xfrm>
          <a:prstGeom prst="rect">
            <a:avLst/>
          </a:prstGeom>
          <a:noFill/>
          <a:ln/>
        </p:spPr>
        <p:txBody>
          <a:bodyPr wrap="square" lIns="0" tIns="0" rIns="0" bIns="0" rtlCol="0" anchor="ctr">
            <a:normAutofit fontScale="85000" lnSpcReduction="10000"/>
          </a:bodyPr>
          <a:lstStyle/>
          <a:p>
            <a:pPr marL="0" indent="0" algn="ctr">
              <a:buNone/>
            </a:pPr>
            <a:r>
              <a:rPr lang="en-US" sz="1900" b="1" dirty="0">
                <a:solidFill>
                  <a:srgbClr val="0F172A"/>
                </a:solidFill>
              </a:rPr>
              <a:t>Input length L → Output length L</a:t>
            </a:r>
            <a:endParaRPr lang="en-US" sz="1900" dirty="0"/>
          </a:p>
        </p:txBody>
      </p:sp>
      <p:sp>
        <p:nvSpPr>
          <p:cNvPr id="30" name="Shape 28"/>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31" name="Text 29"/>
          <p:cNvSpPr/>
          <p:nvPr/>
        </p:nvSpPr>
        <p:spPr>
          <a:xfrm>
            <a:off x="749808" y="6345936"/>
            <a:ext cx="9509760" cy="219456"/>
          </a:xfrm>
          <a:prstGeom prst="rect">
            <a:avLst/>
          </a:prstGeom>
          <a:noFill/>
          <a:ln/>
        </p:spPr>
        <p:txBody>
          <a:bodyPr wrap="square" lIns="0" tIns="0" rIns="0" bIns="0" rtlCol="0" anchor="ctr"/>
          <a:lstStyle/>
          <a:p>
            <a:pPr marL="0" indent="0">
              <a:buNone/>
            </a:pPr>
            <a:r>
              <a:rPr lang="en-US" sz="1400" dirty="0">
                <a:solidFill>
                  <a:srgbClr val="0F172A"/>
                </a:solidFill>
              </a:rPr>
              <a:t>Same-length output does not require symmetric padding. </a:t>
            </a:r>
            <a:r>
              <a:rPr lang="en-US" sz="1400" b="1" dirty="0">
                <a:solidFill>
                  <a:srgbClr val="0F172A"/>
                </a:solidFill>
              </a:rPr>
              <a:t>Causal padding is directional.</a:t>
            </a:r>
            <a:endParaRPr lang="en-US" sz="1400" b="1"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D7135B3-CD9A-43B7-B7A7-51F5AD845020}"/>
              </a:ext>
            </a:extLst>
          </p:cNvPr>
          <p:cNvSpPr>
            <a:spLocks noGrp="1"/>
          </p:cNvSpPr>
          <p:nvPr>
            <p:ph type="title"/>
          </p:nvPr>
        </p:nvSpPr>
        <p:spPr/>
        <p:txBody>
          <a:bodyPr/>
          <a:lstStyle/>
          <a:p>
            <a:r>
              <a:rPr lang="en-GB" dirty="0"/>
              <a:t>Same padding and causal padding are not the same</a:t>
            </a:r>
          </a:p>
        </p:txBody>
      </p:sp>
      <p:sp>
        <p:nvSpPr>
          <p:cNvPr id="3" name="Segnaposto contenuto 2">
            <a:extLst>
              <a:ext uri="{FF2B5EF4-FFF2-40B4-BE49-F238E27FC236}">
                <a16:creationId xmlns:a16="http://schemas.microsoft.com/office/drawing/2014/main" id="{8F43B94A-F53F-558B-1591-5508346C983A}"/>
              </a:ext>
            </a:extLst>
          </p:cNvPr>
          <p:cNvSpPr>
            <a:spLocks noGrp="1"/>
          </p:cNvSpPr>
          <p:nvPr>
            <p:ph sz="half" idx="1"/>
          </p:nvPr>
        </p:nvSpPr>
        <p:spPr/>
        <p:txBody>
          <a:bodyPr>
            <a:normAutofit/>
          </a:bodyPr>
          <a:lstStyle/>
          <a:p>
            <a:r>
              <a:rPr lang="en-GB" dirty="0"/>
              <a:t>Both may preserve output length.</a:t>
            </a:r>
          </a:p>
          <a:p>
            <a:r>
              <a:rPr lang="en-GB" dirty="0"/>
              <a:t>But their information usage differs.</a:t>
            </a:r>
          </a:p>
          <a:p>
            <a:r>
              <a:rPr lang="en-GB" b="1" dirty="0"/>
              <a:t>Symmetric same padding</a:t>
            </a:r>
          </a:p>
          <a:p>
            <a:r>
              <a:rPr lang="en-GB" dirty="0"/>
              <a:t>For a </a:t>
            </a:r>
            <a:r>
              <a:rPr lang="en-GB" dirty="0" err="1"/>
              <a:t>centered</a:t>
            </a:r>
            <a:r>
              <a:rPr lang="en-GB" dirty="0"/>
              <a:t> kernel:</a:t>
            </a:r>
          </a:p>
          <a:p>
            <a:pPr lvl="1"/>
            <a:r>
              <a:rPr lang="en-GB" dirty="0"/>
              <a:t>past + current + future</a:t>
            </a:r>
          </a:p>
          <a:p>
            <a:pPr lvl="1"/>
            <a:r>
              <a:rPr lang="en-GB" dirty="0"/>
              <a:t>may contribute.</a:t>
            </a:r>
          </a:p>
          <a:p>
            <a:r>
              <a:rPr lang="en-GB" b="1" dirty="0"/>
              <a:t>Causal padding</a:t>
            </a:r>
          </a:p>
          <a:p>
            <a:r>
              <a:rPr lang="en-GB" dirty="0"/>
              <a:t>Uses:</a:t>
            </a:r>
          </a:p>
          <a:p>
            <a:pPr lvl="1"/>
            <a:r>
              <a:rPr lang="en-GB" dirty="0"/>
              <a:t>past + current</a:t>
            </a:r>
          </a:p>
          <a:p>
            <a:pPr lvl="1"/>
            <a:r>
              <a:rPr lang="en-GB" dirty="0"/>
              <a:t>only.</a:t>
            </a:r>
          </a:p>
          <a:p>
            <a:endParaRPr lang="en-GB" dirty="0"/>
          </a:p>
          <a:p>
            <a:endParaRPr lang="en-GB" dirty="0"/>
          </a:p>
        </p:txBody>
      </p:sp>
      <p:sp>
        <p:nvSpPr>
          <p:cNvPr id="4" name="Segnaposto contenuto 3">
            <a:extLst>
              <a:ext uri="{FF2B5EF4-FFF2-40B4-BE49-F238E27FC236}">
                <a16:creationId xmlns:a16="http://schemas.microsoft.com/office/drawing/2014/main" id="{AD6EFFFF-ECD0-2D0F-70E2-97F92DB8A462}"/>
              </a:ext>
            </a:extLst>
          </p:cNvPr>
          <p:cNvSpPr>
            <a:spLocks noGrp="1"/>
          </p:cNvSpPr>
          <p:nvPr>
            <p:ph sz="half" idx="2"/>
          </p:nvPr>
        </p:nvSpPr>
        <p:spPr/>
        <p:txBody>
          <a:bodyPr>
            <a:normAutofit/>
          </a:bodyPr>
          <a:lstStyle/>
          <a:p>
            <a:r>
              <a:rPr lang="en-GB" b="1" dirty="0"/>
              <a:t>Example with K = 5</a:t>
            </a:r>
          </a:p>
          <a:p>
            <a:r>
              <a:rPr lang="en-GB" dirty="0"/>
              <a:t>Non-causal </a:t>
            </a:r>
            <a:r>
              <a:rPr lang="en-GB" dirty="0" err="1"/>
              <a:t>centered</a:t>
            </a:r>
            <a:r>
              <a:rPr lang="en-GB" dirty="0"/>
              <a:t> output at t may use:</a:t>
            </a:r>
          </a:p>
          <a:p>
            <a:r>
              <a:rPr lang="en-GB" dirty="0"/>
              <a:t>x[t−2], x[t−1], x[t], x[t+1], x[t+2]</a:t>
            </a:r>
          </a:p>
          <a:p>
            <a:r>
              <a:rPr lang="en-GB" dirty="0"/>
              <a:t>Causal output at t uses:</a:t>
            </a:r>
          </a:p>
          <a:p>
            <a:r>
              <a:rPr lang="en-GB" dirty="0"/>
              <a:t>x[t−4], x[t−3], x[t−2], x[t−1], x[t]</a:t>
            </a:r>
          </a:p>
          <a:p>
            <a:endParaRPr lang="en-GB" dirty="0"/>
          </a:p>
          <a:p>
            <a:r>
              <a:rPr lang="en-GB" dirty="0"/>
              <a:t>Preserving temporal length and preserving causality are different requirements.</a:t>
            </a:r>
          </a:p>
          <a:p>
            <a:endParaRPr lang="en-GB" dirty="0"/>
          </a:p>
        </p:txBody>
      </p:sp>
    </p:spTree>
    <p:extLst>
      <p:ext uri="{BB962C8B-B14F-4D97-AF65-F5344CB8AC3E}">
        <p14:creationId xmlns:p14="http://schemas.microsoft.com/office/powerpoint/2010/main" val="272283809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Same padding and causal padding are different</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b="1" dirty="0">
                <a:solidFill>
                  <a:srgbClr val="475569"/>
                </a:solidFill>
                <a:latin typeface="Aptos" pitchFamily="34" charset="0"/>
                <a:ea typeface="Aptos" pitchFamily="34" charset="-122"/>
                <a:cs typeface="Aptos" pitchFamily="34" charset="-120"/>
              </a:rPr>
              <a:t>Both may preserve length, but they use different information.</a:t>
            </a:r>
            <a:endParaRPr lang="en-US" sz="1350" b="1" dirty="0"/>
          </a:p>
        </p:txBody>
      </p:sp>
      <p:sp>
        <p:nvSpPr>
          <p:cNvPr id="6" name="Shape 4"/>
          <p:cNvSpPr/>
          <p:nvPr/>
        </p:nvSpPr>
        <p:spPr>
          <a:xfrm>
            <a:off x="914400" y="1325880"/>
            <a:ext cx="3886200" cy="502920"/>
          </a:xfrm>
          <a:prstGeom prst="roundRect">
            <a:avLst>
              <a:gd name="adj" fmla="val 10909"/>
            </a:avLst>
          </a:prstGeom>
          <a:solidFill>
            <a:srgbClr val="FFE4E6"/>
          </a:solidFill>
          <a:ln w="15240">
            <a:solidFill>
              <a:srgbClr val="DC2626"/>
            </a:solidFill>
            <a:prstDash val="solid"/>
          </a:ln>
        </p:spPr>
        <p:txBody>
          <a:bodyPr/>
          <a:lstStyle/>
          <a:p>
            <a:endParaRPr lang="en-GB"/>
          </a:p>
        </p:txBody>
      </p:sp>
      <p:sp>
        <p:nvSpPr>
          <p:cNvPr id="7" name="Text 5"/>
          <p:cNvSpPr/>
          <p:nvPr/>
        </p:nvSpPr>
        <p:spPr>
          <a:xfrm>
            <a:off x="960120" y="1468526"/>
            <a:ext cx="3794760" cy="301752"/>
          </a:xfrm>
          <a:prstGeom prst="rect">
            <a:avLst/>
          </a:prstGeom>
          <a:noFill/>
          <a:ln/>
        </p:spPr>
        <p:txBody>
          <a:bodyPr wrap="square" lIns="0" tIns="0" rIns="0" bIns="0" rtlCol="0" anchor="ctr">
            <a:normAutofit/>
          </a:bodyPr>
          <a:lstStyle/>
          <a:p>
            <a:pPr marL="0" indent="0" algn="ctr">
              <a:buNone/>
            </a:pPr>
            <a:r>
              <a:rPr lang="en-US" sz="1600" b="1" dirty="0">
                <a:solidFill>
                  <a:srgbClr val="0F172A"/>
                </a:solidFill>
              </a:rPr>
              <a:t>Symmetric same padding</a:t>
            </a:r>
            <a:endParaRPr lang="en-US" sz="1600" dirty="0"/>
          </a:p>
        </p:txBody>
      </p:sp>
      <p:sp>
        <p:nvSpPr>
          <p:cNvPr id="8" name="Shape 6"/>
          <p:cNvSpPr/>
          <p:nvPr/>
        </p:nvSpPr>
        <p:spPr>
          <a:xfrm>
            <a:off x="868680" y="2331720"/>
            <a:ext cx="548640" cy="457200"/>
          </a:xfrm>
          <a:prstGeom prst="roundRect">
            <a:avLst>
              <a:gd name="adj" fmla="val 8000"/>
            </a:avLst>
          </a:prstGeom>
          <a:solidFill>
            <a:srgbClr val="FFE4E6"/>
          </a:solidFill>
          <a:ln w="13970">
            <a:solidFill>
              <a:srgbClr val="DC2626"/>
            </a:solidFill>
            <a:prstDash val="solid"/>
          </a:ln>
        </p:spPr>
        <p:txBody>
          <a:bodyPr/>
          <a:lstStyle/>
          <a:p>
            <a:endParaRPr lang="en-GB"/>
          </a:p>
        </p:txBody>
      </p:sp>
      <p:sp>
        <p:nvSpPr>
          <p:cNvPr id="9" name="Text 7"/>
          <p:cNvSpPr/>
          <p:nvPr/>
        </p:nvSpPr>
        <p:spPr>
          <a:xfrm>
            <a:off x="86868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x[t−2]</a:t>
            </a:r>
            <a:endParaRPr lang="en-US" sz="1050" dirty="0"/>
          </a:p>
        </p:txBody>
      </p:sp>
      <p:sp>
        <p:nvSpPr>
          <p:cNvPr id="10" name="Shape 8"/>
          <p:cNvSpPr/>
          <p:nvPr/>
        </p:nvSpPr>
        <p:spPr>
          <a:xfrm>
            <a:off x="1554480" y="2331720"/>
            <a:ext cx="548640" cy="457200"/>
          </a:xfrm>
          <a:prstGeom prst="roundRect">
            <a:avLst>
              <a:gd name="adj" fmla="val 8000"/>
            </a:avLst>
          </a:prstGeom>
          <a:solidFill>
            <a:srgbClr val="FFE4E6"/>
          </a:solidFill>
          <a:ln w="13970">
            <a:solidFill>
              <a:srgbClr val="DC2626"/>
            </a:solidFill>
            <a:prstDash val="solid"/>
          </a:ln>
        </p:spPr>
        <p:txBody>
          <a:bodyPr/>
          <a:lstStyle/>
          <a:p>
            <a:endParaRPr lang="en-GB"/>
          </a:p>
        </p:txBody>
      </p:sp>
      <p:sp>
        <p:nvSpPr>
          <p:cNvPr id="11" name="Text 9"/>
          <p:cNvSpPr/>
          <p:nvPr/>
        </p:nvSpPr>
        <p:spPr>
          <a:xfrm>
            <a:off x="155448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x[t−1]</a:t>
            </a:r>
            <a:endParaRPr lang="en-US" sz="1050" dirty="0"/>
          </a:p>
        </p:txBody>
      </p:sp>
      <p:sp>
        <p:nvSpPr>
          <p:cNvPr id="12" name="Shape 10"/>
          <p:cNvSpPr/>
          <p:nvPr/>
        </p:nvSpPr>
        <p:spPr>
          <a:xfrm>
            <a:off x="2240280" y="2331720"/>
            <a:ext cx="548640" cy="457200"/>
          </a:xfrm>
          <a:prstGeom prst="roundRect">
            <a:avLst>
              <a:gd name="adj" fmla="val 8000"/>
            </a:avLst>
          </a:prstGeom>
          <a:solidFill>
            <a:srgbClr val="FFE4E6"/>
          </a:solidFill>
          <a:ln w="13970">
            <a:solidFill>
              <a:srgbClr val="DC2626"/>
            </a:solidFill>
            <a:prstDash val="solid"/>
          </a:ln>
        </p:spPr>
        <p:txBody>
          <a:bodyPr/>
          <a:lstStyle/>
          <a:p>
            <a:endParaRPr lang="en-GB"/>
          </a:p>
        </p:txBody>
      </p:sp>
      <p:sp>
        <p:nvSpPr>
          <p:cNvPr id="13" name="Text 11"/>
          <p:cNvSpPr/>
          <p:nvPr/>
        </p:nvSpPr>
        <p:spPr>
          <a:xfrm>
            <a:off x="224028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a:t>
            </a:r>
            <a:endParaRPr lang="en-US" sz="1050" dirty="0"/>
          </a:p>
        </p:txBody>
      </p:sp>
      <p:sp>
        <p:nvSpPr>
          <p:cNvPr id="14" name="Shape 12"/>
          <p:cNvSpPr/>
          <p:nvPr/>
        </p:nvSpPr>
        <p:spPr>
          <a:xfrm>
            <a:off x="2926080" y="2331720"/>
            <a:ext cx="548640" cy="457200"/>
          </a:xfrm>
          <a:prstGeom prst="roundRect">
            <a:avLst>
              <a:gd name="adj" fmla="val 8000"/>
            </a:avLst>
          </a:prstGeom>
          <a:solidFill>
            <a:srgbClr val="FFE4E6"/>
          </a:solidFill>
          <a:ln w="13970">
            <a:solidFill>
              <a:srgbClr val="DC2626"/>
            </a:solidFill>
            <a:prstDash val="solid"/>
          </a:ln>
        </p:spPr>
        <p:txBody>
          <a:bodyPr/>
          <a:lstStyle/>
          <a:p>
            <a:endParaRPr lang="en-GB"/>
          </a:p>
        </p:txBody>
      </p:sp>
      <p:sp>
        <p:nvSpPr>
          <p:cNvPr id="15" name="Text 13"/>
          <p:cNvSpPr/>
          <p:nvPr/>
        </p:nvSpPr>
        <p:spPr>
          <a:xfrm>
            <a:off x="292608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x[t+1]</a:t>
            </a:r>
            <a:endParaRPr lang="en-US" sz="1050" dirty="0"/>
          </a:p>
        </p:txBody>
      </p:sp>
      <p:sp>
        <p:nvSpPr>
          <p:cNvPr id="16" name="Shape 14"/>
          <p:cNvSpPr/>
          <p:nvPr/>
        </p:nvSpPr>
        <p:spPr>
          <a:xfrm>
            <a:off x="3611880" y="2331720"/>
            <a:ext cx="548640" cy="457200"/>
          </a:xfrm>
          <a:prstGeom prst="roundRect">
            <a:avLst>
              <a:gd name="adj" fmla="val 8000"/>
            </a:avLst>
          </a:prstGeom>
          <a:solidFill>
            <a:srgbClr val="FFE4E6"/>
          </a:solidFill>
          <a:ln w="13970">
            <a:solidFill>
              <a:srgbClr val="DC2626"/>
            </a:solidFill>
            <a:prstDash val="solid"/>
          </a:ln>
        </p:spPr>
        <p:txBody>
          <a:bodyPr/>
          <a:lstStyle/>
          <a:p>
            <a:endParaRPr lang="en-GB"/>
          </a:p>
        </p:txBody>
      </p:sp>
      <p:sp>
        <p:nvSpPr>
          <p:cNvPr id="17" name="Text 15"/>
          <p:cNvSpPr/>
          <p:nvPr/>
        </p:nvSpPr>
        <p:spPr>
          <a:xfrm>
            <a:off x="361188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x[t+2]</a:t>
            </a:r>
            <a:endParaRPr lang="en-US" sz="1050" dirty="0"/>
          </a:p>
        </p:txBody>
      </p:sp>
      <p:sp>
        <p:nvSpPr>
          <p:cNvPr id="18" name="Text 16"/>
          <p:cNvSpPr/>
          <p:nvPr/>
        </p:nvSpPr>
        <p:spPr>
          <a:xfrm>
            <a:off x="1143000" y="3200400"/>
            <a:ext cx="3429000" cy="320040"/>
          </a:xfrm>
          <a:prstGeom prst="rect">
            <a:avLst/>
          </a:prstGeom>
          <a:noFill/>
          <a:ln/>
        </p:spPr>
        <p:txBody>
          <a:bodyPr wrap="square" lIns="0" tIns="0" rIns="0" bIns="0" rtlCol="0" anchor="ctr">
            <a:normAutofit/>
          </a:bodyPr>
          <a:lstStyle/>
          <a:p>
            <a:pPr marL="0" indent="0" algn="ctr">
              <a:buNone/>
            </a:pPr>
            <a:r>
              <a:rPr lang="en-US" sz="1600" b="1" dirty="0">
                <a:solidFill>
                  <a:srgbClr val="DC2626"/>
                </a:solidFill>
              </a:rPr>
              <a:t>past + current + future</a:t>
            </a:r>
            <a:endParaRPr lang="en-US" sz="1600" dirty="0"/>
          </a:p>
        </p:txBody>
      </p:sp>
      <p:sp>
        <p:nvSpPr>
          <p:cNvPr id="19" name="Shape 17"/>
          <p:cNvSpPr/>
          <p:nvPr/>
        </p:nvSpPr>
        <p:spPr>
          <a:xfrm>
            <a:off x="5623560" y="1325880"/>
            <a:ext cx="3886200" cy="502920"/>
          </a:xfrm>
          <a:prstGeom prst="roundRect">
            <a:avLst>
              <a:gd name="adj" fmla="val 10909"/>
            </a:avLst>
          </a:prstGeom>
          <a:solidFill>
            <a:srgbClr val="E7F5C7"/>
          </a:solidFill>
          <a:ln w="15240">
            <a:solidFill>
              <a:srgbClr val="84B91F"/>
            </a:solidFill>
            <a:prstDash val="solid"/>
          </a:ln>
        </p:spPr>
        <p:txBody>
          <a:bodyPr/>
          <a:lstStyle/>
          <a:p>
            <a:endParaRPr lang="en-GB"/>
          </a:p>
        </p:txBody>
      </p:sp>
      <p:sp>
        <p:nvSpPr>
          <p:cNvPr id="20" name="Text 18"/>
          <p:cNvSpPr/>
          <p:nvPr/>
        </p:nvSpPr>
        <p:spPr>
          <a:xfrm>
            <a:off x="5669280" y="1468526"/>
            <a:ext cx="3794760" cy="301752"/>
          </a:xfrm>
          <a:prstGeom prst="rect">
            <a:avLst/>
          </a:prstGeom>
          <a:noFill/>
          <a:ln/>
        </p:spPr>
        <p:txBody>
          <a:bodyPr wrap="square" lIns="0" tIns="0" rIns="0" bIns="0" rtlCol="0" anchor="ctr">
            <a:normAutofit/>
          </a:bodyPr>
          <a:lstStyle/>
          <a:p>
            <a:pPr marL="0" indent="0" algn="ctr">
              <a:buNone/>
            </a:pPr>
            <a:r>
              <a:rPr lang="en-US" sz="1600" b="1" dirty="0">
                <a:solidFill>
                  <a:srgbClr val="0F172A"/>
                </a:solidFill>
              </a:rPr>
              <a:t>Causal padding</a:t>
            </a:r>
            <a:endParaRPr lang="en-US" sz="1600" dirty="0"/>
          </a:p>
        </p:txBody>
      </p:sp>
      <p:sp>
        <p:nvSpPr>
          <p:cNvPr id="21" name="Shape 19"/>
          <p:cNvSpPr/>
          <p:nvPr/>
        </p:nvSpPr>
        <p:spPr>
          <a:xfrm>
            <a:off x="5532120" y="233172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22" name="Text 20"/>
          <p:cNvSpPr/>
          <p:nvPr/>
        </p:nvSpPr>
        <p:spPr>
          <a:xfrm>
            <a:off x="553212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x[t−4]</a:t>
            </a:r>
            <a:endParaRPr lang="en-US" sz="1050" dirty="0"/>
          </a:p>
        </p:txBody>
      </p:sp>
      <p:sp>
        <p:nvSpPr>
          <p:cNvPr id="23" name="Shape 21"/>
          <p:cNvSpPr/>
          <p:nvPr/>
        </p:nvSpPr>
        <p:spPr>
          <a:xfrm>
            <a:off x="6217920" y="233172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24" name="Text 22"/>
          <p:cNvSpPr/>
          <p:nvPr/>
        </p:nvSpPr>
        <p:spPr>
          <a:xfrm>
            <a:off x="621792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x[t−3]</a:t>
            </a:r>
            <a:endParaRPr lang="en-US" sz="1050" dirty="0"/>
          </a:p>
        </p:txBody>
      </p:sp>
      <p:sp>
        <p:nvSpPr>
          <p:cNvPr id="25" name="Shape 23"/>
          <p:cNvSpPr/>
          <p:nvPr/>
        </p:nvSpPr>
        <p:spPr>
          <a:xfrm>
            <a:off x="6903720" y="233172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26" name="Text 24"/>
          <p:cNvSpPr/>
          <p:nvPr/>
        </p:nvSpPr>
        <p:spPr>
          <a:xfrm>
            <a:off x="690372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x[t−2]</a:t>
            </a:r>
            <a:endParaRPr lang="en-US" sz="1050" dirty="0"/>
          </a:p>
        </p:txBody>
      </p:sp>
      <p:sp>
        <p:nvSpPr>
          <p:cNvPr id="27" name="Shape 25"/>
          <p:cNvSpPr/>
          <p:nvPr/>
        </p:nvSpPr>
        <p:spPr>
          <a:xfrm>
            <a:off x="7589520" y="233172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28" name="Text 26"/>
          <p:cNvSpPr/>
          <p:nvPr/>
        </p:nvSpPr>
        <p:spPr>
          <a:xfrm>
            <a:off x="758952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x[t−1]</a:t>
            </a:r>
            <a:endParaRPr lang="en-US" sz="1050" dirty="0"/>
          </a:p>
        </p:txBody>
      </p:sp>
      <p:sp>
        <p:nvSpPr>
          <p:cNvPr id="29" name="Shape 27"/>
          <p:cNvSpPr/>
          <p:nvPr/>
        </p:nvSpPr>
        <p:spPr>
          <a:xfrm>
            <a:off x="8275320" y="2331720"/>
            <a:ext cx="548640" cy="457200"/>
          </a:xfrm>
          <a:prstGeom prst="roundRect">
            <a:avLst>
              <a:gd name="adj" fmla="val 8000"/>
            </a:avLst>
          </a:prstGeom>
          <a:solidFill>
            <a:srgbClr val="E7F5C7"/>
          </a:solidFill>
          <a:ln w="13970">
            <a:solidFill>
              <a:srgbClr val="84B91F"/>
            </a:solidFill>
            <a:prstDash val="solid"/>
          </a:ln>
        </p:spPr>
        <p:txBody>
          <a:bodyPr/>
          <a:lstStyle/>
          <a:p>
            <a:endParaRPr lang="en-GB"/>
          </a:p>
        </p:txBody>
      </p:sp>
      <p:sp>
        <p:nvSpPr>
          <p:cNvPr id="30" name="Text 28"/>
          <p:cNvSpPr/>
          <p:nvPr/>
        </p:nvSpPr>
        <p:spPr>
          <a:xfrm>
            <a:off x="8275320" y="245973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x[t]</a:t>
            </a:r>
            <a:endParaRPr lang="en-US" sz="1050" dirty="0"/>
          </a:p>
        </p:txBody>
      </p:sp>
      <p:sp>
        <p:nvSpPr>
          <p:cNvPr id="31" name="Text 29"/>
          <p:cNvSpPr/>
          <p:nvPr/>
        </p:nvSpPr>
        <p:spPr>
          <a:xfrm>
            <a:off x="5897880" y="3200400"/>
            <a:ext cx="3429000" cy="320040"/>
          </a:xfrm>
          <a:prstGeom prst="rect">
            <a:avLst/>
          </a:prstGeom>
          <a:noFill/>
          <a:ln/>
        </p:spPr>
        <p:txBody>
          <a:bodyPr wrap="square" lIns="0" tIns="0" rIns="0" bIns="0" rtlCol="0" anchor="ctr">
            <a:normAutofit/>
          </a:bodyPr>
          <a:lstStyle/>
          <a:p>
            <a:pPr marL="0" indent="0" algn="ctr">
              <a:buNone/>
            </a:pPr>
            <a:r>
              <a:rPr lang="en-US" sz="1600" b="1" dirty="0">
                <a:solidFill>
                  <a:srgbClr val="84B91F"/>
                </a:solidFill>
              </a:rPr>
              <a:t>past + current only</a:t>
            </a:r>
            <a:endParaRPr lang="en-US" sz="1600" dirty="0"/>
          </a:p>
        </p:txBody>
      </p:sp>
      <p:sp>
        <p:nvSpPr>
          <p:cNvPr id="32" name="Shape 30"/>
          <p:cNvSpPr/>
          <p:nvPr/>
        </p:nvSpPr>
        <p:spPr>
          <a:xfrm>
            <a:off x="1508760" y="4434840"/>
            <a:ext cx="2423160" cy="502920"/>
          </a:xfrm>
          <a:prstGeom prst="roundRect">
            <a:avLst>
              <a:gd name="adj" fmla="val 10909"/>
            </a:avLst>
          </a:prstGeom>
          <a:solidFill>
            <a:srgbClr val="FFFFFF"/>
          </a:solidFill>
          <a:ln w="15240">
            <a:solidFill>
              <a:srgbClr val="CBD5E1"/>
            </a:solidFill>
            <a:prstDash val="solid"/>
          </a:ln>
        </p:spPr>
        <p:txBody>
          <a:bodyPr/>
          <a:lstStyle/>
          <a:p>
            <a:endParaRPr lang="en-GB"/>
          </a:p>
        </p:txBody>
      </p:sp>
      <p:sp>
        <p:nvSpPr>
          <p:cNvPr id="33" name="Text 31"/>
          <p:cNvSpPr/>
          <p:nvPr/>
        </p:nvSpPr>
        <p:spPr>
          <a:xfrm>
            <a:off x="1554480" y="4577486"/>
            <a:ext cx="2331720" cy="301752"/>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Preserve length</a:t>
            </a:r>
            <a:endParaRPr lang="en-US" sz="1500" dirty="0"/>
          </a:p>
        </p:txBody>
      </p:sp>
      <p:sp>
        <p:nvSpPr>
          <p:cNvPr id="34" name="Shape 32"/>
          <p:cNvSpPr/>
          <p:nvPr/>
        </p:nvSpPr>
        <p:spPr>
          <a:xfrm>
            <a:off x="6080760" y="4343400"/>
            <a:ext cx="2514600" cy="685800"/>
          </a:xfrm>
          <a:prstGeom prst="roundRect">
            <a:avLst>
              <a:gd name="adj" fmla="val 8000"/>
            </a:avLst>
          </a:prstGeom>
          <a:solidFill>
            <a:srgbClr val="FFFFFF"/>
          </a:solidFill>
          <a:ln w="15240">
            <a:solidFill>
              <a:srgbClr val="CBD5E1"/>
            </a:solidFill>
            <a:prstDash val="solid"/>
          </a:ln>
        </p:spPr>
        <p:txBody>
          <a:bodyPr/>
          <a:lstStyle/>
          <a:p>
            <a:endParaRPr lang="en-GB"/>
          </a:p>
        </p:txBody>
      </p:sp>
      <p:sp>
        <p:nvSpPr>
          <p:cNvPr id="35" name="Text 33"/>
          <p:cNvSpPr/>
          <p:nvPr/>
        </p:nvSpPr>
        <p:spPr>
          <a:xfrm>
            <a:off x="6126480" y="4544568"/>
            <a:ext cx="2423160" cy="411480"/>
          </a:xfrm>
          <a:prstGeom prst="rect">
            <a:avLst/>
          </a:prstGeom>
          <a:noFill/>
          <a:ln/>
        </p:spPr>
        <p:txBody>
          <a:bodyPr wrap="square" lIns="0" tIns="0" rIns="0" bIns="0" rtlCol="0" anchor="ctr">
            <a:normAutofit lnSpcReduction="10000"/>
          </a:bodyPr>
          <a:lstStyle/>
          <a:p>
            <a:pPr marL="0" indent="0" algn="ctr">
              <a:buNone/>
            </a:pPr>
            <a:r>
              <a:rPr lang="en-US" sz="1500" b="1" dirty="0">
                <a:solidFill>
                  <a:srgbClr val="0F172A"/>
                </a:solidFill>
              </a:rPr>
              <a:t>Preserve length</a:t>
            </a:r>
            <a:endParaRPr lang="en-US" sz="1500" dirty="0"/>
          </a:p>
          <a:p>
            <a:pPr marL="0" indent="0" algn="ctr">
              <a:buNone/>
            </a:pPr>
            <a:r>
              <a:rPr lang="en-US" sz="1500" b="1" dirty="0">
                <a:solidFill>
                  <a:srgbClr val="0F172A"/>
                </a:solidFill>
              </a:rPr>
              <a:t>AND causality</a:t>
            </a:r>
            <a:endParaRPr lang="en-US" sz="1500" dirty="0"/>
          </a:p>
        </p:txBody>
      </p:sp>
      <p:sp>
        <p:nvSpPr>
          <p:cNvPr id="36" name="Shape 34"/>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37" name="Text 35"/>
          <p:cNvSpPr/>
          <p:nvPr/>
        </p:nvSpPr>
        <p:spPr>
          <a:xfrm>
            <a:off x="749808" y="6345936"/>
            <a:ext cx="9509760" cy="219456"/>
          </a:xfrm>
          <a:prstGeom prst="rect">
            <a:avLst/>
          </a:prstGeom>
          <a:noFill/>
          <a:ln/>
        </p:spPr>
        <p:txBody>
          <a:bodyPr wrap="square" lIns="0" tIns="0" rIns="0" bIns="0" rtlCol="0" anchor="ctr"/>
          <a:lstStyle/>
          <a:p>
            <a:pPr marL="0" indent="0">
              <a:buNone/>
            </a:pPr>
            <a:r>
              <a:rPr lang="en-US" sz="1600" b="1" dirty="0">
                <a:solidFill>
                  <a:srgbClr val="0F172A"/>
                </a:solidFill>
              </a:rPr>
              <a:t>Preserving temporal length and preserving causality are separate requirements</a:t>
            </a:r>
            <a:r>
              <a:rPr lang="en-US" sz="1200" dirty="0">
                <a:solidFill>
                  <a:srgbClr val="0F172A"/>
                </a:solidFill>
              </a:rPr>
              <a:t>.</a:t>
            </a:r>
            <a:endParaRPr lang="en-US" sz="12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F1EE246-3D1E-BE51-A62C-41AFDBF1DB1B}"/>
              </a:ext>
            </a:extLst>
          </p:cNvPr>
          <p:cNvSpPr>
            <a:spLocks noGrp="1"/>
          </p:cNvSpPr>
          <p:nvPr>
            <p:ph type="title"/>
          </p:nvPr>
        </p:nvSpPr>
        <p:spPr/>
        <p:txBody>
          <a:bodyPr/>
          <a:lstStyle/>
          <a:p>
            <a:r>
              <a:rPr lang="en-GB" dirty="0"/>
              <a:t>Causality creates directional receptive fields</a:t>
            </a:r>
          </a:p>
        </p:txBody>
      </p:sp>
      <p:sp>
        <p:nvSpPr>
          <p:cNvPr id="3" name="Segnaposto contenuto 2">
            <a:extLst>
              <a:ext uri="{FF2B5EF4-FFF2-40B4-BE49-F238E27FC236}">
                <a16:creationId xmlns:a16="http://schemas.microsoft.com/office/drawing/2014/main" id="{9548B63E-CEFB-8661-8CF7-C898987ADA25}"/>
              </a:ext>
            </a:extLst>
          </p:cNvPr>
          <p:cNvSpPr>
            <a:spLocks noGrp="1"/>
          </p:cNvSpPr>
          <p:nvPr>
            <p:ph sz="half" idx="1"/>
          </p:nvPr>
        </p:nvSpPr>
        <p:spPr>
          <a:xfrm>
            <a:off x="677334" y="2160588"/>
            <a:ext cx="6333066" cy="4392611"/>
          </a:xfrm>
        </p:spPr>
        <p:txBody>
          <a:bodyPr>
            <a:normAutofit fontScale="85000" lnSpcReduction="10000"/>
          </a:bodyPr>
          <a:lstStyle/>
          <a:p>
            <a:r>
              <a:rPr lang="en-GB" dirty="0">
                <a:highlight>
                  <a:srgbClr val="FFFF00"/>
                </a:highlight>
              </a:rPr>
              <a:t>In a non-causal convolution, the receptive field may extend both:</a:t>
            </a:r>
          </a:p>
          <a:p>
            <a:pPr lvl="1"/>
            <a:r>
              <a:rPr lang="en-GB" dirty="0"/>
              <a:t>backward; </a:t>
            </a:r>
          </a:p>
          <a:p>
            <a:pPr lvl="1"/>
            <a:r>
              <a:rPr lang="en-GB" dirty="0"/>
              <a:t>forward. </a:t>
            </a:r>
          </a:p>
          <a:p>
            <a:r>
              <a:rPr lang="en-GB" dirty="0"/>
              <a:t>For one output at time t:</a:t>
            </a:r>
          </a:p>
          <a:p>
            <a:pPr lvl="1"/>
            <a:r>
              <a:rPr lang="en-GB" dirty="0">
                <a:highlight>
                  <a:srgbClr val="FFFF00"/>
                </a:highlight>
              </a:rPr>
              <a:t>← past | t | future →</a:t>
            </a:r>
          </a:p>
          <a:p>
            <a:endParaRPr lang="en-GB" dirty="0"/>
          </a:p>
          <a:p>
            <a:r>
              <a:rPr lang="en-GB" dirty="0"/>
              <a:t>In a </a:t>
            </a:r>
            <a:r>
              <a:rPr lang="en-GB" dirty="0">
                <a:highlight>
                  <a:srgbClr val="FFFF00"/>
                </a:highlight>
              </a:rPr>
              <a:t>causal convolution</a:t>
            </a:r>
            <a:r>
              <a:rPr lang="en-GB" dirty="0"/>
              <a:t>, the receptive field extends only backward:</a:t>
            </a:r>
          </a:p>
          <a:p>
            <a:r>
              <a:rPr lang="en-GB" dirty="0">
                <a:highlight>
                  <a:srgbClr val="FFFF00"/>
                </a:highlight>
              </a:rPr>
              <a:t>← past | t</a:t>
            </a:r>
          </a:p>
          <a:p>
            <a:r>
              <a:rPr lang="en-GB" b="1" dirty="0"/>
              <a:t>With deeper causal layers</a:t>
            </a:r>
          </a:p>
          <a:p>
            <a:r>
              <a:rPr lang="en-GB" dirty="0"/>
              <a:t>The receptive field becomes longer, but stays entirely in the past.</a:t>
            </a:r>
          </a:p>
          <a:p>
            <a:endParaRPr lang="en-GB" dirty="0"/>
          </a:p>
        </p:txBody>
      </p:sp>
      <p:sp>
        <p:nvSpPr>
          <p:cNvPr id="4" name="Segnaposto contenuto 3">
            <a:extLst>
              <a:ext uri="{FF2B5EF4-FFF2-40B4-BE49-F238E27FC236}">
                <a16:creationId xmlns:a16="http://schemas.microsoft.com/office/drawing/2014/main" id="{84AD3482-C9C2-8BC4-314D-F1EC62C44339}"/>
              </a:ext>
            </a:extLst>
          </p:cNvPr>
          <p:cNvSpPr>
            <a:spLocks noGrp="1"/>
          </p:cNvSpPr>
          <p:nvPr>
            <p:ph sz="half" idx="2"/>
          </p:nvPr>
        </p:nvSpPr>
        <p:spPr>
          <a:xfrm>
            <a:off x="7330632" y="2160588"/>
            <a:ext cx="4645467" cy="4392612"/>
          </a:xfrm>
        </p:spPr>
        <p:txBody>
          <a:bodyPr>
            <a:normAutofit fontScale="85000" lnSpcReduction="10000"/>
          </a:bodyPr>
          <a:lstStyle/>
          <a:p>
            <a:r>
              <a:rPr lang="en-GB" dirty="0"/>
              <a:t>Example for simple K=3, stride-1 stacking:</a:t>
            </a:r>
          </a:p>
          <a:p>
            <a:r>
              <a:rPr lang="en-GB" dirty="0"/>
              <a:t>Layer 1:</a:t>
            </a:r>
          </a:p>
          <a:p>
            <a:r>
              <a:rPr lang="en-GB" dirty="0"/>
              <a:t>t−2 ... t</a:t>
            </a:r>
          </a:p>
          <a:p>
            <a:br>
              <a:rPr lang="en-GB" dirty="0"/>
            </a:br>
            <a:endParaRPr lang="en-GB" dirty="0"/>
          </a:p>
          <a:p>
            <a:r>
              <a:rPr lang="en-GB" dirty="0"/>
              <a:t>Layer 2:</a:t>
            </a:r>
          </a:p>
          <a:p>
            <a:r>
              <a:rPr lang="en-GB" dirty="0"/>
              <a:t>t−4 ... t</a:t>
            </a:r>
          </a:p>
          <a:p>
            <a:br>
              <a:rPr lang="en-GB" dirty="0"/>
            </a:br>
            <a:endParaRPr lang="en-GB" dirty="0"/>
          </a:p>
          <a:p>
            <a:r>
              <a:rPr lang="en-GB" dirty="0"/>
              <a:t>Layer 3:</a:t>
            </a:r>
          </a:p>
          <a:p>
            <a:r>
              <a:rPr lang="en-GB" dirty="0"/>
              <a:t>t−6 ... t</a:t>
            </a:r>
          </a:p>
          <a:p>
            <a:endParaRPr lang="en-GB" dirty="0"/>
          </a:p>
          <a:p>
            <a:r>
              <a:rPr lang="en-GB" b="1" dirty="0">
                <a:highlight>
                  <a:srgbClr val="FFFF00"/>
                </a:highlight>
              </a:rPr>
              <a:t>Depth can increase historical context without violating prediction-time availability.</a:t>
            </a:r>
          </a:p>
          <a:p>
            <a:endParaRPr lang="en-GB" dirty="0"/>
          </a:p>
        </p:txBody>
      </p:sp>
    </p:spTree>
    <p:extLst>
      <p:ext uri="{BB962C8B-B14F-4D97-AF65-F5344CB8AC3E}">
        <p14:creationId xmlns:p14="http://schemas.microsoft.com/office/powerpoint/2010/main" val="76937712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5.F.5 — </a:t>
            </a:r>
            <a:r>
              <a:rPr lang="en-US" sz="2600" b="1" dirty="0">
                <a:solidFill>
                  <a:srgbClr val="0F172A"/>
                </a:solidFill>
                <a:highlight>
                  <a:srgbClr val="FFFF00"/>
                </a:highlight>
                <a:latin typeface="Aptos Display" pitchFamily="34" charset="0"/>
                <a:ea typeface="Aptos Display" pitchFamily="34" charset="-122"/>
                <a:cs typeface="Aptos Display" pitchFamily="34" charset="-120"/>
              </a:rPr>
              <a:t>Causal receptive fields extend only backward</a:t>
            </a:r>
            <a:endParaRPr lang="en-US" sz="2600" dirty="0">
              <a:highlight>
                <a:srgbClr val="FFFF00"/>
              </a:highlight>
            </a:endParaRPr>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b="1" dirty="0">
                <a:solidFill>
                  <a:srgbClr val="475569"/>
                </a:solidFill>
                <a:latin typeface="Aptos" pitchFamily="34" charset="0"/>
                <a:ea typeface="Aptos" pitchFamily="34" charset="-122"/>
                <a:cs typeface="Aptos" pitchFamily="34" charset="-120"/>
              </a:rPr>
              <a:t>Depth increases historical context while respecting prediction time.</a:t>
            </a:r>
            <a:endParaRPr lang="en-US" sz="1350" b="1" dirty="0"/>
          </a:p>
        </p:txBody>
      </p:sp>
      <p:sp>
        <p:nvSpPr>
          <p:cNvPr id="6" name="Shape 4"/>
          <p:cNvSpPr/>
          <p:nvPr/>
        </p:nvSpPr>
        <p:spPr>
          <a:xfrm>
            <a:off x="914400" y="50292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7" name="Text 5"/>
          <p:cNvSpPr/>
          <p:nvPr/>
        </p:nvSpPr>
        <p:spPr>
          <a:xfrm>
            <a:off x="914400" y="51572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t−6</a:t>
            </a:r>
            <a:endParaRPr lang="en-US" sz="1050" dirty="0"/>
          </a:p>
        </p:txBody>
      </p:sp>
      <p:sp>
        <p:nvSpPr>
          <p:cNvPr id="8" name="Shape 6"/>
          <p:cNvSpPr/>
          <p:nvPr/>
        </p:nvSpPr>
        <p:spPr>
          <a:xfrm>
            <a:off x="1600200" y="50292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9" name="Text 7"/>
          <p:cNvSpPr/>
          <p:nvPr/>
        </p:nvSpPr>
        <p:spPr>
          <a:xfrm>
            <a:off x="1600200" y="51572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t−5</a:t>
            </a:r>
            <a:endParaRPr lang="en-US" sz="1050" dirty="0"/>
          </a:p>
        </p:txBody>
      </p:sp>
      <p:sp>
        <p:nvSpPr>
          <p:cNvPr id="10" name="Shape 8"/>
          <p:cNvSpPr/>
          <p:nvPr/>
        </p:nvSpPr>
        <p:spPr>
          <a:xfrm>
            <a:off x="2286000" y="50292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1" name="Text 9"/>
          <p:cNvSpPr/>
          <p:nvPr/>
        </p:nvSpPr>
        <p:spPr>
          <a:xfrm>
            <a:off x="2286000" y="51572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t−4</a:t>
            </a:r>
            <a:endParaRPr lang="en-US" sz="1050" dirty="0"/>
          </a:p>
        </p:txBody>
      </p:sp>
      <p:sp>
        <p:nvSpPr>
          <p:cNvPr id="12" name="Shape 10"/>
          <p:cNvSpPr/>
          <p:nvPr/>
        </p:nvSpPr>
        <p:spPr>
          <a:xfrm>
            <a:off x="2971800" y="50292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3" name="Text 11"/>
          <p:cNvSpPr/>
          <p:nvPr/>
        </p:nvSpPr>
        <p:spPr>
          <a:xfrm>
            <a:off x="2971800" y="51572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t−3</a:t>
            </a:r>
            <a:endParaRPr lang="en-US" sz="1050" dirty="0"/>
          </a:p>
        </p:txBody>
      </p:sp>
      <p:sp>
        <p:nvSpPr>
          <p:cNvPr id="14" name="Shape 12"/>
          <p:cNvSpPr/>
          <p:nvPr/>
        </p:nvSpPr>
        <p:spPr>
          <a:xfrm>
            <a:off x="3657600" y="50292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5" name="Text 13"/>
          <p:cNvSpPr/>
          <p:nvPr/>
        </p:nvSpPr>
        <p:spPr>
          <a:xfrm>
            <a:off x="3657600" y="51572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t−2</a:t>
            </a:r>
            <a:endParaRPr lang="en-US" sz="1050" dirty="0"/>
          </a:p>
        </p:txBody>
      </p:sp>
      <p:sp>
        <p:nvSpPr>
          <p:cNvPr id="16" name="Shape 14"/>
          <p:cNvSpPr/>
          <p:nvPr/>
        </p:nvSpPr>
        <p:spPr>
          <a:xfrm>
            <a:off x="4343400" y="50292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7" name="Text 15"/>
          <p:cNvSpPr/>
          <p:nvPr/>
        </p:nvSpPr>
        <p:spPr>
          <a:xfrm>
            <a:off x="4343400" y="51572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t−1</a:t>
            </a:r>
            <a:endParaRPr lang="en-US" sz="1050" dirty="0"/>
          </a:p>
        </p:txBody>
      </p:sp>
      <p:sp>
        <p:nvSpPr>
          <p:cNvPr id="18" name="Shape 16"/>
          <p:cNvSpPr/>
          <p:nvPr/>
        </p:nvSpPr>
        <p:spPr>
          <a:xfrm>
            <a:off x="5029200" y="50292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19" name="Text 17"/>
          <p:cNvSpPr/>
          <p:nvPr/>
        </p:nvSpPr>
        <p:spPr>
          <a:xfrm>
            <a:off x="5029200" y="5157216"/>
            <a:ext cx="548640" cy="182880"/>
          </a:xfrm>
          <a:prstGeom prst="rect">
            <a:avLst/>
          </a:prstGeom>
          <a:noFill/>
          <a:ln/>
        </p:spPr>
        <p:txBody>
          <a:bodyPr wrap="square" lIns="0" tIns="0" rIns="0" bIns="0" rtlCol="0" anchor="ctr"/>
          <a:lstStyle/>
          <a:p>
            <a:pPr marL="0" indent="0" algn="ctr">
              <a:buNone/>
            </a:pPr>
            <a:r>
              <a:rPr lang="en-US" sz="1050" b="1" dirty="0">
                <a:solidFill>
                  <a:srgbClr val="0F172A"/>
                </a:solidFill>
              </a:rPr>
              <a:t>t</a:t>
            </a:r>
            <a:endParaRPr lang="en-US" sz="1050" dirty="0"/>
          </a:p>
        </p:txBody>
      </p:sp>
      <p:sp>
        <p:nvSpPr>
          <p:cNvPr id="20" name="Shape 18"/>
          <p:cNvSpPr/>
          <p:nvPr/>
        </p:nvSpPr>
        <p:spPr>
          <a:xfrm>
            <a:off x="5715000" y="5029200"/>
            <a:ext cx="548640" cy="457200"/>
          </a:xfrm>
          <a:prstGeom prst="roundRect">
            <a:avLst>
              <a:gd name="adj" fmla="val 8000"/>
            </a:avLst>
          </a:prstGeom>
          <a:solidFill>
            <a:srgbClr val="FFFFFF"/>
          </a:solidFill>
          <a:ln w="13970">
            <a:solidFill>
              <a:srgbClr val="CBD5E1"/>
            </a:solidFill>
            <a:prstDash val="solid"/>
          </a:ln>
        </p:spPr>
        <p:txBody>
          <a:bodyPr/>
          <a:lstStyle/>
          <a:p>
            <a:endParaRPr lang="en-GB"/>
          </a:p>
        </p:txBody>
      </p:sp>
      <p:sp>
        <p:nvSpPr>
          <p:cNvPr id="21" name="Text 19"/>
          <p:cNvSpPr/>
          <p:nvPr/>
        </p:nvSpPr>
        <p:spPr>
          <a:xfrm>
            <a:off x="5715000" y="5157216"/>
            <a:ext cx="548640" cy="182880"/>
          </a:xfrm>
          <a:prstGeom prst="rect">
            <a:avLst/>
          </a:prstGeom>
          <a:noFill/>
          <a:ln/>
        </p:spPr>
        <p:txBody>
          <a:bodyPr wrap="square" lIns="0" tIns="0" rIns="0" bIns="0" rtlCol="0" anchor="ctr"/>
          <a:lstStyle/>
          <a:p>
            <a:pPr marL="0" indent="0" algn="ctr">
              <a:buNone/>
            </a:pPr>
            <a:r>
              <a:rPr lang="en-US" sz="1050" dirty="0">
                <a:solidFill>
                  <a:srgbClr val="0F172A"/>
                </a:solidFill>
              </a:rPr>
              <a:t>t+1</a:t>
            </a:r>
            <a:endParaRPr lang="en-US" sz="1050" dirty="0"/>
          </a:p>
        </p:txBody>
      </p:sp>
      <p:sp>
        <p:nvSpPr>
          <p:cNvPr id="22" name="Shape 20"/>
          <p:cNvSpPr/>
          <p:nvPr/>
        </p:nvSpPr>
        <p:spPr>
          <a:xfrm>
            <a:off x="914400" y="4965192"/>
            <a:ext cx="4663440" cy="594360"/>
          </a:xfrm>
          <a:prstGeom prst="rect">
            <a:avLst/>
          </a:prstGeom>
          <a:solidFill>
            <a:srgbClr val="E7F5C7">
              <a:alpha val="50000"/>
            </a:srgbClr>
          </a:solidFill>
          <a:ln w="12700">
            <a:solidFill>
              <a:srgbClr val="84B91F"/>
            </a:solidFill>
            <a:prstDash val="solid"/>
          </a:ln>
        </p:spPr>
        <p:txBody>
          <a:bodyPr/>
          <a:lstStyle/>
          <a:p>
            <a:endParaRPr lang="en-GB"/>
          </a:p>
        </p:txBody>
      </p:sp>
      <p:sp>
        <p:nvSpPr>
          <p:cNvPr id="23" name="Shape 21"/>
          <p:cNvSpPr/>
          <p:nvPr/>
        </p:nvSpPr>
        <p:spPr>
          <a:xfrm>
            <a:off x="5715000" y="4864608"/>
            <a:ext cx="0" cy="822960"/>
          </a:xfrm>
          <a:prstGeom prst="line">
            <a:avLst/>
          </a:prstGeom>
          <a:noFill/>
          <a:ln w="19050">
            <a:solidFill>
              <a:srgbClr val="0F172A"/>
            </a:solidFill>
            <a:prstDash val="solid"/>
          </a:ln>
        </p:spPr>
        <p:txBody>
          <a:bodyPr/>
          <a:lstStyle/>
          <a:p>
            <a:endParaRPr lang="en-GB"/>
          </a:p>
        </p:txBody>
      </p:sp>
      <p:sp>
        <p:nvSpPr>
          <p:cNvPr id="24" name="Text 22"/>
          <p:cNvSpPr/>
          <p:nvPr/>
        </p:nvSpPr>
        <p:spPr>
          <a:xfrm>
            <a:off x="5440680" y="5715000"/>
            <a:ext cx="548640" cy="228600"/>
          </a:xfrm>
          <a:prstGeom prst="rect">
            <a:avLst/>
          </a:prstGeom>
          <a:noFill/>
          <a:ln/>
        </p:spPr>
        <p:txBody>
          <a:bodyPr wrap="square" lIns="0" tIns="0" rIns="0" bIns="0" rtlCol="0" anchor="ctr">
            <a:normAutofit/>
          </a:bodyPr>
          <a:lstStyle/>
          <a:p>
            <a:pPr marL="0" indent="0" algn="ctr">
              <a:buNone/>
            </a:pPr>
            <a:r>
              <a:rPr lang="en-US" sz="1100" b="1" dirty="0">
                <a:solidFill>
                  <a:srgbClr val="0F172A"/>
                </a:solidFill>
              </a:rPr>
              <a:t>now</a:t>
            </a:r>
            <a:endParaRPr lang="en-US" sz="1100" dirty="0"/>
          </a:p>
        </p:txBody>
      </p:sp>
      <p:sp>
        <p:nvSpPr>
          <p:cNvPr id="25" name="Shape 23"/>
          <p:cNvSpPr/>
          <p:nvPr/>
        </p:nvSpPr>
        <p:spPr>
          <a:xfrm>
            <a:off x="6583680" y="3977640"/>
            <a:ext cx="1920240" cy="457200"/>
          </a:xfrm>
          <a:prstGeom prst="roundRect">
            <a:avLst>
              <a:gd name="adj" fmla="val 12000"/>
            </a:avLst>
          </a:prstGeom>
          <a:solidFill>
            <a:srgbClr val="FFF7CC"/>
          </a:solidFill>
          <a:ln w="15240">
            <a:solidFill>
              <a:srgbClr val="F7C948"/>
            </a:solidFill>
            <a:prstDash val="solid"/>
          </a:ln>
        </p:spPr>
        <p:txBody>
          <a:bodyPr/>
          <a:lstStyle/>
          <a:p>
            <a:endParaRPr lang="en-GB"/>
          </a:p>
        </p:txBody>
      </p:sp>
      <p:sp>
        <p:nvSpPr>
          <p:cNvPr id="26" name="Text 24"/>
          <p:cNvSpPr/>
          <p:nvPr/>
        </p:nvSpPr>
        <p:spPr>
          <a:xfrm>
            <a:off x="6629400" y="4105656"/>
            <a:ext cx="1828800" cy="274320"/>
          </a:xfrm>
          <a:prstGeom prst="rect">
            <a:avLst/>
          </a:prstGeom>
          <a:noFill/>
          <a:ln/>
        </p:spPr>
        <p:txBody>
          <a:bodyPr wrap="square" lIns="0" tIns="0" rIns="0" bIns="0" rtlCol="0" anchor="ctr">
            <a:normAutofit/>
          </a:bodyPr>
          <a:lstStyle/>
          <a:p>
            <a:pPr marL="0" indent="0" algn="ctr">
              <a:buNone/>
            </a:pPr>
            <a:r>
              <a:rPr lang="en-US" sz="1300" b="1" dirty="0">
                <a:solidFill>
                  <a:srgbClr val="0F172A"/>
                </a:solidFill>
              </a:rPr>
              <a:t>Layer 1 RF</a:t>
            </a:r>
            <a:endParaRPr lang="en-US" sz="1300" dirty="0"/>
          </a:p>
        </p:txBody>
      </p:sp>
      <p:sp>
        <p:nvSpPr>
          <p:cNvPr id="27" name="Shape 25"/>
          <p:cNvSpPr/>
          <p:nvPr/>
        </p:nvSpPr>
        <p:spPr>
          <a:xfrm flipV="1">
            <a:off x="4206240" y="4069080"/>
            <a:ext cx="1371600" cy="320040"/>
          </a:xfrm>
          <a:prstGeom prst="bracePair">
            <a:avLst/>
          </a:prstGeom>
          <a:noFill/>
          <a:ln w="19050">
            <a:solidFill>
              <a:srgbClr val="F7C948"/>
            </a:solidFill>
            <a:prstDash val="solid"/>
          </a:ln>
        </p:spPr>
        <p:txBody>
          <a:bodyPr/>
          <a:lstStyle/>
          <a:p>
            <a:endParaRPr lang="en-GB"/>
          </a:p>
        </p:txBody>
      </p:sp>
      <p:sp>
        <p:nvSpPr>
          <p:cNvPr id="28" name="Text 26"/>
          <p:cNvSpPr/>
          <p:nvPr/>
        </p:nvSpPr>
        <p:spPr>
          <a:xfrm>
            <a:off x="4389120" y="3657600"/>
            <a:ext cx="1005840" cy="228600"/>
          </a:xfrm>
          <a:prstGeom prst="rect">
            <a:avLst/>
          </a:prstGeom>
          <a:noFill/>
          <a:ln/>
        </p:spPr>
        <p:txBody>
          <a:bodyPr wrap="square" lIns="0" tIns="0" rIns="0" bIns="0" rtlCol="0" anchor="ctr">
            <a:normAutofit/>
          </a:bodyPr>
          <a:lstStyle/>
          <a:p>
            <a:pPr marL="0" indent="0" algn="ctr">
              <a:buNone/>
            </a:pPr>
            <a:r>
              <a:rPr lang="en-US" sz="1200" dirty="0">
                <a:solidFill>
                  <a:srgbClr val="475569"/>
                </a:solidFill>
              </a:rPr>
              <a:t>t−2 ... t</a:t>
            </a:r>
            <a:endParaRPr lang="en-US" sz="1200" dirty="0"/>
          </a:p>
        </p:txBody>
      </p:sp>
      <p:sp>
        <p:nvSpPr>
          <p:cNvPr id="29" name="Shape 27"/>
          <p:cNvSpPr/>
          <p:nvPr/>
        </p:nvSpPr>
        <p:spPr>
          <a:xfrm>
            <a:off x="6583680" y="3063240"/>
            <a:ext cx="1920240" cy="457200"/>
          </a:xfrm>
          <a:prstGeom prst="roundRect">
            <a:avLst>
              <a:gd name="adj" fmla="val 12000"/>
            </a:avLst>
          </a:prstGeom>
          <a:solidFill>
            <a:srgbClr val="E7F5C7"/>
          </a:solidFill>
          <a:ln w="15240">
            <a:solidFill>
              <a:srgbClr val="84B91F"/>
            </a:solidFill>
            <a:prstDash val="solid"/>
          </a:ln>
        </p:spPr>
        <p:txBody>
          <a:bodyPr/>
          <a:lstStyle/>
          <a:p>
            <a:endParaRPr lang="en-GB"/>
          </a:p>
        </p:txBody>
      </p:sp>
      <p:sp>
        <p:nvSpPr>
          <p:cNvPr id="30" name="Text 28"/>
          <p:cNvSpPr/>
          <p:nvPr/>
        </p:nvSpPr>
        <p:spPr>
          <a:xfrm>
            <a:off x="6629400" y="3191256"/>
            <a:ext cx="1828800" cy="274320"/>
          </a:xfrm>
          <a:prstGeom prst="rect">
            <a:avLst/>
          </a:prstGeom>
          <a:noFill/>
          <a:ln/>
        </p:spPr>
        <p:txBody>
          <a:bodyPr wrap="square" lIns="0" tIns="0" rIns="0" bIns="0" rtlCol="0" anchor="ctr">
            <a:normAutofit/>
          </a:bodyPr>
          <a:lstStyle/>
          <a:p>
            <a:pPr marL="0" indent="0" algn="ctr">
              <a:buNone/>
            </a:pPr>
            <a:r>
              <a:rPr lang="en-US" sz="1300" b="1" dirty="0">
                <a:solidFill>
                  <a:srgbClr val="0F172A"/>
                </a:solidFill>
              </a:rPr>
              <a:t>Layer 2 RF</a:t>
            </a:r>
            <a:endParaRPr lang="en-US" sz="1300" dirty="0"/>
          </a:p>
        </p:txBody>
      </p:sp>
      <p:sp>
        <p:nvSpPr>
          <p:cNvPr id="31" name="Shape 29"/>
          <p:cNvSpPr/>
          <p:nvPr/>
        </p:nvSpPr>
        <p:spPr>
          <a:xfrm flipV="1">
            <a:off x="2834640" y="3154680"/>
            <a:ext cx="2743200" cy="320040"/>
          </a:xfrm>
          <a:prstGeom prst="bracePair">
            <a:avLst/>
          </a:prstGeom>
          <a:noFill/>
          <a:ln w="19050">
            <a:solidFill>
              <a:srgbClr val="84B91F"/>
            </a:solidFill>
            <a:prstDash val="solid"/>
          </a:ln>
        </p:spPr>
        <p:txBody>
          <a:bodyPr/>
          <a:lstStyle/>
          <a:p>
            <a:endParaRPr lang="en-GB"/>
          </a:p>
        </p:txBody>
      </p:sp>
      <p:sp>
        <p:nvSpPr>
          <p:cNvPr id="32" name="Text 30"/>
          <p:cNvSpPr/>
          <p:nvPr/>
        </p:nvSpPr>
        <p:spPr>
          <a:xfrm>
            <a:off x="3017520" y="2743200"/>
            <a:ext cx="2377440" cy="228600"/>
          </a:xfrm>
          <a:prstGeom prst="rect">
            <a:avLst/>
          </a:prstGeom>
          <a:noFill/>
          <a:ln/>
        </p:spPr>
        <p:txBody>
          <a:bodyPr wrap="square" lIns="0" tIns="0" rIns="0" bIns="0" rtlCol="0" anchor="ctr">
            <a:normAutofit/>
          </a:bodyPr>
          <a:lstStyle/>
          <a:p>
            <a:pPr marL="0" indent="0" algn="ctr">
              <a:buNone/>
            </a:pPr>
            <a:r>
              <a:rPr lang="en-US" sz="1200" dirty="0">
                <a:solidFill>
                  <a:srgbClr val="475569"/>
                </a:solidFill>
              </a:rPr>
              <a:t>t−4 ... t</a:t>
            </a:r>
            <a:endParaRPr lang="en-US" sz="1200" dirty="0"/>
          </a:p>
        </p:txBody>
      </p:sp>
      <p:sp>
        <p:nvSpPr>
          <p:cNvPr id="33" name="Shape 31"/>
          <p:cNvSpPr/>
          <p:nvPr/>
        </p:nvSpPr>
        <p:spPr>
          <a:xfrm>
            <a:off x="6583680" y="2148840"/>
            <a:ext cx="1920240" cy="457200"/>
          </a:xfrm>
          <a:prstGeom prst="roundRect">
            <a:avLst>
              <a:gd name="adj" fmla="val 12000"/>
            </a:avLst>
          </a:prstGeom>
          <a:solidFill>
            <a:srgbClr val="FFF7CC"/>
          </a:solidFill>
          <a:ln w="15240">
            <a:solidFill>
              <a:srgbClr val="F7C948"/>
            </a:solidFill>
            <a:prstDash val="solid"/>
          </a:ln>
        </p:spPr>
        <p:txBody>
          <a:bodyPr/>
          <a:lstStyle/>
          <a:p>
            <a:endParaRPr lang="en-GB"/>
          </a:p>
        </p:txBody>
      </p:sp>
      <p:sp>
        <p:nvSpPr>
          <p:cNvPr id="34" name="Text 32"/>
          <p:cNvSpPr/>
          <p:nvPr/>
        </p:nvSpPr>
        <p:spPr>
          <a:xfrm>
            <a:off x="6629400" y="2276856"/>
            <a:ext cx="1828800" cy="274320"/>
          </a:xfrm>
          <a:prstGeom prst="rect">
            <a:avLst/>
          </a:prstGeom>
          <a:noFill/>
          <a:ln/>
        </p:spPr>
        <p:txBody>
          <a:bodyPr wrap="square" lIns="0" tIns="0" rIns="0" bIns="0" rtlCol="0" anchor="ctr">
            <a:normAutofit/>
          </a:bodyPr>
          <a:lstStyle/>
          <a:p>
            <a:pPr marL="0" indent="0" algn="ctr">
              <a:buNone/>
            </a:pPr>
            <a:r>
              <a:rPr lang="en-US" sz="1300" b="1" dirty="0">
                <a:solidFill>
                  <a:srgbClr val="0F172A"/>
                </a:solidFill>
              </a:rPr>
              <a:t>Layer 3 RF</a:t>
            </a:r>
            <a:endParaRPr lang="en-US" sz="1300" dirty="0"/>
          </a:p>
        </p:txBody>
      </p:sp>
      <p:sp>
        <p:nvSpPr>
          <p:cNvPr id="35" name="Shape 33"/>
          <p:cNvSpPr/>
          <p:nvPr/>
        </p:nvSpPr>
        <p:spPr>
          <a:xfrm flipV="1">
            <a:off x="1463040" y="2240280"/>
            <a:ext cx="4114800" cy="320040"/>
          </a:xfrm>
          <a:prstGeom prst="bracePair">
            <a:avLst/>
          </a:prstGeom>
          <a:noFill/>
          <a:ln w="19050">
            <a:solidFill>
              <a:srgbClr val="F7C948"/>
            </a:solidFill>
            <a:prstDash val="solid"/>
          </a:ln>
        </p:spPr>
        <p:txBody>
          <a:bodyPr/>
          <a:lstStyle/>
          <a:p>
            <a:endParaRPr lang="en-GB"/>
          </a:p>
        </p:txBody>
      </p:sp>
      <p:sp>
        <p:nvSpPr>
          <p:cNvPr id="36" name="Text 34"/>
          <p:cNvSpPr/>
          <p:nvPr/>
        </p:nvSpPr>
        <p:spPr>
          <a:xfrm>
            <a:off x="1645920" y="1828800"/>
            <a:ext cx="3749040" cy="228600"/>
          </a:xfrm>
          <a:prstGeom prst="rect">
            <a:avLst/>
          </a:prstGeom>
          <a:noFill/>
          <a:ln/>
        </p:spPr>
        <p:txBody>
          <a:bodyPr wrap="square" lIns="0" tIns="0" rIns="0" bIns="0" rtlCol="0" anchor="ctr">
            <a:normAutofit/>
          </a:bodyPr>
          <a:lstStyle/>
          <a:p>
            <a:pPr marL="0" indent="0" algn="ctr">
              <a:buNone/>
            </a:pPr>
            <a:r>
              <a:rPr lang="en-US" sz="1200" dirty="0">
                <a:solidFill>
                  <a:srgbClr val="475569"/>
                </a:solidFill>
              </a:rPr>
              <a:t>t−6 ... t</a:t>
            </a:r>
            <a:endParaRPr lang="en-US" sz="1200" dirty="0"/>
          </a:p>
        </p:txBody>
      </p:sp>
      <p:sp>
        <p:nvSpPr>
          <p:cNvPr id="37" name="Shape 35"/>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38" name="Text 36"/>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b="1" dirty="0">
                <a:solidFill>
                  <a:srgbClr val="0F172A"/>
                </a:solidFill>
              </a:rPr>
              <a:t>Causal depth increases how far back the model can look; it does not introduce future access</a:t>
            </a:r>
            <a:r>
              <a:rPr lang="en-US" sz="1200" dirty="0">
                <a:solidFill>
                  <a:srgbClr val="0F172A"/>
                </a:solidFill>
              </a:rPr>
              <a:t>.</a:t>
            </a:r>
            <a:endParaRPr lang="en-US" sz="12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4BE278B-1EC8-AF45-BA66-0755ED76BFAF}"/>
              </a:ext>
            </a:extLst>
          </p:cNvPr>
          <p:cNvSpPr>
            <a:spLocks noGrp="1"/>
          </p:cNvSpPr>
          <p:nvPr>
            <p:ph type="title"/>
          </p:nvPr>
        </p:nvSpPr>
        <p:spPr/>
        <p:txBody>
          <a:bodyPr/>
          <a:lstStyle/>
          <a:p>
            <a:r>
              <a:rPr lang="en-GB" dirty="0"/>
              <a:t>Causal convolution for forecasting</a:t>
            </a:r>
          </a:p>
        </p:txBody>
      </p:sp>
      <p:sp>
        <p:nvSpPr>
          <p:cNvPr id="3" name="Segnaposto contenuto 2">
            <a:extLst>
              <a:ext uri="{FF2B5EF4-FFF2-40B4-BE49-F238E27FC236}">
                <a16:creationId xmlns:a16="http://schemas.microsoft.com/office/drawing/2014/main" id="{7559E7D9-7E35-DCCA-0D25-0FAD97796232}"/>
              </a:ext>
            </a:extLst>
          </p:cNvPr>
          <p:cNvSpPr>
            <a:spLocks noGrp="1"/>
          </p:cNvSpPr>
          <p:nvPr>
            <p:ph sz="half" idx="1"/>
          </p:nvPr>
        </p:nvSpPr>
        <p:spPr>
          <a:xfrm>
            <a:off x="677334" y="2160588"/>
            <a:ext cx="5634566" cy="4392611"/>
          </a:xfrm>
        </p:spPr>
        <p:txBody>
          <a:bodyPr>
            <a:normAutofit fontScale="85000" lnSpcReduction="20000"/>
          </a:bodyPr>
          <a:lstStyle/>
          <a:p>
            <a:r>
              <a:rPr lang="en-GB" dirty="0"/>
              <a:t>Suppose we want to forecast: y[t+1]</a:t>
            </a:r>
          </a:p>
          <a:p>
            <a:r>
              <a:rPr lang="en-GB" dirty="0"/>
              <a:t>using information available at time t.</a:t>
            </a:r>
          </a:p>
          <a:p>
            <a:r>
              <a:rPr lang="en-GB" dirty="0"/>
              <a:t>The convolutional representation must depend only on:</a:t>
            </a:r>
          </a:p>
          <a:p>
            <a:r>
              <a:rPr lang="en-GB" dirty="0"/>
              <a:t>x[1], ..., x[t]</a:t>
            </a:r>
          </a:p>
          <a:p>
            <a:r>
              <a:rPr lang="en-GB" b="1" dirty="0"/>
              <a:t>Architecture</a:t>
            </a:r>
          </a:p>
          <a:p>
            <a:r>
              <a:rPr lang="en-GB" dirty="0"/>
              <a:t>past input sequence</a:t>
            </a:r>
          </a:p>
          <a:p>
            <a:r>
              <a:rPr lang="en-GB" dirty="0"/>
              <a:t>      ↓</a:t>
            </a:r>
          </a:p>
          <a:p>
            <a:r>
              <a:rPr lang="en-GB" dirty="0"/>
              <a:t>causal Conv1D</a:t>
            </a:r>
          </a:p>
          <a:p>
            <a:r>
              <a:rPr lang="en-GB" dirty="0"/>
              <a:t>      ↓</a:t>
            </a:r>
          </a:p>
          <a:p>
            <a:r>
              <a:rPr lang="en-GB" dirty="0"/>
              <a:t>causal temporal representation at t</a:t>
            </a:r>
          </a:p>
          <a:p>
            <a:r>
              <a:rPr lang="en-GB" dirty="0"/>
              <a:t>      ↓</a:t>
            </a:r>
          </a:p>
          <a:p>
            <a:r>
              <a:rPr lang="en-GB" dirty="0"/>
              <a:t>forecast layer</a:t>
            </a:r>
          </a:p>
          <a:p>
            <a:r>
              <a:rPr lang="en-GB" dirty="0"/>
              <a:t>      ↓</a:t>
            </a:r>
          </a:p>
          <a:p>
            <a:r>
              <a:rPr lang="en-GB" dirty="0" err="1"/>
              <a:t>y_hat</a:t>
            </a:r>
            <a:r>
              <a:rPr lang="en-GB" dirty="0"/>
              <a:t>[t+1]</a:t>
            </a:r>
          </a:p>
          <a:p>
            <a:endParaRPr lang="en-GB" dirty="0"/>
          </a:p>
        </p:txBody>
      </p:sp>
      <p:sp>
        <p:nvSpPr>
          <p:cNvPr id="4" name="Segnaposto contenuto 3">
            <a:extLst>
              <a:ext uri="{FF2B5EF4-FFF2-40B4-BE49-F238E27FC236}">
                <a16:creationId xmlns:a16="http://schemas.microsoft.com/office/drawing/2014/main" id="{893877CC-D2BB-7DEC-BEAE-DBFE937834D1}"/>
              </a:ext>
            </a:extLst>
          </p:cNvPr>
          <p:cNvSpPr>
            <a:spLocks noGrp="1"/>
          </p:cNvSpPr>
          <p:nvPr>
            <p:ph sz="half" idx="2"/>
          </p:nvPr>
        </p:nvSpPr>
        <p:spPr>
          <a:xfrm>
            <a:off x="6817170" y="2160588"/>
            <a:ext cx="5260530" cy="4392612"/>
          </a:xfrm>
        </p:spPr>
        <p:txBody>
          <a:bodyPr>
            <a:normAutofit fontScale="85000" lnSpcReduction="20000"/>
          </a:bodyPr>
          <a:lstStyle/>
          <a:p>
            <a:r>
              <a:rPr lang="en-GB" b="1" dirty="0"/>
              <a:t>Multi-horizon output</a:t>
            </a:r>
          </a:p>
          <a:p>
            <a:r>
              <a:rPr lang="en-GB" dirty="0"/>
              <a:t>The representation at time t can also be mapped to:</a:t>
            </a:r>
          </a:p>
          <a:p>
            <a:r>
              <a:rPr lang="en-GB" dirty="0"/>
              <a:t>[</a:t>
            </a:r>
            <a:r>
              <a:rPr lang="en-GB" dirty="0" err="1"/>
              <a:t>y_hat</a:t>
            </a:r>
            <a:r>
              <a:rPr lang="en-GB" dirty="0"/>
              <a:t>[t+1], ..., </a:t>
            </a:r>
            <a:r>
              <a:rPr lang="en-GB" dirty="0" err="1"/>
              <a:t>y_hat</a:t>
            </a:r>
            <a:r>
              <a:rPr lang="en-GB" dirty="0"/>
              <a:t>[</a:t>
            </a:r>
            <a:r>
              <a:rPr lang="en-GB" dirty="0" err="1"/>
              <a:t>t+H</a:t>
            </a:r>
            <a:r>
              <a:rPr lang="en-GB" dirty="0"/>
              <a:t>]]</a:t>
            </a:r>
          </a:p>
          <a:p>
            <a:endParaRPr lang="en-GB" dirty="0"/>
          </a:p>
          <a:p>
            <a:r>
              <a:rPr lang="en-GB" dirty="0"/>
              <a:t>For sequence-to-vector forecasting, the CNN can use features from the whole input window to produce only the required future output; it does not need an output aligned with every input time step.</a:t>
            </a:r>
          </a:p>
          <a:p>
            <a:r>
              <a:rPr lang="en-GB" dirty="0"/>
              <a:t>A final causal representation can be used to predict future values directly.</a:t>
            </a:r>
          </a:p>
          <a:p>
            <a:endParaRPr lang="en-GB" dirty="0"/>
          </a:p>
        </p:txBody>
      </p:sp>
    </p:spTree>
    <p:extLst>
      <p:ext uri="{BB962C8B-B14F-4D97-AF65-F5344CB8AC3E}">
        <p14:creationId xmlns:p14="http://schemas.microsoft.com/office/powerpoint/2010/main" val="397102890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Causal convolution for forecasting</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b="1" dirty="0">
                <a:solidFill>
                  <a:srgbClr val="475569"/>
                </a:solidFill>
                <a:latin typeface="Aptos" pitchFamily="34" charset="0"/>
                <a:ea typeface="Aptos" pitchFamily="34" charset="-122"/>
                <a:cs typeface="Aptos" pitchFamily="34" charset="-120"/>
              </a:rPr>
              <a:t>A causal temporal representation at time t can be mapped to one or many future targets.</a:t>
            </a:r>
            <a:endParaRPr lang="en-US" sz="1350" b="1" dirty="0"/>
          </a:p>
        </p:txBody>
      </p:sp>
      <p:sp>
        <p:nvSpPr>
          <p:cNvPr id="6" name="Shape 4"/>
          <p:cNvSpPr/>
          <p:nvPr/>
        </p:nvSpPr>
        <p:spPr>
          <a:xfrm>
            <a:off x="868680" y="2057400"/>
            <a:ext cx="2011680" cy="914400"/>
          </a:xfrm>
          <a:prstGeom prst="roundRect">
            <a:avLst>
              <a:gd name="adj" fmla="val 6000"/>
            </a:avLst>
          </a:prstGeom>
          <a:solidFill>
            <a:srgbClr val="FFFFFF"/>
          </a:solidFill>
          <a:ln w="15240">
            <a:solidFill>
              <a:srgbClr val="CBD5E1"/>
            </a:solidFill>
            <a:prstDash val="solid"/>
          </a:ln>
        </p:spPr>
        <p:txBody>
          <a:bodyPr/>
          <a:lstStyle/>
          <a:p>
            <a:endParaRPr lang="en-GB"/>
          </a:p>
        </p:txBody>
      </p:sp>
      <p:sp>
        <p:nvSpPr>
          <p:cNvPr id="7" name="Text 5"/>
          <p:cNvSpPr/>
          <p:nvPr/>
        </p:nvSpPr>
        <p:spPr>
          <a:xfrm>
            <a:off x="914400" y="2331720"/>
            <a:ext cx="1920240" cy="548640"/>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past input</a:t>
            </a:r>
            <a:endParaRPr lang="en-US" sz="1500" dirty="0"/>
          </a:p>
          <a:p>
            <a:pPr marL="0" indent="0" algn="ctr">
              <a:buNone/>
            </a:pPr>
            <a:r>
              <a:rPr lang="en-US" sz="1500" b="1" dirty="0">
                <a:solidFill>
                  <a:srgbClr val="0F172A"/>
                </a:solidFill>
              </a:rPr>
              <a:t>[x[1], ..., x[t]]</a:t>
            </a:r>
            <a:endParaRPr lang="en-US" sz="1500" dirty="0"/>
          </a:p>
        </p:txBody>
      </p:sp>
      <p:sp>
        <p:nvSpPr>
          <p:cNvPr id="8" name="Shape 6"/>
          <p:cNvSpPr/>
          <p:nvPr/>
        </p:nvSpPr>
        <p:spPr>
          <a:xfrm>
            <a:off x="2926080" y="2514600"/>
            <a:ext cx="868680" cy="0"/>
          </a:xfrm>
          <a:prstGeom prst="line">
            <a:avLst/>
          </a:prstGeom>
          <a:noFill/>
          <a:ln w="27940">
            <a:solidFill>
              <a:srgbClr val="84B91F"/>
            </a:solidFill>
            <a:prstDash val="solid"/>
            <a:headEnd type="none"/>
            <a:tailEnd type="triangle"/>
          </a:ln>
        </p:spPr>
        <p:txBody>
          <a:bodyPr/>
          <a:lstStyle/>
          <a:p>
            <a:endParaRPr lang="en-GB"/>
          </a:p>
        </p:txBody>
      </p:sp>
      <p:sp>
        <p:nvSpPr>
          <p:cNvPr id="9" name="Shape 7"/>
          <p:cNvSpPr/>
          <p:nvPr/>
        </p:nvSpPr>
        <p:spPr>
          <a:xfrm>
            <a:off x="3840480" y="1920240"/>
            <a:ext cx="1920240" cy="1188720"/>
          </a:xfrm>
          <a:prstGeom prst="roundRect">
            <a:avLst>
              <a:gd name="adj" fmla="val 4615"/>
            </a:avLst>
          </a:prstGeom>
          <a:solidFill>
            <a:srgbClr val="E7F5C7"/>
          </a:solidFill>
          <a:ln w="15240">
            <a:solidFill>
              <a:srgbClr val="84B91F"/>
            </a:solidFill>
            <a:prstDash val="solid"/>
          </a:ln>
        </p:spPr>
        <p:txBody>
          <a:bodyPr/>
          <a:lstStyle/>
          <a:p>
            <a:endParaRPr lang="en-GB"/>
          </a:p>
        </p:txBody>
      </p:sp>
      <p:sp>
        <p:nvSpPr>
          <p:cNvPr id="10" name="Text 8"/>
          <p:cNvSpPr/>
          <p:nvPr/>
        </p:nvSpPr>
        <p:spPr>
          <a:xfrm>
            <a:off x="3886200" y="2282342"/>
            <a:ext cx="1828800" cy="713232"/>
          </a:xfrm>
          <a:prstGeom prst="rect">
            <a:avLst/>
          </a:prstGeom>
          <a:noFill/>
          <a:ln/>
        </p:spPr>
        <p:txBody>
          <a:bodyPr wrap="square" lIns="0" tIns="0" rIns="0" bIns="0" rtlCol="0" anchor="ctr">
            <a:normAutofit/>
          </a:bodyPr>
          <a:lstStyle/>
          <a:p>
            <a:pPr marL="0" indent="0" algn="ctr">
              <a:buNone/>
            </a:pPr>
            <a:r>
              <a:rPr lang="en-US" sz="1600" b="1" dirty="0">
                <a:solidFill>
                  <a:srgbClr val="0F172A"/>
                </a:solidFill>
              </a:rPr>
              <a:t>causal</a:t>
            </a:r>
            <a:endParaRPr lang="en-US" sz="1600" dirty="0"/>
          </a:p>
          <a:p>
            <a:pPr marL="0" indent="0" algn="ctr">
              <a:buNone/>
            </a:pPr>
            <a:r>
              <a:rPr lang="en-US" sz="1600" b="1" dirty="0">
                <a:solidFill>
                  <a:srgbClr val="0F172A"/>
                </a:solidFill>
              </a:rPr>
              <a:t>Conv1D stack</a:t>
            </a:r>
            <a:endParaRPr lang="en-US" sz="1600" dirty="0"/>
          </a:p>
        </p:txBody>
      </p:sp>
      <p:sp>
        <p:nvSpPr>
          <p:cNvPr id="11" name="Shape 9"/>
          <p:cNvSpPr/>
          <p:nvPr/>
        </p:nvSpPr>
        <p:spPr>
          <a:xfrm>
            <a:off x="5806440" y="2514600"/>
            <a:ext cx="914400" cy="0"/>
          </a:xfrm>
          <a:prstGeom prst="line">
            <a:avLst/>
          </a:prstGeom>
          <a:noFill/>
          <a:ln w="27940">
            <a:solidFill>
              <a:srgbClr val="84B91F"/>
            </a:solidFill>
            <a:prstDash val="solid"/>
            <a:headEnd type="none"/>
            <a:tailEnd type="triangle"/>
          </a:ln>
        </p:spPr>
        <p:txBody>
          <a:bodyPr/>
          <a:lstStyle/>
          <a:p>
            <a:endParaRPr lang="en-GB"/>
          </a:p>
        </p:txBody>
      </p:sp>
      <p:sp>
        <p:nvSpPr>
          <p:cNvPr id="12" name="Shape 10"/>
          <p:cNvSpPr/>
          <p:nvPr/>
        </p:nvSpPr>
        <p:spPr>
          <a:xfrm>
            <a:off x="6766560" y="2057400"/>
            <a:ext cx="1828800" cy="914400"/>
          </a:xfrm>
          <a:prstGeom prst="roundRect">
            <a:avLst>
              <a:gd name="adj" fmla="val 6000"/>
            </a:avLst>
          </a:prstGeom>
          <a:solidFill>
            <a:srgbClr val="FFF7CC"/>
          </a:solidFill>
          <a:ln w="15240">
            <a:solidFill>
              <a:srgbClr val="F7C948"/>
            </a:solidFill>
            <a:prstDash val="solid"/>
          </a:ln>
        </p:spPr>
        <p:txBody>
          <a:bodyPr/>
          <a:lstStyle/>
          <a:p>
            <a:endParaRPr lang="en-GB"/>
          </a:p>
        </p:txBody>
      </p:sp>
      <p:sp>
        <p:nvSpPr>
          <p:cNvPr id="13" name="Text 11"/>
          <p:cNvSpPr/>
          <p:nvPr/>
        </p:nvSpPr>
        <p:spPr>
          <a:xfrm>
            <a:off x="6812280" y="2331720"/>
            <a:ext cx="1737360" cy="548640"/>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representation</a:t>
            </a:r>
            <a:endParaRPr lang="en-US" sz="1500" dirty="0"/>
          </a:p>
          <a:p>
            <a:pPr marL="0" indent="0" algn="ctr">
              <a:buNone/>
            </a:pPr>
            <a:r>
              <a:rPr lang="en-US" sz="1500" b="1" dirty="0">
                <a:solidFill>
                  <a:srgbClr val="0F172A"/>
                </a:solidFill>
              </a:rPr>
              <a:t>at time t</a:t>
            </a:r>
            <a:endParaRPr lang="en-US" sz="1500" dirty="0"/>
          </a:p>
        </p:txBody>
      </p:sp>
      <p:sp>
        <p:nvSpPr>
          <p:cNvPr id="14" name="Shape 12"/>
          <p:cNvSpPr/>
          <p:nvPr/>
        </p:nvSpPr>
        <p:spPr>
          <a:xfrm>
            <a:off x="8641080" y="2514600"/>
            <a:ext cx="777240" cy="0"/>
          </a:xfrm>
          <a:prstGeom prst="line">
            <a:avLst/>
          </a:prstGeom>
          <a:noFill/>
          <a:ln w="27940">
            <a:solidFill>
              <a:srgbClr val="84B91F"/>
            </a:solidFill>
            <a:prstDash val="solid"/>
            <a:headEnd type="none"/>
            <a:tailEnd type="triangle"/>
          </a:ln>
        </p:spPr>
        <p:txBody>
          <a:bodyPr/>
          <a:lstStyle/>
          <a:p>
            <a:endParaRPr lang="en-GB"/>
          </a:p>
        </p:txBody>
      </p:sp>
      <p:sp>
        <p:nvSpPr>
          <p:cNvPr id="15" name="Shape 13"/>
          <p:cNvSpPr/>
          <p:nvPr/>
        </p:nvSpPr>
        <p:spPr>
          <a:xfrm>
            <a:off x="9464040" y="2057400"/>
            <a:ext cx="1463040" cy="914400"/>
          </a:xfrm>
          <a:prstGeom prst="roundRect">
            <a:avLst>
              <a:gd name="adj" fmla="val 6000"/>
            </a:avLst>
          </a:prstGeom>
          <a:solidFill>
            <a:srgbClr val="EDE9FE"/>
          </a:solidFill>
          <a:ln w="15240">
            <a:solidFill>
              <a:srgbClr val="7C3AED"/>
            </a:solidFill>
            <a:prstDash val="solid"/>
          </a:ln>
        </p:spPr>
        <p:txBody>
          <a:bodyPr/>
          <a:lstStyle/>
          <a:p>
            <a:endParaRPr lang="en-GB"/>
          </a:p>
        </p:txBody>
      </p:sp>
      <p:sp>
        <p:nvSpPr>
          <p:cNvPr id="16" name="Text 14"/>
          <p:cNvSpPr/>
          <p:nvPr/>
        </p:nvSpPr>
        <p:spPr>
          <a:xfrm>
            <a:off x="9509760" y="2331720"/>
            <a:ext cx="1371600" cy="548640"/>
          </a:xfrm>
          <a:prstGeom prst="rect">
            <a:avLst/>
          </a:prstGeom>
          <a:noFill/>
          <a:ln/>
        </p:spPr>
        <p:txBody>
          <a:bodyPr wrap="square" lIns="0" tIns="0" rIns="0" bIns="0" rtlCol="0" anchor="ctr">
            <a:normAutofit/>
          </a:bodyPr>
          <a:lstStyle/>
          <a:p>
            <a:pPr marL="0" indent="0" algn="ctr">
              <a:buNone/>
            </a:pPr>
            <a:r>
              <a:rPr lang="en-US" sz="1400" b="1" dirty="0">
                <a:solidFill>
                  <a:srgbClr val="0F172A"/>
                </a:solidFill>
              </a:rPr>
              <a:t>forecast</a:t>
            </a:r>
            <a:endParaRPr lang="en-US" sz="1400" dirty="0"/>
          </a:p>
          <a:p>
            <a:pPr marL="0" indent="0" algn="ctr">
              <a:buNone/>
            </a:pPr>
            <a:r>
              <a:rPr lang="en-US" sz="1400" b="1" dirty="0">
                <a:solidFill>
                  <a:srgbClr val="0F172A"/>
                </a:solidFill>
              </a:rPr>
              <a:t>y[t+1 : t+H]</a:t>
            </a:r>
            <a:endParaRPr lang="en-US" sz="1400" dirty="0"/>
          </a:p>
        </p:txBody>
      </p:sp>
      <p:sp>
        <p:nvSpPr>
          <p:cNvPr id="17" name="Shape 15"/>
          <p:cNvSpPr/>
          <p:nvPr/>
        </p:nvSpPr>
        <p:spPr>
          <a:xfrm>
            <a:off x="1005840" y="4526280"/>
            <a:ext cx="9784080" cy="0"/>
          </a:xfrm>
          <a:prstGeom prst="line">
            <a:avLst/>
          </a:prstGeom>
          <a:noFill/>
          <a:ln w="25400">
            <a:solidFill>
              <a:srgbClr val="CBD5E1"/>
            </a:solidFill>
            <a:prstDash val="solid"/>
          </a:ln>
        </p:spPr>
        <p:txBody>
          <a:bodyPr/>
          <a:lstStyle/>
          <a:p>
            <a:endParaRPr lang="en-GB"/>
          </a:p>
        </p:txBody>
      </p:sp>
      <p:sp>
        <p:nvSpPr>
          <p:cNvPr id="18" name="Shape 16"/>
          <p:cNvSpPr/>
          <p:nvPr/>
        </p:nvSpPr>
        <p:spPr>
          <a:xfrm>
            <a:off x="1005840" y="4343400"/>
            <a:ext cx="5394960" cy="347472"/>
          </a:xfrm>
          <a:prstGeom prst="rect">
            <a:avLst/>
          </a:prstGeom>
          <a:solidFill>
            <a:srgbClr val="E7F5C7">
              <a:alpha val="80000"/>
            </a:srgbClr>
          </a:solidFill>
          <a:ln w="12700">
            <a:solidFill>
              <a:srgbClr val="84B91F"/>
            </a:solidFill>
            <a:prstDash val="solid"/>
          </a:ln>
        </p:spPr>
        <p:txBody>
          <a:bodyPr/>
          <a:lstStyle/>
          <a:p>
            <a:endParaRPr lang="en-GB"/>
          </a:p>
        </p:txBody>
      </p:sp>
      <p:sp>
        <p:nvSpPr>
          <p:cNvPr id="19" name="Shape 17"/>
          <p:cNvSpPr/>
          <p:nvPr/>
        </p:nvSpPr>
        <p:spPr>
          <a:xfrm>
            <a:off x="6675120" y="4343400"/>
            <a:ext cx="2286000" cy="347472"/>
          </a:xfrm>
          <a:prstGeom prst="rect">
            <a:avLst/>
          </a:prstGeom>
          <a:solidFill>
            <a:srgbClr val="EDE9FE">
              <a:alpha val="85000"/>
            </a:srgbClr>
          </a:solidFill>
          <a:ln w="12700">
            <a:solidFill>
              <a:srgbClr val="7C3AED"/>
            </a:solidFill>
            <a:prstDash val="solid"/>
          </a:ln>
        </p:spPr>
        <p:txBody>
          <a:bodyPr/>
          <a:lstStyle/>
          <a:p>
            <a:endParaRPr lang="en-GB"/>
          </a:p>
        </p:txBody>
      </p:sp>
      <p:sp>
        <p:nvSpPr>
          <p:cNvPr id="20" name="Text 18"/>
          <p:cNvSpPr/>
          <p:nvPr/>
        </p:nvSpPr>
        <p:spPr>
          <a:xfrm>
            <a:off x="3108960" y="4754880"/>
            <a:ext cx="1280160" cy="228600"/>
          </a:xfrm>
          <a:prstGeom prst="rect">
            <a:avLst/>
          </a:prstGeom>
          <a:noFill/>
          <a:ln/>
        </p:spPr>
        <p:txBody>
          <a:bodyPr wrap="square" lIns="0" tIns="0" rIns="0" bIns="0" rtlCol="0" anchor="ctr">
            <a:normAutofit/>
          </a:bodyPr>
          <a:lstStyle/>
          <a:p>
            <a:pPr marL="0" indent="0" algn="ctr">
              <a:buNone/>
            </a:pPr>
            <a:r>
              <a:rPr lang="en-US" sz="1100" b="1" dirty="0">
                <a:solidFill>
                  <a:srgbClr val="84B91F"/>
                </a:solidFill>
              </a:rPr>
              <a:t>past context</a:t>
            </a:r>
            <a:endParaRPr lang="en-US" sz="1100" dirty="0"/>
          </a:p>
        </p:txBody>
      </p:sp>
      <p:sp>
        <p:nvSpPr>
          <p:cNvPr id="21" name="Text 19"/>
          <p:cNvSpPr/>
          <p:nvPr/>
        </p:nvSpPr>
        <p:spPr>
          <a:xfrm>
            <a:off x="7178040" y="4754880"/>
            <a:ext cx="1371600" cy="228600"/>
          </a:xfrm>
          <a:prstGeom prst="rect">
            <a:avLst/>
          </a:prstGeom>
          <a:noFill/>
          <a:ln/>
        </p:spPr>
        <p:txBody>
          <a:bodyPr wrap="square" lIns="0" tIns="0" rIns="0" bIns="0" rtlCol="0" anchor="ctr">
            <a:normAutofit/>
          </a:bodyPr>
          <a:lstStyle/>
          <a:p>
            <a:pPr marL="0" indent="0" algn="ctr">
              <a:buNone/>
            </a:pPr>
            <a:r>
              <a:rPr lang="en-US" sz="1100" b="1" dirty="0">
                <a:solidFill>
                  <a:srgbClr val="7C3AED"/>
                </a:solidFill>
              </a:rPr>
              <a:t>future target</a:t>
            </a:r>
            <a:endParaRPr lang="en-US" sz="1100" dirty="0"/>
          </a:p>
        </p:txBody>
      </p:sp>
      <p:sp>
        <p:nvSpPr>
          <p:cNvPr id="22" name="Shape 20"/>
          <p:cNvSpPr/>
          <p:nvPr/>
        </p:nvSpPr>
        <p:spPr>
          <a:xfrm>
            <a:off x="6400800" y="4160520"/>
            <a:ext cx="0" cy="731520"/>
          </a:xfrm>
          <a:prstGeom prst="line">
            <a:avLst/>
          </a:prstGeom>
          <a:noFill/>
          <a:ln w="19050">
            <a:solidFill>
              <a:srgbClr val="0F172A"/>
            </a:solidFill>
            <a:prstDash val="solid"/>
          </a:ln>
        </p:spPr>
        <p:txBody>
          <a:bodyPr/>
          <a:lstStyle/>
          <a:p>
            <a:endParaRPr lang="en-GB"/>
          </a:p>
        </p:txBody>
      </p:sp>
      <p:sp>
        <p:nvSpPr>
          <p:cNvPr id="23" name="Text 21"/>
          <p:cNvSpPr/>
          <p:nvPr/>
        </p:nvSpPr>
        <p:spPr>
          <a:xfrm>
            <a:off x="6309360" y="4937760"/>
            <a:ext cx="228600" cy="228600"/>
          </a:xfrm>
          <a:prstGeom prst="rect">
            <a:avLst/>
          </a:prstGeom>
          <a:noFill/>
          <a:ln/>
        </p:spPr>
        <p:txBody>
          <a:bodyPr wrap="square" lIns="0" tIns="0" rIns="0" bIns="0" rtlCol="0" anchor="ctr">
            <a:normAutofit/>
          </a:bodyPr>
          <a:lstStyle/>
          <a:p>
            <a:pPr marL="0" indent="0" algn="ctr">
              <a:buNone/>
            </a:pPr>
            <a:r>
              <a:rPr lang="en-US" sz="1100" b="1" dirty="0">
                <a:solidFill>
                  <a:srgbClr val="0F172A"/>
                </a:solidFill>
              </a:rPr>
              <a:t>t</a:t>
            </a:r>
            <a:endParaRPr lang="en-US" sz="1100" dirty="0"/>
          </a:p>
        </p:txBody>
      </p:sp>
      <p:sp>
        <p:nvSpPr>
          <p:cNvPr id="24" name="Shape 22"/>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25" name="Text 23"/>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dirty="0">
                <a:solidFill>
                  <a:srgbClr val="0F172A"/>
                </a:solidFill>
              </a:rPr>
              <a:t>The architecture can be causal while producing forecasts for future horizons.</a:t>
            </a:r>
            <a:endParaRPr lang="en-US" sz="12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F0324BA-1772-8F90-D7B8-0BC1D06BBA67}"/>
              </a:ext>
            </a:extLst>
          </p:cNvPr>
          <p:cNvSpPr>
            <a:spLocks noGrp="1"/>
          </p:cNvSpPr>
          <p:nvPr>
            <p:ph type="title"/>
          </p:nvPr>
        </p:nvSpPr>
        <p:spPr/>
        <p:txBody>
          <a:bodyPr/>
          <a:lstStyle/>
          <a:p>
            <a:r>
              <a:rPr lang="en-GB" dirty="0"/>
              <a:t>Causal convolution for </a:t>
            </a:r>
            <a:r>
              <a:rPr lang="en-GB" dirty="0">
                <a:highlight>
                  <a:srgbClr val="FFFF00"/>
                </a:highlight>
              </a:rPr>
              <a:t>online sequence labelling</a:t>
            </a:r>
          </a:p>
        </p:txBody>
      </p:sp>
      <p:sp>
        <p:nvSpPr>
          <p:cNvPr id="3" name="Segnaposto contenuto 2">
            <a:extLst>
              <a:ext uri="{FF2B5EF4-FFF2-40B4-BE49-F238E27FC236}">
                <a16:creationId xmlns:a16="http://schemas.microsoft.com/office/drawing/2014/main" id="{2BAEFA1F-531A-7C23-ACA5-7E18072240F0}"/>
              </a:ext>
            </a:extLst>
          </p:cNvPr>
          <p:cNvSpPr>
            <a:spLocks noGrp="1"/>
          </p:cNvSpPr>
          <p:nvPr>
            <p:ph sz="half" idx="1"/>
          </p:nvPr>
        </p:nvSpPr>
        <p:spPr/>
        <p:txBody>
          <a:bodyPr>
            <a:normAutofit fontScale="92500" lnSpcReduction="20000"/>
          </a:bodyPr>
          <a:lstStyle/>
          <a:p>
            <a:r>
              <a:rPr lang="en-GB" dirty="0">
                <a:highlight>
                  <a:srgbClr val="FFFF00"/>
                </a:highlight>
              </a:rPr>
              <a:t>Suppose we need:</a:t>
            </a:r>
          </a:p>
          <a:p>
            <a:r>
              <a:rPr lang="en-GB" dirty="0" err="1">
                <a:highlight>
                  <a:srgbClr val="FFFF00"/>
                </a:highlight>
              </a:rPr>
              <a:t>y_hat</a:t>
            </a:r>
            <a:r>
              <a:rPr lang="en-GB" dirty="0">
                <a:highlight>
                  <a:srgbClr val="FFFF00"/>
                </a:highlight>
              </a:rPr>
              <a:t>[t]</a:t>
            </a:r>
          </a:p>
          <a:p>
            <a:r>
              <a:rPr lang="en-GB" dirty="0">
                <a:highlight>
                  <a:srgbClr val="FFFF00"/>
                </a:highlight>
              </a:rPr>
              <a:t>as soon as observation:</a:t>
            </a:r>
          </a:p>
          <a:p>
            <a:r>
              <a:rPr lang="en-GB" dirty="0">
                <a:highlight>
                  <a:srgbClr val="FFFF00"/>
                </a:highlight>
              </a:rPr>
              <a:t>x[t]</a:t>
            </a:r>
          </a:p>
          <a:p>
            <a:r>
              <a:rPr lang="en-GB" dirty="0">
                <a:highlight>
                  <a:srgbClr val="FFFF00"/>
                </a:highlight>
              </a:rPr>
              <a:t>arrives.</a:t>
            </a:r>
          </a:p>
          <a:p>
            <a:endParaRPr lang="en-GB" dirty="0"/>
          </a:p>
          <a:p>
            <a:r>
              <a:rPr lang="en-GB" dirty="0"/>
              <a:t>A causal CNN ensures:</a:t>
            </a:r>
          </a:p>
          <a:p>
            <a:r>
              <a:rPr lang="en-GB" dirty="0" err="1"/>
              <a:t>y_hat</a:t>
            </a:r>
            <a:r>
              <a:rPr lang="en-GB" dirty="0"/>
              <a:t>[t]</a:t>
            </a:r>
          </a:p>
          <a:p>
            <a:r>
              <a:rPr lang="en-GB" dirty="0"/>
              <a:t>depends on</a:t>
            </a:r>
          </a:p>
          <a:p>
            <a:r>
              <a:rPr lang="en-GB" dirty="0"/>
              <a:t>x[t], x[t−1], ...</a:t>
            </a:r>
          </a:p>
          <a:p>
            <a:r>
              <a:rPr lang="en-GB" dirty="0"/>
              <a:t>but not on future inputs.</a:t>
            </a:r>
          </a:p>
          <a:p>
            <a:endParaRPr lang="en-GB" dirty="0"/>
          </a:p>
        </p:txBody>
      </p:sp>
      <p:sp>
        <p:nvSpPr>
          <p:cNvPr id="4" name="Segnaposto contenuto 3">
            <a:extLst>
              <a:ext uri="{FF2B5EF4-FFF2-40B4-BE49-F238E27FC236}">
                <a16:creationId xmlns:a16="http://schemas.microsoft.com/office/drawing/2014/main" id="{B83E0B1B-4F67-BE04-A55E-8D12BBEBC7E0}"/>
              </a:ext>
            </a:extLst>
          </p:cNvPr>
          <p:cNvSpPr>
            <a:spLocks noGrp="1"/>
          </p:cNvSpPr>
          <p:nvPr>
            <p:ph sz="half" idx="2"/>
          </p:nvPr>
        </p:nvSpPr>
        <p:spPr>
          <a:xfrm>
            <a:off x="4114800" y="1931989"/>
            <a:ext cx="7851604" cy="4684711"/>
          </a:xfrm>
        </p:spPr>
        <p:txBody>
          <a:bodyPr>
            <a:normAutofit fontScale="92500" lnSpcReduction="20000"/>
          </a:bodyPr>
          <a:lstStyle/>
          <a:p>
            <a:r>
              <a:rPr lang="en-GB" b="1" dirty="0">
                <a:highlight>
                  <a:srgbClr val="FFFF00"/>
                </a:highlight>
              </a:rPr>
              <a:t>Example</a:t>
            </a:r>
          </a:p>
          <a:p>
            <a:r>
              <a:rPr lang="en-GB" dirty="0"/>
              <a:t>Real-time machine monitoring:</a:t>
            </a:r>
          </a:p>
          <a:p>
            <a:r>
              <a:rPr lang="en-GB" dirty="0"/>
              <a:t>At each new sample:</a:t>
            </a:r>
          </a:p>
          <a:p>
            <a:pPr lvl="1"/>
            <a:r>
              <a:rPr lang="en-GB" dirty="0"/>
              <a:t>update convolutional representation; </a:t>
            </a:r>
          </a:p>
          <a:p>
            <a:pPr lvl="1"/>
            <a:r>
              <a:rPr lang="en-GB" dirty="0"/>
              <a:t>output fault probability; </a:t>
            </a:r>
          </a:p>
          <a:p>
            <a:pPr lvl="1"/>
            <a:r>
              <a:rPr lang="en-GB" dirty="0"/>
              <a:t>raise alarm if needed. </a:t>
            </a:r>
          </a:p>
          <a:p>
            <a:r>
              <a:rPr lang="en-GB" b="1" dirty="0"/>
              <a:t>Advantage</a:t>
            </a:r>
          </a:p>
          <a:p>
            <a:r>
              <a:rPr lang="en-GB" dirty="0"/>
              <a:t>The model can exploit a fixed historical context while respecting online operation.</a:t>
            </a:r>
          </a:p>
          <a:p>
            <a:r>
              <a:rPr lang="en-GB" b="1" dirty="0">
                <a:highlight>
                  <a:srgbClr val="FFFF00"/>
                </a:highlight>
              </a:rPr>
              <a:t>Contrast with offline labelling</a:t>
            </a:r>
          </a:p>
          <a:p>
            <a:r>
              <a:rPr lang="en-GB" dirty="0"/>
              <a:t>If the complete recording is available, a non-causal model may use future context and could achieve better boundary decisions.</a:t>
            </a:r>
          </a:p>
          <a:p>
            <a:r>
              <a:rPr lang="en-GB" b="1" dirty="0">
                <a:highlight>
                  <a:srgbClr val="FFFF00"/>
                </a:highlight>
              </a:rPr>
              <a:t>Key question</a:t>
            </a:r>
          </a:p>
          <a:p>
            <a:r>
              <a:rPr lang="en-GB" dirty="0"/>
              <a:t>Is the prediction required now, or after the complete sequence is available?</a:t>
            </a:r>
          </a:p>
          <a:p>
            <a:endParaRPr lang="en-GB" dirty="0"/>
          </a:p>
        </p:txBody>
      </p:sp>
    </p:spTree>
    <p:extLst>
      <p:ext uri="{BB962C8B-B14F-4D97-AF65-F5344CB8AC3E}">
        <p14:creationId xmlns:p14="http://schemas.microsoft.com/office/powerpoint/2010/main" val="275873664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95006E9-08A1-5FC7-6037-CD4C27975DDE}"/>
              </a:ext>
            </a:extLst>
          </p:cNvPr>
          <p:cNvSpPr>
            <a:spLocks noGrp="1"/>
          </p:cNvSpPr>
          <p:nvPr>
            <p:ph type="title"/>
          </p:nvPr>
        </p:nvSpPr>
        <p:spPr/>
        <p:txBody>
          <a:bodyPr/>
          <a:lstStyle/>
          <a:p>
            <a:r>
              <a:rPr lang="en-GB" dirty="0"/>
              <a:t>Architectural causality is not enough</a:t>
            </a:r>
          </a:p>
        </p:txBody>
      </p:sp>
      <p:sp>
        <p:nvSpPr>
          <p:cNvPr id="3" name="Segnaposto contenuto 2">
            <a:extLst>
              <a:ext uri="{FF2B5EF4-FFF2-40B4-BE49-F238E27FC236}">
                <a16:creationId xmlns:a16="http://schemas.microsoft.com/office/drawing/2014/main" id="{D45A2611-807D-CE12-4712-8D4BE44CB993}"/>
              </a:ext>
            </a:extLst>
          </p:cNvPr>
          <p:cNvSpPr>
            <a:spLocks noGrp="1"/>
          </p:cNvSpPr>
          <p:nvPr>
            <p:ph sz="half" idx="1"/>
          </p:nvPr>
        </p:nvSpPr>
        <p:spPr>
          <a:xfrm>
            <a:off x="677334" y="2160588"/>
            <a:ext cx="5129297" cy="4252911"/>
          </a:xfrm>
        </p:spPr>
        <p:txBody>
          <a:bodyPr>
            <a:normAutofit/>
          </a:bodyPr>
          <a:lstStyle/>
          <a:p>
            <a:r>
              <a:rPr lang="en-GB" dirty="0"/>
              <a:t>A model can use causal convolutions and still suffer from leakage.</a:t>
            </a:r>
          </a:p>
          <a:p>
            <a:r>
              <a:rPr lang="en-GB" b="1" dirty="0"/>
              <a:t>Example</a:t>
            </a:r>
          </a:p>
          <a:p>
            <a:r>
              <a:rPr lang="en-GB" dirty="0"/>
              <a:t>Input preprocessing includes:</a:t>
            </a:r>
          </a:p>
          <a:p>
            <a:pPr lvl="1"/>
            <a:r>
              <a:rPr lang="en-GB" dirty="0" err="1"/>
              <a:t>centered</a:t>
            </a:r>
            <a:r>
              <a:rPr lang="en-GB" dirty="0"/>
              <a:t> moving average; </a:t>
            </a:r>
          </a:p>
          <a:p>
            <a:pPr lvl="1"/>
            <a:r>
              <a:rPr lang="en-GB" dirty="0"/>
              <a:t>interpolation using future frames; </a:t>
            </a:r>
          </a:p>
          <a:p>
            <a:pPr lvl="1"/>
            <a:r>
              <a:rPr lang="en-GB" dirty="0"/>
              <a:t>complete-recording normalization. </a:t>
            </a:r>
          </a:p>
          <a:p>
            <a:r>
              <a:rPr lang="en-GB" dirty="0"/>
              <a:t>The convolution itself may be causal, but the input x[t] already contains future information.</a:t>
            </a:r>
          </a:p>
          <a:p>
            <a:endParaRPr lang="en-GB" dirty="0"/>
          </a:p>
        </p:txBody>
      </p:sp>
      <p:sp>
        <p:nvSpPr>
          <p:cNvPr id="4" name="Segnaposto contenuto 3">
            <a:extLst>
              <a:ext uri="{FF2B5EF4-FFF2-40B4-BE49-F238E27FC236}">
                <a16:creationId xmlns:a16="http://schemas.microsoft.com/office/drawing/2014/main" id="{DF075992-2DA4-1C4F-A87D-95D1F8F414CC}"/>
              </a:ext>
            </a:extLst>
          </p:cNvPr>
          <p:cNvSpPr>
            <a:spLocks noGrp="1"/>
          </p:cNvSpPr>
          <p:nvPr>
            <p:ph sz="half" idx="2"/>
          </p:nvPr>
        </p:nvSpPr>
        <p:spPr>
          <a:xfrm>
            <a:off x="6385370" y="2160589"/>
            <a:ext cx="5362130" cy="4430711"/>
          </a:xfrm>
        </p:spPr>
        <p:txBody>
          <a:bodyPr>
            <a:normAutofit/>
          </a:bodyPr>
          <a:lstStyle/>
          <a:p>
            <a:r>
              <a:rPr lang="en-GB" b="1" dirty="0"/>
              <a:t>Therefore a valid causal system requires</a:t>
            </a:r>
          </a:p>
          <a:p>
            <a:pPr lvl="1"/>
            <a:r>
              <a:rPr lang="en-GB" dirty="0"/>
              <a:t>causal feature construction; </a:t>
            </a:r>
          </a:p>
          <a:p>
            <a:pPr lvl="1"/>
            <a:r>
              <a:rPr lang="en-GB" dirty="0"/>
              <a:t>causal preprocessing; </a:t>
            </a:r>
          </a:p>
          <a:p>
            <a:pPr lvl="1"/>
            <a:r>
              <a:rPr lang="en-GB" dirty="0"/>
              <a:t>causal model architecture; </a:t>
            </a:r>
          </a:p>
          <a:p>
            <a:pPr lvl="1"/>
            <a:r>
              <a:rPr lang="en-GB" dirty="0"/>
              <a:t>correct temporal evaluation. </a:t>
            </a:r>
          </a:p>
          <a:p>
            <a:r>
              <a:rPr lang="en-GB" b="1" dirty="0">
                <a:highlight>
                  <a:srgbClr val="FFFF00"/>
                </a:highlight>
              </a:rPr>
              <a:t>Connection to Lecture 2</a:t>
            </a:r>
          </a:p>
          <a:p>
            <a:r>
              <a:rPr lang="en-GB" dirty="0"/>
              <a:t>Prediction-time availability must be respected through the </a:t>
            </a:r>
            <a:r>
              <a:rPr lang="en-GB" b="1" dirty="0">
                <a:highlight>
                  <a:srgbClr val="FFFF00"/>
                </a:highlight>
              </a:rPr>
              <a:t>entire pipeline</a:t>
            </a:r>
            <a:r>
              <a:rPr lang="en-GB" dirty="0">
                <a:highlight>
                  <a:srgbClr val="FFFF00"/>
                </a:highlight>
              </a:rPr>
              <a:t>.</a:t>
            </a:r>
          </a:p>
        </p:txBody>
      </p:sp>
      <p:sp>
        <p:nvSpPr>
          <p:cNvPr id="6" name="CasellaDiTesto 5">
            <a:extLst>
              <a:ext uri="{FF2B5EF4-FFF2-40B4-BE49-F238E27FC236}">
                <a16:creationId xmlns:a16="http://schemas.microsoft.com/office/drawing/2014/main" id="{1E4D60D6-85F9-97F8-68A7-70705C2F2C87}"/>
              </a:ext>
            </a:extLst>
          </p:cNvPr>
          <p:cNvSpPr txBox="1"/>
          <p:nvPr/>
        </p:nvSpPr>
        <p:spPr>
          <a:xfrm>
            <a:off x="3687408" y="5767168"/>
            <a:ext cx="4560665" cy="646331"/>
          </a:xfrm>
          <a:prstGeom prst="rect">
            <a:avLst/>
          </a:prstGeom>
          <a:noFill/>
        </p:spPr>
        <p:txBody>
          <a:bodyPr wrap="square">
            <a:spAutoFit/>
          </a:bodyPr>
          <a:lstStyle/>
          <a:p>
            <a:r>
              <a:rPr lang="en-GB" sz="1800" b="1" dirty="0"/>
              <a:t>A causal layer does not make a non-causal data pipeline valid.</a:t>
            </a:r>
          </a:p>
        </p:txBody>
      </p:sp>
      <p:sp>
        <p:nvSpPr>
          <p:cNvPr id="5" name="CasellaDiTesto 4">
            <a:extLst>
              <a:ext uri="{FF2B5EF4-FFF2-40B4-BE49-F238E27FC236}">
                <a16:creationId xmlns:a16="http://schemas.microsoft.com/office/drawing/2014/main" id="{7564E325-F40B-5023-B70E-11C3C3D20A33}"/>
              </a:ext>
            </a:extLst>
          </p:cNvPr>
          <p:cNvSpPr txBox="1"/>
          <p:nvPr/>
        </p:nvSpPr>
        <p:spPr>
          <a:xfrm>
            <a:off x="7232072" y="1163783"/>
            <a:ext cx="2382982" cy="646331"/>
          </a:xfrm>
          <a:prstGeom prst="rect">
            <a:avLst/>
          </a:prstGeom>
          <a:noFill/>
        </p:spPr>
        <p:txBody>
          <a:bodyPr wrap="square" rtlCol="0">
            <a:spAutoFit/>
          </a:bodyPr>
          <a:lstStyle/>
          <a:p>
            <a:r>
              <a:rPr lang="it-IT" dirty="0" err="1">
                <a:solidFill>
                  <a:schemeClr val="accent2">
                    <a:lumMod val="75000"/>
                  </a:schemeClr>
                </a:solidFill>
              </a:rPr>
              <a:t>It’s</a:t>
            </a:r>
            <a:r>
              <a:rPr lang="it-IT" dirty="0">
                <a:solidFill>
                  <a:schemeClr val="accent2">
                    <a:lumMod val="75000"/>
                  </a:schemeClr>
                </a:solidFill>
              </a:rPr>
              <a:t> just a step in the pipeline!</a:t>
            </a:r>
            <a:endParaRPr lang="en-GB" dirty="0">
              <a:solidFill>
                <a:schemeClr val="accent2">
                  <a:lumMod val="75000"/>
                </a:schemeClr>
              </a:solidFill>
            </a:endParaRPr>
          </a:p>
        </p:txBody>
      </p:sp>
    </p:spTree>
    <p:extLst>
      <p:ext uri="{BB962C8B-B14F-4D97-AF65-F5344CB8AC3E}">
        <p14:creationId xmlns:p14="http://schemas.microsoft.com/office/powerpoint/2010/main" val="18405055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A causal layer does not fix a leaking pipeline</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dirty="0">
                <a:solidFill>
                  <a:srgbClr val="475569"/>
                </a:solidFill>
                <a:latin typeface="Aptos" pitchFamily="34" charset="0"/>
                <a:ea typeface="Aptos" pitchFamily="34" charset="-122"/>
                <a:cs typeface="Aptos" pitchFamily="34" charset="-120"/>
              </a:rPr>
              <a:t>Prediction-time availability must be respected by every pipeline component.</a:t>
            </a:r>
            <a:endParaRPr lang="en-US" sz="1350" dirty="0"/>
          </a:p>
        </p:txBody>
      </p:sp>
      <p:sp>
        <p:nvSpPr>
          <p:cNvPr id="6" name="Shape 4"/>
          <p:cNvSpPr/>
          <p:nvPr/>
        </p:nvSpPr>
        <p:spPr>
          <a:xfrm>
            <a:off x="868680" y="2011680"/>
            <a:ext cx="1691640" cy="731520"/>
          </a:xfrm>
          <a:prstGeom prst="roundRect">
            <a:avLst>
              <a:gd name="adj" fmla="val 7500"/>
            </a:avLst>
          </a:prstGeom>
          <a:solidFill>
            <a:srgbClr val="FFFFFF"/>
          </a:solidFill>
          <a:ln w="15240">
            <a:solidFill>
              <a:srgbClr val="CBD5E1"/>
            </a:solidFill>
            <a:prstDash val="solid"/>
          </a:ln>
        </p:spPr>
        <p:txBody>
          <a:bodyPr/>
          <a:lstStyle/>
          <a:p>
            <a:endParaRPr lang="en-GB"/>
          </a:p>
        </p:txBody>
      </p:sp>
      <p:sp>
        <p:nvSpPr>
          <p:cNvPr id="7" name="Text 5"/>
          <p:cNvSpPr/>
          <p:nvPr/>
        </p:nvSpPr>
        <p:spPr>
          <a:xfrm>
            <a:off x="914400" y="2227478"/>
            <a:ext cx="1600200" cy="438912"/>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raw data</a:t>
            </a:r>
            <a:endParaRPr lang="en-US" sz="1500" dirty="0"/>
          </a:p>
        </p:txBody>
      </p:sp>
      <p:sp>
        <p:nvSpPr>
          <p:cNvPr id="8" name="Shape 6"/>
          <p:cNvSpPr/>
          <p:nvPr/>
        </p:nvSpPr>
        <p:spPr>
          <a:xfrm>
            <a:off x="2606040" y="2377440"/>
            <a:ext cx="502920" cy="0"/>
          </a:xfrm>
          <a:prstGeom prst="line">
            <a:avLst/>
          </a:prstGeom>
          <a:noFill/>
          <a:ln w="22860">
            <a:solidFill>
              <a:srgbClr val="84B91F"/>
            </a:solidFill>
            <a:prstDash val="solid"/>
            <a:headEnd type="none"/>
            <a:tailEnd type="triangle"/>
          </a:ln>
        </p:spPr>
        <p:txBody>
          <a:bodyPr/>
          <a:lstStyle/>
          <a:p>
            <a:endParaRPr lang="en-GB"/>
          </a:p>
        </p:txBody>
      </p:sp>
      <p:sp>
        <p:nvSpPr>
          <p:cNvPr id="9" name="Shape 7"/>
          <p:cNvSpPr/>
          <p:nvPr/>
        </p:nvSpPr>
        <p:spPr>
          <a:xfrm>
            <a:off x="3200400" y="2011680"/>
            <a:ext cx="1691640" cy="731520"/>
          </a:xfrm>
          <a:prstGeom prst="roundRect">
            <a:avLst>
              <a:gd name="adj" fmla="val 7500"/>
            </a:avLst>
          </a:prstGeom>
          <a:solidFill>
            <a:srgbClr val="FFE4E6"/>
          </a:solidFill>
          <a:ln w="15240">
            <a:solidFill>
              <a:srgbClr val="DC2626"/>
            </a:solidFill>
            <a:prstDash val="solid"/>
          </a:ln>
        </p:spPr>
        <p:txBody>
          <a:bodyPr/>
          <a:lstStyle/>
          <a:p>
            <a:endParaRPr lang="en-GB"/>
          </a:p>
        </p:txBody>
      </p:sp>
      <p:sp>
        <p:nvSpPr>
          <p:cNvPr id="10" name="Text 8"/>
          <p:cNvSpPr/>
          <p:nvPr/>
        </p:nvSpPr>
        <p:spPr>
          <a:xfrm>
            <a:off x="3246120" y="2227478"/>
            <a:ext cx="1600200" cy="438912"/>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preprocessing</a:t>
            </a:r>
            <a:endParaRPr lang="en-US" sz="1500" dirty="0"/>
          </a:p>
        </p:txBody>
      </p:sp>
      <p:sp>
        <p:nvSpPr>
          <p:cNvPr id="11" name="Shape 9"/>
          <p:cNvSpPr/>
          <p:nvPr/>
        </p:nvSpPr>
        <p:spPr>
          <a:xfrm>
            <a:off x="4937760" y="2377440"/>
            <a:ext cx="502920" cy="0"/>
          </a:xfrm>
          <a:prstGeom prst="line">
            <a:avLst/>
          </a:prstGeom>
          <a:noFill/>
          <a:ln w="22860">
            <a:solidFill>
              <a:srgbClr val="84B91F"/>
            </a:solidFill>
            <a:prstDash val="solid"/>
            <a:headEnd type="none"/>
            <a:tailEnd type="triangle"/>
          </a:ln>
        </p:spPr>
        <p:txBody>
          <a:bodyPr/>
          <a:lstStyle/>
          <a:p>
            <a:endParaRPr lang="en-GB"/>
          </a:p>
        </p:txBody>
      </p:sp>
      <p:sp>
        <p:nvSpPr>
          <p:cNvPr id="12" name="Shape 10"/>
          <p:cNvSpPr/>
          <p:nvPr/>
        </p:nvSpPr>
        <p:spPr>
          <a:xfrm>
            <a:off x="5532120" y="2011680"/>
            <a:ext cx="1691640" cy="731520"/>
          </a:xfrm>
          <a:prstGeom prst="roundRect">
            <a:avLst>
              <a:gd name="adj" fmla="val 7500"/>
            </a:avLst>
          </a:prstGeom>
          <a:solidFill>
            <a:srgbClr val="E7F5C7"/>
          </a:solidFill>
          <a:ln w="15240">
            <a:solidFill>
              <a:srgbClr val="84B91F"/>
            </a:solidFill>
            <a:prstDash val="solid"/>
          </a:ln>
        </p:spPr>
        <p:txBody>
          <a:bodyPr/>
          <a:lstStyle/>
          <a:p>
            <a:endParaRPr lang="en-GB"/>
          </a:p>
        </p:txBody>
      </p:sp>
      <p:sp>
        <p:nvSpPr>
          <p:cNvPr id="13" name="Text 11"/>
          <p:cNvSpPr/>
          <p:nvPr/>
        </p:nvSpPr>
        <p:spPr>
          <a:xfrm>
            <a:off x="5577840" y="2227478"/>
            <a:ext cx="1600200" cy="438912"/>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causal Conv1D</a:t>
            </a:r>
            <a:endParaRPr lang="en-US" sz="1500" dirty="0"/>
          </a:p>
        </p:txBody>
      </p:sp>
      <p:sp>
        <p:nvSpPr>
          <p:cNvPr id="14" name="Shape 12"/>
          <p:cNvSpPr/>
          <p:nvPr/>
        </p:nvSpPr>
        <p:spPr>
          <a:xfrm>
            <a:off x="7269480" y="2377440"/>
            <a:ext cx="502920" cy="0"/>
          </a:xfrm>
          <a:prstGeom prst="line">
            <a:avLst/>
          </a:prstGeom>
          <a:noFill/>
          <a:ln w="22860">
            <a:solidFill>
              <a:srgbClr val="84B91F"/>
            </a:solidFill>
            <a:prstDash val="solid"/>
            <a:headEnd type="none"/>
            <a:tailEnd type="triangle"/>
          </a:ln>
        </p:spPr>
        <p:txBody>
          <a:bodyPr/>
          <a:lstStyle/>
          <a:p>
            <a:endParaRPr lang="en-GB"/>
          </a:p>
        </p:txBody>
      </p:sp>
      <p:sp>
        <p:nvSpPr>
          <p:cNvPr id="15" name="Shape 13"/>
          <p:cNvSpPr/>
          <p:nvPr/>
        </p:nvSpPr>
        <p:spPr>
          <a:xfrm>
            <a:off x="7863840" y="2011680"/>
            <a:ext cx="1691640" cy="731520"/>
          </a:xfrm>
          <a:prstGeom prst="roundRect">
            <a:avLst>
              <a:gd name="adj" fmla="val 7500"/>
            </a:avLst>
          </a:prstGeom>
          <a:solidFill>
            <a:srgbClr val="FFFFFF"/>
          </a:solidFill>
          <a:ln w="15240">
            <a:solidFill>
              <a:srgbClr val="CBD5E1"/>
            </a:solidFill>
            <a:prstDash val="solid"/>
          </a:ln>
        </p:spPr>
        <p:txBody>
          <a:bodyPr/>
          <a:lstStyle/>
          <a:p>
            <a:endParaRPr lang="en-GB"/>
          </a:p>
        </p:txBody>
      </p:sp>
      <p:sp>
        <p:nvSpPr>
          <p:cNvPr id="16" name="Text 14"/>
          <p:cNvSpPr/>
          <p:nvPr/>
        </p:nvSpPr>
        <p:spPr>
          <a:xfrm>
            <a:off x="7909560" y="2227478"/>
            <a:ext cx="1600200" cy="438912"/>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rPr>
              <a:t>evaluation</a:t>
            </a:r>
            <a:endParaRPr lang="en-US" sz="1500" dirty="0"/>
          </a:p>
        </p:txBody>
      </p:sp>
      <p:sp>
        <p:nvSpPr>
          <p:cNvPr id="17" name="Shape 15"/>
          <p:cNvSpPr/>
          <p:nvPr/>
        </p:nvSpPr>
        <p:spPr>
          <a:xfrm>
            <a:off x="1143000" y="3749040"/>
            <a:ext cx="3931920" cy="1325880"/>
          </a:xfrm>
          <a:prstGeom prst="roundRect">
            <a:avLst>
              <a:gd name="adj" fmla="val 4138"/>
            </a:avLst>
          </a:prstGeom>
          <a:solidFill>
            <a:srgbClr val="FFE4E6"/>
          </a:solidFill>
          <a:ln w="15240">
            <a:solidFill>
              <a:srgbClr val="DC2626"/>
            </a:solidFill>
            <a:prstDash val="solid"/>
          </a:ln>
        </p:spPr>
        <p:txBody>
          <a:bodyPr/>
          <a:lstStyle/>
          <a:p>
            <a:endParaRPr lang="en-GB"/>
          </a:p>
        </p:txBody>
      </p:sp>
      <p:sp>
        <p:nvSpPr>
          <p:cNvPr id="18" name="Text 16"/>
          <p:cNvSpPr/>
          <p:nvPr/>
        </p:nvSpPr>
        <p:spPr>
          <a:xfrm>
            <a:off x="1188720" y="4155034"/>
            <a:ext cx="3840480" cy="795528"/>
          </a:xfrm>
          <a:prstGeom prst="rect">
            <a:avLst/>
          </a:prstGeom>
          <a:noFill/>
          <a:ln/>
        </p:spPr>
        <p:txBody>
          <a:bodyPr wrap="square" lIns="0" tIns="0" rIns="0" bIns="0" rtlCol="0" anchor="ctr">
            <a:normAutofit lnSpcReduction="10000"/>
          </a:bodyPr>
          <a:lstStyle/>
          <a:p>
            <a:pPr marL="0" indent="0" algn="ctr">
              <a:buNone/>
            </a:pPr>
            <a:r>
              <a:rPr lang="en-US" sz="1400" b="1" dirty="0">
                <a:solidFill>
                  <a:srgbClr val="0F172A"/>
                </a:solidFill>
              </a:rPr>
              <a:t>Examples of non-causal preprocessing</a:t>
            </a:r>
            <a:endParaRPr lang="en-US" sz="1400" dirty="0"/>
          </a:p>
          <a:p>
            <a:pPr marL="0" indent="0" algn="ctr">
              <a:buNone/>
            </a:pPr>
            <a:r>
              <a:rPr lang="en-US" sz="1400" b="1" dirty="0">
                <a:solidFill>
                  <a:srgbClr val="0F172A"/>
                </a:solidFill>
              </a:rPr>
              <a:t>• centered moving average</a:t>
            </a:r>
            <a:endParaRPr lang="en-US" sz="1400" dirty="0"/>
          </a:p>
          <a:p>
            <a:pPr marL="0" indent="0" algn="ctr">
              <a:buNone/>
            </a:pPr>
            <a:r>
              <a:rPr lang="en-US" sz="1400" b="1" dirty="0">
                <a:solidFill>
                  <a:srgbClr val="0F172A"/>
                </a:solidFill>
              </a:rPr>
              <a:t>• interpolation using future frames</a:t>
            </a:r>
            <a:endParaRPr lang="en-US" sz="1400" dirty="0"/>
          </a:p>
          <a:p>
            <a:pPr marL="0" indent="0" algn="ctr">
              <a:buNone/>
            </a:pPr>
            <a:r>
              <a:rPr lang="en-US" sz="1400" b="1" dirty="0">
                <a:solidFill>
                  <a:srgbClr val="0F172A"/>
                </a:solidFill>
              </a:rPr>
              <a:t>• complete-recording normalization</a:t>
            </a:r>
            <a:endParaRPr lang="en-US" sz="1400" dirty="0"/>
          </a:p>
        </p:txBody>
      </p:sp>
      <p:sp>
        <p:nvSpPr>
          <p:cNvPr id="19" name="Shape 17"/>
          <p:cNvSpPr/>
          <p:nvPr/>
        </p:nvSpPr>
        <p:spPr>
          <a:xfrm>
            <a:off x="5623560" y="3749040"/>
            <a:ext cx="3931920" cy="1325880"/>
          </a:xfrm>
          <a:prstGeom prst="roundRect">
            <a:avLst>
              <a:gd name="adj" fmla="val 4138"/>
            </a:avLst>
          </a:prstGeom>
          <a:solidFill>
            <a:srgbClr val="E7F5C7"/>
          </a:solidFill>
          <a:ln w="15240">
            <a:solidFill>
              <a:srgbClr val="84B91F"/>
            </a:solidFill>
            <a:prstDash val="solid"/>
          </a:ln>
        </p:spPr>
        <p:txBody>
          <a:bodyPr/>
          <a:lstStyle/>
          <a:p>
            <a:endParaRPr lang="en-GB"/>
          </a:p>
        </p:txBody>
      </p:sp>
      <p:sp>
        <p:nvSpPr>
          <p:cNvPr id="20" name="Text 18"/>
          <p:cNvSpPr/>
          <p:nvPr/>
        </p:nvSpPr>
        <p:spPr>
          <a:xfrm>
            <a:off x="5669280" y="4155034"/>
            <a:ext cx="3840480" cy="795528"/>
          </a:xfrm>
          <a:prstGeom prst="rect">
            <a:avLst/>
          </a:prstGeom>
          <a:noFill/>
          <a:ln/>
        </p:spPr>
        <p:txBody>
          <a:bodyPr wrap="square" lIns="0" tIns="0" rIns="0" bIns="0" rtlCol="0" anchor="ctr">
            <a:normAutofit/>
          </a:bodyPr>
          <a:lstStyle/>
          <a:p>
            <a:pPr marL="0" indent="0" algn="ctr">
              <a:buNone/>
            </a:pPr>
            <a:r>
              <a:rPr lang="en-US" sz="1400" b="1" dirty="0">
                <a:solidFill>
                  <a:srgbClr val="0F172A"/>
                </a:solidFill>
              </a:rPr>
              <a:t>A valid causal system requires</a:t>
            </a:r>
            <a:endParaRPr lang="en-US" sz="1400" dirty="0"/>
          </a:p>
          <a:p>
            <a:pPr marL="0" indent="0" algn="ctr">
              <a:buNone/>
            </a:pPr>
            <a:r>
              <a:rPr lang="en-US" sz="1400" b="1" dirty="0">
                <a:solidFill>
                  <a:srgbClr val="0F172A"/>
                </a:solidFill>
              </a:rPr>
              <a:t>causal features + causal preprocessing</a:t>
            </a:r>
            <a:endParaRPr lang="en-US" sz="1400" dirty="0"/>
          </a:p>
          <a:p>
            <a:pPr marL="0" indent="0" algn="ctr">
              <a:buNone/>
            </a:pPr>
            <a:r>
              <a:rPr lang="en-US" sz="1400" b="1" dirty="0">
                <a:solidFill>
                  <a:srgbClr val="0F172A"/>
                </a:solidFill>
              </a:rPr>
              <a:t>+ causal architecture + temporal evaluation</a:t>
            </a:r>
            <a:endParaRPr lang="en-US" sz="1400" dirty="0"/>
          </a:p>
        </p:txBody>
      </p:sp>
      <p:sp>
        <p:nvSpPr>
          <p:cNvPr id="21" name="Shape 19"/>
          <p:cNvSpPr/>
          <p:nvPr/>
        </p:nvSpPr>
        <p:spPr>
          <a:xfrm>
            <a:off x="594360" y="6281928"/>
            <a:ext cx="9829800" cy="384048"/>
          </a:xfrm>
          <a:prstGeom prst="rect">
            <a:avLst/>
          </a:prstGeom>
          <a:solidFill>
            <a:srgbClr val="FFFFFF"/>
          </a:solidFill>
          <a:ln w="12700">
            <a:solidFill>
              <a:srgbClr val="CBD5E1"/>
            </a:solidFill>
            <a:prstDash val="solid"/>
          </a:ln>
        </p:spPr>
        <p:txBody>
          <a:bodyPr/>
          <a:lstStyle/>
          <a:p>
            <a:endParaRPr lang="en-GB"/>
          </a:p>
        </p:txBody>
      </p:sp>
      <p:sp>
        <p:nvSpPr>
          <p:cNvPr id="22" name="Text 20"/>
          <p:cNvSpPr/>
          <p:nvPr/>
        </p:nvSpPr>
        <p:spPr>
          <a:xfrm>
            <a:off x="749808" y="6345936"/>
            <a:ext cx="9509760" cy="219456"/>
          </a:xfrm>
          <a:prstGeom prst="rect">
            <a:avLst/>
          </a:prstGeom>
          <a:noFill/>
          <a:ln/>
        </p:spPr>
        <p:txBody>
          <a:bodyPr wrap="square" lIns="0" tIns="0" rIns="0" bIns="0" rtlCol="0" anchor="ctr"/>
          <a:lstStyle/>
          <a:p>
            <a:pPr marL="0" indent="0">
              <a:buNone/>
            </a:pPr>
            <a:r>
              <a:rPr lang="en-US" sz="1200" dirty="0">
                <a:solidFill>
                  <a:srgbClr val="0F172A"/>
                </a:solidFill>
              </a:rPr>
              <a:t>Causal architecture is necessary but not sufficient for a causal evaluation.</a:t>
            </a:r>
            <a:endParaRPr lang="en-US" sz="12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137392" y="0"/>
            <a:ext cx="1042416" cy="6858000"/>
          </a:xfrm>
          <a:prstGeom prst="rect">
            <a:avLst/>
          </a:prstGeom>
          <a:solidFill>
            <a:srgbClr val="84B91F">
              <a:alpha val="95000"/>
            </a:srgbClr>
          </a:solidFill>
          <a:ln w="12700">
            <a:solidFill>
              <a:srgbClr val="84B91F">
                <a:alpha val="0"/>
              </a:srgbClr>
            </a:solidFill>
            <a:prstDash val="solid"/>
          </a:ln>
        </p:spPr>
        <p:txBody>
          <a:bodyPr/>
          <a:lstStyle/>
          <a:p>
            <a:endParaRPr lang="en-GB"/>
          </a:p>
        </p:txBody>
      </p:sp>
      <p:sp>
        <p:nvSpPr>
          <p:cNvPr id="3" name="Shape 1"/>
          <p:cNvSpPr/>
          <p:nvPr/>
        </p:nvSpPr>
        <p:spPr>
          <a:xfrm>
            <a:off x="10927080" y="0"/>
            <a:ext cx="0" cy="6858000"/>
          </a:xfrm>
          <a:prstGeom prst="line">
            <a:avLst/>
          </a:prstGeom>
          <a:noFill/>
          <a:ln w="8890">
            <a:solidFill>
              <a:srgbClr val="CBD5E1">
                <a:alpha val="80000"/>
              </a:srgbClr>
            </a:solidFill>
            <a:prstDash val="solid"/>
          </a:ln>
        </p:spPr>
        <p:txBody>
          <a:bodyPr/>
          <a:lstStyle/>
          <a:p>
            <a:endParaRPr lang="en-GB"/>
          </a:p>
        </p:txBody>
      </p:sp>
      <p:sp>
        <p:nvSpPr>
          <p:cNvPr id="4" name="Text 2"/>
          <p:cNvSpPr/>
          <p:nvPr/>
        </p:nvSpPr>
        <p:spPr>
          <a:xfrm>
            <a:off x="594360" y="320040"/>
            <a:ext cx="9692640" cy="457200"/>
          </a:xfrm>
          <a:prstGeom prst="rect">
            <a:avLst/>
          </a:prstGeom>
          <a:noFill/>
          <a:ln/>
        </p:spPr>
        <p:txBody>
          <a:bodyPr wrap="square" lIns="0" tIns="0" rIns="0" bIns="0" rtlCol="0" anchor="ctr"/>
          <a:lstStyle/>
          <a:p>
            <a:pPr marL="0" indent="0">
              <a:buNone/>
            </a:pPr>
            <a:r>
              <a:rPr lang="en-US" sz="2600" b="1" dirty="0">
                <a:solidFill>
                  <a:srgbClr val="0F172A"/>
                </a:solidFill>
                <a:latin typeface="Aptos Display" pitchFamily="34" charset="0"/>
                <a:ea typeface="Aptos Display" pitchFamily="34" charset="-122"/>
                <a:cs typeface="Aptos Display" pitchFamily="34" charset="-120"/>
              </a:rPr>
              <a:t>5.F.8 — Causal versus non-causal choice is task-dependent</a:t>
            </a:r>
            <a:endParaRPr lang="en-US" sz="2600" dirty="0"/>
          </a:p>
        </p:txBody>
      </p:sp>
      <p:sp>
        <p:nvSpPr>
          <p:cNvPr id="5" name="Text 3"/>
          <p:cNvSpPr/>
          <p:nvPr/>
        </p:nvSpPr>
        <p:spPr>
          <a:xfrm>
            <a:off x="612648" y="841248"/>
            <a:ext cx="9875520" cy="274320"/>
          </a:xfrm>
          <a:prstGeom prst="rect">
            <a:avLst/>
          </a:prstGeom>
          <a:noFill/>
          <a:ln/>
        </p:spPr>
        <p:txBody>
          <a:bodyPr wrap="square" lIns="0" tIns="0" rIns="0" bIns="0" rtlCol="0" anchor="ctr"/>
          <a:lstStyle/>
          <a:p>
            <a:pPr marL="0" indent="0">
              <a:buNone/>
            </a:pPr>
            <a:r>
              <a:rPr lang="en-US" sz="1350" dirty="0">
                <a:solidFill>
                  <a:srgbClr val="475569"/>
                </a:solidFill>
                <a:latin typeface="Aptos" pitchFamily="34" charset="0"/>
                <a:ea typeface="Aptos" pitchFamily="34" charset="-122"/>
                <a:cs typeface="Aptos" pitchFamily="34" charset="-120"/>
              </a:rPr>
              <a:t>Choose according to what information is available at prediction time.</a:t>
            </a:r>
            <a:endParaRPr lang="en-US" sz="1350" dirty="0"/>
          </a:p>
        </p:txBody>
      </p:sp>
      <p:sp>
        <p:nvSpPr>
          <p:cNvPr id="6" name="Shape 4"/>
          <p:cNvSpPr/>
          <p:nvPr/>
        </p:nvSpPr>
        <p:spPr>
          <a:xfrm>
            <a:off x="914400" y="1234440"/>
            <a:ext cx="3931920" cy="548640"/>
          </a:xfrm>
          <a:prstGeom prst="roundRect">
            <a:avLst>
              <a:gd name="adj" fmla="val 10000"/>
            </a:avLst>
          </a:prstGeom>
          <a:solidFill>
            <a:srgbClr val="E7F5C7"/>
          </a:solidFill>
          <a:ln w="15240">
            <a:solidFill>
              <a:srgbClr val="84B91F"/>
            </a:solidFill>
            <a:prstDash val="solid"/>
          </a:ln>
        </p:spPr>
        <p:txBody>
          <a:bodyPr/>
          <a:lstStyle/>
          <a:p>
            <a:endParaRPr lang="en-GB"/>
          </a:p>
        </p:txBody>
      </p:sp>
      <p:sp>
        <p:nvSpPr>
          <p:cNvPr id="7" name="Text 5"/>
          <p:cNvSpPr/>
          <p:nvPr/>
        </p:nvSpPr>
        <p:spPr>
          <a:xfrm>
            <a:off x="960120" y="1391717"/>
            <a:ext cx="3840480" cy="329184"/>
          </a:xfrm>
          <a:prstGeom prst="rect">
            <a:avLst/>
          </a:prstGeom>
          <a:noFill/>
          <a:ln/>
        </p:spPr>
        <p:txBody>
          <a:bodyPr wrap="square" lIns="0" tIns="0" rIns="0" bIns="0" rtlCol="0" anchor="ctr">
            <a:normAutofit/>
          </a:bodyPr>
          <a:lstStyle/>
          <a:p>
            <a:pPr marL="0" indent="0" algn="ctr">
              <a:buNone/>
            </a:pPr>
            <a:r>
              <a:rPr lang="en-US" sz="2000" b="1" dirty="0">
                <a:solidFill>
                  <a:srgbClr val="0F172A"/>
                </a:solidFill>
              </a:rPr>
              <a:t>Causal</a:t>
            </a:r>
            <a:endParaRPr lang="en-US" sz="2000" dirty="0"/>
          </a:p>
        </p:txBody>
      </p:sp>
      <p:sp>
        <p:nvSpPr>
          <p:cNvPr id="8" name="Shape 6"/>
          <p:cNvSpPr/>
          <p:nvPr/>
        </p:nvSpPr>
        <p:spPr>
          <a:xfrm>
            <a:off x="5486400" y="1234440"/>
            <a:ext cx="3931920" cy="548640"/>
          </a:xfrm>
          <a:prstGeom prst="roundRect">
            <a:avLst>
              <a:gd name="adj" fmla="val 10000"/>
            </a:avLst>
          </a:prstGeom>
          <a:solidFill>
            <a:srgbClr val="FFF7CC"/>
          </a:solidFill>
          <a:ln w="15240">
            <a:solidFill>
              <a:srgbClr val="F7C948"/>
            </a:solidFill>
            <a:prstDash val="solid"/>
          </a:ln>
        </p:spPr>
        <p:txBody>
          <a:bodyPr/>
          <a:lstStyle/>
          <a:p>
            <a:endParaRPr lang="en-GB"/>
          </a:p>
        </p:txBody>
      </p:sp>
      <p:sp>
        <p:nvSpPr>
          <p:cNvPr id="9" name="Text 7"/>
          <p:cNvSpPr/>
          <p:nvPr/>
        </p:nvSpPr>
        <p:spPr>
          <a:xfrm>
            <a:off x="5532120" y="1391717"/>
            <a:ext cx="3840480" cy="329184"/>
          </a:xfrm>
          <a:prstGeom prst="rect">
            <a:avLst/>
          </a:prstGeom>
          <a:noFill/>
          <a:ln/>
        </p:spPr>
        <p:txBody>
          <a:bodyPr wrap="square" lIns="0" tIns="0" rIns="0" bIns="0" rtlCol="0" anchor="ctr">
            <a:normAutofit/>
          </a:bodyPr>
          <a:lstStyle/>
          <a:p>
            <a:pPr marL="0" indent="0" algn="ctr">
              <a:buNone/>
            </a:pPr>
            <a:r>
              <a:rPr lang="en-US" sz="2000" b="1" dirty="0">
                <a:solidFill>
                  <a:srgbClr val="0F172A"/>
                </a:solidFill>
              </a:rPr>
              <a:t>Non-causal</a:t>
            </a:r>
            <a:endParaRPr lang="en-US" sz="2000" dirty="0"/>
          </a:p>
        </p:txBody>
      </p:sp>
      <p:sp>
        <p:nvSpPr>
          <p:cNvPr id="10" name="Shape 8"/>
          <p:cNvSpPr/>
          <p:nvPr/>
        </p:nvSpPr>
        <p:spPr>
          <a:xfrm>
            <a:off x="1234440" y="205740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11" name="Text 9"/>
          <p:cNvSpPr/>
          <p:nvPr/>
        </p:nvSpPr>
        <p:spPr>
          <a:xfrm>
            <a:off x="1280160" y="2162007"/>
            <a:ext cx="3200400" cy="230429"/>
          </a:xfrm>
          <a:prstGeom prst="rect">
            <a:avLst/>
          </a:prstGeom>
          <a:noFill/>
          <a:ln/>
        </p:spPr>
        <p:txBody>
          <a:bodyPr wrap="square" lIns="0" tIns="0" rIns="0" bIns="0" rtlCol="0" anchor="ctr">
            <a:normAutofit/>
          </a:bodyPr>
          <a:lstStyle/>
          <a:p>
            <a:pPr marL="0" indent="0" algn="ctr">
              <a:buNone/>
            </a:pPr>
            <a:r>
              <a:rPr lang="en-US" sz="1250" dirty="0">
                <a:solidFill>
                  <a:srgbClr val="0F172A"/>
                </a:solidFill>
              </a:rPr>
              <a:t>forecasting</a:t>
            </a:r>
            <a:endParaRPr lang="en-US" sz="1250" dirty="0"/>
          </a:p>
        </p:txBody>
      </p:sp>
      <p:sp>
        <p:nvSpPr>
          <p:cNvPr id="12" name="Shape 10"/>
          <p:cNvSpPr/>
          <p:nvPr/>
        </p:nvSpPr>
        <p:spPr>
          <a:xfrm>
            <a:off x="1234440" y="265176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13" name="Text 11"/>
          <p:cNvSpPr/>
          <p:nvPr/>
        </p:nvSpPr>
        <p:spPr>
          <a:xfrm>
            <a:off x="1280160" y="2756367"/>
            <a:ext cx="3200400" cy="230429"/>
          </a:xfrm>
          <a:prstGeom prst="rect">
            <a:avLst/>
          </a:prstGeom>
          <a:noFill/>
          <a:ln/>
        </p:spPr>
        <p:txBody>
          <a:bodyPr wrap="square" lIns="0" tIns="0" rIns="0" bIns="0" rtlCol="0" anchor="ctr">
            <a:normAutofit/>
          </a:bodyPr>
          <a:lstStyle/>
          <a:p>
            <a:pPr marL="0" indent="0" algn="ctr">
              <a:buNone/>
            </a:pPr>
            <a:r>
              <a:rPr lang="en-US" sz="1250" dirty="0">
                <a:solidFill>
                  <a:srgbClr val="0F172A"/>
                </a:solidFill>
              </a:rPr>
              <a:t>online monitoring</a:t>
            </a:r>
            <a:endParaRPr lang="en-US" sz="1250" dirty="0"/>
          </a:p>
        </p:txBody>
      </p:sp>
      <p:sp>
        <p:nvSpPr>
          <p:cNvPr id="14" name="Shape 12"/>
          <p:cNvSpPr/>
          <p:nvPr/>
        </p:nvSpPr>
        <p:spPr>
          <a:xfrm>
            <a:off x="1234440" y="324612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15" name="Text 13"/>
          <p:cNvSpPr/>
          <p:nvPr/>
        </p:nvSpPr>
        <p:spPr>
          <a:xfrm>
            <a:off x="1280160" y="3350727"/>
            <a:ext cx="3200400" cy="230429"/>
          </a:xfrm>
          <a:prstGeom prst="rect">
            <a:avLst/>
          </a:prstGeom>
          <a:noFill/>
          <a:ln/>
        </p:spPr>
        <p:txBody>
          <a:bodyPr wrap="square" lIns="0" tIns="0" rIns="0" bIns="0" rtlCol="0" anchor="ctr">
            <a:normAutofit/>
          </a:bodyPr>
          <a:lstStyle/>
          <a:p>
            <a:pPr marL="0" indent="0" algn="ctr">
              <a:buNone/>
            </a:pPr>
            <a:r>
              <a:rPr lang="en-US" sz="1250" dirty="0">
                <a:solidFill>
                  <a:srgbClr val="0F172A"/>
                </a:solidFill>
              </a:rPr>
              <a:t>real-time alarms</a:t>
            </a:r>
            <a:endParaRPr lang="en-US" sz="1250" dirty="0"/>
          </a:p>
        </p:txBody>
      </p:sp>
      <p:sp>
        <p:nvSpPr>
          <p:cNvPr id="16" name="Shape 14"/>
          <p:cNvSpPr/>
          <p:nvPr/>
        </p:nvSpPr>
        <p:spPr>
          <a:xfrm>
            <a:off x="1234440" y="384048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17" name="Text 15"/>
          <p:cNvSpPr/>
          <p:nvPr/>
        </p:nvSpPr>
        <p:spPr>
          <a:xfrm>
            <a:off x="1280160" y="3945087"/>
            <a:ext cx="3200400" cy="230429"/>
          </a:xfrm>
          <a:prstGeom prst="rect">
            <a:avLst/>
          </a:prstGeom>
          <a:noFill/>
          <a:ln/>
        </p:spPr>
        <p:txBody>
          <a:bodyPr wrap="square" lIns="0" tIns="0" rIns="0" bIns="0" rtlCol="0" anchor="ctr">
            <a:normAutofit/>
          </a:bodyPr>
          <a:lstStyle/>
          <a:p>
            <a:pPr marL="0" indent="0" algn="ctr">
              <a:buNone/>
            </a:pPr>
            <a:r>
              <a:rPr lang="en-US" sz="1250" dirty="0">
                <a:solidFill>
                  <a:srgbClr val="0F172A"/>
                </a:solidFill>
              </a:rPr>
              <a:t>streaming labels</a:t>
            </a:r>
            <a:endParaRPr lang="en-US" sz="1250" dirty="0"/>
          </a:p>
        </p:txBody>
      </p:sp>
      <p:sp>
        <p:nvSpPr>
          <p:cNvPr id="18" name="Shape 16"/>
          <p:cNvSpPr/>
          <p:nvPr/>
        </p:nvSpPr>
        <p:spPr>
          <a:xfrm>
            <a:off x="1234440" y="443484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19" name="Text 17"/>
          <p:cNvSpPr/>
          <p:nvPr/>
        </p:nvSpPr>
        <p:spPr>
          <a:xfrm>
            <a:off x="1280160" y="4539447"/>
            <a:ext cx="3200400" cy="230429"/>
          </a:xfrm>
          <a:prstGeom prst="rect">
            <a:avLst/>
          </a:prstGeom>
          <a:noFill/>
          <a:ln/>
        </p:spPr>
        <p:txBody>
          <a:bodyPr wrap="square" lIns="0" tIns="0" rIns="0" bIns="0" rtlCol="0" anchor="ctr">
            <a:normAutofit/>
          </a:bodyPr>
          <a:lstStyle/>
          <a:p>
            <a:pPr marL="0" indent="0" algn="ctr">
              <a:buNone/>
            </a:pPr>
            <a:r>
              <a:rPr lang="en-US" sz="1250" b="1" dirty="0">
                <a:solidFill>
                  <a:srgbClr val="0F172A"/>
                </a:solidFill>
              </a:rPr>
              <a:t>uses past + present</a:t>
            </a:r>
            <a:endParaRPr lang="en-US" sz="1250" dirty="0"/>
          </a:p>
        </p:txBody>
      </p:sp>
      <p:sp>
        <p:nvSpPr>
          <p:cNvPr id="20" name="Shape 18"/>
          <p:cNvSpPr/>
          <p:nvPr/>
        </p:nvSpPr>
        <p:spPr>
          <a:xfrm>
            <a:off x="5806440" y="205740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21" name="Text 19"/>
          <p:cNvSpPr/>
          <p:nvPr/>
        </p:nvSpPr>
        <p:spPr>
          <a:xfrm>
            <a:off x="5852160" y="2162007"/>
            <a:ext cx="3200400" cy="230429"/>
          </a:xfrm>
          <a:prstGeom prst="rect">
            <a:avLst/>
          </a:prstGeom>
          <a:noFill/>
          <a:ln/>
        </p:spPr>
        <p:txBody>
          <a:bodyPr wrap="square" lIns="0" tIns="0" rIns="0" bIns="0" rtlCol="0" anchor="ctr">
            <a:normAutofit/>
          </a:bodyPr>
          <a:lstStyle/>
          <a:p>
            <a:pPr marL="0" indent="0" algn="ctr">
              <a:buNone/>
            </a:pPr>
            <a:r>
              <a:rPr lang="en-US" sz="1250" dirty="0">
                <a:solidFill>
                  <a:srgbClr val="0F172A"/>
                </a:solidFill>
              </a:rPr>
              <a:t>offline classification</a:t>
            </a:r>
            <a:endParaRPr lang="en-US" sz="1250" dirty="0"/>
          </a:p>
        </p:txBody>
      </p:sp>
      <p:sp>
        <p:nvSpPr>
          <p:cNvPr id="22" name="Shape 20"/>
          <p:cNvSpPr/>
          <p:nvPr/>
        </p:nvSpPr>
        <p:spPr>
          <a:xfrm>
            <a:off x="5806440" y="265176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23" name="Text 21"/>
          <p:cNvSpPr/>
          <p:nvPr/>
        </p:nvSpPr>
        <p:spPr>
          <a:xfrm>
            <a:off x="5852160" y="2756367"/>
            <a:ext cx="3200400" cy="230429"/>
          </a:xfrm>
          <a:prstGeom prst="rect">
            <a:avLst/>
          </a:prstGeom>
          <a:noFill/>
          <a:ln/>
        </p:spPr>
        <p:txBody>
          <a:bodyPr wrap="square" lIns="0" tIns="0" rIns="0" bIns="0" rtlCol="0" anchor="ctr">
            <a:normAutofit/>
          </a:bodyPr>
          <a:lstStyle/>
          <a:p>
            <a:pPr marL="0" indent="0" algn="ctr">
              <a:buNone/>
            </a:pPr>
            <a:r>
              <a:rPr lang="en-US" sz="1250" dirty="0">
                <a:solidFill>
                  <a:srgbClr val="0F172A"/>
                </a:solidFill>
              </a:rPr>
              <a:t>retrospective segmentation</a:t>
            </a:r>
            <a:endParaRPr lang="en-US" sz="1250" dirty="0"/>
          </a:p>
        </p:txBody>
      </p:sp>
      <p:sp>
        <p:nvSpPr>
          <p:cNvPr id="24" name="Shape 22"/>
          <p:cNvSpPr/>
          <p:nvPr/>
        </p:nvSpPr>
        <p:spPr>
          <a:xfrm>
            <a:off x="5806440" y="324612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25" name="Text 23"/>
          <p:cNvSpPr/>
          <p:nvPr/>
        </p:nvSpPr>
        <p:spPr>
          <a:xfrm>
            <a:off x="5852160" y="3350727"/>
            <a:ext cx="3200400" cy="230429"/>
          </a:xfrm>
          <a:prstGeom prst="rect">
            <a:avLst/>
          </a:prstGeom>
          <a:noFill/>
          <a:ln/>
        </p:spPr>
        <p:txBody>
          <a:bodyPr wrap="square" lIns="0" tIns="0" rIns="0" bIns="0" rtlCol="0" anchor="ctr">
            <a:normAutofit/>
          </a:bodyPr>
          <a:lstStyle/>
          <a:p>
            <a:pPr marL="0" indent="0" algn="ctr">
              <a:buNone/>
            </a:pPr>
            <a:r>
              <a:rPr lang="en-US" sz="1250" dirty="0">
                <a:solidFill>
                  <a:srgbClr val="0F172A"/>
                </a:solidFill>
              </a:rPr>
              <a:t>post-processing</a:t>
            </a:r>
            <a:endParaRPr lang="en-US" sz="1250" dirty="0"/>
          </a:p>
        </p:txBody>
      </p:sp>
      <p:sp>
        <p:nvSpPr>
          <p:cNvPr id="26" name="Shape 24"/>
          <p:cNvSpPr/>
          <p:nvPr/>
        </p:nvSpPr>
        <p:spPr>
          <a:xfrm>
            <a:off x="5806440" y="384048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27" name="Text 25"/>
          <p:cNvSpPr/>
          <p:nvPr/>
        </p:nvSpPr>
        <p:spPr>
          <a:xfrm>
            <a:off x="5852160" y="3945087"/>
            <a:ext cx="3200400" cy="230429"/>
          </a:xfrm>
          <a:prstGeom prst="rect">
            <a:avLst/>
          </a:prstGeom>
          <a:noFill/>
          <a:ln/>
        </p:spPr>
        <p:txBody>
          <a:bodyPr wrap="square" lIns="0" tIns="0" rIns="0" bIns="0" rtlCol="0" anchor="ctr">
            <a:normAutofit/>
          </a:bodyPr>
          <a:lstStyle/>
          <a:p>
            <a:pPr marL="0" indent="0" algn="ctr">
              <a:buNone/>
            </a:pPr>
            <a:r>
              <a:rPr lang="en-US" sz="1250" dirty="0">
                <a:solidFill>
                  <a:srgbClr val="0F172A"/>
                </a:solidFill>
              </a:rPr>
              <a:t>stored recordings</a:t>
            </a:r>
            <a:endParaRPr lang="en-US" sz="1250" dirty="0"/>
          </a:p>
        </p:txBody>
      </p:sp>
      <p:sp>
        <p:nvSpPr>
          <p:cNvPr id="28" name="Shape 26"/>
          <p:cNvSpPr/>
          <p:nvPr/>
        </p:nvSpPr>
        <p:spPr>
          <a:xfrm>
            <a:off x="5806440" y="4434840"/>
            <a:ext cx="3291840" cy="384048"/>
          </a:xfrm>
          <a:prstGeom prst="roundRect">
            <a:avLst>
              <a:gd name="adj" fmla="val 14286"/>
            </a:avLst>
          </a:prstGeom>
          <a:solidFill>
            <a:srgbClr val="FFFFFF"/>
          </a:solidFill>
          <a:ln w="15240">
            <a:solidFill>
              <a:srgbClr val="CBD5E1"/>
            </a:solidFill>
            <a:prstDash val="solid"/>
          </a:ln>
        </p:spPr>
        <p:txBody>
          <a:bodyPr/>
          <a:lstStyle/>
          <a:p>
            <a:endParaRPr lang="en-GB"/>
          </a:p>
        </p:txBody>
      </p:sp>
      <p:sp>
        <p:nvSpPr>
          <p:cNvPr id="29" name="Text 27"/>
          <p:cNvSpPr/>
          <p:nvPr/>
        </p:nvSpPr>
        <p:spPr>
          <a:xfrm>
            <a:off x="5852160" y="4539447"/>
            <a:ext cx="3200400" cy="230429"/>
          </a:xfrm>
          <a:prstGeom prst="rect">
            <a:avLst/>
          </a:prstGeom>
          <a:noFill/>
          <a:ln/>
        </p:spPr>
        <p:txBody>
          <a:bodyPr wrap="square" lIns="0" tIns="0" rIns="0" bIns="0" rtlCol="0" anchor="ctr">
            <a:normAutofit/>
          </a:bodyPr>
          <a:lstStyle/>
          <a:p>
            <a:pPr marL="0" indent="0" algn="ctr">
              <a:buNone/>
            </a:pPr>
            <a:r>
              <a:rPr lang="en-US" sz="1250" b="1" dirty="0">
                <a:solidFill>
                  <a:srgbClr val="0F172A"/>
                </a:solidFill>
              </a:rPr>
              <a:t>may use future context</a:t>
            </a:r>
            <a:endParaRPr lang="en-US" sz="1250" dirty="0"/>
          </a:p>
        </p:txBody>
      </p:sp>
      <p:sp>
        <p:nvSpPr>
          <p:cNvPr id="30" name="Shape 28"/>
          <p:cNvSpPr/>
          <p:nvPr/>
        </p:nvSpPr>
        <p:spPr>
          <a:xfrm>
            <a:off x="5166360" y="1097280"/>
            <a:ext cx="0" cy="4480560"/>
          </a:xfrm>
          <a:prstGeom prst="line">
            <a:avLst/>
          </a:prstGeom>
          <a:noFill/>
          <a:ln w="16510">
            <a:solidFill>
              <a:srgbClr val="CBD5E1"/>
            </a:solidFill>
            <a:prstDash val="solid"/>
          </a:ln>
        </p:spPr>
        <p:txBody>
          <a:bodyPr/>
          <a:lstStyle/>
          <a:p>
            <a:endParaRPr lang="en-GB"/>
          </a:p>
        </p:txBody>
      </p:sp>
      <p:sp>
        <p:nvSpPr>
          <p:cNvPr id="31" name="Text 29"/>
          <p:cNvSpPr/>
          <p:nvPr/>
        </p:nvSpPr>
        <p:spPr>
          <a:xfrm>
            <a:off x="1280160" y="5394960"/>
            <a:ext cx="3200400" cy="274320"/>
          </a:xfrm>
          <a:prstGeom prst="rect">
            <a:avLst/>
          </a:prstGeom>
          <a:noFill/>
          <a:ln/>
        </p:spPr>
        <p:txBody>
          <a:bodyPr wrap="square" lIns="0" tIns="0" rIns="0" bIns="0" rtlCol="0" anchor="ctr">
            <a:normAutofit/>
          </a:bodyPr>
          <a:lstStyle/>
          <a:p>
            <a:pPr marL="0" indent="0" algn="ctr">
              <a:buNone/>
            </a:pPr>
            <a:r>
              <a:rPr lang="en-US" sz="1400" b="1" dirty="0">
                <a:solidFill>
                  <a:srgbClr val="84B91F"/>
                </a:solidFill>
              </a:rPr>
              <a:t>Stricter information constraint</a:t>
            </a:r>
            <a:endParaRPr lang="en-US" sz="1400" dirty="0"/>
          </a:p>
        </p:txBody>
      </p:sp>
      <p:sp>
        <p:nvSpPr>
          <p:cNvPr id="32" name="Text 30"/>
          <p:cNvSpPr/>
          <p:nvPr/>
        </p:nvSpPr>
        <p:spPr>
          <a:xfrm>
            <a:off x="5852160" y="5394960"/>
            <a:ext cx="3200400" cy="274320"/>
          </a:xfrm>
          <a:prstGeom prst="rect">
            <a:avLst/>
          </a:prstGeom>
          <a:noFill/>
          <a:ln/>
        </p:spPr>
        <p:txBody>
          <a:bodyPr wrap="square" lIns="0" tIns="0" rIns="0" bIns="0" rtlCol="0" anchor="ctr">
            <a:normAutofit/>
          </a:bodyPr>
          <a:lstStyle/>
          <a:p>
            <a:pPr marL="0" indent="0" algn="ctr">
              <a:buNone/>
            </a:pPr>
            <a:r>
              <a:rPr lang="en-US" sz="1400" b="1" dirty="0">
                <a:solidFill>
                  <a:srgbClr val="F59E0B"/>
                </a:solidFill>
              </a:rPr>
              <a:t>Can exploit complete sequence</a:t>
            </a:r>
            <a:endParaRPr lang="en-US" sz="1400" dirty="0"/>
          </a:p>
        </p:txBody>
      </p:sp>
      <p:sp>
        <p:nvSpPr>
          <p:cNvPr id="36" name="CasellaDiTesto 35">
            <a:extLst>
              <a:ext uri="{FF2B5EF4-FFF2-40B4-BE49-F238E27FC236}">
                <a16:creationId xmlns:a16="http://schemas.microsoft.com/office/drawing/2014/main" id="{B81BA28C-648F-A194-9691-05A0A48DA073}"/>
              </a:ext>
            </a:extLst>
          </p:cNvPr>
          <p:cNvSpPr txBox="1"/>
          <p:nvPr/>
        </p:nvSpPr>
        <p:spPr>
          <a:xfrm>
            <a:off x="5768976" y="5930437"/>
            <a:ext cx="4403724" cy="830997"/>
          </a:xfrm>
          <a:prstGeom prst="rect">
            <a:avLst/>
          </a:prstGeom>
          <a:noFill/>
        </p:spPr>
        <p:txBody>
          <a:bodyPr wrap="square">
            <a:spAutoFit/>
          </a:bodyPr>
          <a:lstStyle/>
          <a:p>
            <a:pPr>
              <a:buNone/>
            </a:pPr>
            <a:r>
              <a:rPr lang="en-GB" sz="1600" b="1" dirty="0"/>
              <a:t>Non-causal model</a:t>
            </a:r>
          </a:p>
          <a:p>
            <a:pPr>
              <a:buNone/>
            </a:pPr>
            <a:r>
              <a:rPr lang="en-GB" sz="1600" dirty="0"/>
              <a:t>Use when the complete sequence is available before prediction at deployment time.</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7EE84BB-02D3-A6FE-D89E-E071A68AE670}"/>
              </a:ext>
            </a:extLst>
          </p:cNvPr>
          <p:cNvSpPr>
            <a:spLocks noGrp="1"/>
          </p:cNvSpPr>
          <p:nvPr>
            <p:ph type="title"/>
          </p:nvPr>
        </p:nvSpPr>
        <p:spPr/>
        <p:txBody>
          <a:bodyPr>
            <a:normAutofit fontScale="90000"/>
          </a:bodyPr>
          <a:lstStyle/>
          <a:p>
            <a:r>
              <a:rPr lang="en-GB" dirty="0">
                <a:highlight>
                  <a:srgbClr val="FFFF00"/>
                </a:highlight>
              </a:rPr>
              <a:t>Causal receptive field (and time-window size, for </a:t>
            </a:r>
            <a:r>
              <a:rPr lang="en-GB" dirty="0" err="1">
                <a:highlight>
                  <a:srgbClr val="FFFF00"/>
                </a:highlight>
              </a:rPr>
              <a:t>seq</a:t>
            </a:r>
            <a:r>
              <a:rPr lang="en-GB" dirty="0">
                <a:highlight>
                  <a:srgbClr val="FFFF00"/>
                </a:highlight>
              </a:rPr>
              <a:t>-to-vector models) and latency</a:t>
            </a:r>
          </a:p>
        </p:txBody>
      </p:sp>
      <p:sp>
        <p:nvSpPr>
          <p:cNvPr id="3" name="Segnaposto contenuto 2">
            <a:extLst>
              <a:ext uri="{FF2B5EF4-FFF2-40B4-BE49-F238E27FC236}">
                <a16:creationId xmlns:a16="http://schemas.microsoft.com/office/drawing/2014/main" id="{341D8F87-B735-3E08-F96A-A88549FCA864}"/>
              </a:ext>
            </a:extLst>
          </p:cNvPr>
          <p:cNvSpPr>
            <a:spLocks noGrp="1"/>
          </p:cNvSpPr>
          <p:nvPr>
            <p:ph sz="half" idx="1"/>
          </p:nvPr>
        </p:nvSpPr>
        <p:spPr>
          <a:xfrm>
            <a:off x="677334" y="2160588"/>
            <a:ext cx="6498166" cy="4379911"/>
          </a:xfrm>
        </p:spPr>
        <p:txBody>
          <a:bodyPr>
            <a:normAutofit/>
          </a:bodyPr>
          <a:lstStyle/>
          <a:p>
            <a:r>
              <a:rPr lang="en-GB" dirty="0"/>
              <a:t>Suppose a causal network has a receptive field of: R = 500 frames</a:t>
            </a:r>
          </a:p>
          <a:p>
            <a:r>
              <a:rPr lang="en-GB" dirty="0"/>
              <a:t>At: Fs = 100 Hz this corresponds to: 5 seconds</a:t>
            </a:r>
          </a:p>
          <a:p>
            <a:r>
              <a:rPr lang="en-GB" b="1" dirty="0"/>
              <a:t>At time t</a:t>
            </a:r>
          </a:p>
          <a:p>
            <a:r>
              <a:rPr lang="en-GB" dirty="0"/>
              <a:t>the output can depend on approximately the previous five seconds.</a:t>
            </a:r>
          </a:p>
          <a:p>
            <a:pPr marL="0" indent="0">
              <a:buNone/>
            </a:pPr>
            <a:endParaRPr lang="en-GB" dirty="0"/>
          </a:p>
        </p:txBody>
      </p:sp>
      <p:sp>
        <p:nvSpPr>
          <p:cNvPr id="4" name="Segnaposto contenuto 3">
            <a:extLst>
              <a:ext uri="{FF2B5EF4-FFF2-40B4-BE49-F238E27FC236}">
                <a16:creationId xmlns:a16="http://schemas.microsoft.com/office/drawing/2014/main" id="{2B63E6CB-8DD7-A598-F97B-A4548F7D0F5C}"/>
              </a:ext>
            </a:extLst>
          </p:cNvPr>
          <p:cNvSpPr>
            <a:spLocks noGrp="1"/>
          </p:cNvSpPr>
          <p:nvPr>
            <p:ph sz="half" idx="2"/>
          </p:nvPr>
        </p:nvSpPr>
        <p:spPr>
          <a:xfrm>
            <a:off x="7553770" y="2058989"/>
            <a:ext cx="4396930" cy="4481510"/>
          </a:xfrm>
        </p:spPr>
        <p:txBody>
          <a:bodyPr>
            <a:normAutofit/>
          </a:bodyPr>
          <a:lstStyle/>
          <a:p>
            <a:r>
              <a:rPr lang="en-GB" b="1" dirty="0">
                <a:highlight>
                  <a:srgbClr val="FFFF00"/>
                </a:highlight>
              </a:rPr>
              <a:t>Distinguish</a:t>
            </a:r>
          </a:p>
          <a:p>
            <a:r>
              <a:rPr lang="en-GB" b="1" dirty="0"/>
              <a:t>Historical context</a:t>
            </a:r>
            <a:endParaRPr lang="en-GB" dirty="0"/>
          </a:p>
          <a:p>
            <a:r>
              <a:rPr lang="en-GB" dirty="0"/>
              <a:t>How far into the past the output can look.</a:t>
            </a:r>
          </a:p>
          <a:p>
            <a:r>
              <a:rPr lang="en-GB" b="1" dirty="0"/>
              <a:t>Algorithmic latency</a:t>
            </a:r>
            <a:endParaRPr lang="en-GB" dirty="0"/>
          </a:p>
          <a:p>
            <a:r>
              <a:rPr lang="en-GB" dirty="0"/>
              <a:t>How long computation takes before the output becomes available.</a:t>
            </a:r>
          </a:p>
          <a:p>
            <a:pPr marL="0" indent="0">
              <a:buNone/>
            </a:pPr>
            <a:endParaRPr lang="en-GB" dirty="0"/>
          </a:p>
        </p:txBody>
      </p:sp>
    </p:spTree>
    <p:extLst>
      <p:ext uri="{BB962C8B-B14F-4D97-AF65-F5344CB8AC3E}">
        <p14:creationId xmlns:p14="http://schemas.microsoft.com/office/powerpoint/2010/main" val="214662668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D743B98-62CB-A24E-71C7-DE1760DE3A8F}"/>
              </a:ext>
            </a:extLst>
          </p:cNvPr>
          <p:cNvSpPr>
            <a:spLocks noGrp="1"/>
          </p:cNvSpPr>
          <p:nvPr>
            <p:ph type="title"/>
          </p:nvPr>
        </p:nvSpPr>
        <p:spPr/>
        <p:txBody>
          <a:bodyPr/>
          <a:lstStyle/>
          <a:p>
            <a:r>
              <a:rPr lang="en-GB" dirty="0"/>
              <a:t>Causal convolution still needs an </a:t>
            </a:r>
            <a:r>
              <a:rPr lang="en-GB" dirty="0">
                <a:highlight>
                  <a:srgbClr val="FFFF00"/>
                </a:highlight>
              </a:rPr>
              <a:t>efficient way to obtain long context</a:t>
            </a:r>
          </a:p>
        </p:txBody>
      </p:sp>
      <p:sp>
        <p:nvSpPr>
          <p:cNvPr id="3" name="Segnaposto contenuto 2">
            <a:extLst>
              <a:ext uri="{FF2B5EF4-FFF2-40B4-BE49-F238E27FC236}">
                <a16:creationId xmlns:a16="http://schemas.microsoft.com/office/drawing/2014/main" id="{60747B43-CD06-5DEF-BFD8-C8C2D45817D3}"/>
              </a:ext>
            </a:extLst>
          </p:cNvPr>
          <p:cNvSpPr>
            <a:spLocks noGrp="1"/>
          </p:cNvSpPr>
          <p:nvPr>
            <p:ph sz="half" idx="1"/>
          </p:nvPr>
        </p:nvSpPr>
        <p:spPr>
          <a:xfrm>
            <a:off x="677334" y="2160589"/>
            <a:ext cx="4555066" cy="3880772"/>
          </a:xfrm>
        </p:spPr>
        <p:txBody>
          <a:bodyPr>
            <a:normAutofit fontScale="92500" lnSpcReduction="10000"/>
          </a:bodyPr>
          <a:lstStyle/>
          <a:p>
            <a:r>
              <a:rPr lang="en-GB" dirty="0"/>
              <a:t>A causal convolution with:</a:t>
            </a:r>
          </a:p>
          <a:p>
            <a:r>
              <a:rPr lang="en-GB" dirty="0"/>
              <a:t>kernel size = 3</a:t>
            </a:r>
          </a:p>
          <a:p>
            <a:r>
              <a:rPr lang="en-GB" dirty="0"/>
              <a:t>and:</a:t>
            </a:r>
          </a:p>
          <a:p>
            <a:r>
              <a:rPr lang="en-GB" dirty="0">
                <a:highlight>
                  <a:srgbClr val="FFFF00"/>
                </a:highlight>
              </a:rPr>
              <a:t>stride = 1</a:t>
            </a:r>
          </a:p>
          <a:p>
            <a:r>
              <a:rPr lang="en-GB" dirty="0">
                <a:highlight>
                  <a:srgbClr val="FFFF00"/>
                </a:highlight>
              </a:rPr>
              <a:t>increases historical receptive field only gradually with depth.</a:t>
            </a:r>
          </a:p>
          <a:p>
            <a:r>
              <a:rPr lang="en-GB" dirty="0"/>
              <a:t>Example:</a:t>
            </a:r>
          </a:p>
          <a:p>
            <a:r>
              <a:rPr lang="en-GB" dirty="0"/>
              <a:t>1 layer  → 3 frames</a:t>
            </a:r>
          </a:p>
          <a:p>
            <a:r>
              <a:rPr lang="en-GB" dirty="0"/>
              <a:t>2 layers → 5 </a:t>
            </a:r>
            <a:r>
              <a:rPr lang="en-GB" dirty="0" err="1"/>
              <a:t>sframes</a:t>
            </a:r>
            <a:endParaRPr lang="en-GB" dirty="0"/>
          </a:p>
          <a:p>
            <a:r>
              <a:rPr lang="en-GB" dirty="0"/>
              <a:t>3 layers → 7 </a:t>
            </a:r>
            <a:r>
              <a:rPr lang="en-GB" dirty="0" err="1"/>
              <a:t>sframes</a:t>
            </a:r>
            <a:endParaRPr lang="en-GB" dirty="0"/>
          </a:p>
          <a:p>
            <a:r>
              <a:rPr lang="en-GB" dirty="0"/>
              <a:t>4 layers → 9 frames</a:t>
            </a:r>
          </a:p>
          <a:p>
            <a:endParaRPr lang="en-GB" dirty="0"/>
          </a:p>
        </p:txBody>
      </p:sp>
      <p:sp>
        <p:nvSpPr>
          <p:cNvPr id="4" name="Segnaposto contenuto 3">
            <a:extLst>
              <a:ext uri="{FF2B5EF4-FFF2-40B4-BE49-F238E27FC236}">
                <a16:creationId xmlns:a16="http://schemas.microsoft.com/office/drawing/2014/main" id="{95F46FB6-BFEB-D42D-5F5C-820ED12B71F4}"/>
              </a:ext>
            </a:extLst>
          </p:cNvPr>
          <p:cNvSpPr>
            <a:spLocks noGrp="1"/>
          </p:cNvSpPr>
          <p:nvPr>
            <p:ph sz="half" idx="2"/>
          </p:nvPr>
        </p:nvSpPr>
        <p:spPr>
          <a:xfrm>
            <a:off x="5842000" y="2200278"/>
            <a:ext cx="6197600" cy="4467222"/>
          </a:xfrm>
        </p:spPr>
        <p:txBody>
          <a:bodyPr>
            <a:normAutofit fontScale="92500" lnSpcReduction="10000"/>
          </a:bodyPr>
          <a:lstStyle/>
          <a:p>
            <a:r>
              <a:rPr lang="en-GB" dirty="0">
                <a:highlight>
                  <a:srgbClr val="FFFF00"/>
                </a:highlight>
              </a:rPr>
              <a:t>To cover hundreds or thousands of past steps, we could:</a:t>
            </a:r>
          </a:p>
          <a:p>
            <a:pPr lvl="1"/>
            <a:r>
              <a:rPr lang="en-GB" dirty="0"/>
              <a:t>use very large kernels; </a:t>
            </a:r>
          </a:p>
          <a:p>
            <a:pPr lvl="1"/>
            <a:r>
              <a:rPr lang="en-GB" dirty="0"/>
              <a:t>build many layers; </a:t>
            </a:r>
          </a:p>
          <a:p>
            <a:pPr lvl="1"/>
            <a:r>
              <a:rPr lang="en-GB" dirty="0" err="1"/>
              <a:t>downsample</a:t>
            </a:r>
            <a:r>
              <a:rPr lang="en-GB" dirty="0"/>
              <a:t> aggressively. </a:t>
            </a:r>
          </a:p>
          <a:p>
            <a:r>
              <a:rPr lang="en-GB" dirty="0"/>
              <a:t>Each option has disadvantages.</a:t>
            </a:r>
          </a:p>
          <a:p>
            <a:endParaRPr lang="en-GB" b="1" dirty="0"/>
          </a:p>
          <a:p>
            <a:r>
              <a:rPr lang="en-GB" b="1" dirty="0">
                <a:highlight>
                  <a:srgbClr val="FFFF00"/>
                </a:highlight>
              </a:rPr>
              <a:t>Better question</a:t>
            </a:r>
          </a:p>
          <a:p>
            <a:r>
              <a:rPr lang="en-GB" dirty="0">
                <a:highlight>
                  <a:srgbClr val="FFFF00"/>
                </a:highlight>
              </a:rPr>
              <a:t>Can we increase the causal receptive field rapidly while keeping small kernels and high temporal resolution?</a:t>
            </a:r>
          </a:p>
          <a:p>
            <a:r>
              <a:rPr lang="en-GB" dirty="0">
                <a:highlight>
                  <a:srgbClr val="FFFF00"/>
                </a:highlight>
              </a:rPr>
              <a:t>The answer is </a:t>
            </a:r>
            <a:r>
              <a:rPr lang="en-GB" b="1" dirty="0">
                <a:highlight>
                  <a:srgbClr val="FFFF00"/>
                </a:highlight>
              </a:rPr>
              <a:t>dilated convolution</a:t>
            </a:r>
            <a:r>
              <a:rPr lang="en-GB" dirty="0">
                <a:highlight>
                  <a:srgbClr val="FFFF00"/>
                </a:highlight>
              </a:rPr>
              <a:t>.</a:t>
            </a:r>
          </a:p>
          <a:p>
            <a:endParaRPr lang="en-GB" dirty="0"/>
          </a:p>
        </p:txBody>
      </p:sp>
    </p:spTree>
    <p:extLst>
      <p:ext uri="{BB962C8B-B14F-4D97-AF65-F5344CB8AC3E}">
        <p14:creationId xmlns:p14="http://schemas.microsoft.com/office/powerpoint/2010/main" val="56060014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86821D-A47B-5822-5EF6-884066E8C047}"/>
              </a:ext>
            </a:extLst>
          </p:cNvPr>
          <p:cNvSpPr>
            <a:spLocks noGrp="1"/>
          </p:cNvSpPr>
          <p:nvPr>
            <p:ph type="title"/>
          </p:nvPr>
        </p:nvSpPr>
        <p:spPr/>
        <p:txBody>
          <a:bodyPr/>
          <a:lstStyle/>
          <a:p>
            <a:r>
              <a:rPr lang="en-GB" b="1" dirty="0"/>
              <a:t>Block 5.G — Dilated Convolution</a:t>
            </a:r>
            <a:br>
              <a:rPr lang="en-GB" b="1" dirty="0"/>
            </a:br>
            <a:endParaRPr lang="en-GB" dirty="0"/>
          </a:p>
        </p:txBody>
      </p:sp>
      <p:sp>
        <p:nvSpPr>
          <p:cNvPr id="3" name="Segnaposto contenuto 2">
            <a:extLst>
              <a:ext uri="{FF2B5EF4-FFF2-40B4-BE49-F238E27FC236}">
                <a16:creationId xmlns:a16="http://schemas.microsoft.com/office/drawing/2014/main" id="{A265DEEB-B3DB-C893-7501-DBF33EE185A7}"/>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84480651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8A5E42-4A38-94C6-0180-7157E36E62F0}"/>
              </a:ext>
            </a:extLst>
          </p:cNvPr>
          <p:cNvSpPr>
            <a:spLocks noGrp="1"/>
          </p:cNvSpPr>
          <p:nvPr>
            <p:ph type="title"/>
          </p:nvPr>
        </p:nvSpPr>
        <p:spPr/>
        <p:txBody>
          <a:bodyPr/>
          <a:lstStyle/>
          <a:p>
            <a:r>
              <a:rPr lang="en-GB" dirty="0"/>
              <a:t>Increasing receptive field without large kernels</a:t>
            </a:r>
          </a:p>
        </p:txBody>
      </p:sp>
      <p:sp>
        <p:nvSpPr>
          <p:cNvPr id="3" name="Segnaposto contenuto 2">
            <a:extLst>
              <a:ext uri="{FF2B5EF4-FFF2-40B4-BE49-F238E27FC236}">
                <a16:creationId xmlns:a16="http://schemas.microsoft.com/office/drawing/2014/main" id="{363651E4-B637-AF0A-E370-26CFE88E97A9}"/>
              </a:ext>
            </a:extLst>
          </p:cNvPr>
          <p:cNvSpPr>
            <a:spLocks noGrp="1"/>
          </p:cNvSpPr>
          <p:nvPr>
            <p:ph sz="half" idx="1"/>
          </p:nvPr>
        </p:nvSpPr>
        <p:spPr>
          <a:xfrm>
            <a:off x="677334" y="2160588"/>
            <a:ext cx="4313766" cy="4354511"/>
          </a:xfrm>
        </p:spPr>
        <p:txBody>
          <a:bodyPr>
            <a:normAutofit lnSpcReduction="10000"/>
          </a:bodyPr>
          <a:lstStyle/>
          <a:p>
            <a:r>
              <a:rPr lang="en-GB" dirty="0"/>
              <a:t>A causal Conv1D with:</a:t>
            </a:r>
          </a:p>
          <a:p>
            <a:pPr lvl="1"/>
            <a:r>
              <a:rPr lang="en-GB" dirty="0"/>
              <a:t>kernel size K = 3; </a:t>
            </a:r>
          </a:p>
          <a:p>
            <a:pPr lvl="1"/>
            <a:r>
              <a:rPr lang="en-GB" dirty="0"/>
              <a:t>stride 1; </a:t>
            </a:r>
          </a:p>
          <a:p>
            <a:r>
              <a:rPr lang="en-GB" b="1" dirty="0"/>
              <a:t>increases receptive field only gradually with depth.</a:t>
            </a:r>
          </a:p>
          <a:p>
            <a:r>
              <a:rPr lang="en-GB" dirty="0"/>
              <a:t>For example:</a:t>
            </a:r>
          </a:p>
          <a:p>
            <a:pPr lvl="1"/>
            <a:r>
              <a:rPr lang="en-GB" dirty="0"/>
              <a:t>1 layer  → 3 frames</a:t>
            </a:r>
          </a:p>
          <a:p>
            <a:pPr lvl="1"/>
            <a:r>
              <a:rPr lang="en-GB" dirty="0"/>
              <a:t>2 layers → 5 frames</a:t>
            </a:r>
          </a:p>
          <a:p>
            <a:pPr lvl="1"/>
            <a:r>
              <a:rPr lang="en-GB" dirty="0"/>
              <a:t>3 layers → 7 frames</a:t>
            </a:r>
          </a:p>
          <a:p>
            <a:pPr lvl="1"/>
            <a:r>
              <a:rPr lang="en-GB" dirty="0"/>
              <a:t>4 layers → 9 frames</a:t>
            </a:r>
          </a:p>
          <a:p>
            <a:endParaRPr lang="en-GB" dirty="0"/>
          </a:p>
        </p:txBody>
      </p:sp>
      <p:sp>
        <p:nvSpPr>
          <p:cNvPr id="4" name="Segnaposto contenuto 3">
            <a:extLst>
              <a:ext uri="{FF2B5EF4-FFF2-40B4-BE49-F238E27FC236}">
                <a16:creationId xmlns:a16="http://schemas.microsoft.com/office/drawing/2014/main" id="{E6841F3B-383C-58EF-BED6-1A3A602775F2}"/>
              </a:ext>
            </a:extLst>
          </p:cNvPr>
          <p:cNvSpPr>
            <a:spLocks noGrp="1"/>
          </p:cNvSpPr>
          <p:nvPr>
            <p:ph sz="half" idx="2"/>
          </p:nvPr>
        </p:nvSpPr>
        <p:spPr>
          <a:xfrm>
            <a:off x="5089970" y="2160589"/>
            <a:ext cx="6848030" cy="4506911"/>
          </a:xfrm>
        </p:spPr>
        <p:txBody>
          <a:bodyPr>
            <a:normAutofit lnSpcReduction="10000"/>
          </a:bodyPr>
          <a:lstStyle/>
          <a:p>
            <a:r>
              <a:rPr lang="en-GB" dirty="0">
                <a:highlight>
                  <a:srgbClr val="FFFF00"/>
                </a:highlight>
              </a:rPr>
              <a:t>To cover hundreds of time steps, we could use:</a:t>
            </a:r>
          </a:p>
          <a:p>
            <a:pPr lvl="1"/>
            <a:r>
              <a:rPr lang="en-GB" dirty="0"/>
              <a:t>many layers; </a:t>
            </a:r>
          </a:p>
          <a:p>
            <a:pPr lvl="1"/>
            <a:r>
              <a:rPr lang="en-GB" dirty="0"/>
              <a:t>very large kernels; </a:t>
            </a:r>
          </a:p>
          <a:p>
            <a:pPr lvl="1"/>
            <a:r>
              <a:rPr lang="en-GB" dirty="0"/>
              <a:t>aggressive </a:t>
            </a:r>
            <a:r>
              <a:rPr lang="en-GB" dirty="0" err="1"/>
              <a:t>downsampling</a:t>
            </a:r>
            <a:r>
              <a:rPr lang="en-GB" dirty="0"/>
              <a:t>. </a:t>
            </a:r>
          </a:p>
          <a:p>
            <a:r>
              <a:rPr lang="en-GB" dirty="0">
                <a:highlight>
                  <a:srgbClr val="FFFF00"/>
                </a:highlight>
              </a:rPr>
              <a:t>Each option has a cost.</a:t>
            </a:r>
          </a:p>
          <a:p>
            <a:r>
              <a:rPr lang="en-GB" b="1" dirty="0">
                <a:highlight>
                  <a:srgbClr val="FFFF00"/>
                </a:highlight>
              </a:rPr>
              <a:t>Alternative</a:t>
            </a:r>
          </a:p>
          <a:p>
            <a:r>
              <a:rPr lang="en-GB" dirty="0"/>
              <a:t>A </a:t>
            </a:r>
            <a:r>
              <a:rPr lang="en-GB" b="1" dirty="0"/>
              <a:t>dilated convolution</a:t>
            </a:r>
            <a:r>
              <a:rPr lang="en-GB" dirty="0"/>
              <a:t> increases the spacing between the input positions used by the kernel.</a:t>
            </a:r>
          </a:p>
          <a:p>
            <a:r>
              <a:rPr lang="en-GB" dirty="0"/>
              <a:t>This allows a small kernel to cover a much larger temporal interval.</a:t>
            </a:r>
          </a:p>
          <a:p>
            <a:endParaRPr lang="en-GB" dirty="0"/>
          </a:p>
          <a:p>
            <a:r>
              <a:rPr lang="en-GB" b="1" dirty="0"/>
              <a:t>Dilation expands temporal context without increasing the number of kernel weights.</a:t>
            </a:r>
          </a:p>
        </p:txBody>
      </p:sp>
    </p:spTree>
    <p:extLst>
      <p:ext uri="{BB962C8B-B14F-4D97-AF65-F5344CB8AC3E}">
        <p14:creationId xmlns:p14="http://schemas.microsoft.com/office/powerpoint/2010/main" val="89656558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Dilated Convolution and TCN</a:t>
            </a:r>
            <a:endParaRPr lang="en-US" sz="2800" dirty="0"/>
          </a:p>
        </p:txBody>
      </p:sp>
      <p:sp>
        <p:nvSpPr>
          <p:cNvPr id="8" name="Text 6"/>
          <p:cNvSpPr/>
          <p:nvPr/>
        </p:nvSpPr>
        <p:spPr>
          <a:xfrm>
            <a:off x="731520" y="1417320"/>
            <a:ext cx="8138160" cy="548640"/>
          </a:xfrm>
          <a:prstGeom prst="rect">
            <a:avLst/>
          </a:prstGeom>
          <a:noFill/>
          <a:ln/>
        </p:spPr>
        <p:txBody>
          <a:bodyPr wrap="square" lIns="0" tIns="0" rIns="0" bIns="0" rtlCol="0" anchor="ctr"/>
          <a:lstStyle/>
          <a:p>
            <a:pPr marL="0" indent="0">
              <a:buNone/>
            </a:pPr>
            <a:r>
              <a:rPr lang="en-US" sz="1800" dirty="0">
                <a:solidFill>
                  <a:srgbClr val="475569"/>
                </a:solidFill>
              </a:rPr>
              <a:t>This figure deck collects the visual explanations for dilation, causal receptive fields, residual TCN blocks and task-specific TCN use.</a:t>
            </a:r>
            <a:endParaRPr lang="en-US" sz="1800" dirty="0"/>
          </a:p>
        </p:txBody>
      </p:sp>
      <p:sp>
        <p:nvSpPr>
          <p:cNvPr id="9" name="Shape 7"/>
          <p:cNvSpPr/>
          <p:nvPr/>
        </p:nvSpPr>
        <p:spPr>
          <a:xfrm>
            <a:off x="1097280" y="2423160"/>
            <a:ext cx="6016752" cy="0"/>
          </a:xfrm>
          <a:prstGeom prst="line">
            <a:avLst/>
          </a:prstGeom>
          <a:noFill/>
          <a:ln w="12700">
            <a:solidFill>
              <a:srgbClr val="94A3B8"/>
            </a:solidFill>
            <a:prstDash val="solid"/>
            <a:headEnd type="none"/>
            <a:tailEnd type="none"/>
          </a:ln>
        </p:spPr>
        <p:txBody>
          <a:bodyPr/>
          <a:lstStyle/>
          <a:p>
            <a:endParaRPr lang="en-GB"/>
          </a:p>
        </p:txBody>
      </p:sp>
      <p:sp>
        <p:nvSpPr>
          <p:cNvPr id="10" name="Shape 8"/>
          <p:cNvSpPr/>
          <p:nvPr/>
        </p:nvSpPr>
        <p:spPr>
          <a:xfrm>
            <a:off x="1046988"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11" name="Shape 9"/>
          <p:cNvSpPr/>
          <p:nvPr/>
        </p:nvSpPr>
        <p:spPr>
          <a:xfrm>
            <a:off x="1476756"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12" name="Shape 10"/>
          <p:cNvSpPr/>
          <p:nvPr/>
        </p:nvSpPr>
        <p:spPr>
          <a:xfrm>
            <a:off x="1906524"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13" name="Shape 11"/>
          <p:cNvSpPr/>
          <p:nvPr/>
        </p:nvSpPr>
        <p:spPr>
          <a:xfrm>
            <a:off x="2336292"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14" name="Shape 12"/>
          <p:cNvSpPr/>
          <p:nvPr/>
        </p:nvSpPr>
        <p:spPr>
          <a:xfrm>
            <a:off x="2766060"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15" name="Shape 13"/>
          <p:cNvSpPr/>
          <p:nvPr/>
        </p:nvSpPr>
        <p:spPr>
          <a:xfrm>
            <a:off x="3195828"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16" name="Shape 14"/>
          <p:cNvSpPr/>
          <p:nvPr/>
        </p:nvSpPr>
        <p:spPr>
          <a:xfrm>
            <a:off x="3625596"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17" name="Shape 15"/>
          <p:cNvSpPr/>
          <p:nvPr/>
        </p:nvSpPr>
        <p:spPr>
          <a:xfrm>
            <a:off x="4055364"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18" name="Shape 16"/>
          <p:cNvSpPr/>
          <p:nvPr/>
        </p:nvSpPr>
        <p:spPr>
          <a:xfrm>
            <a:off x="4485132"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19" name="Shape 17"/>
          <p:cNvSpPr/>
          <p:nvPr/>
        </p:nvSpPr>
        <p:spPr>
          <a:xfrm>
            <a:off x="4914900"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20" name="Shape 18"/>
          <p:cNvSpPr/>
          <p:nvPr/>
        </p:nvSpPr>
        <p:spPr>
          <a:xfrm>
            <a:off x="5344668"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21" name="Shape 19"/>
          <p:cNvSpPr/>
          <p:nvPr/>
        </p:nvSpPr>
        <p:spPr>
          <a:xfrm>
            <a:off x="5774436"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22" name="Shape 20"/>
          <p:cNvSpPr/>
          <p:nvPr/>
        </p:nvSpPr>
        <p:spPr>
          <a:xfrm>
            <a:off x="6204204"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23" name="Shape 21"/>
          <p:cNvSpPr/>
          <p:nvPr/>
        </p:nvSpPr>
        <p:spPr>
          <a:xfrm>
            <a:off x="6633972"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24" name="Shape 22"/>
          <p:cNvSpPr/>
          <p:nvPr/>
        </p:nvSpPr>
        <p:spPr>
          <a:xfrm>
            <a:off x="7063740" y="2372868"/>
            <a:ext cx="100584" cy="100584"/>
          </a:xfrm>
          <a:prstGeom prst="ellipse">
            <a:avLst/>
          </a:prstGeom>
          <a:solidFill>
            <a:srgbClr val="FFFFFF"/>
          </a:solidFill>
          <a:ln w="8890">
            <a:solidFill>
              <a:srgbClr val="94A3B8"/>
            </a:solidFill>
            <a:prstDash val="solid"/>
          </a:ln>
        </p:spPr>
        <p:txBody>
          <a:bodyPr/>
          <a:lstStyle/>
          <a:p>
            <a:endParaRPr lang="en-GB"/>
          </a:p>
        </p:txBody>
      </p:sp>
      <p:sp>
        <p:nvSpPr>
          <p:cNvPr id="25" name="Shape 23"/>
          <p:cNvSpPr/>
          <p:nvPr/>
        </p:nvSpPr>
        <p:spPr>
          <a:xfrm>
            <a:off x="7063740" y="2372868"/>
            <a:ext cx="100584" cy="100584"/>
          </a:xfrm>
          <a:prstGeom prst="ellipse">
            <a:avLst/>
          </a:prstGeom>
          <a:solidFill>
            <a:srgbClr val="2B73FF"/>
          </a:solidFill>
          <a:ln w="15240">
            <a:solidFill>
              <a:srgbClr val="2B73FF"/>
            </a:solidFill>
            <a:prstDash val="solid"/>
          </a:ln>
        </p:spPr>
        <p:txBody>
          <a:bodyPr/>
          <a:lstStyle/>
          <a:p>
            <a:endParaRPr lang="en-GB"/>
          </a:p>
        </p:txBody>
      </p:sp>
      <p:sp>
        <p:nvSpPr>
          <p:cNvPr id="26" name="Shape 24"/>
          <p:cNvSpPr/>
          <p:nvPr/>
        </p:nvSpPr>
        <p:spPr>
          <a:xfrm>
            <a:off x="6633972" y="2372868"/>
            <a:ext cx="100584" cy="100584"/>
          </a:xfrm>
          <a:prstGeom prst="ellipse">
            <a:avLst/>
          </a:prstGeom>
          <a:solidFill>
            <a:srgbClr val="86B817"/>
          </a:solidFill>
          <a:ln w="15240">
            <a:solidFill>
              <a:srgbClr val="86B817"/>
            </a:solidFill>
            <a:prstDash val="solid"/>
          </a:ln>
        </p:spPr>
        <p:txBody>
          <a:bodyPr/>
          <a:lstStyle/>
          <a:p>
            <a:endParaRPr lang="en-GB"/>
          </a:p>
        </p:txBody>
      </p:sp>
      <p:sp>
        <p:nvSpPr>
          <p:cNvPr id="27" name="Shape 25"/>
          <p:cNvSpPr/>
          <p:nvPr/>
        </p:nvSpPr>
        <p:spPr>
          <a:xfrm>
            <a:off x="6204204" y="2372868"/>
            <a:ext cx="100584" cy="100584"/>
          </a:xfrm>
          <a:prstGeom prst="ellipse">
            <a:avLst/>
          </a:prstGeom>
          <a:solidFill>
            <a:srgbClr val="F1B400"/>
          </a:solidFill>
          <a:ln w="15240">
            <a:solidFill>
              <a:srgbClr val="F1B400"/>
            </a:solidFill>
            <a:prstDash val="solid"/>
          </a:ln>
        </p:spPr>
        <p:txBody>
          <a:bodyPr/>
          <a:lstStyle/>
          <a:p>
            <a:endParaRPr lang="en-GB"/>
          </a:p>
        </p:txBody>
      </p:sp>
      <p:sp>
        <p:nvSpPr>
          <p:cNvPr id="28" name="Text 26"/>
          <p:cNvSpPr/>
          <p:nvPr/>
        </p:nvSpPr>
        <p:spPr>
          <a:xfrm>
            <a:off x="7772400" y="2322576"/>
            <a:ext cx="1097280" cy="182880"/>
          </a:xfrm>
          <a:prstGeom prst="rect">
            <a:avLst/>
          </a:prstGeom>
          <a:noFill/>
          <a:ln/>
        </p:spPr>
        <p:txBody>
          <a:bodyPr wrap="square" lIns="0" tIns="0" rIns="0" bIns="0" rtlCol="0" anchor="ctr"/>
          <a:lstStyle/>
          <a:p>
            <a:pPr marL="0" indent="0">
              <a:buNone/>
            </a:pPr>
            <a:r>
              <a:rPr lang="en-US" sz="1050" dirty="0">
                <a:solidFill>
                  <a:srgbClr val="475569"/>
                </a:solidFill>
              </a:rPr>
              <a:t>dilation 1</a:t>
            </a:r>
            <a:endParaRPr lang="en-US" sz="1050" dirty="0"/>
          </a:p>
        </p:txBody>
      </p:sp>
      <p:sp>
        <p:nvSpPr>
          <p:cNvPr id="29" name="Shape 27"/>
          <p:cNvSpPr/>
          <p:nvPr/>
        </p:nvSpPr>
        <p:spPr>
          <a:xfrm>
            <a:off x="1097280" y="3063240"/>
            <a:ext cx="6016752" cy="0"/>
          </a:xfrm>
          <a:prstGeom prst="line">
            <a:avLst/>
          </a:prstGeom>
          <a:noFill/>
          <a:ln w="12700">
            <a:solidFill>
              <a:srgbClr val="94A3B8"/>
            </a:solidFill>
            <a:prstDash val="solid"/>
            <a:headEnd type="none"/>
            <a:tailEnd type="none"/>
          </a:ln>
        </p:spPr>
        <p:txBody>
          <a:bodyPr/>
          <a:lstStyle/>
          <a:p>
            <a:endParaRPr lang="en-GB"/>
          </a:p>
        </p:txBody>
      </p:sp>
      <p:sp>
        <p:nvSpPr>
          <p:cNvPr id="30" name="Shape 28"/>
          <p:cNvSpPr/>
          <p:nvPr/>
        </p:nvSpPr>
        <p:spPr>
          <a:xfrm>
            <a:off x="1046988"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31" name="Shape 29"/>
          <p:cNvSpPr/>
          <p:nvPr/>
        </p:nvSpPr>
        <p:spPr>
          <a:xfrm>
            <a:off x="1476756"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32" name="Shape 30"/>
          <p:cNvSpPr/>
          <p:nvPr/>
        </p:nvSpPr>
        <p:spPr>
          <a:xfrm>
            <a:off x="1906524"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33" name="Shape 31"/>
          <p:cNvSpPr/>
          <p:nvPr/>
        </p:nvSpPr>
        <p:spPr>
          <a:xfrm>
            <a:off x="2336292"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34" name="Shape 32"/>
          <p:cNvSpPr/>
          <p:nvPr/>
        </p:nvSpPr>
        <p:spPr>
          <a:xfrm>
            <a:off x="2766060"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35" name="Shape 33"/>
          <p:cNvSpPr/>
          <p:nvPr/>
        </p:nvSpPr>
        <p:spPr>
          <a:xfrm>
            <a:off x="3195828"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36" name="Shape 34"/>
          <p:cNvSpPr/>
          <p:nvPr/>
        </p:nvSpPr>
        <p:spPr>
          <a:xfrm>
            <a:off x="3625596"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37" name="Shape 35"/>
          <p:cNvSpPr/>
          <p:nvPr/>
        </p:nvSpPr>
        <p:spPr>
          <a:xfrm>
            <a:off x="4055364"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38" name="Shape 36"/>
          <p:cNvSpPr/>
          <p:nvPr/>
        </p:nvSpPr>
        <p:spPr>
          <a:xfrm>
            <a:off x="4485132"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39" name="Shape 37"/>
          <p:cNvSpPr/>
          <p:nvPr/>
        </p:nvSpPr>
        <p:spPr>
          <a:xfrm>
            <a:off x="4914900"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40" name="Shape 38"/>
          <p:cNvSpPr/>
          <p:nvPr/>
        </p:nvSpPr>
        <p:spPr>
          <a:xfrm>
            <a:off x="5344668"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41" name="Shape 39"/>
          <p:cNvSpPr/>
          <p:nvPr/>
        </p:nvSpPr>
        <p:spPr>
          <a:xfrm>
            <a:off x="5774436"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42" name="Shape 40"/>
          <p:cNvSpPr/>
          <p:nvPr/>
        </p:nvSpPr>
        <p:spPr>
          <a:xfrm>
            <a:off x="6204204"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43" name="Shape 41"/>
          <p:cNvSpPr/>
          <p:nvPr/>
        </p:nvSpPr>
        <p:spPr>
          <a:xfrm>
            <a:off x="6633972"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44" name="Shape 42"/>
          <p:cNvSpPr/>
          <p:nvPr/>
        </p:nvSpPr>
        <p:spPr>
          <a:xfrm>
            <a:off x="7063740" y="3012948"/>
            <a:ext cx="100584" cy="100584"/>
          </a:xfrm>
          <a:prstGeom prst="ellipse">
            <a:avLst/>
          </a:prstGeom>
          <a:solidFill>
            <a:srgbClr val="FFFFFF"/>
          </a:solidFill>
          <a:ln w="8890">
            <a:solidFill>
              <a:srgbClr val="94A3B8"/>
            </a:solidFill>
            <a:prstDash val="solid"/>
          </a:ln>
        </p:spPr>
        <p:txBody>
          <a:bodyPr/>
          <a:lstStyle/>
          <a:p>
            <a:endParaRPr lang="en-GB"/>
          </a:p>
        </p:txBody>
      </p:sp>
      <p:sp>
        <p:nvSpPr>
          <p:cNvPr id="45" name="Shape 43"/>
          <p:cNvSpPr/>
          <p:nvPr/>
        </p:nvSpPr>
        <p:spPr>
          <a:xfrm>
            <a:off x="7063740" y="3012948"/>
            <a:ext cx="100584" cy="100584"/>
          </a:xfrm>
          <a:prstGeom prst="ellipse">
            <a:avLst/>
          </a:prstGeom>
          <a:solidFill>
            <a:srgbClr val="2B73FF"/>
          </a:solidFill>
          <a:ln w="15240">
            <a:solidFill>
              <a:srgbClr val="2B73FF"/>
            </a:solidFill>
            <a:prstDash val="solid"/>
          </a:ln>
        </p:spPr>
        <p:txBody>
          <a:bodyPr/>
          <a:lstStyle/>
          <a:p>
            <a:endParaRPr lang="en-GB"/>
          </a:p>
        </p:txBody>
      </p:sp>
      <p:sp>
        <p:nvSpPr>
          <p:cNvPr id="46" name="Shape 44"/>
          <p:cNvSpPr/>
          <p:nvPr/>
        </p:nvSpPr>
        <p:spPr>
          <a:xfrm>
            <a:off x="6204204" y="3012948"/>
            <a:ext cx="100584" cy="100584"/>
          </a:xfrm>
          <a:prstGeom prst="ellipse">
            <a:avLst/>
          </a:prstGeom>
          <a:solidFill>
            <a:srgbClr val="86B817"/>
          </a:solidFill>
          <a:ln w="15240">
            <a:solidFill>
              <a:srgbClr val="86B817"/>
            </a:solidFill>
            <a:prstDash val="solid"/>
          </a:ln>
        </p:spPr>
        <p:txBody>
          <a:bodyPr/>
          <a:lstStyle/>
          <a:p>
            <a:endParaRPr lang="en-GB"/>
          </a:p>
        </p:txBody>
      </p:sp>
      <p:sp>
        <p:nvSpPr>
          <p:cNvPr id="47" name="Shape 45"/>
          <p:cNvSpPr/>
          <p:nvPr/>
        </p:nvSpPr>
        <p:spPr>
          <a:xfrm>
            <a:off x="5344668" y="3012948"/>
            <a:ext cx="100584" cy="100584"/>
          </a:xfrm>
          <a:prstGeom prst="ellipse">
            <a:avLst/>
          </a:prstGeom>
          <a:solidFill>
            <a:srgbClr val="F1B400"/>
          </a:solidFill>
          <a:ln w="15240">
            <a:solidFill>
              <a:srgbClr val="F1B400"/>
            </a:solidFill>
            <a:prstDash val="solid"/>
          </a:ln>
        </p:spPr>
        <p:txBody>
          <a:bodyPr/>
          <a:lstStyle/>
          <a:p>
            <a:endParaRPr lang="en-GB"/>
          </a:p>
        </p:txBody>
      </p:sp>
      <p:sp>
        <p:nvSpPr>
          <p:cNvPr id="48" name="Text 46"/>
          <p:cNvSpPr/>
          <p:nvPr/>
        </p:nvSpPr>
        <p:spPr>
          <a:xfrm>
            <a:off x="7772400" y="2962656"/>
            <a:ext cx="1097280" cy="182880"/>
          </a:xfrm>
          <a:prstGeom prst="rect">
            <a:avLst/>
          </a:prstGeom>
          <a:noFill/>
          <a:ln/>
        </p:spPr>
        <p:txBody>
          <a:bodyPr wrap="square" lIns="0" tIns="0" rIns="0" bIns="0" rtlCol="0" anchor="ctr"/>
          <a:lstStyle/>
          <a:p>
            <a:pPr marL="0" indent="0">
              <a:buNone/>
            </a:pPr>
            <a:r>
              <a:rPr lang="en-US" sz="1050" dirty="0">
                <a:solidFill>
                  <a:srgbClr val="475569"/>
                </a:solidFill>
              </a:rPr>
              <a:t>dilation 2</a:t>
            </a:r>
            <a:endParaRPr lang="en-US" sz="1050" dirty="0"/>
          </a:p>
        </p:txBody>
      </p:sp>
      <p:sp>
        <p:nvSpPr>
          <p:cNvPr id="49" name="Shape 47"/>
          <p:cNvSpPr/>
          <p:nvPr/>
        </p:nvSpPr>
        <p:spPr>
          <a:xfrm>
            <a:off x="1097280" y="3703320"/>
            <a:ext cx="6016752" cy="0"/>
          </a:xfrm>
          <a:prstGeom prst="line">
            <a:avLst/>
          </a:prstGeom>
          <a:noFill/>
          <a:ln w="12700">
            <a:solidFill>
              <a:srgbClr val="94A3B8"/>
            </a:solidFill>
            <a:prstDash val="solid"/>
            <a:headEnd type="none"/>
            <a:tailEnd type="none"/>
          </a:ln>
        </p:spPr>
        <p:txBody>
          <a:bodyPr/>
          <a:lstStyle/>
          <a:p>
            <a:endParaRPr lang="en-GB"/>
          </a:p>
        </p:txBody>
      </p:sp>
      <p:sp>
        <p:nvSpPr>
          <p:cNvPr id="50" name="Shape 48"/>
          <p:cNvSpPr/>
          <p:nvPr/>
        </p:nvSpPr>
        <p:spPr>
          <a:xfrm>
            <a:off x="1046988"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51" name="Shape 49"/>
          <p:cNvSpPr/>
          <p:nvPr/>
        </p:nvSpPr>
        <p:spPr>
          <a:xfrm>
            <a:off x="1476756"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52" name="Shape 50"/>
          <p:cNvSpPr/>
          <p:nvPr/>
        </p:nvSpPr>
        <p:spPr>
          <a:xfrm>
            <a:off x="1906524"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53" name="Shape 51"/>
          <p:cNvSpPr/>
          <p:nvPr/>
        </p:nvSpPr>
        <p:spPr>
          <a:xfrm>
            <a:off x="2336292"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54" name="Shape 52"/>
          <p:cNvSpPr/>
          <p:nvPr/>
        </p:nvSpPr>
        <p:spPr>
          <a:xfrm>
            <a:off x="2766060"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55" name="Shape 53"/>
          <p:cNvSpPr/>
          <p:nvPr/>
        </p:nvSpPr>
        <p:spPr>
          <a:xfrm>
            <a:off x="3195828"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56" name="Shape 54"/>
          <p:cNvSpPr/>
          <p:nvPr/>
        </p:nvSpPr>
        <p:spPr>
          <a:xfrm>
            <a:off x="3625596"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57" name="Shape 55"/>
          <p:cNvSpPr/>
          <p:nvPr/>
        </p:nvSpPr>
        <p:spPr>
          <a:xfrm>
            <a:off x="4055364"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58" name="Shape 56"/>
          <p:cNvSpPr/>
          <p:nvPr/>
        </p:nvSpPr>
        <p:spPr>
          <a:xfrm>
            <a:off x="4485132"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59" name="Shape 57"/>
          <p:cNvSpPr/>
          <p:nvPr/>
        </p:nvSpPr>
        <p:spPr>
          <a:xfrm>
            <a:off x="4914900"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60" name="Shape 58"/>
          <p:cNvSpPr/>
          <p:nvPr/>
        </p:nvSpPr>
        <p:spPr>
          <a:xfrm>
            <a:off x="5344668"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61" name="Shape 59"/>
          <p:cNvSpPr/>
          <p:nvPr/>
        </p:nvSpPr>
        <p:spPr>
          <a:xfrm>
            <a:off x="5774436"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62" name="Shape 60"/>
          <p:cNvSpPr/>
          <p:nvPr/>
        </p:nvSpPr>
        <p:spPr>
          <a:xfrm>
            <a:off x="6204204"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63" name="Shape 61"/>
          <p:cNvSpPr/>
          <p:nvPr/>
        </p:nvSpPr>
        <p:spPr>
          <a:xfrm>
            <a:off x="6633972"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64" name="Shape 62"/>
          <p:cNvSpPr/>
          <p:nvPr/>
        </p:nvSpPr>
        <p:spPr>
          <a:xfrm>
            <a:off x="7063740" y="3653028"/>
            <a:ext cx="100584" cy="100584"/>
          </a:xfrm>
          <a:prstGeom prst="ellipse">
            <a:avLst/>
          </a:prstGeom>
          <a:solidFill>
            <a:srgbClr val="FFFFFF"/>
          </a:solidFill>
          <a:ln w="8890">
            <a:solidFill>
              <a:srgbClr val="94A3B8"/>
            </a:solidFill>
            <a:prstDash val="solid"/>
          </a:ln>
        </p:spPr>
        <p:txBody>
          <a:bodyPr/>
          <a:lstStyle/>
          <a:p>
            <a:endParaRPr lang="en-GB"/>
          </a:p>
        </p:txBody>
      </p:sp>
      <p:sp>
        <p:nvSpPr>
          <p:cNvPr id="65" name="Shape 63"/>
          <p:cNvSpPr/>
          <p:nvPr/>
        </p:nvSpPr>
        <p:spPr>
          <a:xfrm>
            <a:off x="7063740" y="3653028"/>
            <a:ext cx="100584" cy="100584"/>
          </a:xfrm>
          <a:prstGeom prst="ellipse">
            <a:avLst/>
          </a:prstGeom>
          <a:solidFill>
            <a:srgbClr val="2B73FF"/>
          </a:solidFill>
          <a:ln w="15240">
            <a:solidFill>
              <a:srgbClr val="2B73FF"/>
            </a:solidFill>
            <a:prstDash val="solid"/>
          </a:ln>
        </p:spPr>
        <p:txBody>
          <a:bodyPr/>
          <a:lstStyle/>
          <a:p>
            <a:endParaRPr lang="en-GB"/>
          </a:p>
        </p:txBody>
      </p:sp>
      <p:sp>
        <p:nvSpPr>
          <p:cNvPr id="66" name="Shape 64"/>
          <p:cNvSpPr/>
          <p:nvPr/>
        </p:nvSpPr>
        <p:spPr>
          <a:xfrm>
            <a:off x="5344668" y="3653028"/>
            <a:ext cx="100584" cy="100584"/>
          </a:xfrm>
          <a:prstGeom prst="ellipse">
            <a:avLst/>
          </a:prstGeom>
          <a:solidFill>
            <a:srgbClr val="86B817"/>
          </a:solidFill>
          <a:ln w="15240">
            <a:solidFill>
              <a:srgbClr val="86B817"/>
            </a:solidFill>
            <a:prstDash val="solid"/>
          </a:ln>
        </p:spPr>
        <p:txBody>
          <a:bodyPr/>
          <a:lstStyle/>
          <a:p>
            <a:endParaRPr lang="en-GB"/>
          </a:p>
        </p:txBody>
      </p:sp>
      <p:sp>
        <p:nvSpPr>
          <p:cNvPr id="67" name="Shape 65"/>
          <p:cNvSpPr/>
          <p:nvPr/>
        </p:nvSpPr>
        <p:spPr>
          <a:xfrm>
            <a:off x="3625596" y="3653028"/>
            <a:ext cx="100584" cy="100584"/>
          </a:xfrm>
          <a:prstGeom prst="ellipse">
            <a:avLst/>
          </a:prstGeom>
          <a:solidFill>
            <a:srgbClr val="F1B400"/>
          </a:solidFill>
          <a:ln w="15240">
            <a:solidFill>
              <a:srgbClr val="F1B400"/>
            </a:solidFill>
            <a:prstDash val="solid"/>
          </a:ln>
        </p:spPr>
        <p:txBody>
          <a:bodyPr/>
          <a:lstStyle/>
          <a:p>
            <a:endParaRPr lang="en-GB"/>
          </a:p>
        </p:txBody>
      </p:sp>
      <p:sp>
        <p:nvSpPr>
          <p:cNvPr id="68" name="Text 66"/>
          <p:cNvSpPr/>
          <p:nvPr/>
        </p:nvSpPr>
        <p:spPr>
          <a:xfrm>
            <a:off x="7772400" y="3602736"/>
            <a:ext cx="1097280" cy="182880"/>
          </a:xfrm>
          <a:prstGeom prst="rect">
            <a:avLst/>
          </a:prstGeom>
          <a:noFill/>
          <a:ln/>
        </p:spPr>
        <p:txBody>
          <a:bodyPr wrap="square" lIns="0" tIns="0" rIns="0" bIns="0" rtlCol="0" anchor="ctr"/>
          <a:lstStyle/>
          <a:p>
            <a:pPr marL="0" indent="0">
              <a:buNone/>
            </a:pPr>
            <a:r>
              <a:rPr lang="en-US" sz="1050" dirty="0">
                <a:solidFill>
                  <a:srgbClr val="475569"/>
                </a:solidFill>
              </a:rPr>
              <a:t>dilation 4</a:t>
            </a:r>
            <a:endParaRPr lang="en-US" sz="1050" dirty="0"/>
          </a:p>
        </p:txBody>
      </p:sp>
      <p:sp>
        <p:nvSpPr>
          <p:cNvPr id="69" name="Shape 67"/>
          <p:cNvSpPr/>
          <p:nvPr/>
        </p:nvSpPr>
        <p:spPr>
          <a:xfrm>
            <a:off x="1097280" y="4343400"/>
            <a:ext cx="6016752" cy="0"/>
          </a:xfrm>
          <a:prstGeom prst="line">
            <a:avLst/>
          </a:prstGeom>
          <a:noFill/>
          <a:ln w="12700">
            <a:solidFill>
              <a:srgbClr val="94A3B8"/>
            </a:solidFill>
            <a:prstDash val="solid"/>
            <a:headEnd type="none"/>
            <a:tailEnd type="none"/>
          </a:ln>
        </p:spPr>
        <p:txBody>
          <a:bodyPr/>
          <a:lstStyle/>
          <a:p>
            <a:endParaRPr lang="en-GB"/>
          </a:p>
        </p:txBody>
      </p:sp>
      <p:sp>
        <p:nvSpPr>
          <p:cNvPr id="70" name="Shape 68"/>
          <p:cNvSpPr/>
          <p:nvPr/>
        </p:nvSpPr>
        <p:spPr>
          <a:xfrm>
            <a:off x="1046988"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71" name="Shape 69"/>
          <p:cNvSpPr/>
          <p:nvPr/>
        </p:nvSpPr>
        <p:spPr>
          <a:xfrm>
            <a:off x="1476756"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72" name="Shape 70"/>
          <p:cNvSpPr/>
          <p:nvPr/>
        </p:nvSpPr>
        <p:spPr>
          <a:xfrm>
            <a:off x="1906524"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73" name="Shape 71"/>
          <p:cNvSpPr/>
          <p:nvPr/>
        </p:nvSpPr>
        <p:spPr>
          <a:xfrm>
            <a:off x="2336292"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74" name="Shape 72"/>
          <p:cNvSpPr/>
          <p:nvPr/>
        </p:nvSpPr>
        <p:spPr>
          <a:xfrm>
            <a:off x="2766060"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75" name="Shape 73"/>
          <p:cNvSpPr/>
          <p:nvPr/>
        </p:nvSpPr>
        <p:spPr>
          <a:xfrm>
            <a:off x="3195828"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76" name="Shape 74"/>
          <p:cNvSpPr/>
          <p:nvPr/>
        </p:nvSpPr>
        <p:spPr>
          <a:xfrm>
            <a:off x="3625596"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77" name="Shape 75"/>
          <p:cNvSpPr/>
          <p:nvPr/>
        </p:nvSpPr>
        <p:spPr>
          <a:xfrm>
            <a:off x="4055364"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78" name="Shape 76"/>
          <p:cNvSpPr/>
          <p:nvPr/>
        </p:nvSpPr>
        <p:spPr>
          <a:xfrm>
            <a:off x="4485132"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79" name="Shape 77"/>
          <p:cNvSpPr/>
          <p:nvPr/>
        </p:nvSpPr>
        <p:spPr>
          <a:xfrm>
            <a:off x="4914900"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80" name="Shape 78"/>
          <p:cNvSpPr/>
          <p:nvPr/>
        </p:nvSpPr>
        <p:spPr>
          <a:xfrm>
            <a:off x="5344668"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81" name="Shape 79"/>
          <p:cNvSpPr/>
          <p:nvPr/>
        </p:nvSpPr>
        <p:spPr>
          <a:xfrm>
            <a:off x="5774436"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82" name="Shape 80"/>
          <p:cNvSpPr/>
          <p:nvPr/>
        </p:nvSpPr>
        <p:spPr>
          <a:xfrm>
            <a:off x="6204204"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83" name="Shape 81"/>
          <p:cNvSpPr/>
          <p:nvPr/>
        </p:nvSpPr>
        <p:spPr>
          <a:xfrm>
            <a:off x="6633972"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84" name="Shape 82"/>
          <p:cNvSpPr/>
          <p:nvPr/>
        </p:nvSpPr>
        <p:spPr>
          <a:xfrm>
            <a:off x="7063740" y="4293108"/>
            <a:ext cx="100584" cy="100584"/>
          </a:xfrm>
          <a:prstGeom prst="ellipse">
            <a:avLst/>
          </a:prstGeom>
          <a:solidFill>
            <a:srgbClr val="FFFFFF"/>
          </a:solidFill>
          <a:ln w="8890">
            <a:solidFill>
              <a:srgbClr val="94A3B8"/>
            </a:solidFill>
            <a:prstDash val="solid"/>
          </a:ln>
        </p:spPr>
        <p:txBody>
          <a:bodyPr/>
          <a:lstStyle/>
          <a:p>
            <a:endParaRPr lang="en-GB"/>
          </a:p>
        </p:txBody>
      </p:sp>
      <p:sp>
        <p:nvSpPr>
          <p:cNvPr id="85" name="Shape 83"/>
          <p:cNvSpPr/>
          <p:nvPr/>
        </p:nvSpPr>
        <p:spPr>
          <a:xfrm>
            <a:off x="7063740" y="4293108"/>
            <a:ext cx="100584" cy="100584"/>
          </a:xfrm>
          <a:prstGeom prst="ellipse">
            <a:avLst/>
          </a:prstGeom>
          <a:solidFill>
            <a:srgbClr val="2B73FF"/>
          </a:solidFill>
          <a:ln w="15240">
            <a:solidFill>
              <a:srgbClr val="2B73FF"/>
            </a:solidFill>
            <a:prstDash val="solid"/>
          </a:ln>
        </p:spPr>
        <p:txBody>
          <a:bodyPr/>
          <a:lstStyle/>
          <a:p>
            <a:endParaRPr lang="en-GB"/>
          </a:p>
        </p:txBody>
      </p:sp>
      <p:sp>
        <p:nvSpPr>
          <p:cNvPr id="86" name="Shape 84"/>
          <p:cNvSpPr/>
          <p:nvPr/>
        </p:nvSpPr>
        <p:spPr>
          <a:xfrm>
            <a:off x="3625596" y="4293108"/>
            <a:ext cx="100584" cy="100584"/>
          </a:xfrm>
          <a:prstGeom prst="ellipse">
            <a:avLst/>
          </a:prstGeom>
          <a:solidFill>
            <a:srgbClr val="86B817"/>
          </a:solidFill>
          <a:ln w="15240">
            <a:solidFill>
              <a:srgbClr val="86B817"/>
            </a:solidFill>
            <a:prstDash val="solid"/>
          </a:ln>
        </p:spPr>
        <p:txBody>
          <a:bodyPr/>
          <a:lstStyle/>
          <a:p>
            <a:endParaRPr lang="en-GB"/>
          </a:p>
        </p:txBody>
      </p:sp>
      <p:sp>
        <p:nvSpPr>
          <p:cNvPr id="87" name="Text 85"/>
          <p:cNvSpPr/>
          <p:nvPr/>
        </p:nvSpPr>
        <p:spPr>
          <a:xfrm>
            <a:off x="7772400" y="4242816"/>
            <a:ext cx="1097280" cy="182880"/>
          </a:xfrm>
          <a:prstGeom prst="rect">
            <a:avLst/>
          </a:prstGeom>
          <a:noFill/>
          <a:ln/>
        </p:spPr>
        <p:txBody>
          <a:bodyPr wrap="square" lIns="0" tIns="0" rIns="0" bIns="0" rtlCol="0" anchor="ctr"/>
          <a:lstStyle/>
          <a:p>
            <a:pPr marL="0" indent="0">
              <a:buNone/>
            </a:pPr>
            <a:r>
              <a:rPr lang="en-US" sz="1050" dirty="0">
                <a:solidFill>
                  <a:srgbClr val="475569"/>
                </a:solidFill>
              </a:rPr>
              <a:t>dilation 8</a:t>
            </a:r>
            <a:endParaRPr lang="en-US" sz="1050" dirty="0"/>
          </a:p>
        </p:txBody>
      </p:sp>
      <p:sp>
        <p:nvSpPr>
          <p:cNvPr id="88" name="Text 86"/>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i="1" dirty="0">
                <a:solidFill>
                  <a:srgbClr val="475569"/>
                </a:solidFill>
              </a:rPr>
              <a:t>From local kernels to large causal receptive fields.</a:t>
            </a:r>
            <a:endParaRPr lang="en-US" sz="11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B72E5DB-2B44-7315-68AA-5B233AD4E28A}"/>
              </a:ext>
            </a:extLst>
          </p:cNvPr>
          <p:cNvSpPr>
            <a:spLocks noGrp="1"/>
          </p:cNvSpPr>
          <p:nvPr>
            <p:ph type="title"/>
          </p:nvPr>
        </p:nvSpPr>
        <p:spPr/>
        <p:txBody>
          <a:bodyPr/>
          <a:lstStyle/>
          <a:p>
            <a:r>
              <a:rPr lang="en-GB" dirty="0"/>
              <a:t>Standard convolution</a:t>
            </a:r>
          </a:p>
        </p:txBody>
      </p:sp>
      <p:sp>
        <p:nvSpPr>
          <p:cNvPr id="3" name="Segnaposto contenuto 2">
            <a:extLst>
              <a:ext uri="{FF2B5EF4-FFF2-40B4-BE49-F238E27FC236}">
                <a16:creationId xmlns:a16="http://schemas.microsoft.com/office/drawing/2014/main" id="{47C68BAD-2203-2A54-E97D-0538FE9F4EF3}"/>
              </a:ext>
            </a:extLst>
          </p:cNvPr>
          <p:cNvSpPr>
            <a:spLocks noGrp="1"/>
          </p:cNvSpPr>
          <p:nvPr>
            <p:ph sz="half" idx="1"/>
          </p:nvPr>
        </p:nvSpPr>
        <p:spPr/>
        <p:txBody>
          <a:bodyPr>
            <a:normAutofit fontScale="92500" lnSpcReduction="20000"/>
          </a:bodyPr>
          <a:lstStyle/>
          <a:p>
            <a:r>
              <a:rPr lang="en-GB" dirty="0"/>
              <a:t>Consider a causal convolution with:</a:t>
            </a:r>
          </a:p>
          <a:p>
            <a:pPr lvl="1"/>
            <a:r>
              <a:rPr lang="en-GB" dirty="0"/>
              <a:t>kernel size K = 3</a:t>
            </a:r>
          </a:p>
          <a:p>
            <a:pPr lvl="1"/>
            <a:r>
              <a:rPr lang="en-GB" dirty="0"/>
              <a:t>and:</a:t>
            </a:r>
          </a:p>
          <a:p>
            <a:pPr lvl="1"/>
            <a:r>
              <a:rPr lang="en-GB" dirty="0"/>
              <a:t>dilation = 1</a:t>
            </a:r>
          </a:p>
          <a:p>
            <a:r>
              <a:rPr lang="en-GB" dirty="0"/>
              <a:t>For an output at time t, the kernel uses:</a:t>
            </a:r>
          </a:p>
          <a:p>
            <a:r>
              <a:rPr lang="en-GB" dirty="0"/>
              <a:t>x[t−2], x[t−1], x[t]</a:t>
            </a:r>
          </a:p>
          <a:p>
            <a:endParaRPr lang="en-GB" dirty="0"/>
          </a:p>
        </p:txBody>
      </p:sp>
      <p:sp>
        <p:nvSpPr>
          <p:cNvPr id="4" name="Segnaposto contenuto 3">
            <a:extLst>
              <a:ext uri="{FF2B5EF4-FFF2-40B4-BE49-F238E27FC236}">
                <a16:creationId xmlns:a16="http://schemas.microsoft.com/office/drawing/2014/main" id="{F6FA43A8-6D5B-8665-C124-9B57E4D06011}"/>
              </a:ext>
            </a:extLst>
          </p:cNvPr>
          <p:cNvSpPr>
            <a:spLocks noGrp="1"/>
          </p:cNvSpPr>
          <p:nvPr>
            <p:ph sz="half" idx="2"/>
          </p:nvPr>
        </p:nvSpPr>
        <p:spPr/>
        <p:txBody>
          <a:bodyPr>
            <a:normAutofit fontScale="92500" lnSpcReduction="20000"/>
          </a:bodyPr>
          <a:lstStyle/>
          <a:p>
            <a:r>
              <a:rPr lang="en-GB" dirty="0"/>
              <a:t>Conceptually:</a:t>
            </a:r>
          </a:p>
          <a:p>
            <a:r>
              <a:rPr lang="en-GB" dirty="0"/>
              <a:t>time →</a:t>
            </a:r>
          </a:p>
          <a:p>
            <a:r>
              <a:rPr lang="en-GB" dirty="0"/>
              <a:t>x[t−4] x[t−3] x[t−2] x[t−1] x[t]</a:t>
            </a:r>
          </a:p>
          <a:p>
            <a:r>
              <a:rPr lang="en-GB" dirty="0"/>
              <a:t>                        ●        ●      ●</a:t>
            </a:r>
          </a:p>
          <a:p>
            <a:r>
              <a:rPr lang="en-GB" dirty="0"/>
              <a:t>                 └── kernel ───┘</a:t>
            </a:r>
          </a:p>
          <a:p>
            <a:r>
              <a:rPr lang="en-GB" dirty="0"/>
              <a:t>The kernel covers three consecutive observations.</a:t>
            </a:r>
          </a:p>
          <a:p>
            <a:r>
              <a:rPr lang="en-GB" b="1" dirty="0"/>
              <a:t>Effective temporal span</a:t>
            </a:r>
          </a:p>
          <a:p>
            <a:r>
              <a:rPr lang="en-GB" dirty="0"/>
              <a:t>For dilation 1:</a:t>
            </a:r>
          </a:p>
          <a:p>
            <a:r>
              <a:rPr lang="en-GB" dirty="0"/>
              <a:t>span = 3 frames</a:t>
            </a:r>
          </a:p>
          <a:p>
            <a:r>
              <a:rPr lang="en-GB" dirty="0"/>
              <a:t>This is the well-known ordinary convolution.</a:t>
            </a:r>
          </a:p>
          <a:p>
            <a:endParaRPr lang="en-GB" dirty="0"/>
          </a:p>
        </p:txBody>
      </p:sp>
    </p:spTree>
    <p:extLst>
      <p:ext uri="{BB962C8B-B14F-4D97-AF65-F5344CB8AC3E}">
        <p14:creationId xmlns:p14="http://schemas.microsoft.com/office/powerpoint/2010/main" val="279875300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04A7E09-C9BD-08F7-DE33-296D7ADD9A9B}"/>
              </a:ext>
            </a:extLst>
          </p:cNvPr>
          <p:cNvSpPr>
            <a:spLocks noGrp="1"/>
          </p:cNvSpPr>
          <p:nvPr>
            <p:ph type="title"/>
          </p:nvPr>
        </p:nvSpPr>
        <p:spPr/>
        <p:txBody>
          <a:bodyPr/>
          <a:lstStyle/>
          <a:p>
            <a:r>
              <a:rPr lang="en-GB" dirty="0">
                <a:highlight>
                  <a:srgbClr val="FFFF00"/>
                </a:highlight>
              </a:rPr>
              <a:t>Dilation introduces gaps between kernel positions</a:t>
            </a:r>
          </a:p>
        </p:txBody>
      </p:sp>
      <p:sp>
        <p:nvSpPr>
          <p:cNvPr id="3" name="Segnaposto contenuto 2">
            <a:extLst>
              <a:ext uri="{FF2B5EF4-FFF2-40B4-BE49-F238E27FC236}">
                <a16:creationId xmlns:a16="http://schemas.microsoft.com/office/drawing/2014/main" id="{060060A4-16FE-2309-06A5-CC378FCCA677}"/>
              </a:ext>
            </a:extLst>
          </p:cNvPr>
          <p:cNvSpPr>
            <a:spLocks noGrp="1"/>
          </p:cNvSpPr>
          <p:nvPr>
            <p:ph sz="half" idx="1"/>
          </p:nvPr>
        </p:nvSpPr>
        <p:spPr>
          <a:xfrm>
            <a:off x="677334" y="2160588"/>
            <a:ext cx="6231466" cy="4430711"/>
          </a:xfrm>
        </p:spPr>
        <p:txBody>
          <a:bodyPr>
            <a:normAutofit fontScale="92500" lnSpcReduction="10000"/>
          </a:bodyPr>
          <a:lstStyle/>
          <a:p>
            <a:r>
              <a:rPr lang="en-GB" dirty="0"/>
              <a:t>Now keep:</a:t>
            </a:r>
          </a:p>
          <a:p>
            <a:r>
              <a:rPr lang="en-GB" dirty="0"/>
              <a:t>K = 3</a:t>
            </a:r>
          </a:p>
          <a:p>
            <a:r>
              <a:rPr lang="en-GB" dirty="0"/>
              <a:t>but use:</a:t>
            </a:r>
          </a:p>
          <a:p>
            <a:r>
              <a:rPr lang="en-GB" dirty="0"/>
              <a:t>dilation = 2</a:t>
            </a:r>
          </a:p>
          <a:p>
            <a:r>
              <a:rPr lang="en-GB" dirty="0"/>
              <a:t>The convolution uses:</a:t>
            </a:r>
          </a:p>
          <a:p>
            <a:r>
              <a:rPr lang="en-GB" dirty="0"/>
              <a:t>x[t−4], x[t−2], x[t]</a:t>
            </a:r>
          </a:p>
          <a:p>
            <a:r>
              <a:rPr lang="en-GB" dirty="0"/>
              <a:t>instead of three consecutive values.</a:t>
            </a:r>
          </a:p>
          <a:p>
            <a:r>
              <a:rPr lang="en-GB" dirty="0"/>
              <a:t>Conceptually:</a:t>
            </a:r>
          </a:p>
          <a:p>
            <a:r>
              <a:rPr lang="en-GB" dirty="0"/>
              <a:t>time →</a:t>
            </a:r>
          </a:p>
          <a:p>
            <a:r>
              <a:rPr lang="en-GB" dirty="0"/>
              <a:t>x[t−4] x[t−3] x[t−2] x[t−1] x[t]</a:t>
            </a:r>
          </a:p>
          <a:p>
            <a:r>
              <a:rPr lang="en-GB" dirty="0"/>
              <a:t>   ●                 ●                 ●</a:t>
            </a:r>
          </a:p>
          <a:p>
            <a:r>
              <a:rPr lang="en-GB" dirty="0"/>
              <a:t>   └────── dilated kernel ───────┘</a:t>
            </a:r>
          </a:p>
          <a:p>
            <a:endParaRPr lang="en-GB" dirty="0"/>
          </a:p>
        </p:txBody>
      </p:sp>
      <p:sp>
        <p:nvSpPr>
          <p:cNvPr id="4" name="Segnaposto contenuto 3">
            <a:extLst>
              <a:ext uri="{FF2B5EF4-FFF2-40B4-BE49-F238E27FC236}">
                <a16:creationId xmlns:a16="http://schemas.microsoft.com/office/drawing/2014/main" id="{1CDEBAA0-5D7C-A193-6F49-705D53A2DA1C}"/>
              </a:ext>
            </a:extLst>
          </p:cNvPr>
          <p:cNvSpPr>
            <a:spLocks noGrp="1"/>
          </p:cNvSpPr>
          <p:nvPr>
            <p:ph sz="half" idx="2"/>
          </p:nvPr>
        </p:nvSpPr>
        <p:spPr>
          <a:xfrm>
            <a:off x="7330632" y="1955800"/>
            <a:ext cx="4569267" cy="4635499"/>
          </a:xfrm>
        </p:spPr>
        <p:txBody>
          <a:bodyPr>
            <a:normAutofit fontScale="92500" lnSpcReduction="10000"/>
          </a:bodyPr>
          <a:lstStyle/>
          <a:p>
            <a:r>
              <a:rPr lang="en-GB" dirty="0"/>
              <a:t>The kernel still contains only 3 learned temporal positions</a:t>
            </a:r>
          </a:p>
          <a:p>
            <a:r>
              <a:rPr lang="en-GB" dirty="0"/>
              <a:t>but now spans 5 original time steps</a:t>
            </a:r>
          </a:p>
          <a:p>
            <a:endParaRPr lang="en-GB" b="1" dirty="0"/>
          </a:p>
          <a:p>
            <a:r>
              <a:rPr lang="en-GB" b="1" dirty="0"/>
              <a:t>Effect</a:t>
            </a:r>
          </a:p>
          <a:p>
            <a:r>
              <a:rPr lang="en-GB" dirty="0"/>
              <a:t>Dilation increases the temporal coverage without:</a:t>
            </a:r>
          </a:p>
          <a:p>
            <a:pPr lvl="1"/>
            <a:r>
              <a:rPr lang="en-GB" dirty="0"/>
              <a:t>increasing kernel size; </a:t>
            </a:r>
          </a:p>
          <a:p>
            <a:pPr lvl="1"/>
            <a:r>
              <a:rPr lang="en-GB" dirty="0"/>
              <a:t>introducing more filter coefficients.</a:t>
            </a:r>
          </a:p>
          <a:p>
            <a:endParaRPr lang="en-GB" dirty="0"/>
          </a:p>
        </p:txBody>
      </p:sp>
    </p:spTree>
    <p:extLst>
      <p:ext uri="{BB962C8B-B14F-4D97-AF65-F5344CB8AC3E}">
        <p14:creationId xmlns:p14="http://schemas.microsoft.com/office/powerpoint/2010/main" val="147857044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Standard versus dilated convolution</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b="1" dirty="0">
                <a:solidFill>
                  <a:srgbClr val="475569"/>
                </a:solidFill>
              </a:rPr>
              <a:t>Same kernel size, larger temporal span</a:t>
            </a:r>
            <a:endParaRPr lang="en-US" sz="1150" b="1" dirty="0"/>
          </a:p>
        </p:txBody>
      </p:sp>
      <p:sp>
        <p:nvSpPr>
          <p:cNvPr id="8" name="Text 6"/>
          <p:cNvSpPr/>
          <p:nvPr/>
        </p:nvSpPr>
        <p:spPr>
          <a:xfrm>
            <a:off x="777240" y="1591056"/>
            <a:ext cx="1371600" cy="201168"/>
          </a:xfrm>
          <a:prstGeom prst="rect">
            <a:avLst/>
          </a:prstGeom>
          <a:noFill/>
          <a:ln/>
        </p:spPr>
        <p:txBody>
          <a:bodyPr wrap="square" lIns="0" tIns="0" rIns="0" bIns="0" rtlCol="0" anchor="ctr"/>
          <a:lstStyle/>
          <a:p>
            <a:pPr marL="0" indent="0">
              <a:buNone/>
            </a:pPr>
            <a:r>
              <a:rPr lang="en-US" sz="1250" b="1" dirty="0">
                <a:solidFill>
                  <a:srgbClr val="111827"/>
                </a:solidFill>
              </a:rPr>
              <a:t>Dilation = 1</a:t>
            </a:r>
            <a:endParaRPr lang="en-US" sz="1250" dirty="0"/>
          </a:p>
        </p:txBody>
      </p:sp>
      <p:sp>
        <p:nvSpPr>
          <p:cNvPr id="9" name="Shape 7"/>
          <p:cNvSpPr/>
          <p:nvPr/>
        </p:nvSpPr>
        <p:spPr>
          <a:xfrm>
            <a:off x="960120" y="1920240"/>
            <a:ext cx="6035040" cy="0"/>
          </a:xfrm>
          <a:prstGeom prst="line">
            <a:avLst/>
          </a:prstGeom>
          <a:noFill/>
          <a:ln w="12700">
            <a:solidFill>
              <a:srgbClr val="94A3B8"/>
            </a:solidFill>
            <a:prstDash val="solid"/>
            <a:headEnd type="none"/>
            <a:tailEnd type="none"/>
          </a:ln>
        </p:spPr>
        <p:txBody>
          <a:bodyPr/>
          <a:lstStyle/>
          <a:p>
            <a:endParaRPr lang="en-GB"/>
          </a:p>
        </p:txBody>
      </p:sp>
      <p:sp>
        <p:nvSpPr>
          <p:cNvPr id="10" name="Shape 8"/>
          <p:cNvSpPr/>
          <p:nvPr/>
        </p:nvSpPr>
        <p:spPr>
          <a:xfrm>
            <a:off x="90982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11" name="Shape 9"/>
          <p:cNvSpPr/>
          <p:nvPr/>
        </p:nvSpPr>
        <p:spPr>
          <a:xfrm>
            <a:off x="141274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12" name="Shape 10"/>
          <p:cNvSpPr/>
          <p:nvPr/>
        </p:nvSpPr>
        <p:spPr>
          <a:xfrm>
            <a:off x="191566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13" name="Shape 11"/>
          <p:cNvSpPr/>
          <p:nvPr/>
        </p:nvSpPr>
        <p:spPr>
          <a:xfrm>
            <a:off x="241858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14" name="Shape 12"/>
          <p:cNvSpPr/>
          <p:nvPr/>
        </p:nvSpPr>
        <p:spPr>
          <a:xfrm>
            <a:off x="292150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15" name="Shape 13"/>
          <p:cNvSpPr/>
          <p:nvPr/>
        </p:nvSpPr>
        <p:spPr>
          <a:xfrm>
            <a:off x="342442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16" name="Shape 14"/>
          <p:cNvSpPr/>
          <p:nvPr/>
        </p:nvSpPr>
        <p:spPr>
          <a:xfrm>
            <a:off x="392734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17" name="Shape 15"/>
          <p:cNvSpPr/>
          <p:nvPr/>
        </p:nvSpPr>
        <p:spPr>
          <a:xfrm>
            <a:off x="443026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18" name="Shape 16"/>
          <p:cNvSpPr/>
          <p:nvPr/>
        </p:nvSpPr>
        <p:spPr>
          <a:xfrm>
            <a:off x="493318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19" name="Shape 17"/>
          <p:cNvSpPr/>
          <p:nvPr/>
        </p:nvSpPr>
        <p:spPr>
          <a:xfrm>
            <a:off x="543610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20" name="Shape 18"/>
          <p:cNvSpPr/>
          <p:nvPr/>
        </p:nvSpPr>
        <p:spPr>
          <a:xfrm>
            <a:off x="593902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21" name="Shape 19"/>
          <p:cNvSpPr/>
          <p:nvPr/>
        </p:nvSpPr>
        <p:spPr>
          <a:xfrm>
            <a:off x="644194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22" name="Shape 20"/>
          <p:cNvSpPr/>
          <p:nvPr/>
        </p:nvSpPr>
        <p:spPr>
          <a:xfrm>
            <a:off x="6944868" y="1869948"/>
            <a:ext cx="100584" cy="100584"/>
          </a:xfrm>
          <a:prstGeom prst="ellipse">
            <a:avLst/>
          </a:prstGeom>
          <a:solidFill>
            <a:srgbClr val="FFFFFF"/>
          </a:solidFill>
          <a:ln w="8890">
            <a:solidFill>
              <a:srgbClr val="94A3B8"/>
            </a:solidFill>
            <a:prstDash val="solid"/>
          </a:ln>
        </p:spPr>
        <p:txBody>
          <a:bodyPr/>
          <a:lstStyle/>
          <a:p>
            <a:endParaRPr lang="en-GB"/>
          </a:p>
        </p:txBody>
      </p:sp>
      <p:sp>
        <p:nvSpPr>
          <p:cNvPr id="23" name="Shape 21"/>
          <p:cNvSpPr/>
          <p:nvPr/>
        </p:nvSpPr>
        <p:spPr>
          <a:xfrm>
            <a:off x="5939028" y="1869948"/>
            <a:ext cx="100584" cy="100584"/>
          </a:xfrm>
          <a:prstGeom prst="ellipse">
            <a:avLst/>
          </a:prstGeom>
          <a:solidFill>
            <a:srgbClr val="F1B400"/>
          </a:solidFill>
          <a:ln w="15240">
            <a:solidFill>
              <a:srgbClr val="F1B400"/>
            </a:solidFill>
            <a:prstDash val="solid"/>
          </a:ln>
        </p:spPr>
        <p:txBody>
          <a:bodyPr/>
          <a:lstStyle/>
          <a:p>
            <a:endParaRPr lang="en-GB"/>
          </a:p>
        </p:txBody>
      </p:sp>
      <p:sp>
        <p:nvSpPr>
          <p:cNvPr id="24" name="Shape 22"/>
          <p:cNvSpPr/>
          <p:nvPr/>
        </p:nvSpPr>
        <p:spPr>
          <a:xfrm>
            <a:off x="6441948" y="1869948"/>
            <a:ext cx="100584" cy="100584"/>
          </a:xfrm>
          <a:prstGeom prst="ellipse">
            <a:avLst/>
          </a:prstGeom>
          <a:solidFill>
            <a:srgbClr val="2B73FF"/>
          </a:solidFill>
          <a:ln w="15240">
            <a:solidFill>
              <a:srgbClr val="2B73FF"/>
            </a:solidFill>
            <a:prstDash val="solid"/>
          </a:ln>
        </p:spPr>
        <p:txBody>
          <a:bodyPr/>
          <a:lstStyle/>
          <a:p>
            <a:endParaRPr lang="en-GB"/>
          </a:p>
        </p:txBody>
      </p:sp>
      <p:sp>
        <p:nvSpPr>
          <p:cNvPr id="25" name="Shape 23"/>
          <p:cNvSpPr/>
          <p:nvPr/>
        </p:nvSpPr>
        <p:spPr>
          <a:xfrm>
            <a:off x="6944868" y="1869948"/>
            <a:ext cx="100584" cy="100584"/>
          </a:xfrm>
          <a:prstGeom prst="ellipse">
            <a:avLst/>
          </a:prstGeom>
          <a:solidFill>
            <a:srgbClr val="86B817"/>
          </a:solidFill>
          <a:ln w="15240">
            <a:solidFill>
              <a:srgbClr val="86B817"/>
            </a:solidFill>
            <a:prstDash val="solid"/>
          </a:ln>
        </p:spPr>
        <p:txBody>
          <a:bodyPr/>
          <a:lstStyle/>
          <a:p>
            <a:endParaRPr lang="en-GB"/>
          </a:p>
        </p:txBody>
      </p:sp>
      <p:sp>
        <p:nvSpPr>
          <p:cNvPr id="26" name="Shape 24"/>
          <p:cNvSpPr/>
          <p:nvPr/>
        </p:nvSpPr>
        <p:spPr>
          <a:xfrm>
            <a:off x="5989320" y="1691640"/>
            <a:ext cx="1005840" cy="0"/>
          </a:xfrm>
          <a:prstGeom prst="line">
            <a:avLst/>
          </a:prstGeom>
          <a:noFill/>
          <a:ln w="25400">
            <a:solidFill>
              <a:srgbClr val="86B817"/>
            </a:solidFill>
            <a:prstDash val="solid"/>
            <a:headEnd type="none"/>
            <a:tailEnd type="triangle"/>
          </a:ln>
        </p:spPr>
        <p:txBody>
          <a:bodyPr/>
          <a:lstStyle/>
          <a:p>
            <a:endParaRPr lang="en-GB"/>
          </a:p>
        </p:txBody>
      </p:sp>
      <p:sp>
        <p:nvSpPr>
          <p:cNvPr id="27" name="Text 25"/>
          <p:cNvSpPr/>
          <p:nvPr/>
        </p:nvSpPr>
        <p:spPr>
          <a:xfrm>
            <a:off x="7360920" y="1755648"/>
            <a:ext cx="2011680" cy="320040"/>
          </a:xfrm>
          <a:prstGeom prst="rect">
            <a:avLst/>
          </a:prstGeom>
          <a:noFill/>
          <a:ln/>
        </p:spPr>
        <p:txBody>
          <a:bodyPr wrap="square" lIns="0" tIns="0" rIns="0" bIns="0" rtlCol="0" anchor="ctr"/>
          <a:lstStyle/>
          <a:p>
            <a:pPr marL="0" indent="0">
              <a:buNone/>
            </a:pPr>
            <a:r>
              <a:rPr lang="en-US" sz="1150" dirty="0">
                <a:solidFill>
                  <a:srgbClr val="475569"/>
                </a:solidFill>
              </a:rPr>
              <a:t>uses x[t-2], x[t-1], x[t]</a:t>
            </a:r>
            <a:endParaRPr lang="en-US" sz="1150" dirty="0"/>
          </a:p>
        </p:txBody>
      </p:sp>
      <p:sp>
        <p:nvSpPr>
          <p:cNvPr id="28" name="Text 26"/>
          <p:cNvSpPr/>
          <p:nvPr/>
        </p:nvSpPr>
        <p:spPr>
          <a:xfrm>
            <a:off x="777240" y="2642616"/>
            <a:ext cx="1371600" cy="201168"/>
          </a:xfrm>
          <a:prstGeom prst="rect">
            <a:avLst/>
          </a:prstGeom>
          <a:noFill/>
          <a:ln/>
        </p:spPr>
        <p:txBody>
          <a:bodyPr wrap="square" lIns="0" tIns="0" rIns="0" bIns="0" rtlCol="0" anchor="ctr"/>
          <a:lstStyle/>
          <a:p>
            <a:pPr marL="0" indent="0">
              <a:buNone/>
            </a:pPr>
            <a:r>
              <a:rPr lang="en-US" sz="1250" b="1" dirty="0">
                <a:solidFill>
                  <a:srgbClr val="111827"/>
                </a:solidFill>
              </a:rPr>
              <a:t>Dilation = 2</a:t>
            </a:r>
            <a:endParaRPr lang="en-US" sz="1250" dirty="0"/>
          </a:p>
        </p:txBody>
      </p:sp>
      <p:sp>
        <p:nvSpPr>
          <p:cNvPr id="29" name="Shape 27"/>
          <p:cNvSpPr/>
          <p:nvPr/>
        </p:nvSpPr>
        <p:spPr>
          <a:xfrm>
            <a:off x="960120" y="2971800"/>
            <a:ext cx="6035040" cy="0"/>
          </a:xfrm>
          <a:prstGeom prst="line">
            <a:avLst/>
          </a:prstGeom>
          <a:noFill/>
          <a:ln w="12700">
            <a:solidFill>
              <a:srgbClr val="94A3B8"/>
            </a:solidFill>
            <a:prstDash val="solid"/>
            <a:headEnd type="none"/>
            <a:tailEnd type="none"/>
          </a:ln>
        </p:spPr>
        <p:txBody>
          <a:bodyPr/>
          <a:lstStyle/>
          <a:p>
            <a:endParaRPr lang="en-GB"/>
          </a:p>
        </p:txBody>
      </p:sp>
      <p:sp>
        <p:nvSpPr>
          <p:cNvPr id="30" name="Shape 28"/>
          <p:cNvSpPr/>
          <p:nvPr/>
        </p:nvSpPr>
        <p:spPr>
          <a:xfrm>
            <a:off x="90982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31" name="Shape 29"/>
          <p:cNvSpPr/>
          <p:nvPr/>
        </p:nvSpPr>
        <p:spPr>
          <a:xfrm>
            <a:off x="141274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32" name="Shape 30"/>
          <p:cNvSpPr/>
          <p:nvPr/>
        </p:nvSpPr>
        <p:spPr>
          <a:xfrm>
            <a:off x="191566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33" name="Shape 31"/>
          <p:cNvSpPr/>
          <p:nvPr/>
        </p:nvSpPr>
        <p:spPr>
          <a:xfrm>
            <a:off x="241858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34" name="Shape 32"/>
          <p:cNvSpPr/>
          <p:nvPr/>
        </p:nvSpPr>
        <p:spPr>
          <a:xfrm>
            <a:off x="292150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35" name="Shape 33"/>
          <p:cNvSpPr/>
          <p:nvPr/>
        </p:nvSpPr>
        <p:spPr>
          <a:xfrm>
            <a:off x="342442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36" name="Shape 34"/>
          <p:cNvSpPr/>
          <p:nvPr/>
        </p:nvSpPr>
        <p:spPr>
          <a:xfrm>
            <a:off x="392734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37" name="Shape 35"/>
          <p:cNvSpPr/>
          <p:nvPr/>
        </p:nvSpPr>
        <p:spPr>
          <a:xfrm>
            <a:off x="443026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38" name="Shape 36"/>
          <p:cNvSpPr/>
          <p:nvPr/>
        </p:nvSpPr>
        <p:spPr>
          <a:xfrm>
            <a:off x="493318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39" name="Shape 37"/>
          <p:cNvSpPr/>
          <p:nvPr/>
        </p:nvSpPr>
        <p:spPr>
          <a:xfrm>
            <a:off x="543610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40" name="Shape 38"/>
          <p:cNvSpPr/>
          <p:nvPr/>
        </p:nvSpPr>
        <p:spPr>
          <a:xfrm>
            <a:off x="593902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41" name="Shape 39"/>
          <p:cNvSpPr/>
          <p:nvPr/>
        </p:nvSpPr>
        <p:spPr>
          <a:xfrm>
            <a:off x="644194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42" name="Shape 40"/>
          <p:cNvSpPr/>
          <p:nvPr/>
        </p:nvSpPr>
        <p:spPr>
          <a:xfrm>
            <a:off x="6944868" y="2921508"/>
            <a:ext cx="100584" cy="100584"/>
          </a:xfrm>
          <a:prstGeom prst="ellipse">
            <a:avLst/>
          </a:prstGeom>
          <a:solidFill>
            <a:srgbClr val="FFFFFF"/>
          </a:solidFill>
          <a:ln w="8890">
            <a:solidFill>
              <a:srgbClr val="94A3B8"/>
            </a:solidFill>
            <a:prstDash val="solid"/>
          </a:ln>
        </p:spPr>
        <p:txBody>
          <a:bodyPr/>
          <a:lstStyle/>
          <a:p>
            <a:endParaRPr lang="en-GB"/>
          </a:p>
        </p:txBody>
      </p:sp>
      <p:sp>
        <p:nvSpPr>
          <p:cNvPr id="43" name="Shape 41"/>
          <p:cNvSpPr/>
          <p:nvPr/>
        </p:nvSpPr>
        <p:spPr>
          <a:xfrm>
            <a:off x="4933188" y="2921508"/>
            <a:ext cx="100584" cy="100584"/>
          </a:xfrm>
          <a:prstGeom prst="ellipse">
            <a:avLst/>
          </a:prstGeom>
          <a:solidFill>
            <a:srgbClr val="F1B400"/>
          </a:solidFill>
          <a:ln w="15240">
            <a:solidFill>
              <a:srgbClr val="F1B400"/>
            </a:solidFill>
            <a:prstDash val="solid"/>
          </a:ln>
        </p:spPr>
        <p:txBody>
          <a:bodyPr/>
          <a:lstStyle/>
          <a:p>
            <a:endParaRPr lang="en-GB"/>
          </a:p>
        </p:txBody>
      </p:sp>
      <p:sp>
        <p:nvSpPr>
          <p:cNvPr id="44" name="Shape 42"/>
          <p:cNvSpPr/>
          <p:nvPr/>
        </p:nvSpPr>
        <p:spPr>
          <a:xfrm>
            <a:off x="5939028" y="2921508"/>
            <a:ext cx="100584" cy="100584"/>
          </a:xfrm>
          <a:prstGeom prst="ellipse">
            <a:avLst/>
          </a:prstGeom>
          <a:solidFill>
            <a:srgbClr val="2B73FF"/>
          </a:solidFill>
          <a:ln w="15240">
            <a:solidFill>
              <a:srgbClr val="2B73FF"/>
            </a:solidFill>
            <a:prstDash val="solid"/>
          </a:ln>
        </p:spPr>
        <p:txBody>
          <a:bodyPr/>
          <a:lstStyle/>
          <a:p>
            <a:endParaRPr lang="en-GB"/>
          </a:p>
        </p:txBody>
      </p:sp>
      <p:sp>
        <p:nvSpPr>
          <p:cNvPr id="45" name="Shape 43"/>
          <p:cNvSpPr/>
          <p:nvPr/>
        </p:nvSpPr>
        <p:spPr>
          <a:xfrm>
            <a:off x="6944868" y="2921508"/>
            <a:ext cx="100584" cy="100584"/>
          </a:xfrm>
          <a:prstGeom prst="ellipse">
            <a:avLst/>
          </a:prstGeom>
          <a:solidFill>
            <a:srgbClr val="86B817"/>
          </a:solidFill>
          <a:ln w="15240">
            <a:solidFill>
              <a:srgbClr val="86B817"/>
            </a:solidFill>
            <a:prstDash val="solid"/>
          </a:ln>
        </p:spPr>
        <p:txBody>
          <a:bodyPr/>
          <a:lstStyle/>
          <a:p>
            <a:endParaRPr lang="en-GB"/>
          </a:p>
        </p:txBody>
      </p:sp>
      <p:sp>
        <p:nvSpPr>
          <p:cNvPr id="46" name="Shape 44"/>
          <p:cNvSpPr/>
          <p:nvPr/>
        </p:nvSpPr>
        <p:spPr>
          <a:xfrm>
            <a:off x="4983480" y="2743200"/>
            <a:ext cx="2011680" cy="0"/>
          </a:xfrm>
          <a:prstGeom prst="line">
            <a:avLst/>
          </a:prstGeom>
          <a:noFill/>
          <a:ln w="25400">
            <a:solidFill>
              <a:srgbClr val="86B817"/>
            </a:solidFill>
            <a:prstDash val="solid"/>
            <a:headEnd type="none"/>
            <a:tailEnd type="triangle"/>
          </a:ln>
        </p:spPr>
        <p:txBody>
          <a:bodyPr/>
          <a:lstStyle/>
          <a:p>
            <a:endParaRPr lang="en-GB"/>
          </a:p>
        </p:txBody>
      </p:sp>
      <p:sp>
        <p:nvSpPr>
          <p:cNvPr id="47" name="Text 45"/>
          <p:cNvSpPr/>
          <p:nvPr/>
        </p:nvSpPr>
        <p:spPr>
          <a:xfrm>
            <a:off x="7360920" y="2807208"/>
            <a:ext cx="2011680" cy="320040"/>
          </a:xfrm>
          <a:prstGeom prst="rect">
            <a:avLst/>
          </a:prstGeom>
          <a:noFill/>
          <a:ln/>
        </p:spPr>
        <p:txBody>
          <a:bodyPr wrap="square" lIns="0" tIns="0" rIns="0" bIns="0" rtlCol="0" anchor="ctr"/>
          <a:lstStyle/>
          <a:p>
            <a:pPr marL="0" indent="0">
              <a:buNone/>
            </a:pPr>
            <a:r>
              <a:rPr lang="en-US" sz="1150" dirty="0">
                <a:solidFill>
                  <a:srgbClr val="475569"/>
                </a:solidFill>
              </a:rPr>
              <a:t>uses x[t-4], x[t-2], x[t]</a:t>
            </a:r>
            <a:endParaRPr lang="en-US" sz="1150" dirty="0"/>
          </a:p>
        </p:txBody>
      </p:sp>
      <p:sp>
        <p:nvSpPr>
          <p:cNvPr id="48" name="Text 46"/>
          <p:cNvSpPr/>
          <p:nvPr/>
        </p:nvSpPr>
        <p:spPr>
          <a:xfrm>
            <a:off x="777240" y="3694176"/>
            <a:ext cx="1371600" cy="201168"/>
          </a:xfrm>
          <a:prstGeom prst="rect">
            <a:avLst/>
          </a:prstGeom>
          <a:noFill/>
          <a:ln/>
        </p:spPr>
        <p:txBody>
          <a:bodyPr wrap="square" lIns="0" tIns="0" rIns="0" bIns="0" rtlCol="0" anchor="ctr"/>
          <a:lstStyle/>
          <a:p>
            <a:pPr marL="0" indent="0">
              <a:buNone/>
            </a:pPr>
            <a:r>
              <a:rPr lang="en-US" sz="1250" b="1" dirty="0">
                <a:solidFill>
                  <a:srgbClr val="111827"/>
                </a:solidFill>
              </a:rPr>
              <a:t>Dilation = 4</a:t>
            </a:r>
            <a:endParaRPr lang="en-US" sz="1250" dirty="0"/>
          </a:p>
        </p:txBody>
      </p:sp>
      <p:sp>
        <p:nvSpPr>
          <p:cNvPr id="49" name="Shape 47"/>
          <p:cNvSpPr/>
          <p:nvPr/>
        </p:nvSpPr>
        <p:spPr>
          <a:xfrm>
            <a:off x="960120" y="4023360"/>
            <a:ext cx="6035040" cy="0"/>
          </a:xfrm>
          <a:prstGeom prst="line">
            <a:avLst/>
          </a:prstGeom>
          <a:noFill/>
          <a:ln w="12700">
            <a:solidFill>
              <a:srgbClr val="94A3B8"/>
            </a:solidFill>
            <a:prstDash val="solid"/>
            <a:headEnd type="none"/>
            <a:tailEnd type="none"/>
          </a:ln>
        </p:spPr>
        <p:txBody>
          <a:bodyPr/>
          <a:lstStyle/>
          <a:p>
            <a:endParaRPr lang="en-GB"/>
          </a:p>
        </p:txBody>
      </p:sp>
      <p:sp>
        <p:nvSpPr>
          <p:cNvPr id="50" name="Shape 48"/>
          <p:cNvSpPr/>
          <p:nvPr/>
        </p:nvSpPr>
        <p:spPr>
          <a:xfrm>
            <a:off x="90982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51" name="Shape 49"/>
          <p:cNvSpPr/>
          <p:nvPr/>
        </p:nvSpPr>
        <p:spPr>
          <a:xfrm>
            <a:off x="141274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52" name="Shape 50"/>
          <p:cNvSpPr/>
          <p:nvPr/>
        </p:nvSpPr>
        <p:spPr>
          <a:xfrm>
            <a:off x="191566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53" name="Shape 51"/>
          <p:cNvSpPr/>
          <p:nvPr/>
        </p:nvSpPr>
        <p:spPr>
          <a:xfrm>
            <a:off x="241858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54" name="Shape 52"/>
          <p:cNvSpPr/>
          <p:nvPr/>
        </p:nvSpPr>
        <p:spPr>
          <a:xfrm>
            <a:off x="292150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55" name="Shape 53"/>
          <p:cNvSpPr/>
          <p:nvPr/>
        </p:nvSpPr>
        <p:spPr>
          <a:xfrm>
            <a:off x="342442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56" name="Shape 54"/>
          <p:cNvSpPr/>
          <p:nvPr/>
        </p:nvSpPr>
        <p:spPr>
          <a:xfrm>
            <a:off x="392734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57" name="Shape 55"/>
          <p:cNvSpPr/>
          <p:nvPr/>
        </p:nvSpPr>
        <p:spPr>
          <a:xfrm>
            <a:off x="443026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58" name="Shape 56"/>
          <p:cNvSpPr/>
          <p:nvPr/>
        </p:nvSpPr>
        <p:spPr>
          <a:xfrm>
            <a:off x="493318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59" name="Shape 57"/>
          <p:cNvSpPr/>
          <p:nvPr/>
        </p:nvSpPr>
        <p:spPr>
          <a:xfrm>
            <a:off x="543610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60" name="Shape 58"/>
          <p:cNvSpPr/>
          <p:nvPr/>
        </p:nvSpPr>
        <p:spPr>
          <a:xfrm>
            <a:off x="593902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61" name="Shape 59"/>
          <p:cNvSpPr/>
          <p:nvPr/>
        </p:nvSpPr>
        <p:spPr>
          <a:xfrm>
            <a:off x="644194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62" name="Shape 60"/>
          <p:cNvSpPr/>
          <p:nvPr/>
        </p:nvSpPr>
        <p:spPr>
          <a:xfrm>
            <a:off x="6944868" y="3973068"/>
            <a:ext cx="100584" cy="100584"/>
          </a:xfrm>
          <a:prstGeom prst="ellipse">
            <a:avLst/>
          </a:prstGeom>
          <a:solidFill>
            <a:srgbClr val="FFFFFF"/>
          </a:solidFill>
          <a:ln w="8890">
            <a:solidFill>
              <a:srgbClr val="94A3B8"/>
            </a:solidFill>
            <a:prstDash val="solid"/>
          </a:ln>
        </p:spPr>
        <p:txBody>
          <a:bodyPr/>
          <a:lstStyle/>
          <a:p>
            <a:endParaRPr lang="en-GB"/>
          </a:p>
        </p:txBody>
      </p:sp>
      <p:sp>
        <p:nvSpPr>
          <p:cNvPr id="63" name="Shape 61"/>
          <p:cNvSpPr/>
          <p:nvPr/>
        </p:nvSpPr>
        <p:spPr>
          <a:xfrm>
            <a:off x="2921508" y="3973068"/>
            <a:ext cx="100584" cy="100584"/>
          </a:xfrm>
          <a:prstGeom prst="ellipse">
            <a:avLst/>
          </a:prstGeom>
          <a:solidFill>
            <a:srgbClr val="F1B400"/>
          </a:solidFill>
          <a:ln w="15240">
            <a:solidFill>
              <a:srgbClr val="F1B400"/>
            </a:solidFill>
            <a:prstDash val="solid"/>
          </a:ln>
        </p:spPr>
        <p:txBody>
          <a:bodyPr/>
          <a:lstStyle/>
          <a:p>
            <a:endParaRPr lang="en-GB"/>
          </a:p>
        </p:txBody>
      </p:sp>
      <p:sp>
        <p:nvSpPr>
          <p:cNvPr id="64" name="Shape 62"/>
          <p:cNvSpPr/>
          <p:nvPr/>
        </p:nvSpPr>
        <p:spPr>
          <a:xfrm>
            <a:off x="4933188" y="3973068"/>
            <a:ext cx="100584" cy="100584"/>
          </a:xfrm>
          <a:prstGeom prst="ellipse">
            <a:avLst/>
          </a:prstGeom>
          <a:solidFill>
            <a:srgbClr val="2B73FF"/>
          </a:solidFill>
          <a:ln w="15240">
            <a:solidFill>
              <a:srgbClr val="2B73FF"/>
            </a:solidFill>
            <a:prstDash val="solid"/>
          </a:ln>
        </p:spPr>
        <p:txBody>
          <a:bodyPr/>
          <a:lstStyle/>
          <a:p>
            <a:endParaRPr lang="en-GB"/>
          </a:p>
        </p:txBody>
      </p:sp>
      <p:sp>
        <p:nvSpPr>
          <p:cNvPr id="65" name="Shape 63"/>
          <p:cNvSpPr/>
          <p:nvPr/>
        </p:nvSpPr>
        <p:spPr>
          <a:xfrm>
            <a:off x="6944868" y="3973068"/>
            <a:ext cx="100584" cy="100584"/>
          </a:xfrm>
          <a:prstGeom prst="ellipse">
            <a:avLst/>
          </a:prstGeom>
          <a:solidFill>
            <a:srgbClr val="86B817"/>
          </a:solidFill>
          <a:ln w="15240">
            <a:solidFill>
              <a:srgbClr val="86B817"/>
            </a:solidFill>
            <a:prstDash val="solid"/>
          </a:ln>
        </p:spPr>
        <p:txBody>
          <a:bodyPr/>
          <a:lstStyle/>
          <a:p>
            <a:endParaRPr lang="en-GB"/>
          </a:p>
        </p:txBody>
      </p:sp>
      <p:sp>
        <p:nvSpPr>
          <p:cNvPr id="66" name="Shape 64"/>
          <p:cNvSpPr/>
          <p:nvPr/>
        </p:nvSpPr>
        <p:spPr>
          <a:xfrm>
            <a:off x="2971800" y="3794760"/>
            <a:ext cx="4023360" cy="0"/>
          </a:xfrm>
          <a:prstGeom prst="line">
            <a:avLst/>
          </a:prstGeom>
          <a:noFill/>
          <a:ln w="25400">
            <a:solidFill>
              <a:srgbClr val="86B817"/>
            </a:solidFill>
            <a:prstDash val="solid"/>
            <a:headEnd type="none"/>
            <a:tailEnd type="triangle"/>
          </a:ln>
        </p:spPr>
        <p:txBody>
          <a:bodyPr/>
          <a:lstStyle/>
          <a:p>
            <a:endParaRPr lang="en-GB"/>
          </a:p>
        </p:txBody>
      </p:sp>
      <p:sp>
        <p:nvSpPr>
          <p:cNvPr id="67" name="Text 65"/>
          <p:cNvSpPr/>
          <p:nvPr/>
        </p:nvSpPr>
        <p:spPr>
          <a:xfrm>
            <a:off x="7360920" y="3858768"/>
            <a:ext cx="2011680" cy="320040"/>
          </a:xfrm>
          <a:prstGeom prst="rect">
            <a:avLst/>
          </a:prstGeom>
          <a:noFill/>
          <a:ln/>
        </p:spPr>
        <p:txBody>
          <a:bodyPr wrap="square" lIns="0" tIns="0" rIns="0" bIns="0" rtlCol="0" anchor="ctr"/>
          <a:lstStyle/>
          <a:p>
            <a:pPr marL="0" indent="0">
              <a:buNone/>
            </a:pPr>
            <a:r>
              <a:rPr lang="en-US" sz="1150" dirty="0">
                <a:solidFill>
                  <a:srgbClr val="475569"/>
                </a:solidFill>
              </a:rPr>
              <a:t>uses x[t-8], x[t-4], x[t]</a:t>
            </a:r>
            <a:endParaRPr lang="en-US" sz="1150" dirty="0"/>
          </a:p>
        </p:txBody>
      </p:sp>
      <p:sp>
        <p:nvSpPr>
          <p:cNvPr id="68" name="Text 66"/>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b="1" i="1" dirty="0">
                <a:solidFill>
                  <a:srgbClr val="475569"/>
                </a:solidFill>
              </a:rPr>
              <a:t>Dilation spaces the kernel positions apart while keeping the same number of learned weights.</a:t>
            </a:r>
            <a:endParaRPr lang="en-US" sz="1150" b="1"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61A81B4-5311-D001-599F-86E3D77B315D}"/>
              </a:ext>
            </a:extLst>
          </p:cNvPr>
          <p:cNvSpPr>
            <a:spLocks noGrp="1"/>
          </p:cNvSpPr>
          <p:nvPr>
            <p:ph type="title"/>
          </p:nvPr>
        </p:nvSpPr>
        <p:spPr/>
        <p:txBody>
          <a:bodyPr/>
          <a:lstStyle/>
          <a:p>
            <a:r>
              <a:rPr lang="en-GB" dirty="0"/>
              <a:t>Larger dilation gives larger temporal span</a:t>
            </a:r>
          </a:p>
        </p:txBody>
      </p:sp>
      <p:sp>
        <p:nvSpPr>
          <p:cNvPr id="3" name="Segnaposto contenuto 2">
            <a:extLst>
              <a:ext uri="{FF2B5EF4-FFF2-40B4-BE49-F238E27FC236}">
                <a16:creationId xmlns:a16="http://schemas.microsoft.com/office/drawing/2014/main" id="{ED7A2628-CB37-F40F-2BCD-8C9AD5285ECF}"/>
              </a:ext>
            </a:extLst>
          </p:cNvPr>
          <p:cNvSpPr>
            <a:spLocks noGrp="1"/>
          </p:cNvSpPr>
          <p:nvPr>
            <p:ph sz="half" idx="1"/>
          </p:nvPr>
        </p:nvSpPr>
        <p:spPr>
          <a:xfrm>
            <a:off x="677334" y="2160588"/>
            <a:ext cx="4847166" cy="4291011"/>
          </a:xfrm>
        </p:spPr>
        <p:txBody>
          <a:bodyPr>
            <a:normAutofit fontScale="92500" lnSpcReduction="20000"/>
          </a:bodyPr>
          <a:lstStyle/>
          <a:p>
            <a:r>
              <a:rPr lang="en-GB" dirty="0"/>
              <a:t>For:</a:t>
            </a:r>
          </a:p>
          <a:p>
            <a:r>
              <a:rPr lang="en-GB" dirty="0"/>
              <a:t>K = 3</a:t>
            </a:r>
          </a:p>
          <a:p>
            <a:r>
              <a:rPr lang="en-GB" b="1" dirty="0"/>
              <a:t>Dilation 1</a:t>
            </a:r>
          </a:p>
          <a:p>
            <a:r>
              <a:rPr lang="en-GB" dirty="0"/>
              <a:t>Uses:</a:t>
            </a:r>
          </a:p>
          <a:p>
            <a:pPr lvl="1"/>
            <a:r>
              <a:rPr lang="en-GB" dirty="0"/>
              <a:t>x[t−2], x[t−1], x[t]</a:t>
            </a:r>
          </a:p>
          <a:p>
            <a:r>
              <a:rPr lang="en-GB" dirty="0"/>
              <a:t>Temporal span: 3</a:t>
            </a:r>
          </a:p>
          <a:p>
            <a:endParaRPr lang="en-GB" b="1" dirty="0"/>
          </a:p>
          <a:p>
            <a:r>
              <a:rPr lang="en-GB" b="1" dirty="0"/>
              <a:t>Dilation 2</a:t>
            </a:r>
          </a:p>
          <a:p>
            <a:r>
              <a:rPr lang="en-GB" dirty="0"/>
              <a:t>Uses:</a:t>
            </a:r>
          </a:p>
          <a:p>
            <a:pPr lvl="1"/>
            <a:r>
              <a:rPr lang="en-GB" dirty="0"/>
              <a:t>x[t−4], x[t−2], x[t]</a:t>
            </a:r>
          </a:p>
          <a:p>
            <a:r>
              <a:rPr lang="en-GB" dirty="0"/>
              <a:t>Temporal span: 5</a:t>
            </a:r>
          </a:p>
          <a:p>
            <a:endParaRPr lang="en-GB" dirty="0"/>
          </a:p>
        </p:txBody>
      </p:sp>
      <p:sp>
        <p:nvSpPr>
          <p:cNvPr id="4" name="Segnaposto contenuto 3">
            <a:extLst>
              <a:ext uri="{FF2B5EF4-FFF2-40B4-BE49-F238E27FC236}">
                <a16:creationId xmlns:a16="http://schemas.microsoft.com/office/drawing/2014/main" id="{9EDA3DA0-7B36-C2E5-B9B7-49B216F81205}"/>
              </a:ext>
            </a:extLst>
          </p:cNvPr>
          <p:cNvSpPr>
            <a:spLocks noGrp="1"/>
          </p:cNvSpPr>
          <p:nvPr>
            <p:ph sz="half" idx="2"/>
          </p:nvPr>
        </p:nvSpPr>
        <p:spPr>
          <a:xfrm>
            <a:off x="5943600" y="2160589"/>
            <a:ext cx="5854700" cy="4456111"/>
          </a:xfrm>
        </p:spPr>
        <p:txBody>
          <a:bodyPr>
            <a:normAutofit fontScale="92500" lnSpcReduction="20000"/>
          </a:bodyPr>
          <a:lstStyle/>
          <a:p>
            <a:r>
              <a:rPr lang="en-GB" b="1" dirty="0"/>
              <a:t>Dilation 4</a:t>
            </a:r>
          </a:p>
          <a:p>
            <a:r>
              <a:rPr lang="en-GB" dirty="0"/>
              <a:t>Uses:</a:t>
            </a:r>
          </a:p>
          <a:p>
            <a:pPr lvl="1"/>
            <a:r>
              <a:rPr lang="en-GB" dirty="0"/>
              <a:t>x[t−8], x[t−4], x[t]</a:t>
            </a:r>
          </a:p>
          <a:p>
            <a:r>
              <a:rPr lang="en-GB" dirty="0"/>
              <a:t>Temporal span: 9</a:t>
            </a:r>
          </a:p>
          <a:p>
            <a:endParaRPr lang="en-GB" b="1" dirty="0"/>
          </a:p>
          <a:p>
            <a:r>
              <a:rPr lang="en-GB" b="1" dirty="0"/>
              <a:t>Dilation 8</a:t>
            </a:r>
          </a:p>
          <a:p>
            <a:r>
              <a:rPr lang="en-GB" dirty="0"/>
              <a:t>Uses:</a:t>
            </a:r>
          </a:p>
          <a:p>
            <a:pPr lvl="1"/>
            <a:r>
              <a:rPr lang="en-GB" dirty="0"/>
              <a:t>x[t−16], x[t−8], x[t]</a:t>
            </a:r>
          </a:p>
          <a:p>
            <a:r>
              <a:rPr lang="en-GB" dirty="0"/>
              <a:t>Temporal span: 17</a:t>
            </a:r>
          </a:p>
          <a:p>
            <a:pPr marL="0" indent="0">
              <a:buNone/>
            </a:pPr>
            <a:endParaRPr lang="en-GB" b="1" dirty="0"/>
          </a:p>
          <a:p>
            <a:r>
              <a:rPr lang="en-GB" b="1" dirty="0"/>
              <a:t>The sampled positions become increasingly separated.</a:t>
            </a:r>
          </a:p>
          <a:p>
            <a:r>
              <a:rPr lang="en-GB" b="1" dirty="0"/>
              <a:t>The number of learned weights does not change.</a:t>
            </a:r>
          </a:p>
          <a:p>
            <a:endParaRPr lang="en-GB" dirty="0"/>
          </a:p>
        </p:txBody>
      </p:sp>
    </p:spTree>
    <p:extLst>
      <p:ext uri="{BB962C8B-B14F-4D97-AF65-F5344CB8AC3E}">
        <p14:creationId xmlns:p14="http://schemas.microsoft.com/office/powerpoint/2010/main" val="889180471"/>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BD8E78-A4B5-6AEC-851C-B07B23502552}"/>
              </a:ext>
            </a:extLst>
          </p:cNvPr>
          <p:cNvSpPr>
            <a:spLocks noGrp="1"/>
          </p:cNvSpPr>
          <p:nvPr>
            <p:ph type="title"/>
          </p:nvPr>
        </p:nvSpPr>
        <p:spPr/>
        <p:txBody>
          <a:bodyPr/>
          <a:lstStyle/>
          <a:p>
            <a:r>
              <a:rPr lang="en-GB" dirty="0">
                <a:highlight>
                  <a:srgbClr val="FFFF00"/>
                </a:highlight>
              </a:rPr>
              <a:t>Effective kernel span</a:t>
            </a:r>
          </a:p>
        </p:txBody>
      </p:sp>
      <p:sp>
        <p:nvSpPr>
          <p:cNvPr id="3" name="Segnaposto contenuto 2">
            <a:extLst>
              <a:ext uri="{FF2B5EF4-FFF2-40B4-BE49-F238E27FC236}">
                <a16:creationId xmlns:a16="http://schemas.microsoft.com/office/drawing/2014/main" id="{9A2C8876-66B7-9C53-21D9-7B41EBD7560A}"/>
              </a:ext>
            </a:extLst>
          </p:cNvPr>
          <p:cNvSpPr>
            <a:spLocks noGrp="1"/>
          </p:cNvSpPr>
          <p:nvPr>
            <p:ph sz="half" idx="1"/>
          </p:nvPr>
        </p:nvSpPr>
        <p:spPr>
          <a:xfrm>
            <a:off x="677334" y="2160588"/>
            <a:ext cx="5037666" cy="4494211"/>
          </a:xfrm>
        </p:spPr>
        <p:txBody>
          <a:bodyPr>
            <a:normAutofit fontScale="92500" lnSpcReduction="10000"/>
          </a:bodyPr>
          <a:lstStyle/>
          <a:p>
            <a:r>
              <a:rPr lang="en-GB" dirty="0">
                <a:highlight>
                  <a:srgbClr val="FFFF00"/>
                </a:highlight>
              </a:rPr>
              <a:t>For kernel size K and dilation D, the temporal span of one dilated kernel is:</a:t>
            </a:r>
          </a:p>
          <a:p>
            <a:r>
              <a:rPr lang="en-GB" b="1" dirty="0">
                <a:highlight>
                  <a:srgbClr val="FFFF00"/>
                </a:highlight>
              </a:rPr>
              <a:t>effective span = 1 + (K − 1) × D</a:t>
            </a:r>
          </a:p>
          <a:p>
            <a:r>
              <a:rPr lang="en-GB" b="1" dirty="0"/>
              <a:t>Example 1</a:t>
            </a:r>
          </a:p>
          <a:p>
            <a:pPr lvl="1"/>
            <a:r>
              <a:rPr lang="en-GB" dirty="0"/>
              <a:t>K = 3</a:t>
            </a:r>
          </a:p>
          <a:p>
            <a:pPr lvl="1"/>
            <a:r>
              <a:rPr lang="en-GB" dirty="0"/>
              <a:t>D = 1</a:t>
            </a:r>
          </a:p>
          <a:p>
            <a:pPr lvl="1"/>
            <a:r>
              <a:rPr lang="en-GB" dirty="0"/>
              <a:t>Then:</a:t>
            </a:r>
          </a:p>
          <a:p>
            <a:pPr lvl="1"/>
            <a:r>
              <a:rPr lang="en-GB" dirty="0"/>
              <a:t>1 + 2×1 = 3</a:t>
            </a:r>
          </a:p>
          <a:p>
            <a:r>
              <a:rPr lang="en-GB" b="1" dirty="0"/>
              <a:t>Example 2</a:t>
            </a:r>
          </a:p>
          <a:p>
            <a:pPr lvl="1"/>
            <a:r>
              <a:rPr lang="en-GB" dirty="0"/>
              <a:t>K = 3</a:t>
            </a:r>
          </a:p>
          <a:p>
            <a:pPr lvl="1"/>
            <a:r>
              <a:rPr lang="en-GB" dirty="0"/>
              <a:t>D = 4</a:t>
            </a:r>
          </a:p>
          <a:p>
            <a:pPr lvl="1"/>
            <a:r>
              <a:rPr lang="en-GB" dirty="0"/>
              <a:t>Then:</a:t>
            </a:r>
          </a:p>
          <a:p>
            <a:pPr lvl="1"/>
            <a:r>
              <a:rPr lang="en-GB" dirty="0"/>
              <a:t>1 + 2×4 = 9</a:t>
            </a:r>
          </a:p>
          <a:p>
            <a:endParaRPr lang="en-GB" dirty="0"/>
          </a:p>
        </p:txBody>
      </p:sp>
      <p:sp>
        <p:nvSpPr>
          <p:cNvPr id="4" name="Segnaposto contenuto 3">
            <a:extLst>
              <a:ext uri="{FF2B5EF4-FFF2-40B4-BE49-F238E27FC236}">
                <a16:creationId xmlns:a16="http://schemas.microsoft.com/office/drawing/2014/main" id="{28F48F5A-8869-0E20-A3AC-FDF7E5AD7852}"/>
              </a:ext>
            </a:extLst>
          </p:cNvPr>
          <p:cNvSpPr>
            <a:spLocks noGrp="1"/>
          </p:cNvSpPr>
          <p:nvPr>
            <p:ph sz="half" idx="2"/>
          </p:nvPr>
        </p:nvSpPr>
        <p:spPr>
          <a:xfrm>
            <a:off x="6258370" y="2160589"/>
            <a:ext cx="5679630" cy="4494211"/>
          </a:xfrm>
        </p:spPr>
        <p:txBody>
          <a:bodyPr>
            <a:normAutofit fontScale="92500" lnSpcReduction="10000"/>
          </a:bodyPr>
          <a:lstStyle/>
          <a:p>
            <a:r>
              <a:rPr lang="en-GB" b="1" dirty="0"/>
              <a:t>Example 3</a:t>
            </a:r>
          </a:p>
          <a:p>
            <a:pPr lvl="1"/>
            <a:r>
              <a:rPr lang="en-GB" dirty="0"/>
              <a:t>K = 5</a:t>
            </a:r>
          </a:p>
          <a:p>
            <a:pPr lvl="1"/>
            <a:r>
              <a:rPr lang="en-GB" dirty="0"/>
              <a:t>D = 4</a:t>
            </a:r>
          </a:p>
          <a:p>
            <a:pPr lvl="1"/>
            <a:r>
              <a:rPr lang="en-GB" dirty="0"/>
              <a:t>Then:</a:t>
            </a:r>
          </a:p>
          <a:p>
            <a:pPr lvl="1"/>
            <a:r>
              <a:rPr lang="en-GB" dirty="0"/>
              <a:t>1 + 4×4 = 17</a:t>
            </a:r>
          </a:p>
          <a:p>
            <a:endParaRPr lang="en-GB" b="1" dirty="0"/>
          </a:p>
          <a:p>
            <a:r>
              <a:rPr lang="en-GB" dirty="0"/>
              <a:t>The </a:t>
            </a:r>
            <a:r>
              <a:rPr lang="en-GB" b="1" dirty="0"/>
              <a:t>number of kernel parameters</a:t>
            </a:r>
            <a:r>
              <a:rPr lang="en-GB" dirty="0"/>
              <a:t> still depends on K.</a:t>
            </a:r>
          </a:p>
          <a:p>
            <a:r>
              <a:rPr lang="en-GB" dirty="0"/>
              <a:t>The </a:t>
            </a:r>
            <a:r>
              <a:rPr lang="en-GB" b="1" dirty="0"/>
              <a:t>temporal span</a:t>
            </a:r>
            <a:r>
              <a:rPr lang="en-GB" dirty="0"/>
              <a:t> depends on both K and D.</a:t>
            </a:r>
          </a:p>
          <a:p>
            <a:endParaRPr lang="en-GB" dirty="0"/>
          </a:p>
        </p:txBody>
      </p:sp>
    </p:spTree>
    <p:extLst>
      <p:ext uri="{BB962C8B-B14F-4D97-AF65-F5344CB8AC3E}">
        <p14:creationId xmlns:p14="http://schemas.microsoft.com/office/powerpoint/2010/main" val="75336372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Effective span of a dilated kernel</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b="1" dirty="0">
                <a:solidFill>
                  <a:srgbClr val="475569"/>
                </a:solidFill>
              </a:rPr>
              <a:t>Parameters depend on K</a:t>
            </a:r>
            <a:r>
              <a:rPr lang="en-US" sz="1150" dirty="0">
                <a:solidFill>
                  <a:srgbClr val="475569"/>
                </a:solidFill>
              </a:rPr>
              <a:t>; temporal span depends on K and D</a:t>
            </a:r>
            <a:endParaRPr lang="en-US" sz="1150" dirty="0"/>
          </a:p>
        </p:txBody>
      </p:sp>
      <p:sp>
        <p:nvSpPr>
          <p:cNvPr id="8" name="Text 6"/>
          <p:cNvSpPr/>
          <p:nvPr/>
        </p:nvSpPr>
        <p:spPr>
          <a:xfrm>
            <a:off x="914400" y="1234440"/>
            <a:ext cx="4572000" cy="502920"/>
          </a:xfrm>
          <a:prstGeom prst="rect">
            <a:avLst/>
          </a:prstGeom>
          <a:noFill/>
          <a:ln/>
        </p:spPr>
        <p:txBody>
          <a:bodyPr wrap="square" lIns="0" tIns="0" rIns="0" bIns="0" rtlCol="0" anchor="ctr"/>
          <a:lstStyle/>
          <a:p>
            <a:pPr marL="0" indent="0">
              <a:buNone/>
            </a:pPr>
            <a:r>
              <a:rPr lang="en-US" sz="2400" b="1" dirty="0">
                <a:solidFill>
                  <a:srgbClr val="86B817"/>
                </a:solidFill>
                <a:highlight>
                  <a:srgbClr val="FFFF00"/>
                </a:highlight>
              </a:rPr>
              <a:t>effective span = 1 + (K − 1) × D</a:t>
            </a:r>
            <a:endParaRPr lang="en-US" sz="2400" dirty="0">
              <a:highlight>
                <a:srgbClr val="FFFF00"/>
              </a:highlight>
            </a:endParaRPr>
          </a:p>
        </p:txBody>
      </p:sp>
      <p:sp>
        <p:nvSpPr>
          <p:cNvPr id="9" name="Shape 7"/>
          <p:cNvSpPr/>
          <p:nvPr/>
        </p:nvSpPr>
        <p:spPr>
          <a:xfrm>
            <a:off x="914400" y="2057400"/>
            <a:ext cx="1097280" cy="502920"/>
          </a:xfrm>
          <a:prstGeom prst="roundRect">
            <a:avLst>
              <a:gd name="adj" fmla="val 14545"/>
            </a:avLst>
          </a:prstGeom>
          <a:solidFill>
            <a:srgbClr val="EAF5D5"/>
          </a:solidFill>
          <a:ln w="13970">
            <a:solidFill>
              <a:srgbClr val="86B817"/>
            </a:solidFill>
            <a:prstDash val="solid"/>
          </a:ln>
        </p:spPr>
        <p:txBody>
          <a:bodyPr/>
          <a:lstStyle/>
          <a:p>
            <a:endParaRPr lang="en-GB"/>
          </a:p>
        </p:txBody>
      </p:sp>
      <p:sp>
        <p:nvSpPr>
          <p:cNvPr id="10" name="Text 8"/>
          <p:cNvSpPr/>
          <p:nvPr/>
        </p:nvSpPr>
        <p:spPr>
          <a:xfrm>
            <a:off x="969264" y="2103120"/>
            <a:ext cx="987552" cy="411480"/>
          </a:xfrm>
          <a:prstGeom prst="rect">
            <a:avLst/>
          </a:prstGeom>
          <a:noFill/>
          <a:ln/>
        </p:spPr>
        <p:txBody>
          <a:bodyPr wrap="square" lIns="0" tIns="0" rIns="0" bIns="0" rtlCol="0" anchor="ctr"/>
          <a:lstStyle/>
          <a:p>
            <a:pPr marL="0" indent="0" algn="ctr">
              <a:buNone/>
            </a:pPr>
            <a:r>
              <a:rPr lang="en-US" sz="1200" b="1" dirty="0">
                <a:solidFill>
                  <a:srgbClr val="111827"/>
                </a:solidFill>
              </a:rPr>
              <a:t>K</a:t>
            </a:r>
            <a:endParaRPr lang="en-US" sz="1200" dirty="0"/>
          </a:p>
        </p:txBody>
      </p:sp>
      <p:sp>
        <p:nvSpPr>
          <p:cNvPr id="11" name="Shape 9"/>
          <p:cNvSpPr/>
          <p:nvPr/>
        </p:nvSpPr>
        <p:spPr>
          <a:xfrm>
            <a:off x="2011680" y="2057400"/>
            <a:ext cx="1097280" cy="502920"/>
          </a:xfrm>
          <a:prstGeom prst="roundRect">
            <a:avLst>
              <a:gd name="adj" fmla="val 14545"/>
            </a:avLst>
          </a:prstGeom>
          <a:solidFill>
            <a:srgbClr val="EAF5D5"/>
          </a:solidFill>
          <a:ln w="13970">
            <a:solidFill>
              <a:srgbClr val="86B817"/>
            </a:solidFill>
            <a:prstDash val="solid"/>
          </a:ln>
        </p:spPr>
        <p:txBody>
          <a:bodyPr/>
          <a:lstStyle/>
          <a:p>
            <a:endParaRPr lang="en-GB"/>
          </a:p>
        </p:txBody>
      </p:sp>
      <p:sp>
        <p:nvSpPr>
          <p:cNvPr id="12" name="Text 10"/>
          <p:cNvSpPr/>
          <p:nvPr/>
        </p:nvSpPr>
        <p:spPr>
          <a:xfrm>
            <a:off x="2066544" y="2103120"/>
            <a:ext cx="987552" cy="411480"/>
          </a:xfrm>
          <a:prstGeom prst="rect">
            <a:avLst/>
          </a:prstGeom>
          <a:noFill/>
          <a:ln/>
        </p:spPr>
        <p:txBody>
          <a:bodyPr wrap="square" lIns="0" tIns="0" rIns="0" bIns="0" rtlCol="0" anchor="ctr"/>
          <a:lstStyle/>
          <a:p>
            <a:pPr marL="0" indent="0" algn="ctr">
              <a:buNone/>
            </a:pPr>
            <a:r>
              <a:rPr lang="en-US" sz="1200" b="1" dirty="0">
                <a:solidFill>
                  <a:srgbClr val="111827"/>
                </a:solidFill>
              </a:rPr>
              <a:t>D</a:t>
            </a:r>
            <a:endParaRPr lang="en-US" sz="1200" dirty="0"/>
          </a:p>
        </p:txBody>
      </p:sp>
      <p:sp>
        <p:nvSpPr>
          <p:cNvPr id="13" name="Shape 11"/>
          <p:cNvSpPr/>
          <p:nvPr/>
        </p:nvSpPr>
        <p:spPr>
          <a:xfrm>
            <a:off x="3108960" y="2057400"/>
            <a:ext cx="1645920" cy="502920"/>
          </a:xfrm>
          <a:prstGeom prst="roundRect">
            <a:avLst>
              <a:gd name="adj" fmla="val 14545"/>
            </a:avLst>
          </a:prstGeom>
          <a:solidFill>
            <a:srgbClr val="EAF5D5"/>
          </a:solidFill>
          <a:ln w="13970">
            <a:solidFill>
              <a:srgbClr val="86B817"/>
            </a:solidFill>
            <a:prstDash val="solid"/>
          </a:ln>
        </p:spPr>
        <p:txBody>
          <a:bodyPr/>
          <a:lstStyle/>
          <a:p>
            <a:endParaRPr lang="en-GB"/>
          </a:p>
        </p:txBody>
      </p:sp>
      <p:sp>
        <p:nvSpPr>
          <p:cNvPr id="14" name="Text 12"/>
          <p:cNvSpPr/>
          <p:nvPr/>
        </p:nvSpPr>
        <p:spPr>
          <a:xfrm>
            <a:off x="3163824" y="2103120"/>
            <a:ext cx="1536192" cy="411480"/>
          </a:xfrm>
          <a:prstGeom prst="rect">
            <a:avLst/>
          </a:prstGeom>
          <a:noFill/>
          <a:ln/>
        </p:spPr>
        <p:txBody>
          <a:bodyPr wrap="square" lIns="0" tIns="0" rIns="0" bIns="0" rtlCol="0" anchor="ctr"/>
          <a:lstStyle/>
          <a:p>
            <a:pPr marL="0" indent="0" algn="ctr">
              <a:buNone/>
            </a:pPr>
            <a:r>
              <a:rPr lang="en-US" sz="1200" b="1" dirty="0">
                <a:solidFill>
                  <a:srgbClr val="111827"/>
                </a:solidFill>
              </a:rPr>
              <a:t>Span</a:t>
            </a:r>
            <a:endParaRPr lang="en-US" sz="1200" dirty="0"/>
          </a:p>
        </p:txBody>
      </p:sp>
      <p:sp>
        <p:nvSpPr>
          <p:cNvPr id="15" name="Shape 13"/>
          <p:cNvSpPr/>
          <p:nvPr/>
        </p:nvSpPr>
        <p:spPr>
          <a:xfrm>
            <a:off x="4754880" y="2057400"/>
            <a:ext cx="2011680" cy="502920"/>
          </a:xfrm>
          <a:prstGeom prst="roundRect">
            <a:avLst>
              <a:gd name="adj" fmla="val 14545"/>
            </a:avLst>
          </a:prstGeom>
          <a:solidFill>
            <a:srgbClr val="EAF5D5"/>
          </a:solidFill>
          <a:ln w="13970">
            <a:solidFill>
              <a:srgbClr val="86B817"/>
            </a:solidFill>
            <a:prstDash val="solid"/>
          </a:ln>
        </p:spPr>
        <p:txBody>
          <a:bodyPr/>
          <a:lstStyle/>
          <a:p>
            <a:endParaRPr lang="en-GB"/>
          </a:p>
        </p:txBody>
      </p:sp>
      <p:sp>
        <p:nvSpPr>
          <p:cNvPr id="16" name="Text 14"/>
          <p:cNvSpPr/>
          <p:nvPr/>
        </p:nvSpPr>
        <p:spPr>
          <a:xfrm>
            <a:off x="4809744" y="2103120"/>
            <a:ext cx="1901952" cy="411480"/>
          </a:xfrm>
          <a:prstGeom prst="rect">
            <a:avLst/>
          </a:prstGeom>
          <a:noFill/>
          <a:ln/>
        </p:spPr>
        <p:txBody>
          <a:bodyPr wrap="square" lIns="0" tIns="0" rIns="0" bIns="0" rtlCol="0" anchor="ctr"/>
          <a:lstStyle/>
          <a:p>
            <a:pPr marL="0" indent="0" algn="ctr">
              <a:buNone/>
            </a:pPr>
            <a:r>
              <a:rPr lang="en-US" sz="1200" b="1" dirty="0">
                <a:solidFill>
                  <a:srgbClr val="111827"/>
                </a:solidFill>
              </a:rPr>
              <a:t>Sampled positions</a:t>
            </a:r>
            <a:endParaRPr lang="en-US" sz="1200" dirty="0"/>
          </a:p>
        </p:txBody>
      </p:sp>
      <p:sp>
        <p:nvSpPr>
          <p:cNvPr id="17" name="Shape 15"/>
          <p:cNvSpPr/>
          <p:nvPr/>
        </p:nvSpPr>
        <p:spPr>
          <a:xfrm>
            <a:off x="914400" y="2560320"/>
            <a:ext cx="109728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18" name="Text 16"/>
          <p:cNvSpPr/>
          <p:nvPr/>
        </p:nvSpPr>
        <p:spPr>
          <a:xfrm>
            <a:off x="969264" y="2606040"/>
            <a:ext cx="987552" cy="411480"/>
          </a:xfrm>
          <a:prstGeom prst="rect">
            <a:avLst/>
          </a:prstGeom>
          <a:noFill/>
          <a:ln/>
        </p:spPr>
        <p:txBody>
          <a:bodyPr wrap="square" lIns="0" tIns="0" rIns="0" bIns="0" rtlCol="0" anchor="ctr"/>
          <a:lstStyle/>
          <a:p>
            <a:pPr marL="0" indent="0" algn="ctr">
              <a:buNone/>
            </a:pPr>
            <a:r>
              <a:rPr lang="en-US" sz="1100" dirty="0">
                <a:solidFill>
                  <a:srgbClr val="111827"/>
                </a:solidFill>
              </a:rPr>
              <a:t>3</a:t>
            </a:r>
            <a:endParaRPr lang="en-US" sz="1100" dirty="0"/>
          </a:p>
        </p:txBody>
      </p:sp>
      <p:sp>
        <p:nvSpPr>
          <p:cNvPr id="19" name="Shape 17"/>
          <p:cNvSpPr/>
          <p:nvPr/>
        </p:nvSpPr>
        <p:spPr>
          <a:xfrm>
            <a:off x="2011680" y="2560320"/>
            <a:ext cx="109728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20" name="Text 18"/>
          <p:cNvSpPr/>
          <p:nvPr/>
        </p:nvSpPr>
        <p:spPr>
          <a:xfrm>
            <a:off x="2066544" y="2606040"/>
            <a:ext cx="987552" cy="411480"/>
          </a:xfrm>
          <a:prstGeom prst="rect">
            <a:avLst/>
          </a:prstGeom>
          <a:noFill/>
          <a:ln/>
        </p:spPr>
        <p:txBody>
          <a:bodyPr wrap="square" lIns="0" tIns="0" rIns="0" bIns="0" rtlCol="0" anchor="ctr"/>
          <a:lstStyle/>
          <a:p>
            <a:pPr marL="0" indent="0" algn="ctr">
              <a:buNone/>
            </a:pPr>
            <a:r>
              <a:rPr lang="en-US" sz="1100" dirty="0">
                <a:solidFill>
                  <a:srgbClr val="111827"/>
                </a:solidFill>
              </a:rPr>
              <a:t>1</a:t>
            </a:r>
            <a:endParaRPr lang="en-US" sz="1100" dirty="0"/>
          </a:p>
        </p:txBody>
      </p:sp>
      <p:sp>
        <p:nvSpPr>
          <p:cNvPr id="21" name="Shape 19"/>
          <p:cNvSpPr/>
          <p:nvPr/>
        </p:nvSpPr>
        <p:spPr>
          <a:xfrm>
            <a:off x="3108960" y="2560320"/>
            <a:ext cx="164592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22" name="Text 20"/>
          <p:cNvSpPr/>
          <p:nvPr/>
        </p:nvSpPr>
        <p:spPr>
          <a:xfrm>
            <a:off x="3163824" y="2606040"/>
            <a:ext cx="1536192" cy="411480"/>
          </a:xfrm>
          <a:prstGeom prst="rect">
            <a:avLst/>
          </a:prstGeom>
          <a:noFill/>
          <a:ln/>
        </p:spPr>
        <p:txBody>
          <a:bodyPr wrap="square" lIns="0" tIns="0" rIns="0" bIns="0" rtlCol="0" anchor="ctr"/>
          <a:lstStyle/>
          <a:p>
            <a:pPr marL="0" indent="0" algn="ctr">
              <a:buNone/>
            </a:pPr>
            <a:r>
              <a:rPr lang="en-US" sz="1100" dirty="0">
                <a:solidFill>
                  <a:srgbClr val="111827"/>
                </a:solidFill>
              </a:rPr>
              <a:t>3</a:t>
            </a:r>
            <a:endParaRPr lang="en-US" sz="1100" dirty="0"/>
          </a:p>
        </p:txBody>
      </p:sp>
      <p:sp>
        <p:nvSpPr>
          <p:cNvPr id="23" name="Shape 21"/>
          <p:cNvSpPr/>
          <p:nvPr/>
        </p:nvSpPr>
        <p:spPr>
          <a:xfrm>
            <a:off x="4754880" y="2560320"/>
            <a:ext cx="201168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24" name="Text 22"/>
          <p:cNvSpPr/>
          <p:nvPr/>
        </p:nvSpPr>
        <p:spPr>
          <a:xfrm>
            <a:off x="4809744" y="2606040"/>
            <a:ext cx="1901952" cy="411480"/>
          </a:xfrm>
          <a:prstGeom prst="rect">
            <a:avLst/>
          </a:prstGeom>
          <a:noFill/>
          <a:ln/>
        </p:spPr>
        <p:txBody>
          <a:bodyPr wrap="square" lIns="0" tIns="0" rIns="0" bIns="0" rtlCol="0" anchor="ctr"/>
          <a:lstStyle/>
          <a:p>
            <a:pPr marL="0" indent="0" algn="ctr">
              <a:buNone/>
            </a:pPr>
            <a:r>
              <a:rPr lang="en-US" sz="1100" dirty="0">
                <a:solidFill>
                  <a:srgbClr val="111827"/>
                </a:solidFill>
              </a:rPr>
              <a:t>t−2, t−1, t</a:t>
            </a:r>
            <a:endParaRPr lang="en-US" sz="1100" dirty="0"/>
          </a:p>
        </p:txBody>
      </p:sp>
      <p:sp>
        <p:nvSpPr>
          <p:cNvPr id="25" name="Shape 23"/>
          <p:cNvSpPr/>
          <p:nvPr/>
        </p:nvSpPr>
        <p:spPr>
          <a:xfrm>
            <a:off x="914400" y="3063240"/>
            <a:ext cx="109728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26" name="Text 24"/>
          <p:cNvSpPr/>
          <p:nvPr/>
        </p:nvSpPr>
        <p:spPr>
          <a:xfrm>
            <a:off x="969264" y="3108960"/>
            <a:ext cx="987552" cy="411480"/>
          </a:xfrm>
          <a:prstGeom prst="rect">
            <a:avLst/>
          </a:prstGeom>
          <a:noFill/>
          <a:ln/>
        </p:spPr>
        <p:txBody>
          <a:bodyPr wrap="square" lIns="0" tIns="0" rIns="0" bIns="0" rtlCol="0" anchor="ctr"/>
          <a:lstStyle/>
          <a:p>
            <a:pPr marL="0" indent="0" algn="ctr">
              <a:buNone/>
            </a:pPr>
            <a:r>
              <a:rPr lang="en-US" sz="1100" dirty="0">
                <a:solidFill>
                  <a:srgbClr val="111827"/>
                </a:solidFill>
              </a:rPr>
              <a:t>3</a:t>
            </a:r>
            <a:endParaRPr lang="en-US" sz="1100" dirty="0"/>
          </a:p>
        </p:txBody>
      </p:sp>
      <p:sp>
        <p:nvSpPr>
          <p:cNvPr id="27" name="Shape 25"/>
          <p:cNvSpPr/>
          <p:nvPr/>
        </p:nvSpPr>
        <p:spPr>
          <a:xfrm>
            <a:off x="2011680" y="3063240"/>
            <a:ext cx="109728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28" name="Text 26"/>
          <p:cNvSpPr/>
          <p:nvPr/>
        </p:nvSpPr>
        <p:spPr>
          <a:xfrm>
            <a:off x="2066544" y="3108960"/>
            <a:ext cx="987552" cy="411480"/>
          </a:xfrm>
          <a:prstGeom prst="rect">
            <a:avLst/>
          </a:prstGeom>
          <a:noFill/>
          <a:ln/>
        </p:spPr>
        <p:txBody>
          <a:bodyPr wrap="square" lIns="0" tIns="0" rIns="0" bIns="0" rtlCol="0" anchor="ctr"/>
          <a:lstStyle/>
          <a:p>
            <a:pPr marL="0" indent="0" algn="ctr">
              <a:buNone/>
            </a:pPr>
            <a:r>
              <a:rPr lang="en-US" sz="1100" dirty="0">
                <a:solidFill>
                  <a:srgbClr val="111827"/>
                </a:solidFill>
              </a:rPr>
              <a:t>4</a:t>
            </a:r>
            <a:endParaRPr lang="en-US" sz="1100" dirty="0"/>
          </a:p>
        </p:txBody>
      </p:sp>
      <p:sp>
        <p:nvSpPr>
          <p:cNvPr id="29" name="Shape 27"/>
          <p:cNvSpPr/>
          <p:nvPr/>
        </p:nvSpPr>
        <p:spPr>
          <a:xfrm>
            <a:off x="3108960" y="3063240"/>
            <a:ext cx="164592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30" name="Text 28"/>
          <p:cNvSpPr/>
          <p:nvPr/>
        </p:nvSpPr>
        <p:spPr>
          <a:xfrm>
            <a:off x="3163824" y="3108960"/>
            <a:ext cx="1536192" cy="411480"/>
          </a:xfrm>
          <a:prstGeom prst="rect">
            <a:avLst/>
          </a:prstGeom>
          <a:noFill/>
          <a:ln/>
        </p:spPr>
        <p:txBody>
          <a:bodyPr wrap="square" lIns="0" tIns="0" rIns="0" bIns="0" rtlCol="0" anchor="ctr"/>
          <a:lstStyle/>
          <a:p>
            <a:pPr marL="0" indent="0" algn="ctr">
              <a:buNone/>
            </a:pPr>
            <a:r>
              <a:rPr lang="en-US" sz="1100" dirty="0">
                <a:solidFill>
                  <a:srgbClr val="111827"/>
                </a:solidFill>
              </a:rPr>
              <a:t>9</a:t>
            </a:r>
            <a:endParaRPr lang="en-US" sz="1100" dirty="0"/>
          </a:p>
        </p:txBody>
      </p:sp>
      <p:sp>
        <p:nvSpPr>
          <p:cNvPr id="31" name="Shape 29"/>
          <p:cNvSpPr/>
          <p:nvPr/>
        </p:nvSpPr>
        <p:spPr>
          <a:xfrm>
            <a:off x="4754880" y="3063240"/>
            <a:ext cx="201168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32" name="Text 30"/>
          <p:cNvSpPr/>
          <p:nvPr/>
        </p:nvSpPr>
        <p:spPr>
          <a:xfrm>
            <a:off x="4809744" y="3108960"/>
            <a:ext cx="1901952" cy="411480"/>
          </a:xfrm>
          <a:prstGeom prst="rect">
            <a:avLst/>
          </a:prstGeom>
          <a:noFill/>
          <a:ln/>
        </p:spPr>
        <p:txBody>
          <a:bodyPr wrap="square" lIns="0" tIns="0" rIns="0" bIns="0" rtlCol="0" anchor="ctr"/>
          <a:lstStyle/>
          <a:p>
            <a:pPr marL="0" indent="0" algn="ctr">
              <a:buNone/>
            </a:pPr>
            <a:r>
              <a:rPr lang="en-US" sz="1100" dirty="0">
                <a:solidFill>
                  <a:srgbClr val="111827"/>
                </a:solidFill>
              </a:rPr>
              <a:t>t−8, t−4, t</a:t>
            </a:r>
            <a:endParaRPr lang="en-US" sz="1100" dirty="0"/>
          </a:p>
        </p:txBody>
      </p:sp>
      <p:sp>
        <p:nvSpPr>
          <p:cNvPr id="33" name="Shape 31"/>
          <p:cNvSpPr/>
          <p:nvPr/>
        </p:nvSpPr>
        <p:spPr>
          <a:xfrm>
            <a:off x="914400" y="3566160"/>
            <a:ext cx="109728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34" name="Text 32"/>
          <p:cNvSpPr/>
          <p:nvPr/>
        </p:nvSpPr>
        <p:spPr>
          <a:xfrm>
            <a:off x="969264" y="3611880"/>
            <a:ext cx="987552" cy="411480"/>
          </a:xfrm>
          <a:prstGeom prst="rect">
            <a:avLst/>
          </a:prstGeom>
          <a:noFill/>
          <a:ln/>
        </p:spPr>
        <p:txBody>
          <a:bodyPr wrap="square" lIns="0" tIns="0" rIns="0" bIns="0" rtlCol="0" anchor="ctr"/>
          <a:lstStyle/>
          <a:p>
            <a:pPr marL="0" indent="0" algn="ctr">
              <a:buNone/>
            </a:pPr>
            <a:r>
              <a:rPr lang="en-US" sz="1100" dirty="0">
                <a:solidFill>
                  <a:srgbClr val="111827"/>
                </a:solidFill>
              </a:rPr>
              <a:t>5</a:t>
            </a:r>
            <a:endParaRPr lang="en-US" sz="1100" dirty="0"/>
          </a:p>
        </p:txBody>
      </p:sp>
      <p:sp>
        <p:nvSpPr>
          <p:cNvPr id="35" name="Shape 33"/>
          <p:cNvSpPr/>
          <p:nvPr/>
        </p:nvSpPr>
        <p:spPr>
          <a:xfrm>
            <a:off x="2011680" y="3566160"/>
            <a:ext cx="109728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36" name="Text 34"/>
          <p:cNvSpPr/>
          <p:nvPr/>
        </p:nvSpPr>
        <p:spPr>
          <a:xfrm>
            <a:off x="2066544" y="3611880"/>
            <a:ext cx="987552" cy="411480"/>
          </a:xfrm>
          <a:prstGeom prst="rect">
            <a:avLst/>
          </a:prstGeom>
          <a:noFill/>
          <a:ln/>
        </p:spPr>
        <p:txBody>
          <a:bodyPr wrap="square" lIns="0" tIns="0" rIns="0" bIns="0" rtlCol="0" anchor="ctr"/>
          <a:lstStyle/>
          <a:p>
            <a:pPr marL="0" indent="0" algn="ctr">
              <a:buNone/>
            </a:pPr>
            <a:r>
              <a:rPr lang="en-US" sz="1100" dirty="0">
                <a:solidFill>
                  <a:srgbClr val="111827"/>
                </a:solidFill>
              </a:rPr>
              <a:t>4</a:t>
            </a:r>
            <a:endParaRPr lang="en-US" sz="1100" dirty="0"/>
          </a:p>
        </p:txBody>
      </p:sp>
      <p:sp>
        <p:nvSpPr>
          <p:cNvPr id="37" name="Shape 35"/>
          <p:cNvSpPr/>
          <p:nvPr/>
        </p:nvSpPr>
        <p:spPr>
          <a:xfrm>
            <a:off x="3108960" y="3566160"/>
            <a:ext cx="164592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38" name="Text 36"/>
          <p:cNvSpPr/>
          <p:nvPr/>
        </p:nvSpPr>
        <p:spPr>
          <a:xfrm>
            <a:off x="3163824" y="3611880"/>
            <a:ext cx="1536192" cy="411480"/>
          </a:xfrm>
          <a:prstGeom prst="rect">
            <a:avLst/>
          </a:prstGeom>
          <a:noFill/>
          <a:ln/>
        </p:spPr>
        <p:txBody>
          <a:bodyPr wrap="square" lIns="0" tIns="0" rIns="0" bIns="0" rtlCol="0" anchor="ctr"/>
          <a:lstStyle/>
          <a:p>
            <a:pPr marL="0" indent="0" algn="ctr">
              <a:buNone/>
            </a:pPr>
            <a:r>
              <a:rPr lang="en-US" sz="1100" dirty="0">
                <a:solidFill>
                  <a:srgbClr val="111827"/>
                </a:solidFill>
              </a:rPr>
              <a:t>17</a:t>
            </a:r>
            <a:endParaRPr lang="en-US" sz="1100" dirty="0"/>
          </a:p>
        </p:txBody>
      </p:sp>
      <p:sp>
        <p:nvSpPr>
          <p:cNvPr id="39" name="Shape 37"/>
          <p:cNvSpPr/>
          <p:nvPr/>
        </p:nvSpPr>
        <p:spPr>
          <a:xfrm>
            <a:off x="4754880" y="3566160"/>
            <a:ext cx="2011680" cy="502920"/>
          </a:xfrm>
          <a:prstGeom prst="roundRect">
            <a:avLst>
              <a:gd name="adj" fmla="val 14545"/>
            </a:avLst>
          </a:prstGeom>
          <a:solidFill>
            <a:srgbClr val="FFFFFF"/>
          </a:solidFill>
          <a:ln w="13970">
            <a:solidFill>
              <a:srgbClr val="CBD5E1"/>
            </a:solidFill>
            <a:prstDash val="solid"/>
          </a:ln>
        </p:spPr>
        <p:txBody>
          <a:bodyPr/>
          <a:lstStyle/>
          <a:p>
            <a:endParaRPr lang="en-GB"/>
          </a:p>
        </p:txBody>
      </p:sp>
      <p:sp>
        <p:nvSpPr>
          <p:cNvPr id="40" name="Text 38"/>
          <p:cNvSpPr/>
          <p:nvPr/>
        </p:nvSpPr>
        <p:spPr>
          <a:xfrm>
            <a:off x="4809744" y="3611880"/>
            <a:ext cx="1901952" cy="411480"/>
          </a:xfrm>
          <a:prstGeom prst="rect">
            <a:avLst/>
          </a:prstGeom>
          <a:noFill/>
          <a:ln/>
        </p:spPr>
        <p:txBody>
          <a:bodyPr wrap="square" lIns="0" tIns="0" rIns="0" bIns="0" rtlCol="0" anchor="ctr"/>
          <a:lstStyle/>
          <a:p>
            <a:pPr marL="0" indent="0" algn="ctr">
              <a:buNone/>
            </a:pPr>
            <a:r>
              <a:rPr lang="en-US" sz="1100" dirty="0">
                <a:solidFill>
                  <a:srgbClr val="111827"/>
                </a:solidFill>
              </a:rPr>
              <a:t>t−16, t−12, t−8, t−4, t</a:t>
            </a:r>
            <a:endParaRPr lang="en-US" sz="1100" dirty="0"/>
          </a:p>
        </p:txBody>
      </p:sp>
      <p:sp>
        <p:nvSpPr>
          <p:cNvPr id="41" name="Shape 39"/>
          <p:cNvSpPr/>
          <p:nvPr/>
        </p:nvSpPr>
        <p:spPr>
          <a:xfrm>
            <a:off x="1097280" y="4800600"/>
            <a:ext cx="5559552" cy="0"/>
          </a:xfrm>
          <a:prstGeom prst="line">
            <a:avLst/>
          </a:prstGeom>
          <a:noFill/>
          <a:ln w="12700">
            <a:solidFill>
              <a:srgbClr val="94A3B8"/>
            </a:solidFill>
            <a:prstDash val="solid"/>
            <a:headEnd type="none"/>
            <a:tailEnd type="none"/>
          </a:ln>
        </p:spPr>
        <p:txBody>
          <a:bodyPr/>
          <a:lstStyle/>
          <a:p>
            <a:endParaRPr lang="en-GB"/>
          </a:p>
        </p:txBody>
      </p:sp>
      <p:sp>
        <p:nvSpPr>
          <p:cNvPr id="42" name="Shape 40"/>
          <p:cNvSpPr/>
          <p:nvPr/>
        </p:nvSpPr>
        <p:spPr>
          <a:xfrm>
            <a:off x="1046988"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43" name="Shape 41"/>
          <p:cNvSpPr/>
          <p:nvPr/>
        </p:nvSpPr>
        <p:spPr>
          <a:xfrm>
            <a:off x="1394460"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44" name="Shape 42"/>
          <p:cNvSpPr/>
          <p:nvPr/>
        </p:nvSpPr>
        <p:spPr>
          <a:xfrm>
            <a:off x="1741932"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45" name="Shape 43"/>
          <p:cNvSpPr/>
          <p:nvPr/>
        </p:nvSpPr>
        <p:spPr>
          <a:xfrm>
            <a:off x="2089404"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46" name="Shape 44"/>
          <p:cNvSpPr/>
          <p:nvPr/>
        </p:nvSpPr>
        <p:spPr>
          <a:xfrm>
            <a:off x="2436876"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47" name="Shape 45"/>
          <p:cNvSpPr/>
          <p:nvPr/>
        </p:nvSpPr>
        <p:spPr>
          <a:xfrm>
            <a:off x="2784348"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48" name="Shape 46"/>
          <p:cNvSpPr/>
          <p:nvPr/>
        </p:nvSpPr>
        <p:spPr>
          <a:xfrm>
            <a:off x="3131820"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49" name="Shape 47"/>
          <p:cNvSpPr/>
          <p:nvPr/>
        </p:nvSpPr>
        <p:spPr>
          <a:xfrm>
            <a:off x="3479292"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0" name="Shape 48"/>
          <p:cNvSpPr/>
          <p:nvPr/>
        </p:nvSpPr>
        <p:spPr>
          <a:xfrm>
            <a:off x="3826764"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1" name="Shape 49"/>
          <p:cNvSpPr/>
          <p:nvPr/>
        </p:nvSpPr>
        <p:spPr>
          <a:xfrm>
            <a:off x="4174236"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2" name="Shape 50"/>
          <p:cNvSpPr/>
          <p:nvPr/>
        </p:nvSpPr>
        <p:spPr>
          <a:xfrm>
            <a:off x="4521708"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3" name="Shape 51"/>
          <p:cNvSpPr/>
          <p:nvPr/>
        </p:nvSpPr>
        <p:spPr>
          <a:xfrm>
            <a:off x="4869180"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4" name="Shape 52"/>
          <p:cNvSpPr/>
          <p:nvPr/>
        </p:nvSpPr>
        <p:spPr>
          <a:xfrm>
            <a:off x="5216652"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5" name="Shape 53"/>
          <p:cNvSpPr/>
          <p:nvPr/>
        </p:nvSpPr>
        <p:spPr>
          <a:xfrm>
            <a:off x="5564124"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6" name="Shape 54"/>
          <p:cNvSpPr/>
          <p:nvPr/>
        </p:nvSpPr>
        <p:spPr>
          <a:xfrm>
            <a:off x="5911596"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7" name="Shape 55"/>
          <p:cNvSpPr/>
          <p:nvPr/>
        </p:nvSpPr>
        <p:spPr>
          <a:xfrm>
            <a:off x="6259068"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8" name="Shape 56"/>
          <p:cNvSpPr/>
          <p:nvPr/>
        </p:nvSpPr>
        <p:spPr>
          <a:xfrm>
            <a:off x="6606540" y="4750308"/>
            <a:ext cx="100584" cy="100584"/>
          </a:xfrm>
          <a:prstGeom prst="ellipse">
            <a:avLst/>
          </a:prstGeom>
          <a:solidFill>
            <a:srgbClr val="FFFFFF"/>
          </a:solidFill>
          <a:ln w="8890">
            <a:solidFill>
              <a:srgbClr val="94A3B8"/>
            </a:solidFill>
            <a:prstDash val="solid"/>
          </a:ln>
        </p:spPr>
        <p:txBody>
          <a:bodyPr/>
          <a:lstStyle/>
          <a:p>
            <a:endParaRPr lang="en-GB"/>
          </a:p>
        </p:txBody>
      </p:sp>
      <p:sp>
        <p:nvSpPr>
          <p:cNvPr id="59" name="Shape 57"/>
          <p:cNvSpPr/>
          <p:nvPr/>
        </p:nvSpPr>
        <p:spPr>
          <a:xfrm>
            <a:off x="1046988" y="4750308"/>
            <a:ext cx="100584" cy="100584"/>
          </a:xfrm>
          <a:prstGeom prst="ellipse">
            <a:avLst/>
          </a:prstGeom>
          <a:solidFill>
            <a:srgbClr val="F1B400"/>
          </a:solidFill>
          <a:ln w="15240">
            <a:solidFill>
              <a:srgbClr val="F1B400"/>
            </a:solidFill>
            <a:prstDash val="solid"/>
          </a:ln>
        </p:spPr>
        <p:txBody>
          <a:bodyPr/>
          <a:lstStyle/>
          <a:p>
            <a:endParaRPr lang="en-GB"/>
          </a:p>
        </p:txBody>
      </p:sp>
      <p:sp>
        <p:nvSpPr>
          <p:cNvPr id="60" name="Shape 58"/>
          <p:cNvSpPr/>
          <p:nvPr/>
        </p:nvSpPr>
        <p:spPr>
          <a:xfrm>
            <a:off x="3826764" y="4750308"/>
            <a:ext cx="100584" cy="100584"/>
          </a:xfrm>
          <a:prstGeom prst="ellipse">
            <a:avLst/>
          </a:prstGeom>
          <a:solidFill>
            <a:srgbClr val="2B73FF"/>
          </a:solidFill>
          <a:ln w="15240">
            <a:solidFill>
              <a:srgbClr val="2B73FF"/>
            </a:solidFill>
            <a:prstDash val="solid"/>
          </a:ln>
        </p:spPr>
        <p:txBody>
          <a:bodyPr/>
          <a:lstStyle/>
          <a:p>
            <a:endParaRPr lang="en-GB"/>
          </a:p>
        </p:txBody>
      </p:sp>
      <p:sp>
        <p:nvSpPr>
          <p:cNvPr id="61" name="Shape 59"/>
          <p:cNvSpPr/>
          <p:nvPr/>
        </p:nvSpPr>
        <p:spPr>
          <a:xfrm>
            <a:off x="6606540" y="4750308"/>
            <a:ext cx="100584" cy="100584"/>
          </a:xfrm>
          <a:prstGeom prst="ellipse">
            <a:avLst/>
          </a:prstGeom>
          <a:solidFill>
            <a:srgbClr val="86B817"/>
          </a:solidFill>
          <a:ln w="15240">
            <a:solidFill>
              <a:srgbClr val="86B817"/>
            </a:solidFill>
            <a:prstDash val="solid"/>
          </a:ln>
        </p:spPr>
        <p:txBody>
          <a:bodyPr/>
          <a:lstStyle/>
          <a:p>
            <a:endParaRPr lang="en-GB"/>
          </a:p>
        </p:txBody>
      </p:sp>
      <p:sp>
        <p:nvSpPr>
          <p:cNvPr id="62" name="Shape 60"/>
          <p:cNvSpPr/>
          <p:nvPr/>
        </p:nvSpPr>
        <p:spPr>
          <a:xfrm>
            <a:off x="1097280" y="4562856"/>
            <a:ext cx="5559552" cy="0"/>
          </a:xfrm>
          <a:prstGeom prst="line">
            <a:avLst/>
          </a:prstGeom>
          <a:noFill/>
          <a:ln w="25400">
            <a:solidFill>
              <a:srgbClr val="86B817"/>
            </a:solidFill>
            <a:prstDash val="solid"/>
            <a:headEnd type="none"/>
            <a:tailEnd type="triangle"/>
          </a:ln>
        </p:spPr>
        <p:txBody>
          <a:bodyPr/>
          <a:lstStyle/>
          <a:p>
            <a:endParaRPr lang="en-GB"/>
          </a:p>
        </p:txBody>
      </p:sp>
      <p:sp>
        <p:nvSpPr>
          <p:cNvPr id="63" name="Text 61"/>
          <p:cNvSpPr/>
          <p:nvPr/>
        </p:nvSpPr>
        <p:spPr>
          <a:xfrm>
            <a:off x="1097280" y="5166360"/>
            <a:ext cx="3657600" cy="274320"/>
          </a:xfrm>
          <a:prstGeom prst="rect">
            <a:avLst/>
          </a:prstGeom>
          <a:noFill/>
          <a:ln/>
        </p:spPr>
        <p:txBody>
          <a:bodyPr wrap="square" lIns="0" tIns="0" rIns="0" bIns="0" rtlCol="0" anchor="ctr"/>
          <a:lstStyle/>
          <a:p>
            <a:pPr marL="0" indent="0">
              <a:buNone/>
            </a:pPr>
            <a:r>
              <a:rPr lang="en-US" sz="1300" b="1" dirty="0">
                <a:solidFill>
                  <a:srgbClr val="111827"/>
                </a:solidFill>
              </a:rPr>
              <a:t>K = 3, D = 8 → span = 17 frames</a:t>
            </a:r>
            <a:endParaRPr lang="en-US" sz="1300" dirty="0"/>
          </a:p>
        </p:txBody>
      </p:sp>
      <p:sp>
        <p:nvSpPr>
          <p:cNvPr id="64" name="Text 62"/>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i="1" dirty="0">
                <a:solidFill>
                  <a:srgbClr val="475569"/>
                </a:solidFill>
              </a:rPr>
              <a:t>Dilation increases temporal span without increasing the number of kernel positions.</a:t>
            </a:r>
            <a:endParaRPr lang="en-US" sz="11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038AE3D-55BE-1629-3075-0ADAA5C56AF1}"/>
              </a:ext>
            </a:extLst>
          </p:cNvPr>
          <p:cNvSpPr>
            <a:spLocks noGrp="1"/>
          </p:cNvSpPr>
          <p:nvPr>
            <p:ph type="title"/>
          </p:nvPr>
        </p:nvSpPr>
        <p:spPr/>
        <p:txBody>
          <a:bodyPr/>
          <a:lstStyle/>
          <a:p>
            <a:r>
              <a:rPr lang="en-GB" dirty="0"/>
              <a:t>Stacking dilated convolutions</a:t>
            </a:r>
          </a:p>
        </p:txBody>
      </p:sp>
      <p:sp>
        <p:nvSpPr>
          <p:cNvPr id="3" name="Segnaposto contenuto 2">
            <a:extLst>
              <a:ext uri="{FF2B5EF4-FFF2-40B4-BE49-F238E27FC236}">
                <a16:creationId xmlns:a16="http://schemas.microsoft.com/office/drawing/2014/main" id="{F4281DF5-990D-4A2A-1926-8AEE65661F16}"/>
              </a:ext>
            </a:extLst>
          </p:cNvPr>
          <p:cNvSpPr>
            <a:spLocks noGrp="1"/>
          </p:cNvSpPr>
          <p:nvPr>
            <p:ph idx="1"/>
          </p:nvPr>
        </p:nvSpPr>
        <p:spPr/>
        <p:txBody>
          <a:bodyPr>
            <a:normAutofit/>
          </a:bodyPr>
          <a:lstStyle/>
          <a:p>
            <a:r>
              <a:rPr lang="en-GB" b="1" dirty="0"/>
              <a:t>Dilation becomes especially effective when several layers are stacked.</a:t>
            </a:r>
          </a:p>
          <a:p>
            <a:r>
              <a:rPr lang="en-GB" b="1" dirty="0"/>
              <a:t>A common sequence is:</a:t>
            </a:r>
          </a:p>
          <a:p>
            <a:pPr lvl="1"/>
            <a:r>
              <a:rPr lang="en-GB" dirty="0"/>
              <a:t>Layer 1: dilation = 1</a:t>
            </a:r>
          </a:p>
          <a:p>
            <a:pPr lvl="1"/>
            <a:r>
              <a:rPr lang="en-GB" dirty="0"/>
              <a:t>Layer 2: dilation = 2</a:t>
            </a:r>
          </a:p>
          <a:p>
            <a:pPr lvl="1"/>
            <a:r>
              <a:rPr lang="en-GB" dirty="0"/>
              <a:t>Layer 3: dilation = 4</a:t>
            </a:r>
          </a:p>
          <a:p>
            <a:pPr lvl="1"/>
            <a:r>
              <a:rPr lang="en-GB" dirty="0"/>
              <a:t>Layer 4: dilation = 8</a:t>
            </a:r>
          </a:p>
          <a:p>
            <a:r>
              <a:rPr lang="en-GB" dirty="0"/>
              <a:t>Each deeper layer sees activations whose own receptive fields already cover previous input regions.</a:t>
            </a:r>
          </a:p>
          <a:p>
            <a:endParaRPr lang="en-GB" dirty="0"/>
          </a:p>
        </p:txBody>
      </p:sp>
    </p:spTree>
    <p:extLst>
      <p:ext uri="{BB962C8B-B14F-4D97-AF65-F5344CB8AC3E}">
        <p14:creationId xmlns:p14="http://schemas.microsoft.com/office/powerpoint/2010/main" val="357814591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6B077-9907-5A7C-9857-23C1BCB570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7F7A045-CF11-4F2E-A27B-3F7D599FA839}"/>
              </a:ext>
            </a:extLst>
          </p:cNvPr>
          <p:cNvSpPr>
            <a:spLocks noGrp="1"/>
          </p:cNvSpPr>
          <p:nvPr>
            <p:ph type="title"/>
          </p:nvPr>
        </p:nvSpPr>
        <p:spPr/>
        <p:txBody>
          <a:bodyPr/>
          <a:lstStyle/>
          <a:p>
            <a:r>
              <a:rPr lang="en-GB" dirty="0"/>
              <a:t>Stacking dilated convolutions</a:t>
            </a:r>
          </a:p>
        </p:txBody>
      </p:sp>
      <p:sp>
        <p:nvSpPr>
          <p:cNvPr id="3" name="Segnaposto contenuto 2">
            <a:extLst>
              <a:ext uri="{FF2B5EF4-FFF2-40B4-BE49-F238E27FC236}">
                <a16:creationId xmlns:a16="http://schemas.microsoft.com/office/drawing/2014/main" id="{7839CB2D-28EE-14AF-5958-B96C16F2C96D}"/>
              </a:ext>
            </a:extLst>
          </p:cNvPr>
          <p:cNvSpPr>
            <a:spLocks noGrp="1"/>
          </p:cNvSpPr>
          <p:nvPr>
            <p:ph sz="half" idx="1"/>
          </p:nvPr>
        </p:nvSpPr>
        <p:spPr/>
        <p:txBody>
          <a:bodyPr>
            <a:normAutofit fontScale="92500" lnSpcReduction="20000"/>
          </a:bodyPr>
          <a:lstStyle/>
          <a:p>
            <a:r>
              <a:rPr lang="en-GB" b="1" dirty="0"/>
              <a:t>Conceptual architecture</a:t>
            </a:r>
          </a:p>
          <a:p>
            <a:r>
              <a:rPr lang="en-GB" dirty="0"/>
              <a:t>input</a:t>
            </a:r>
          </a:p>
          <a:p>
            <a:r>
              <a:rPr lang="en-GB" dirty="0"/>
              <a:t>  ↓</a:t>
            </a:r>
          </a:p>
          <a:p>
            <a:r>
              <a:rPr lang="en-GB" dirty="0"/>
              <a:t>Conv dilation 1</a:t>
            </a:r>
          </a:p>
          <a:p>
            <a:r>
              <a:rPr lang="en-GB" dirty="0"/>
              <a:t>  ↓</a:t>
            </a:r>
          </a:p>
          <a:p>
            <a:r>
              <a:rPr lang="en-GB" dirty="0"/>
              <a:t>Conv dilation 2</a:t>
            </a:r>
          </a:p>
          <a:p>
            <a:r>
              <a:rPr lang="en-GB" dirty="0"/>
              <a:t>  ↓</a:t>
            </a:r>
          </a:p>
          <a:p>
            <a:r>
              <a:rPr lang="en-GB" dirty="0"/>
              <a:t>Conv dilation 4</a:t>
            </a:r>
          </a:p>
          <a:p>
            <a:r>
              <a:rPr lang="en-GB" dirty="0"/>
              <a:t>  ↓</a:t>
            </a:r>
          </a:p>
          <a:p>
            <a:r>
              <a:rPr lang="en-GB" dirty="0"/>
              <a:t>Conv dilation 8</a:t>
            </a:r>
          </a:p>
          <a:p>
            <a:r>
              <a:rPr lang="en-GB" dirty="0"/>
              <a:t>.</a:t>
            </a:r>
          </a:p>
          <a:p>
            <a:endParaRPr lang="en-GB" dirty="0"/>
          </a:p>
        </p:txBody>
      </p:sp>
      <p:sp>
        <p:nvSpPr>
          <p:cNvPr id="4" name="Segnaposto contenuto 3">
            <a:extLst>
              <a:ext uri="{FF2B5EF4-FFF2-40B4-BE49-F238E27FC236}">
                <a16:creationId xmlns:a16="http://schemas.microsoft.com/office/drawing/2014/main" id="{B5832E62-8792-8D75-D8D3-B01EF41EF372}"/>
              </a:ext>
            </a:extLst>
          </p:cNvPr>
          <p:cNvSpPr>
            <a:spLocks noGrp="1"/>
          </p:cNvSpPr>
          <p:nvPr>
            <p:ph sz="half" idx="2"/>
          </p:nvPr>
        </p:nvSpPr>
        <p:spPr/>
        <p:txBody>
          <a:bodyPr/>
          <a:lstStyle/>
          <a:p>
            <a:r>
              <a:rPr lang="en-GB" b="1" dirty="0">
                <a:highlight>
                  <a:srgbClr val="FFFF00"/>
                </a:highlight>
              </a:rPr>
              <a:t>Result</a:t>
            </a:r>
          </a:p>
          <a:p>
            <a:r>
              <a:rPr lang="en-GB" dirty="0">
                <a:highlight>
                  <a:srgbClr val="FFFF00"/>
                </a:highlight>
              </a:rPr>
              <a:t>The receptive field grows rapidly even when:</a:t>
            </a:r>
          </a:p>
          <a:p>
            <a:pPr lvl="1"/>
            <a:r>
              <a:rPr lang="en-GB" dirty="0"/>
              <a:t>kernel size stays small; </a:t>
            </a:r>
          </a:p>
          <a:p>
            <a:pPr lvl="1"/>
            <a:r>
              <a:rPr lang="en-GB" dirty="0"/>
              <a:t>stride stays 1; </a:t>
            </a:r>
          </a:p>
          <a:p>
            <a:pPr lvl="1"/>
            <a:r>
              <a:rPr lang="en-GB" dirty="0"/>
              <a:t>temporal resolution is preserved. </a:t>
            </a:r>
          </a:p>
          <a:p>
            <a:endParaRPr lang="en-GB" dirty="0"/>
          </a:p>
          <a:p>
            <a:r>
              <a:rPr lang="en-GB" b="1" dirty="0">
                <a:highlight>
                  <a:srgbClr val="FFFF00"/>
                </a:highlight>
              </a:rPr>
              <a:t>Exponentially increasing dilation provides long temporal context with relatively few layers</a:t>
            </a:r>
          </a:p>
        </p:txBody>
      </p:sp>
    </p:spTree>
    <p:extLst>
      <p:ext uri="{BB962C8B-B14F-4D97-AF65-F5344CB8AC3E}">
        <p14:creationId xmlns:p14="http://schemas.microsoft.com/office/powerpoint/2010/main" val="379886436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9DFC848-C762-E422-9C0D-A24FDA3EF019}"/>
              </a:ext>
            </a:extLst>
          </p:cNvPr>
          <p:cNvSpPr>
            <a:spLocks noGrp="1"/>
          </p:cNvSpPr>
          <p:nvPr>
            <p:ph type="title"/>
          </p:nvPr>
        </p:nvSpPr>
        <p:spPr/>
        <p:txBody>
          <a:bodyPr/>
          <a:lstStyle/>
          <a:p>
            <a:r>
              <a:rPr lang="en-GB" dirty="0"/>
              <a:t>Example of receptive-field growth with dilation</a:t>
            </a:r>
          </a:p>
        </p:txBody>
      </p:sp>
      <p:sp>
        <p:nvSpPr>
          <p:cNvPr id="3" name="Segnaposto contenuto 2">
            <a:extLst>
              <a:ext uri="{FF2B5EF4-FFF2-40B4-BE49-F238E27FC236}">
                <a16:creationId xmlns:a16="http://schemas.microsoft.com/office/drawing/2014/main" id="{1FE7BB98-62A4-76E7-7C47-2FCCBB308D59}"/>
              </a:ext>
            </a:extLst>
          </p:cNvPr>
          <p:cNvSpPr>
            <a:spLocks noGrp="1"/>
          </p:cNvSpPr>
          <p:nvPr>
            <p:ph sz="half" idx="1"/>
          </p:nvPr>
        </p:nvSpPr>
        <p:spPr>
          <a:xfrm>
            <a:off x="677334" y="2160588"/>
            <a:ext cx="5151966" cy="4405311"/>
          </a:xfrm>
        </p:spPr>
        <p:txBody>
          <a:bodyPr>
            <a:normAutofit lnSpcReduction="10000"/>
          </a:bodyPr>
          <a:lstStyle/>
          <a:p>
            <a:r>
              <a:rPr lang="en-GB" dirty="0"/>
              <a:t>Consider four causal convolutional layers with:</a:t>
            </a:r>
          </a:p>
          <a:p>
            <a:pPr lvl="1"/>
            <a:r>
              <a:rPr lang="en-GB" dirty="0"/>
              <a:t>kernel size K = 3; </a:t>
            </a:r>
          </a:p>
          <a:p>
            <a:pPr lvl="1"/>
            <a:r>
              <a:rPr lang="en-GB" dirty="0"/>
              <a:t>stride 1; </a:t>
            </a:r>
          </a:p>
          <a:p>
            <a:pPr lvl="1"/>
            <a:r>
              <a:rPr lang="en-GB" dirty="0"/>
              <a:t>dilations 1, 2, 4, 8. </a:t>
            </a:r>
          </a:p>
          <a:p>
            <a:endParaRPr lang="en-GB" dirty="0"/>
          </a:p>
          <a:p>
            <a:r>
              <a:rPr lang="en-GB" dirty="0"/>
              <a:t>The receptive field grows approximately as:</a:t>
            </a:r>
          </a:p>
          <a:p>
            <a:pPr lvl="1"/>
            <a:r>
              <a:rPr lang="en-GB" dirty="0"/>
              <a:t>Layer 1:  3 frames</a:t>
            </a:r>
          </a:p>
          <a:p>
            <a:pPr lvl="1"/>
            <a:r>
              <a:rPr lang="en-GB" dirty="0"/>
              <a:t>Layer 2:  7 frames</a:t>
            </a:r>
          </a:p>
          <a:p>
            <a:pPr lvl="1"/>
            <a:r>
              <a:rPr lang="en-GB" dirty="0"/>
              <a:t>Layer 3: 15 frames</a:t>
            </a:r>
          </a:p>
          <a:p>
            <a:pPr lvl="1"/>
            <a:r>
              <a:rPr lang="en-GB" dirty="0"/>
              <a:t>Layer 4: 31 frames</a:t>
            </a:r>
          </a:p>
          <a:p>
            <a:endParaRPr lang="en-GB" dirty="0"/>
          </a:p>
        </p:txBody>
      </p:sp>
      <p:sp>
        <p:nvSpPr>
          <p:cNvPr id="4" name="Segnaposto contenuto 3">
            <a:extLst>
              <a:ext uri="{FF2B5EF4-FFF2-40B4-BE49-F238E27FC236}">
                <a16:creationId xmlns:a16="http://schemas.microsoft.com/office/drawing/2014/main" id="{20C00B19-5C20-23B1-7D09-6CAE43E99A5F}"/>
              </a:ext>
            </a:extLst>
          </p:cNvPr>
          <p:cNvSpPr>
            <a:spLocks noGrp="1"/>
          </p:cNvSpPr>
          <p:nvPr>
            <p:ph sz="half" idx="2"/>
          </p:nvPr>
        </p:nvSpPr>
        <p:spPr>
          <a:xfrm>
            <a:off x="6207570" y="2046289"/>
            <a:ext cx="5781230" cy="4697411"/>
          </a:xfrm>
        </p:spPr>
        <p:txBody>
          <a:bodyPr>
            <a:normAutofit lnSpcReduction="10000"/>
          </a:bodyPr>
          <a:lstStyle/>
          <a:p>
            <a:r>
              <a:rPr lang="en-GB" b="1" dirty="0">
                <a:highlight>
                  <a:srgbClr val="FFFF00"/>
                </a:highlight>
              </a:rPr>
              <a:t>Compare with no dilation</a:t>
            </a:r>
          </a:p>
          <a:p>
            <a:r>
              <a:rPr lang="en-GB" dirty="0"/>
              <a:t>Four ordinary K = 3 convolutions give:</a:t>
            </a:r>
          </a:p>
          <a:p>
            <a:r>
              <a:rPr lang="en-GB" dirty="0"/>
              <a:t>9 frames</a:t>
            </a:r>
          </a:p>
          <a:p>
            <a:r>
              <a:rPr lang="en-GB" b="1" dirty="0">
                <a:highlight>
                  <a:srgbClr val="FFFF00"/>
                </a:highlight>
              </a:rPr>
              <a:t>With dilation</a:t>
            </a:r>
          </a:p>
          <a:p>
            <a:r>
              <a:rPr lang="en-GB" dirty="0"/>
              <a:t>The same number of layers gives:</a:t>
            </a:r>
          </a:p>
          <a:p>
            <a:r>
              <a:rPr lang="en-GB" dirty="0"/>
              <a:t>31 frames</a:t>
            </a:r>
          </a:p>
          <a:p>
            <a:r>
              <a:rPr lang="en-GB" b="1" dirty="0">
                <a:highlight>
                  <a:srgbClr val="FFFF00"/>
                </a:highlight>
              </a:rPr>
              <a:t>Interpretation</a:t>
            </a:r>
          </a:p>
          <a:p>
            <a:r>
              <a:rPr lang="en-GB" dirty="0"/>
              <a:t>The network can access a much longer history without:</a:t>
            </a:r>
          </a:p>
          <a:p>
            <a:pPr lvl="1"/>
            <a:r>
              <a:rPr lang="en-GB" dirty="0"/>
              <a:t>increasing depth dramatically; </a:t>
            </a:r>
          </a:p>
          <a:p>
            <a:pPr lvl="1"/>
            <a:r>
              <a:rPr lang="en-GB" b="1" dirty="0"/>
              <a:t>reducing output resolution. </a:t>
            </a:r>
          </a:p>
          <a:p>
            <a:r>
              <a:rPr lang="en-GB" dirty="0"/>
              <a:t>This is especially useful for long time-series sequences.</a:t>
            </a:r>
          </a:p>
          <a:p>
            <a:endParaRPr lang="en-GB" dirty="0"/>
          </a:p>
        </p:txBody>
      </p:sp>
    </p:spTree>
    <p:extLst>
      <p:ext uri="{BB962C8B-B14F-4D97-AF65-F5344CB8AC3E}">
        <p14:creationId xmlns:p14="http://schemas.microsoft.com/office/powerpoint/2010/main" val="16284665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Stacked dilations rapidly grow the receptive field</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dirty="0">
                <a:solidFill>
                  <a:srgbClr val="475569"/>
                </a:solidFill>
              </a:rPr>
              <a:t>Example with K = 3 and dilations 1, 2, 4, 8</a:t>
            </a:r>
            <a:endParaRPr lang="en-US" sz="1150" dirty="0"/>
          </a:p>
        </p:txBody>
      </p:sp>
      <p:sp>
        <p:nvSpPr>
          <p:cNvPr id="8" name="Shape 6"/>
          <p:cNvSpPr/>
          <p:nvPr/>
        </p:nvSpPr>
        <p:spPr>
          <a:xfrm>
            <a:off x="1005840" y="5074920"/>
            <a:ext cx="6309360" cy="0"/>
          </a:xfrm>
          <a:prstGeom prst="line">
            <a:avLst/>
          </a:prstGeom>
          <a:noFill/>
          <a:ln w="12700">
            <a:solidFill>
              <a:srgbClr val="CBD5E1"/>
            </a:solidFill>
            <a:prstDash val="solid"/>
            <a:headEnd type="none"/>
            <a:tailEnd type="none"/>
          </a:ln>
        </p:spPr>
        <p:txBody>
          <a:bodyPr/>
          <a:lstStyle/>
          <a:p>
            <a:endParaRPr lang="en-GB"/>
          </a:p>
        </p:txBody>
      </p:sp>
      <p:sp>
        <p:nvSpPr>
          <p:cNvPr id="9" name="Shape 7"/>
          <p:cNvSpPr/>
          <p:nvPr/>
        </p:nvSpPr>
        <p:spPr>
          <a:xfrm>
            <a:off x="955548"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0" name="Shape 8"/>
          <p:cNvSpPr/>
          <p:nvPr/>
        </p:nvSpPr>
        <p:spPr>
          <a:xfrm>
            <a:off x="1165860"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1" name="Shape 9"/>
          <p:cNvSpPr/>
          <p:nvPr/>
        </p:nvSpPr>
        <p:spPr>
          <a:xfrm>
            <a:off x="1376172"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2" name="Shape 10"/>
          <p:cNvSpPr/>
          <p:nvPr/>
        </p:nvSpPr>
        <p:spPr>
          <a:xfrm>
            <a:off x="1586484"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3" name="Shape 11"/>
          <p:cNvSpPr/>
          <p:nvPr/>
        </p:nvSpPr>
        <p:spPr>
          <a:xfrm>
            <a:off x="1796796"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4" name="Shape 12"/>
          <p:cNvSpPr/>
          <p:nvPr/>
        </p:nvSpPr>
        <p:spPr>
          <a:xfrm>
            <a:off x="2007108"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5" name="Shape 13"/>
          <p:cNvSpPr/>
          <p:nvPr/>
        </p:nvSpPr>
        <p:spPr>
          <a:xfrm>
            <a:off x="2217420"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6" name="Shape 14"/>
          <p:cNvSpPr/>
          <p:nvPr/>
        </p:nvSpPr>
        <p:spPr>
          <a:xfrm>
            <a:off x="2427732"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7" name="Shape 15"/>
          <p:cNvSpPr/>
          <p:nvPr/>
        </p:nvSpPr>
        <p:spPr>
          <a:xfrm>
            <a:off x="2638044"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8" name="Shape 16"/>
          <p:cNvSpPr/>
          <p:nvPr/>
        </p:nvSpPr>
        <p:spPr>
          <a:xfrm>
            <a:off x="2848356"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19" name="Shape 17"/>
          <p:cNvSpPr/>
          <p:nvPr/>
        </p:nvSpPr>
        <p:spPr>
          <a:xfrm>
            <a:off x="3058668"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0" name="Shape 18"/>
          <p:cNvSpPr/>
          <p:nvPr/>
        </p:nvSpPr>
        <p:spPr>
          <a:xfrm>
            <a:off x="3268980"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1" name="Shape 19"/>
          <p:cNvSpPr/>
          <p:nvPr/>
        </p:nvSpPr>
        <p:spPr>
          <a:xfrm>
            <a:off x="3479292"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2" name="Shape 20"/>
          <p:cNvSpPr/>
          <p:nvPr/>
        </p:nvSpPr>
        <p:spPr>
          <a:xfrm>
            <a:off x="3689604"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3" name="Shape 21"/>
          <p:cNvSpPr/>
          <p:nvPr/>
        </p:nvSpPr>
        <p:spPr>
          <a:xfrm>
            <a:off x="3899916"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4" name="Shape 22"/>
          <p:cNvSpPr/>
          <p:nvPr/>
        </p:nvSpPr>
        <p:spPr>
          <a:xfrm>
            <a:off x="4110228"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5" name="Shape 23"/>
          <p:cNvSpPr/>
          <p:nvPr/>
        </p:nvSpPr>
        <p:spPr>
          <a:xfrm>
            <a:off x="4320540"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6" name="Shape 24"/>
          <p:cNvSpPr/>
          <p:nvPr/>
        </p:nvSpPr>
        <p:spPr>
          <a:xfrm>
            <a:off x="4530852"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7" name="Shape 25"/>
          <p:cNvSpPr/>
          <p:nvPr/>
        </p:nvSpPr>
        <p:spPr>
          <a:xfrm>
            <a:off x="4741164"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8" name="Shape 26"/>
          <p:cNvSpPr/>
          <p:nvPr/>
        </p:nvSpPr>
        <p:spPr>
          <a:xfrm>
            <a:off x="4951476"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29" name="Shape 27"/>
          <p:cNvSpPr/>
          <p:nvPr/>
        </p:nvSpPr>
        <p:spPr>
          <a:xfrm>
            <a:off x="5161788"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0" name="Shape 28"/>
          <p:cNvSpPr/>
          <p:nvPr/>
        </p:nvSpPr>
        <p:spPr>
          <a:xfrm>
            <a:off x="5372100"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1" name="Shape 29"/>
          <p:cNvSpPr/>
          <p:nvPr/>
        </p:nvSpPr>
        <p:spPr>
          <a:xfrm>
            <a:off x="5582412"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2" name="Shape 30"/>
          <p:cNvSpPr/>
          <p:nvPr/>
        </p:nvSpPr>
        <p:spPr>
          <a:xfrm>
            <a:off x="5792724"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3" name="Shape 31"/>
          <p:cNvSpPr/>
          <p:nvPr/>
        </p:nvSpPr>
        <p:spPr>
          <a:xfrm>
            <a:off x="6003036"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4" name="Shape 32"/>
          <p:cNvSpPr/>
          <p:nvPr/>
        </p:nvSpPr>
        <p:spPr>
          <a:xfrm>
            <a:off x="6213348"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5" name="Shape 33"/>
          <p:cNvSpPr/>
          <p:nvPr/>
        </p:nvSpPr>
        <p:spPr>
          <a:xfrm>
            <a:off x="6423660"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6" name="Shape 34"/>
          <p:cNvSpPr/>
          <p:nvPr/>
        </p:nvSpPr>
        <p:spPr>
          <a:xfrm>
            <a:off x="6633972"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7" name="Shape 35"/>
          <p:cNvSpPr/>
          <p:nvPr/>
        </p:nvSpPr>
        <p:spPr>
          <a:xfrm>
            <a:off x="6844284"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8" name="Shape 36"/>
          <p:cNvSpPr/>
          <p:nvPr/>
        </p:nvSpPr>
        <p:spPr>
          <a:xfrm>
            <a:off x="7054596"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39" name="Shape 37"/>
          <p:cNvSpPr/>
          <p:nvPr/>
        </p:nvSpPr>
        <p:spPr>
          <a:xfrm>
            <a:off x="7264908" y="5024628"/>
            <a:ext cx="100584" cy="100584"/>
          </a:xfrm>
          <a:prstGeom prst="ellipse">
            <a:avLst/>
          </a:prstGeom>
          <a:solidFill>
            <a:srgbClr val="FFFFFF"/>
          </a:solidFill>
          <a:ln w="8890">
            <a:solidFill>
              <a:srgbClr val="94A3B8"/>
            </a:solidFill>
            <a:prstDash val="solid"/>
          </a:ln>
        </p:spPr>
        <p:txBody>
          <a:bodyPr/>
          <a:lstStyle/>
          <a:p>
            <a:endParaRPr lang="en-GB"/>
          </a:p>
        </p:txBody>
      </p:sp>
      <p:sp>
        <p:nvSpPr>
          <p:cNvPr id="40" name="Text 38"/>
          <p:cNvSpPr/>
          <p:nvPr/>
        </p:nvSpPr>
        <p:spPr>
          <a:xfrm>
            <a:off x="777240" y="4142232"/>
            <a:ext cx="914400" cy="182880"/>
          </a:xfrm>
          <a:prstGeom prst="rect">
            <a:avLst/>
          </a:prstGeom>
          <a:noFill/>
          <a:ln/>
        </p:spPr>
        <p:txBody>
          <a:bodyPr wrap="square" lIns="0" tIns="0" rIns="0" bIns="0" rtlCol="0" anchor="ctr"/>
          <a:lstStyle/>
          <a:p>
            <a:pPr marL="0" indent="0">
              <a:buNone/>
            </a:pPr>
            <a:r>
              <a:rPr lang="en-US" sz="1050" b="1" dirty="0">
                <a:solidFill>
                  <a:srgbClr val="2B73FF"/>
                </a:solidFill>
              </a:rPr>
              <a:t>d=1  RF=3</a:t>
            </a:r>
            <a:endParaRPr lang="en-US" sz="1050" dirty="0"/>
          </a:p>
        </p:txBody>
      </p:sp>
      <p:sp>
        <p:nvSpPr>
          <p:cNvPr id="41" name="Shape 39"/>
          <p:cNvSpPr/>
          <p:nvPr/>
        </p:nvSpPr>
        <p:spPr>
          <a:xfrm>
            <a:off x="6894576" y="4956048"/>
            <a:ext cx="420624" cy="0"/>
          </a:xfrm>
          <a:prstGeom prst="line">
            <a:avLst/>
          </a:prstGeom>
          <a:noFill/>
          <a:ln w="38100">
            <a:solidFill>
              <a:srgbClr val="2B73FF"/>
            </a:solidFill>
            <a:prstDash val="solid"/>
            <a:headEnd type="none"/>
            <a:tailEnd type="triangle"/>
          </a:ln>
        </p:spPr>
        <p:txBody>
          <a:bodyPr/>
          <a:lstStyle/>
          <a:p>
            <a:endParaRPr lang="en-GB"/>
          </a:p>
        </p:txBody>
      </p:sp>
      <p:sp>
        <p:nvSpPr>
          <p:cNvPr id="42" name="Shape 40"/>
          <p:cNvSpPr/>
          <p:nvPr/>
        </p:nvSpPr>
        <p:spPr>
          <a:xfrm>
            <a:off x="7772400" y="4041648"/>
            <a:ext cx="1234440" cy="420624"/>
          </a:xfrm>
          <a:prstGeom prst="roundRect">
            <a:avLst>
              <a:gd name="adj" fmla="val 17391"/>
            </a:avLst>
          </a:prstGeom>
          <a:solidFill>
            <a:srgbClr val="FFFFFF"/>
          </a:solidFill>
          <a:ln w="13970">
            <a:solidFill>
              <a:srgbClr val="2B73FF"/>
            </a:solidFill>
            <a:prstDash val="solid"/>
          </a:ln>
        </p:spPr>
        <p:txBody>
          <a:bodyPr/>
          <a:lstStyle/>
          <a:p>
            <a:endParaRPr lang="en-GB"/>
          </a:p>
        </p:txBody>
      </p:sp>
      <p:sp>
        <p:nvSpPr>
          <p:cNvPr id="43" name="Text 41"/>
          <p:cNvSpPr/>
          <p:nvPr/>
        </p:nvSpPr>
        <p:spPr>
          <a:xfrm>
            <a:off x="7827264" y="4087368"/>
            <a:ext cx="1124712" cy="329184"/>
          </a:xfrm>
          <a:prstGeom prst="rect">
            <a:avLst/>
          </a:prstGeom>
          <a:noFill/>
          <a:ln/>
        </p:spPr>
        <p:txBody>
          <a:bodyPr wrap="square" lIns="0" tIns="0" rIns="0" bIns="0" rtlCol="0" anchor="ctr"/>
          <a:lstStyle/>
          <a:p>
            <a:pPr marL="0" indent="0" algn="ctr">
              <a:buNone/>
            </a:pPr>
            <a:r>
              <a:rPr lang="en-US" sz="1100" b="1" dirty="0">
                <a:solidFill>
                  <a:srgbClr val="2B73FF"/>
                </a:solidFill>
              </a:rPr>
              <a:t>Conv d=1</a:t>
            </a:r>
            <a:endParaRPr lang="en-US" sz="1100" dirty="0"/>
          </a:p>
        </p:txBody>
      </p:sp>
      <p:sp>
        <p:nvSpPr>
          <p:cNvPr id="44" name="Shape 42"/>
          <p:cNvSpPr/>
          <p:nvPr/>
        </p:nvSpPr>
        <p:spPr>
          <a:xfrm>
            <a:off x="8394192" y="4471416"/>
            <a:ext cx="0" cy="0"/>
          </a:xfrm>
          <a:prstGeom prst="line">
            <a:avLst/>
          </a:prstGeom>
          <a:noFill/>
          <a:ln w="19050">
            <a:solidFill>
              <a:srgbClr val="94A3B8"/>
            </a:solidFill>
            <a:prstDash val="solid"/>
            <a:headEnd type="none"/>
            <a:tailEnd type="triangle"/>
          </a:ln>
        </p:spPr>
        <p:txBody>
          <a:bodyPr/>
          <a:lstStyle/>
          <a:p>
            <a:endParaRPr lang="en-GB"/>
          </a:p>
        </p:txBody>
      </p:sp>
      <p:sp>
        <p:nvSpPr>
          <p:cNvPr id="45" name="Text 43"/>
          <p:cNvSpPr/>
          <p:nvPr/>
        </p:nvSpPr>
        <p:spPr>
          <a:xfrm>
            <a:off x="777240" y="3364992"/>
            <a:ext cx="914400" cy="182880"/>
          </a:xfrm>
          <a:prstGeom prst="rect">
            <a:avLst/>
          </a:prstGeom>
          <a:noFill/>
          <a:ln/>
        </p:spPr>
        <p:txBody>
          <a:bodyPr wrap="square" lIns="0" tIns="0" rIns="0" bIns="0" rtlCol="0" anchor="ctr"/>
          <a:lstStyle/>
          <a:p>
            <a:pPr marL="0" indent="0">
              <a:buNone/>
            </a:pPr>
            <a:r>
              <a:rPr lang="en-US" sz="1050" b="1" dirty="0">
                <a:solidFill>
                  <a:srgbClr val="86B817"/>
                </a:solidFill>
              </a:rPr>
              <a:t>d=2  RF=7</a:t>
            </a:r>
            <a:endParaRPr lang="en-US" sz="1050" dirty="0"/>
          </a:p>
        </p:txBody>
      </p:sp>
      <p:sp>
        <p:nvSpPr>
          <p:cNvPr id="46" name="Shape 44"/>
          <p:cNvSpPr/>
          <p:nvPr/>
        </p:nvSpPr>
        <p:spPr>
          <a:xfrm>
            <a:off x="6053328" y="4956048"/>
            <a:ext cx="1261872" cy="0"/>
          </a:xfrm>
          <a:prstGeom prst="line">
            <a:avLst/>
          </a:prstGeom>
          <a:noFill/>
          <a:ln w="38100">
            <a:solidFill>
              <a:srgbClr val="86B817"/>
            </a:solidFill>
            <a:prstDash val="solid"/>
            <a:headEnd type="none"/>
            <a:tailEnd type="triangle"/>
          </a:ln>
        </p:spPr>
        <p:txBody>
          <a:bodyPr/>
          <a:lstStyle/>
          <a:p>
            <a:endParaRPr lang="en-GB"/>
          </a:p>
        </p:txBody>
      </p:sp>
      <p:sp>
        <p:nvSpPr>
          <p:cNvPr id="47" name="Shape 45"/>
          <p:cNvSpPr/>
          <p:nvPr/>
        </p:nvSpPr>
        <p:spPr>
          <a:xfrm>
            <a:off x="7772400" y="3264408"/>
            <a:ext cx="1234440" cy="420624"/>
          </a:xfrm>
          <a:prstGeom prst="roundRect">
            <a:avLst>
              <a:gd name="adj" fmla="val 17391"/>
            </a:avLst>
          </a:prstGeom>
          <a:solidFill>
            <a:srgbClr val="FFFFFF"/>
          </a:solidFill>
          <a:ln w="13970">
            <a:solidFill>
              <a:srgbClr val="86B817"/>
            </a:solidFill>
            <a:prstDash val="solid"/>
          </a:ln>
        </p:spPr>
        <p:txBody>
          <a:bodyPr/>
          <a:lstStyle/>
          <a:p>
            <a:endParaRPr lang="en-GB"/>
          </a:p>
        </p:txBody>
      </p:sp>
      <p:sp>
        <p:nvSpPr>
          <p:cNvPr id="48" name="Text 46"/>
          <p:cNvSpPr/>
          <p:nvPr/>
        </p:nvSpPr>
        <p:spPr>
          <a:xfrm>
            <a:off x="7827264" y="3310128"/>
            <a:ext cx="1124712" cy="329184"/>
          </a:xfrm>
          <a:prstGeom prst="rect">
            <a:avLst/>
          </a:prstGeom>
          <a:noFill/>
          <a:ln/>
        </p:spPr>
        <p:txBody>
          <a:bodyPr wrap="square" lIns="0" tIns="0" rIns="0" bIns="0" rtlCol="0" anchor="ctr"/>
          <a:lstStyle/>
          <a:p>
            <a:pPr marL="0" indent="0" algn="ctr">
              <a:buNone/>
            </a:pPr>
            <a:r>
              <a:rPr lang="en-US" sz="1100" b="1" dirty="0">
                <a:solidFill>
                  <a:srgbClr val="86B817"/>
                </a:solidFill>
              </a:rPr>
              <a:t>Conv d=2</a:t>
            </a:r>
            <a:endParaRPr lang="en-US" sz="1100" dirty="0"/>
          </a:p>
        </p:txBody>
      </p:sp>
      <p:sp>
        <p:nvSpPr>
          <p:cNvPr id="49" name="Shape 47"/>
          <p:cNvSpPr/>
          <p:nvPr/>
        </p:nvSpPr>
        <p:spPr>
          <a:xfrm>
            <a:off x="8394192" y="3694176"/>
            <a:ext cx="0" cy="0"/>
          </a:xfrm>
          <a:prstGeom prst="line">
            <a:avLst/>
          </a:prstGeom>
          <a:noFill/>
          <a:ln w="19050">
            <a:solidFill>
              <a:srgbClr val="94A3B8"/>
            </a:solidFill>
            <a:prstDash val="solid"/>
            <a:headEnd type="none"/>
            <a:tailEnd type="triangle"/>
          </a:ln>
        </p:spPr>
        <p:txBody>
          <a:bodyPr/>
          <a:lstStyle/>
          <a:p>
            <a:endParaRPr lang="en-GB"/>
          </a:p>
        </p:txBody>
      </p:sp>
      <p:sp>
        <p:nvSpPr>
          <p:cNvPr id="50" name="Text 48"/>
          <p:cNvSpPr/>
          <p:nvPr/>
        </p:nvSpPr>
        <p:spPr>
          <a:xfrm>
            <a:off x="777240" y="2587752"/>
            <a:ext cx="914400" cy="182880"/>
          </a:xfrm>
          <a:prstGeom prst="rect">
            <a:avLst/>
          </a:prstGeom>
          <a:noFill/>
          <a:ln/>
        </p:spPr>
        <p:txBody>
          <a:bodyPr wrap="square" lIns="0" tIns="0" rIns="0" bIns="0" rtlCol="0" anchor="ctr"/>
          <a:lstStyle/>
          <a:p>
            <a:pPr marL="0" indent="0">
              <a:buNone/>
            </a:pPr>
            <a:r>
              <a:rPr lang="en-US" sz="1050" b="1" dirty="0">
                <a:solidFill>
                  <a:srgbClr val="F1B400"/>
                </a:solidFill>
              </a:rPr>
              <a:t>d=4  RF=15</a:t>
            </a:r>
            <a:endParaRPr lang="en-US" sz="1050" dirty="0"/>
          </a:p>
        </p:txBody>
      </p:sp>
      <p:sp>
        <p:nvSpPr>
          <p:cNvPr id="51" name="Shape 49"/>
          <p:cNvSpPr/>
          <p:nvPr/>
        </p:nvSpPr>
        <p:spPr>
          <a:xfrm>
            <a:off x="4370832" y="4956048"/>
            <a:ext cx="2944368" cy="0"/>
          </a:xfrm>
          <a:prstGeom prst="line">
            <a:avLst/>
          </a:prstGeom>
          <a:noFill/>
          <a:ln w="38100">
            <a:solidFill>
              <a:srgbClr val="F1B400"/>
            </a:solidFill>
            <a:prstDash val="solid"/>
            <a:headEnd type="none"/>
            <a:tailEnd type="triangle"/>
          </a:ln>
        </p:spPr>
        <p:txBody>
          <a:bodyPr/>
          <a:lstStyle/>
          <a:p>
            <a:endParaRPr lang="en-GB"/>
          </a:p>
        </p:txBody>
      </p:sp>
      <p:sp>
        <p:nvSpPr>
          <p:cNvPr id="52" name="Shape 50"/>
          <p:cNvSpPr/>
          <p:nvPr/>
        </p:nvSpPr>
        <p:spPr>
          <a:xfrm>
            <a:off x="7772400" y="2487168"/>
            <a:ext cx="1234440" cy="420624"/>
          </a:xfrm>
          <a:prstGeom prst="roundRect">
            <a:avLst>
              <a:gd name="adj" fmla="val 17391"/>
            </a:avLst>
          </a:prstGeom>
          <a:solidFill>
            <a:srgbClr val="FFFFFF"/>
          </a:solidFill>
          <a:ln w="13970">
            <a:solidFill>
              <a:srgbClr val="F1B400"/>
            </a:solidFill>
            <a:prstDash val="solid"/>
          </a:ln>
        </p:spPr>
        <p:txBody>
          <a:bodyPr/>
          <a:lstStyle/>
          <a:p>
            <a:endParaRPr lang="en-GB"/>
          </a:p>
        </p:txBody>
      </p:sp>
      <p:sp>
        <p:nvSpPr>
          <p:cNvPr id="53" name="Text 51"/>
          <p:cNvSpPr/>
          <p:nvPr/>
        </p:nvSpPr>
        <p:spPr>
          <a:xfrm>
            <a:off x="7827264" y="2532888"/>
            <a:ext cx="1124712" cy="329184"/>
          </a:xfrm>
          <a:prstGeom prst="rect">
            <a:avLst/>
          </a:prstGeom>
          <a:noFill/>
          <a:ln/>
        </p:spPr>
        <p:txBody>
          <a:bodyPr wrap="square" lIns="0" tIns="0" rIns="0" bIns="0" rtlCol="0" anchor="ctr"/>
          <a:lstStyle/>
          <a:p>
            <a:pPr marL="0" indent="0" algn="ctr">
              <a:buNone/>
            </a:pPr>
            <a:r>
              <a:rPr lang="en-US" sz="1100" b="1" dirty="0">
                <a:solidFill>
                  <a:srgbClr val="F1B400"/>
                </a:solidFill>
              </a:rPr>
              <a:t>Conv d=4</a:t>
            </a:r>
            <a:endParaRPr lang="en-US" sz="1100" dirty="0"/>
          </a:p>
        </p:txBody>
      </p:sp>
      <p:sp>
        <p:nvSpPr>
          <p:cNvPr id="54" name="Shape 52"/>
          <p:cNvSpPr/>
          <p:nvPr/>
        </p:nvSpPr>
        <p:spPr>
          <a:xfrm>
            <a:off x="8394192" y="2916936"/>
            <a:ext cx="0" cy="0"/>
          </a:xfrm>
          <a:prstGeom prst="line">
            <a:avLst/>
          </a:prstGeom>
          <a:noFill/>
          <a:ln w="19050">
            <a:solidFill>
              <a:srgbClr val="94A3B8"/>
            </a:solidFill>
            <a:prstDash val="solid"/>
            <a:headEnd type="none"/>
            <a:tailEnd type="triangle"/>
          </a:ln>
        </p:spPr>
        <p:txBody>
          <a:bodyPr/>
          <a:lstStyle/>
          <a:p>
            <a:endParaRPr lang="en-GB"/>
          </a:p>
        </p:txBody>
      </p:sp>
      <p:sp>
        <p:nvSpPr>
          <p:cNvPr id="55" name="Text 53"/>
          <p:cNvSpPr/>
          <p:nvPr/>
        </p:nvSpPr>
        <p:spPr>
          <a:xfrm>
            <a:off x="777240" y="1810512"/>
            <a:ext cx="914400" cy="182880"/>
          </a:xfrm>
          <a:prstGeom prst="rect">
            <a:avLst/>
          </a:prstGeom>
          <a:noFill/>
          <a:ln/>
        </p:spPr>
        <p:txBody>
          <a:bodyPr wrap="square" lIns="0" tIns="0" rIns="0" bIns="0" rtlCol="0" anchor="ctr"/>
          <a:lstStyle/>
          <a:p>
            <a:pPr marL="0" indent="0">
              <a:buNone/>
            </a:pPr>
            <a:r>
              <a:rPr lang="en-US" sz="1050" b="1" dirty="0">
                <a:solidFill>
                  <a:srgbClr val="7C3AED"/>
                </a:solidFill>
              </a:rPr>
              <a:t>d=8  RF=31</a:t>
            </a:r>
            <a:endParaRPr lang="en-US" sz="1050" dirty="0"/>
          </a:p>
        </p:txBody>
      </p:sp>
      <p:sp>
        <p:nvSpPr>
          <p:cNvPr id="56" name="Shape 54"/>
          <p:cNvSpPr/>
          <p:nvPr/>
        </p:nvSpPr>
        <p:spPr>
          <a:xfrm>
            <a:off x="1005840" y="4956048"/>
            <a:ext cx="6309360" cy="0"/>
          </a:xfrm>
          <a:prstGeom prst="line">
            <a:avLst/>
          </a:prstGeom>
          <a:noFill/>
          <a:ln w="38100">
            <a:solidFill>
              <a:srgbClr val="7C3AED"/>
            </a:solidFill>
            <a:prstDash val="solid"/>
            <a:headEnd type="none"/>
            <a:tailEnd type="triangle"/>
          </a:ln>
        </p:spPr>
        <p:txBody>
          <a:bodyPr/>
          <a:lstStyle/>
          <a:p>
            <a:endParaRPr lang="en-GB"/>
          </a:p>
        </p:txBody>
      </p:sp>
      <p:sp>
        <p:nvSpPr>
          <p:cNvPr id="57" name="Shape 55"/>
          <p:cNvSpPr/>
          <p:nvPr/>
        </p:nvSpPr>
        <p:spPr>
          <a:xfrm>
            <a:off x="7772400" y="1709928"/>
            <a:ext cx="1234440" cy="420624"/>
          </a:xfrm>
          <a:prstGeom prst="roundRect">
            <a:avLst>
              <a:gd name="adj" fmla="val 17391"/>
            </a:avLst>
          </a:prstGeom>
          <a:solidFill>
            <a:srgbClr val="FFFFFF"/>
          </a:solidFill>
          <a:ln w="13970">
            <a:solidFill>
              <a:srgbClr val="7C3AED"/>
            </a:solidFill>
            <a:prstDash val="solid"/>
          </a:ln>
        </p:spPr>
        <p:txBody>
          <a:bodyPr/>
          <a:lstStyle/>
          <a:p>
            <a:endParaRPr lang="en-GB"/>
          </a:p>
        </p:txBody>
      </p:sp>
      <p:sp>
        <p:nvSpPr>
          <p:cNvPr id="58" name="Text 56"/>
          <p:cNvSpPr/>
          <p:nvPr/>
        </p:nvSpPr>
        <p:spPr>
          <a:xfrm>
            <a:off x="7827264" y="1755648"/>
            <a:ext cx="1124712" cy="329184"/>
          </a:xfrm>
          <a:prstGeom prst="rect">
            <a:avLst/>
          </a:prstGeom>
          <a:noFill/>
          <a:ln/>
        </p:spPr>
        <p:txBody>
          <a:bodyPr wrap="square" lIns="0" tIns="0" rIns="0" bIns="0" rtlCol="0" anchor="ctr"/>
          <a:lstStyle/>
          <a:p>
            <a:pPr marL="0" indent="0" algn="ctr">
              <a:buNone/>
            </a:pPr>
            <a:r>
              <a:rPr lang="en-US" sz="1100" b="1" dirty="0">
                <a:solidFill>
                  <a:srgbClr val="7C3AED"/>
                </a:solidFill>
              </a:rPr>
              <a:t>Conv d=8</a:t>
            </a:r>
            <a:endParaRPr lang="en-US" sz="1100" dirty="0"/>
          </a:p>
        </p:txBody>
      </p:sp>
      <p:sp>
        <p:nvSpPr>
          <p:cNvPr id="59" name="Text 57"/>
          <p:cNvSpPr/>
          <p:nvPr/>
        </p:nvSpPr>
        <p:spPr>
          <a:xfrm>
            <a:off x="914400" y="1143000"/>
            <a:ext cx="6583680" cy="329184"/>
          </a:xfrm>
          <a:prstGeom prst="rect">
            <a:avLst/>
          </a:prstGeom>
          <a:noFill/>
          <a:ln/>
        </p:spPr>
        <p:txBody>
          <a:bodyPr wrap="square" lIns="0" tIns="0" rIns="0" bIns="0" rtlCol="0" anchor="ctr"/>
          <a:lstStyle/>
          <a:p>
            <a:pPr marL="0" indent="0">
              <a:buNone/>
            </a:pPr>
            <a:r>
              <a:rPr lang="en-US" sz="1700" dirty="0">
                <a:solidFill>
                  <a:srgbClr val="475569"/>
                </a:solidFill>
              </a:rPr>
              <a:t>Four layers cover 31 input samples instead of 9 without dilation.</a:t>
            </a:r>
            <a:endParaRPr lang="en-US" sz="1700" dirty="0"/>
          </a:p>
        </p:txBody>
      </p:sp>
      <p:sp>
        <p:nvSpPr>
          <p:cNvPr id="60" name="Text 58"/>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i="1" dirty="0">
                <a:solidFill>
                  <a:srgbClr val="475569"/>
                </a:solidFill>
              </a:rPr>
              <a:t>Exponential dilation gives large historical context with few layers and no downsampling.</a:t>
            </a:r>
            <a:endParaRPr lang="en-US" sz="11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04E0086-EAED-4775-AF8D-B5F5EF68171B}"/>
              </a:ext>
            </a:extLst>
          </p:cNvPr>
          <p:cNvSpPr>
            <a:spLocks noGrp="1"/>
          </p:cNvSpPr>
          <p:nvPr>
            <p:ph type="title"/>
          </p:nvPr>
        </p:nvSpPr>
        <p:spPr/>
        <p:txBody>
          <a:bodyPr/>
          <a:lstStyle/>
          <a:p>
            <a:r>
              <a:rPr lang="en-GB" dirty="0"/>
              <a:t>Physical meaning/interpretation of dilation</a:t>
            </a:r>
          </a:p>
        </p:txBody>
      </p:sp>
      <p:sp>
        <p:nvSpPr>
          <p:cNvPr id="3" name="Segnaposto contenuto 2">
            <a:extLst>
              <a:ext uri="{FF2B5EF4-FFF2-40B4-BE49-F238E27FC236}">
                <a16:creationId xmlns:a16="http://schemas.microsoft.com/office/drawing/2014/main" id="{45C8A929-E2B2-E0A6-19C4-27CF4A9EF12C}"/>
              </a:ext>
            </a:extLst>
          </p:cNvPr>
          <p:cNvSpPr>
            <a:spLocks noGrp="1"/>
          </p:cNvSpPr>
          <p:nvPr>
            <p:ph sz="half" idx="1"/>
          </p:nvPr>
        </p:nvSpPr>
        <p:spPr>
          <a:xfrm>
            <a:off x="677334" y="2160588"/>
            <a:ext cx="4991580" cy="4291011"/>
          </a:xfrm>
        </p:spPr>
        <p:txBody>
          <a:bodyPr>
            <a:normAutofit/>
          </a:bodyPr>
          <a:lstStyle/>
          <a:p>
            <a:r>
              <a:rPr lang="en-GB" dirty="0"/>
              <a:t>Suppose:</a:t>
            </a:r>
          </a:p>
          <a:p>
            <a:r>
              <a:rPr lang="en-GB" dirty="0"/>
              <a:t>Fs = 100 Hz</a:t>
            </a:r>
          </a:p>
          <a:p>
            <a:r>
              <a:rPr lang="en-GB" dirty="0"/>
              <a:t>and a causal layer uses:</a:t>
            </a:r>
          </a:p>
          <a:p>
            <a:pPr lvl="1"/>
            <a:r>
              <a:rPr lang="en-GB" dirty="0"/>
              <a:t>K = 3</a:t>
            </a:r>
          </a:p>
          <a:p>
            <a:pPr lvl="1"/>
            <a:r>
              <a:rPr lang="en-GB" dirty="0"/>
              <a:t>D = 10</a:t>
            </a:r>
          </a:p>
          <a:p>
            <a:r>
              <a:rPr lang="en-GB" dirty="0"/>
              <a:t>The kernel positions are separated by: 10 / 100 = 0.1 seconds</a:t>
            </a:r>
          </a:p>
          <a:p>
            <a:r>
              <a:rPr lang="en-GB" dirty="0"/>
              <a:t>The effective span is: 1 + 2×10 = 21 frames</a:t>
            </a:r>
          </a:p>
          <a:p>
            <a:r>
              <a:rPr lang="en-GB" dirty="0"/>
              <a:t>or approximately: 0.21 seconds</a:t>
            </a:r>
          </a:p>
          <a:p>
            <a:endParaRPr lang="en-GB" dirty="0"/>
          </a:p>
        </p:txBody>
      </p:sp>
      <p:sp>
        <p:nvSpPr>
          <p:cNvPr id="4" name="Segnaposto contenuto 3">
            <a:extLst>
              <a:ext uri="{FF2B5EF4-FFF2-40B4-BE49-F238E27FC236}">
                <a16:creationId xmlns:a16="http://schemas.microsoft.com/office/drawing/2014/main" id="{FCFF346F-CDDA-9D45-4272-BDF80597B18B}"/>
              </a:ext>
            </a:extLst>
          </p:cNvPr>
          <p:cNvSpPr>
            <a:spLocks noGrp="1"/>
          </p:cNvSpPr>
          <p:nvPr>
            <p:ph sz="half" idx="2"/>
          </p:nvPr>
        </p:nvSpPr>
        <p:spPr>
          <a:xfrm>
            <a:off x="6523087" y="2160589"/>
            <a:ext cx="5501830" cy="4570411"/>
          </a:xfrm>
        </p:spPr>
        <p:txBody>
          <a:bodyPr>
            <a:normAutofit/>
          </a:bodyPr>
          <a:lstStyle/>
          <a:p>
            <a:r>
              <a:rPr lang="en-GB" b="1" dirty="0"/>
              <a:t>Important point</a:t>
            </a:r>
          </a:p>
          <a:p>
            <a:r>
              <a:rPr lang="en-GB" b="1" dirty="0"/>
              <a:t>Dilation should also be interpreted in physical time.</a:t>
            </a:r>
          </a:p>
          <a:p>
            <a:r>
              <a:rPr lang="en-GB" b="1" dirty="0"/>
              <a:t>A dilation of 10 has very different meaning</a:t>
            </a:r>
            <a:r>
              <a:rPr lang="en-GB" dirty="0"/>
              <a:t> for:</a:t>
            </a:r>
          </a:p>
          <a:p>
            <a:pPr lvl="1"/>
            <a:r>
              <a:rPr lang="en-GB" dirty="0"/>
              <a:t>100 Hz vibration data; </a:t>
            </a:r>
          </a:p>
          <a:p>
            <a:pPr lvl="1"/>
            <a:r>
              <a:rPr lang="en-GB" dirty="0"/>
              <a:t>1 Hz process data; </a:t>
            </a:r>
          </a:p>
          <a:p>
            <a:pPr lvl="1"/>
            <a:r>
              <a:rPr lang="en-GB" dirty="0"/>
              <a:t>hourly demand data. </a:t>
            </a:r>
          </a:p>
          <a:p>
            <a:endParaRPr lang="en-GB" b="1" dirty="0"/>
          </a:p>
          <a:p>
            <a:r>
              <a:rPr lang="en-GB" b="1" dirty="0">
                <a:highlight>
                  <a:srgbClr val="FFFF00"/>
                </a:highlight>
              </a:rPr>
              <a:t>Design question</a:t>
            </a:r>
          </a:p>
          <a:p>
            <a:r>
              <a:rPr lang="en-GB" dirty="0"/>
              <a:t>What temporal scales should the network be able to connect directly?</a:t>
            </a:r>
          </a:p>
          <a:p>
            <a:endParaRPr lang="en-GB" dirty="0"/>
          </a:p>
        </p:txBody>
      </p:sp>
      <p:sp>
        <p:nvSpPr>
          <p:cNvPr id="6" name="CasellaDiTesto 5">
            <a:extLst>
              <a:ext uri="{FF2B5EF4-FFF2-40B4-BE49-F238E27FC236}">
                <a16:creationId xmlns:a16="http://schemas.microsoft.com/office/drawing/2014/main" id="{7D325979-570A-E1C8-50E0-562283F0F9AB}"/>
              </a:ext>
            </a:extLst>
          </p:cNvPr>
          <p:cNvSpPr txBox="1"/>
          <p:nvPr/>
        </p:nvSpPr>
        <p:spPr>
          <a:xfrm>
            <a:off x="677334" y="6248400"/>
            <a:ext cx="2967566" cy="307777"/>
          </a:xfrm>
          <a:prstGeom prst="rect">
            <a:avLst/>
          </a:prstGeom>
          <a:noFill/>
        </p:spPr>
        <p:txBody>
          <a:bodyPr wrap="square">
            <a:spAutoFit/>
          </a:bodyPr>
          <a:lstStyle/>
          <a:p>
            <a:pPr marL="0" indent="0">
              <a:buNone/>
            </a:pPr>
            <a:r>
              <a:rPr lang="en-US" sz="1400" b="1" dirty="0">
                <a:solidFill>
                  <a:srgbClr val="86B817"/>
                </a:solidFill>
                <a:highlight>
                  <a:srgbClr val="FFFF00"/>
                </a:highlight>
              </a:rPr>
              <a:t>effective span = 1 + (K − 1) × D</a:t>
            </a:r>
            <a:endParaRPr lang="en-US" sz="1400" dirty="0">
              <a:highlight>
                <a:srgbClr val="FFFF00"/>
              </a:highlight>
            </a:endParaRPr>
          </a:p>
        </p:txBody>
      </p:sp>
      <p:cxnSp>
        <p:nvCxnSpPr>
          <p:cNvPr id="8" name="Connettore 2 7">
            <a:extLst>
              <a:ext uri="{FF2B5EF4-FFF2-40B4-BE49-F238E27FC236}">
                <a16:creationId xmlns:a16="http://schemas.microsoft.com/office/drawing/2014/main" id="{E33ABCD0-593B-0C5B-511B-B30CE23FC665}"/>
              </a:ext>
            </a:extLst>
          </p:cNvPr>
          <p:cNvCxnSpPr/>
          <p:nvPr/>
        </p:nvCxnSpPr>
        <p:spPr>
          <a:xfrm flipV="1">
            <a:off x="1981200" y="5092700"/>
            <a:ext cx="2603500" cy="11684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967091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9333685-777C-B862-7EF2-EFA9273A790C}"/>
              </a:ext>
            </a:extLst>
          </p:cNvPr>
          <p:cNvSpPr>
            <a:spLocks noGrp="1"/>
          </p:cNvSpPr>
          <p:nvPr>
            <p:ph type="title"/>
          </p:nvPr>
        </p:nvSpPr>
        <p:spPr/>
        <p:txBody>
          <a:bodyPr/>
          <a:lstStyle/>
          <a:p>
            <a:r>
              <a:rPr lang="en-GB" dirty="0"/>
              <a:t>Dilation preserves temporal resolution</a:t>
            </a:r>
          </a:p>
        </p:txBody>
      </p:sp>
      <p:sp>
        <p:nvSpPr>
          <p:cNvPr id="3" name="Segnaposto contenuto 2">
            <a:extLst>
              <a:ext uri="{FF2B5EF4-FFF2-40B4-BE49-F238E27FC236}">
                <a16:creationId xmlns:a16="http://schemas.microsoft.com/office/drawing/2014/main" id="{12B880C4-AED6-1C6C-14EE-3336BACA99B9}"/>
              </a:ext>
            </a:extLst>
          </p:cNvPr>
          <p:cNvSpPr>
            <a:spLocks noGrp="1"/>
          </p:cNvSpPr>
          <p:nvPr>
            <p:ph sz="half" idx="1"/>
          </p:nvPr>
        </p:nvSpPr>
        <p:spPr>
          <a:xfrm>
            <a:off x="677334" y="2160589"/>
            <a:ext cx="5240866" cy="4418010"/>
          </a:xfrm>
        </p:spPr>
        <p:txBody>
          <a:bodyPr>
            <a:normAutofit fontScale="92500" lnSpcReduction="10000"/>
          </a:bodyPr>
          <a:lstStyle/>
          <a:p>
            <a:r>
              <a:rPr lang="en-GB" dirty="0"/>
              <a:t>Consider two methods for increasing temporal context.</a:t>
            </a:r>
          </a:p>
          <a:p>
            <a:r>
              <a:rPr lang="en-GB" b="1" dirty="0" err="1"/>
              <a:t>Downsampling</a:t>
            </a:r>
            <a:endParaRPr lang="en-GB" b="1" dirty="0"/>
          </a:p>
          <a:p>
            <a:pPr lvl="1"/>
            <a:r>
              <a:rPr lang="en-GB" dirty="0"/>
              <a:t>Conv / pooling</a:t>
            </a:r>
          </a:p>
          <a:p>
            <a:pPr lvl="1"/>
            <a:r>
              <a:rPr lang="en-GB" dirty="0"/>
              <a:t>      ↓</a:t>
            </a:r>
          </a:p>
          <a:p>
            <a:pPr lvl="1"/>
            <a:r>
              <a:rPr lang="en-GB" dirty="0"/>
              <a:t>shorter sequence</a:t>
            </a:r>
          </a:p>
          <a:p>
            <a:r>
              <a:rPr lang="en-GB" dirty="0"/>
              <a:t>Advantage:</a:t>
            </a:r>
          </a:p>
          <a:p>
            <a:pPr lvl="1"/>
            <a:r>
              <a:rPr lang="en-GB" dirty="0"/>
              <a:t>efficient. </a:t>
            </a:r>
          </a:p>
          <a:p>
            <a:r>
              <a:rPr lang="en-GB" dirty="0"/>
              <a:t>Cost:</a:t>
            </a:r>
          </a:p>
          <a:p>
            <a:pPr lvl="1"/>
            <a:r>
              <a:rPr lang="en-GB" dirty="0"/>
              <a:t>lower temporal resolution. </a:t>
            </a:r>
          </a:p>
          <a:p>
            <a:r>
              <a:rPr lang="en-GB" b="1" dirty="0"/>
              <a:t>Dilation</a:t>
            </a:r>
          </a:p>
          <a:p>
            <a:pPr lvl="1"/>
            <a:r>
              <a:rPr lang="en-GB" dirty="0"/>
              <a:t>same number of output positions</a:t>
            </a:r>
          </a:p>
          <a:p>
            <a:pPr lvl="1"/>
            <a:r>
              <a:rPr lang="en-GB" dirty="0"/>
              <a:t>but kernel samples wider-spaced inputs</a:t>
            </a:r>
          </a:p>
          <a:p>
            <a:endParaRPr lang="en-GB" dirty="0"/>
          </a:p>
        </p:txBody>
      </p:sp>
      <p:sp>
        <p:nvSpPr>
          <p:cNvPr id="4" name="Segnaposto contenuto 3">
            <a:extLst>
              <a:ext uri="{FF2B5EF4-FFF2-40B4-BE49-F238E27FC236}">
                <a16:creationId xmlns:a16="http://schemas.microsoft.com/office/drawing/2014/main" id="{BB09A67B-BA4B-7F72-E436-306AED70CA81}"/>
              </a:ext>
            </a:extLst>
          </p:cNvPr>
          <p:cNvSpPr>
            <a:spLocks noGrp="1"/>
          </p:cNvSpPr>
          <p:nvPr>
            <p:ph sz="half" idx="2"/>
          </p:nvPr>
        </p:nvSpPr>
        <p:spPr>
          <a:xfrm>
            <a:off x="6719937" y="2225678"/>
            <a:ext cx="5108130" cy="4418011"/>
          </a:xfrm>
        </p:spPr>
        <p:txBody>
          <a:bodyPr>
            <a:normAutofit fontScale="92500" lnSpcReduction="10000"/>
          </a:bodyPr>
          <a:lstStyle/>
          <a:p>
            <a:r>
              <a:rPr lang="en-GB" b="1" dirty="0"/>
              <a:t>Advantage:</a:t>
            </a:r>
          </a:p>
          <a:p>
            <a:pPr lvl="1"/>
            <a:r>
              <a:rPr lang="en-GB" b="1" dirty="0"/>
              <a:t>larger receptive field; </a:t>
            </a:r>
          </a:p>
          <a:p>
            <a:pPr lvl="1"/>
            <a:r>
              <a:rPr lang="en-GB" b="1" dirty="0"/>
              <a:t>temporal resolution can stay unchanged. </a:t>
            </a:r>
          </a:p>
          <a:p>
            <a:r>
              <a:rPr lang="en-GB" b="1" dirty="0">
                <a:solidFill>
                  <a:schemeClr val="tx1"/>
                </a:solidFill>
                <a:highlight>
                  <a:srgbClr val="FFFF00"/>
                </a:highlight>
              </a:rPr>
              <a:t>Especially useful for</a:t>
            </a:r>
          </a:p>
          <a:p>
            <a:pPr lvl="1"/>
            <a:r>
              <a:rPr lang="en-GB" dirty="0"/>
              <a:t>sequence labelling — long context with dense, aligned outputs;</a:t>
            </a:r>
          </a:p>
          <a:p>
            <a:pPr lvl="1"/>
            <a:r>
              <a:rPr lang="en-GB" dirty="0"/>
              <a:t>online prediction — causal inference as data arrive;</a:t>
            </a:r>
          </a:p>
          <a:p>
            <a:pPr lvl="1"/>
            <a:r>
              <a:rPr lang="en-GB" dirty="0"/>
              <a:t>forecasting — long past context for future prediction;</a:t>
            </a:r>
          </a:p>
          <a:p>
            <a:pPr lvl="1"/>
            <a:r>
              <a:rPr lang="en-GB" dirty="0"/>
              <a:t>event detection — long-context pattern detection without coarse </a:t>
            </a:r>
            <a:r>
              <a:rPr lang="en-GB" dirty="0" err="1"/>
              <a:t>downsampling</a:t>
            </a:r>
            <a:r>
              <a:rPr lang="en-GB" dirty="0"/>
              <a:t>. </a:t>
            </a:r>
          </a:p>
          <a:p>
            <a:r>
              <a:rPr lang="en-GB" dirty="0"/>
              <a:t>where one output may still be required at every original time position.</a:t>
            </a:r>
          </a:p>
          <a:p>
            <a:endParaRPr lang="en-GB" dirty="0"/>
          </a:p>
        </p:txBody>
      </p:sp>
    </p:spTree>
    <p:extLst>
      <p:ext uri="{BB962C8B-B14F-4D97-AF65-F5344CB8AC3E}">
        <p14:creationId xmlns:p14="http://schemas.microsoft.com/office/powerpoint/2010/main" val="137420278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Dilation preserves temporal resolution</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dirty="0">
                <a:solidFill>
                  <a:srgbClr val="475569"/>
                </a:solidFill>
              </a:rPr>
              <a:t>Downsampling shortens the time grid; dilation keeps output positions</a:t>
            </a:r>
            <a:endParaRPr lang="en-US" sz="1150" dirty="0"/>
          </a:p>
        </p:txBody>
      </p:sp>
      <p:sp>
        <p:nvSpPr>
          <p:cNvPr id="8" name="Text 6"/>
          <p:cNvSpPr/>
          <p:nvPr/>
        </p:nvSpPr>
        <p:spPr>
          <a:xfrm>
            <a:off x="1005840" y="1234440"/>
            <a:ext cx="2011680" cy="274320"/>
          </a:xfrm>
          <a:prstGeom prst="rect">
            <a:avLst/>
          </a:prstGeom>
          <a:noFill/>
          <a:ln/>
        </p:spPr>
        <p:txBody>
          <a:bodyPr wrap="square" lIns="0" tIns="0" rIns="0" bIns="0" rtlCol="0" anchor="ctr"/>
          <a:lstStyle/>
          <a:p>
            <a:pPr marL="0" indent="0">
              <a:buNone/>
            </a:pPr>
            <a:r>
              <a:rPr lang="en-US" sz="1600" b="1" dirty="0" err="1">
                <a:solidFill>
                  <a:srgbClr val="111827"/>
                </a:solidFill>
              </a:rPr>
              <a:t>Downsampling</a:t>
            </a:r>
            <a:r>
              <a:rPr lang="en-US" sz="1600" b="1" dirty="0">
                <a:solidFill>
                  <a:srgbClr val="111827"/>
                </a:solidFill>
              </a:rPr>
              <a:t> (stride or pooling)</a:t>
            </a:r>
            <a:endParaRPr lang="en-US" sz="1600" dirty="0"/>
          </a:p>
        </p:txBody>
      </p:sp>
      <p:sp>
        <p:nvSpPr>
          <p:cNvPr id="9" name="Shape 7"/>
          <p:cNvSpPr/>
          <p:nvPr/>
        </p:nvSpPr>
        <p:spPr>
          <a:xfrm>
            <a:off x="1005840" y="1965960"/>
            <a:ext cx="3840480" cy="0"/>
          </a:xfrm>
          <a:prstGeom prst="line">
            <a:avLst/>
          </a:prstGeom>
          <a:noFill/>
          <a:ln w="12700">
            <a:solidFill>
              <a:srgbClr val="94A3B8"/>
            </a:solidFill>
            <a:prstDash val="solid"/>
            <a:headEnd type="none"/>
            <a:tailEnd type="none"/>
          </a:ln>
        </p:spPr>
        <p:txBody>
          <a:bodyPr/>
          <a:lstStyle/>
          <a:p>
            <a:endParaRPr lang="en-GB"/>
          </a:p>
        </p:txBody>
      </p:sp>
      <p:sp>
        <p:nvSpPr>
          <p:cNvPr id="10" name="Shape 8"/>
          <p:cNvSpPr/>
          <p:nvPr/>
        </p:nvSpPr>
        <p:spPr>
          <a:xfrm>
            <a:off x="955548"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11" name="Shape 9"/>
          <p:cNvSpPr/>
          <p:nvPr/>
        </p:nvSpPr>
        <p:spPr>
          <a:xfrm>
            <a:off x="1211580"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12" name="Shape 10"/>
          <p:cNvSpPr/>
          <p:nvPr/>
        </p:nvSpPr>
        <p:spPr>
          <a:xfrm>
            <a:off x="1467612"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13" name="Shape 11"/>
          <p:cNvSpPr/>
          <p:nvPr/>
        </p:nvSpPr>
        <p:spPr>
          <a:xfrm>
            <a:off x="1723644"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14" name="Shape 12"/>
          <p:cNvSpPr/>
          <p:nvPr/>
        </p:nvSpPr>
        <p:spPr>
          <a:xfrm>
            <a:off x="1979676"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15" name="Shape 13"/>
          <p:cNvSpPr/>
          <p:nvPr/>
        </p:nvSpPr>
        <p:spPr>
          <a:xfrm>
            <a:off x="2235708"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16" name="Shape 14"/>
          <p:cNvSpPr/>
          <p:nvPr/>
        </p:nvSpPr>
        <p:spPr>
          <a:xfrm>
            <a:off x="2491740"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17" name="Shape 15"/>
          <p:cNvSpPr/>
          <p:nvPr/>
        </p:nvSpPr>
        <p:spPr>
          <a:xfrm>
            <a:off x="2747772"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18" name="Shape 16"/>
          <p:cNvSpPr/>
          <p:nvPr/>
        </p:nvSpPr>
        <p:spPr>
          <a:xfrm>
            <a:off x="3003804"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19" name="Shape 17"/>
          <p:cNvSpPr/>
          <p:nvPr/>
        </p:nvSpPr>
        <p:spPr>
          <a:xfrm>
            <a:off x="3259836"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20" name="Shape 18"/>
          <p:cNvSpPr/>
          <p:nvPr/>
        </p:nvSpPr>
        <p:spPr>
          <a:xfrm>
            <a:off x="3515868"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21" name="Shape 19"/>
          <p:cNvSpPr/>
          <p:nvPr/>
        </p:nvSpPr>
        <p:spPr>
          <a:xfrm>
            <a:off x="3771900"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22" name="Shape 20"/>
          <p:cNvSpPr/>
          <p:nvPr/>
        </p:nvSpPr>
        <p:spPr>
          <a:xfrm>
            <a:off x="4027932"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23" name="Shape 21"/>
          <p:cNvSpPr/>
          <p:nvPr/>
        </p:nvSpPr>
        <p:spPr>
          <a:xfrm>
            <a:off x="4283964"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24" name="Shape 22"/>
          <p:cNvSpPr/>
          <p:nvPr/>
        </p:nvSpPr>
        <p:spPr>
          <a:xfrm>
            <a:off x="4539996"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25" name="Shape 23"/>
          <p:cNvSpPr/>
          <p:nvPr/>
        </p:nvSpPr>
        <p:spPr>
          <a:xfrm>
            <a:off x="4796028" y="1915668"/>
            <a:ext cx="100584" cy="100584"/>
          </a:xfrm>
          <a:prstGeom prst="ellipse">
            <a:avLst/>
          </a:prstGeom>
          <a:solidFill>
            <a:srgbClr val="FFFFFF"/>
          </a:solidFill>
          <a:ln w="8890">
            <a:solidFill>
              <a:srgbClr val="94A3B8"/>
            </a:solidFill>
            <a:prstDash val="solid"/>
          </a:ln>
        </p:spPr>
        <p:txBody>
          <a:bodyPr/>
          <a:lstStyle/>
          <a:p>
            <a:endParaRPr lang="en-GB"/>
          </a:p>
        </p:txBody>
      </p:sp>
      <p:sp>
        <p:nvSpPr>
          <p:cNvPr id="26" name="Shape 24"/>
          <p:cNvSpPr/>
          <p:nvPr/>
        </p:nvSpPr>
        <p:spPr>
          <a:xfrm>
            <a:off x="1920240" y="2331720"/>
            <a:ext cx="0" cy="320040"/>
          </a:xfrm>
          <a:prstGeom prst="line">
            <a:avLst/>
          </a:prstGeom>
          <a:noFill/>
          <a:ln w="12700">
            <a:solidFill>
              <a:srgbClr val="475569"/>
            </a:solidFill>
            <a:prstDash val="solid"/>
            <a:headEnd type="none"/>
            <a:tailEnd type="triangle"/>
          </a:ln>
        </p:spPr>
        <p:txBody>
          <a:bodyPr/>
          <a:lstStyle/>
          <a:p>
            <a:endParaRPr lang="en-GB"/>
          </a:p>
        </p:txBody>
      </p:sp>
      <p:sp>
        <p:nvSpPr>
          <p:cNvPr id="27" name="Shape 25"/>
          <p:cNvSpPr/>
          <p:nvPr/>
        </p:nvSpPr>
        <p:spPr>
          <a:xfrm>
            <a:off x="1005840" y="2834640"/>
            <a:ext cx="3584448" cy="0"/>
          </a:xfrm>
          <a:prstGeom prst="line">
            <a:avLst/>
          </a:prstGeom>
          <a:noFill/>
          <a:ln w="12700">
            <a:solidFill>
              <a:srgbClr val="94A3B8"/>
            </a:solidFill>
            <a:prstDash val="solid"/>
            <a:headEnd type="none"/>
            <a:tailEnd type="none"/>
          </a:ln>
        </p:spPr>
        <p:txBody>
          <a:bodyPr/>
          <a:lstStyle/>
          <a:p>
            <a:endParaRPr lang="en-GB"/>
          </a:p>
        </p:txBody>
      </p:sp>
      <p:sp>
        <p:nvSpPr>
          <p:cNvPr id="28" name="Shape 26"/>
          <p:cNvSpPr/>
          <p:nvPr/>
        </p:nvSpPr>
        <p:spPr>
          <a:xfrm>
            <a:off x="955548" y="2784348"/>
            <a:ext cx="100584" cy="100584"/>
          </a:xfrm>
          <a:prstGeom prst="ellipse">
            <a:avLst/>
          </a:prstGeom>
          <a:solidFill>
            <a:srgbClr val="FFFFFF"/>
          </a:solidFill>
          <a:ln w="8890">
            <a:solidFill>
              <a:srgbClr val="94A3B8"/>
            </a:solidFill>
            <a:prstDash val="solid"/>
          </a:ln>
        </p:spPr>
        <p:txBody>
          <a:bodyPr/>
          <a:lstStyle/>
          <a:p>
            <a:endParaRPr lang="en-GB"/>
          </a:p>
        </p:txBody>
      </p:sp>
      <p:sp>
        <p:nvSpPr>
          <p:cNvPr id="29" name="Shape 27"/>
          <p:cNvSpPr/>
          <p:nvPr/>
        </p:nvSpPr>
        <p:spPr>
          <a:xfrm>
            <a:off x="1467612" y="2784348"/>
            <a:ext cx="100584" cy="100584"/>
          </a:xfrm>
          <a:prstGeom prst="ellipse">
            <a:avLst/>
          </a:prstGeom>
          <a:solidFill>
            <a:srgbClr val="FFFFFF"/>
          </a:solidFill>
          <a:ln w="8890">
            <a:solidFill>
              <a:srgbClr val="94A3B8"/>
            </a:solidFill>
            <a:prstDash val="solid"/>
          </a:ln>
        </p:spPr>
        <p:txBody>
          <a:bodyPr/>
          <a:lstStyle/>
          <a:p>
            <a:endParaRPr lang="en-GB"/>
          </a:p>
        </p:txBody>
      </p:sp>
      <p:sp>
        <p:nvSpPr>
          <p:cNvPr id="30" name="Shape 28"/>
          <p:cNvSpPr/>
          <p:nvPr/>
        </p:nvSpPr>
        <p:spPr>
          <a:xfrm>
            <a:off x="1979676" y="2784348"/>
            <a:ext cx="100584" cy="100584"/>
          </a:xfrm>
          <a:prstGeom prst="ellipse">
            <a:avLst/>
          </a:prstGeom>
          <a:solidFill>
            <a:srgbClr val="FFFFFF"/>
          </a:solidFill>
          <a:ln w="8890">
            <a:solidFill>
              <a:srgbClr val="94A3B8"/>
            </a:solidFill>
            <a:prstDash val="solid"/>
          </a:ln>
        </p:spPr>
        <p:txBody>
          <a:bodyPr/>
          <a:lstStyle/>
          <a:p>
            <a:endParaRPr lang="en-GB"/>
          </a:p>
        </p:txBody>
      </p:sp>
      <p:sp>
        <p:nvSpPr>
          <p:cNvPr id="31" name="Shape 29"/>
          <p:cNvSpPr/>
          <p:nvPr/>
        </p:nvSpPr>
        <p:spPr>
          <a:xfrm>
            <a:off x="2491740" y="2784348"/>
            <a:ext cx="100584" cy="100584"/>
          </a:xfrm>
          <a:prstGeom prst="ellipse">
            <a:avLst/>
          </a:prstGeom>
          <a:solidFill>
            <a:srgbClr val="FFFFFF"/>
          </a:solidFill>
          <a:ln w="8890">
            <a:solidFill>
              <a:srgbClr val="94A3B8"/>
            </a:solidFill>
            <a:prstDash val="solid"/>
          </a:ln>
        </p:spPr>
        <p:txBody>
          <a:bodyPr/>
          <a:lstStyle/>
          <a:p>
            <a:endParaRPr lang="en-GB"/>
          </a:p>
        </p:txBody>
      </p:sp>
      <p:sp>
        <p:nvSpPr>
          <p:cNvPr id="32" name="Shape 30"/>
          <p:cNvSpPr/>
          <p:nvPr/>
        </p:nvSpPr>
        <p:spPr>
          <a:xfrm>
            <a:off x="3003804" y="2784348"/>
            <a:ext cx="100584" cy="100584"/>
          </a:xfrm>
          <a:prstGeom prst="ellipse">
            <a:avLst/>
          </a:prstGeom>
          <a:solidFill>
            <a:srgbClr val="FFFFFF"/>
          </a:solidFill>
          <a:ln w="8890">
            <a:solidFill>
              <a:srgbClr val="94A3B8"/>
            </a:solidFill>
            <a:prstDash val="solid"/>
          </a:ln>
        </p:spPr>
        <p:txBody>
          <a:bodyPr/>
          <a:lstStyle/>
          <a:p>
            <a:endParaRPr lang="en-GB"/>
          </a:p>
        </p:txBody>
      </p:sp>
      <p:sp>
        <p:nvSpPr>
          <p:cNvPr id="33" name="Shape 31"/>
          <p:cNvSpPr/>
          <p:nvPr/>
        </p:nvSpPr>
        <p:spPr>
          <a:xfrm>
            <a:off x="3515868" y="2784348"/>
            <a:ext cx="100584" cy="100584"/>
          </a:xfrm>
          <a:prstGeom prst="ellipse">
            <a:avLst/>
          </a:prstGeom>
          <a:solidFill>
            <a:srgbClr val="FFFFFF"/>
          </a:solidFill>
          <a:ln w="8890">
            <a:solidFill>
              <a:srgbClr val="94A3B8"/>
            </a:solidFill>
            <a:prstDash val="solid"/>
          </a:ln>
        </p:spPr>
        <p:txBody>
          <a:bodyPr/>
          <a:lstStyle/>
          <a:p>
            <a:endParaRPr lang="en-GB"/>
          </a:p>
        </p:txBody>
      </p:sp>
      <p:sp>
        <p:nvSpPr>
          <p:cNvPr id="34" name="Shape 32"/>
          <p:cNvSpPr/>
          <p:nvPr/>
        </p:nvSpPr>
        <p:spPr>
          <a:xfrm>
            <a:off x="4027932" y="2784348"/>
            <a:ext cx="100584" cy="100584"/>
          </a:xfrm>
          <a:prstGeom prst="ellipse">
            <a:avLst/>
          </a:prstGeom>
          <a:solidFill>
            <a:srgbClr val="FFFFFF"/>
          </a:solidFill>
          <a:ln w="8890">
            <a:solidFill>
              <a:srgbClr val="94A3B8"/>
            </a:solidFill>
            <a:prstDash val="solid"/>
          </a:ln>
        </p:spPr>
        <p:txBody>
          <a:bodyPr/>
          <a:lstStyle/>
          <a:p>
            <a:endParaRPr lang="en-GB"/>
          </a:p>
        </p:txBody>
      </p:sp>
      <p:sp>
        <p:nvSpPr>
          <p:cNvPr id="35" name="Shape 33"/>
          <p:cNvSpPr/>
          <p:nvPr/>
        </p:nvSpPr>
        <p:spPr>
          <a:xfrm>
            <a:off x="4539996" y="2784348"/>
            <a:ext cx="100584" cy="100584"/>
          </a:xfrm>
          <a:prstGeom prst="ellipse">
            <a:avLst/>
          </a:prstGeom>
          <a:solidFill>
            <a:srgbClr val="FFFFFF"/>
          </a:solidFill>
          <a:ln w="8890">
            <a:solidFill>
              <a:srgbClr val="94A3B8"/>
            </a:solidFill>
            <a:prstDash val="solid"/>
          </a:ln>
        </p:spPr>
        <p:txBody>
          <a:bodyPr/>
          <a:lstStyle/>
          <a:p>
            <a:endParaRPr lang="en-GB"/>
          </a:p>
        </p:txBody>
      </p:sp>
      <p:sp>
        <p:nvSpPr>
          <p:cNvPr id="36" name="Text 34"/>
          <p:cNvSpPr/>
          <p:nvPr/>
        </p:nvSpPr>
        <p:spPr>
          <a:xfrm>
            <a:off x="5303520" y="2651760"/>
            <a:ext cx="1828800" cy="228600"/>
          </a:xfrm>
          <a:prstGeom prst="rect">
            <a:avLst/>
          </a:prstGeom>
          <a:noFill/>
          <a:ln/>
        </p:spPr>
        <p:txBody>
          <a:bodyPr wrap="square" lIns="0" tIns="0" rIns="0" bIns="0" rtlCol="0" anchor="ctr"/>
          <a:lstStyle/>
          <a:p>
            <a:pPr marL="0" indent="0">
              <a:buNone/>
            </a:pPr>
            <a:r>
              <a:rPr lang="en-US" sz="1150" dirty="0">
                <a:solidFill>
                  <a:srgbClr val="475569"/>
                </a:solidFill>
              </a:rPr>
              <a:t>fewer output positions</a:t>
            </a:r>
            <a:endParaRPr lang="en-US" sz="1150" dirty="0"/>
          </a:p>
        </p:txBody>
      </p:sp>
      <p:sp>
        <p:nvSpPr>
          <p:cNvPr id="37" name="Text 35"/>
          <p:cNvSpPr/>
          <p:nvPr/>
        </p:nvSpPr>
        <p:spPr>
          <a:xfrm>
            <a:off x="1005840" y="3703320"/>
            <a:ext cx="2011680" cy="274320"/>
          </a:xfrm>
          <a:prstGeom prst="rect">
            <a:avLst/>
          </a:prstGeom>
          <a:noFill/>
          <a:ln/>
        </p:spPr>
        <p:txBody>
          <a:bodyPr wrap="square" lIns="0" tIns="0" rIns="0" bIns="0" rtlCol="0" anchor="ctr"/>
          <a:lstStyle/>
          <a:p>
            <a:pPr marL="0" indent="0">
              <a:buNone/>
            </a:pPr>
            <a:r>
              <a:rPr lang="en-US" sz="1600" b="1" dirty="0">
                <a:solidFill>
                  <a:srgbClr val="111827"/>
                </a:solidFill>
              </a:rPr>
              <a:t>Dilation</a:t>
            </a:r>
            <a:endParaRPr lang="en-US" sz="1600" dirty="0"/>
          </a:p>
        </p:txBody>
      </p:sp>
      <p:sp>
        <p:nvSpPr>
          <p:cNvPr id="38" name="Shape 36"/>
          <p:cNvSpPr/>
          <p:nvPr/>
        </p:nvSpPr>
        <p:spPr>
          <a:xfrm>
            <a:off x="1005840" y="4434840"/>
            <a:ext cx="3840480" cy="0"/>
          </a:xfrm>
          <a:prstGeom prst="line">
            <a:avLst/>
          </a:prstGeom>
          <a:noFill/>
          <a:ln w="12700">
            <a:solidFill>
              <a:srgbClr val="94A3B8"/>
            </a:solidFill>
            <a:prstDash val="solid"/>
            <a:headEnd type="none"/>
            <a:tailEnd type="none"/>
          </a:ln>
        </p:spPr>
        <p:txBody>
          <a:bodyPr/>
          <a:lstStyle/>
          <a:p>
            <a:endParaRPr lang="en-GB"/>
          </a:p>
        </p:txBody>
      </p:sp>
      <p:sp>
        <p:nvSpPr>
          <p:cNvPr id="39" name="Shape 37"/>
          <p:cNvSpPr/>
          <p:nvPr/>
        </p:nvSpPr>
        <p:spPr>
          <a:xfrm>
            <a:off x="955548"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0" name="Shape 38"/>
          <p:cNvSpPr/>
          <p:nvPr/>
        </p:nvSpPr>
        <p:spPr>
          <a:xfrm>
            <a:off x="1211580"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1" name="Shape 39"/>
          <p:cNvSpPr/>
          <p:nvPr/>
        </p:nvSpPr>
        <p:spPr>
          <a:xfrm>
            <a:off x="1467612"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2" name="Shape 40"/>
          <p:cNvSpPr/>
          <p:nvPr/>
        </p:nvSpPr>
        <p:spPr>
          <a:xfrm>
            <a:off x="1723644"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3" name="Shape 41"/>
          <p:cNvSpPr/>
          <p:nvPr/>
        </p:nvSpPr>
        <p:spPr>
          <a:xfrm>
            <a:off x="1979676"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4" name="Shape 42"/>
          <p:cNvSpPr/>
          <p:nvPr/>
        </p:nvSpPr>
        <p:spPr>
          <a:xfrm>
            <a:off x="2235708"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5" name="Shape 43"/>
          <p:cNvSpPr/>
          <p:nvPr/>
        </p:nvSpPr>
        <p:spPr>
          <a:xfrm>
            <a:off x="2491740"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6" name="Shape 44"/>
          <p:cNvSpPr/>
          <p:nvPr/>
        </p:nvSpPr>
        <p:spPr>
          <a:xfrm>
            <a:off x="2747772"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7" name="Shape 45"/>
          <p:cNvSpPr/>
          <p:nvPr/>
        </p:nvSpPr>
        <p:spPr>
          <a:xfrm>
            <a:off x="3003804"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8" name="Shape 46"/>
          <p:cNvSpPr/>
          <p:nvPr/>
        </p:nvSpPr>
        <p:spPr>
          <a:xfrm>
            <a:off x="3259836"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49" name="Shape 47"/>
          <p:cNvSpPr/>
          <p:nvPr/>
        </p:nvSpPr>
        <p:spPr>
          <a:xfrm>
            <a:off x="3515868"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50" name="Shape 48"/>
          <p:cNvSpPr/>
          <p:nvPr/>
        </p:nvSpPr>
        <p:spPr>
          <a:xfrm>
            <a:off x="3771900"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51" name="Shape 49"/>
          <p:cNvSpPr/>
          <p:nvPr/>
        </p:nvSpPr>
        <p:spPr>
          <a:xfrm>
            <a:off x="4027932"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52" name="Shape 50"/>
          <p:cNvSpPr/>
          <p:nvPr/>
        </p:nvSpPr>
        <p:spPr>
          <a:xfrm>
            <a:off x="4283964"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53" name="Shape 51"/>
          <p:cNvSpPr/>
          <p:nvPr/>
        </p:nvSpPr>
        <p:spPr>
          <a:xfrm>
            <a:off x="4539996"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54" name="Shape 52"/>
          <p:cNvSpPr/>
          <p:nvPr/>
        </p:nvSpPr>
        <p:spPr>
          <a:xfrm>
            <a:off x="4796028" y="4384548"/>
            <a:ext cx="100584" cy="100584"/>
          </a:xfrm>
          <a:prstGeom prst="ellipse">
            <a:avLst/>
          </a:prstGeom>
          <a:solidFill>
            <a:srgbClr val="FFFFFF"/>
          </a:solidFill>
          <a:ln w="8890">
            <a:solidFill>
              <a:srgbClr val="94A3B8"/>
            </a:solidFill>
            <a:prstDash val="solid"/>
          </a:ln>
        </p:spPr>
        <p:txBody>
          <a:bodyPr/>
          <a:lstStyle/>
          <a:p>
            <a:endParaRPr lang="en-GB"/>
          </a:p>
        </p:txBody>
      </p:sp>
      <p:sp>
        <p:nvSpPr>
          <p:cNvPr id="55" name="Shape 53"/>
          <p:cNvSpPr/>
          <p:nvPr/>
        </p:nvSpPr>
        <p:spPr>
          <a:xfrm>
            <a:off x="2747772" y="4384548"/>
            <a:ext cx="100584" cy="100584"/>
          </a:xfrm>
          <a:prstGeom prst="ellipse">
            <a:avLst/>
          </a:prstGeom>
          <a:solidFill>
            <a:srgbClr val="F1B400"/>
          </a:solidFill>
          <a:ln w="15240">
            <a:solidFill>
              <a:srgbClr val="F1B400"/>
            </a:solidFill>
            <a:prstDash val="solid"/>
          </a:ln>
        </p:spPr>
        <p:txBody>
          <a:bodyPr/>
          <a:lstStyle/>
          <a:p>
            <a:endParaRPr lang="en-GB"/>
          </a:p>
        </p:txBody>
      </p:sp>
      <p:sp>
        <p:nvSpPr>
          <p:cNvPr id="56" name="Shape 54"/>
          <p:cNvSpPr/>
          <p:nvPr/>
        </p:nvSpPr>
        <p:spPr>
          <a:xfrm>
            <a:off x="3771900" y="4384548"/>
            <a:ext cx="100584" cy="100584"/>
          </a:xfrm>
          <a:prstGeom prst="ellipse">
            <a:avLst/>
          </a:prstGeom>
          <a:solidFill>
            <a:srgbClr val="2B73FF"/>
          </a:solidFill>
          <a:ln w="15240">
            <a:solidFill>
              <a:srgbClr val="2B73FF"/>
            </a:solidFill>
            <a:prstDash val="solid"/>
          </a:ln>
        </p:spPr>
        <p:txBody>
          <a:bodyPr/>
          <a:lstStyle/>
          <a:p>
            <a:endParaRPr lang="en-GB"/>
          </a:p>
        </p:txBody>
      </p:sp>
      <p:sp>
        <p:nvSpPr>
          <p:cNvPr id="57" name="Shape 55"/>
          <p:cNvSpPr/>
          <p:nvPr/>
        </p:nvSpPr>
        <p:spPr>
          <a:xfrm>
            <a:off x="4796028" y="4384548"/>
            <a:ext cx="100584" cy="100584"/>
          </a:xfrm>
          <a:prstGeom prst="ellipse">
            <a:avLst/>
          </a:prstGeom>
          <a:solidFill>
            <a:srgbClr val="86B817"/>
          </a:solidFill>
          <a:ln w="15240">
            <a:solidFill>
              <a:srgbClr val="86B817"/>
            </a:solidFill>
            <a:prstDash val="solid"/>
          </a:ln>
        </p:spPr>
        <p:txBody>
          <a:bodyPr/>
          <a:lstStyle/>
          <a:p>
            <a:endParaRPr lang="en-GB"/>
          </a:p>
        </p:txBody>
      </p:sp>
      <p:sp>
        <p:nvSpPr>
          <p:cNvPr id="58" name="Text 56"/>
          <p:cNvSpPr/>
          <p:nvPr/>
        </p:nvSpPr>
        <p:spPr>
          <a:xfrm>
            <a:off x="4983480" y="4251960"/>
            <a:ext cx="2148840" cy="228600"/>
          </a:xfrm>
          <a:prstGeom prst="rect">
            <a:avLst/>
          </a:prstGeom>
          <a:noFill/>
          <a:ln/>
        </p:spPr>
        <p:txBody>
          <a:bodyPr wrap="square" lIns="0" tIns="0" rIns="0" bIns="0" rtlCol="0" anchor="ctr"/>
          <a:lstStyle/>
          <a:p>
            <a:pPr marL="0" indent="0">
              <a:buNone/>
            </a:pPr>
            <a:r>
              <a:rPr lang="en-US" sz="1150" dirty="0">
                <a:solidFill>
                  <a:srgbClr val="475569"/>
                </a:solidFill>
              </a:rPr>
              <a:t>same output grid, wider-spaced inputs</a:t>
            </a:r>
            <a:endParaRPr lang="en-US" sz="1150" dirty="0"/>
          </a:p>
        </p:txBody>
      </p:sp>
      <p:sp>
        <p:nvSpPr>
          <p:cNvPr id="59" name="Shape 57"/>
          <p:cNvSpPr/>
          <p:nvPr/>
        </p:nvSpPr>
        <p:spPr>
          <a:xfrm>
            <a:off x="7452360" y="1828800"/>
            <a:ext cx="1554480" cy="640080"/>
          </a:xfrm>
          <a:prstGeom prst="roundRect">
            <a:avLst>
              <a:gd name="adj" fmla="val 11429"/>
            </a:avLst>
          </a:prstGeom>
          <a:solidFill>
            <a:srgbClr val="FEE2E2"/>
          </a:solidFill>
          <a:ln w="13970">
            <a:solidFill>
              <a:srgbClr val="EF4444"/>
            </a:solidFill>
            <a:prstDash val="solid"/>
          </a:ln>
        </p:spPr>
        <p:txBody>
          <a:bodyPr/>
          <a:lstStyle/>
          <a:p>
            <a:endParaRPr lang="en-GB"/>
          </a:p>
        </p:txBody>
      </p:sp>
      <p:sp>
        <p:nvSpPr>
          <p:cNvPr id="60" name="Text 58"/>
          <p:cNvSpPr/>
          <p:nvPr/>
        </p:nvSpPr>
        <p:spPr>
          <a:xfrm>
            <a:off x="7507224" y="1874520"/>
            <a:ext cx="1444752" cy="548640"/>
          </a:xfrm>
          <a:prstGeom prst="rect">
            <a:avLst/>
          </a:prstGeom>
          <a:noFill/>
          <a:ln/>
        </p:spPr>
        <p:txBody>
          <a:bodyPr wrap="square" lIns="0" tIns="0" rIns="0" bIns="0" rtlCol="0" anchor="ctr"/>
          <a:lstStyle/>
          <a:p>
            <a:pPr marL="0" indent="0" algn="ctr">
              <a:buNone/>
            </a:pPr>
            <a:r>
              <a:rPr lang="en-US" sz="1300" b="1" dirty="0">
                <a:solidFill>
                  <a:srgbClr val="EF4444"/>
                </a:solidFill>
              </a:rPr>
              <a:t>Resolution ↓</a:t>
            </a:r>
            <a:endParaRPr lang="en-US" sz="1300" dirty="0"/>
          </a:p>
        </p:txBody>
      </p:sp>
      <p:sp>
        <p:nvSpPr>
          <p:cNvPr id="61" name="Shape 59"/>
          <p:cNvSpPr/>
          <p:nvPr/>
        </p:nvSpPr>
        <p:spPr>
          <a:xfrm>
            <a:off x="7452360" y="4160520"/>
            <a:ext cx="1554480" cy="640080"/>
          </a:xfrm>
          <a:prstGeom prst="roundRect">
            <a:avLst>
              <a:gd name="adj" fmla="val 11429"/>
            </a:avLst>
          </a:prstGeom>
          <a:solidFill>
            <a:srgbClr val="EAF5D5"/>
          </a:solidFill>
          <a:ln w="13970">
            <a:solidFill>
              <a:srgbClr val="86B817"/>
            </a:solidFill>
            <a:prstDash val="solid"/>
          </a:ln>
        </p:spPr>
        <p:txBody>
          <a:bodyPr/>
          <a:lstStyle/>
          <a:p>
            <a:endParaRPr lang="en-GB"/>
          </a:p>
        </p:txBody>
      </p:sp>
      <p:sp>
        <p:nvSpPr>
          <p:cNvPr id="62" name="Text 60"/>
          <p:cNvSpPr/>
          <p:nvPr/>
        </p:nvSpPr>
        <p:spPr>
          <a:xfrm>
            <a:off x="7507224" y="4206240"/>
            <a:ext cx="1444752" cy="548640"/>
          </a:xfrm>
          <a:prstGeom prst="rect">
            <a:avLst/>
          </a:prstGeom>
          <a:noFill/>
          <a:ln/>
        </p:spPr>
        <p:txBody>
          <a:bodyPr wrap="square" lIns="0" tIns="0" rIns="0" bIns="0" rtlCol="0" anchor="ctr"/>
          <a:lstStyle/>
          <a:p>
            <a:pPr marL="0" indent="0" algn="ctr">
              <a:buNone/>
            </a:pPr>
            <a:r>
              <a:rPr lang="en-US" sz="1300" b="1" dirty="0">
                <a:solidFill>
                  <a:srgbClr val="86B817"/>
                </a:solidFill>
              </a:rPr>
              <a:t>Resolution kept</a:t>
            </a:r>
            <a:endParaRPr lang="en-US" sz="1300" dirty="0"/>
          </a:p>
        </p:txBody>
      </p:sp>
      <p:sp>
        <p:nvSpPr>
          <p:cNvPr id="63" name="Text 61"/>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i="1" dirty="0">
                <a:solidFill>
                  <a:srgbClr val="475569"/>
                </a:solidFill>
              </a:rPr>
              <a:t>Dilation expands context while avoiding the temporal coarsening caused by stride or pooling.</a:t>
            </a:r>
            <a:endParaRPr lang="en-US" sz="11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50B7EB2-6773-68FF-6214-05B57B1E8AF0}"/>
              </a:ext>
            </a:extLst>
          </p:cNvPr>
          <p:cNvSpPr>
            <a:spLocks noGrp="1"/>
          </p:cNvSpPr>
          <p:nvPr>
            <p:ph type="title"/>
          </p:nvPr>
        </p:nvSpPr>
        <p:spPr/>
        <p:txBody>
          <a:bodyPr/>
          <a:lstStyle/>
          <a:p>
            <a:r>
              <a:rPr lang="en-GB" dirty="0">
                <a:highlight>
                  <a:srgbClr val="FFFF00"/>
                </a:highlight>
              </a:rPr>
              <a:t>Dilation</a:t>
            </a:r>
            <a:r>
              <a:rPr lang="en-GB" dirty="0"/>
              <a:t> creates </a:t>
            </a:r>
            <a:r>
              <a:rPr lang="en-GB" dirty="0">
                <a:highlight>
                  <a:srgbClr val="FFFF00"/>
                </a:highlight>
              </a:rPr>
              <a:t>sparse temporal sampling</a:t>
            </a:r>
          </a:p>
        </p:txBody>
      </p:sp>
      <p:sp>
        <p:nvSpPr>
          <p:cNvPr id="3" name="Segnaposto contenuto 2">
            <a:extLst>
              <a:ext uri="{FF2B5EF4-FFF2-40B4-BE49-F238E27FC236}">
                <a16:creationId xmlns:a16="http://schemas.microsoft.com/office/drawing/2014/main" id="{9AA322FD-4BD4-0A7E-E4FD-38727A101D39}"/>
              </a:ext>
            </a:extLst>
          </p:cNvPr>
          <p:cNvSpPr>
            <a:spLocks noGrp="1"/>
          </p:cNvSpPr>
          <p:nvPr>
            <p:ph idx="1"/>
          </p:nvPr>
        </p:nvSpPr>
        <p:spPr/>
        <p:txBody>
          <a:bodyPr>
            <a:normAutofit/>
          </a:bodyPr>
          <a:lstStyle/>
          <a:p>
            <a:r>
              <a:rPr lang="en-GB" dirty="0"/>
              <a:t>Large dilation means that one kernel uses only selected positions within its temporal span.</a:t>
            </a:r>
          </a:p>
          <a:p>
            <a:r>
              <a:rPr lang="en-GB" dirty="0"/>
              <a:t>Example:</a:t>
            </a:r>
          </a:p>
          <a:p>
            <a:r>
              <a:rPr lang="en-GB" dirty="0"/>
              <a:t>K = 3, D = 8</a:t>
            </a:r>
          </a:p>
          <a:p>
            <a:r>
              <a:rPr lang="en-GB" dirty="0"/>
              <a:t>uses: x[t−16], x[t−8], x[t]</a:t>
            </a:r>
          </a:p>
          <a:p>
            <a:r>
              <a:rPr lang="en-GB" dirty="0"/>
              <a:t>but does not directly use: x[t−15], x[t−14], ...</a:t>
            </a:r>
          </a:p>
          <a:p>
            <a:r>
              <a:rPr lang="en-GB" dirty="0"/>
              <a:t>in that single convolution.</a:t>
            </a:r>
          </a:p>
          <a:p>
            <a:endParaRPr lang="en-GB" dirty="0"/>
          </a:p>
        </p:txBody>
      </p:sp>
    </p:spTree>
    <p:extLst>
      <p:ext uri="{BB962C8B-B14F-4D97-AF65-F5344CB8AC3E}">
        <p14:creationId xmlns:p14="http://schemas.microsoft.com/office/powerpoint/2010/main" val="227942009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2E61A-B391-7458-D24D-4C0C60F3AE9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42B7EF2-F08C-D06B-9A91-E87C2751682F}"/>
              </a:ext>
            </a:extLst>
          </p:cNvPr>
          <p:cNvSpPr>
            <a:spLocks noGrp="1"/>
          </p:cNvSpPr>
          <p:nvPr>
            <p:ph type="title"/>
          </p:nvPr>
        </p:nvSpPr>
        <p:spPr/>
        <p:txBody>
          <a:bodyPr/>
          <a:lstStyle/>
          <a:p>
            <a:r>
              <a:rPr lang="en-GB" dirty="0"/>
              <a:t>Dilation creates sparse temporal sampling</a:t>
            </a:r>
          </a:p>
        </p:txBody>
      </p:sp>
      <p:sp>
        <p:nvSpPr>
          <p:cNvPr id="3" name="Segnaposto contenuto 2">
            <a:extLst>
              <a:ext uri="{FF2B5EF4-FFF2-40B4-BE49-F238E27FC236}">
                <a16:creationId xmlns:a16="http://schemas.microsoft.com/office/drawing/2014/main" id="{C9FF336D-F394-9A7C-B7EA-8D8D494857D9}"/>
              </a:ext>
            </a:extLst>
          </p:cNvPr>
          <p:cNvSpPr>
            <a:spLocks noGrp="1"/>
          </p:cNvSpPr>
          <p:nvPr>
            <p:ph idx="1"/>
          </p:nvPr>
        </p:nvSpPr>
        <p:spPr>
          <a:xfrm>
            <a:off x="677334" y="2160589"/>
            <a:ext cx="9177866" cy="4240211"/>
          </a:xfrm>
        </p:spPr>
        <p:txBody>
          <a:bodyPr>
            <a:normAutofit fontScale="92500" lnSpcReduction="20000"/>
          </a:bodyPr>
          <a:lstStyle/>
          <a:p>
            <a:r>
              <a:rPr lang="en-GB" b="1" dirty="0">
                <a:highlight>
                  <a:srgbClr val="FFFF00"/>
                </a:highlight>
              </a:rPr>
              <a:t>Potential concern</a:t>
            </a:r>
          </a:p>
          <a:p>
            <a:pPr lvl="1"/>
            <a:r>
              <a:rPr lang="en-GB" dirty="0"/>
              <a:t>Very large dilation may skip important local details.</a:t>
            </a:r>
          </a:p>
          <a:p>
            <a:pPr lvl="1"/>
            <a:r>
              <a:rPr lang="en-GB" dirty="0"/>
              <a:t>This can produce sparse coverage patterns sometimes described as </a:t>
            </a:r>
            <a:r>
              <a:rPr lang="en-GB" b="1" dirty="0"/>
              <a:t>gridding effects</a:t>
            </a:r>
            <a:r>
              <a:rPr lang="en-GB" dirty="0"/>
              <a:t>.</a:t>
            </a:r>
          </a:p>
          <a:p>
            <a:r>
              <a:rPr lang="en-GB" b="1" dirty="0"/>
              <a:t>How is this mitigated?</a:t>
            </a:r>
          </a:p>
          <a:p>
            <a:r>
              <a:rPr lang="en-GB" dirty="0"/>
              <a:t>Common strategies include:</a:t>
            </a:r>
          </a:p>
          <a:p>
            <a:pPr lvl="1"/>
            <a:r>
              <a:rPr lang="en-GB" dirty="0"/>
              <a:t>stacking different dilation rates; </a:t>
            </a:r>
          </a:p>
          <a:p>
            <a:pPr lvl="1"/>
            <a:r>
              <a:rPr lang="en-GB" dirty="0"/>
              <a:t>combining ordinary and dilated convolutions; </a:t>
            </a:r>
          </a:p>
          <a:p>
            <a:pPr lvl="1"/>
            <a:r>
              <a:rPr lang="en-GB" b="1" dirty="0"/>
              <a:t>repeating dilation cycles; </a:t>
            </a:r>
          </a:p>
          <a:p>
            <a:pPr lvl="1"/>
            <a:r>
              <a:rPr lang="en-GB" dirty="0"/>
              <a:t>Stacking layers with different dilations allows information from nearby time points to be combined locally before being integrated over longer temporal ranges. </a:t>
            </a:r>
          </a:p>
          <a:p>
            <a:endParaRPr lang="en-GB" b="1" dirty="0"/>
          </a:p>
          <a:p>
            <a:r>
              <a:rPr lang="en-GB" dirty="0"/>
              <a:t>Large dilations increase the receptive field efficiently, but they sample the input sparsely. Local temporal patterns should therefore be captured by smaller-dilation layers before or alongside the larger-dilation layers.</a:t>
            </a:r>
          </a:p>
        </p:txBody>
      </p:sp>
    </p:spTree>
    <p:extLst>
      <p:ext uri="{BB962C8B-B14F-4D97-AF65-F5344CB8AC3E}">
        <p14:creationId xmlns:p14="http://schemas.microsoft.com/office/powerpoint/2010/main" val="127098171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Large dilation creates sparse sampling</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dirty="0">
                <a:solidFill>
                  <a:srgbClr val="475569"/>
                </a:solidFill>
              </a:rPr>
              <a:t>Good for context, </a:t>
            </a:r>
            <a:r>
              <a:rPr lang="en-US" sz="1150" b="1" dirty="0">
                <a:solidFill>
                  <a:srgbClr val="475569"/>
                </a:solidFill>
              </a:rPr>
              <a:t>but local structure must still be represented</a:t>
            </a:r>
            <a:endParaRPr lang="en-US" sz="1150" b="1" dirty="0"/>
          </a:p>
        </p:txBody>
      </p:sp>
      <p:sp>
        <p:nvSpPr>
          <p:cNvPr id="8" name="Shape 6"/>
          <p:cNvSpPr/>
          <p:nvPr/>
        </p:nvSpPr>
        <p:spPr>
          <a:xfrm>
            <a:off x="914400" y="2926080"/>
            <a:ext cx="7315200" cy="0"/>
          </a:xfrm>
          <a:prstGeom prst="line">
            <a:avLst/>
          </a:prstGeom>
          <a:noFill/>
          <a:ln w="12700">
            <a:solidFill>
              <a:srgbClr val="94A3B8"/>
            </a:solidFill>
            <a:prstDash val="solid"/>
            <a:headEnd type="none"/>
            <a:tailEnd type="none"/>
          </a:ln>
        </p:spPr>
        <p:txBody>
          <a:bodyPr/>
          <a:lstStyle/>
          <a:p>
            <a:endParaRPr lang="en-GB"/>
          </a:p>
        </p:txBody>
      </p:sp>
      <p:sp>
        <p:nvSpPr>
          <p:cNvPr id="9" name="Shape 7"/>
          <p:cNvSpPr/>
          <p:nvPr/>
        </p:nvSpPr>
        <p:spPr>
          <a:xfrm>
            <a:off x="864108"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0" name="Shape 8"/>
          <p:cNvSpPr/>
          <p:nvPr/>
        </p:nvSpPr>
        <p:spPr>
          <a:xfrm>
            <a:off x="1156716"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1" name="Shape 9"/>
          <p:cNvSpPr/>
          <p:nvPr/>
        </p:nvSpPr>
        <p:spPr>
          <a:xfrm>
            <a:off x="1449324"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2" name="Shape 10"/>
          <p:cNvSpPr/>
          <p:nvPr/>
        </p:nvSpPr>
        <p:spPr>
          <a:xfrm>
            <a:off x="1741932"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3" name="Shape 11"/>
          <p:cNvSpPr/>
          <p:nvPr/>
        </p:nvSpPr>
        <p:spPr>
          <a:xfrm>
            <a:off x="2034540"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4" name="Shape 12"/>
          <p:cNvSpPr/>
          <p:nvPr/>
        </p:nvSpPr>
        <p:spPr>
          <a:xfrm>
            <a:off x="2327148"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5" name="Shape 13"/>
          <p:cNvSpPr/>
          <p:nvPr/>
        </p:nvSpPr>
        <p:spPr>
          <a:xfrm>
            <a:off x="2619756"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6" name="Shape 14"/>
          <p:cNvSpPr/>
          <p:nvPr/>
        </p:nvSpPr>
        <p:spPr>
          <a:xfrm>
            <a:off x="2912364"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7" name="Shape 15"/>
          <p:cNvSpPr/>
          <p:nvPr/>
        </p:nvSpPr>
        <p:spPr>
          <a:xfrm>
            <a:off x="3204972"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8" name="Shape 16"/>
          <p:cNvSpPr/>
          <p:nvPr/>
        </p:nvSpPr>
        <p:spPr>
          <a:xfrm>
            <a:off x="3497580"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19" name="Shape 17"/>
          <p:cNvSpPr/>
          <p:nvPr/>
        </p:nvSpPr>
        <p:spPr>
          <a:xfrm>
            <a:off x="3790188"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0" name="Shape 18"/>
          <p:cNvSpPr/>
          <p:nvPr/>
        </p:nvSpPr>
        <p:spPr>
          <a:xfrm>
            <a:off x="4082796"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1" name="Shape 19"/>
          <p:cNvSpPr/>
          <p:nvPr/>
        </p:nvSpPr>
        <p:spPr>
          <a:xfrm>
            <a:off x="4375404"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2" name="Shape 20"/>
          <p:cNvSpPr/>
          <p:nvPr/>
        </p:nvSpPr>
        <p:spPr>
          <a:xfrm>
            <a:off x="4668012"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3" name="Shape 21"/>
          <p:cNvSpPr/>
          <p:nvPr/>
        </p:nvSpPr>
        <p:spPr>
          <a:xfrm>
            <a:off x="4960620"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4" name="Shape 22"/>
          <p:cNvSpPr/>
          <p:nvPr/>
        </p:nvSpPr>
        <p:spPr>
          <a:xfrm>
            <a:off x="5253228"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5" name="Shape 23"/>
          <p:cNvSpPr/>
          <p:nvPr/>
        </p:nvSpPr>
        <p:spPr>
          <a:xfrm>
            <a:off x="5545836"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6" name="Shape 24"/>
          <p:cNvSpPr/>
          <p:nvPr/>
        </p:nvSpPr>
        <p:spPr>
          <a:xfrm>
            <a:off x="5838444"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7" name="Shape 25"/>
          <p:cNvSpPr/>
          <p:nvPr/>
        </p:nvSpPr>
        <p:spPr>
          <a:xfrm>
            <a:off x="6131052"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8" name="Shape 26"/>
          <p:cNvSpPr/>
          <p:nvPr/>
        </p:nvSpPr>
        <p:spPr>
          <a:xfrm>
            <a:off x="6423660"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29" name="Shape 27"/>
          <p:cNvSpPr/>
          <p:nvPr/>
        </p:nvSpPr>
        <p:spPr>
          <a:xfrm>
            <a:off x="6716268"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30" name="Shape 28"/>
          <p:cNvSpPr/>
          <p:nvPr/>
        </p:nvSpPr>
        <p:spPr>
          <a:xfrm>
            <a:off x="7008876"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31" name="Shape 29"/>
          <p:cNvSpPr/>
          <p:nvPr/>
        </p:nvSpPr>
        <p:spPr>
          <a:xfrm>
            <a:off x="7301484"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32" name="Shape 30"/>
          <p:cNvSpPr/>
          <p:nvPr/>
        </p:nvSpPr>
        <p:spPr>
          <a:xfrm>
            <a:off x="7594092"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33" name="Shape 31"/>
          <p:cNvSpPr/>
          <p:nvPr/>
        </p:nvSpPr>
        <p:spPr>
          <a:xfrm>
            <a:off x="7886700"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34" name="Shape 32"/>
          <p:cNvSpPr/>
          <p:nvPr/>
        </p:nvSpPr>
        <p:spPr>
          <a:xfrm>
            <a:off x="8179308" y="2875788"/>
            <a:ext cx="100584" cy="100584"/>
          </a:xfrm>
          <a:prstGeom prst="ellipse">
            <a:avLst/>
          </a:prstGeom>
          <a:solidFill>
            <a:srgbClr val="FFFFFF"/>
          </a:solidFill>
          <a:ln w="8890">
            <a:solidFill>
              <a:srgbClr val="94A3B8"/>
            </a:solidFill>
            <a:prstDash val="solid"/>
          </a:ln>
        </p:spPr>
        <p:txBody>
          <a:bodyPr/>
          <a:lstStyle/>
          <a:p>
            <a:endParaRPr lang="en-GB"/>
          </a:p>
        </p:txBody>
      </p:sp>
      <p:sp>
        <p:nvSpPr>
          <p:cNvPr id="35" name="Shape 33"/>
          <p:cNvSpPr/>
          <p:nvPr/>
        </p:nvSpPr>
        <p:spPr>
          <a:xfrm>
            <a:off x="3502152" y="2606040"/>
            <a:ext cx="502920" cy="182880"/>
          </a:xfrm>
          <a:prstGeom prst="rect">
            <a:avLst/>
          </a:prstGeom>
          <a:solidFill>
            <a:srgbClr val="FDE68A"/>
          </a:solidFill>
          <a:ln w="12700">
            <a:solidFill>
              <a:srgbClr val="F1B400"/>
            </a:solidFill>
            <a:prstDash val="solid"/>
          </a:ln>
        </p:spPr>
        <p:txBody>
          <a:bodyPr/>
          <a:lstStyle/>
          <a:p>
            <a:endParaRPr lang="en-GB"/>
          </a:p>
        </p:txBody>
      </p:sp>
      <p:sp>
        <p:nvSpPr>
          <p:cNvPr id="36" name="Text 34"/>
          <p:cNvSpPr/>
          <p:nvPr/>
        </p:nvSpPr>
        <p:spPr>
          <a:xfrm>
            <a:off x="3372307" y="2212848"/>
            <a:ext cx="1280160" cy="219456"/>
          </a:xfrm>
          <a:prstGeom prst="rect">
            <a:avLst/>
          </a:prstGeom>
          <a:noFill/>
          <a:ln/>
        </p:spPr>
        <p:txBody>
          <a:bodyPr wrap="square" lIns="0" tIns="0" rIns="0" bIns="0" rtlCol="0" anchor="ctr"/>
          <a:lstStyle/>
          <a:p>
            <a:pPr marL="0" indent="0">
              <a:buNone/>
            </a:pPr>
            <a:r>
              <a:rPr lang="en-US" sz="1050" b="1" dirty="0">
                <a:solidFill>
                  <a:srgbClr val="F1B400"/>
                </a:solidFill>
              </a:rPr>
              <a:t>short local event</a:t>
            </a:r>
            <a:endParaRPr lang="en-US" sz="1050" dirty="0"/>
          </a:p>
        </p:txBody>
      </p:sp>
      <p:sp>
        <p:nvSpPr>
          <p:cNvPr id="37" name="Shape 35"/>
          <p:cNvSpPr/>
          <p:nvPr/>
        </p:nvSpPr>
        <p:spPr>
          <a:xfrm>
            <a:off x="2327148" y="2875788"/>
            <a:ext cx="100584" cy="100584"/>
          </a:xfrm>
          <a:prstGeom prst="ellipse">
            <a:avLst/>
          </a:prstGeom>
          <a:solidFill>
            <a:srgbClr val="F1B400"/>
          </a:solidFill>
          <a:ln w="15240">
            <a:solidFill>
              <a:srgbClr val="F1B400"/>
            </a:solidFill>
            <a:prstDash val="solid"/>
          </a:ln>
        </p:spPr>
        <p:txBody>
          <a:bodyPr/>
          <a:lstStyle/>
          <a:p>
            <a:endParaRPr lang="en-GB"/>
          </a:p>
        </p:txBody>
      </p:sp>
      <p:sp>
        <p:nvSpPr>
          <p:cNvPr id="38" name="Shape 36"/>
          <p:cNvSpPr/>
          <p:nvPr/>
        </p:nvSpPr>
        <p:spPr>
          <a:xfrm>
            <a:off x="4668012" y="2875788"/>
            <a:ext cx="100584" cy="100584"/>
          </a:xfrm>
          <a:prstGeom prst="ellipse">
            <a:avLst/>
          </a:prstGeom>
          <a:solidFill>
            <a:srgbClr val="2B73FF"/>
          </a:solidFill>
          <a:ln w="15240">
            <a:solidFill>
              <a:srgbClr val="2B73FF"/>
            </a:solidFill>
            <a:prstDash val="solid"/>
          </a:ln>
        </p:spPr>
        <p:txBody>
          <a:bodyPr/>
          <a:lstStyle/>
          <a:p>
            <a:endParaRPr lang="en-GB"/>
          </a:p>
        </p:txBody>
      </p:sp>
      <p:sp>
        <p:nvSpPr>
          <p:cNvPr id="39" name="Shape 37"/>
          <p:cNvSpPr/>
          <p:nvPr/>
        </p:nvSpPr>
        <p:spPr>
          <a:xfrm>
            <a:off x="7008876" y="2875788"/>
            <a:ext cx="100584" cy="100584"/>
          </a:xfrm>
          <a:prstGeom prst="ellipse">
            <a:avLst/>
          </a:prstGeom>
          <a:solidFill>
            <a:srgbClr val="86B817"/>
          </a:solidFill>
          <a:ln w="15240">
            <a:solidFill>
              <a:srgbClr val="86B817"/>
            </a:solidFill>
            <a:prstDash val="solid"/>
          </a:ln>
        </p:spPr>
        <p:txBody>
          <a:bodyPr/>
          <a:lstStyle/>
          <a:p>
            <a:endParaRPr lang="en-GB"/>
          </a:p>
        </p:txBody>
      </p:sp>
      <p:sp>
        <p:nvSpPr>
          <p:cNvPr id="40" name="Shape 38"/>
          <p:cNvSpPr/>
          <p:nvPr/>
        </p:nvSpPr>
        <p:spPr>
          <a:xfrm>
            <a:off x="2377440" y="2715768"/>
            <a:ext cx="4681728" cy="0"/>
          </a:xfrm>
          <a:prstGeom prst="line">
            <a:avLst/>
          </a:prstGeom>
          <a:noFill/>
          <a:ln w="25400">
            <a:solidFill>
              <a:srgbClr val="86B817"/>
            </a:solidFill>
            <a:prstDash val="solid"/>
            <a:headEnd type="none"/>
            <a:tailEnd type="triangle"/>
          </a:ln>
        </p:spPr>
        <p:txBody>
          <a:bodyPr/>
          <a:lstStyle/>
          <a:p>
            <a:endParaRPr lang="en-GB"/>
          </a:p>
        </p:txBody>
      </p:sp>
      <p:sp>
        <p:nvSpPr>
          <p:cNvPr id="41" name="Text 39"/>
          <p:cNvSpPr/>
          <p:nvPr/>
        </p:nvSpPr>
        <p:spPr>
          <a:xfrm>
            <a:off x="914400" y="1417320"/>
            <a:ext cx="2011680" cy="320040"/>
          </a:xfrm>
          <a:prstGeom prst="rect">
            <a:avLst/>
          </a:prstGeom>
          <a:noFill/>
          <a:ln/>
        </p:spPr>
        <p:txBody>
          <a:bodyPr wrap="square" lIns="0" tIns="0" rIns="0" bIns="0" rtlCol="0" anchor="ctr"/>
          <a:lstStyle/>
          <a:p>
            <a:pPr marL="0" indent="0">
              <a:buNone/>
            </a:pPr>
            <a:r>
              <a:rPr lang="en-US" sz="2000" b="1" dirty="0">
                <a:solidFill>
                  <a:srgbClr val="111827"/>
                </a:solidFill>
              </a:rPr>
              <a:t>K = 3, D = 8</a:t>
            </a:r>
            <a:endParaRPr lang="en-US" sz="2000" dirty="0"/>
          </a:p>
        </p:txBody>
      </p:sp>
      <p:sp>
        <p:nvSpPr>
          <p:cNvPr id="42" name="Text 40"/>
          <p:cNvSpPr/>
          <p:nvPr/>
        </p:nvSpPr>
        <p:spPr>
          <a:xfrm>
            <a:off x="914400" y="3977640"/>
            <a:ext cx="4114800" cy="1097280"/>
          </a:xfrm>
          <a:prstGeom prst="rect">
            <a:avLst/>
          </a:prstGeom>
          <a:noFill/>
          <a:ln/>
        </p:spPr>
        <p:txBody>
          <a:bodyPr wrap="square" lIns="635" tIns="635" rIns="635" bIns="635" rtlCol="0" anchor="ctr">
            <a:normAutofit/>
          </a:bodyPr>
          <a:lstStyle/>
          <a:p>
            <a:r>
              <a:rPr lang="en-US" sz="1300" dirty="0">
                <a:solidFill>
                  <a:srgbClr val="475569"/>
                </a:solidFill>
              </a:rPr>
              <a:t>The kernel spans a long interval.</a:t>
            </a:r>
            <a:endParaRPr lang="en-US" sz="1300" dirty="0"/>
          </a:p>
          <a:p>
            <a:r>
              <a:rPr lang="en-US" sz="1300" dirty="0">
                <a:solidFill>
                  <a:srgbClr val="475569"/>
                </a:solidFill>
              </a:rPr>
              <a:t>Only selected positions are directly sampled.</a:t>
            </a:r>
            <a:endParaRPr lang="en-US" sz="1300" dirty="0"/>
          </a:p>
          <a:p>
            <a:r>
              <a:rPr lang="en-US" sz="1300" b="1" dirty="0">
                <a:solidFill>
                  <a:srgbClr val="475569"/>
                </a:solidFill>
              </a:rPr>
              <a:t>Intermediate layers or mixed dilations should capture local details.</a:t>
            </a:r>
            <a:endParaRPr lang="en-US" sz="1300" b="1" dirty="0"/>
          </a:p>
        </p:txBody>
      </p:sp>
      <p:sp>
        <p:nvSpPr>
          <p:cNvPr id="43" name="Shape 41"/>
          <p:cNvSpPr/>
          <p:nvPr/>
        </p:nvSpPr>
        <p:spPr>
          <a:xfrm>
            <a:off x="5760720" y="3886200"/>
            <a:ext cx="2743200" cy="822960"/>
          </a:xfrm>
          <a:prstGeom prst="roundRect">
            <a:avLst>
              <a:gd name="adj" fmla="val 8889"/>
            </a:avLst>
          </a:prstGeom>
          <a:solidFill>
            <a:srgbClr val="EAF5D5"/>
          </a:solidFill>
          <a:ln w="13970">
            <a:solidFill>
              <a:srgbClr val="86B817"/>
            </a:solidFill>
            <a:prstDash val="solid"/>
          </a:ln>
        </p:spPr>
        <p:txBody>
          <a:bodyPr/>
          <a:lstStyle/>
          <a:p>
            <a:endParaRPr lang="en-GB"/>
          </a:p>
        </p:txBody>
      </p:sp>
      <p:sp>
        <p:nvSpPr>
          <p:cNvPr id="44" name="Text 42"/>
          <p:cNvSpPr/>
          <p:nvPr/>
        </p:nvSpPr>
        <p:spPr>
          <a:xfrm>
            <a:off x="5815584" y="3931920"/>
            <a:ext cx="2633472" cy="731520"/>
          </a:xfrm>
          <a:prstGeom prst="rect">
            <a:avLst/>
          </a:prstGeom>
          <a:noFill/>
          <a:ln/>
        </p:spPr>
        <p:txBody>
          <a:bodyPr wrap="square" lIns="0" tIns="0" rIns="0" bIns="0" rtlCol="0" anchor="ctr"/>
          <a:lstStyle/>
          <a:p>
            <a:pPr marL="0" indent="0" algn="ctr">
              <a:buNone/>
            </a:pPr>
            <a:r>
              <a:rPr lang="en-US" sz="1400" b="1" dirty="0">
                <a:solidFill>
                  <a:srgbClr val="111827"/>
                </a:solidFill>
              </a:rPr>
              <a:t>Mitigation: stack several dilation rates</a:t>
            </a:r>
            <a:endParaRPr lang="en-US" sz="1400" dirty="0"/>
          </a:p>
        </p:txBody>
      </p:sp>
      <p:sp>
        <p:nvSpPr>
          <p:cNvPr id="45" name="Text 43"/>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200" b="1" i="1" dirty="0">
                <a:solidFill>
                  <a:srgbClr val="475569"/>
                </a:solidFill>
              </a:rPr>
              <a:t>Large dilation should be paired with layers that still capture dense local structure</a:t>
            </a:r>
            <a:r>
              <a:rPr lang="en-US" sz="1200" i="1" dirty="0">
                <a:solidFill>
                  <a:srgbClr val="475569"/>
                </a:solidFill>
              </a:rPr>
              <a:t>.</a:t>
            </a:r>
            <a:endParaRPr lang="en-US" sz="12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FD6A9CB-7AAB-43F8-5AE7-97821DDF0432}"/>
              </a:ext>
            </a:extLst>
          </p:cNvPr>
          <p:cNvSpPr>
            <a:spLocks noGrp="1"/>
          </p:cNvSpPr>
          <p:nvPr>
            <p:ph type="title"/>
          </p:nvPr>
        </p:nvSpPr>
        <p:spPr/>
        <p:txBody>
          <a:bodyPr/>
          <a:lstStyle/>
          <a:p>
            <a:r>
              <a:rPr lang="en-GB" dirty="0"/>
              <a:t>Dilation does not automatically imply causality</a:t>
            </a:r>
          </a:p>
        </p:txBody>
      </p:sp>
      <p:sp>
        <p:nvSpPr>
          <p:cNvPr id="3" name="Segnaposto contenuto 2">
            <a:extLst>
              <a:ext uri="{FF2B5EF4-FFF2-40B4-BE49-F238E27FC236}">
                <a16:creationId xmlns:a16="http://schemas.microsoft.com/office/drawing/2014/main" id="{F9F7AD27-C7CD-5953-43B5-0FFDA7F4D85C}"/>
              </a:ext>
            </a:extLst>
          </p:cNvPr>
          <p:cNvSpPr>
            <a:spLocks noGrp="1"/>
          </p:cNvSpPr>
          <p:nvPr>
            <p:ph sz="half" idx="1"/>
          </p:nvPr>
        </p:nvSpPr>
        <p:spPr>
          <a:xfrm>
            <a:off x="677334" y="2160588"/>
            <a:ext cx="4402666" cy="4087811"/>
          </a:xfrm>
        </p:spPr>
        <p:txBody>
          <a:bodyPr>
            <a:normAutofit/>
          </a:bodyPr>
          <a:lstStyle/>
          <a:p>
            <a:r>
              <a:rPr lang="en-GB" dirty="0"/>
              <a:t>Dilation and causality are separate concepts.</a:t>
            </a:r>
          </a:p>
          <a:p>
            <a:r>
              <a:rPr lang="en-GB" dirty="0"/>
              <a:t>A convolution can be:</a:t>
            </a:r>
          </a:p>
          <a:p>
            <a:pPr lvl="1"/>
            <a:r>
              <a:rPr lang="en-GB" dirty="0"/>
              <a:t>dilated and causal; </a:t>
            </a:r>
          </a:p>
          <a:p>
            <a:pPr lvl="1"/>
            <a:r>
              <a:rPr lang="en-GB" dirty="0"/>
              <a:t>dilated and non-causal; </a:t>
            </a:r>
          </a:p>
          <a:p>
            <a:pPr lvl="1"/>
            <a:r>
              <a:rPr lang="en-GB" dirty="0"/>
              <a:t>non-dilated and causal; </a:t>
            </a:r>
          </a:p>
          <a:p>
            <a:pPr lvl="1"/>
            <a:r>
              <a:rPr lang="en-GB" dirty="0"/>
              <a:t>non-dilated and non-causal. </a:t>
            </a:r>
          </a:p>
          <a:p>
            <a:endParaRPr lang="en-GB" dirty="0"/>
          </a:p>
        </p:txBody>
      </p:sp>
      <p:sp>
        <p:nvSpPr>
          <p:cNvPr id="4" name="Segnaposto contenuto 3">
            <a:extLst>
              <a:ext uri="{FF2B5EF4-FFF2-40B4-BE49-F238E27FC236}">
                <a16:creationId xmlns:a16="http://schemas.microsoft.com/office/drawing/2014/main" id="{DED75D5B-FE0F-94B7-8D41-2C9751247779}"/>
              </a:ext>
            </a:extLst>
          </p:cNvPr>
          <p:cNvSpPr>
            <a:spLocks noGrp="1"/>
          </p:cNvSpPr>
          <p:nvPr>
            <p:ph sz="half" idx="2"/>
          </p:nvPr>
        </p:nvSpPr>
        <p:spPr>
          <a:xfrm>
            <a:off x="5585270" y="2160589"/>
            <a:ext cx="6162230" cy="4443411"/>
          </a:xfrm>
        </p:spPr>
        <p:txBody>
          <a:bodyPr>
            <a:normAutofit/>
          </a:bodyPr>
          <a:lstStyle/>
          <a:p>
            <a:r>
              <a:rPr lang="en-GB" b="1" dirty="0"/>
              <a:t>Dilated causal example</a:t>
            </a:r>
          </a:p>
          <a:p>
            <a:pPr lvl="1"/>
            <a:r>
              <a:rPr lang="en-GB" dirty="0"/>
              <a:t>At time t: x[t−8], x[t−4], x[t]</a:t>
            </a:r>
          </a:p>
          <a:p>
            <a:r>
              <a:rPr lang="en-GB" b="1" dirty="0"/>
              <a:t>Dilated non-causal example</a:t>
            </a:r>
          </a:p>
          <a:p>
            <a:pPr lvl="1"/>
            <a:r>
              <a:rPr lang="en-GB" dirty="0"/>
              <a:t>A </a:t>
            </a:r>
            <a:r>
              <a:rPr lang="en-GB" dirty="0" err="1"/>
              <a:t>centered</a:t>
            </a:r>
            <a:r>
              <a:rPr lang="en-GB" dirty="0"/>
              <a:t> kernel could use x[t−4], x[t], x[t+4]</a:t>
            </a:r>
          </a:p>
          <a:p>
            <a:pPr lvl="1"/>
            <a:r>
              <a:rPr lang="en-GB" dirty="0"/>
              <a:t>which includes future information.</a:t>
            </a:r>
          </a:p>
          <a:p>
            <a:endParaRPr lang="en-GB" dirty="0"/>
          </a:p>
          <a:p>
            <a:r>
              <a:rPr lang="en-GB" b="1" dirty="0">
                <a:highlight>
                  <a:srgbClr val="FFFF00"/>
                </a:highlight>
              </a:rPr>
              <a:t>Dilation controls spacing; causality controls direction in time.</a:t>
            </a:r>
          </a:p>
          <a:p>
            <a:r>
              <a:rPr lang="en-GB" b="1" dirty="0">
                <a:highlight>
                  <a:srgbClr val="FFFF00"/>
                </a:highlight>
              </a:rPr>
              <a:t>For forecasting, both requirements must be handled correctly.</a:t>
            </a:r>
          </a:p>
          <a:p>
            <a:endParaRPr lang="en-GB" dirty="0"/>
          </a:p>
        </p:txBody>
      </p:sp>
    </p:spTree>
    <p:extLst>
      <p:ext uri="{BB962C8B-B14F-4D97-AF65-F5344CB8AC3E}">
        <p14:creationId xmlns:p14="http://schemas.microsoft.com/office/powerpoint/2010/main" val="246487177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Dilation and causality are separate design choices</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b="1" dirty="0">
                <a:solidFill>
                  <a:srgbClr val="475569"/>
                </a:solidFill>
              </a:rPr>
              <a:t>Dilation controls spacing; causality controls direction</a:t>
            </a:r>
            <a:endParaRPr lang="en-US" sz="1150" b="1" dirty="0"/>
          </a:p>
        </p:txBody>
      </p:sp>
      <p:sp>
        <p:nvSpPr>
          <p:cNvPr id="8" name="Shape 6"/>
          <p:cNvSpPr/>
          <p:nvPr/>
        </p:nvSpPr>
        <p:spPr>
          <a:xfrm>
            <a:off x="914400" y="1325880"/>
            <a:ext cx="3611880" cy="2148840"/>
          </a:xfrm>
          <a:prstGeom prst="roundRect">
            <a:avLst>
              <a:gd name="adj" fmla="val 3404"/>
            </a:avLst>
          </a:prstGeom>
          <a:solidFill>
            <a:srgbClr val="FFFFFF"/>
          </a:solidFill>
          <a:ln w="13970">
            <a:solidFill>
              <a:srgbClr val="2B73FF"/>
            </a:solidFill>
            <a:prstDash val="solid"/>
          </a:ln>
        </p:spPr>
        <p:txBody>
          <a:bodyPr/>
          <a:lstStyle/>
          <a:p>
            <a:endParaRPr lang="en-GB"/>
          </a:p>
        </p:txBody>
      </p:sp>
      <p:sp>
        <p:nvSpPr>
          <p:cNvPr id="9" name="Text 7"/>
          <p:cNvSpPr/>
          <p:nvPr/>
        </p:nvSpPr>
        <p:spPr>
          <a:xfrm>
            <a:off x="969264" y="1371600"/>
            <a:ext cx="3502152" cy="2057400"/>
          </a:xfrm>
          <a:prstGeom prst="rect">
            <a:avLst/>
          </a:prstGeom>
          <a:noFill/>
          <a:ln/>
        </p:spPr>
        <p:txBody>
          <a:bodyPr wrap="square" lIns="0" tIns="0" rIns="0" bIns="0" rtlCol="0" anchor="ctr"/>
          <a:lstStyle/>
          <a:p>
            <a:pPr marL="0" indent="0" algn="ctr">
              <a:buNone/>
            </a:pPr>
            <a:r>
              <a:rPr lang="en-US" sz="1400" b="1" dirty="0">
                <a:solidFill>
                  <a:srgbClr val="111827"/>
                </a:solidFill>
              </a:rPr>
              <a:t>Non-dilated</a:t>
            </a:r>
            <a:endParaRPr lang="en-US" sz="1400" dirty="0"/>
          </a:p>
          <a:p>
            <a:pPr marL="0" indent="0" algn="ctr">
              <a:buNone/>
            </a:pPr>
            <a:r>
              <a:rPr lang="en-US" sz="1400" b="1" dirty="0">
                <a:solidFill>
                  <a:srgbClr val="111827"/>
                </a:solidFill>
              </a:rPr>
              <a:t>causal</a:t>
            </a:r>
            <a:endParaRPr lang="en-US" sz="1400" dirty="0"/>
          </a:p>
          <a:p>
            <a:pPr marL="0" indent="0" algn="ctr">
              <a:buNone/>
            </a:pPr>
            <a:endParaRPr lang="en-US" sz="1400" dirty="0"/>
          </a:p>
          <a:p>
            <a:pPr marL="0" indent="0" algn="ctr">
              <a:buNone/>
            </a:pPr>
            <a:r>
              <a:rPr lang="en-US" sz="1400" b="1" dirty="0">
                <a:solidFill>
                  <a:srgbClr val="111827"/>
                </a:solidFill>
              </a:rPr>
              <a:t>x[t−2], x[t−1], x[t]</a:t>
            </a:r>
            <a:endParaRPr lang="en-US" sz="1400" dirty="0"/>
          </a:p>
        </p:txBody>
      </p:sp>
      <p:sp>
        <p:nvSpPr>
          <p:cNvPr id="10" name="Shape 8"/>
          <p:cNvSpPr/>
          <p:nvPr/>
        </p:nvSpPr>
        <p:spPr>
          <a:xfrm>
            <a:off x="4526280" y="1325880"/>
            <a:ext cx="3611880" cy="2148840"/>
          </a:xfrm>
          <a:prstGeom prst="roundRect">
            <a:avLst>
              <a:gd name="adj" fmla="val 3404"/>
            </a:avLst>
          </a:prstGeom>
          <a:solidFill>
            <a:srgbClr val="EAF5D5"/>
          </a:solidFill>
          <a:ln w="13970">
            <a:solidFill>
              <a:srgbClr val="86B817"/>
            </a:solidFill>
            <a:prstDash val="solid"/>
          </a:ln>
        </p:spPr>
        <p:txBody>
          <a:bodyPr/>
          <a:lstStyle/>
          <a:p>
            <a:endParaRPr lang="en-GB"/>
          </a:p>
        </p:txBody>
      </p:sp>
      <p:sp>
        <p:nvSpPr>
          <p:cNvPr id="11" name="Text 9"/>
          <p:cNvSpPr/>
          <p:nvPr/>
        </p:nvSpPr>
        <p:spPr>
          <a:xfrm>
            <a:off x="4581144" y="1371600"/>
            <a:ext cx="3502152" cy="2057400"/>
          </a:xfrm>
          <a:prstGeom prst="rect">
            <a:avLst/>
          </a:prstGeom>
          <a:noFill/>
          <a:ln/>
        </p:spPr>
        <p:txBody>
          <a:bodyPr wrap="square" lIns="0" tIns="0" rIns="0" bIns="0" rtlCol="0" anchor="ctr"/>
          <a:lstStyle/>
          <a:p>
            <a:pPr marL="0" indent="0" algn="ctr">
              <a:buNone/>
            </a:pPr>
            <a:r>
              <a:rPr lang="en-US" sz="1400" b="1" dirty="0">
                <a:solidFill>
                  <a:srgbClr val="111827"/>
                </a:solidFill>
              </a:rPr>
              <a:t>Dilated</a:t>
            </a:r>
            <a:endParaRPr lang="en-US" sz="1400" dirty="0"/>
          </a:p>
          <a:p>
            <a:pPr marL="0" indent="0" algn="ctr">
              <a:buNone/>
            </a:pPr>
            <a:r>
              <a:rPr lang="en-US" sz="1400" b="1" dirty="0">
                <a:solidFill>
                  <a:srgbClr val="111827"/>
                </a:solidFill>
              </a:rPr>
              <a:t>causal</a:t>
            </a:r>
            <a:endParaRPr lang="en-US" sz="1400" dirty="0"/>
          </a:p>
          <a:p>
            <a:pPr marL="0" indent="0" algn="ctr">
              <a:buNone/>
            </a:pPr>
            <a:endParaRPr lang="en-US" sz="1400" dirty="0"/>
          </a:p>
          <a:p>
            <a:pPr marL="0" indent="0" algn="ctr">
              <a:buNone/>
            </a:pPr>
            <a:r>
              <a:rPr lang="en-US" sz="1400" b="1" dirty="0">
                <a:solidFill>
                  <a:srgbClr val="111827"/>
                </a:solidFill>
              </a:rPr>
              <a:t>x[t−8], x[t−4], x[t]</a:t>
            </a:r>
            <a:endParaRPr lang="en-US" sz="1400" dirty="0"/>
          </a:p>
        </p:txBody>
      </p:sp>
      <p:sp>
        <p:nvSpPr>
          <p:cNvPr id="12" name="Shape 10"/>
          <p:cNvSpPr/>
          <p:nvPr/>
        </p:nvSpPr>
        <p:spPr>
          <a:xfrm>
            <a:off x="914400" y="3474720"/>
            <a:ext cx="3611880" cy="2148840"/>
          </a:xfrm>
          <a:prstGeom prst="roundRect">
            <a:avLst>
              <a:gd name="adj" fmla="val 3404"/>
            </a:avLst>
          </a:prstGeom>
          <a:solidFill>
            <a:srgbClr val="FFF7ED"/>
          </a:solidFill>
          <a:ln w="13970">
            <a:solidFill>
              <a:srgbClr val="F97316"/>
            </a:solidFill>
            <a:prstDash val="solid"/>
          </a:ln>
        </p:spPr>
        <p:txBody>
          <a:bodyPr/>
          <a:lstStyle/>
          <a:p>
            <a:endParaRPr lang="en-GB"/>
          </a:p>
        </p:txBody>
      </p:sp>
      <p:sp>
        <p:nvSpPr>
          <p:cNvPr id="13" name="Text 11"/>
          <p:cNvSpPr/>
          <p:nvPr/>
        </p:nvSpPr>
        <p:spPr>
          <a:xfrm>
            <a:off x="969264" y="3520440"/>
            <a:ext cx="3502152" cy="2057400"/>
          </a:xfrm>
          <a:prstGeom prst="rect">
            <a:avLst/>
          </a:prstGeom>
          <a:noFill/>
          <a:ln/>
        </p:spPr>
        <p:txBody>
          <a:bodyPr wrap="square" lIns="0" tIns="0" rIns="0" bIns="0" rtlCol="0" anchor="ctr"/>
          <a:lstStyle/>
          <a:p>
            <a:pPr marL="0" indent="0" algn="ctr">
              <a:buNone/>
            </a:pPr>
            <a:r>
              <a:rPr lang="en-US" sz="1400" b="1" dirty="0">
                <a:solidFill>
                  <a:srgbClr val="111827"/>
                </a:solidFill>
              </a:rPr>
              <a:t>Non-dilated</a:t>
            </a:r>
            <a:endParaRPr lang="en-US" sz="1400" dirty="0"/>
          </a:p>
          <a:p>
            <a:pPr marL="0" indent="0" algn="ctr">
              <a:buNone/>
            </a:pPr>
            <a:r>
              <a:rPr lang="en-US" sz="1400" b="1" dirty="0">
                <a:solidFill>
                  <a:srgbClr val="111827"/>
                </a:solidFill>
              </a:rPr>
              <a:t>non-causal</a:t>
            </a:r>
            <a:endParaRPr lang="en-US" sz="1400" dirty="0"/>
          </a:p>
          <a:p>
            <a:pPr marL="0" indent="0" algn="ctr">
              <a:buNone/>
            </a:pPr>
            <a:endParaRPr lang="en-US" sz="1400" dirty="0"/>
          </a:p>
          <a:p>
            <a:pPr marL="0" indent="0" algn="ctr">
              <a:buNone/>
            </a:pPr>
            <a:r>
              <a:rPr lang="en-US" sz="1400" b="1" dirty="0">
                <a:solidFill>
                  <a:srgbClr val="111827"/>
                </a:solidFill>
              </a:rPr>
              <a:t>x[t−1], x[t], x[t+1]</a:t>
            </a:r>
            <a:endParaRPr lang="en-US" sz="1400" dirty="0"/>
          </a:p>
        </p:txBody>
      </p:sp>
      <p:sp>
        <p:nvSpPr>
          <p:cNvPr id="14" name="Shape 12"/>
          <p:cNvSpPr/>
          <p:nvPr/>
        </p:nvSpPr>
        <p:spPr>
          <a:xfrm>
            <a:off x="4526280" y="3474720"/>
            <a:ext cx="3611880" cy="2148840"/>
          </a:xfrm>
          <a:prstGeom prst="roundRect">
            <a:avLst>
              <a:gd name="adj" fmla="val 3404"/>
            </a:avLst>
          </a:prstGeom>
          <a:solidFill>
            <a:srgbClr val="FEE2E2"/>
          </a:solidFill>
          <a:ln w="13970">
            <a:solidFill>
              <a:srgbClr val="EF4444"/>
            </a:solidFill>
            <a:prstDash val="solid"/>
          </a:ln>
        </p:spPr>
        <p:txBody>
          <a:bodyPr/>
          <a:lstStyle/>
          <a:p>
            <a:endParaRPr lang="en-GB"/>
          </a:p>
        </p:txBody>
      </p:sp>
      <p:sp>
        <p:nvSpPr>
          <p:cNvPr id="15" name="Text 13"/>
          <p:cNvSpPr/>
          <p:nvPr/>
        </p:nvSpPr>
        <p:spPr>
          <a:xfrm>
            <a:off x="4581144" y="3520440"/>
            <a:ext cx="3502152" cy="2057400"/>
          </a:xfrm>
          <a:prstGeom prst="rect">
            <a:avLst/>
          </a:prstGeom>
          <a:noFill/>
          <a:ln/>
        </p:spPr>
        <p:txBody>
          <a:bodyPr wrap="square" lIns="0" tIns="0" rIns="0" bIns="0" rtlCol="0" anchor="ctr"/>
          <a:lstStyle/>
          <a:p>
            <a:pPr marL="0" indent="0" algn="ctr">
              <a:buNone/>
            </a:pPr>
            <a:r>
              <a:rPr lang="en-US" sz="1400" b="1" dirty="0">
                <a:solidFill>
                  <a:srgbClr val="111827"/>
                </a:solidFill>
              </a:rPr>
              <a:t>Dilated</a:t>
            </a:r>
            <a:endParaRPr lang="en-US" sz="1400" dirty="0"/>
          </a:p>
          <a:p>
            <a:pPr marL="0" indent="0" algn="ctr">
              <a:buNone/>
            </a:pPr>
            <a:r>
              <a:rPr lang="en-US" sz="1400" b="1" dirty="0">
                <a:solidFill>
                  <a:srgbClr val="111827"/>
                </a:solidFill>
              </a:rPr>
              <a:t>non-causal</a:t>
            </a:r>
            <a:endParaRPr lang="en-US" sz="1400" dirty="0"/>
          </a:p>
          <a:p>
            <a:pPr marL="0" indent="0" algn="ctr">
              <a:buNone/>
            </a:pPr>
            <a:endParaRPr lang="en-US" sz="1400" dirty="0"/>
          </a:p>
          <a:p>
            <a:pPr marL="0" indent="0" algn="ctr">
              <a:buNone/>
            </a:pPr>
            <a:r>
              <a:rPr lang="en-US" sz="1400" b="1" dirty="0">
                <a:solidFill>
                  <a:srgbClr val="111827"/>
                </a:solidFill>
              </a:rPr>
              <a:t>x[t−4], x[t], x[t+4]</a:t>
            </a:r>
            <a:endParaRPr lang="en-US" sz="1400" dirty="0"/>
          </a:p>
        </p:txBody>
      </p:sp>
      <p:sp>
        <p:nvSpPr>
          <p:cNvPr id="16" name="Text 14"/>
          <p:cNvSpPr/>
          <p:nvPr/>
        </p:nvSpPr>
        <p:spPr>
          <a:xfrm>
            <a:off x="914400" y="5715000"/>
            <a:ext cx="7589520" cy="365760"/>
          </a:xfrm>
          <a:prstGeom prst="rect">
            <a:avLst/>
          </a:prstGeom>
          <a:noFill/>
          <a:ln/>
        </p:spPr>
        <p:txBody>
          <a:bodyPr wrap="square" lIns="0" tIns="0" rIns="0" bIns="0" rtlCol="0" anchor="ctr"/>
          <a:lstStyle/>
          <a:p>
            <a:pPr marL="0" indent="0">
              <a:buNone/>
            </a:pPr>
            <a:r>
              <a:rPr lang="en-US" sz="1450" dirty="0">
                <a:solidFill>
                  <a:srgbClr val="475569"/>
                </a:solidFill>
              </a:rPr>
              <a:t>For forecasting, use causal connectivity; dilation may then be added to enlarge context.</a:t>
            </a:r>
            <a:endParaRPr lang="en-US" sz="1450" dirty="0"/>
          </a:p>
        </p:txBody>
      </p:sp>
      <p:sp>
        <p:nvSpPr>
          <p:cNvPr id="17" name="Text 15"/>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i="1" dirty="0">
                <a:solidFill>
                  <a:srgbClr val="475569"/>
                </a:solidFill>
              </a:rPr>
              <a:t>A convolution can be dilated without being causal, and causal without being dilated.</a:t>
            </a:r>
            <a:endParaRPr lang="en-US" sz="11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1E99804-6D61-0977-EDCC-F4D071937444}"/>
              </a:ext>
            </a:extLst>
          </p:cNvPr>
          <p:cNvSpPr>
            <a:spLocks noGrp="1"/>
          </p:cNvSpPr>
          <p:nvPr>
            <p:ph type="title"/>
          </p:nvPr>
        </p:nvSpPr>
        <p:spPr/>
        <p:txBody>
          <a:bodyPr/>
          <a:lstStyle/>
          <a:p>
            <a:r>
              <a:rPr lang="en-GB" dirty="0"/>
              <a:t>Why dilation is important </a:t>
            </a:r>
            <a:r>
              <a:rPr lang="en-GB" dirty="0">
                <a:highlight>
                  <a:srgbClr val="FFFF00"/>
                </a:highlight>
              </a:rPr>
              <a:t>for long sequences</a:t>
            </a:r>
          </a:p>
        </p:txBody>
      </p:sp>
      <p:sp>
        <p:nvSpPr>
          <p:cNvPr id="3" name="Segnaposto contenuto 2">
            <a:extLst>
              <a:ext uri="{FF2B5EF4-FFF2-40B4-BE49-F238E27FC236}">
                <a16:creationId xmlns:a16="http://schemas.microsoft.com/office/drawing/2014/main" id="{99B146BB-646F-1D74-D6C4-0D49A0016ABE}"/>
              </a:ext>
            </a:extLst>
          </p:cNvPr>
          <p:cNvSpPr>
            <a:spLocks noGrp="1"/>
          </p:cNvSpPr>
          <p:nvPr>
            <p:ph idx="1"/>
          </p:nvPr>
        </p:nvSpPr>
        <p:spPr/>
        <p:txBody>
          <a:bodyPr>
            <a:normAutofit fontScale="92500" lnSpcReduction="20000"/>
          </a:bodyPr>
          <a:lstStyle/>
          <a:p>
            <a:r>
              <a:rPr lang="en-GB" b="1" dirty="0">
                <a:highlight>
                  <a:srgbClr val="FFFF00"/>
                </a:highlight>
              </a:rPr>
              <a:t>Dilated convolution provides a useful combination:</a:t>
            </a:r>
          </a:p>
          <a:p>
            <a:pPr lvl="1"/>
            <a:r>
              <a:rPr lang="en-GB" dirty="0"/>
              <a:t>small kernels; </a:t>
            </a:r>
          </a:p>
          <a:p>
            <a:pPr lvl="1"/>
            <a:r>
              <a:rPr lang="en-GB" dirty="0"/>
              <a:t>few parameters; </a:t>
            </a:r>
          </a:p>
          <a:p>
            <a:pPr lvl="1"/>
            <a:r>
              <a:rPr lang="en-GB" dirty="0"/>
              <a:t>large receptive field; </a:t>
            </a:r>
          </a:p>
          <a:p>
            <a:pPr lvl="1"/>
            <a:r>
              <a:rPr lang="en-GB" dirty="0"/>
              <a:t>preserved temporal resolution; </a:t>
            </a:r>
          </a:p>
          <a:p>
            <a:pPr lvl="1"/>
            <a:r>
              <a:rPr lang="en-GB" dirty="0"/>
              <a:t>parallel convolutional computation. </a:t>
            </a:r>
          </a:p>
          <a:p>
            <a:pPr lvl="2"/>
            <a:r>
              <a:rPr lang="en-GB" dirty="0"/>
              <a:t>Dilated convolutions preserve parallel computation across time positions: dilation changes which input positions each convolution accesses, but does not introduce a sequential dependency between outputs </a:t>
            </a:r>
            <a:r>
              <a:rPr lang="en-GB" b="1" dirty="0"/>
              <a:t>within a layer</a:t>
            </a:r>
            <a:r>
              <a:rPr lang="en-GB" dirty="0"/>
              <a:t>.</a:t>
            </a:r>
          </a:p>
          <a:p>
            <a:r>
              <a:rPr lang="en-GB" dirty="0"/>
              <a:t>This is particularly attractive when dependencies span:</a:t>
            </a:r>
          </a:p>
          <a:p>
            <a:pPr lvl="1"/>
            <a:r>
              <a:rPr lang="en-GB" dirty="0"/>
              <a:t>hundreds; </a:t>
            </a:r>
          </a:p>
          <a:p>
            <a:pPr lvl="1"/>
            <a:r>
              <a:rPr lang="en-GB" dirty="0"/>
              <a:t>thousands; </a:t>
            </a:r>
          </a:p>
          <a:p>
            <a:pPr lvl="1"/>
            <a:r>
              <a:rPr lang="en-GB" dirty="0"/>
              <a:t>of time steps.</a:t>
            </a:r>
          </a:p>
          <a:p>
            <a:endParaRPr lang="en-GB" dirty="0"/>
          </a:p>
        </p:txBody>
      </p:sp>
    </p:spTree>
    <p:extLst>
      <p:ext uri="{BB962C8B-B14F-4D97-AF65-F5344CB8AC3E}">
        <p14:creationId xmlns:p14="http://schemas.microsoft.com/office/powerpoint/2010/main" val="195600527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55080-1C87-7212-C4D2-DA42716C28E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1F75B3E-A62C-25F0-A981-F102CEB97A67}"/>
              </a:ext>
            </a:extLst>
          </p:cNvPr>
          <p:cNvSpPr>
            <a:spLocks noGrp="1"/>
          </p:cNvSpPr>
          <p:nvPr>
            <p:ph type="title"/>
          </p:nvPr>
        </p:nvSpPr>
        <p:spPr/>
        <p:txBody>
          <a:bodyPr/>
          <a:lstStyle/>
          <a:p>
            <a:r>
              <a:rPr lang="en-GB" dirty="0"/>
              <a:t>Why dilation is important for long sequences</a:t>
            </a:r>
          </a:p>
        </p:txBody>
      </p:sp>
      <p:sp>
        <p:nvSpPr>
          <p:cNvPr id="3" name="Segnaposto contenuto 2">
            <a:extLst>
              <a:ext uri="{FF2B5EF4-FFF2-40B4-BE49-F238E27FC236}">
                <a16:creationId xmlns:a16="http://schemas.microsoft.com/office/drawing/2014/main" id="{758138AC-F7B6-E626-2935-01DD66F825ED}"/>
              </a:ext>
            </a:extLst>
          </p:cNvPr>
          <p:cNvSpPr>
            <a:spLocks noGrp="1"/>
          </p:cNvSpPr>
          <p:nvPr>
            <p:ph idx="1"/>
          </p:nvPr>
        </p:nvSpPr>
        <p:spPr/>
        <p:txBody>
          <a:bodyPr>
            <a:normAutofit/>
          </a:bodyPr>
          <a:lstStyle/>
          <a:p>
            <a:r>
              <a:rPr lang="en-GB" b="1" dirty="0">
                <a:highlight>
                  <a:srgbClr val="FFFF00"/>
                </a:highlight>
              </a:rPr>
              <a:t>Example</a:t>
            </a:r>
          </a:p>
          <a:p>
            <a:r>
              <a:rPr lang="en-GB" dirty="0"/>
              <a:t>A model may need both:</a:t>
            </a:r>
          </a:p>
          <a:p>
            <a:pPr lvl="1"/>
            <a:r>
              <a:rPr lang="en-GB" dirty="0"/>
              <a:t>short local vibration bursts; </a:t>
            </a:r>
          </a:p>
          <a:p>
            <a:pPr lvl="1"/>
            <a:r>
              <a:rPr lang="en-GB" dirty="0"/>
              <a:t>longer operating-cycle context. </a:t>
            </a:r>
          </a:p>
          <a:p>
            <a:r>
              <a:rPr lang="en-GB" dirty="0"/>
              <a:t>Early layers with small dilation capture local structure.</a:t>
            </a:r>
          </a:p>
          <a:p>
            <a:r>
              <a:rPr lang="en-GB" dirty="0"/>
              <a:t>Deeper layers with larger dilation integrate longer-range information.</a:t>
            </a:r>
          </a:p>
          <a:p>
            <a:endParaRPr lang="en-GB" dirty="0"/>
          </a:p>
        </p:txBody>
      </p:sp>
    </p:spTree>
    <p:extLst>
      <p:ext uri="{BB962C8B-B14F-4D97-AF65-F5344CB8AC3E}">
        <p14:creationId xmlns:p14="http://schemas.microsoft.com/office/powerpoint/2010/main" val="1294244157"/>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F35CBEA-98E2-296D-7211-2CA8C00FCE35}"/>
              </a:ext>
            </a:extLst>
          </p:cNvPr>
          <p:cNvSpPr>
            <a:spLocks noGrp="1"/>
          </p:cNvSpPr>
          <p:nvPr>
            <p:ph type="title"/>
          </p:nvPr>
        </p:nvSpPr>
        <p:spPr/>
        <p:txBody>
          <a:bodyPr/>
          <a:lstStyle/>
          <a:p>
            <a:r>
              <a:rPr lang="en-GB" b="1" dirty="0"/>
              <a:t>Transition</a:t>
            </a:r>
            <a:br>
              <a:rPr lang="en-GB" b="1" dirty="0"/>
            </a:br>
            <a:endParaRPr lang="en-GB" dirty="0"/>
          </a:p>
        </p:txBody>
      </p:sp>
      <p:sp>
        <p:nvSpPr>
          <p:cNvPr id="3" name="Segnaposto contenuto 2">
            <a:extLst>
              <a:ext uri="{FF2B5EF4-FFF2-40B4-BE49-F238E27FC236}">
                <a16:creationId xmlns:a16="http://schemas.microsoft.com/office/drawing/2014/main" id="{B6B2C49B-F099-72D4-A941-FD3D1C4D11E0}"/>
              </a:ext>
            </a:extLst>
          </p:cNvPr>
          <p:cNvSpPr>
            <a:spLocks noGrp="1"/>
          </p:cNvSpPr>
          <p:nvPr>
            <p:ph idx="1"/>
          </p:nvPr>
        </p:nvSpPr>
        <p:spPr/>
        <p:txBody>
          <a:bodyPr/>
          <a:lstStyle/>
          <a:p>
            <a:r>
              <a:rPr lang="en-GB" b="1" dirty="0">
                <a:highlight>
                  <a:srgbClr val="FFFF00"/>
                </a:highlight>
              </a:rPr>
              <a:t>When we combine:</a:t>
            </a:r>
          </a:p>
          <a:p>
            <a:pPr lvl="1"/>
            <a:r>
              <a:rPr lang="en-GB" dirty="0"/>
              <a:t>causal convolution; </a:t>
            </a:r>
          </a:p>
          <a:p>
            <a:pPr lvl="1"/>
            <a:r>
              <a:rPr lang="en-GB" dirty="0"/>
              <a:t>increasing dilation; </a:t>
            </a:r>
          </a:p>
          <a:p>
            <a:pPr lvl="1"/>
            <a:r>
              <a:rPr lang="en-GB" dirty="0"/>
              <a:t>deep residual blocks; </a:t>
            </a:r>
          </a:p>
          <a:p>
            <a:r>
              <a:rPr lang="en-GB" dirty="0"/>
              <a:t>we obtain the basic structure of a </a:t>
            </a:r>
            <a:r>
              <a:rPr lang="en-GB" b="1" dirty="0">
                <a:highlight>
                  <a:srgbClr val="FFFF00"/>
                </a:highlight>
              </a:rPr>
              <a:t>Temporal Convolutional Network</a:t>
            </a:r>
            <a:r>
              <a:rPr lang="en-GB" dirty="0">
                <a:highlight>
                  <a:srgbClr val="FFFF00"/>
                </a:highlight>
              </a:rPr>
              <a:t>.</a:t>
            </a:r>
          </a:p>
          <a:p>
            <a:endParaRPr lang="en-GB" dirty="0"/>
          </a:p>
        </p:txBody>
      </p:sp>
    </p:spTree>
    <p:extLst>
      <p:ext uri="{BB962C8B-B14F-4D97-AF65-F5344CB8AC3E}">
        <p14:creationId xmlns:p14="http://schemas.microsoft.com/office/powerpoint/2010/main" val="272320434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073D0A8-9B98-3612-160C-A5F9153DC7E9}"/>
              </a:ext>
            </a:extLst>
          </p:cNvPr>
          <p:cNvSpPr>
            <a:spLocks noGrp="1"/>
          </p:cNvSpPr>
          <p:nvPr>
            <p:ph type="title"/>
          </p:nvPr>
        </p:nvSpPr>
        <p:spPr/>
        <p:txBody>
          <a:bodyPr/>
          <a:lstStyle/>
          <a:p>
            <a:r>
              <a:rPr lang="en-GB" dirty="0"/>
              <a:t>Block 5.H — Temporal Convolutional Networks</a:t>
            </a:r>
          </a:p>
        </p:txBody>
      </p:sp>
      <p:sp>
        <p:nvSpPr>
          <p:cNvPr id="3" name="Segnaposto contenuto 2">
            <a:extLst>
              <a:ext uri="{FF2B5EF4-FFF2-40B4-BE49-F238E27FC236}">
                <a16:creationId xmlns:a16="http://schemas.microsoft.com/office/drawing/2014/main" id="{4DFBD801-7BC6-F5B5-D7BB-8CEC155B6C93}"/>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230046277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E6424BD-5FDA-1D4B-A1C1-BF3DC5374F5D}"/>
              </a:ext>
            </a:extLst>
          </p:cNvPr>
          <p:cNvSpPr>
            <a:spLocks noGrp="1"/>
          </p:cNvSpPr>
          <p:nvPr>
            <p:ph type="title"/>
          </p:nvPr>
        </p:nvSpPr>
        <p:spPr/>
        <p:txBody>
          <a:bodyPr/>
          <a:lstStyle/>
          <a:p>
            <a:r>
              <a:rPr lang="en-GB" dirty="0"/>
              <a:t>What is a Temporal Convolutional Network (TCN)?</a:t>
            </a:r>
          </a:p>
        </p:txBody>
      </p:sp>
      <p:sp>
        <p:nvSpPr>
          <p:cNvPr id="3" name="Segnaposto contenuto 2">
            <a:extLst>
              <a:ext uri="{FF2B5EF4-FFF2-40B4-BE49-F238E27FC236}">
                <a16:creationId xmlns:a16="http://schemas.microsoft.com/office/drawing/2014/main" id="{BC3E412E-E842-017C-235D-1543B1B0B7DA}"/>
              </a:ext>
            </a:extLst>
          </p:cNvPr>
          <p:cNvSpPr>
            <a:spLocks noGrp="1"/>
          </p:cNvSpPr>
          <p:nvPr>
            <p:ph sz="half" idx="1"/>
          </p:nvPr>
        </p:nvSpPr>
        <p:spPr>
          <a:xfrm>
            <a:off x="677334" y="2160588"/>
            <a:ext cx="6333066" cy="4430711"/>
          </a:xfrm>
        </p:spPr>
        <p:txBody>
          <a:bodyPr>
            <a:normAutofit fontScale="85000" lnSpcReduction="20000"/>
          </a:bodyPr>
          <a:lstStyle/>
          <a:p>
            <a:r>
              <a:rPr lang="en-GB" dirty="0"/>
              <a:t>A </a:t>
            </a:r>
            <a:r>
              <a:rPr lang="en-GB" b="1" dirty="0"/>
              <a:t>Temporal Convolutional Network</a:t>
            </a:r>
            <a:r>
              <a:rPr lang="en-GB" dirty="0"/>
              <a:t>, or TCN, is a convolutional architecture designed for sequential data.</a:t>
            </a:r>
          </a:p>
          <a:p>
            <a:endParaRPr lang="en-GB" dirty="0"/>
          </a:p>
          <a:p>
            <a:r>
              <a:rPr lang="en-GB" dirty="0">
                <a:highlight>
                  <a:srgbClr val="FFFF00"/>
                </a:highlight>
              </a:rPr>
              <a:t>A typical TCN combines:</a:t>
            </a:r>
          </a:p>
          <a:p>
            <a:pPr lvl="1"/>
            <a:r>
              <a:rPr lang="en-GB" dirty="0"/>
              <a:t>1D temporal convolution; </a:t>
            </a:r>
          </a:p>
          <a:p>
            <a:pPr lvl="1"/>
            <a:r>
              <a:rPr lang="en-GB" dirty="0"/>
              <a:t>causal convolution; </a:t>
            </a:r>
          </a:p>
          <a:p>
            <a:pPr lvl="1"/>
            <a:r>
              <a:rPr lang="en-GB" dirty="0"/>
              <a:t>dilated convolution; </a:t>
            </a:r>
          </a:p>
          <a:p>
            <a:pPr lvl="1"/>
            <a:r>
              <a:rPr lang="en-GB" dirty="0"/>
              <a:t>multiple stacked layers; </a:t>
            </a:r>
          </a:p>
          <a:p>
            <a:pPr lvl="1"/>
            <a:r>
              <a:rPr lang="en-GB" dirty="0"/>
              <a:t>residual connections. </a:t>
            </a:r>
          </a:p>
          <a:p>
            <a:endParaRPr lang="en-GB" dirty="0"/>
          </a:p>
        </p:txBody>
      </p:sp>
      <p:sp>
        <p:nvSpPr>
          <p:cNvPr id="4" name="Segnaposto contenuto 3">
            <a:extLst>
              <a:ext uri="{FF2B5EF4-FFF2-40B4-BE49-F238E27FC236}">
                <a16:creationId xmlns:a16="http://schemas.microsoft.com/office/drawing/2014/main" id="{801FE181-51E2-0EA3-6447-A2343110FBFE}"/>
              </a:ext>
            </a:extLst>
          </p:cNvPr>
          <p:cNvSpPr>
            <a:spLocks noGrp="1"/>
          </p:cNvSpPr>
          <p:nvPr>
            <p:ph sz="half" idx="2"/>
          </p:nvPr>
        </p:nvSpPr>
        <p:spPr>
          <a:xfrm>
            <a:off x="7439470" y="2174878"/>
            <a:ext cx="4523930" cy="4416421"/>
          </a:xfrm>
        </p:spPr>
        <p:txBody>
          <a:bodyPr>
            <a:normAutofit fontScale="85000" lnSpcReduction="20000"/>
          </a:bodyPr>
          <a:lstStyle/>
          <a:p>
            <a:r>
              <a:rPr lang="en-GB" b="1" dirty="0"/>
              <a:t>Conceptual structure</a:t>
            </a:r>
          </a:p>
          <a:p>
            <a:r>
              <a:rPr lang="en-GB" dirty="0"/>
              <a:t>input sequence</a:t>
            </a:r>
          </a:p>
          <a:p>
            <a:r>
              <a:rPr lang="en-GB" dirty="0"/>
              <a:t>      ↓</a:t>
            </a:r>
          </a:p>
          <a:p>
            <a:r>
              <a:rPr lang="en-GB" dirty="0"/>
              <a:t>causal Conv1D, </a:t>
            </a:r>
            <a:r>
              <a:rPr lang="en-GB" dirty="0">
                <a:highlight>
                  <a:srgbClr val="FFFF00"/>
                </a:highlight>
              </a:rPr>
              <a:t>dilation 1</a:t>
            </a:r>
          </a:p>
          <a:p>
            <a:r>
              <a:rPr lang="en-GB" dirty="0"/>
              <a:t>      ↓</a:t>
            </a:r>
          </a:p>
          <a:p>
            <a:r>
              <a:rPr lang="en-GB" dirty="0"/>
              <a:t>causal Conv1D, dilation 2</a:t>
            </a:r>
          </a:p>
          <a:p>
            <a:r>
              <a:rPr lang="en-GB" dirty="0"/>
              <a:t>      ↓</a:t>
            </a:r>
          </a:p>
          <a:p>
            <a:r>
              <a:rPr lang="en-GB" dirty="0"/>
              <a:t>causal Conv1D, dilation 4</a:t>
            </a:r>
          </a:p>
          <a:p>
            <a:r>
              <a:rPr lang="en-GB" dirty="0"/>
              <a:t>      ↓</a:t>
            </a:r>
          </a:p>
          <a:p>
            <a:r>
              <a:rPr lang="en-GB" dirty="0"/>
              <a:t>causal Conv1D, </a:t>
            </a:r>
            <a:r>
              <a:rPr lang="en-GB" dirty="0">
                <a:highlight>
                  <a:srgbClr val="FFFF00"/>
                </a:highlight>
              </a:rPr>
              <a:t>dilation 8</a:t>
            </a:r>
          </a:p>
          <a:p>
            <a:r>
              <a:rPr lang="en-GB" dirty="0"/>
              <a:t>      ↓</a:t>
            </a:r>
          </a:p>
          <a:p>
            <a:r>
              <a:rPr lang="en-GB" dirty="0"/>
              <a:t>temporal representation</a:t>
            </a:r>
          </a:p>
          <a:p>
            <a:r>
              <a:rPr lang="en-GB" dirty="0"/>
              <a:t>      ↓</a:t>
            </a:r>
          </a:p>
          <a:p>
            <a:r>
              <a:rPr lang="en-GB" dirty="0"/>
              <a:t>output</a:t>
            </a:r>
          </a:p>
          <a:p>
            <a:endParaRPr lang="en-GB" dirty="0"/>
          </a:p>
        </p:txBody>
      </p:sp>
      <p:sp>
        <p:nvSpPr>
          <p:cNvPr id="6" name="CasellaDiTesto 5">
            <a:extLst>
              <a:ext uri="{FF2B5EF4-FFF2-40B4-BE49-F238E27FC236}">
                <a16:creationId xmlns:a16="http://schemas.microsoft.com/office/drawing/2014/main" id="{762418FD-0F7D-CB68-2D4A-82A914E7EC86}"/>
              </a:ext>
            </a:extLst>
          </p:cNvPr>
          <p:cNvSpPr txBox="1"/>
          <p:nvPr/>
        </p:nvSpPr>
        <p:spPr>
          <a:xfrm>
            <a:off x="996950" y="5667969"/>
            <a:ext cx="6108700" cy="923330"/>
          </a:xfrm>
          <a:prstGeom prst="rect">
            <a:avLst/>
          </a:prstGeom>
          <a:noFill/>
        </p:spPr>
        <p:txBody>
          <a:bodyPr wrap="square">
            <a:spAutoFit/>
          </a:bodyPr>
          <a:lstStyle/>
          <a:p>
            <a:r>
              <a:rPr lang="en-GB" sz="1800" b="1" dirty="0"/>
              <a:t>Main objective</a:t>
            </a:r>
          </a:p>
          <a:p>
            <a:r>
              <a:rPr lang="en-GB" sz="1800" dirty="0"/>
              <a:t>Obtain long historical receptive fields without recurrent state propagation.</a:t>
            </a:r>
            <a:endParaRPr lang="en-GB" dirty="0"/>
          </a:p>
        </p:txBody>
      </p:sp>
    </p:spTree>
    <p:extLst>
      <p:ext uri="{BB962C8B-B14F-4D97-AF65-F5344CB8AC3E}">
        <p14:creationId xmlns:p14="http://schemas.microsoft.com/office/powerpoint/2010/main" val="86520930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34A45B3-8143-5453-101E-9191C5512A37}"/>
              </a:ext>
            </a:extLst>
          </p:cNvPr>
          <p:cNvSpPr>
            <a:spLocks noGrp="1"/>
          </p:cNvSpPr>
          <p:nvPr>
            <p:ph type="title"/>
          </p:nvPr>
        </p:nvSpPr>
        <p:spPr/>
        <p:txBody>
          <a:bodyPr/>
          <a:lstStyle/>
          <a:p>
            <a:r>
              <a:rPr lang="en-GB" b="1" dirty="0"/>
              <a:t>TCNs use explicit </a:t>
            </a:r>
            <a:r>
              <a:rPr lang="en-GB" b="1" dirty="0">
                <a:highlight>
                  <a:srgbClr val="FFFF00"/>
                </a:highlight>
              </a:rPr>
              <a:t>historical (i.e., causal) receptive fields</a:t>
            </a:r>
          </a:p>
        </p:txBody>
      </p:sp>
      <p:sp>
        <p:nvSpPr>
          <p:cNvPr id="3" name="Segnaposto contenuto 2">
            <a:extLst>
              <a:ext uri="{FF2B5EF4-FFF2-40B4-BE49-F238E27FC236}">
                <a16:creationId xmlns:a16="http://schemas.microsoft.com/office/drawing/2014/main" id="{0723E23F-F66C-F051-A0A2-BBE646834B64}"/>
              </a:ext>
            </a:extLst>
          </p:cNvPr>
          <p:cNvSpPr>
            <a:spLocks noGrp="1"/>
          </p:cNvSpPr>
          <p:nvPr>
            <p:ph idx="1"/>
          </p:nvPr>
        </p:nvSpPr>
        <p:spPr/>
        <p:txBody>
          <a:bodyPr>
            <a:normAutofit/>
          </a:bodyPr>
          <a:lstStyle/>
          <a:p>
            <a:r>
              <a:rPr lang="en-GB" dirty="0"/>
              <a:t>In an RNN, long context is represented through state propagation: h[t−1] → h[t]</a:t>
            </a:r>
          </a:p>
          <a:p>
            <a:r>
              <a:rPr lang="en-GB" dirty="0"/>
              <a:t>In a TCN, long context is obtained through convolutional connectivity.</a:t>
            </a:r>
          </a:p>
          <a:p>
            <a:r>
              <a:rPr lang="en-GB" dirty="0"/>
              <a:t>For an output at time t, we can determine explicitly which input positions may influence it.</a:t>
            </a:r>
          </a:p>
          <a:p>
            <a:endParaRPr lang="en-GB" dirty="0"/>
          </a:p>
        </p:txBody>
      </p:sp>
    </p:spTree>
    <p:extLst>
      <p:ext uri="{BB962C8B-B14F-4D97-AF65-F5344CB8AC3E}">
        <p14:creationId xmlns:p14="http://schemas.microsoft.com/office/powerpoint/2010/main" val="5475910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3FCDF-F335-DE3F-DA97-CEE59551853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2E0EED6-11C4-7127-E16E-F310C9B250CD}"/>
              </a:ext>
            </a:extLst>
          </p:cNvPr>
          <p:cNvSpPr>
            <a:spLocks noGrp="1"/>
          </p:cNvSpPr>
          <p:nvPr>
            <p:ph type="title"/>
          </p:nvPr>
        </p:nvSpPr>
        <p:spPr/>
        <p:txBody>
          <a:bodyPr/>
          <a:lstStyle/>
          <a:p>
            <a:r>
              <a:rPr lang="en-GB" dirty="0"/>
              <a:t>What is a Temporal Convolutional Network?</a:t>
            </a:r>
          </a:p>
        </p:txBody>
      </p:sp>
      <p:sp>
        <p:nvSpPr>
          <p:cNvPr id="3" name="Segnaposto contenuto 2">
            <a:extLst>
              <a:ext uri="{FF2B5EF4-FFF2-40B4-BE49-F238E27FC236}">
                <a16:creationId xmlns:a16="http://schemas.microsoft.com/office/drawing/2014/main" id="{C9FABF6A-2C56-D7E4-E84C-74834064B4A2}"/>
              </a:ext>
            </a:extLst>
          </p:cNvPr>
          <p:cNvSpPr>
            <a:spLocks noGrp="1"/>
          </p:cNvSpPr>
          <p:nvPr>
            <p:ph idx="1"/>
          </p:nvPr>
        </p:nvSpPr>
        <p:spPr/>
        <p:txBody>
          <a:bodyPr>
            <a:normAutofit/>
          </a:bodyPr>
          <a:lstStyle/>
          <a:p>
            <a:r>
              <a:rPr lang="en-GB" b="1" dirty="0"/>
              <a:t>Example</a:t>
            </a:r>
          </a:p>
          <a:p>
            <a:r>
              <a:rPr lang="en-GB" dirty="0"/>
              <a:t>A sufficiently deep dilated TCN may have: receptive field = 511 frames</a:t>
            </a:r>
          </a:p>
          <a:p>
            <a:r>
              <a:rPr lang="en-GB" dirty="0"/>
              <a:t>Then output at t can depend on approximately: </a:t>
            </a:r>
            <a:r>
              <a:rPr lang="en-GB" dirty="0">
                <a:highlight>
                  <a:srgbClr val="FFFF00"/>
                </a:highlight>
              </a:rPr>
              <a:t>x[t−510], ..., x[t], causal</a:t>
            </a:r>
            <a:r>
              <a:rPr lang="en-GB" dirty="0"/>
              <a:t>.</a:t>
            </a:r>
          </a:p>
          <a:p>
            <a:endParaRPr lang="en-GB" b="1" dirty="0"/>
          </a:p>
          <a:p>
            <a:r>
              <a:rPr lang="en-GB" b="1" dirty="0"/>
              <a:t>Key advantage</a:t>
            </a:r>
          </a:p>
          <a:p>
            <a:r>
              <a:rPr lang="en-GB" dirty="0"/>
              <a:t>The maximum temporal context is an explicit architectural property.</a:t>
            </a:r>
          </a:p>
          <a:p>
            <a:r>
              <a:rPr lang="en-GB" b="1" dirty="0">
                <a:highlight>
                  <a:srgbClr val="FFFF00"/>
                </a:highlight>
              </a:rPr>
              <a:t>Engineering question</a:t>
            </a:r>
          </a:p>
          <a:p>
            <a:r>
              <a:rPr lang="en-GB" dirty="0"/>
              <a:t>Is the receptive field at least as long as the dependency we expect to model?</a:t>
            </a:r>
          </a:p>
          <a:p>
            <a:endParaRPr lang="en-GB" dirty="0"/>
          </a:p>
        </p:txBody>
      </p:sp>
    </p:spTree>
    <p:extLst>
      <p:ext uri="{BB962C8B-B14F-4D97-AF65-F5344CB8AC3E}">
        <p14:creationId xmlns:p14="http://schemas.microsoft.com/office/powerpoint/2010/main" val="196004424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6" name="Text 4"/>
          <p:cNvSpPr/>
          <p:nvPr/>
        </p:nvSpPr>
        <p:spPr>
          <a:xfrm>
            <a:off x="594360" y="347472"/>
            <a:ext cx="877824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Temporal Convolutional Network: </a:t>
            </a:r>
            <a:r>
              <a:rPr lang="en-US" sz="2800" b="1" dirty="0">
                <a:solidFill>
                  <a:srgbClr val="111827"/>
                </a:solidFill>
                <a:highlight>
                  <a:srgbClr val="FFFF00"/>
                </a:highlight>
                <a:latin typeface="Aptos Display" pitchFamily="34" charset="0"/>
                <a:ea typeface="Aptos Display" pitchFamily="34" charset="-122"/>
                <a:cs typeface="Aptos Display" pitchFamily="34" charset="-120"/>
              </a:rPr>
              <a:t>causal dilated stack</a:t>
            </a:r>
            <a:endParaRPr lang="en-US" sz="2800" dirty="0">
              <a:highlight>
                <a:srgbClr val="FFFF00"/>
              </a:highlight>
            </a:endParaRPr>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400" dirty="0">
                <a:solidFill>
                  <a:srgbClr val="475569"/>
                </a:solidFill>
              </a:rPr>
              <a:t>Long historical context without recurrent state propagation</a:t>
            </a:r>
            <a:endParaRPr lang="en-US" sz="1400" dirty="0"/>
          </a:p>
        </p:txBody>
      </p:sp>
      <p:sp>
        <p:nvSpPr>
          <p:cNvPr id="8" name="Shape 6"/>
          <p:cNvSpPr/>
          <p:nvPr/>
        </p:nvSpPr>
        <p:spPr>
          <a:xfrm>
            <a:off x="914400" y="5212080"/>
            <a:ext cx="2057400" cy="502920"/>
          </a:xfrm>
          <a:prstGeom prst="roundRect">
            <a:avLst>
              <a:gd name="adj" fmla="val 14545"/>
            </a:avLst>
          </a:prstGeom>
          <a:solidFill>
            <a:srgbClr val="F8FAFC"/>
          </a:solidFill>
          <a:ln w="13970">
            <a:solidFill>
              <a:srgbClr val="CBD5E1"/>
            </a:solidFill>
            <a:prstDash val="solid"/>
          </a:ln>
        </p:spPr>
        <p:txBody>
          <a:bodyPr/>
          <a:lstStyle/>
          <a:p>
            <a:endParaRPr lang="en-GB"/>
          </a:p>
        </p:txBody>
      </p:sp>
      <p:sp>
        <p:nvSpPr>
          <p:cNvPr id="9" name="Text 7"/>
          <p:cNvSpPr/>
          <p:nvPr/>
        </p:nvSpPr>
        <p:spPr>
          <a:xfrm>
            <a:off x="969264" y="5257800"/>
            <a:ext cx="1947672" cy="411480"/>
          </a:xfrm>
          <a:prstGeom prst="rect">
            <a:avLst/>
          </a:prstGeom>
          <a:noFill/>
          <a:ln/>
        </p:spPr>
        <p:txBody>
          <a:bodyPr wrap="square" lIns="0" tIns="0" rIns="0" bIns="0" rtlCol="0" anchor="ctr"/>
          <a:lstStyle/>
          <a:p>
            <a:pPr marL="0" indent="0" algn="ctr">
              <a:buNone/>
            </a:pPr>
            <a:r>
              <a:rPr lang="en-US" sz="1200" b="1" dirty="0">
                <a:solidFill>
                  <a:srgbClr val="111827"/>
                </a:solidFill>
              </a:rPr>
              <a:t>input sequence</a:t>
            </a:r>
            <a:endParaRPr lang="en-US" sz="1200" dirty="0"/>
          </a:p>
        </p:txBody>
      </p:sp>
      <p:sp>
        <p:nvSpPr>
          <p:cNvPr id="10" name="Shape 8"/>
          <p:cNvSpPr/>
          <p:nvPr/>
        </p:nvSpPr>
        <p:spPr>
          <a:xfrm>
            <a:off x="1938528" y="5193792"/>
            <a:ext cx="0" cy="0"/>
          </a:xfrm>
          <a:prstGeom prst="line">
            <a:avLst/>
          </a:prstGeom>
          <a:noFill/>
          <a:ln w="19050">
            <a:solidFill>
              <a:srgbClr val="94A3B8"/>
            </a:solidFill>
            <a:prstDash val="solid"/>
            <a:headEnd type="none"/>
            <a:tailEnd type="triangle"/>
          </a:ln>
        </p:spPr>
        <p:txBody>
          <a:bodyPr/>
          <a:lstStyle/>
          <a:p>
            <a:endParaRPr lang="en-GB"/>
          </a:p>
        </p:txBody>
      </p:sp>
      <p:sp>
        <p:nvSpPr>
          <p:cNvPr id="11" name="Shape 9"/>
          <p:cNvSpPr/>
          <p:nvPr/>
        </p:nvSpPr>
        <p:spPr>
          <a:xfrm>
            <a:off x="914400" y="4251960"/>
            <a:ext cx="2057400" cy="566928"/>
          </a:xfrm>
          <a:prstGeom prst="roundRect">
            <a:avLst>
              <a:gd name="adj" fmla="val 12903"/>
            </a:avLst>
          </a:prstGeom>
          <a:solidFill>
            <a:srgbClr val="FFFFFF"/>
          </a:solidFill>
          <a:ln w="13970">
            <a:solidFill>
              <a:srgbClr val="2B73FF"/>
            </a:solidFill>
            <a:prstDash val="solid"/>
          </a:ln>
        </p:spPr>
        <p:txBody>
          <a:bodyPr/>
          <a:lstStyle/>
          <a:p>
            <a:endParaRPr lang="en-GB"/>
          </a:p>
        </p:txBody>
      </p:sp>
      <p:sp>
        <p:nvSpPr>
          <p:cNvPr id="12" name="Text 10"/>
          <p:cNvSpPr/>
          <p:nvPr/>
        </p:nvSpPr>
        <p:spPr>
          <a:xfrm>
            <a:off x="969264" y="4297680"/>
            <a:ext cx="1947672" cy="475488"/>
          </a:xfrm>
          <a:prstGeom prst="rect">
            <a:avLst/>
          </a:prstGeom>
          <a:noFill/>
          <a:ln/>
        </p:spPr>
        <p:txBody>
          <a:bodyPr wrap="square" lIns="0" tIns="0" rIns="0" bIns="0" rtlCol="0" anchor="ctr"/>
          <a:lstStyle/>
          <a:p>
            <a:pPr marL="0" indent="0" algn="ctr">
              <a:buNone/>
            </a:pPr>
            <a:r>
              <a:rPr lang="en-US" sz="1150" b="1" dirty="0">
                <a:solidFill>
                  <a:srgbClr val="2B73FF"/>
                </a:solidFill>
              </a:rPr>
              <a:t>causal Conv1D</a:t>
            </a:r>
            <a:endParaRPr lang="en-US" sz="1150" dirty="0"/>
          </a:p>
          <a:p>
            <a:pPr marL="0" indent="0" algn="ctr">
              <a:buNone/>
            </a:pPr>
            <a:r>
              <a:rPr lang="en-US" sz="1150" b="1" dirty="0">
                <a:solidFill>
                  <a:srgbClr val="2B73FF"/>
                </a:solidFill>
              </a:rPr>
              <a:t>dilation 1</a:t>
            </a:r>
            <a:endParaRPr lang="en-US" sz="1150" dirty="0"/>
          </a:p>
        </p:txBody>
      </p:sp>
      <p:sp>
        <p:nvSpPr>
          <p:cNvPr id="13" name="Shape 11"/>
          <p:cNvSpPr/>
          <p:nvPr/>
        </p:nvSpPr>
        <p:spPr>
          <a:xfrm>
            <a:off x="1938528" y="4233672"/>
            <a:ext cx="0" cy="0"/>
          </a:xfrm>
          <a:prstGeom prst="line">
            <a:avLst/>
          </a:prstGeom>
          <a:noFill/>
          <a:ln w="19050">
            <a:solidFill>
              <a:srgbClr val="94A3B8"/>
            </a:solidFill>
            <a:prstDash val="solid"/>
            <a:headEnd type="none"/>
            <a:tailEnd type="triangle"/>
          </a:ln>
        </p:spPr>
        <p:txBody>
          <a:bodyPr/>
          <a:lstStyle/>
          <a:p>
            <a:endParaRPr lang="en-GB"/>
          </a:p>
        </p:txBody>
      </p:sp>
      <p:sp>
        <p:nvSpPr>
          <p:cNvPr id="14" name="Shape 12"/>
          <p:cNvSpPr/>
          <p:nvPr/>
        </p:nvSpPr>
        <p:spPr>
          <a:xfrm>
            <a:off x="914400" y="3291840"/>
            <a:ext cx="2057400" cy="566928"/>
          </a:xfrm>
          <a:prstGeom prst="roundRect">
            <a:avLst>
              <a:gd name="adj" fmla="val 12903"/>
            </a:avLst>
          </a:prstGeom>
          <a:solidFill>
            <a:srgbClr val="FFFFFF"/>
          </a:solidFill>
          <a:ln w="13970">
            <a:solidFill>
              <a:srgbClr val="86B817"/>
            </a:solidFill>
            <a:prstDash val="solid"/>
          </a:ln>
        </p:spPr>
        <p:txBody>
          <a:bodyPr/>
          <a:lstStyle/>
          <a:p>
            <a:endParaRPr lang="en-GB"/>
          </a:p>
        </p:txBody>
      </p:sp>
      <p:sp>
        <p:nvSpPr>
          <p:cNvPr id="15" name="Text 13"/>
          <p:cNvSpPr/>
          <p:nvPr/>
        </p:nvSpPr>
        <p:spPr>
          <a:xfrm>
            <a:off x="969264" y="3337560"/>
            <a:ext cx="1947672" cy="475488"/>
          </a:xfrm>
          <a:prstGeom prst="rect">
            <a:avLst/>
          </a:prstGeom>
          <a:noFill/>
          <a:ln/>
        </p:spPr>
        <p:txBody>
          <a:bodyPr wrap="square" lIns="0" tIns="0" rIns="0" bIns="0" rtlCol="0" anchor="ctr"/>
          <a:lstStyle/>
          <a:p>
            <a:pPr marL="0" indent="0" algn="ctr">
              <a:buNone/>
            </a:pPr>
            <a:r>
              <a:rPr lang="en-US" sz="1150" b="1" dirty="0">
                <a:solidFill>
                  <a:srgbClr val="86B817"/>
                </a:solidFill>
              </a:rPr>
              <a:t>causal Conv1D</a:t>
            </a:r>
            <a:endParaRPr lang="en-US" sz="1150" dirty="0"/>
          </a:p>
          <a:p>
            <a:pPr marL="0" indent="0" algn="ctr">
              <a:buNone/>
            </a:pPr>
            <a:r>
              <a:rPr lang="en-US" sz="1150" b="1" dirty="0">
                <a:solidFill>
                  <a:srgbClr val="86B817"/>
                </a:solidFill>
              </a:rPr>
              <a:t>dilation 2</a:t>
            </a:r>
            <a:endParaRPr lang="en-US" sz="1150" dirty="0"/>
          </a:p>
        </p:txBody>
      </p:sp>
      <p:sp>
        <p:nvSpPr>
          <p:cNvPr id="16" name="Shape 14"/>
          <p:cNvSpPr/>
          <p:nvPr/>
        </p:nvSpPr>
        <p:spPr>
          <a:xfrm>
            <a:off x="1938528" y="3273552"/>
            <a:ext cx="0" cy="0"/>
          </a:xfrm>
          <a:prstGeom prst="line">
            <a:avLst/>
          </a:prstGeom>
          <a:noFill/>
          <a:ln w="19050">
            <a:solidFill>
              <a:srgbClr val="94A3B8"/>
            </a:solidFill>
            <a:prstDash val="solid"/>
            <a:headEnd type="none"/>
            <a:tailEnd type="triangle"/>
          </a:ln>
        </p:spPr>
        <p:txBody>
          <a:bodyPr/>
          <a:lstStyle/>
          <a:p>
            <a:endParaRPr lang="en-GB"/>
          </a:p>
        </p:txBody>
      </p:sp>
      <p:sp>
        <p:nvSpPr>
          <p:cNvPr id="17" name="Shape 15"/>
          <p:cNvSpPr/>
          <p:nvPr/>
        </p:nvSpPr>
        <p:spPr>
          <a:xfrm>
            <a:off x="914400" y="2331720"/>
            <a:ext cx="2057400" cy="566928"/>
          </a:xfrm>
          <a:prstGeom prst="roundRect">
            <a:avLst>
              <a:gd name="adj" fmla="val 12903"/>
            </a:avLst>
          </a:prstGeom>
          <a:solidFill>
            <a:srgbClr val="FFFFFF"/>
          </a:solidFill>
          <a:ln w="13970">
            <a:solidFill>
              <a:srgbClr val="F1B400"/>
            </a:solidFill>
            <a:prstDash val="solid"/>
          </a:ln>
        </p:spPr>
        <p:txBody>
          <a:bodyPr/>
          <a:lstStyle/>
          <a:p>
            <a:endParaRPr lang="en-GB"/>
          </a:p>
        </p:txBody>
      </p:sp>
      <p:sp>
        <p:nvSpPr>
          <p:cNvPr id="18" name="Text 16"/>
          <p:cNvSpPr/>
          <p:nvPr/>
        </p:nvSpPr>
        <p:spPr>
          <a:xfrm>
            <a:off x="969264" y="2377440"/>
            <a:ext cx="1947672" cy="475488"/>
          </a:xfrm>
          <a:prstGeom prst="rect">
            <a:avLst/>
          </a:prstGeom>
          <a:noFill/>
          <a:ln/>
        </p:spPr>
        <p:txBody>
          <a:bodyPr wrap="square" lIns="0" tIns="0" rIns="0" bIns="0" rtlCol="0" anchor="ctr"/>
          <a:lstStyle/>
          <a:p>
            <a:pPr marL="0" indent="0" algn="ctr">
              <a:buNone/>
            </a:pPr>
            <a:r>
              <a:rPr lang="en-US" sz="1150" b="1" dirty="0">
                <a:solidFill>
                  <a:srgbClr val="F1B400"/>
                </a:solidFill>
              </a:rPr>
              <a:t>causal Conv1D</a:t>
            </a:r>
            <a:endParaRPr lang="en-US" sz="1150" dirty="0"/>
          </a:p>
          <a:p>
            <a:pPr marL="0" indent="0" algn="ctr">
              <a:buNone/>
            </a:pPr>
            <a:r>
              <a:rPr lang="en-US" sz="1150" b="1" dirty="0">
                <a:solidFill>
                  <a:srgbClr val="F1B400"/>
                </a:solidFill>
              </a:rPr>
              <a:t>dilation 4</a:t>
            </a:r>
            <a:endParaRPr lang="en-US" sz="1150" dirty="0"/>
          </a:p>
        </p:txBody>
      </p:sp>
      <p:sp>
        <p:nvSpPr>
          <p:cNvPr id="19" name="Shape 17"/>
          <p:cNvSpPr/>
          <p:nvPr/>
        </p:nvSpPr>
        <p:spPr>
          <a:xfrm>
            <a:off x="1938528" y="2313432"/>
            <a:ext cx="0" cy="0"/>
          </a:xfrm>
          <a:prstGeom prst="line">
            <a:avLst/>
          </a:prstGeom>
          <a:noFill/>
          <a:ln w="19050">
            <a:solidFill>
              <a:srgbClr val="94A3B8"/>
            </a:solidFill>
            <a:prstDash val="solid"/>
            <a:headEnd type="none"/>
            <a:tailEnd type="triangle"/>
          </a:ln>
        </p:spPr>
        <p:txBody>
          <a:bodyPr/>
          <a:lstStyle/>
          <a:p>
            <a:endParaRPr lang="en-GB"/>
          </a:p>
        </p:txBody>
      </p:sp>
      <p:sp>
        <p:nvSpPr>
          <p:cNvPr id="20" name="Shape 18"/>
          <p:cNvSpPr/>
          <p:nvPr/>
        </p:nvSpPr>
        <p:spPr>
          <a:xfrm>
            <a:off x="914400" y="1371600"/>
            <a:ext cx="2057400" cy="566928"/>
          </a:xfrm>
          <a:prstGeom prst="roundRect">
            <a:avLst>
              <a:gd name="adj" fmla="val 12903"/>
            </a:avLst>
          </a:prstGeom>
          <a:solidFill>
            <a:srgbClr val="FFFFFF"/>
          </a:solidFill>
          <a:ln w="13970">
            <a:solidFill>
              <a:srgbClr val="7C3AED"/>
            </a:solidFill>
            <a:prstDash val="solid"/>
          </a:ln>
        </p:spPr>
        <p:txBody>
          <a:bodyPr/>
          <a:lstStyle/>
          <a:p>
            <a:endParaRPr lang="en-GB"/>
          </a:p>
        </p:txBody>
      </p:sp>
      <p:sp>
        <p:nvSpPr>
          <p:cNvPr id="21" name="Text 19"/>
          <p:cNvSpPr/>
          <p:nvPr/>
        </p:nvSpPr>
        <p:spPr>
          <a:xfrm>
            <a:off x="969264" y="1417320"/>
            <a:ext cx="1947672" cy="475488"/>
          </a:xfrm>
          <a:prstGeom prst="rect">
            <a:avLst/>
          </a:prstGeom>
          <a:noFill/>
          <a:ln/>
        </p:spPr>
        <p:txBody>
          <a:bodyPr wrap="square" lIns="0" tIns="0" rIns="0" bIns="0" rtlCol="0" anchor="ctr"/>
          <a:lstStyle/>
          <a:p>
            <a:pPr marL="0" indent="0" algn="ctr">
              <a:buNone/>
            </a:pPr>
            <a:r>
              <a:rPr lang="en-US" sz="1150" b="1" dirty="0">
                <a:solidFill>
                  <a:srgbClr val="7C3AED"/>
                </a:solidFill>
              </a:rPr>
              <a:t>causal Conv1D</a:t>
            </a:r>
            <a:endParaRPr lang="en-US" sz="1150" dirty="0"/>
          </a:p>
          <a:p>
            <a:pPr marL="0" indent="0" algn="ctr">
              <a:buNone/>
            </a:pPr>
            <a:r>
              <a:rPr lang="en-US" sz="1150" b="1" dirty="0">
                <a:solidFill>
                  <a:srgbClr val="7C3AED"/>
                </a:solidFill>
              </a:rPr>
              <a:t>dilation 8</a:t>
            </a:r>
            <a:endParaRPr lang="en-US" sz="1150" dirty="0"/>
          </a:p>
        </p:txBody>
      </p:sp>
      <p:sp>
        <p:nvSpPr>
          <p:cNvPr id="22" name="Shape 20"/>
          <p:cNvSpPr/>
          <p:nvPr/>
        </p:nvSpPr>
        <p:spPr>
          <a:xfrm>
            <a:off x="3255264" y="1643380"/>
            <a:ext cx="4480560" cy="0"/>
          </a:xfrm>
          <a:prstGeom prst="line">
            <a:avLst/>
          </a:prstGeom>
          <a:noFill/>
          <a:ln w="15240">
            <a:solidFill>
              <a:srgbClr val="475569"/>
            </a:solidFill>
            <a:prstDash val="solid"/>
            <a:headEnd type="none"/>
            <a:tailEnd type="triangle"/>
          </a:ln>
        </p:spPr>
        <p:txBody>
          <a:bodyPr/>
          <a:lstStyle/>
          <a:p>
            <a:endParaRPr lang="en-GB"/>
          </a:p>
        </p:txBody>
      </p:sp>
      <p:sp>
        <p:nvSpPr>
          <p:cNvPr id="23" name="Shape 21"/>
          <p:cNvSpPr/>
          <p:nvPr/>
        </p:nvSpPr>
        <p:spPr>
          <a:xfrm>
            <a:off x="7882128" y="1369060"/>
            <a:ext cx="1554480" cy="548640"/>
          </a:xfrm>
          <a:prstGeom prst="roundRect">
            <a:avLst>
              <a:gd name="adj" fmla="val 13333"/>
            </a:avLst>
          </a:prstGeom>
          <a:solidFill>
            <a:srgbClr val="EAF5D5"/>
          </a:solidFill>
          <a:ln w="13970">
            <a:solidFill>
              <a:srgbClr val="86B817"/>
            </a:solidFill>
            <a:prstDash val="solid"/>
          </a:ln>
        </p:spPr>
        <p:txBody>
          <a:bodyPr/>
          <a:lstStyle/>
          <a:p>
            <a:endParaRPr lang="en-GB"/>
          </a:p>
        </p:txBody>
      </p:sp>
      <p:sp>
        <p:nvSpPr>
          <p:cNvPr id="24" name="Text 22"/>
          <p:cNvSpPr/>
          <p:nvPr/>
        </p:nvSpPr>
        <p:spPr>
          <a:xfrm>
            <a:off x="7829804" y="1439418"/>
            <a:ext cx="1444752" cy="457200"/>
          </a:xfrm>
          <a:prstGeom prst="rect">
            <a:avLst/>
          </a:prstGeom>
          <a:noFill/>
          <a:ln/>
        </p:spPr>
        <p:txBody>
          <a:bodyPr wrap="square" lIns="0" tIns="0" rIns="0" bIns="0" rtlCol="0" anchor="ctr"/>
          <a:lstStyle/>
          <a:p>
            <a:pPr marL="0" indent="0" algn="ctr">
              <a:buNone/>
            </a:pPr>
            <a:r>
              <a:rPr lang="en-US" sz="1300" b="1" dirty="0">
                <a:solidFill>
                  <a:srgbClr val="111827"/>
                </a:solidFill>
              </a:rPr>
              <a:t>output</a:t>
            </a:r>
            <a:endParaRPr lang="en-US" sz="1300" dirty="0"/>
          </a:p>
        </p:txBody>
      </p:sp>
      <p:sp>
        <p:nvSpPr>
          <p:cNvPr id="25" name="Text 23"/>
          <p:cNvSpPr/>
          <p:nvPr/>
        </p:nvSpPr>
        <p:spPr>
          <a:xfrm>
            <a:off x="4062476" y="2834640"/>
            <a:ext cx="5212080" cy="365760"/>
          </a:xfrm>
          <a:prstGeom prst="rect">
            <a:avLst/>
          </a:prstGeom>
          <a:noFill/>
          <a:ln/>
        </p:spPr>
        <p:txBody>
          <a:bodyPr wrap="square" lIns="0" tIns="0" rIns="0" bIns="0" rtlCol="0" anchor="ctr"/>
          <a:lstStyle/>
          <a:p>
            <a:pPr marL="0" indent="0">
              <a:buNone/>
            </a:pPr>
            <a:r>
              <a:rPr lang="en-US" sz="1800" b="1" dirty="0">
                <a:highlight>
                  <a:srgbClr val="FFFF00"/>
                </a:highlight>
              </a:rPr>
              <a:t>Each layer keeps causality while expanding the past context (i.e., increasing receptive field).</a:t>
            </a:r>
            <a:endParaRPr lang="en-US" sz="1800" dirty="0">
              <a:highlight>
                <a:srgbClr val="FFFF00"/>
              </a:highlight>
            </a:endParaRPr>
          </a:p>
        </p:txBody>
      </p:sp>
      <p:sp>
        <p:nvSpPr>
          <p:cNvPr id="26" name="Text 24"/>
          <p:cNvSpPr/>
          <p:nvPr/>
        </p:nvSpPr>
        <p:spPr>
          <a:xfrm>
            <a:off x="4062476" y="3429000"/>
            <a:ext cx="4937760" cy="1371600"/>
          </a:xfrm>
          <a:prstGeom prst="rect">
            <a:avLst/>
          </a:prstGeom>
          <a:noFill/>
          <a:ln/>
        </p:spPr>
        <p:txBody>
          <a:bodyPr wrap="square" lIns="635" tIns="635" rIns="635" bIns="635" rtlCol="0" anchor="ctr">
            <a:normAutofit/>
          </a:bodyPr>
          <a:lstStyle/>
          <a:p>
            <a:pPr marL="285750" indent="-285750">
              <a:buFont typeface="Arial" panose="020B0604020202020204" pitchFamily="34" charset="0"/>
              <a:buChar char="•"/>
            </a:pPr>
            <a:r>
              <a:rPr lang="en-US" sz="1600" b="1" dirty="0">
                <a:solidFill>
                  <a:srgbClr val="475569"/>
                </a:solidFill>
              </a:rPr>
              <a:t>causal padding prevents future access</a:t>
            </a:r>
            <a:endParaRPr lang="en-US" sz="1600" b="1" dirty="0"/>
          </a:p>
          <a:p>
            <a:pPr marL="285750" indent="-285750">
              <a:buFont typeface="Arial" panose="020B0604020202020204" pitchFamily="34" charset="0"/>
              <a:buChar char="•"/>
            </a:pPr>
            <a:r>
              <a:rPr lang="en-US" sz="1600" b="1" dirty="0">
                <a:solidFill>
                  <a:srgbClr val="475569"/>
                </a:solidFill>
              </a:rPr>
              <a:t>dilation grows receptive field</a:t>
            </a:r>
            <a:endParaRPr lang="en-US" sz="1600" b="1" dirty="0"/>
          </a:p>
          <a:p>
            <a:pPr marL="285750" indent="-285750">
              <a:buFont typeface="Arial" panose="020B0604020202020204" pitchFamily="34" charset="0"/>
              <a:buChar char="•"/>
            </a:pPr>
            <a:r>
              <a:rPr lang="en-US" sz="1600" b="1" dirty="0">
                <a:solidFill>
                  <a:srgbClr val="475569"/>
                </a:solidFill>
              </a:rPr>
              <a:t>convolutions process positions in parallel</a:t>
            </a:r>
            <a:endParaRPr lang="en-US" sz="1600" b="1" dirty="0"/>
          </a:p>
        </p:txBody>
      </p:sp>
      <p:sp>
        <p:nvSpPr>
          <p:cNvPr id="27" name="Text 25"/>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i="1" dirty="0">
                <a:solidFill>
                  <a:srgbClr val="475569"/>
                </a:solidFill>
              </a:rPr>
              <a:t>The TCN replaces recurrent state propagation with an explicit convolutional connectivity pattern.</a:t>
            </a:r>
            <a:endParaRPr lang="en-US" sz="11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A typical TCN residual block</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b="1" dirty="0">
                <a:solidFill>
                  <a:srgbClr val="475569"/>
                </a:solidFill>
              </a:rPr>
              <a:t>Learn a modification while preserving a direct path</a:t>
            </a:r>
            <a:endParaRPr lang="en-US" sz="1150" b="1" dirty="0"/>
          </a:p>
        </p:txBody>
      </p:sp>
      <p:sp>
        <p:nvSpPr>
          <p:cNvPr id="8" name="Shape 6"/>
          <p:cNvSpPr/>
          <p:nvPr/>
        </p:nvSpPr>
        <p:spPr>
          <a:xfrm>
            <a:off x="914400" y="3108960"/>
            <a:ext cx="1097280" cy="502920"/>
          </a:xfrm>
          <a:prstGeom prst="roundRect">
            <a:avLst>
              <a:gd name="adj" fmla="val 14545"/>
            </a:avLst>
          </a:prstGeom>
          <a:solidFill>
            <a:srgbClr val="F8FAFC"/>
          </a:solidFill>
          <a:ln w="13970">
            <a:solidFill>
              <a:srgbClr val="475569"/>
            </a:solidFill>
            <a:prstDash val="solid"/>
          </a:ln>
        </p:spPr>
        <p:txBody>
          <a:bodyPr/>
          <a:lstStyle/>
          <a:p>
            <a:endParaRPr lang="en-GB"/>
          </a:p>
        </p:txBody>
      </p:sp>
      <p:sp>
        <p:nvSpPr>
          <p:cNvPr id="9" name="Text 7"/>
          <p:cNvSpPr/>
          <p:nvPr/>
        </p:nvSpPr>
        <p:spPr>
          <a:xfrm>
            <a:off x="969264" y="3154680"/>
            <a:ext cx="987552" cy="411480"/>
          </a:xfrm>
          <a:prstGeom prst="rect">
            <a:avLst/>
          </a:prstGeom>
          <a:noFill/>
          <a:ln/>
        </p:spPr>
        <p:txBody>
          <a:bodyPr wrap="square" lIns="0" tIns="0" rIns="0" bIns="0" rtlCol="0" anchor="ctr"/>
          <a:lstStyle/>
          <a:p>
            <a:pPr marL="0" indent="0" algn="ctr">
              <a:buNone/>
            </a:pPr>
            <a:r>
              <a:rPr lang="en-US" sz="1300" b="1" dirty="0">
                <a:solidFill>
                  <a:srgbClr val="111827"/>
                </a:solidFill>
              </a:rPr>
              <a:t>input</a:t>
            </a:r>
            <a:endParaRPr lang="en-US" sz="1300" dirty="0"/>
          </a:p>
        </p:txBody>
      </p:sp>
      <p:sp>
        <p:nvSpPr>
          <p:cNvPr id="10" name="Shape 8"/>
          <p:cNvSpPr/>
          <p:nvPr/>
        </p:nvSpPr>
        <p:spPr>
          <a:xfrm>
            <a:off x="2011680" y="3364992"/>
            <a:ext cx="914400" cy="0"/>
          </a:xfrm>
          <a:prstGeom prst="line">
            <a:avLst/>
          </a:prstGeom>
          <a:noFill/>
          <a:ln w="19050">
            <a:solidFill>
              <a:srgbClr val="475569"/>
            </a:solidFill>
            <a:prstDash val="solid"/>
            <a:headEnd type="none"/>
            <a:tailEnd type="triangle"/>
          </a:ln>
        </p:spPr>
        <p:txBody>
          <a:bodyPr/>
          <a:lstStyle/>
          <a:p>
            <a:endParaRPr lang="en-GB"/>
          </a:p>
        </p:txBody>
      </p:sp>
      <p:sp>
        <p:nvSpPr>
          <p:cNvPr id="11" name="Shape 9"/>
          <p:cNvSpPr/>
          <p:nvPr/>
        </p:nvSpPr>
        <p:spPr>
          <a:xfrm>
            <a:off x="2971800" y="2697480"/>
            <a:ext cx="1600200" cy="1325880"/>
          </a:xfrm>
          <a:prstGeom prst="roundRect">
            <a:avLst>
              <a:gd name="adj" fmla="val 5517"/>
            </a:avLst>
          </a:prstGeom>
          <a:solidFill>
            <a:srgbClr val="FFFFFF"/>
          </a:solidFill>
          <a:ln w="13970">
            <a:solidFill>
              <a:srgbClr val="2B73FF"/>
            </a:solidFill>
            <a:prstDash val="solid"/>
          </a:ln>
        </p:spPr>
        <p:txBody>
          <a:bodyPr/>
          <a:lstStyle/>
          <a:p>
            <a:endParaRPr lang="en-GB"/>
          </a:p>
        </p:txBody>
      </p:sp>
      <p:sp>
        <p:nvSpPr>
          <p:cNvPr id="12" name="Text 10"/>
          <p:cNvSpPr/>
          <p:nvPr/>
        </p:nvSpPr>
        <p:spPr>
          <a:xfrm>
            <a:off x="3026664" y="2743200"/>
            <a:ext cx="1490472" cy="1234440"/>
          </a:xfrm>
          <a:prstGeom prst="rect">
            <a:avLst/>
          </a:prstGeom>
          <a:noFill/>
          <a:ln/>
        </p:spPr>
        <p:txBody>
          <a:bodyPr wrap="square" lIns="0" tIns="0" rIns="0" bIns="0" rtlCol="0" anchor="ctr"/>
          <a:lstStyle/>
          <a:p>
            <a:pPr marL="0" indent="0" algn="ctr">
              <a:buNone/>
            </a:pPr>
            <a:r>
              <a:rPr lang="en-US" sz="1150" b="1" dirty="0"/>
              <a:t>dilated causal</a:t>
            </a:r>
            <a:endParaRPr lang="en-US" sz="1150" dirty="0"/>
          </a:p>
          <a:p>
            <a:pPr marL="0" indent="0" algn="ctr">
              <a:buNone/>
            </a:pPr>
            <a:r>
              <a:rPr lang="en-US" sz="1150" b="1" dirty="0"/>
              <a:t>conv</a:t>
            </a:r>
            <a:endParaRPr lang="en-US" sz="1150" dirty="0"/>
          </a:p>
          <a:p>
            <a:pPr marL="0" indent="0" algn="ctr">
              <a:buNone/>
            </a:pPr>
            <a:r>
              <a:rPr lang="en-US" sz="1150" b="1" dirty="0">
                <a:solidFill>
                  <a:srgbClr val="111827"/>
                </a:solidFill>
              </a:rPr>
              <a:t>+ activation</a:t>
            </a:r>
            <a:endParaRPr lang="en-US" sz="1150" dirty="0"/>
          </a:p>
        </p:txBody>
      </p:sp>
      <p:sp>
        <p:nvSpPr>
          <p:cNvPr id="13" name="Shape 11"/>
          <p:cNvSpPr/>
          <p:nvPr/>
        </p:nvSpPr>
        <p:spPr>
          <a:xfrm>
            <a:off x="4572000" y="3364992"/>
            <a:ext cx="777240" cy="0"/>
          </a:xfrm>
          <a:prstGeom prst="line">
            <a:avLst/>
          </a:prstGeom>
          <a:noFill/>
          <a:ln w="19050">
            <a:solidFill>
              <a:srgbClr val="475569"/>
            </a:solidFill>
            <a:prstDash val="solid"/>
            <a:headEnd type="none"/>
            <a:tailEnd type="triangle"/>
          </a:ln>
        </p:spPr>
        <p:txBody>
          <a:bodyPr/>
          <a:lstStyle/>
          <a:p>
            <a:endParaRPr lang="en-GB"/>
          </a:p>
        </p:txBody>
      </p:sp>
      <p:sp>
        <p:nvSpPr>
          <p:cNvPr id="14" name="Shape 12"/>
          <p:cNvSpPr/>
          <p:nvPr/>
        </p:nvSpPr>
        <p:spPr>
          <a:xfrm>
            <a:off x="5394960" y="2697480"/>
            <a:ext cx="1600200" cy="1325880"/>
          </a:xfrm>
          <a:prstGeom prst="roundRect">
            <a:avLst>
              <a:gd name="adj" fmla="val 5517"/>
            </a:avLst>
          </a:prstGeom>
          <a:solidFill>
            <a:srgbClr val="FFFFFF"/>
          </a:solidFill>
          <a:ln w="13970">
            <a:solidFill>
              <a:srgbClr val="86B817"/>
            </a:solidFill>
            <a:prstDash val="solid"/>
          </a:ln>
        </p:spPr>
        <p:txBody>
          <a:bodyPr/>
          <a:lstStyle/>
          <a:p>
            <a:endParaRPr lang="en-GB"/>
          </a:p>
        </p:txBody>
      </p:sp>
      <p:sp>
        <p:nvSpPr>
          <p:cNvPr id="15" name="Text 13"/>
          <p:cNvSpPr/>
          <p:nvPr/>
        </p:nvSpPr>
        <p:spPr>
          <a:xfrm>
            <a:off x="5449824" y="2743200"/>
            <a:ext cx="1490472" cy="1234440"/>
          </a:xfrm>
          <a:prstGeom prst="rect">
            <a:avLst/>
          </a:prstGeom>
          <a:noFill/>
          <a:ln/>
        </p:spPr>
        <p:txBody>
          <a:bodyPr wrap="square" lIns="0" tIns="0" rIns="0" bIns="0" rtlCol="0" anchor="ctr"/>
          <a:lstStyle/>
          <a:p>
            <a:pPr marL="0" indent="0" algn="ctr">
              <a:buNone/>
            </a:pPr>
            <a:r>
              <a:rPr lang="en-US" sz="1150" b="1" dirty="0">
                <a:solidFill>
                  <a:srgbClr val="111827"/>
                </a:solidFill>
              </a:rPr>
              <a:t>dropout /</a:t>
            </a:r>
            <a:endParaRPr lang="en-US" sz="1150" dirty="0"/>
          </a:p>
          <a:p>
            <a:pPr marL="0" indent="0" algn="ctr">
              <a:buNone/>
            </a:pPr>
            <a:r>
              <a:rPr lang="en-US" sz="1150" b="1" dirty="0">
                <a:solidFill>
                  <a:srgbClr val="111827"/>
                </a:solidFill>
              </a:rPr>
              <a:t>normalization</a:t>
            </a:r>
            <a:endParaRPr lang="en-US" sz="1150" dirty="0"/>
          </a:p>
        </p:txBody>
      </p:sp>
      <p:sp>
        <p:nvSpPr>
          <p:cNvPr id="16" name="Shape 14"/>
          <p:cNvSpPr/>
          <p:nvPr/>
        </p:nvSpPr>
        <p:spPr>
          <a:xfrm>
            <a:off x="6995160" y="3364992"/>
            <a:ext cx="777240" cy="0"/>
          </a:xfrm>
          <a:prstGeom prst="line">
            <a:avLst/>
          </a:prstGeom>
          <a:noFill/>
          <a:ln w="19050">
            <a:solidFill>
              <a:srgbClr val="475569"/>
            </a:solidFill>
            <a:prstDash val="solid"/>
            <a:headEnd type="none"/>
            <a:tailEnd type="triangle"/>
          </a:ln>
        </p:spPr>
        <p:txBody>
          <a:bodyPr/>
          <a:lstStyle/>
          <a:p>
            <a:endParaRPr lang="en-GB"/>
          </a:p>
        </p:txBody>
      </p:sp>
      <p:sp>
        <p:nvSpPr>
          <p:cNvPr id="17" name="Shape 15"/>
          <p:cNvSpPr/>
          <p:nvPr/>
        </p:nvSpPr>
        <p:spPr>
          <a:xfrm>
            <a:off x="7818120" y="2697480"/>
            <a:ext cx="1600200" cy="1325880"/>
          </a:xfrm>
          <a:prstGeom prst="roundRect">
            <a:avLst>
              <a:gd name="adj" fmla="val 5517"/>
            </a:avLst>
          </a:prstGeom>
          <a:solidFill>
            <a:srgbClr val="FFFFFF"/>
          </a:solidFill>
          <a:ln w="13970">
            <a:solidFill>
              <a:srgbClr val="2B73FF"/>
            </a:solidFill>
            <a:prstDash val="solid"/>
          </a:ln>
        </p:spPr>
        <p:txBody>
          <a:bodyPr/>
          <a:lstStyle/>
          <a:p>
            <a:endParaRPr lang="en-GB"/>
          </a:p>
        </p:txBody>
      </p:sp>
      <p:sp>
        <p:nvSpPr>
          <p:cNvPr id="18" name="Text 16"/>
          <p:cNvSpPr/>
          <p:nvPr/>
        </p:nvSpPr>
        <p:spPr>
          <a:xfrm>
            <a:off x="7872984" y="2743200"/>
            <a:ext cx="1490472" cy="1234440"/>
          </a:xfrm>
          <a:prstGeom prst="rect">
            <a:avLst/>
          </a:prstGeom>
          <a:noFill/>
          <a:ln/>
        </p:spPr>
        <p:txBody>
          <a:bodyPr wrap="square" lIns="0" tIns="0" rIns="0" bIns="0" rtlCol="0" anchor="ctr"/>
          <a:lstStyle/>
          <a:p>
            <a:pPr marL="0" indent="0" algn="ctr">
              <a:buNone/>
            </a:pPr>
            <a:r>
              <a:rPr lang="en-US" sz="1150" b="1" dirty="0">
                <a:solidFill>
                  <a:srgbClr val="111827"/>
                </a:solidFill>
              </a:rPr>
              <a:t>dilated causal</a:t>
            </a:r>
            <a:endParaRPr lang="en-US" sz="1150" dirty="0"/>
          </a:p>
          <a:p>
            <a:pPr marL="0" indent="0" algn="ctr">
              <a:buNone/>
            </a:pPr>
            <a:r>
              <a:rPr lang="en-US" sz="1150" b="1" dirty="0">
                <a:solidFill>
                  <a:srgbClr val="111827"/>
                </a:solidFill>
              </a:rPr>
              <a:t>conv</a:t>
            </a:r>
            <a:endParaRPr lang="en-US" sz="1150" dirty="0"/>
          </a:p>
          <a:p>
            <a:pPr marL="0" indent="0" algn="ctr">
              <a:buNone/>
            </a:pPr>
            <a:r>
              <a:rPr lang="en-US" sz="1150" b="1" dirty="0">
                <a:solidFill>
                  <a:srgbClr val="111827"/>
                </a:solidFill>
              </a:rPr>
              <a:t>+ activation</a:t>
            </a:r>
            <a:endParaRPr lang="en-US" sz="1150" dirty="0"/>
          </a:p>
        </p:txBody>
      </p:sp>
      <p:sp>
        <p:nvSpPr>
          <p:cNvPr id="19" name="Shape 17"/>
          <p:cNvSpPr/>
          <p:nvPr/>
        </p:nvSpPr>
        <p:spPr>
          <a:xfrm>
            <a:off x="9418320" y="3364992"/>
            <a:ext cx="640080" cy="0"/>
          </a:xfrm>
          <a:prstGeom prst="line">
            <a:avLst/>
          </a:prstGeom>
          <a:noFill/>
          <a:ln w="19050">
            <a:solidFill>
              <a:srgbClr val="475569"/>
            </a:solidFill>
            <a:prstDash val="solid"/>
            <a:headEnd type="none"/>
            <a:tailEnd type="triangle"/>
          </a:ln>
        </p:spPr>
        <p:txBody>
          <a:bodyPr/>
          <a:lstStyle/>
          <a:p>
            <a:endParaRPr lang="en-GB"/>
          </a:p>
        </p:txBody>
      </p:sp>
      <p:sp>
        <p:nvSpPr>
          <p:cNvPr id="20" name="Shape 18"/>
          <p:cNvSpPr/>
          <p:nvPr/>
        </p:nvSpPr>
        <p:spPr>
          <a:xfrm>
            <a:off x="10104120" y="3154680"/>
            <a:ext cx="411480" cy="411480"/>
          </a:xfrm>
          <a:prstGeom prst="ellipse">
            <a:avLst/>
          </a:prstGeom>
          <a:solidFill>
            <a:srgbClr val="EAF5D5"/>
          </a:solidFill>
          <a:ln w="19050">
            <a:solidFill>
              <a:srgbClr val="86B817"/>
            </a:solidFill>
            <a:prstDash val="solid"/>
          </a:ln>
        </p:spPr>
        <p:txBody>
          <a:bodyPr/>
          <a:lstStyle/>
          <a:p>
            <a:endParaRPr lang="en-GB"/>
          </a:p>
        </p:txBody>
      </p:sp>
      <p:sp>
        <p:nvSpPr>
          <p:cNvPr id="21" name="Text 19"/>
          <p:cNvSpPr/>
          <p:nvPr/>
        </p:nvSpPr>
        <p:spPr>
          <a:xfrm>
            <a:off x="10104120" y="3182112"/>
            <a:ext cx="411480" cy="228600"/>
          </a:xfrm>
          <a:prstGeom prst="rect">
            <a:avLst/>
          </a:prstGeom>
          <a:noFill/>
          <a:ln/>
        </p:spPr>
        <p:txBody>
          <a:bodyPr wrap="square" lIns="0" tIns="0" rIns="0" bIns="0" rtlCol="0" anchor="ctr"/>
          <a:lstStyle/>
          <a:p>
            <a:pPr marL="0" indent="0" algn="ctr">
              <a:buNone/>
            </a:pPr>
            <a:r>
              <a:rPr lang="en-US" sz="1800" b="1" dirty="0">
                <a:solidFill>
                  <a:srgbClr val="86B817"/>
                </a:solidFill>
              </a:rPr>
              <a:t>+</a:t>
            </a:r>
            <a:endParaRPr lang="en-US" sz="1800" dirty="0"/>
          </a:p>
        </p:txBody>
      </p:sp>
      <p:sp>
        <p:nvSpPr>
          <p:cNvPr id="22" name="Shape 20"/>
          <p:cNvSpPr/>
          <p:nvPr/>
        </p:nvSpPr>
        <p:spPr>
          <a:xfrm>
            <a:off x="10515600" y="3364992"/>
            <a:ext cx="411480" cy="0"/>
          </a:xfrm>
          <a:prstGeom prst="line">
            <a:avLst/>
          </a:prstGeom>
          <a:noFill/>
          <a:ln w="19050">
            <a:solidFill>
              <a:srgbClr val="475569"/>
            </a:solidFill>
            <a:prstDash val="solid"/>
            <a:headEnd type="none"/>
            <a:tailEnd type="triangle"/>
          </a:ln>
        </p:spPr>
        <p:txBody>
          <a:bodyPr/>
          <a:lstStyle/>
          <a:p>
            <a:endParaRPr lang="en-GB"/>
          </a:p>
        </p:txBody>
      </p:sp>
      <p:sp>
        <p:nvSpPr>
          <p:cNvPr id="23" name="Shape 21"/>
          <p:cNvSpPr/>
          <p:nvPr/>
        </p:nvSpPr>
        <p:spPr>
          <a:xfrm>
            <a:off x="10972800" y="3108960"/>
            <a:ext cx="841248" cy="502920"/>
          </a:xfrm>
          <a:prstGeom prst="roundRect">
            <a:avLst>
              <a:gd name="adj" fmla="val 14545"/>
            </a:avLst>
          </a:prstGeom>
          <a:solidFill>
            <a:srgbClr val="EAF5D5"/>
          </a:solidFill>
          <a:ln w="13970">
            <a:solidFill>
              <a:srgbClr val="86B817"/>
            </a:solidFill>
            <a:prstDash val="solid"/>
          </a:ln>
        </p:spPr>
        <p:txBody>
          <a:bodyPr/>
          <a:lstStyle/>
          <a:p>
            <a:endParaRPr lang="en-GB"/>
          </a:p>
        </p:txBody>
      </p:sp>
      <p:sp>
        <p:nvSpPr>
          <p:cNvPr id="24" name="Text 22"/>
          <p:cNvSpPr/>
          <p:nvPr/>
        </p:nvSpPr>
        <p:spPr>
          <a:xfrm>
            <a:off x="11027664" y="3154680"/>
            <a:ext cx="731520" cy="411480"/>
          </a:xfrm>
          <a:prstGeom prst="rect">
            <a:avLst/>
          </a:prstGeom>
          <a:noFill/>
          <a:ln/>
        </p:spPr>
        <p:txBody>
          <a:bodyPr wrap="square" lIns="0" tIns="0" rIns="0" bIns="0" rtlCol="0" anchor="ctr"/>
          <a:lstStyle/>
          <a:p>
            <a:pPr marL="0" indent="0" algn="ctr">
              <a:buNone/>
            </a:pPr>
            <a:r>
              <a:rPr lang="en-US" sz="1200" b="1" dirty="0">
                <a:solidFill>
                  <a:srgbClr val="111827"/>
                </a:solidFill>
              </a:rPr>
              <a:t>output</a:t>
            </a:r>
            <a:endParaRPr lang="en-US" sz="1200" dirty="0"/>
          </a:p>
        </p:txBody>
      </p:sp>
      <p:sp>
        <p:nvSpPr>
          <p:cNvPr id="25" name="Shape 23"/>
          <p:cNvSpPr/>
          <p:nvPr/>
        </p:nvSpPr>
        <p:spPr>
          <a:xfrm>
            <a:off x="1463040" y="3108960"/>
            <a:ext cx="0" cy="0"/>
          </a:xfrm>
          <a:prstGeom prst="line">
            <a:avLst/>
          </a:prstGeom>
          <a:noFill/>
          <a:ln w="22860">
            <a:solidFill>
              <a:srgbClr val="F1B400"/>
            </a:solidFill>
            <a:prstDash val="solid"/>
            <a:headEnd type="none"/>
            <a:tailEnd type="none"/>
          </a:ln>
        </p:spPr>
        <p:txBody>
          <a:bodyPr/>
          <a:lstStyle/>
          <a:p>
            <a:endParaRPr lang="en-GB"/>
          </a:p>
        </p:txBody>
      </p:sp>
      <p:sp>
        <p:nvSpPr>
          <p:cNvPr id="26" name="Shape 24"/>
          <p:cNvSpPr/>
          <p:nvPr/>
        </p:nvSpPr>
        <p:spPr>
          <a:xfrm>
            <a:off x="2438400" y="2057400"/>
            <a:ext cx="7848600" cy="0"/>
          </a:xfrm>
          <a:prstGeom prst="line">
            <a:avLst/>
          </a:prstGeom>
          <a:noFill/>
          <a:ln w="22860">
            <a:solidFill>
              <a:srgbClr val="F1B400"/>
            </a:solidFill>
            <a:prstDash val="solid"/>
            <a:headEnd type="none"/>
            <a:tailEnd type="none"/>
          </a:ln>
        </p:spPr>
        <p:txBody>
          <a:bodyPr/>
          <a:lstStyle/>
          <a:p>
            <a:endParaRPr lang="en-GB"/>
          </a:p>
        </p:txBody>
      </p:sp>
      <p:sp>
        <p:nvSpPr>
          <p:cNvPr id="27" name="Shape 25"/>
          <p:cNvSpPr/>
          <p:nvPr/>
        </p:nvSpPr>
        <p:spPr>
          <a:xfrm>
            <a:off x="10287000" y="2057400"/>
            <a:ext cx="0" cy="1097280"/>
          </a:xfrm>
          <a:prstGeom prst="line">
            <a:avLst/>
          </a:prstGeom>
          <a:noFill/>
          <a:ln w="22860">
            <a:solidFill>
              <a:srgbClr val="F1B400"/>
            </a:solidFill>
            <a:prstDash val="solid"/>
            <a:headEnd type="none"/>
            <a:tailEnd type="triangle"/>
          </a:ln>
        </p:spPr>
        <p:txBody>
          <a:bodyPr/>
          <a:lstStyle/>
          <a:p>
            <a:endParaRPr lang="en-GB"/>
          </a:p>
        </p:txBody>
      </p:sp>
      <p:sp>
        <p:nvSpPr>
          <p:cNvPr id="28" name="Text 26"/>
          <p:cNvSpPr/>
          <p:nvPr/>
        </p:nvSpPr>
        <p:spPr>
          <a:xfrm>
            <a:off x="4846320" y="1719072"/>
            <a:ext cx="2011680" cy="228600"/>
          </a:xfrm>
          <a:prstGeom prst="rect">
            <a:avLst/>
          </a:prstGeom>
          <a:noFill/>
          <a:ln/>
        </p:spPr>
        <p:txBody>
          <a:bodyPr wrap="square" lIns="0" tIns="0" rIns="0" bIns="0" rtlCol="0" anchor="ctr"/>
          <a:lstStyle/>
          <a:p>
            <a:pPr marL="0" indent="0">
              <a:buNone/>
            </a:pPr>
            <a:r>
              <a:rPr lang="en-US" sz="1200" b="1" dirty="0">
                <a:solidFill>
                  <a:srgbClr val="F1B400"/>
                </a:solidFill>
              </a:rPr>
              <a:t>residual connection</a:t>
            </a:r>
            <a:endParaRPr lang="en-US" sz="1200" dirty="0"/>
          </a:p>
        </p:txBody>
      </p:sp>
      <p:sp>
        <p:nvSpPr>
          <p:cNvPr id="29" name="Text 27"/>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i="1" dirty="0">
                <a:solidFill>
                  <a:srgbClr val="475569"/>
                </a:solidFill>
              </a:rPr>
              <a:t>Residual blocks help deep TCNs preserve useful information and train more reliably.</a:t>
            </a:r>
            <a:endParaRPr lang="en-US" sz="1150" dirty="0"/>
          </a:p>
        </p:txBody>
      </p:sp>
      <p:sp>
        <p:nvSpPr>
          <p:cNvPr id="31" name="Shape 25">
            <a:extLst>
              <a:ext uri="{FF2B5EF4-FFF2-40B4-BE49-F238E27FC236}">
                <a16:creationId xmlns:a16="http://schemas.microsoft.com/office/drawing/2014/main" id="{845E8AE2-24DB-3973-2E6C-27F03876D8BA}"/>
              </a:ext>
            </a:extLst>
          </p:cNvPr>
          <p:cNvSpPr/>
          <p:nvPr/>
        </p:nvSpPr>
        <p:spPr>
          <a:xfrm flipH="1" flipV="1">
            <a:off x="2408934" y="2057399"/>
            <a:ext cx="14225" cy="1307581"/>
          </a:xfrm>
          <a:prstGeom prst="line">
            <a:avLst/>
          </a:prstGeom>
          <a:noFill/>
          <a:ln w="22860">
            <a:solidFill>
              <a:srgbClr val="F1B400"/>
            </a:solidFill>
            <a:prstDash val="solid"/>
            <a:headEnd type="none"/>
            <a:tailEnd type="triangle"/>
          </a:ln>
        </p:spPr>
        <p:txBody>
          <a:bodyPr/>
          <a:lstStyle/>
          <a:p>
            <a:endParaRPr lang="en-GB"/>
          </a:p>
        </p:txBody>
      </p:sp>
      <p:sp>
        <p:nvSpPr>
          <p:cNvPr id="33" name="CasellaDiTesto 32">
            <a:extLst>
              <a:ext uri="{FF2B5EF4-FFF2-40B4-BE49-F238E27FC236}">
                <a16:creationId xmlns:a16="http://schemas.microsoft.com/office/drawing/2014/main" id="{65C11952-D3FD-D184-C68A-CBE6D787D965}"/>
              </a:ext>
            </a:extLst>
          </p:cNvPr>
          <p:cNvSpPr txBox="1"/>
          <p:nvPr/>
        </p:nvSpPr>
        <p:spPr>
          <a:xfrm>
            <a:off x="5650484" y="4857130"/>
            <a:ext cx="6108700" cy="615553"/>
          </a:xfrm>
          <a:prstGeom prst="rect">
            <a:avLst/>
          </a:prstGeom>
          <a:noFill/>
        </p:spPr>
        <p:txBody>
          <a:bodyPr wrap="square">
            <a:spAutoFit/>
          </a:bodyPr>
          <a:lstStyle/>
          <a:p>
            <a:r>
              <a:rPr lang="en-GB" sz="1800" b="1" dirty="0"/>
              <a:t>Residual form</a:t>
            </a:r>
            <a:endParaRPr lang="en-GB" sz="1800" dirty="0"/>
          </a:p>
          <a:p>
            <a:pPr lvl="1"/>
            <a:r>
              <a:rPr lang="en-GB" sz="1600" dirty="0"/>
              <a:t>output = input + transformation(input)</a:t>
            </a: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A32917F-251E-CFA0-BD11-650C5CEF222B}"/>
              </a:ext>
            </a:extLst>
          </p:cNvPr>
          <p:cNvSpPr>
            <a:spLocks noGrp="1"/>
          </p:cNvSpPr>
          <p:nvPr>
            <p:ph type="title"/>
          </p:nvPr>
        </p:nvSpPr>
        <p:spPr/>
        <p:txBody>
          <a:bodyPr/>
          <a:lstStyle/>
          <a:p>
            <a:r>
              <a:rPr lang="en-GB" dirty="0"/>
              <a:t>Why residual connections?</a:t>
            </a:r>
          </a:p>
        </p:txBody>
      </p:sp>
      <p:sp>
        <p:nvSpPr>
          <p:cNvPr id="3" name="Segnaposto contenuto 2">
            <a:extLst>
              <a:ext uri="{FF2B5EF4-FFF2-40B4-BE49-F238E27FC236}">
                <a16:creationId xmlns:a16="http://schemas.microsoft.com/office/drawing/2014/main" id="{7B94D293-FD67-B6CE-4654-5EE94AE21A16}"/>
              </a:ext>
            </a:extLst>
          </p:cNvPr>
          <p:cNvSpPr>
            <a:spLocks noGrp="1"/>
          </p:cNvSpPr>
          <p:nvPr>
            <p:ph sz="half" idx="1"/>
          </p:nvPr>
        </p:nvSpPr>
        <p:spPr>
          <a:xfrm>
            <a:off x="677334" y="2160588"/>
            <a:ext cx="5532966" cy="4291011"/>
          </a:xfrm>
        </p:spPr>
        <p:txBody>
          <a:bodyPr>
            <a:normAutofit fontScale="77500" lnSpcReduction="20000"/>
          </a:bodyPr>
          <a:lstStyle/>
          <a:p>
            <a:r>
              <a:rPr lang="en-GB" dirty="0"/>
              <a:t>As networks become deeper, optimization becomes more difficult.</a:t>
            </a:r>
          </a:p>
          <a:p>
            <a:r>
              <a:rPr lang="en-GB" dirty="0">
                <a:highlight>
                  <a:srgbClr val="FFFF00"/>
                </a:highlight>
              </a:rPr>
              <a:t>A residual connection provides a relatively direct path for information and gradients.</a:t>
            </a:r>
          </a:p>
          <a:p>
            <a:r>
              <a:rPr lang="en-GB" b="1" dirty="0"/>
              <a:t>Without residual connection</a:t>
            </a:r>
          </a:p>
          <a:p>
            <a:r>
              <a:rPr lang="en-GB" dirty="0"/>
              <a:t>input → transformation 1 → transformation 2 → output</a:t>
            </a:r>
          </a:p>
          <a:p>
            <a:r>
              <a:rPr lang="en-GB" b="1" dirty="0"/>
              <a:t>With residual connection</a:t>
            </a:r>
          </a:p>
          <a:p>
            <a:r>
              <a:rPr lang="en-GB" dirty="0"/>
              <a:t>input ────────────────────────┐</a:t>
            </a:r>
          </a:p>
          <a:p>
            <a:r>
              <a:rPr lang="en-GB" dirty="0"/>
              <a:t>  ↓                                                            │</a:t>
            </a:r>
          </a:p>
          <a:p>
            <a:r>
              <a:rPr lang="en-GB" dirty="0"/>
              <a:t>transformation                                          │</a:t>
            </a:r>
          </a:p>
          <a:p>
            <a:r>
              <a:rPr lang="en-GB" dirty="0"/>
              <a:t>  ↓                                                            │</a:t>
            </a:r>
          </a:p>
          <a:p>
            <a:r>
              <a:rPr lang="en-GB" dirty="0"/>
              <a:t>transformed representation                       │</a:t>
            </a:r>
          </a:p>
          <a:p>
            <a:r>
              <a:rPr lang="en-GB" dirty="0"/>
              <a:t>  └───────── + ←──────────┘</a:t>
            </a:r>
          </a:p>
          <a:p>
            <a:r>
              <a:rPr lang="en-GB" dirty="0"/>
              <a:t>                  ↓</a:t>
            </a:r>
          </a:p>
          <a:p>
            <a:r>
              <a:rPr lang="en-GB" dirty="0"/>
              <a:t>                output</a:t>
            </a:r>
          </a:p>
          <a:p>
            <a:endParaRPr lang="en-GB" dirty="0"/>
          </a:p>
        </p:txBody>
      </p:sp>
      <p:sp>
        <p:nvSpPr>
          <p:cNvPr id="4" name="Segnaposto contenuto 3">
            <a:extLst>
              <a:ext uri="{FF2B5EF4-FFF2-40B4-BE49-F238E27FC236}">
                <a16:creationId xmlns:a16="http://schemas.microsoft.com/office/drawing/2014/main" id="{ACF3DBAC-482B-62D3-B839-19728E5640B2}"/>
              </a:ext>
            </a:extLst>
          </p:cNvPr>
          <p:cNvSpPr>
            <a:spLocks noGrp="1"/>
          </p:cNvSpPr>
          <p:nvPr>
            <p:ph sz="half" idx="2"/>
          </p:nvPr>
        </p:nvSpPr>
        <p:spPr>
          <a:xfrm>
            <a:off x="6766370" y="2174878"/>
            <a:ext cx="5247830" cy="4505322"/>
          </a:xfrm>
        </p:spPr>
        <p:txBody>
          <a:bodyPr>
            <a:normAutofit fontScale="77500" lnSpcReduction="20000"/>
          </a:bodyPr>
          <a:lstStyle/>
          <a:p>
            <a:r>
              <a:rPr lang="en-GB" sz="2900" b="1" dirty="0">
                <a:highlight>
                  <a:srgbClr val="FFFF00"/>
                </a:highlight>
              </a:rPr>
              <a:t>Benefits</a:t>
            </a:r>
          </a:p>
          <a:p>
            <a:r>
              <a:rPr lang="en-GB" sz="2900" dirty="0"/>
              <a:t>Residual connections can:</a:t>
            </a:r>
          </a:p>
          <a:p>
            <a:pPr lvl="1"/>
            <a:r>
              <a:rPr lang="en-GB" sz="2600" dirty="0"/>
              <a:t>facilitate training of deep models; </a:t>
            </a:r>
          </a:p>
          <a:p>
            <a:pPr lvl="1"/>
            <a:r>
              <a:rPr lang="en-GB" sz="2600" dirty="0"/>
              <a:t>preserve useful input information; </a:t>
            </a:r>
          </a:p>
          <a:p>
            <a:pPr lvl="1"/>
            <a:r>
              <a:rPr lang="en-GB" sz="2600" dirty="0"/>
              <a:t>improve gradient flow; </a:t>
            </a:r>
          </a:p>
          <a:p>
            <a:pPr lvl="1"/>
            <a:r>
              <a:rPr lang="en-GB" sz="2600" dirty="0"/>
              <a:t>allow layers to learn modifications rather than complete replacements. </a:t>
            </a:r>
          </a:p>
          <a:p>
            <a:endParaRPr lang="en-GB" sz="2900" dirty="0"/>
          </a:p>
          <a:p>
            <a:r>
              <a:rPr lang="en-GB" sz="2900" b="1" dirty="0">
                <a:highlight>
                  <a:srgbClr val="FFFF00"/>
                </a:highlight>
              </a:rPr>
              <a:t>A residual block can learn what needs to change while preserving what is already useful.</a:t>
            </a:r>
          </a:p>
          <a:p>
            <a:endParaRPr lang="en-GB" dirty="0"/>
          </a:p>
        </p:txBody>
      </p:sp>
    </p:spTree>
    <p:extLst>
      <p:ext uri="{BB962C8B-B14F-4D97-AF65-F5344CB8AC3E}">
        <p14:creationId xmlns:p14="http://schemas.microsoft.com/office/powerpoint/2010/main" val="26951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C29A2E8-1470-432F-07FD-6D01ABB7D4A6}"/>
              </a:ext>
            </a:extLst>
          </p:cNvPr>
          <p:cNvSpPr>
            <a:spLocks noGrp="1"/>
          </p:cNvSpPr>
          <p:nvPr>
            <p:ph type="title"/>
          </p:nvPr>
        </p:nvSpPr>
        <p:spPr/>
        <p:txBody>
          <a:bodyPr/>
          <a:lstStyle/>
          <a:p>
            <a:r>
              <a:rPr lang="en-GB" dirty="0"/>
              <a:t>Channel dimensions inside a residual block</a:t>
            </a:r>
          </a:p>
        </p:txBody>
      </p:sp>
      <p:sp>
        <p:nvSpPr>
          <p:cNvPr id="3" name="Segnaposto contenuto 2">
            <a:extLst>
              <a:ext uri="{FF2B5EF4-FFF2-40B4-BE49-F238E27FC236}">
                <a16:creationId xmlns:a16="http://schemas.microsoft.com/office/drawing/2014/main" id="{134223EB-5E84-4AE5-8320-15E6A3668842}"/>
              </a:ext>
            </a:extLst>
          </p:cNvPr>
          <p:cNvSpPr>
            <a:spLocks noGrp="1"/>
          </p:cNvSpPr>
          <p:nvPr>
            <p:ph sz="half" idx="1"/>
          </p:nvPr>
        </p:nvSpPr>
        <p:spPr/>
        <p:txBody>
          <a:bodyPr>
            <a:normAutofit fontScale="92500" lnSpcReduction="20000"/>
          </a:bodyPr>
          <a:lstStyle/>
          <a:p>
            <a:r>
              <a:rPr lang="en-GB" dirty="0"/>
              <a:t>Suppose the input to a residual block has:</a:t>
            </a:r>
          </a:p>
          <a:p>
            <a:r>
              <a:rPr lang="en-GB" dirty="0" err="1"/>
              <a:t>F_in</a:t>
            </a:r>
            <a:r>
              <a:rPr lang="en-GB" dirty="0"/>
              <a:t> = 32 channels</a:t>
            </a:r>
          </a:p>
          <a:p>
            <a:r>
              <a:rPr lang="en-GB" dirty="0"/>
              <a:t>and the block produces:</a:t>
            </a:r>
          </a:p>
          <a:p>
            <a:r>
              <a:rPr lang="en-GB" dirty="0" err="1"/>
              <a:t>F_out</a:t>
            </a:r>
            <a:r>
              <a:rPr lang="en-GB" dirty="0"/>
              <a:t> = 64 channels</a:t>
            </a:r>
          </a:p>
          <a:p>
            <a:r>
              <a:rPr lang="en-GB" dirty="0"/>
              <a:t>The residual addition requires compatible dimensions.</a:t>
            </a:r>
          </a:p>
          <a:p>
            <a:r>
              <a:rPr lang="en-GB" b="1" dirty="0"/>
              <a:t>If dimensions already match:</a:t>
            </a:r>
          </a:p>
          <a:p>
            <a:r>
              <a:rPr lang="en-GB" dirty="0"/>
              <a:t>32 channels → transformation → 32 channels                   +</a:t>
            </a:r>
          </a:p>
          <a:p>
            <a:r>
              <a:rPr lang="en-GB" dirty="0"/>
              <a:t>residual ────────┘</a:t>
            </a:r>
          </a:p>
          <a:p>
            <a:r>
              <a:rPr lang="en-GB" b="1" dirty="0"/>
              <a:t>they can be added directly.</a:t>
            </a:r>
          </a:p>
          <a:p>
            <a:endParaRPr lang="en-GB" dirty="0"/>
          </a:p>
        </p:txBody>
      </p:sp>
      <p:sp>
        <p:nvSpPr>
          <p:cNvPr id="4" name="Segnaposto contenuto 3">
            <a:extLst>
              <a:ext uri="{FF2B5EF4-FFF2-40B4-BE49-F238E27FC236}">
                <a16:creationId xmlns:a16="http://schemas.microsoft.com/office/drawing/2014/main" id="{8B24C7CA-580F-A2C6-A81F-61485B296DFE}"/>
              </a:ext>
            </a:extLst>
          </p:cNvPr>
          <p:cNvSpPr>
            <a:spLocks noGrp="1"/>
          </p:cNvSpPr>
          <p:nvPr>
            <p:ph sz="half" idx="2"/>
          </p:nvPr>
        </p:nvSpPr>
        <p:spPr/>
        <p:txBody>
          <a:bodyPr>
            <a:normAutofit fontScale="92500" lnSpcReduction="20000"/>
          </a:bodyPr>
          <a:lstStyle/>
          <a:p>
            <a:r>
              <a:rPr lang="en-GB" b="1" dirty="0"/>
              <a:t>If dimensions differ</a:t>
            </a:r>
          </a:p>
          <a:p>
            <a:pPr lvl="1"/>
            <a:r>
              <a:rPr lang="en-GB" dirty="0">
                <a:highlight>
                  <a:srgbClr val="FFFF00"/>
                </a:highlight>
              </a:rPr>
              <a:t>A small transformation, often a 1×1 convolution, can project: 32 → 64 channels before the residual addition.</a:t>
            </a:r>
          </a:p>
          <a:p>
            <a:r>
              <a:rPr lang="en-GB" b="1" dirty="0"/>
              <a:t>Temporal </a:t>
            </a:r>
            <a:r>
              <a:rPr lang="en-GB" b="1" dirty="0">
                <a:solidFill>
                  <a:schemeClr val="tx1"/>
                </a:solidFill>
              </a:rPr>
              <a:t>interpretation of 1×1 </a:t>
            </a:r>
            <a:r>
              <a:rPr lang="en-GB" b="1" dirty="0"/>
              <a:t>Conv1D</a:t>
            </a:r>
          </a:p>
          <a:p>
            <a:r>
              <a:rPr lang="en-GB" dirty="0"/>
              <a:t>A kernel size of 1:</a:t>
            </a:r>
          </a:p>
          <a:p>
            <a:pPr lvl="1"/>
            <a:r>
              <a:rPr lang="en-GB" dirty="0"/>
              <a:t>does not combine neighbouring time steps; </a:t>
            </a:r>
          </a:p>
          <a:p>
            <a:pPr lvl="1"/>
            <a:r>
              <a:rPr lang="en-GB" dirty="0"/>
              <a:t>mixes information across channels at each temporal position. </a:t>
            </a:r>
          </a:p>
          <a:p>
            <a:r>
              <a:rPr lang="en-GB" dirty="0"/>
              <a:t>This is useful for matching feature dimensions.</a:t>
            </a:r>
          </a:p>
          <a:p>
            <a:endParaRPr lang="en-GB" dirty="0"/>
          </a:p>
        </p:txBody>
      </p:sp>
      <p:sp>
        <p:nvSpPr>
          <p:cNvPr id="5" name="CasellaDiTesto 4">
            <a:extLst>
              <a:ext uri="{FF2B5EF4-FFF2-40B4-BE49-F238E27FC236}">
                <a16:creationId xmlns:a16="http://schemas.microsoft.com/office/drawing/2014/main" id="{E5A08AAF-5384-0EED-818C-317A596649CA}"/>
              </a:ext>
            </a:extLst>
          </p:cNvPr>
          <p:cNvSpPr txBox="1"/>
          <p:nvPr/>
        </p:nvSpPr>
        <p:spPr>
          <a:xfrm>
            <a:off x="9502605" y="2697480"/>
            <a:ext cx="2331720" cy="1077218"/>
          </a:xfrm>
          <a:prstGeom prst="rect">
            <a:avLst/>
          </a:prstGeom>
          <a:noFill/>
        </p:spPr>
        <p:txBody>
          <a:bodyPr wrap="square" rtlCol="0">
            <a:spAutoFit/>
          </a:bodyPr>
          <a:lstStyle/>
          <a:p>
            <a:r>
              <a:rPr lang="en-GB" sz="1600" dirty="0"/>
              <a:t>Terminology inherited from Conv2D.</a:t>
            </a:r>
            <a:br>
              <a:rPr lang="en-GB" sz="1600" dirty="0"/>
            </a:br>
            <a:r>
              <a:rPr lang="en-GB" sz="1600" dirty="0"/>
              <a:t>It means: Conv1D with kernel size 1</a:t>
            </a:r>
          </a:p>
        </p:txBody>
      </p:sp>
      <p:cxnSp>
        <p:nvCxnSpPr>
          <p:cNvPr id="7" name="Connettore 2 6">
            <a:extLst>
              <a:ext uri="{FF2B5EF4-FFF2-40B4-BE49-F238E27FC236}">
                <a16:creationId xmlns:a16="http://schemas.microsoft.com/office/drawing/2014/main" id="{C217DB32-733B-0503-BBDE-7C7E33C2818B}"/>
              </a:ext>
            </a:extLst>
          </p:cNvPr>
          <p:cNvCxnSpPr>
            <a:cxnSpLocks/>
          </p:cNvCxnSpPr>
          <p:nvPr/>
        </p:nvCxnSpPr>
        <p:spPr>
          <a:xfrm flipH="1" flipV="1">
            <a:off x="8892540" y="2686050"/>
            <a:ext cx="610065" cy="2400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ttore 2 8">
            <a:extLst>
              <a:ext uri="{FF2B5EF4-FFF2-40B4-BE49-F238E27FC236}">
                <a16:creationId xmlns:a16="http://schemas.microsoft.com/office/drawing/2014/main" id="{55036307-CCE2-96F4-A8F2-663604075291}"/>
              </a:ext>
            </a:extLst>
          </p:cNvPr>
          <p:cNvCxnSpPr>
            <a:cxnSpLocks/>
          </p:cNvCxnSpPr>
          <p:nvPr/>
        </p:nvCxnSpPr>
        <p:spPr>
          <a:xfrm flipH="1">
            <a:off x="8663937" y="2926080"/>
            <a:ext cx="838668" cy="5254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649271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9189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Residual addition requires compatible channel dimensions</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dirty="0">
                <a:solidFill>
                  <a:srgbClr val="475569"/>
                </a:solidFill>
              </a:rPr>
              <a:t>A 1×1 Conv1D can project channels without mixing time</a:t>
            </a:r>
            <a:endParaRPr lang="en-US" sz="1150" dirty="0"/>
          </a:p>
        </p:txBody>
      </p:sp>
      <p:sp>
        <p:nvSpPr>
          <p:cNvPr id="8" name="Shape 6"/>
          <p:cNvSpPr/>
          <p:nvPr/>
        </p:nvSpPr>
        <p:spPr>
          <a:xfrm>
            <a:off x="914400" y="1920240"/>
            <a:ext cx="1371600" cy="594360"/>
          </a:xfrm>
          <a:prstGeom prst="roundRect">
            <a:avLst>
              <a:gd name="adj" fmla="val 12308"/>
            </a:avLst>
          </a:prstGeom>
          <a:solidFill>
            <a:srgbClr val="F8FAFC"/>
          </a:solidFill>
          <a:ln w="13970">
            <a:solidFill>
              <a:srgbClr val="475569"/>
            </a:solidFill>
            <a:prstDash val="solid"/>
          </a:ln>
        </p:spPr>
        <p:txBody>
          <a:bodyPr/>
          <a:lstStyle/>
          <a:p>
            <a:endParaRPr lang="en-GB"/>
          </a:p>
        </p:txBody>
      </p:sp>
      <p:sp>
        <p:nvSpPr>
          <p:cNvPr id="9" name="Text 7"/>
          <p:cNvSpPr/>
          <p:nvPr/>
        </p:nvSpPr>
        <p:spPr>
          <a:xfrm>
            <a:off x="969264" y="1965960"/>
            <a:ext cx="1261872" cy="502920"/>
          </a:xfrm>
          <a:prstGeom prst="rect">
            <a:avLst/>
          </a:prstGeom>
          <a:noFill/>
          <a:ln/>
        </p:spPr>
        <p:txBody>
          <a:bodyPr wrap="square" lIns="0" tIns="0" rIns="0" bIns="0" rtlCol="0" anchor="ctr"/>
          <a:lstStyle/>
          <a:p>
            <a:pPr marL="0" indent="0" algn="ctr">
              <a:buNone/>
            </a:pPr>
            <a:r>
              <a:rPr lang="en-US" sz="1200" b="1" dirty="0">
                <a:solidFill>
                  <a:srgbClr val="111827"/>
                </a:solidFill>
              </a:rPr>
              <a:t>input</a:t>
            </a:r>
            <a:endParaRPr lang="en-US" sz="1200" dirty="0"/>
          </a:p>
          <a:p>
            <a:pPr marL="0" indent="0" algn="ctr">
              <a:buNone/>
            </a:pPr>
            <a:r>
              <a:rPr lang="en-US" sz="1200" b="1" dirty="0">
                <a:solidFill>
                  <a:srgbClr val="111827"/>
                </a:solidFill>
              </a:rPr>
              <a:t>32 ch</a:t>
            </a:r>
            <a:endParaRPr lang="en-US" sz="1200" dirty="0"/>
          </a:p>
        </p:txBody>
      </p:sp>
      <p:sp>
        <p:nvSpPr>
          <p:cNvPr id="10" name="Shape 8"/>
          <p:cNvSpPr/>
          <p:nvPr/>
        </p:nvSpPr>
        <p:spPr>
          <a:xfrm>
            <a:off x="2286000" y="2221992"/>
            <a:ext cx="731520" cy="0"/>
          </a:xfrm>
          <a:prstGeom prst="line">
            <a:avLst/>
          </a:prstGeom>
          <a:noFill/>
          <a:ln w="19050">
            <a:solidFill>
              <a:srgbClr val="475569"/>
            </a:solidFill>
            <a:prstDash val="solid"/>
            <a:headEnd type="none"/>
            <a:tailEnd type="triangle"/>
          </a:ln>
        </p:spPr>
        <p:txBody>
          <a:bodyPr/>
          <a:lstStyle/>
          <a:p>
            <a:endParaRPr lang="en-GB"/>
          </a:p>
        </p:txBody>
      </p:sp>
      <p:sp>
        <p:nvSpPr>
          <p:cNvPr id="11" name="Shape 9"/>
          <p:cNvSpPr/>
          <p:nvPr/>
        </p:nvSpPr>
        <p:spPr>
          <a:xfrm>
            <a:off x="3063240" y="1645920"/>
            <a:ext cx="2194560" cy="1143000"/>
          </a:xfrm>
          <a:prstGeom prst="roundRect">
            <a:avLst>
              <a:gd name="adj" fmla="val 6400"/>
            </a:avLst>
          </a:prstGeom>
          <a:solidFill>
            <a:srgbClr val="FFFFFF"/>
          </a:solidFill>
          <a:ln w="13970">
            <a:solidFill>
              <a:srgbClr val="2B73FF"/>
            </a:solidFill>
            <a:prstDash val="solid"/>
          </a:ln>
        </p:spPr>
        <p:txBody>
          <a:bodyPr/>
          <a:lstStyle/>
          <a:p>
            <a:endParaRPr lang="en-GB"/>
          </a:p>
        </p:txBody>
      </p:sp>
      <p:sp>
        <p:nvSpPr>
          <p:cNvPr id="12" name="Text 10"/>
          <p:cNvSpPr/>
          <p:nvPr/>
        </p:nvSpPr>
        <p:spPr>
          <a:xfrm>
            <a:off x="3118104" y="1691640"/>
            <a:ext cx="2084832" cy="1051560"/>
          </a:xfrm>
          <a:prstGeom prst="rect">
            <a:avLst/>
          </a:prstGeom>
          <a:noFill/>
          <a:ln/>
        </p:spPr>
        <p:txBody>
          <a:bodyPr wrap="square" lIns="0" tIns="0" rIns="0" bIns="0" rtlCol="0" anchor="ctr"/>
          <a:lstStyle/>
          <a:p>
            <a:pPr marL="0" indent="0" algn="ctr">
              <a:buNone/>
            </a:pPr>
            <a:r>
              <a:rPr lang="en-US" sz="1300" b="1" dirty="0">
                <a:solidFill>
                  <a:srgbClr val="111827"/>
                </a:solidFill>
              </a:rPr>
              <a:t>TCN transformation</a:t>
            </a:r>
            <a:endParaRPr lang="en-US" sz="1300" dirty="0"/>
          </a:p>
          <a:p>
            <a:pPr marL="0" indent="0" algn="ctr">
              <a:buNone/>
            </a:pPr>
            <a:r>
              <a:rPr lang="en-US" sz="1300" b="1" dirty="0">
                <a:solidFill>
                  <a:srgbClr val="111827"/>
                </a:solidFill>
              </a:rPr>
              <a:t>→ 64 channels</a:t>
            </a:r>
            <a:endParaRPr lang="en-US" sz="1300" dirty="0"/>
          </a:p>
        </p:txBody>
      </p:sp>
      <p:sp>
        <p:nvSpPr>
          <p:cNvPr id="13" name="Shape 11"/>
          <p:cNvSpPr/>
          <p:nvPr/>
        </p:nvSpPr>
        <p:spPr>
          <a:xfrm>
            <a:off x="5257800" y="2221992"/>
            <a:ext cx="777240" cy="0"/>
          </a:xfrm>
          <a:prstGeom prst="line">
            <a:avLst/>
          </a:prstGeom>
          <a:noFill/>
          <a:ln w="19050">
            <a:solidFill>
              <a:srgbClr val="475569"/>
            </a:solidFill>
            <a:prstDash val="solid"/>
            <a:headEnd type="none"/>
            <a:tailEnd type="triangle"/>
          </a:ln>
        </p:spPr>
        <p:txBody>
          <a:bodyPr/>
          <a:lstStyle/>
          <a:p>
            <a:endParaRPr lang="en-GB"/>
          </a:p>
        </p:txBody>
      </p:sp>
      <p:sp>
        <p:nvSpPr>
          <p:cNvPr id="14" name="Shape 12"/>
          <p:cNvSpPr/>
          <p:nvPr/>
        </p:nvSpPr>
        <p:spPr>
          <a:xfrm>
            <a:off x="6080760" y="2011680"/>
            <a:ext cx="438912" cy="438912"/>
          </a:xfrm>
          <a:prstGeom prst="ellipse">
            <a:avLst/>
          </a:prstGeom>
          <a:solidFill>
            <a:srgbClr val="EAF5D5"/>
          </a:solidFill>
          <a:ln w="19050">
            <a:solidFill>
              <a:srgbClr val="86B817"/>
            </a:solidFill>
            <a:prstDash val="solid"/>
          </a:ln>
        </p:spPr>
        <p:txBody>
          <a:bodyPr/>
          <a:lstStyle/>
          <a:p>
            <a:endParaRPr lang="en-GB"/>
          </a:p>
        </p:txBody>
      </p:sp>
      <p:sp>
        <p:nvSpPr>
          <p:cNvPr id="15" name="Text 13"/>
          <p:cNvSpPr/>
          <p:nvPr/>
        </p:nvSpPr>
        <p:spPr>
          <a:xfrm>
            <a:off x="6080760" y="2048256"/>
            <a:ext cx="438912" cy="237744"/>
          </a:xfrm>
          <a:prstGeom prst="rect">
            <a:avLst/>
          </a:prstGeom>
          <a:noFill/>
          <a:ln/>
        </p:spPr>
        <p:txBody>
          <a:bodyPr wrap="square" lIns="0" tIns="0" rIns="0" bIns="0" rtlCol="0" anchor="ctr"/>
          <a:lstStyle/>
          <a:p>
            <a:pPr marL="0" indent="0" algn="ctr">
              <a:buNone/>
            </a:pPr>
            <a:r>
              <a:rPr lang="en-US" sz="1800" b="1" dirty="0">
                <a:solidFill>
                  <a:srgbClr val="86B817"/>
                </a:solidFill>
              </a:rPr>
              <a:t>+</a:t>
            </a:r>
            <a:endParaRPr lang="en-US" sz="1800" dirty="0"/>
          </a:p>
        </p:txBody>
      </p:sp>
      <p:sp>
        <p:nvSpPr>
          <p:cNvPr id="16" name="Shape 14"/>
          <p:cNvSpPr/>
          <p:nvPr/>
        </p:nvSpPr>
        <p:spPr>
          <a:xfrm>
            <a:off x="6519672" y="2221992"/>
            <a:ext cx="795528" cy="0"/>
          </a:xfrm>
          <a:prstGeom prst="line">
            <a:avLst/>
          </a:prstGeom>
          <a:noFill/>
          <a:ln w="19050">
            <a:solidFill>
              <a:srgbClr val="475569"/>
            </a:solidFill>
            <a:prstDash val="solid"/>
            <a:headEnd type="none"/>
            <a:tailEnd type="triangle"/>
          </a:ln>
        </p:spPr>
        <p:txBody>
          <a:bodyPr/>
          <a:lstStyle/>
          <a:p>
            <a:endParaRPr lang="en-GB"/>
          </a:p>
        </p:txBody>
      </p:sp>
      <p:sp>
        <p:nvSpPr>
          <p:cNvPr id="17" name="Shape 15"/>
          <p:cNvSpPr/>
          <p:nvPr/>
        </p:nvSpPr>
        <p:spPr>
          <a:xfrm>
            <a:off x="7360920" y="1920240"/>
            <a:ext cx="1371600" cy="594360"/>
          </a:xfrm>
          <a:prstGeom prst="roundRect">
            <a:avLst>
              <a:gd name="adj" fmla="val 12308"/>
            </a:avLst>
          </a:prstGeom>
          <a:solidFill>
            <a:srgbClr val="EAF5D5"/>
          </a:solidFill>
          <a:ln w="13970">
            <a:solidFill>
              <a:srgbClr val="86B817"/>
            </a:solidFill>
            <a:prstDash val="solid"/>
          </a:ln>
        </p:spPr>
        <p:txBody>
          <a:bodyPr/>
          <a:lstStyle/>
          <a:p>
            <a:endParaRPr lang="en-GB"/>
          </a:p>
        </p:txBody>
      </p:sp>
      <p:sp>
        <p:nvSpPr>
          <p:cNvPr id="18" name="Text 16"/>
          <p:cNvSpPr/>
          <p:nvPr/>
        </p:nvSpPr>
        <p:spPr>
          <a:xfrm>
            <a:off x="7415784" y="1965960"/>
            <a:ext cx="1261872" cy="502920"/>
          </a:xfrm>
          <a:prstGeom prst="rect">
            <a:avLst/>
          </a:prstGeom>
          <a:noFill/>
          <a:ln/>
        </p:spPr>
        <p:txBody>
          <a:bodyPr wrap="square" lIns="0" tIns="0" rIns="0" bIns="0" rtlCol="0" anchor="ctr"/>
          <a:lstStyle/>
          <a:p>
            <a:pPr marL="0" indent="0" algn="ctr">
              <a:buNone/>
            </a:pPr>
            <a:r>
              <a:rPr lang="en-US" sz="1200" b="1" dirty="0">
                <a:solidFill>
                  <a:srgbClr val="111827"/>
                </a:solidFill>
              </a:rPr>
              <a:t>output</a:t>
            </a:r>
            <a:endParaRPr lang="en-US" sz="1200" dirty="0"/>
          </a:p>
          <a:p>
            <a:pPr marL="0" indent="0" algn="ctr">
              <a:buNone/>
            </a:pPr>
            <a:r>
              <a:rPr lang="en-US" sz="1200" b="1" dirty="0">
                <a:solidFill>
                  <a:srgbClr val="111827"/>
                </a:solidFill>
              </a:rPr>
              <a:t>64 ch</a:t>
            </a:r>
            <a:endParaRPr lang="en-US" sz="1200" dirty="0"/>
          </a:p>
        </p:txBody>
      </p:sp>
      <p:sp>
        <p:nvSpPr>
          <p:cNvPr id="19" name="Shape 17"/>
          <p:cNvSpPr/>
          <p:nvPr/>
        </p:nvSpPr>
        <p:spPr>
          <a:xfrm>
            <a:off x="1600200" y="2514600"/>
            <a:ext cx="0" cy="1508760"/>
          </a:xfrm>
          <a:prstGeom prst="line">
            <a:avLst/>
          </a:prstGeom>
          <a:noFill/>
          <a:ln w="22860">
            <a:solidFill>
              <a:srgbClr val="F1B400"/>
            </a:solidFill>
            <a:prstDash val="solid"/>
            <a:headEnd type="none"/>
            <a:tailEnd type="none"/>
          </a:ln>
        </p:spPr>
        <p:txBody>
          <a:bodyPr/>
          <a:lstStyle/>
          <a:p>
            <a:endParaRPr lang="en-GB"/>
          </a:p>
        </p:txBody>
      </p:sp>
      <p:sp>
        <p:nvSpPr>
          <p:cNvPr id="20" name="Shape 18"/>
          <p:cNvSpPr/>
          <p:nvPr/>
        </p:nvSpPr>
        <p:spPr>
          <a:xfrm>
            <a:off x="1600200" y="4023360"/>
            <a:ext cx="1371600" cy="0"/>
          </a:xfrm>
          <a:prstGeom prst="line">
            <a:avLst/>
          </a:prstGeom>
          <a:noFill/>
          <a:ln w="22860">
            <a:solidFill>
              <a:srgbClr val="F1B400"/>
            </a:solidFill>
            <a:prstDash val="solid"/>
            <a:headEnd type="none"/>
            <a:tailEnd type="triangle"/>
          </a:ln>
        </p:spPr>
        <p:txBody>
          <a:bodyPr/>
          <a:lstStyle/>
          <a:p>
            <a:endParaRPr lang="en-GB"/>
          </a:p>
        </p:txBody>
      </p:sp>
      <p:sp>
        <p:nvSpPr>
          <p:cNvPr id="21" name="Shape 19"/>
          <p:cNvSpPr/>
          <p:nvPr/>
        </p:nvSpPr>
        <p:spPr>
          <a:xfrm>
            <a:off x="3017520" y="3703320"/>
            <a:ext cx="1828800" cy="640080"/>
          </a:xfrm>
          <a:prstGeom prst="roundRect">
            <a:avLst>
              <a:gd name="adj" fmla="val 11429"/>
            </a:avLst>
          </a:prstGeom>
          <a:solidFill>
            <a:srgbClr val="FFF7ED"/>
          </a:solidFill>
          <a:ln w="13970">
            <a:solidFill>
              <a:srgbClr val="F1B400"/>
            </a:solidFill>
            <a:prstDash val="solid"/>
          </a:ln>
        </p:spPr>
        <p:txBody>
          <a:bodyPr/>
          <a:lstStyle/>
          <a:p>
            <a:endParaRPr lang="en-GB"/>
          </a:p>
        </p:txBody>
      </p:sp>
      <p:sp>
        <p:nvSpPr>
          <p:cNvPr id="22" name="Text 20"/>
          <p:cNvSpPr/>
          <p:nvPr/>
        </p:nvSpPr>
        <p:spPr>
          <a:xfrm>
            <a:off x="3072384" y="3749040"/>
            <a:ext cx="1719072" cy="548640"/>
          </a:xfrm>
          <a:prstGeom prst="rect">
            <a:avLst/>
          </a:prstGeom>
          <a:noFill/>
          <a:ln/>
        </p:spPr>
        <p:txBody>
          <a:bodyPr wrap="square" lIns="0" tIns="0" rIns="0" bIns="0" rtlCol="0" anchor="ctr"/>
          <a:lstStyle/>
          <a:p>
            <a:pPr marL="0" indent="0" algn="ctr">
              <a:buNone/>
            </a:pPr>
            <a:r>
              <a:rPr lang="en-US" sz="1200" b="1" dirty="0">
                <a:solidFill>
                  <a:srgbClr val="111827"/>
                </a:solidFill>
              </a:rPr>
              <a:t>1×1 Conv1D</a:t>
            </a:r>
            <a:endParaRPr lang="en-US" sz="1200" dirty="0"/>
          </a:p>
          <a:p>
            <a:pPr marL="0" indent="0" algn="ctr">
              <a:buNone/>
            </a:pPr>
            <a:r>
              <a:rPr lang="en-US" sz="1200" b="1" dirty="0">
                <a:solidFill>
                  <a:srgbClr val="111827"/>
                </a:solidFill>
              </a:rPr>
              <a:t>32 → 64 ch</a:t>
            </a:r>
            <a:endParaRPr lang="en-US" sz="1200" dirty="0"/>
          </a:p>
        </p:txBody>
      </p:sp>
      <p:sp>
        <p:nvSpPr>
          <p:cNvPr id="23" name="Shape 21"/>
          <p:cNvSpPr/>
          <p:nvPr/>
        </p:nvSpPr>
        <p:spPr>
          <a:xfrm>
            <a:off x="4846320" y="4023360"/>
            <a:ext cx="1463040" cy="0"/>
          </a:xfrm>
          <a:prstGeom prst="line">
            <a:avLst/>
          </a:prstGeom>
          <a:noFill/>
          <a:ln w="22860">
            <a:solidFill>
              <a:srgbClr val="F1B400"/>
            </a:solidFill>
            <a:prstDash val="solid"/>
            <a:headEnd type="none"/>
            <a:tailEnd type="none"/>
          </a:ln>
        </p:spPr>
        <p:txBody>
          <a:bodyPr/>
          <a:lstStyle/>
          <a:p>
            <a:endParaRPr lang="en-GB"/>
          </a:p>
        </p:txBody>
      </p:sp>
      <p:sp>
        <p:nvSpPr>
          <p:cNvPr id="24" name="Shape 22"/>
          <p:cNvSpPr/>
          <p:nvPr/>
        </p:nvSpPr>
        <p:spPr>
          <a:xfrm>
            <a:off x="6309360" y="4023360"/>
            <a:ext cx="0" cy="0"/>
          </a:xfrm>
          <a:prstGeom prst="line">
            <a:avLst/>
          </a:prstGeom>
          <a:noFill/>
          <a:ln w="22860">
            <a:solidFill>
              <a:srgbClr val="F1B400"/>
            </a:solidFill>
            <a:prstDash val="solid"/>
            <a:headEnd type="none"/>
            <a:tailEnd type="triangle"/>
          </a:ln>
        </p:spPr>
        <p:txBody>
          <a:bodyPr/>
          <a:lstStyle/>
          <a:p>
            <a:endParaRPr lang="en-GB"/>
          </a:p>
        </p:txBody>
      </p:sp>
      <p:sp>
        <p:nvSpPr>
          <p:cNvPr id="25" name="Text 23"/>
          <p:cNvSpPr/>
          <p:nvPr/>
        </p:nvSpPr>
        <p:spPr>
          <a:xfrm>
            <a:off x="914400" y="5074920"/>
            <a:ext cx="7589520" cy="320040"/>
          </a:xfrm>
          <a:prstGeom prst="rect">
            <a:avLst/>
          </a:prstGeom>
          <a:noFill/>
          <a:ln/>
        </p:spPr>
        <p:txBody>
          <a:bodyPr wrap="square" lIns="0" tIns="0" rIns="0" bIns="0" rtlCol="0" anchor="ctr"/>
          <a:lstStyle/>
          <a:p>
            <a:pPr marL="0" indent="0">
              <a:buNone/>
            </a:pPr>
            <a:r>
              <a:rPr lang="en-US" sz="1450" dirty="0">
                <a:solidFill>
                  <a:srgbClr val="475569"/>
                </a:solidFill>
              </a:rPr>
              <a:t>A 1×1 temporal convolution mixes channels at each time step but does not use neighboring time steps.</a:t>
            </a:r>
            <a:endParaRPr lang="en-US" sz="1450" dirty="0"/>
          </a:p>
        </p:txBody>
      </p:sp>
      <p:sp>
        <p:nvSpPr>
          <p:cNvPr id="26" name="Text 24"/>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i="1" dirty="0">
                <a:solidFill>
                  <a:srgbClr val="475569"/>
                </a:solidFill>
              </a:rPr>
              <a:t>Projection makes the residual path compatible when the block changes the number of channels.</a:t>
            </a:r>
            <a:endParaRPr lang="en-US" sz="1150" dirty="0"/>
          </a:p>
        </p:txBody>
      </p:sp>
      <p:sp>
        <p:nvSpPr>
          <p:cNvPr id="28" name="Shape 25">
            <a:extLst>
              <a:ext uri="{FF2B5EF4-FFF2-40B4-BE49-F238E27FC236}">
                <a16:creationId xmlns:a16="http://schemas.microsoft.com/office/drawing/2014/main" id="{B36FFA93-C93D-F033-C717-26BF5E7A3784}"/>
              </a:ext>
            </a:extLst>
          </p:cNvPr>
          <p:cNvSpPr/>
          <p:nvPr/>
        </p:nvSpPr>
        <p:spPr>
          <a:xfrm flipH="1" flipV="1">
            <a:off x="6309359" y="2468879"/>
            <a:ext cx="0" cy="1554480"/>
          </a:xfrm>
          <a:prstGeom prst="line">
            <a:avLst/>
          </a:prstGeom>
          <a:noFill/>
          <a:ln w="22860">
            <a:solidFill>
              <a:srgbClr val="F1B400"/>
            </a:solidFill>
            <a:prstDash val="solid"/>
            <a:headEnd type="none"/>
            <a:tailEnd type="triangle"/>
          </a:ln>
        </p:spPr>
        <p:txBody>
          <a:bodyPr/>
          <a:lstStyle/>
          <a:p>
            <a:endParaRPr lang="en-GB"/>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9F49E56-8D24-5E37-405B-CCC0BC106D4C}"/>
              </a:ext>
            </a:extLst>
          </p:cNvPr>
          <p:cNvSpPr>
            <a:spLocks noGrp="1"/>
          </p:cNvSpPr>
          <p:nvPr>
            <p:ph type="title"/>
          </p:nvPr>
        </p:nvSpPr>
        <p:spPr/>
        <p:txBody>
          <a:bodyPr/>
          <a:lstStyle/>
          <a:p>
            <a:r>
              <a:rPr lang="en-GB" dirty="0"/>
              <a:t>Dilation schedule in a TCN</a:t>
            </a:r>
          </a:p>
        </p:txBody>
      </p:sp>
      <p:sp>
        <p:nvSpPr>
          <p:cNvPr id="3" name="Segnaposto contenuto 2">
            <a:extLst>
              <a:ext uri="{FF2B5EF4-FFF2-40B4-BE49-F238E27FC236}">
                <a16:creationId xmlns:a16="http://schemas.microsoft.com/office/drawing/2014/main" id="{5276F12A-FBDB-42F9-3BFD-A0B57D5C2211}"/>
              </a:ext>
            </a:extLst>
          </p:cNvPr>
          <p:cNvSpPr>
            <a:spLocks noGrp="1"/>
          </p:cNvSpPr>
          <p:nvPr>
            <p:ph sz="half" idx="1"/>
          </p:nvPr>
        </p:nvSpPr>
        <p:spPr>
          <a:xfrm>
            <a:off x="677334" y="2160588"/>
            <a:ext cx="4936066" cy="4303711"/>
          </a:xfrm>
        </p:spPr>
        <p:txBody>
          <a:bodyPr>
            <a:normAutofit fontScale="92500" lnSpcReduction="10000"/>
          </a:bodyPr>
          <a:lstStyle/>
          <a:p>
            <a:r>
              <a:rPr lang="en-GB" dirty="0"/>
              <a:t>A common strategy is to increase dilation exponentially:</a:t>
            </a:r>
          </a:p>
          <a:p>
            <a:r>
              <a:rPr lang="en-GB" dirty="0"/>
              <a:t>1, 2, 4, 8, 16, 32, ...</a:t>
            </a:r>
          </a:p>
          <a:p>
            <a:endParaRPr lang="en-GB" b="1" dirty="0"/>
          </a:p>
          <a:p>
            <a:r>
              <a:rPr lang="en-GB" b="1" dirty="0"/>
              <a:t>Why?</a:t>
            </a:r>
          </a:p>
          <a:p>
            <a:pPr lvl="1"/>
            <a:r>
              <a:rPr lang="en-GB" dirty="0"/>
              <a:t>Early blocks capture fine local structure. </a:t>
            </a:r>
          </a:p>
          <a:p>
            <a:pPr lvl="1"/>
            <a:r>
              <a:rPr lang="en-GB" dirty="0"/>
              <a:t>Later blocks integrate increasingly long temporal context. </a:t>
            </a:r>
          </a:p>
          <a:p>
            <a:endParaRPr lang="en-GB" dirty="0"/>
          </a:p>
        </p:txBody>
      </p:sp>
      <p:sp>
        <p:nvSpPr>
          <p:cNvPr id="4" name="Segnaposto contenuto 3">
            <a:extLst>
              <a:ext uri="{FF2B5EF4-FFF2-40B4-BE49-F238E27FC236}">
                <a16:creationId xmlns:a16="http://schemas.microsoft.com/office/drawing/2014/main" id="{8F9FEF18-F818-A2F0-F999-B042CBFE8A01}"/>
              </a:ext>
            </a:extLst>
          </p:cNvPr>
          <p:cNvSpPr>
            <a:spLocks noGrp="1"/>
          </p:cNvSpPr>
          <p:nvPr>
            <p:ph sz="half" idx="2"/>
          </p:nvPr>
        </p:nvSpPr>
        <p:spPr>
          <a:xfrm>
            <a:off x="5864670" y="2160589"/>
            <a:ext cx="5997130" cy="4418011"/>
          </a:xfrm>
        </p:spPr>
        <p:txBody>
          <a:bodyPr>
            <a:normAutofit fontScale="92500" lnSpcReduction="10000"/>
          </a:bodyPr>
          <a:lstStyle/>
          <a:p>
            <a:r>
              <a:rPr lang="en-GB" b="1" dirty="0"/>
              <a:t>Example</a:t>
            </a:r>
          </a:p>
          <a:p>
            <a:r>
              <a:rPr lang="en-GB" dirty="0"/>
              <a:t>For: kernel size 3;  dilation sequence 1, 2, 4, 8; </a:t>
            </a:r>
          </a:p>
          <a:p>
            <a:r>
              <a:rPr lang="en-GB" dirty="0"/>
              <a:t>the receptive field becomes much larger than with four ordinary convolutions.</a:t>
            </a:r>
          </a:p>
          <a:p>
            <a:r>
              <a:rPr lang="en-GB" b="1" dirty="0">
                <a:highlight>
                  <a:srgbClr val="FFFF00"/>
                </a:highlight>
              </a:rPr>
              <a:t>Dilation may also be repeated</a:t>
            </a:r>
          </a:p>
          <a:p>
            <a:r>
              <a:rPr lang="en-GB" dirty="0"/>
              <a:t>For very deep networks:</a:t>
            </a:r>
          </a:p>
          <a:p>
            <a:pPr lvl="1"/>
            <a:r>
              <a:rPr lang="en-GB" dirty="0"/>
              <a:t>1, 2, 4, 8,</a:t>
            </a:r>
          </a:p>
          <a:p>
            <a:pPr lvl="1"/>
            <a:r>
              <a:rPr lang="en-GB" dirty="0"/>
              <a:t>1, 2, 4, 8,</a:t>
            </a:r>
          </a:p>
          <a:p>
            <a:pPr lvl="1"/>
            <a:r>
              <a:rPr lang="en-GB" dirty="0"/>
              <a:t>...</a:t>
            </a:r>
          </a:p>
          <a:p>
            <a:r>
              <a:rPr lang="en-GB" dirty="0"/>
              <a:t>This creates </a:t>
            </a:r>
            <a:r>
              <a:rPr lang="en-GB" b="1" dirty="0">
                <a:highlight>
                  <a:srgbClr val="FFFF00"/>
                </a:highlight>
              </a:rPr>
              <a:t>repeated multiscale processing</a:t>
            </a:r>
            <a:r>
              <a:rPr lang="en-GB" dirty="0"/>
              <a:t>.</a:t>
            </a:r>
          </a:p>
          <a:p>
            <a:pPr marL="0" indent="0">
              <a:buNone/>
            </a:pPr>
            <a:endParaRPr lang="en-GB" b="1" dirty="0"/>
          </a:p>
          <a:p>
            <a:r>
              <a:rPr lang="en-GB" dirty="0">
                <a:highlight>
                  <a:srgbClr val="FFFF00"/>
                </a:highlight>
              </a:rPr>
              <a:t>TCN depth and dilation schedule jointly define the historical context available to the model.</a:t>
            </a:r>
          </a:p>
          <a:p>
            <a:endParaRPr lang="en-GB" dirty="0"/>
          </a:p>
        </p:txBody>
      </p:sp>
    </p:spTree>
    <p:extLst>
      <p:ext uri="{BB962C8B-B14F-4D97-AF65-F5344CB8AC3E}">
        <p14:creationId xmlns:p14="http://schemas.microsoft.com/office/powerpoint/2010/main" val="40043561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A17B634-5F94-CC72-1953-04F804E05B89}"/>
              </a:ext>
            </a:extLst>
          </p:cNvPr>
          <p:cNvSpPr>
            <a:spLocks noGrp="1"/>
          </p:cNvSpPr>
          <p:nvPr>
            <p:ph type="title"/>
          </p:nvPr>
        </p:nvSpPr>
        <p:spPr/>
        <p:txBody>
          <a:bodyPr/>
          <a:lstStyle/>
          <a:p>
            <a:r>
              <a:rPr lang="en-GB" dirty="0"/>
              <a:t>TCN computation can be parallelized across time</a:t>
            </a:r>
          </a:p>
        </p:txBody>
      </p:sp>
      <p:sp>
        <p:nvSpPr>
          <p:cNvPr id="3" name="Segnaposto contenuto 2">
            <a:extLst>
              <a:ext uri="{FF2B5EF4-FFF2-40B4-BE49-F238E27FC236}">
                <a16:creationId xmlns:a16="http://schemas.microsoft.com/office/drawing/2014/main" id="{8E035E24-A6CF-6450-75F2-B20ADCAFA458}"/>
              </a:ext>
            </a:extLst>
          </p:cNvPr>
          <p:cNvSpPr>
            <a:spLocks noGrp="1"/>
          </p:cNvSpPr>
          <p:nvPr>
            <p:ph sz="half" idx="1"/>
          </p:nvPr>
        </p:nvSpPr>
        <p:spPr>
          <a:xfrm>
            <a:off x="677334" y="2160588"/>
            <a:ext cx="4656666" cy="4379911"/>
          </a:xfrm>
        </p:spPr>
        <p:txBody>
          <a:bodyPr>
            <a:normAutofit/>
          </a:bodyPr>
          <a:lstStyle/>
          <a:p>
            <a:r>
              <a:rPr lang="en-GB" dirty="0"/>
              <a:t>A major difference from recurrent networks is computational dependency.</a:t>
            </a:r>
          </a:p>
          <a:p>
            <a:r>
              <a:rPr lang="en-GB" b="1" dirty="0"/>
              <a:t>RNN</a:t>
            </a:r>
          </a:p>
          <a:p>
            <a:r>
              <a:rPr lang="en-GB" dirty="0">
                <a:highlight>
                  <a:srgbClr val="FFFF00"/>
                </a:highlight>
              </a:rPr>
              <a:t>To compute: h[t] we need: h[t−1]</a:t>
            </a:r>
          </a:p>
          <a:p>
            <a:endParaRPr lang="en-GB" dirty="0"/>
          </a:p>
          <a:p>
            <a:r>
              <a:rPr lang="en-GB" dirty="0"/>
              <a:t>Therefore:</a:t>
            </a:r>
          </a:p>
          <a:p>
            <a:r>
              <a:rPr lang="en-GB" dirty="0"/>
              <a:t>time 1 → time 2 → time 3 → time 4</a:t>
            </a:r>
          </a:p>
          <a:p>
            <a:r>
              <a:rPr lang="en-GB" dirty="0"/>
              <a:t>is </a:t>
            </a:r>
            <a:r>
              <a:rPr lang="en-GB" b="1" dirty="0">
                <a:highlight>
                  <a:srgbClr val="FFFF00"/>
                </a:highlight>
              </a:rPr>
              <a:t>inherently sequential.</a:t>
            </a:r>
          </a:p>
          <a:p>
            <a:endParaRPr lang="en-GB" dirty="0"/>
          </a:p>
        </p:txBody>
      </p:sp>
      <p:sp>
        <p:nvSpPr>
          <p:cNvPr id="4" name="Segnaposto contenuto 3">
            <a:extLst>
              <a:ext uri="{FF2B5EF4-FFF2-40B4-BE49-F238E27FC236}">
                <a16:creationId xmlns:a16="http://schemas.microsoft.com/office/drawing/2014/main" id="{98C925AE-522D-202E-C165-A61A502F92C6}"/>
              </a:ext>
            </a:extLst>
          </p:cNvPr>
          <p:cNvSpPr>
            <a:spLocks noGrp="1"/>
          </p:cNvSpPr>
          <p:nvPr>
            <p:ph sz="half" idx="2"/>
          </p:nvPr>
        </p:nvSpPr>
        <p:spPr>
          <a:xfrm>
            <a:off x="5791200" y="1930400"/>
            <a:ext cx="6172200" cy="4711700"/>
          </a:xfrm>
        </p:spPr>
        <p:txBody>
          <a:bodyPr>
            <a:normAutofit/>
          </a:bodyPr>
          <a:lstStyle/>
          <a:p>
            <a:r>
              <a:rPr lang="en-GB" b="1" dirty="0"/>
              <a:t>TCN</a:t>
            </a:r>
          </a:p>
          <a:p>
            <a:r>
              <a:rPr lang="en-GB" dirty="0"/>
              <a:t>Within one convolutional layer, activations for many temporal positions can be computed simultaneously.</a:t>
            </a:r>
          </a:p>
          <a:p>
            <a:r>
              <a:rPr lang="en-GB" dirty="0">
                <a:highlight>
                  <a:srgbClr val="FFFF00"/>
                </a:highlight>
              </a:rPr>
              <a:t>position 1</a:t>
            </a:r>
          </a:p>
          <a:p>
            <a:r>
              <a:rPr lang="en-GB" dirty="0"/>
              <a:t>position 2</a:t>
            </a:r>
          </a:p>
          <a:p>
            <a:r>
              <a:rPr lang="en-GB" dirty="0"/>
              <a:t>position 3</a:t>
            </a:r>
          </a:p>
          <a:p>
            <a:r>
              <a:rPr lang="en-GB" dirty="0">
                <a:highlight>
                  <a:srgbClr val="FFFF00"/>
                </a:highlight>
              </a:rPr>
              <a:t>position 4</a:t>
            </a:r>
          </a:p>
          <a:p>
            <a:r>
              <a:rPr lang="en-GB" dirty="0"/>
              <a:t>      ↓</a:t>
            </a:r>
          </a:p>
          <a:p>
            <a:r>
              <a:rPr lang="en-GB" dirty="0">
                <a:highlight>
                  <a:srgbClr val="FFFF00"/>
                </a:highlight>
              </a:rPr>
              <a:t>computed in parallel</a:t>
            </a:r>
          </a:p>
          <a:p>
            <a:endParaRPr lang="en-GB" dirty="0"/>
          </a:p>
        </p:txBody>
      </p:sp>
    </p:spTree>
    <p:extLst>
      <p:ext uri="{BB962C8B-B14F-4D97-AF65-F5344CB8AC3E}">
        <p14:creationId xmlns:p14="http://schemas.microsoft.com/office/powerpoint/2010/main" val="122276970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0202A-1307-FADE-77D0-23F445652F7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F91669D-34A5-2A4E-BF7B-7A0EE8756975}"/>
              </a:ext>
            </a:extLst>
          </p:cNvPr>
          <p:cNvSpPr>
            <a:spLocks noGrp="1"/>
          </p:cNvSpPr>
          <p:nvPr>
            <p:ph type="title"/>
          </p:nvPr>
        </p:nvSpPr>
        <p:spPr/>
        <p:txBody>
          <a:bodyPr/>
          <a:lstStyle/>
          <a:p>
            <a:r>
              <a:rPr lang="en-GB" dirty="0"/>
              <a:t>TCN computation can be parallelized across time</a:t>
            </a:r>
          </a:p>
        </p:txBody>
      </p:sp>
      <p:sp>
        <p:nvSpPr>
          <p:cNvPr id="3" name="Segnaposto contenuto 2">
            <a:extLst>
              <a:ext uri="{FF2B5EF4-FFF2-40B4-BE49-F238E27FC236}">
                <a16:creationId xmlns:a16="http://schemas.microsoft.com/office/drawing/2014/main" id="{F58D2086-6B8E-00EF-00A1-EDA23B5C707E}"/>
              </a:ext>
            </a:extLst>
          </p:cNvPr>
          <p:cNvSpPr>
            <a:spLocks noGrp="1"/>
          </p:cNvSpPr>
          <p:nvPr>
            <p:ph sz="half" idx="1"/>
          </p:nvPr>
        </p:nvSpPr>
        <p:spPr>
          <a:xfrm>
            <a:off x="677334" y="2160588"/>
            <a:ext cx="8022166" cy="4379911"/>
          </a:xfrm>
        </p:spPr>
        <p:txBody>
          <a:bodyPr>
            <a:normAutofit/>
          </a:bodyPr>
          <a:lstStyle/>
          <a:p>
            <a:r>
              <a:rPr lang="en-GB" b="1" dirty="0"/>
              <a:t>Practical consequence</a:t>
            </a:r>
          </a:p>
          <a:p>
            <a:r>
              <a:rPr lang="en-GB" dirty="0">
                <a:highlight>
                  <a:srgbClr val="FFFF00"/>
                </a:highlight>
              </a:rPr>
              <a:t>TCNs can often exploit:</a:t>
            </a:r>
          </a:p>
          <a:p>
            <a:pPr lvl="1"/>
            <a:r>
              <a:rPr lang="en-GB" dirty="0"/>
              <a:t>GPUs; </a:t>
            </a:r>
          </a:p>
          <a:p>
            <a:pPr lvl="1"/>
            <a:r>
              <a:rPr lang="en-GB" dirty="0"/>
              <a:t>vectorized hardware; </a:t>
            </a:r>
          </a:p>
          <a:p>
            <a:pPr lvl="1"/>
            <a:r>
              <a:rPr lang="en-GB" dirty="0"/>
              <a:t>more efficiently for long sequences.</a:t>
            </a:r>
          </a:p>
          <a:p>
            <a:endParaRPr lang="en-GB" b="1" dirty="0"/>
          </a:p>
          <a:p>
            <a:r>
              <a:rPr lang="en-GB" b="1" dirty="0"/>
              <a:t>N.B.</a:t>
            </a:r>
          </a:p>
          <a:p>
            <a:r>
              <a:rPr lang="en-GB" dirty="0"/>
              <a:t>Different network layers must still be processed sequentially.</a:t>
            </a:r>
          </a:p>
          <a:p>
            <a:r>
              <a:rPr lang="en-GB" dirty="0">
                <a:highlight>
                  <a:srgbClr val="FFFF00"/>
                </a:highlight>
              </a:rPr>
              <a:t>Parallelism applies mainly across temporal positions within each layer.</a:t>
            </a:r>
          </a:p>
          <a:p>
            <a:endParaRPr lang="en-GB" dirty="0"/>
          </a:p>
        </p:txBody>
      </p:sp>
    </p:spTree>
    <p:extLst>
      <p:ext uri="{BB962C8B-B14F-4D97-AF65-F5344CB8AC3E}">
        <p14:creationId xmlns:p14="http://schemas.microsoft.com/office/powerpoint/2010/main" val="302499845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TCN computation can be parallelized across time</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dirty="0">
                <a:solidFill>
                  <a:srgbClr val="475569"/>
                </a:solidFill>
              </a:rPr>
              <a:t>RNN state dependency vs convolutional positions</a:t>
            </a:r>
            <a:endParaRPr lang="en-US" sz="1150" dirty="0"/>
          </a:p>
        </p:txBody>
      </p:sp>
      <p:sp>
        <p:nvSpPr>
          <p:cNvPr id="8" name="Text 6"/>
          <p:cNvSpPr/>
          <p:nvPr/>
        </p:nvSpPr>
        <p:spPr>
          <a:xfrm>
            <a:off x="914400" y="1234440"/>
            <a:ext cx="1097280" cy="274320"/>
          </a:xfrm>
          <a:prstGeom prst="rect">
            <a:avLst/>
          </a:prstGeom>
          <a:noFill/>
          <a:ln/>
        </p:spPr>
        <p:txBody>
          <a:bodyPr wrap="square" lIns="0" tIns="0" rIns="0" bIns="0" rtlCol="0" anchor="ctr"/>
          <a:lstStyle/>
          <a:p>
            <a:pPr marL="0" indent="0">
              <a:buNone/>
            </a:pPr>
            <a:r>
              <a:rPr lang="en-US" sz="1600" b="1" dirty="0">
                <a:solidFill>
                  <a:srgbClr val="111827"/>
                </a:solidFill>
              </a:rPr>
              <a:t>RNN</a:t>
            </a:r>
            <a:endParaRPr lang="en-US" sz="1600" dirty="0"/>
          </a:p>
        </p:txBody>
      </p:sp>
      <p:sp>
        <p:nvSpPr>
          <p:cNvPr id="9" name="Shape 7"/>
          <p:cNvSpPr/>
          <p:nvPr/>
        </p:nvSpPr>
        <p:spPr>
          <a:xfrm>
            <a:off x="914400" y="1920240"/>
            <a:ext cx="594360" cy="457200"/>
          </a:xfrm>
          <a:prstGeom prst="roundRect">
            <a:avLst>
              <a:gd name="adj" fmla="val 16000"/>
            </a:avLst>
          </a:prstGeom>
          <a:solidFill>
            <a:srgbClr val="FFFFFF"/>
          </a:solidFill>
          <a:ln w="13970">
            <a:solidFill>
              <a:srgbClr val="2B73FF"/>
            </a:solidFill>
            <a:prstDash val="solid"/>
          </a:ln>
        </p:spPr>
        <p:txBody>
          <a:bodyPr/>
          <a:lstStyle/>
          <a:p>
            <a:endParaRPr lang="en-GB"/>
          </a:p>
        </p:txBody>
      </p:sp>
      <p:sp>
        <p:nvSpPr>
          <p:cNvPr id="10" name="Text 8"/>
          <p:cNvSpPr/>
          <p:nvPr/>
        </p:nvSpPr>
        <p:spPr>
          <a:xfrm>
            <a:off x="969264" y="1965960"/>
            <a:ext cx="484632" cy="365760"/>
          </a:xfrm>
          <a:prstGeom prst="rect">
            <a:avLst/>
          </a:prstGeom>
          <a:noFill/>
          <a:ln/>
        </p:spPr>
        <p:txBody>
          <a:bodyPr wrap="square" lIns="0" tIns="0" rIns="0" bIns="0" rtlCol="0" anchor="ctr"/>
          <a:lstStyle/>
          <a:p>
            <a:pPr marL="0" indent="0" algn="ctr">
              <a:buNone/>
            </a:pPr>
            <a:r>
              <a:rPr lang="en-US" sz="1200" b="1" dirty="0">
                <a:solidFill>
                  <a:srgbClr val="2B73FF"/>
                </a:solidFill>
              </a:rPr>
              <a:t>h1</a:t>
            </a:r>
            <a:endParaRPr lang="en-US" sz="1200" dirty="0"/>
          </a:p>
        </p:txBody>
      </p:sp>
      <p:sp>
        <p:nvSpPr>
          <p:cNvPr id="11" name="Shape 9"/>
          <p:cNvSpPr/>
          <p:nvPr/>
        </p:nvSpPr>
        <p:spPr>
          <a:xfrm>
            <a:off x="1508760" y="2148840"/>
            <a:ext cx="365760" cy="0"/>
          </a:xfrm>
          <a:prstGeom prst="line">
            <a:avLst/>
          </a:prstGeom>
          <a:noFill/>
          <a:ln w="19050">
            <a:solidFill>
              <a:srgbClr val="2B73FF"/>
            </a:solidFill>
            <a:prstDash val="solid"/>
            <a:headEnd type="none"/>
            <a:tailEnd type="triangle"/>
          </a:ln>
        </p:spPr>
        <p:txBody>
          <a:bodyPr/>
          <a:lstStyle/>
          <a:p>
            <a:endParaRPr lang="en-GB"/>
          </a:p>
        </p:txBody>
      </p:sp>
      <p:sp>
        <p:nvSpPr>
          <p:cNvPr id="12" name="Shape 10"/>
          <p:cNvSpPr/>
          <p:nvPr/>
        </p:nvSpPr>
        <p:spPr>
          <a:xfrm>
            <a:off x="1874520" y="1920240"/>
            <a:ext cx="594360" cy="457200"/>
          </a:xfrm>
          <a:prstGeom prst="roundRect">
            <a:avLst>
              <a:gd name="adj" fmla="val 16000"/>
            </a:avLst>
          </a:prstGeom>
          <a:solidFill>
            <a:srgbClr val="FFFFFF"/>
          </a:solidFill>
          <a:ln w="13970">
            <a:solidFill>
              <a:srgbClr val="2B73FF"/>
            </a:solidFill>
            <a:prstDash val="solid"/>
          </a:ln>
        </p:spPr>
        <p:txBody>
          <a:bodyPr/>
          <a:lstStyle/>
          <a:p>
            <a:endParaRPr lang="en-GB"/>
          </a:p>
        </p:txBody>
      </p:sp>
      <p:sp>
        <p:nvSpPr>
          <p:cNvPr id="13" name="Text 11"/>
          <p:cNvSpPr/>
          <p:nvPr/>
        </p:nvSpPr>
        <p:spPr>
          <a:xfrm>
            <a:off x="1929384" y="1965960"/>
            <a:ext cx="484632" cy="365760"/>
          </a:xfrm>
          <a:prstGeom prst="rect">
            <a:avLst/>
          </a:prstGeom>
          <a:noFill/>
          <a:ln/>
        </p:spPr>
        <p:txBody>
          <a:bodyPr wrap="square" lIns="0" tIns="0" rIns="0" bIns="0" rtlCol="0" anchor="ctr"/>
          <a:lstStyle/>
          <a:p>
            <a:pPr marL="0" indent="0" algn="ctr">
              <a:buNone/>
            </a:pPr>
            <a:r>
              <a:rPr lang="en-US" sz="1200" b="1" dirty="0">
                <a:solidFill>
                  <a:srgbClr val="2B73FF"/>
                </a:solidFill>
              </a:rPr>
              <a:t>h2</a:t>
            </a:r>
            <a:endParaRPr lang="en-US" sz="1200" dirty="0"/>
          </a:p>
        </p:txBody>
      </p:sp>
      <p:sp>
        <p:nvSpPr>
          <p:cNvPr id="14" name="Shape 12"/>
          <p:cNvSpPr/>
          <p:nvPr/>
        </p:nvSpPr>
        <p:spPr>
          <a:xfrm>
            <a:off x="2468880" y="2148840"/>
            <a:ext cx="365760" cy="0"/>
          </a:xfrm>
          <a:prstGeom prst="line">
            <a:avLst/>
          </a:prstGeom>
          <a:noFill/>
          <a:ln w="19050">
            <a:solidFill>
              <a:srgbClr val="2B73FF"/>
            </a:solidFill>
            <a:prstDash val="solid"/>
            <a:headEnd type="none"/>
            <a:tailEnd type="triangle"/>
          </a:ln>
        </p:spPr>
        <p:txBody>
          <a:bodyPr/>
          <a:lstStyle/>
          <a:p>
            <a:endParaRPr lang="en-GB"/>
          </a:p>
        </p:txBody>
      </p:sp>
      <p:sp>
        <p:nvSpPr>
          <p:cNvPr id="15" name="Shape 13"/>
          <p:cNvSpPr/>
          <p:nvPr/>
        </p:nvSpPr>
        <p:spPr>
          <a:xfrm>
            <a:off x="2834640" y="1920240"/>
            <a:ext cx="594360" cy="457200"/>
          </a:xfrm>
          <a:prstGeom prst="roundRect">
            <a:avLst>
              <a:gd name="adj" fmla="val 16000"/>
            </a:avLst>
          </a:prstGeom>
          <a:solidFill>
            <a:srgbClr val="FFFFFF"/>
          </a:solidFill>
          <a:ln w="13970">
            <a:solidFill>
              <a:srgbClr val="2B73FF"/>
            </a:solidFill>
            <a:prstDash val="solid"/>
          </a:ln>
        </p:spPr>
        <p:txBody>
          <a:bodyPr/>
          <a:lstStyle/>
          <a:p>
            <a:endParaRPr lang="en-GB"/>
          </a:p>
        </p:txBody>
      </p:sp>
      <p:sp>
        <p:nvSpPr>
          <p:cNvPr id="16" name="Text 14"/>
          <p:cNvSpPr/>
          <p:nvPr/>
        </p:nvSpPr>
        <p:spPr>
          <a:xfrm>
            <a:off x="2889504" y="1965960"/>
            <a:ext cx="484632" cy="365760"/>
          </a:xfrm>
          <a:prstGeom prst="rect">
            <a:avLst/>
          </a:prstGeom>
          <a:noFill/>
          <a:ln/>
        </p:spPr>
        <p:txBody>
          <a:bodyPr wrap="square" lIns="0" tIns="0" rIns="0" bIns="0" rtlCol="0" anchor="ctr"/>
          <a:lstStyle/>
          <a:p>
            <a:pPr marL="0" indent="0" algn="ctr">
              <a:buNone/>
            </a:pPr>
            <a:r>
              <a:rPr lang="en-US" sz="1200" b="1" dirty="0">
                <a:solidFill>
                  <a:srgbClr val="2B73FF"/>
                </a:solidFill>
              </a:rPr>
              <a:t>h3</a:t>
            </a:r>
            <a:endParaRPr lang="en-US" sz="1200" dirty="0"/>
          </a:p>
        </p:txBody>
      </p:sp>
      <p:sp>
        <p:nvSpPr>
          <p:cNvPr id="17" name="Shape 15"/>
          <p:cNvSpPr/>
          <p:nvPr/>
        </p:nvSpPr>
        <p:spPr>
          <a:xfrm>
            <a:off x="3429000" y="2148840"/>
            <a:ext cx="365760" cy="0"/>
          </a:xfrm>
          <a:prstGeom prst="line">
            <a:avLst/>
          </a:prstGeom>
          <a:noFill/>
          <a:ln w="19050">
            <a:solidFill>
              <a:srgbClr val="2B73FF"/>
            </a:solidFill>
            <a:prstDash val="solid"/>
            <a:headEnd type="none"/>
            <a:tailEnd type="triangle"/>
          </a:ln>
        </p:spPr>
        <p:txBody>
          <a:bodyPr/>
          <a:lstStyle/>
          <a:p>
            <a:endParaRPr lang="en-GB"/>
          </a:p>
        </p:txBody>
      </p:sp>
      <p:sp>
        <p:nvSpPr>
          <p:cNvPr id="18" name="Shape 16"/>
          <p:cNvSpPr/>
          <p:nvPr/>
        </p:nvSpPr>
        <p:spPr>
          <a:xfrm>
            <a:off x="3794760" y="1920240"/>
            <a:ext cx="594360" cy="457200"/>
          </a:xfrm>
          <a:prstGeom prst="roundRect">
            <a:avLst>
              <a:gd name="adj" fmla="val 16000"/>
            </a:avLst>
          </a:prstGeom>
          <a:solidFill>
            <a:srgbClr val="FFFFFF"/>
          </a:solidFill>
          <a:ln w="13970">
            <a:solidFill>
              <a:srgbClr val="2B73FF"/>
            </a:solidFill>
            <a:prstDash val="solid"/>
          </a:ln>
        </p:spPr>
        <p:txBody>
          <a:bodyPr/>
          <a:lstStyle/>
          <a:p>
            <a:endParaRPr lang="en-GB"/>
          </a:p>
        </p:txBody>
      </p:sp>
      <p:sp>
        <p:nvSpPr>
          <p:cNvPr id="19" name="Text 17"/>
          <p:cNvSpPr/>
          <p:nvPr/>
        </p:nvSpPr>
        <p:spPr>
          <a:xfrm>
            <a:off x="3849624" y="1965960"/>
            <a:ext cx="484632" cy="365760"/>
          </a:xfrm>
          <a:prstGeom prst="rect">
            <a:avLst/>
          </a:prstGeom>
          <a:noFill/>
          <a:ln/>
        </p:spPr>
        <p:txBody>
          <a:bodyPr wrap="square" lIns="0" tIns="0" rIns="0" bIns="0" rtlCol="0" anchor="ctr"/>
          <a:lstStyle/>
          <a:p>
            <a:pPr marL="0" indent="0" algn="ctr">
              <a:buNone/>
            </a:pPr>
            <a:r>
              <a:rPr lang="en-US" sz="1200" b="1" dirty="0">
                <a:solidFill>
                  <a:srgbClr val="2B73FF"/>
                </a:solidFill>
              </a:rPr>
              <a:t>h4</a:t>
            </a:r>
            <a:endParaRPr lang="en-US" sz="1200" dirty="0"/>
          </a:p>
        </p:txBody>
      </p:sp>
      <p:sp>
        <p:nvSpPr>
          <p:cNvPr id="20" name="Shape 18"/>
          <p:cNvSpPr/>
          <p:nvPr/>
        </p:nvSpPr>
        <p:spPr>
          <a:xfrm>
            <a:off x="4389120" y="2148840"/>
            <a:ext cx="365760" cy="0"/>
          </a:xfrm>
          <a:prstGeom prst="line">
            <a:avLst/>
          </a:prstGeom>
          <a:noFill/>
          <a:ln w="19050">
            <a:solidFill>
              <a:srgbClr val="2B73FF"/>
            </a:solidFill>
            <a:prstDash val="solid"/>
            <a:headEnd type="none"/>
            <a:tailEnd type="triangle"/>
          </a:ln>
        </p:spPr>
        <p:txBody>
          <a:bodyPr/>
          <a:lstStyle/>
          <a:p>
            <a:endParaRPr lang="en-GB"/>
          </a:p>
        </p:txBody>
      </p:sp>
      <p:sp>
        <p:nvSpPr>
          <p:cNvPr id="21" name="Shape 19"/>
          <p:cNvSpPr/>
          <p:nvPr/>
        </p:nvSpPr>
        <p:spPr>
          <a:xfrm>
            <a:off x="4754880" y="1920240"/>
            <a:ext cx="594360" cy="457200"/>
          </a:xfrm>
          <a:prstGeom prst="roundRect">
            <a:avLst>
              <a:gd name="adj" fmla="val 16000"/>
            </a:avLst>
          </a:prstGeom>
          <a:solidFill>
            <a:srgbClr val="FFFFFF"/>
          </a:solidFill>
          <a:ln w="13970">
            <a:solidFill>
              <a:srgbClr val="2B73FF"/>
            </a:solidFill>
            <a:prstDash val="solid"/>
          </a:ln>
        </p:spPr>
        <p:txBody>
          <a:bodyPr/>
          <a:lstStyle/>
          <a:p>
            <a:endParaRPr lang="en-GB"/>
          </a:p>
        </p:txBody>
      </p:sp>
      <p:sp>
        <p:nvSpPr>
          <p:cNvPr id="22" name="Text 20"/>
          <p:cNvSpPr/>
          <p:nvPr/>
        </p:nvSpPr>
        <p:spPr>
          <a:xfrm>
            <a:off x="4809744" y="1965960"/>
            <a:ext cx="484632" cy="365760"/>
          </a:xfrm>
          <a:prstGeom prst="rect">
            <a:avLst/>
          </a:prstGeom>
          <a:noFill/>
          <a:ln/>
        </p:spPr>
        <p:txBody>
          <a:bodyPr wrap="square" lIns="0" tIns="0" rIns="0" bIns="0" rtlCol="0" anchor="ctr"/>
          <a:lstStyle/>
          <a:p>
            <a:pPr marL="0" indent="0" algn="ctr">
              <a:buNone/>
            </a:pPr>
            <a:r>
              <a:rPr lang="en-US" sz="1200" b="1" dirty="0">
                <a:solidFill>
                  <a:srgbClr val="2B73FF"/>
                </a:solidFill>
              </a:rPr>
              <a:t>h5</a:t>
            </a:r>
            <a:endParaRPr lang="en-US" sz="1200" dirty="0"/>
          </a:p>
        </p:txBody>
      </p:sp>
      <p:sp>
        <p:nvSpPr>
          <p:cNvPr id="23" name="Text 21"/>
          <p:cNvSpPr/>
          <p:nvPr/>
        </p:nvSpPr>
        <p:spPr>
          <a:xfrm>
            <a:off x="914400" y="2606040"/>
            <a:ext cx="2743200" cy="228600"/>
          </a:xfrm>
          <a:prstGeom prst="rect">
            <a:avLst/>
          </a:prstGeom>
          <a:noFill/>
          <a:ln/>
        </p:spPr>
        <p:txBody>
          <a:bodyPr wrap="square" lIns="0" tIns="0" rIns="0" bIns="0" rtlCol="0" anchor="ctr"/>
          <a:lstStyle/>
          <a:p>
            <a:pPr marL="0" indent="0">
              <a:buNone/>
            </a:pPr>
            <a:r>
              <a:rPr lang="en-US" sz="1200" dirty="0">
                <a:solidFill>
                  <a:srgbClr val="475569"/>
                </a:solidFill>
              </a:rPr>
              <a:t>sequential dependency</a:t>
            </a:r>
            <a:endParaRPr lang="en-US" sz="1200" dirty="0"/>
          </a:p>
        </p:txBody>
      </p:sp>
      <p:sp>
        <p:nvSpPr>
          <p:cNvPr id="24" name="Text 22"/>
          <p:cNvSpPr/>
          <p:nvPr/>
        </p:nvSpPr>
        <p:spPr>
          <a:xfrm>
            <a:off x="914400" y="3520440"/>
            <a:ext cx="1645920" cy="274320"/>
          </a:xfrm>
          <a:prstGeom prst="rect">
            <a:avLst/>
          </a:prstGeom>
          <a:noFill/>
          <a:ln/>
        </p:spPr>
        <p:txBody>
          <a:bodyPr wrap="square" lIns="0" tIns="0" rIns="0" bIns="0" rtlCol="0" anchor="ctr"/>
          <a:lstStyle/>
          <a:p>
            <a:pPr marL="0" indent="0">
              <a:buNone/>
            </a:pPr>
            <a:r>
              <a:rPr lang="en-US" sz="1600" b="1" dirty="0">
                <a:solidFill>
                  <a:srgbClr val="111827"/>
                </a:solidFill>
              </a:rPr>
              <a:t>TCN layer</a:t>
            </a:r>
            <a:endParaRPr lang="en-US" sz="1600" dirty="0"/>
          </a:p>
        </p:txBody>
      </p:sp>
      <p:sp>
        <p:nvSpPr>
          <p:cNvPr id="25" name="Shape 23"/>
          <p:cNvSpPr/>
          <p:nvPr/>
        </p:nvSpPr>
        <p:spPr>
          <a:xfrm>
            <a:off x="914400" y="4206240"/>
            <a:ext cx="502920" cy="411480"/>
          </a:xfrm>
          <a:prstGeom prst="roundRect">
            <a:avLst>
              <a:gd name="adj" fmla="val 17778"/>
            </a:avLst>
          </a:prstGeom>
          <a:solidFill>
            <a:srgbClr val="FFFFFF"/>
          </a:solidFill>
          <a:ln w="13970">
            <a:solidFill>
              <a:srgbClr val="86B817"/>
            </a:solidFill>
            <a:prstDash val="solid"/>
          </a:ln>
        </p:spPr>
        <p:txBody>
          <a:bodyPr/>
          <a:lstStyle/>
          <a:p>
            <a:endParaRPr lang="en-GB"/>
          </a:p>
        </p:txBody>
      </p:sp>
      <p:sp>
        <p:nvSpPr>
          <p:cNvPr id="26" name="Text 24"/>
          <p:cNvSpPr/>
          <p:nvPr/>
        </p:nvSpPr>
        <p:spPr>
          <a:xfrm>
            <a:off x="969264" y="42519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p1</a:t>
            </a:r>
            <a:endParaRPr lang="en-US" sz="1050" dirty="0"/>
          </a:p>
        </p:txBody>
      </p:sp>
      <p:sp>
        <p:nvSpPr>
          <p:cNvPr id="27" name="Shape 25"/>
          <p:cNvSpPr/>
          <p:nvPr/>
        </p:nvSpPr>
        <p:spPr>
          <a:xfrm>
            <a:off x="1165860" y="4663440"/>
            <a:ext cx="0" cy="411480"/>
          </a:xfrm>
          <a:prstGeom prst="line">
            <a:avLst/>
          </a:prstGeom>
          <a:noFill/>
          <a:ln w="15240">
            <a:solidFill>
              <a:srgbClr val="86B817"/>
            </a:solidFill>
            <a:prstDash val="solid"/>
            <a:headEnd type="none"/>
            <a:tailEnd type="triangle"/>
          </a:ln>
        </p:spPr>
        <p:txBody>
          <a:bodyPr/>
          <a:lstStyle/>
          <a:p>
            <a:endParaRPr lang="en-GB"/>
          </a:p>
        </p:txBody>
      </p:sp>
      <p:sp>
        <p:nvSpPr>
          <p:cNvPr id="28" name="Shape 26"/>
          <p:cNvSpPr/>
          <p:nvPr/>
        </p:nvSpPr>
        <p:spPr>
          <a:xfrm>
            <a:off x="1645920" y="4206240"/>
            <a:ext cx="502920" cy="411480"/>
          </a:xfrm>
          <a:prstGeom prst="roundRect">
            <a:avLst>
              <a:gd name="adj" fmla="val 17778"/>
            </a:avLst>
          </a:prstGeom>
          <a:solidFill>
            <a:srgbClr val="FFFFFF"/>
          </a:solidFill>
          <a:ln w="13970">
            <a:solidFill>
              <a:srgbClr val="86B817"/>
            </a:solidFill>
            <a:prstDash val="solid"/>
          </a:ln>
        </p:spPr>
        <p:txBody>
          <a:bodyPr/>
          <a:lstStyle/>
          <a:p>
            <a:endParaRPr lang="en-GB"/>
          </a:p>
        </p:txBody>
      </p:sp>
      <p:sp>
        <p:nvSpPr>
          <p:cNvPr id="29" name="Text 27"/>
          <p:cNvSpPr/>
          <p:nvPr/>
        </p:nvSpPr>
        <p:spPr>
          <a:xfrm>
            <a:off x="1700784" y="42519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p2</a:t>
            </a:r>
            <a:endParaRPr lang="en-US" sz="1050" dirty="0"/>
          </a:p>
        </p:txBody>
      </p:sp>
      <p:sp>
        <p:nvSpPr>
          <p:cNvPr id="30" name="Shape 28"/>
          <p:cNvSpPr/>
          <p:nvPr/>
        </p:nvSpPr>
        <p:spPr>
          <a:xfrm>
            <a:off x="1897380" y="4663440"/>
            <a:ext cx="0" cy="411480"/>
          </a:xfrm>
          <a:prstGeom prst="line">
            <a:avLst/>
          </a:prstGeom>
          <a:noFill/>
          <a:ln w="15240">
            <a:solidFill>
              <a:srgbClr val="86B817"/>
            </a:solidFill>
            <a:prstDash val="solid"/>
            <a:headEnd type="none"/>
            <a:tailEnd type="triangle"/>
          </a:ln>
        </p:spPr>
        <p:txBody>
          <a:bodyPr/>
          <a:lstStyle/>
          <a:p>
            <a:endParaRPr lang="en-GB"/>
          </a:p>
        </p:txBody>
      </p:sp>
      <p:sp>
        <p:nvSpPr>
          <p:cNvPr id="31" name="Shape 29"/>
          <p:cNvSpPr/>
          <p:nvPr/>
        </p:nvSpPr>
        <p:spPr>
          <a:xfrm>
            <a:off x="2377440" y="4206240"/>
            <a:ext cx="502920" cy="411480"/>
          </a:xfrm>
          <a:prstGeom prst="roundRect">
            <a:avLst>
              <a:gd name="adj" fmla="val 17778"/>
            </a:avLst>
          </a:prstGeom>
          <a:solidFill>
            <a:srgbClr val="FFFFFF"/>
          </a:solidFill>
          <a:ln w="13970">
            <a:solidFill>
              <a:srgbClr val="86B817"/>
            </a:solidFill>
            <a:prstDash val="solid"/>
          </a:ln>
        </p:spPr>
        <p:txBody>
          <a:bodyPr/>
          <a:lstStyle/>
          <a:p>
            <a:endParaRPr lang="en-GB"/>
          </a:p>
        </p:txBody>
      </p:sp>
      <p:sp>
        <p:nvSpPr>
          <p:cNvPr id="32" name="Text 30"/>
          <p:cNvSpPr/>
          <p:nvPr/>
        </p:nvSpPr>
        <p:spPr>
          <a:xfrm>
            <a:off x="2432304" y="42519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p3</a:t>
            </a:r>
            <a:endParaRPr lang="en-US" sz="1050" dirty="0"/>
          </a:p>
        </p:txBody>
      </p:sp>
      <p:sp>
        <p:nvSpPr>
          <p:cNvPr id="33" name="Shape 31"/>
          <p:cNvSpPr/>
          <p:nvPr/>
        </p:nvSpPr>
        <p:spPr>
          <a:xfrm>
            <a:off x="2628900" y="4663440"/>
            <a:ext cx="0" cy="411480"/>
          </a:xfrm>
          <a:prstGeom prst="line">
            <a:avLst/>
          </a:prstGeom>
          <a:noFill/>
          <a:ln w="15240">
            <a:solidFill>
              <a:srgbClr val="86B817"/>
            </a:solidFill>
            <a:prstDash val="solid"/>
            <a:headEnd type="none"/>
            <a:tailEnd type="triangle"/>
          </a:ln>
        </p:spPr>
        <p:txBody>
          <a:bodyPr/>
          <a:lstStyle/>
          <a:p>
            <a:endParaRPr lang="en-GB"/>
          </a:p>
        </p:txBody>
      </p:sp>
      <p:sp>
        <p:nvSpPr>
          <p:cNvPr id="34" name="Shape 32"/>
          <p:cNvSpPr/>
          <p:nvPr/>
        </p:nvSpPr>
        <p:spPr>
          <a:xfrm>
            <a:off x="3108960" y="4206240"/>
            <a:ext cx="502920" cy="411480"/>
          </a:xfrm>
          <a:prstGeom prst="roundRect">
            <a:avLst>
              <a:gd name="adj" fmla="val 17778"/>
            </a:avLst>
          </a:prstGeom>
          <a:solidFill>
            <a:srgbClr val="FFFFFF"/>
          </a:solidFill>
          <a:ln w="13970">
            <a:solidFill>
              <a:srgbClr val="86B817"/>
            </a:solidFill>
            <a:prstDash val="solid"/>
          </a:ln>
        </p:spPr>
        <p:txBody>
          <a:bodyPr/>
          <a:lstStyle/>
          <a:p>
            <a:endParaRPr lang="en-GB"/>
          </a:p>
        </p:txBody>
      </p:sp>
      <p:sp>
        <p:nvSpPr>
          <p:cNvPr id="35" name="Text 33"/>
          <p:cNvSpPr/>
          <p:nvPr/>
        </p:nvSpPr>
        <p:spPr>
          <a:xfrm>
            <a:off x="3163824" y="42519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p4</a:t>
            </a:r>
            <a:endParaRPr lang="en-US" sz="1050" dirty="0"/>
          </a:p>
        </p:txBody>
      </p:sp>
      <p:sp>
        <p:nvSpPr>
          <p:cNvPr id="36" name="Shape 34"/>
          <p:cNvSpPr/>
          <p:nvPr/>
        </p:nvSpPr>
        <p:spPr>
          <a:xfrm>
            <a:off x="3360420" y="4663440"/>
            <a:ext cx="0" cy="411480"/>
          </a:xfrm>
          <a:prstGeom prst="line">
            <a:avLst/>
          </a:prstGeom>
          <a:noFill/>
          <a:ln w="15240">
            <a:solidFill>
              <a:srgbClr val="86B817"/>
            </a:solidFill>
            <a:prstDash val="solid"/>
            <a:headEnd type="none"/>
            <a:tailEnd type="triangle"/>
          </a:ln>
        </p:spPr>
        <p:txBody>
          <a:bodyPr/>
          <a:lstStyle/>
          <a:p>
            <a:endParaRPr lang="en-GB"/>
          </a:p>
        </p:txBody>
      </p:sp>
      <p:sp>
        <p:nvSpPr>
          <p:cNvPr id="37" name="Shape 35"/>
          <p:cNvSpPr/>
          <p:nvPr/>
        </p:nvSpPr>
        <p:spPr>
          <a:xfrm>
            <a:off x="3840480" y="4206240"/>
            <a:ext cx="502920" cy="411480"/>
          </a:xfrm>
          <a:prstGeom prst="roundRect">
            <a:avLst>
              <a:gd name="adj" fmla="val 17778"/>
            </a:avLst>
          </a:prstGeom>
          <a:solidFill>
            <a:srgbClr val="FFFFFF"/>
          </a:solidFill>
          <a:ln w="13970">
            <a:solidFill>
              <a:srgbClr val="86B817"/>
            </a:solidFill>
            <a:prstDash val="solid"/>
          </a:ln>
        </p:spPr>
        <p:txBody>
          <a:bodyPr/>
          <a:lstStyle/>
          <a:p>
            <a:endParaRPr lang="en-GB"/>
          </a:p>
        </p:txBody>
      </p:sp>
      <p:sp>
        <p:nvSpPr>
          <p:cNvPr id="38" name="Text 36"/>
          <p:cNvSpPr/>
          <p:nvPr/>
        </p:nvSpPr>
        <p:spPr>
          <a:xfrm>
            <a:off x="3895344" y="42519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p5</a:t>
            </a:r>
            <a:endParaRPr lang="en-US" sz="1050" dirty="0"/>
          </a:p>
        </p:txBody>
      </p:sp>
      <p:sp>
        <p:nvSpPr>
          <p:cNvPr id="39" name="Shape 37"/>
          <p:cNvSpPr/>
          <p:nvPr/>
        </p:nvSpPr>
        <p:spPr>
          <a:xfrm>
            <a:off x="4091940" y="4663440"/>
            <a:ext cx="0" cy="411480"/>
          </a:xfrm>
          <a:prstGeom prst="line">
            <a:avLst/>
          </a:prstGeom>
          <a:noFill/>
          <a:ln w="15240">
            <a:solidFill>
              <a:srgbClr val="86B817"/>
            </a:solidFill>
            <a:prstDash val="solid"/>
            <a:headEnd type="none"/>
            <a:tailEnd type="triangle"/>
          </a:ln>
        </p:spPr>
        <p:txBody>
          <a:bodyPr/>
          <a:lstStyle/>
          <a:p>
            <a:endParaRPr lang="en-GB"/>
          </a:p>
        </p:txBody>
      </p:sp>
      <p:sp>
        <p:nvSpPr>
          <p:cNvPr id="40" name="Shape 38"/>
          <p:cNvSpPr/>
          <p:nvPr/>
        </p:nvSpPr>
        <p:spPr>
          <a:xfrm>
            <a:off x="4572000" y="4206240"/>
            <a:ext cx="502920" cy="411480"/>
          </a:xfrm>
          <a:prstGeom prst="roundRect">
            <a:avLst>
              <a:gd name="adj" fmla="val 17778"/>
            </a:avLst>
          </a:prstGeom>
          <a:solidFill>
            <a:srgbClr val="FFFFFF"/>
          </a:solidFill>
          <a:ln w="13970">
            <a:solidFill>
              <a:srgbClr val="86B817"/>
            </a:solidFill>
            <a:prstDash val="solid"/>
          </a:ln>
        </p:spPr>
        <p:txBody>
          <a:bodyPr/>
          <a:lstStyle/>
          <a:p>
            <a:endParaRPr lang="en-GB"/>
          </a:p>
        </p:txBody>
      </p:sp>
      <p:sp>
        <p:nvSpPr>
          <p:cNvPr id="41" name="Text 39"/>
          <p:cNvSpPr/>
          <p:nvPr/>
        </p:nvSpPr>
        <p:spPr>
          <a:xfrm>
            <a:off x="4626864" y="42519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p6</a:t>
            </a:r>
            <a:endParaRPr lang="en-US" sz="1050" dirty="0"/>
          </a:p>
        </p:txBody>
      </p:sp>
      <p:sp>
        <p:nvSpPr>
          <p:cNvPr id="42" name="Shape 40"/>
          <p:cNvSpPr/>
          <p:nvPr/>
        </p:nvSpPr>
        <p:spPr>
          <a:xfrm>
            <a:off x="4823460" y="4663440"/>
            <a:ext cx="0" cy="411480"/>
          </a:xfrm>
          <a:prstGeom prst="line">
            <a:avLst/>
          </a:prstGeom>
          <a:noFill/>
          <a:ln w="15240">
            <a:solidFill>
              <a:srgbClr val="86B817"/>
            </a:solidFill>
            <a:prstDash val="solid"/>
            <a:headEnd type="none"/>
            <a:tailEnd type="triangle"/>
          </a:ln>
        </p:spPr>
        <p:txBody>
          <a:bodyPr/>
          <a:lstStyle/>
          <a:p>
            <a:endParaRPr lang="en-GB"/>
          </a:p>
        </p:txBody>
      </p:sp>
      <p:sp>
        <p:nvSpPr>
          <p:cNvPr id="43" name="Shape 41"/>
          <p:cNvSpPr/>
          <p:nvPr/>
        </p:nvSpPr>
        <p:spPr>
          <a:xfrm>
            <a:off x="914400" y="5120640"/>
            <a:ext cx="502920" cy="411480"/>
          </a:xfrm>
          <a:prstGeom prst="roundRect">
            <a:avLst>
              <a:gd name="adj" fmla="val 17778"/>
            </a:avLst>
          </a:prstGeom>
          <a:solidFill>
            <a:srgbClr val="EAF5D5"/>
          </a:solidFill>
          <a:ln w="13970">
            <a:solidFill>
              <a:srgbClr val="86B817"/>
            </a:solidFill>
            <a:prstDash val="solid"/>
          </a:ln>
        </p:spPr>
        <p:txBody>
          <a:bodyPr/>
          <a:lstStyle/>
          <a:p>
            <a:endParaRPr lang="en-GB"/>
          </a:p>
        </p:txBody>
      </p:sp>
      <p:sp>
        <p:nvSpPr>
          <p:cNvPr id="44" name="Text 42"/>
          <p:cNvSpPr/>
          <p:nvPr/>
        </p:nvSpPr>
        <p:spPr>
          <a:xfrm>
            <a:off x="969264" y="51663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o1</a:t>
            </a:r>
            <a:endParaRPr lang="en-US" sz="1050" dirty="0"/>
          </a:p>
        </p:txBody>
      </p:sp>
      <p:sp>
        <p:nvSpPr>
          <p:cNvPr id="45" name="Shape 43"/>
          <p:cNvSpPr/>
          <p:nvPr/>
        </p:nvSpPr>
        <p:spPr>
          <a:xfrm>
            <a:off x="1645920" y="5120640"/>
            <a:ext cx="502920" cy="411480"/>
          </a:xfrm>
          <a:prstGeom prst="roundRect">
            <a:avLst>
              <a:gd name="adj" fmla="val 17778"/>
            </a:avLst>
          </a:prstGeom>
          <a:solidFill>
            <a:srgbClr val="EAF5D5"/>
          </a:solidFill>
          <a:ln w="13970">
            <a:solidFill>
              <a:srgbClr val="86B817"/>
            </a:solidFill>
            <a:prstDash val="solid"/>
          </a:ln>
        </p:spPr>
        <p:txBody>
          <a:bodyPr/>
          <a:lstStyle/>
          <a:p>
            <a:endParaRPr lang="en-GB"/>
          </a:p>
        </p:txBody>
      </p:sp>
      <p:sp>
        <p:nvSpPr>
          <p:cNvPr id="46" name="Text 44"/>
          <p:cNvSpPr/>
          <p:nvPr/>
        </p:nvSpPr>
        <p:spPr>
          <a:xfrm>
            <a:off x="1700784" y="51663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o2</a:t>
            </a:r>
            <a:endParaRPr lang="en-US" sz="1050" dirty="0"/>
          </a:p>
        </p:txBody>
      </p:sp>
      <p:sp>
        <p:nvSpPr>
          <p:cNvPr id="47" name="Shape 45"/>
          <p:cNvSpPr/>
          <p:nvPr/>
        </p:nvSpPr>
        <p:spPr>
          <a:xfrm>
            <a:off x="2377440" y="5120640"/>
            <a:ext cx="502920" cy="411480"/>
          </a:xfrm>
          <a:prstGeom prst="roundRect">
            <a:avLst>
              <a:gd name="adj" fmla="val 17778"/>
            </a:avLst>
          </a:prstGeom>
          <a:solidFill>
            <a:srgbClr val="EAF5D5"/>
          </a:solidFill>
          <a:ln w="13970">
            <a:solidFill>
              <a:srgbClr val="86B817"/>
            </a:solidFill>
            <a:prstDash val="solid"/>
          </a:ln>
        </p:spPr>
        <p:txBody>
          <a:bodyPr/>
          <a:lstStyle/>
          <a:p>
            <a:endParaRPr lang="en-GB"/>
          </a:p>
        </p:txBody>
      </p:sp>
      <p:sp>
        <p:nvSpPr>
          <p:cNvPr id="48" name="Text 46"/>
          <p:cNvSpPr/>
          <p:nvPr/>
        </p:nvSpPr>
        <p:spPr>
          <a:xfrm>
            <a:off x="2432304" y="51663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o3</a:t>
            </a:r>
            <a:endParaRPr lang="en-US" sz="1050" dirty="0"/>
          </a:p>
        </p:txBody>
      </p:sp>
      <p:sp>
        <p:nvSpPr>
          <p:cNvPr id="49" name="Shape 47"/>
          <p:cNvSpPr/>
          <p:nvPr/>
        </p:nvSpPr>
        <p:spPr>
          <a:xfrm>
            <a:off x="3108960" y="5120640"/>
            <a:ext cx="502920" cy="411480"/>
          </a:xfrm>
          <a:prstGeom prst="roundRect">
            <a:avLst>
              <a:gd name="adj" fmla="val 17778"/>
            </a:avLst>
          </a:prstGeom>
          <a:solidFill>
            <a:srgbClr val="EAF5D5"/>
          </a:solidFill>
          <a:ln w="13970">
            <a:solidFill>
              <a:srgbClr val="86B817"/>
            </a:solidFill>
            <a:prstDash val="solid"/>
          </a:ln>
        </p:spPr>
        <p:txBody>
          <a:bodyPr/>
          <a:lstStyle/>
          <a:p>
            <a:endParaRPr lang="en-GB"/>
          </a:p>
        </p:txBody>
      </p:sp>
      <p:sp>
        <p:nvSpPr>
          <p:cNvPr id="50" name="Text 48"/>
          <p:cNvSpPr/>
          <p:nvPr/>
        </p:nvSpPr>
        <p:spPr>
          <a:xfrm>
            <a:off x="3163824" y="51663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o4</a:t>
            </a:r>
            <a:endParaRPr lang="en-US" sz="1050" dirty="0"/>
          </a:p>
        </p:txBody>
      </p:sp>
      <p:sp>
        <p:nvSpPr>
          <p:cNvPr id="51" name="Shape 49"/>
          <p:cNvSpPr/>
          <p:nvPr/>
        </p:nvSpPr>
        <p:spPr>
          <a:xfrm>
            <a:off x="3840480" y="5120640"/>
            <a:ext cx="502920" cy="411480"/>
          </a:xfrm>
          <a:prstGeom prst="roundRect">
            <a:avLst>
              <a:gd name="adj" fmla="val 17778"/>
            </a:avLst>
          </a:prstGeom>
          <a:solidFill>
            <a:srgbClr val="EAF5D5"/>
          </a:solidFill>
          <a:ln w="13970">
            <a:solidFill>
              <a:srgbClr val="86B817"/>
            </a:solidFill>
            <a:prstDash val="solid"/>
          </a:ln>
        </p:spPr>
        <p:txBody>
          <a:bodyPr/>
          <a:lstStyle/>
          <a:p>
            <a:endParaRPr lang="en-GB"/>
          </a:p>
        </p:txBody>
      </p:sp>
      <p:sp>
        <p:nvSpPr>
          <p:cNvPr id="52" name="Text 50"/>
          <p:cNvSpPr/>
          <p:nvPr/>
        </p:nvSpPr>
        <p:spPr>
          <a:xfrm>
            <a:off x="3895344" y="51663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o5</a:t>
            </a:r>
            <a:endParaRPr lang="en-US" sz="1050" dirty="0"/>
          </a:p>
        </p:txBody>
      </p:sp>
      <p:sp>
        <p:nvSpPr>
          <p:cNvPr id="53" name="Shape 51"/>
          <p:cNvSpPr/>
          <p:nvPr/>
        </p:nvSpPr>
        <p:spPr>
          <a:xfrm>
            <a:off x="4572000" y="5120640"/>
            <a:ext cx="502920" cy="411480"/>
          </a:xfrm>
          <a:prstGeom prst="roundRect">
            <a:avLst>
              <a:gd name="adj" fmla="val 17778"/>
            </a:avLst>
          </a:prstGeom>
          <a:solidFill>
            <a:srgbClr val="EAF5D5"/>
          </a:solidFill>
          <a:ln w="13970">
            <a:solidFill>
              <a:srgbClr val="86B817"/>
            </a:solidFill>
            <a:prstDash val="solid"/>
          </a:ln>
        </p:spPr>
        <p:txBody>
          <a:bodyPr/>
          <a:lstStyle/>
          <a:p>
            <a:endParaRPr lang="en-GB"/>
          </a:p>
        </p:txBody>
      </p:sp>
      <p:sp>
        <p:nvSpPr>
          <p:cNvPr id="54" name="Text 52"/>
          <p:cNvSpPr/>
          <p:nvPr/>
        </p:nvSpPr>
        <p:spPr>
          <a:xfrm>
            <a:off x="4626864" y="5166360"/>
            <a:ext cx="393192" cy="320040"/>
          </a:xfrm>
          <a:prstGeom prst="rect">
            <a:avLst/>
          </a:prstGeom>
          <a:noFill/>
          <a:ln/>
        </p:spPr>
        <p:txBody>
          <a:bodyPr wrap="square" lIns="0" tIns="0" rIns="0" bIns="0" rtlCol="0" anchor="ctr"/>
          <a:lstStyle/>
          <a:p>
            <a:pPr marL="0" indent="0" algn="ctr">
              <a:buNone/>
            </a:pPr>
            <a:r>
              <a:rPr lang="en-US" sz="1050" b="1" dirty="0">
                <a:solidFill>
                  <a:srgbClr val="86B817"/>
                </a:solidFill>
              </a:rPr>
              <a:t>o6</a:t>
            </a:r>
            <a:endParaRPr lang="en-US" sz="1050" dirty="0"/>
          </a:p>
        </p:txBody>
      </p:sp>
      <p:sp>
        <p:nvSpPr>
          <p:cNvPr id="55" name="Text 53"/>
          <p:cNvSpPr/>
          <p:nvPr/>
        </p:nvSpPr>
        <p:spPr>
          <a:xfrm>
            <a:off x="914400" y="5715000"/>
            <a:ext cx="3657600" cy="228600"/>
          </a:xfrm>
          <a:prstGeom prst="rect">
            <a:avLst/>
          </a:prstGeom>
          <a:noFill/>
          <a:ln/>
        </p:spPr>
        <p:txBody>
          <a:bodyPr wrap="square" lIns="0" tIns="0" rIns="0" bIns="0" rtlCol="0" anchor="ctr"/>
          <a:lstStyle/>
          <a:p>
            <a:pPr marL="0" indent="0">
              <a:buNone/>
            </a:pPr>
            <a:r>
              <a:rPr lang="en-US" sz="1200" dirty="0">
                <a:solidFill>
                  <a:srgbClr val="475569"/>
                </a:solidFill>
              </a:rPr>
              <a:t>positions in a layer computed in parallel</a:t>
            </a:r>
            <a:endParaRPr lang="en-US" sz="1200" dirty="0"/>
          </a:p>
        </p:txBody>
      </p:sp>
      <p:sp>
        <p:nvSpPr>
          <p:cNvPr id="56" name="Shape 54"/>
          <p:cNvSpPr/>
          <p:nvPr/>
        </p:nvSpPr>
        <p:spPr>
          <a:xfrm>
            <a:off x="6583680" y="2103120"/>
            <a:ext cx="2194560" cy="1005840"/>
          </a:xfrm>
          <a:prstGeom prst="roundRect">
            <a:avLst>
              <a:gd name="adj" fmla="val 7273"/>
            </a:avLst>
          </a:prstGeom>
          <a:solidFill>
            <a:srgbClr val="F8FAFC"/>
          </a:solidFill>
          <a:ln w="13970">
            <a:solidFill>
              <a:srgbClr val="2B73FF"/>
            </a:solidFill>
            <a:prstDash val="solid"/>
          </a:ln>
        </p:spPr>
        <p:txBody>
          <a:bodyPr/>
          <a:lstStyle/>
          <a:p>
            <a:endParaRPr lang="en-GB"/>
          </a:p>
        </p:txBody>
      </p:sp>
      <p:sp>
        <p:nvSpPr>
          <p:cNvPr id="57" name="Text 55"/>
          <p:cNvSpPr/>
          <p:nvPr/>
        </p:nvSpPr>
        <p:spPr>
          <a:xfrm>
            <a:off x="6638544" y="2148840"/>
            <a:ext cx="2084832" cy="914400"/>
          </a:xfrm>
          <a:prstGeom prst="rect">
            <a:avLst/>
          </a:prstGeom>
          <a:noFill/>
          <a:ln/>
        </p:spPr>
        <p:txBody>
          <a:bodyPr wrap="square" lIns="0" tIns="0" rIns="0" bIns="0" rtlCol="0" anchor="ctr"/>
          <a:lstStyle/>
          <a:p>
            <a:pPr marL="0" indent="0" algn="ctr">
              <a:buNone/>
            </a:pPr>
            <a:r>
              <a:rPr lang="en-US" sz="1500" b="1" dirty="0">
                <a:solidFill>
                  <a:srgbClr val="111827"/>
                </a:solidFill>
              </a:rPr>
              <a:t>RNN: time order</a:t>
            </a:r>
            <a:endParaRPr lang="en-US" sz="1500" dirty="0"/>
          </a:p>
          <a:p>
            <a:pPr marL="0" indent="0" algn="ctr">
              <a:buNone/>
            </a:pPr>
            <a:r>
              <a:rPr lang="en-US" sz="1500" b="1" dirty="0">
                <a:solidFill>
                  <a:srgbClr val="111827"/>
                </a:solidFill>
              </a:rPr>
              <a:t>is </a:t>
            </a:r>
            <a:r>
              <a:rPr lang="en-US" sz="1500" b="1" dirty="0">
                <a:solidFill>
                  <a:srgbClr val="FF0000"/>
                </a:solidFill>
              </a:rPr>
              <a:t>computational</a:t>
            </a:r>
            <a:endParaRPr lang="en-US" sz="1500" dirty="0">
              <a:solidFill>
                <a:srgbClr val="FF0000"/>
              </a:solidFill>
            </a:endParaRPr>
          </a:p>
        </p:txBody>
      </p:sp>
      <p:sp>
        <p:nvSpPr>
          <p:cNvPr id="58" name="Shape 56"/>
          <p:cNvSpPr/>
          <p:nvPr/>
        </p:nvSpPr>
        <p:spPr>
          <a:xfrm>
            <a:off x="6583680" y="4297680"/>
            <a:ext cx="2194560" cy="1005840"/>
          </a:xfrm>
          <a:prstGeom prst="roundRect">
            <a:avLst>
              <a:gd name="adj" fmla="val 7273"/>
            </a:avLst>
          </a:prstGeom>
          <a:solidFill>
            <a:srgbClr val="EAF5D5"/>
          </a:solidFill>
          <a:ln w="13970">
            <a:solidFill>
              <a:srgbClr val="86B817"/>
            </a:solidFill>
            <a:prstDash val="solid"/>
          </a:ln>
        </p:spPr>
        <p:txBody>
          <a:bodyPr/>
          <a:lstStyle/>
          <a:p>
            <a:endParaRPr lang="en-GB"/>
          </a:p>
        </p:txBody>
      </p:sp>
      <p:sp>
        <p:nvSpPr>
          <p:cNvPr id="59" name="Text 57"/>
          <p:cNvSpPr/>
          <p:nvPr/>
        </p:nvSpPr>
        <p:spPr>
          <a:xfrm>
            <a:off x="6638544" y="4343400"/>
            <a:ext cx="2084832" cy="914400"/>
          </a:xfrm>
          <a:prstGeom prst="rect">
            <a:avLst/>
          </a:prstGeom>
          <a:noFill/>
          <a:ln/>
        </p:spPr>
        <p:txBody>
          <a:bodyPr wrap="square" lIns="0" tIns="0" rIns="0" bIns="0" rtlCol="0" anchor="ctr"/>
          <a:lstStyle/>
          <a:p>
            <a:pPr marL="0" indent="0" algn="ctr">
              <a:buNone/>
            </a:pPr>
            <a:r>
              <a:rPr lang="en-US" sz="1500" b="1" dirty="0">
                <a:solidFill>
                  <a:srgbClr val="111827"/>
                </a:solidFill>
              </a:rPr>
              <a:t>TCN: layer order</a:t>
            </a:r>
            <a:endParaRPr lang="en-US" sz="1500" dirty="0"/>
          </a:p>
          <a:p>
            <a:pPr marL="0" indent="0" algn="ctr">
              <a:buNone/>
            </a:pPr>
            <a:r>
              <a:rPr lang="en-US" sz="1500" b="1" dirty="0">
                <a:solidFill>
                  <a:srgbClr val="111827"/>
                </a:solidFill>
              </a:rPr>
              <a:t>is computational</a:t>
            </a:r>
            <a:endParaRPr lang="en-US" sz="1500" dirty="0"/>
          </a:p>
        </p:txBody>
      </p:sp>
      <p:sp>
        <p:nvSpPr>
          <p:cNvPr id="60" name="Text 58"/>
          <p:cNvSpPr/>
          <p:nvPr/>
        </p:nvSpPr>
        <p:spPr>
          <a:xfrm>
            <a:off x="685800" y="6263639"/>
            <a:ext cx="9931400" cy="411479"/>
          </a:xfrm>
          <a:prstGeom prst="rect">
            <a:avLst/>
          </a:prstGeom>
          <a:noFill/>
          <a:ln/>
        </p:spPr>
        <p:txBody>
          <a:bodyPr wrap="square" lIns="381" tIns="381" rIns="381" bIns="381" rtlCol="0" anchor="ctr"/>
          <a:lstStyle/>
          <a:p>
            <a:pPr marL="0" indent="0">
              <a:buNone/>
            </a:pPr>
            <a:r>
              <a:rPr lang="en-US" sz="1600" i="1" dirty="0">
                <a:solidFill>
                  <a:srgbClr val="475569"/>
                </a:solidFill>
              </a:rPr>
              <a:t>TCNs still process layers sequentially, but not </a:t>
            </a:r>
            <a:r>
              <a:rPr lang="en-US" sz="1600" b="1" i="1" dirty="0">
                <a:solidFill>
                  <a:srgbClr val="475569"/>
                </a:solidFill>
              </a:rPr>
              <a:t>individual positions within one convolutional layer.</a:t>
            </a:r>
            <a:endParaRPr lang="en-US" sz="1600" b="1"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2CB4014-A2C6-5835-31E9-54603A0D1A7C}"/>
              </a:ext>
            </a:extLst>
          </p:cNvPr>
          <p:cNvSpPr>
            <a:spLocks noGrp="1"/>
          </p:cNvSpPr>
          <p:nvPr>
            <p:ph type="title"/>
          </p:nvPr>
        </p:nvSpPr>
        <p:spPr/>
        <p:txBody>
          <a:bodyPr/>
          <a:lstStyle/>
          <a:p>
            <a:r>
              <a:rPr lang="en-GB" dirty="0"/>
              <a:t>TCN memory is represented differently from RNN memory</a:t>
            </a:r>
          </a:p>
        </p:txBody>
      </p:sp>
      <p:sp>
        <p:nvSpPr>
          <p:cNvPr id="3" name="Segnaposto contenuto 2">
            <a:extLst>
              <a:ext uri="{FF2B5EF4-FFF2-40B4-BE49-F238E27FC236}">
                <a16:creationId xmlns:a16="http://schemas.microsoft.com/office/drawing/2014/main" id="{DC19CCF3-FCE9-D776-FD24-2B60C92BFCB5}"/>
              </a:ext>
            </a:extLst>
          </p:cNvPr>
          <p:cNvSpPr>
            <a:spLocks noGrp="1"/>
          </p:cNvSpPr>
          <p:nvPr>
            <p:ph sz="half" idx="1"/>
          </p:nvPr>
        </p:nvSpPr>
        <p:spPr/>
        <p:txBody>
          <a:bodyPr>
            <a:normAutofit lnSpcReduction="10000"/>
          </a:bodyPr>
          <a:lstStyle/>
          <a:p>
            <a:r>
              <a:rPr lang="en-GB" b="1" dirty="0"/>
              <a:t>RNN / LSTM / GRU</a:t>
            </a:r>
          </a:p>
          <a:p>
            <a:r>
              <a:rPr lang="en-GB" dirty="0"/>
              <a:t>Historical information is compressed into a recurrent state:</a:t>
            </a:r>
          </a:p>
          <a:p>
            <a:pPr lvl="1"/>
            <a:r>
              <a:rPr lang="en-GB" dirty="0">
                <a:highlight>
                  <a:srgbClr val="FFFF00"/>
                </a:highlight>
              </a:rPr>
              <a:t>h[t] and optionally c[t]</a:t>
            </a:r>
          </a:p>
          <a:p>
            <a:endParaRPr lang="en-GB" b="1" dirty="0"/>
          </a:p>
          <a:p>
            <a:r>
              <a:rPr lang="en-GB" b="1" dirty="0"/>
              <a:t>TCN</a:t>
            </a:r>
          </a:p>
          <a:p>
            <a:r>
              <a:rPr lang="en-GB" dirty="0"/>
              <a:t>There is no recurrent state passed from one time step to the next.</a:t>
            </a:r>
          </a:p>
          <a:p>
            <a:r>
              <a:rPr lang="en-GB" dirty="0">
                <a:solidFill>
                  <a:schemeClr val="tx1"/>
                </a:solidFill>
              </a:rPr>
              <a:t>History is represented through:</a:t>
            </a:r>
          </a:p>
          <a:p>
            <a:pPr lvl="1"/>
            <a:r>
              <a:rPr lang="en-GB" dirty="0">
                <a:solidFill>
                  <a:schemeClr val="tx1"/>
                </a:solidFill>
              </a:rPr>
              <a:t>convolutional feature maps; </a:t>
            </a:r>
          </a:p>
          <a:p>
            <a:pPr lvl="1"/>
            <a:r>
              <a:rPr lang="en-GB" dirty="0">
                <a:solidFill>
                  <a:schemeClr val="tx1"/>
                </a:solidFill>
              </a:rPr>
              <a:t>receptive-field connections. </a:t>
            </a:r>
          </a:p>
          <a:p>
            <a:endParaRPr lang="en-GB" dirty="0"/>
          </a:p>
        </p:txBody>
      </p:sp>
      <p:sp>
        <p:nvSpPr>
          <p:cNvPr id="4" name="Segnaposto contenuto 3">
            <a:extLst>
              <a:ext uri="{FF2B5EF4-FFF2-40B4-BE49-F238E27FC236}">
                <a16:creationId xmlns:a16="http://schemas.microsoft.com/office/drawing/2014/main" id="{9AB364C2-BCE9-A7E5-4ADE-BAA05D298C47}"/>
              </a:ext>
            </a:extLst>
          </p:cNvPr>
          <p:cNvSpPr>
            <a:spLocks noGrp="1"/>
          </p:cNvSpPr>
          <p:nvPr>
            <p:ph sz="half" idx="2"/>
          </p:nvPr>
        </p:nvSpPr>
        <p:spPr/>
        <p:txBody>
          <a:bodyPr>
            <a:normAutofit lnSpcReduction="10000"/>
          </a:bodyPr>
          <a:lstStyle/>
          <a:p>
            <a:r>
              <a:rPr lang="en-GB" b="1" dirty="0"/>
              <a:t>Consequence</a:t>
            </a:r>
          </a:p>
          <a:p>
            <a:r>
              <a:rPr lang="en-GB" dirty="0"/>
              <a:t>RNN memory:</a:t>
            </a:r>
          </a:p>
          <a:p>
            <a:pPr lvl="1"/>
            <a:r>
              <a:rPr lang="en-GB" dirty="0">
                <a:solidFill>
                  <a:schemeClr val="tx1"/>
                </a:solidFill>
              </a:rPr>
              <a:t>state-based; </a:t>
            </a:r>
          </a:p>
          <a:p>
            <a:pPr lvl="1"/>
            <a:r>
              <a:rPr lang="en-GB" b="1" dirty="0"/>
              <a:t>potentially variable in what it retains. </a:t>
            </a:r>
          </a:p>
          <a:p>
            <a:r>
              <a:rPr lang="en-GB" dirty="0"/>
              <a:t>TCN memory:</a:t>
            </a:r>
          </a:p>
          <a:p>
            <a:pPr lvl="1"/>
            <a:r>
              <a:rPr lang="en-GB" dirty="0"/>
              <a:t>limited explicitly by receptive field; </a:t>
            </a:r>
          </a:p>
          <a:p>
            <a:pPr lvl="1"/>
            <a:r>
              <a:rPr lang="en-GB" b="1" dirty="0">
                <a:highlight>
                  <a:srgbClr val="FFFF00"/>
                </a:highlight>
              </a:rPr>
              <a:t>structurally determined by architecture. </a:t>
            </a:r>
          </a:p>
        </p:txBody>
      </p:sp>
      <p:sp>
        <p:nvSpPr>
          <p:cNvPr id="6" name="CasellaDiTesto 5">
            <a:extLst>
              <a:ext uri="{FF2B5EF4-FFF2-40B4-BE49-F238E27FC236}">
                <a16:creationId xmlns:a16="http://schemas.microsoft.com/office/drawing/2014/main" id="{7F2F5046-E75F-FE36-6589-8A171937CF05}"/>
              </a:ext>
            </a:extLst>
          </p:cNvPr>
          <p:cNvSpPr txBox="1"/>
          <p:nvPr/>
        </p:nvSpPr>
        <p:spPr>
          <a:xfrm>
            <a:off x="5089970" y="5579696"/>
            <a:ext cx="6721032" cy="923330"/>
          </a:xfrm>
          <a:prstGeom prst="rect">
            <a:avLst/>
          </a:prstGeom>
          <a:noFill/>
        </p:spPr>
        <p:txBody>
          <a:bodyPr wrap="square">
            <a:spAutoFit/>
          </a:bodyPr>
          <a:lstStyle/>
          <a:p>
            <a:r>
              <a:rPr lang="en-GB" sz="1800" b="1" dirty="0"/>
              <a:t>A TCN cannot use information outside its receptive field, but information inside the field does not need to survive repeated recurrent state updates.</a:t>
            </a:r>
          </a:p>
        </p:txBody>
      </p:sp>
    </p:spTree>
    <p:extLst>
      <p:ext uri="{BB962C8B-B14F-4D97-AF65-F5344CB8AC3E}">
        <p14:creationId xmlns:p14="http://schemas.microsoft.com/office/powerpoint/2010/main" val="35117160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1356971-1838-DE32-7FF0-18D6B0912A92}"/>
              </a:ext>
            </a:extLst>
          </p:cNvPr>
          <p:cNvSpPr>
            <a:spLocks noGrp="1"/>
          </p:cNvSpPr>
          <p:nvPr>
            <p:ph type="title"/>
          </p:nvPr>
        </p:nvSpPr>
        <p:spPr/>
        <p:txBody>
          <a:bodyPr/>
          <a:lstStyle/>
          <a:p>
            <a:r>
              <a:rPr lang="en-GB" dirty="0"/>
              <a:t>RNN memory versus TCN receptive field</a:t>
            </a:r>
          </a:p>
        </p:txBody>
      </p:sp>
      <p:sp>
        <p:nvSpPr>
          <p:cNvPr id="3" name="Segnaposto contenuto 2">
            <a:extLst>
              <a:ext uri="{FF2B5EF4-FFF2-40B4-BE49-F238E27FC236}">
                <a16:creationId xmlns:a16="http://schemas.microsoft.com/office/drawing/2014/main" id="{70DE6BF6-9889-72D5-2062-D33812A9FF75}"/>
              </a:ext>
            </a:extLst>
          </p:cNvPr>
          <p:cNvSpPr>
            <a:spLocks noGrp="1"/>
          </p:cNvSpPr>
          <p:nvPr>
            <p:ph sz="half" idx="1"/>
          </p:nvPr>
        </p:nvSpPr>
        <p:spPr>
          <a:xfrm>
            <a:off x="677334" y="2160588"/>
            <a:ext cx="4936066" cy="4303711"/>
          </a:xfrm>
        </p:spPr>
        <p:txBody>
          <a:bodyPr>
            <a:normAutofit fontScale="85000" lnSpcReduction="20000"/>
          </a:bodyPr>
          <a:lstStyle/>
          <a:p>
            <a:r>
              <a:rPr lang="en-GB" dirty="0"/>
              <a:t>Consider a dependency between:</a:t>
            </a:r>
          </a:p>
          <a:p>
            <a:pPr lvl="1"/>
            <a:r>
              <a:rPr lang="en-GB" dirty="0"/>
              <a:t>an </a:t>
            </a:r>
            <a:r>
              <a:rPr lang="en-GB" b="1" dirty="0"/>
              <a:t>event at time t−200; </a:t>
            </a:r>
          </a:p>
          <a:p>
            <a:pPr lvl="1"/>
            <a:r>
              <a:rPr lang="en-GB" b="1" dirty="0"/>
              <a:t>prediction at time t. </a:t>
            </a:r>
          </a:p>
          <a:p>
            <a:r>
              <a:rPr lang="en-GB" b="1" dirty="0"/>
              <a:t>RNN</a:t>
            </a:r>
          </a:p>
          <a:p>
            <a:r>
              <a:rPr lang="en-GB" dirty="0">
                <a:highlight>
                  <a:srgbClr val="FFFF00"/>
                </a:highlight>
              </a:rPr>
              <a:t>Information must be preserved through:</a:t>
            </a:r>
          </a:p>
          <a:p>
            <a:r>
              <a:rPr lang="en-GB" dirty="0">
                <a:highlight>
                  <a:srgbClr val="FFFF00"/>
                </a:highlight>
              </a:rPr>
              <a:t>h[t−200] → h[t−199] → ... → h[t]</a:t>
            </a:r>
          </a:p>
          <a:p>
            <a:endParaRPr lang="en-GB" b="1" dirty="0"/>
          </a:p>
          <a:p>
            <a:r>
              <a:rPr lang="en-GB" b="1" dirty="0"/>
              <a:t>TCN</a:t>
            </a:r>
          </a:p>
          <a:p>
            <a:r>
              <a:rPr lang="en-GB" b="1" dirty="0"/>
              <a:t>There must be a convolutional path connecting:</a:t>
            </a:r>
          </a:p>
          <a:p>
            <a:r>
              <a:rPr lang="en-GB" b="1" dirty="0"/>
              <a:t>x[t−200]</a:t>
            </a:r>
          </a:p>
          <a:p>
            <a:r>
              <a:rPr lang="en-GB" b="1" dirty="0"/>
              <a:t>to the output at: t</a:t>
            </a:r>
          </a:p>
          <a:p>
            <a:r>
              <a:rPr lang="en-GB" dirty="0"/>
              <a:t>If the receptive field covers at least 201 samples, such a path exists.</a:t>
            </a:r>
            <a:br>
              <a:rPr lang="en-GB" dirty="0"/>
            </a:br>
            <a:endParaRPr lang="en-GB" dirty="0"/>
          </a:p>
          <a:p>
            <a:endParaRPr lang="en-GB" dirty="0"/>
          </a:p>
        </p:txBody>
      </p:sp>
      <p:sp>
        <p:nvSpPr>
          <p:cNvPr id="4" name="Segnaposto contenuto 3">
            <a:extLst>
              <a:ext uri="{FF2B5EF4-FFF2-40B4-BE49-F238E27FC236}">
                <a16:creationId xmlns:a16="http://schemas.microsoft.com/office/drawing/2014/main" id="{4711508B-5919-C3E0-D7E4-C54917BA1E03}"/>
              </a:ext>
            </a:extLst>
          </p:cNvPr>
          <p:cNvSpPr>
            <a:spLocks noGrp="1"/>
          </p:cNvSpPr>
          <p:nvPr>
            <p:ph sz="half" idx="2"/>
          </p:nvPr>
        </p:nvSpPr>
        <p:spPr>
          <a:xfrm>
            <a:off x="6855270" y="2160588"/>
            <a:ext cx="5133530" cy="4418012"/>
          </a:xfrm>
        </p:spPr>
        <p:txBody>
          <a:bodyPr>
            <a:normAutofit fontScale="85000" lnSpcReduction="20000"/>
          </a:bodyPr>
          <a:lstStyle/>
          <a:p>
            <a:r>
              <a:rPr lang="en-GB" b="1" dirty="0"/>
              <a:t>Main contrast</a:t>
            </a:r>
          </a:p>
          <a:p>
            <a:r>
              <a:rPr lang="en-GB" dirty="0">
                <a:highlight>
                  <a:srgbClr val="FFFF00"/>
                </a:highlight>
              </a:rPr>
              <a:t>RNN:</a:t>
            </a:r>
          </a:p>
          <a:p>
            <a:r>
              <a:rPr lang="en-GB" dirty="0">
                <a:highlight>
                  <a:srgbClr val="FFFF00"/>
                </a:highlight>
              </a:rPr>
              <a:t>learn what state information survives.</a:t>
            </a:r>
          </a:p>
          <a:p>
            <a:endParaRPr lang="en-GB" dirty="0"/>
          </a:p>
          <a:p>
            <a:r>
              <a:rPr lang="en-GB" dirty="0"/>
              <a:t>TCN:</a:t>
            </a:r>
          </a:p>
          <a:p>
            <a:r>
              <a:rPr lang="en-GB" dirty="0">
                <a:highlight>
                  <a:srgbClr val="FFFF00"/>
                </a:highlight>
              </a:rPr>
              <a:t>design a connectivity structure wide enough to include the relevant history.</a:t>
            </a:r>
          </a:p>
          <a:p>
            <a:endParaRPr lang="en-GB" dirty="0"/>
          </a:p>
        </p:txBody>
      </p:sp>
    </p:spTree>
    <p:extLst>
      <p:ext uri="{BB962C8B-B14F-4D97-AF65-F5344CB8AC3E}">
        <p14:creationId xmlns:p14="http://schemas.microsoft.com/office/powerpoint/2010/main" val="321495645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RNN memory versus TCN receptive field</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dirty="0">
                <a:solidFill>
                  <a:srgbClr val="475569"/>
                </a:solidFill>
              </a:rPr>
              <a:t>Two different ways to connect past events to current predictions</a:t>
            </a:r>
            <a:endParaRPr lang="en-US" sz="1150" dirty="0"/>
          </a:p>
        </p:txBody>
      </p:sp>
      <p:sp>
        <p:nvSpPr>
          <p:cNvPr id="8" name="Text 6"/>
          <p:cNvSpPr/>
          <p:nvPr/>
        </p:nvSpPr>
        <p:spPr>
          <a:xfrm>
            <a:off x="914400" y="1234440"/>
            <a:ext cx="2286000" cy="274320"/>
          </a:xfrm>
          <a:prstGeom prst="rect">
            <a:avLst/>
          </a:prstGeom>
          <a:noFill/>
          <a:ln/>
        </p:spPr>
        <p:txBody>
          <a:bodyPr wrap="square" lIns="0" tIns="0" rIns="0" bIns="0" rtlCol="0" anchor="ctr"/>
          <a:lstStyle/>
          <a:p>
            <a:pPr marL="0" indent="0">
              <a:buNone/>
            </a:pPr>
            <a:r>
              <a:rPr lang="en-US" sz="1600" b="1" dirty="0">
                <a:solidFill>
                  <a:srgbClr val="111827"/>
                </a:solidFill>
              </a:rPr>
              <a:t>RNN / LSTM / GRU</a:t>
            </a:r>
            <a:endParaRPr lang="en-US" sz="1600" dirty="0"/>
          </a:p>
        </p:txBody>
      </p:sp>
      <p:sp>
        <p:nvSpPr>
          <p:cNvPr id="9" name="Shape 7"/>
          <p:cNvSpPr/>
          <p:nvPr/>
        </p:nvSpPr>
        <p:spPr>
          <a:xfrm>
            <a:off x="914400" y="2011680"/>
            <a:ext cx="411480" cy="347472"/>
          </a:xfrm>
          <a:prstGeom prst="roundRect">
            <a:avLst>
              <a:gd name="adj" fmla="val 21053"/>
            </a:avLst>
          </a:prstGeom>
          <a:solidFill>
            <a:srgbClr val="FFFFFF"/>
          </a:solidFill>
          <a:ln w="13970">
            <a:solidFill>
              <a:srgbClr val="2B73FF"/>
            </a:solidFill>
            <a:prstDash val="solid"/>
          </a:ln>
        </p:spPr>
        <p:txBody>
          <a:bodyPr/>
          <a:lstStyle/>
          <a:p>
            <a:endParaRPr lang="en-GB"/>
          </a:p>
        </p:txBody>
      </p:sp>
      <p:sp>
        <p:nvSpPr>
          <p:cNvPr id="10" name="Text 8"/>
          <p:cNvSpPr/>
          <p:nvPr/>
        </p:nvSpPr>
        <p:spPr>
          <a:xfrm>
            <a:off x="969264" y="2057400"/>
            <a:ext cx="301752" cy="256032"/>
          </a:xfrm>
          <a:prstGeom prst="rect">
            <a:avLst/>
          </a:prstGeom>
          <a:noFill/>
          <a:ln/>
        </p:spPr>
        <p:txBody>
          <a:bodyPr wrap="square" lIns="0" tIns="0" rIns="0" bIns="0" rtlCol="0" anchor="ctr"/>
          <a:lstStyle/>
          <a:p>
            <a:pPr marL="0" indent="0" algn="ctr">
              <a:buNone/>
            </a:pPr>
            <a:r>
              <a:rPr lang="en-US" sz="1000" b="1" dirty="0">
                <a:solidFill>
                  <a:srgbClr val="2B73FF"/>
                </a:solidFill>
              </a:rPr>
              <a:t>h</a:t>
            </a:r>
            <a:endParaRPr lang="en-US" sz="1000" dirty="0"/>
          </a:p>
        </p:txBody>
      </p:sp>
      <p:sp>
        <p:nvSpPr>
          <p:cNvPr id="11" name="Shape 9"/>
          <p:cNvSpPr/>
          <p:nvPr/>
        </p:nvSpPr>
        <p:spPr>
          <a:xfrm>
            <a:off x="1325880" y="2185416"/>
            <a:ext cx="274320" cy="0"/>
          </a:xfrm>
          <a:prstGeom prst="line">
            <a:avLst/>
          </a:prstGeom>
          <a:noFill/>
          <a:ln w="15240">
            <a:solidFill>
              <a:srgbClr val="2B73FF"/>
            </a:solidFill>
            <a:prstDash val="solid"/>
            <a:headEnd type="none"/>
            <a:tailEnd type="triangle"/>
          </a:ln>
        </p:spPr>
        <p:txBody>
          <a:bodyPr/>
          <a:lstStyle/>
          <a:p>
            <a:endParaRPr lang="en-GB"/>
          </a:p>
        </p:txBody>
      </p:sp>
      <p:sp>
        <p:nvSpPr>
          <p:cNvPr id="12" name="Shape 10"/>
          <p:cNvSpPr/>
          <p:nvPr/>
        </p:nvSpPr>
        <p:spPr>
          <a:xfrm>
            <a:off x="1600200" y="2011680"/>
            <a:ext cx="411480" cy="347472"/>
          </a:xfrm>
          <a:prstGeom prst="roundRect">
            <a:avLst>
              <a:gd name="adj" fmla="val 21053"/>
            </a:avLst>
          </a:prstGeom>
          <a:solidFill>
            <a:srgbClr val="FFFFFF"/>
          </a:solidFill>
          <a:ln w="13970">
            <a:solidFill>
              <a:srgbClr val="2B73FF"/>
            </a:solidFill>
            <a:prstDash val="solid"/>
          </a:ln>
        </p:spPr>
        <p:txBody>
          <a:bodyPr/>
          <a:lstStyle/>
          <a:p>
            <a:endParaRPr lang="en-GB"/>
          </a:p>
        </p:txBody>
      </p:sp>
      <p:sp>
        <p:nvSpPr>
          <p:cNvPr id="13" name="Text 11"/>
          <p:cNvSpPr/>
          <p:nvPr/>
        </p:nvSpPr>
        <p:spPr>
          <a:xfrm>
            <a:off x="1655064" y="2057400"/>
            <a:ext cx="301752" cy="256032"/>
          </a:xfrm>
          <a:prstGeom prst="rect">
            <a:avLst/>
          </a:prstGeom>
          <a:noFill/>
          <a:ln/>
        </p:spPr>
        <p:txBody>
          <a:bodyPr wrap="square" lIns="0" tIns="0" rIns="0" bIns="0" rtlCol="0" anchor="ctr"/>
          <a:lstStyle/>
          <a:p>
            <a:pPr marL="0" indent="0" algn="ctr">
              <a:buNone/>
            </a:pPr>
            <a:r>
              <a:rPr lang="en-US" sz="1000" b="1" dirty="0">
                <a:solidFill>
                  <a:srgbClr val="2B73FF"/>
                </a:solidFill>
              </a:rPr>
              <a:t>h</a:t>
            </a:r>
            <a:endParaRPr lang="en-US" sz="1000" dirty="0"/>
          </a:p>
        </p:txBody>
      </p:sp>
      <p:sp>
        <p:nvSpPr>
          <p:cNvPr id="14" name="Shape 12"/>
          <p:cNvSpPr/>
          <p:nvPr/>
        </p:nvSpPr>
        <p:spPr>
          <a:xfrm>
            <a:off x="2011680" y="2185416"/>
            <a:ext cx="274320" cy="0"/>
          </a:xfrm>
          <a:prstGeom prst="line">
            <a:avLst/>
          </a:prstGeom>
          <a:noFill/>
          <a:ln w="15240">
            <a:solidFill>
              <a:srgbClr val="2B73FF"/>
            </a:solidFill>
            <a:prstDash val="solid"/>
            <a:headEnd type="none"/>
            <a:tailEnd type="triangle"/>
          </a:ln>
        </p:spPr>
        <p:txBody>
          <a:bodyPr/>
          <a:lstStyle/>
          <a:p>
            <a:endParaRPr lang="en-GB"/>
          </a:p>
        </p:txBody>
      </p:sp>
      <p:sp>
        <p:nvSpPr>
          <p:cNvPr id="15" name="Shape 13"/>
          <p:cNvSpPr/>
          <p:nvPr/>
        </p:nvSpPr>
        <p:spPr>
          <a:xfrm>
            <a:off x="2286000" y="2011680"/>
            <a:ext cx="411480" cy="347472"/>
          </a:xfrm>
          <a:prstGeom prst="roundRect">
            <a:avLst>
              <a:gd name="adj" fmla="val 21053"/>
            </a:avLst>
          </a:prstGeom>
          <a:solidFill>
            <a:srgbClr val="FFFFFF"/>
          </a:solidFill>
          <a:ln w="13970">
            <a:solidFill>
              <a:srgbClr val="2B73FF"/>
            </a:solidFill>
            <a:prstDash val="solid"/>
          </a:ln>
        </p:spPr>
        <p:txBody>
          <a:bodyPr/>
          <a:lstStyle/>
          <a:p>
            <a:endParaRPr lang="en-GB"/>
          </a:p>
        </p:txBody>
      </p:sp>
      <p:sp>
        <p:nvSpPr>
          <p:cNvPr id="16" name="Text 14"/>
          <p:cNvSpPr/>
          <p:nvPr/>
        </p:nvSpPr>
        <p:spPr>
          <a:xfrm>
            <a:off x="2340864" y="2057400"/>
            <a:ext cx="301752" cy="256032"/>
          </a:xfrm>
          <a:prstGeom prst="rect">
            <a:avLst/>
          </a:prstGeom>
          <a:noFill/>
          <a:ln/>
        </p:spPr>
        <p:txBody>
          <a:bodyPr wrap="square" lIns="0" tIns="0" rIns="0" bIns="0" rtlCol="0" anchor="ctr"/>
          <a:lstStyle/>
          <a:p>
            <a:pPr marL="0" indent="0" algn="ctr">
              <a:buNone/>
            </a:pPr>
            <a:r>
              <a:rPr lang="en-US" sz="1000" b="1" dirty="0">
                <a:solidFill>
                  <a:srgbClr val="2B73FF"/>
                </a:solidFill>
              </a:rPr>
              <a:t>h</a:t>
            </a:r>
            <a:endParaRPr lang="en-US" sz="1000" dirty="0"/>
          </a:p>
        </p:txBody>
      </p:sp>
      <p:sp>
        <p:nvSpPr>
          <p:cNvPr id="17" name="Shape 15"/>
          <p:cNvSpPr/>
          <p:nvPr/>
        </p:nvSpPr>
        <p:spPr>
          <a:xfrm>
            <a:off x="2697480" y="2185416"/>
            <a:ext cx="274320" cy="0"/>
          </a:xfrm>
          <a:prstGeom prst="line">
            <a:avLst/>
          </a:prstGeom>
          <a:noFill/>
          <a:ln w="15240">
            <a:solidFill>
              <a:srgbClr val="2B73FF"/>
            </a:solidFill>
            <a:prstDash val="solid"/>
            <a:headEnd type="none"/>
            <a:tailEnd type="triangle"/>
          </a:ln>
        </p:spPr>
        <p:txBody>
          <a:bodyPr/>
          <a:lstStyle/>
          <a:p>
            <a:endParaRPr lang="en-GB"/>
          </a:p>
        </p:txBody>
      </p:sp>
      <p:sp>
        <p:nvSpPr>
          <p:cNvPr id="18" name="Shape 16"/>
          <p:cNvSpPr/>
          <p:nvPr/>
        </p:nvSpPr>
        <p:spPr>
          <a:xfrm>
            <a:off x="2971800" y="2011680"/>
            <a:ext cx="411480" cy="347472"/>
          </a:xfrm>
          <a:prstGeom prst="roundRect">
            <a:avLst>
              <a:gd name="adj" fmla="val 21053"/>
            </a:avLst>
          </a:prstGeom>
          <a:solidFill>
            <a:srgbClr val="FFFFFF"/>
          </a:solidFill>
          <a:ln w="13970">
            <a:solidFill>
              <a:srgbClr val="2B73FF"/>
            </a:solidFill>
            <a:prstDash val="solid"/>
          </a:ln>
        </p:spPr>
        <p:txBody>
          <a:bodyPr/>
          <a:lstStyle/>
          <a:p>
            <a:endParaRPr lang="en-GB"/>
          </a:p>
        </p:txBody>
      </p:sp>
      <p:sp>
        <p:nvSpPr>
          <p:cNvPr id="19" name="Text 17"/>
          <p:cNvSpPr/>
          <p:nvPr/>
        </p:nvSpPr>
        <p:spPr>
          <a:xfrm>
            <a:off x="3026664" y="2057400"/>
            <a:ext cx="301752" cy="256032"/>
          </a:xfrm>
          <a:prstGeom prst="rect">
            <a:avLst/>
          </a:prstGeom>
          <a:noFill/>
          <a:ln/>
        </p:spPr>
        <p:txBody>
          <a:bodyPr wrap="square" lIns="0" tIns="0" rIns="0" bIns="0" rtlCol="0" anchor="ctr"/>
          <a:lstStyle/>
          <a:p>
            <a:pPr marL="0" indent="0" algn="ctr">
              <a:buNone/>
            </a:pPr>
            <a:r>
              <a:rPr lang="en-US" sz="1000" b="1" dirty="0">
                <a:solidFill>
                  <a:srgbClr val="2B73FF"/>
                </a:solidFill>
              </a:rPr>
              <a:t>h</a:t>
            </a:r>
            <a:endParaRPr lang="en-US" sz="1000" dirty="0"/>
          </a:p>
        </p:txBody>
      </p:sp>
      <p:sp>
        <p:nvSpPr>
          <p:cNvPr id="20" name="Shape 18"/>
          <p:cNvSpPr/>
          <p:nvPr/>
        </p:nvSpPr>
        <p:spPr>
          <a:xfrm>
            <a:off x="3383280" y="2185416"/>
            <a:ext cx="274320" cy="0"/>
          </a:xfrm>
          <a:prstGeom prst="line">
            <a:avLst/>
          </a:prstGeom>
          <a:noFill/>
          <a:ln w="15240">
            <a:solidFill>
              <a:srgbClr val="2B73FF"/>
            </a:solidFill>
            <a:prstDash val="solid"/>
            <a:headEnd type="none"/>
            <a:tailEnd type="triangle"/>
          </a:ln>
        </p:spPr>
        <p:txBody>
          <a:bodyPr/>
          <a:lstStyle/>
          <a:p>
            <a:endParaRPr lang="en-GB"/>
          </a:p>
        </p:txBody>
      </p:sp>
      <p:sp>
        <p:nvSpPr>
          <p:cNvPr id="21" name="Shape 19"/>
          <p:cNvSpPr/>
          <p:nvPr/>
        </p:nvSpPr>
        <p:spPr>
          <a:xfrm>
            <a:off x="3657600" y="2011680"/>
            <a:ext cx="411480" cy="347472"/>
          </a:xfrm>
          <a:prstGeom prst="roundRect">
            <a:avLst>
              <a:gd name="adj" fmla="val 21053"/>
            </a:avLst>
          </a:prstGeom>
          <a:solidFill>
            <a:srgbClr val="FFFFFF"/>
          </a:solidFill>
          <a:ln w="13970">
            <a:solidFill>
              <a:srgbClr val="2B73FF"/>
            </a:solidFill>
            <a:prstDash val="solid"/>
          </a:ln>
        </p:spPr>
        <p:txBody>
          <a:bodyPr/>
          <a:lstStyle/>
          <a:p>
            <a:endParaRPr lang="en-GB"/>
          </a:p>
        </p:txBody>
      </p:sp>
      <p:sp>
        <p:nvSpPr>
          <p:cNvPr id="22" name="Text 20"/>
          <p:cNvSpPr/>
          <p:nvPr/>
        </p:nvSpPr>
        <p:spPr>
          <a:xfrm>
            <a:off x="3712464" y="2057400"/>
            <a:ext cx="301752" cy="256032"/>
          </a:xfrm>
          <a:prstGeom prst="rect">
            <a:avLst/>
          </a:prstGeom>
          <a:noFill/>
          <a:ln/>
        </p:spPr>
        <p:txBody>
          <a:bodyPr wrap="square" lIns="0" tIns="0" rIns="0" bIns="0" rtlCol="0" anchor="ctr"/>
          <a:lstStyle/>
          <a:p>
            <a:pPr marL="0" indent="0" algn="ctr">
              <a:buNone/>
            </a:pPr>
            <a:r>
              <a:rPr lang="en-US" sz="1000" b="1" dirty="0">
                <a:solidFill>
                  <a:srgbClr val="2B73FF"/>
                </a:solidFill>
              </a:rPr>
              <a:t>h</a:t>
            </a:r>
            <a:endParaRPr lang="en-US" sz="1000" dirty="0"/>
          </a:p>
        </p:txBody>
      </p:sp>
      <p:sp>
        <p:nvSpPr>
          <p:cNvPr id="23" name="Shape 21"/>
          <p:cNvSpPr/>
          <p:nvPr/>
        </p:nvSpPr>
        <p:spPr>
          <a:xfrm>
            <a:off x="4069080" y="2185416"/>
            <a:ext cx="274320" cy="0"/>
          </a:xfrm>
          <a:prstGeom prst="line">
            <a:avLst/>
          </a:prstGeom>
          <a:noFill/>
          <a:ln w="15240">
            <a:solidFill>
              <a:srgbClr val="2B73FF"/>
            </a:solidFill>
            <a:prstDash val="solid"/>
            <a:headEnd type="none"/>
            <a:tailEnd type="triangle"/>
          </a:ln>
        </p:spPr>
        <p:txBody>
          <a:bodyPr/>
          <a:lstStyle/>
          <a:p>
            <a:endParaRPr lang="en-GB"/>
          </a:p>
        </p:txBody>
      </p:sp>
      <p:sp>
        <p:nvSpPr>
          <p:cNvPr id="24" name="Shape 22"/>
          <p:cNvSpPr/>
          <p:nvPr/>
        </p:nvSpPr>
        <p:spPr>
          <a:xfrm>
            <a:off x="4343400" y="2011680"/>
            <a:ext cx="411480" cy="347472"/>
          </a:xfrm>
          <a:prstGeom prst="roundRect">
            <a:avLst>
              <a:gd name="adj" fmla="val 21053"/>
            </a:avLst>
          </a:prstGeom>
          <a:solidFill>
            <a:srgbClr val="FFFFFF"/>
          </a:solidFill>
          <a:ln w="13970">
            <a:solidFill>
              <a:srgbClr val="2B73FF"/>
            </a:solidFill>
            <a:prstDash val="solid"/>
          </a:ln>
        </p:spPr>
        <p:txBody>
          <a:bodyPr/>
          <a:lstStyle/>
          <a:p>
            <a:endParaRPr lang="en-GB"/>
          </a:p>
        </p:txBody>
      </p:sp>
      <p:sp>
        <p:nvSpPr>
          <p:cNvPr id="25" name="Text 23"/>
          <p:cNvSpPr/>
          <p:nvPr/>
        </p:nvSpPr>
        <p:spPr>
          <a:xfrm>
            <a:off x="4398264" y="2057400"/>
            <a:ext cx="301752" cy="256032"/>
          </a:xfrm>
          <a:prstGeom prst="rect">
            <a:avLst/>
          </a:prstGeom>
          <a:noFill/>
          <a:ln/>
        </p:spPr>
        <p:txBody>
          <a:bodyPr wrap="square" lIns="0" tIns="0" rIns="0" bIns="0" rtlCol="0" anchor="ctr"/>
          <a:lstStyle/>
          <a:p>
            <a:pPr marL="0" indent="0" algn="ctr">
              <a:buNone/>
            </a:pPr>
            <a:r>
              <a:rPr lang="en-US" sz="1000" b="1" dirty="0">
                <a:solidFill>
                  <a:srgbClr val="2B73FF"/>
                </a:solidFill>
              </a:rPr>
              <a:t>h</a:t>
            </a:r>
            <a:endParaRPr lang="en-US" sz="1000" dirty="0"/>
          </a:p>
        </p:txBody>
      </p:sp>
      <p:sp>
        <p:nvSpPr>
          <p:cNvPr id="26" name="Shape 24"/>
          <p:cNvSpPr/>
          <p:nvPr/>
        </p:nvSpPr>
        <p:spPr>
          <a:xfrm>
            <a:off x="4754880" y="2185416"/>
            <a:ext cx="274320" cy="0"/>
          </a:xfrm>
          <a:prstGeom prst="line">
            <a:avLst/>
          </a:prstGeom>
          <a:noFill/>
          <a:ln w="15240">
            <a:solidFill>
              <a:srgbClr val="2B73FF"/>
            </a:solidFill>
            <a:prstDash val="solid"/>
            <a:headEnd type="none"/>
            <a:tailEnd type="triangle"/>
          </a:ln>
        </p:spPr>
        <p:txBody>
          <a:bodyPr/>
          <a:lstStyle/>
          <a:p>
            <a:endParaRPr lang="en-GB"/>
          </a:p>
        </p:txBody>
      </p:sp>
      <p:sp>
        <p:nvSpPr>
          <p:cNvPr id="27" name="Shape 25"/>
          <p:cNvSpPr/>
          <p:nvPr/>
        </p:nvSpPr>
        <p:spPr>
          <a:xfrm>
            <a:off x="5029200" y="2011680"/>
            <a:ext cx="411480" cy="347472"/>
          </a:xfrm>
          <a:prstGeom prst="roundRect">
            <a:avLst>
              <a:gd name="adj" fmla="val 21053"/>
            </a:avLst>
          </a:prstGeom>
          <a:solidFill>
            <a:srgbClr val="FFFFFF"/>
          </a:solidFill>
          <a:ln w="13970">
            <a:solidFill>
              <a:srgbClr val="2B73FF"/>
            </a:solidFill>
            <a:prstDash val="solid"/>
          </a:ln>
        </p:spPr>
        <p:txBody>
          <a:bodyPr/>
          <a:lstStyle/>
          <a:p>
            <a:endParaRPr lang="en-GB"/>
          </a:p>
        </p:txBody>
      </p:sp>
      <p:sp>
        <p:nvSpPr>
          <p:cNvPr id="28" name="Text 26"/>
          <p:cNvSpPr/>
          <p:nvPr/>
        </p:nvSpPr>
        <p:spPr>
          <a:xfrm>
            <a:off x="5084064" y="2057400"/>
            <a:ext cx="301752" cy="256032"/>
          </a:xfrm>
          <a:prstGeom prst="rect">
            <a:avLst/>
          </a:prstGeom>
          <a:noFill/>
          <a:ln/>
        </p:spPr>
        <p:txBody>
          <a:bodyPr wrap="square" lIns="0" tIns="0" rIns="0" bIns="0" rtlCol="0" anchor="ctr"/>
          <a:lstStyle/>
          <a:p>
            <a:pPr marL="0" indent="0" algn="ctr">
              <a:buNone/>
            </a:pPr>
            <a:r>
              <a:rPr lang="en-US" sz="1000" b="1" dirty="0">
                <a:solidFill>
                  <a:srgbClr val="2B73FF"/>
                </a:solidFill>
              </a:rPr>
              <a:t>h</a:t>
            </a:r>
            <a:endParaRPr lang="en-US" sz="1000" dirty="0"/>
          </a:p>
        </p:txBody>
      </p:sp>
      <p:sp>
        <p:nvSpPr>
          <p:cNvPr id="29" name="Text 27"/>
          <p:cNvSpPr/>
          <p:nvPr/>
        </p:nvSpPr>
        <p:spPr>
          <a:xfrm>
            <a:off x="914400" y="2606040"/>
            <a:ext cx="3931920" cy="228600"/>
          </a:xfrm>
          <a:prstGeom prst="rect">
            <a:avLst/>
          </a:prstGeom>
          <a:noFill/>
          <a:ln/>
        </p:spPr>
        <p:txBody>
          <a:bodyPr wrap="square" lIns="0" tIns="0" rIns="0" bIns="0" rtlCol="0" anchor="ctr"/>
          <a:lstStyle/>
          <a:p>
            <a:pPr marL="0" indent="0">
              <a:buNone/>
            </a:pPr>
            <a:r>
              <a:rPr lang="en-US" sz="1200" dirty="0">
                <a:solidFill>
                  <a:srgbClr val="475569"/>
                </a:solidFill>
              </a:rPr>
              <a:t>information must survive state updates</a:t>
            </a:r>
            <a:endParaRPr lang="en-US" sz="1200" dirty="0"/>
          </a:p>
        </p:txBody>
      </p:sp>
      <p:sp>
        <p:nvSpPr>
          <p:cNvPr id="30" name="Text 28"/>
          <p:cNvSpPr/>
          <p:nvPr/>
        </p:nvSpPr>
        <p:spPr>
          <a:xfrm>
            <a:off x="914400" y="3429000"/>
            <a:ext cx="914400" cy="274320"/>
          </a:xfrm>
          <a:prstGeom prst="rect">
            <a:avLst/>
          </a:prstGeom>
          <a:noFill/>
          <a:ln/>
        </p:spPr>
        <p:txBody>
          <a:bodyPr wrap="square" lIns="0" tIns="0" rIns="0" bIns="0" rtlCol="0" anchor="ctr"/>
          <a:lstStyle/>
          <a:p>
            <a:pPr marL="0" indent="0">
              <a:buNone/>
            </a:pPr>
            <a:r>
              <a:rPr lang="en-US" sz="1600" b="1" dirty="0">
                <a:solidFill>
                  <a:srgbClr val="111827"/>
                </a:solidFill>
              </a:rPr>
              <a:t>TCN</a:t>
            </a:r>
            <a:endParaRPr lang="en-US" sz="1600" dirty="0"/>
          </a:p>
        </p:txBody>
      </p:sp>
      <p:sp>
        <p:nvSpPr>
          <p:cNvPr id="31" name="Shape 29"/>
          <p:cNvSpPr/>
          <p:nvPr/>
        </p:nvSpPr>
        <p:spPr>
          <a:xfrm>
            <a:off x="914400" y="4297680"/>
            <a:ext cx="4864608" cy="0"/>
          </a:xfrm>
          <a:prstGeom prst="line">
            <a:avLst/>
          </a:prstGeom>
          <a:noFill/>
          <a:ln w="12700">
            <a:solidFill>
              <a:srgbClr val="94A3B8"/>
            </a:solidFill>
            <a:prstDash val="solid"/>
            <a:headEnd type="none"/>
            <a:tailEnd type="none"/>
          </a:ln>
        </p:spPr>
        <p:txBody>
          <a:bodyPr/>
          <a:lstStyle/>
          <a:p>
            <a:endParaRPr lang="en-GB"/>
          </a:p>
        </p:txBody>
      </p:sp>
      <p:sp>
        <p:nvSpPr>
          <p:cNvPr id="32" name="Shape 30"/>
          <p:cNvSpPr/>
          <p:nvPr/>
        </p:nvSpPr>
        <p:spPr>
          <a:xfrm>
            <a:off x="864108"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33" name="Shape 31"/>
          <p:cNvSpPr/>
          <p:nvPr/>
        </p:nvSpPr>
        <p:spPr>
          <a:xfrm>
            <a:off x="1120140"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34" name="Shape 32"/>
          <p:cNvSpPr/>
          <p:nvPr/>
        </p:nvSpPr>
        <p:spPr>
          <a:xfrm>
            <a:off x="1376172"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35" name="Shape 33"/>
          <p:cNvSpPr/>
          <p:nvPr/>
        </p:nvSpPr>
        <p:spPr>
          <a:xfrm>
            <a:off x="1632204"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36" name="Shape 34"/>
          <p:cNvSpPr/>
          <p:nvPr/>
        </p:nvSpPr>
        <p:spPr>
          <a:xfrm>
            <a:off x="1888236"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37" name="Shape 35"/>
          <p:cNvSpPr/>
          <p:nvPr/>
        </p:nvSpPr>
        <p:spPr>
          <a:xfrm>
            <a:off x="2144268"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38" name="Shape 36"/>
          <p:cNvSpPr/>
          <p:nvPr/>
        </p:nvSpPr>
        <p:spPr>
          <a:xfrm>
            <a:off x="2400300"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39" name="Shape 37"/>
          <p:cNvSpPr/>
          <p:nvPr/>
        </p:nvSpPr>
        <p:spPr>
          <a:xfrm>
            <a:off x="2656332"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0" name="Shape 38"/>
          <p:cNvSpPr/>
          <p:nvPr/>
        </p:nvSpPr>
        <p:spPr>
          <a:xfrm>
            <a:off x="2912364"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1" name="Shape 39"/>
          <p:cNvSpPr/>
          <p:nvPr/>
        </p:nvSpPr>
        <p:spPr>
          <a:xfrm>
            <a:off x="3168396"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2" name="Shape 40"/>
          <p:cNvSpPr/>
          <p:nvPr/>
        </p:nvSpPr>
        <p:spPr>
          <a:xfrm>
            <a:off x="3424428"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3" name="Shape 41"/>
          <p:cNvSpPr/>
          <p:nvPr/>
        </p:nvSpPr>
        <p:spPr>
          <a:xfrm>
            <a:off x="3680460"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4" name="Shape 42"/>
          <p:cNvSpPr/>
          <p:nvPr/>
        </p:nvSpPr>
        <p:spPr>
          <a:xfrm>
            <a:off x="3936492"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5" name="Shape 43"/>
          <p:cNvSpPr/>
          <p:nvPr/>
        </p:nvSpPr>
        <p:spPr>
          <a:xfrm>
            <a:off x="4192524"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6" name="Shape 44"/>
          <p:cNvSpPr/>
          <p:nvPr/>
        </p:nvSpPr>
        <p:spPr>
          <a:xfrm>
            <a:off x="4448556"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7" name="Shape 45"/>
          <p:cNvSpPr/>
          <p:nvPr/>
        </p:nvSpPr>
        <p:spPr>
          <a:xfrm>
            <a:off x="4704588"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8" name="Shape 46"/>
          <p:cNvSpPr/>
          <p:nvPr/>
        </p:nvSpPr>
        <p:spPr>
          <a:xfrm>
            <a:off x="4960620"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49" name="Shape 47"/>
          <p:cNvSpPr/>
          <p:nvPr/>
        </p:nvSpPr>
        <p:spPr>
          <a:xfrm>
            <a:off x="5216652"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50" name="Shape 48"/>
          <p:cNvSpPr/>
          <p:nvPr/>
        </p:nvSpPr>
        <p:spPr>
          <a:xfrm>
            <a:off x="5472684"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51" name="Shape 49"/>
          <p:cNvSpPr/>
          <p:nvPr/>
        </p:nvSpPr>
        <p:spPr>
          <a:xfrm>
            <a:off x="5728716" y="4247388"/>
            <a:ext cx="100584" cy="100584"/>
          </a:xfrm>
          <a:prstGeom prst="ellipse">
            <a:avLst/>
          </a:prstGeom>
          <a:solidFill>
            <a:srgbClr val="FFFFFF"/>
          </a:solidFill>
          <a:ln w="8890">
            <a:solidFill>
              <a:srgbClr val="94A3B8"/>
            </a:solidFill>
            <a:prstDash val="solid"/>
          </a:ln>
        </p:spPr>
        <p:txBody>
          <a:bodyPr/>
          <a:lstStyle/>
          <a:p>
            <a:endParaRPr lang="en-GB"/>
          </a:p>
        </p:txBody>
      </p:sp>
      <p:sp>
        <p:nvSpPr>
          <p:cNvPr id="52" name="Shape 50"/>
          <p:cNvSpPr/>
          <p:nvPr/>
        </p:nvSpPr>
        <p:spPr>
          <a:xfrm>
            <a:off x="864108" y="4247388"/>
            <a:ext cx="100584" cy="100584"/>
          </a:xfrm>
          <a:prstGeom prst="ellipse">
            <a:avLst/>
          </a:prstGeom>
          <a:solidFill>
            <a:srgbClr val="F1B400"/>
          </a:solidFill>
          <a:ln w="15240">
            <a:solidFill>
              <a:srgbClr val="F1B400"/>
            </a:solidFill>
            <a:prstDash val="solid"/>
          </a:ln>
        </p:spPr>
        <p:txBody>
          <a:bodyPr/>
          <a:lstStyle/>
          <a:p>
            <a:endParaRPr lang="en-GB"/>
          </a:p>
        </p:txBody>
      </p:sp>
      <p:sp>
        <p:nvSpPr>
          <p:cNvPr id="53" name="Shape 51"/>
          <p:cNvSpPr/>
          <p:nvPr/>
        </p:nvSpPr>
        <p:spPr>
          <a:xfrm>
            <a:off x="5728716" y="4247388"/>
            <a:ext cx="100584" cy="100584"/>
          </a:xfrm>
          <a:prstGeom prst="ellipse">
            <a:avLst/>
          </a:prstGeom>
          <a:solidFill>
            <a:srgbClr val="86B817"/>
          </a:solidFill>
          <a:ln w="15240">
            <a:solidFill>
              <a:srgbClr val="86B817"/>
            </a:solidFill>
            <a:prstDash val="solid"/>
          </a:ln>
        </p:spPr>
        <p:txBody>
          <a:bodyPr/>
          <a:lstStyle/>
          <a:p>
            <a:endParaRPr lang="en-GB"/>
          </a:p>
        </p:txBody>
      </p:sp>
      <p:sp>
        <p:nvSpPr>
          <p:cNvPr id="54" name="Shape 52"/>
          <p:cNvSpPr/>
          <p:nvPr/>
        </p:nvSpPr>
        <p:spPr>
          <a:xfrm>
            <a:off x="914400" y="4005072"/>
            <a:ext cx="4864608" cy="0"/>
          </a:xfrm>
          <a:prstGeom prst="line">
            <a:avLst/>
          </a:prstGeom>
          <a:noFill/>
          <a:ln w="25400">
            <a:solidFill>
              <a:srgbClr val="86B817"/>
            </a:solidFill>
            <a:prstDash val="solid"/>
            <a:headEnd type="none"/>
            <a:tailEnd type="triangle"/>
          </a:ln>
        </p:spPr>
        <p:txBody>
          <a:bodyPr/>
          <a:lstStyle/>
          <a:p>
            <a:endParaRPr lang="en-GB"/>
          </a:p>
        </p:txBody>
      </p:sp>
      <p:sp>
        <p:nvSpPr>
          <p:cNvPr id="55" name="Text 53"/>
          <p:cNvSpPr/>
          <p:nvPr/>
        </p:nvSpPr>
        <p:spPr>
          <a:xfrm>
            <a:off x="914400" y="4800600"/>
            <a:ext cx="4389120" cy="228600"/>
          </a:xfrm>
          <a:prstGeom prst="rect">
            <a:avLst/>
          </a:prstGeom>
          <a:noFill/>
          <a:ln/>
        </p:spPr>
        <p:txBody>
          <a:bodyPr wrap="square" lIns="0" tIns="0" rIns="0" bIns="0" rtlCol="0" anchor="ctr"/>
          <a:lstStyle/>
          <a:p>
            <a:pPr marL="0" indent="0">
              <a:buNone/>
            </a:pPr>
            <a:r>
              <a:rPr lang="en-US" sz="1200" dirty="0">
                <a:solidFill>
                  <a:srgbClr val="475569"/>
                </a:solidFill>
              </a:rPr>
              <a:t>connectivity path must exist inside receptive field</a:t>
            </a:r>
            <a:endParaRPr lang="en-US" sz="1200" dirty="0"/>
          </a:p>
        </p:txBody>
      </p:sp>
      <p:sp>
        <p:nvSpPr>
          <p:cNvPr id="56" name="Shape 54"/>
          <p:cNvSpPr/>
          <p:nvPr/>
        </p:nvSpPr>
        <p:spPr>
          <a:xfrm>
            <a:off x="6400800" y="1828800"/>
            <a:ext cx="2468880" cy="822960"/>
          </a:xfrm>
          <a:prstGeom prst="roundRect">
            <a:avLst>
              <a:gd name="adj" fmla="val 8889"/>
            </a:avLst>
          </a:prstGeom>
          <a:solidFill>
            <a:srgbClr val="F8FAFC"/>
          </a:solidFill>
          <a:ln w="13970">
            <a:solidFill>
              <a:srgbClr val="2B73FF"/>
            </a:solidFill>
            <a:prstDash val="solid"/>
          </a:ln>
        </p:spPr>
        <p:txBody>
          <a:bodyPr/>
          <a:lstStyle/>
          <a:p>
            <a:endParaRPr lang="en-GB"/>
          </a:p>
        </p:txBody>
      </p:sp>
      <p:sp>
        <p:nvSpPr>
          <p:cNvPr id="57" name="Text 55"/>
          <p:cNvSpPr/>
          <p:nvPr/>
        </p:nvSpPr>
        <p:spPr>
          <a:xfrm>
            <a:off x="6455664" y="1874520"/>
            <a:ext cx="2359152" cy="731520"/>
          </a:xfrm>
          <a:prstGeom prst="rect">
            <a:avLst/>
          </a:prstGeom>
          <a:noFill/>
          <a:ln/>
        </p:spPr>
        <p:txBody>
          <a:bodyPr wrap="square" lIns="0" tIns="0" rIns="0" bIns="0" rtlCol="0" anchor="ctr"/>
          <a:lstStyle/>
          <a:p>
            <a:pPr marL="0" indent="0" algn="ctr">
              <a:buNone/>
            </a:pPr>
            <a:r>
              <a:rPr lang="en-US" sz="1400" b="1" dirty="0">
                <a:solidFill>
                  <a:srgbClr val="111827"/>
                </a:solidFill>
              </a:rPr>
              <a:t>RNN: learn what</a:t>
            </a:r>
            <a:endParaRPr lang="en-US" sz="1400" dirty="0"/>
          </a:p>
          <a:p>
            <a:pPr marL="0" indent="0" algn="ctr">
              <a:buNone/>
            </a:pPr>
            <a:r>
              <a:rPr lang="en-US" sz="1400" b="1" dirty="0">
                <a:solidFill>
                  <a:srgbClr val="111827"/>
                </a:solidFill>
              </a:rPr>
              <a:t>state retains</a:t>
            </a:r>
            <a:endParaRPr lang="en-US" sz="1400" dirty="0"/>
          </a:p>
        </p:txBody>
      </p:sp>
      <p:sp>
        <p:nvSpPr>
          <p:cNvPr id="58" name="Shape 56"/>
          <p:cNvSpPr/>
          <p:nvPr/>
        </p:nvSpPr>
        <p:spPr>
          <a:xfrm>
            <a:off x="6400800" y="3840480"/>
            <a:ext cx="2468880" cy="822960"/>
          </a:xfrm>
          <a:prstGeom prst="roundRect">
            <a:avLst>
              <a:gd name="adj" fmla="val 8889"/>
            </a:avLst>
          </a:prstGeom>
          <a:solidFill>
            <a:srgbClr val="EAF5D5"/>
          </a:solidFill>
          <a:ln w="13970">
            <a:solidFill>
              <a:srgbClr val="86B817"/>
            </a:solidFill>
            <a:prstDash val="solid"/>
          </a:ln>
        </p:spPr>
        <p:txBody>
          <a:bodyPr/>
          <a:lstStyle/>
          <a:p>
            <a:endParaRPr lang="en-GB"/>
          </a:p>
        </p:txBody>
      </p:sp>
      <p:sp>
        <p:nvSpPr>
          <p:cNvPr id="59" name="Text 57"/>
          <p:cNvSpPr/>
          <p:nvPr/>
        </p:nvSpPr>
        <p:spPr>
          <a:xfrm>
            <a:off x="6455664" y="3886200"/>
            <a:ext cx="2359152" cy="731520"/>
          </a:xfrm>
          <a:prstGeom prst="rect">
            <a:avLst/>
          </a:prstGeom>
          <a:noFill/>
          <a:ln/>
        </p:spPr>
        <p:txBody>
          <a:bodyPr wrap="square" lIns="0" tIns="0" rIns="0" bIns="0" rtlCol="0" anchor="ctr"/>
          <a:lstStyle/>
          <a:p>
            <a:pPr marL="0" indent="0" algn="ctr">
              <a:buNone/>
            </a:pPr>
            <a:r>
              <a:rPr lang="en-US" sz="1400" b="1" dirty="0">
                <a:solidFill>
                  <a:srgbClr val="111827"/>
                </a:solidFill>
              </a:rPr>
              <a:t>TCN: design wide</a:t>
            </a:r>
            <a:endParaRPr lang="en-US" sz="1400" dirty="0"/>
          </a:p>
          <a:p>
            <a:pPr marL="0" indent="0" algn="ctr">
              <a:buNone/>
            </a:pPr>
            <a:r>
              <a:rPr lang="en-US" sz="1400" b="1" dirty="0">
                <a:solidFill>
                  <a:srgbClr val="111827"/>
                </a:solidFill>
              </a:rPr>
              <a:t>enough RF</a:t>
            </a:r>
            <a:endParaRPr lang="en-US" sz="1400" dirty="0"/>
          </a:p>
        </p:txBody>
      </p:sp>
      <p:sp>
        <p:nvSpPr>
          <p:cNvPr id="60" name="Text 58"/>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400" b="1" i="1" dirty="0">
                <a:solidFill>
                  <a:srgbClr val="475569"/>
                </a:solidFill>
              </a:rPr>
              <a:t>RNNs compress history into state; TCNs expose history through an explicit receptive field.</a:t>
            </a:r>
            <a:endParaRPr lang="en-US" sz="1400" b="1"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D7100E8-843F-1F65-70FF-325CC0074022}"/>
              </a:ext>
            </a:extLst>
          </p:cNvPr>
          <p:cNvSpPr>
            <a:spLocks noGrp="1"/>
          </p:cNvSpPr>
          <p:nvPr>
            <p:ph type="title"/>
          </p:nvPr>
        </p:nvSpPr>
        <p:spPr/>
        <p:txBody>
          <a:bodyPr/>
          <a:lstStyle/>
          <a:p>
            <a:r>
              <a:rPr lang="en-GB" dirty="0"/>
              <a:t>TCN for sequence labelling</a:t>
            </a:r>
          </a:p>
        </p:txBody>
      </p:sp>
      <p:sp>
        <p:nvSpPr>
          <p:cNvPr id="3" name="Segnaposto contenuto 2">
            <a:extLst>
              <a:ext uri="{FF2B5EF4-FFF2-40B4-BE49-F238E27FC236}">
                <a16:creationId xmlns:a16="http://schemas.microsoft.com/office/drawing/2014/main" id="{68B6DDB2-1AC5-49B0-8BC7-AA939ACB912C}"/>
              </a:ext>
            </a:extLst>
          </p:cNvPr>
          <p:cNvSpPr>
            <a:spLocks noGrp="1"/>
          </p:cNvSpPr>
          <p:nvPr>
            <p:ph idx="1"/>
          </p:nvPr>
        </p:nvSpPr>
        <p:spPr>
          <a:xfrm>
            <a:off x="677334" y="2160589"/>
            <a:ext cx="8873066" cy="4267920"/>
          </a:xfrm>
        </p:spPr>
        <p:txBody>
          <a:bodyPr>
            <a:normAutofit fontScale="70000" lnSpcReduction="20000"/>
          </a:bodyPr>
          <a:lstStyle/>
          <a:p>
            <a:r>
              <a:rPr lang="en-GB" dirty="0"/>
              <a:t>Because TCNs can preserve temporal length, they are well suited to per-time-step prediction.</a:t>
            </a:r>
          </a:p>
          <a:p>
            <a:r>
              <a:rPr lang="en-GB" b="1" dirty="0"/>
              <a:t>Input: [N, L, d]</a:t>
            </a:r>
          </a:p>
          <a:p>
            <a:r>
              <a:rPr lang="en-GB" b="1" dirty="0"/>
              <a:t>TCN output: [N, L, F]</a:t>
            </a:r>
          </a:p>
          <a:p>
            <a:r>
              <a:rPr lang="en-GB" b="1" dirty="0"/>
              <a:t>Prediction layer: [N, L, K] for K classes.</a:t>
            </a:r>
          </a:p>
          <a:p>
            <a:endParaRPr lang="en-GB" b="1" dirty="0"/>
          </a:p>
          <a:p>
            <a:r>
              <a:rPr lang="en-GB" b="1" dirty="0"/>
              <a:t>Example</a:t>
            </a:r>
          </a:p>
          <a:p>
            <a:r>
              <a:rPr lang="en-GB" dirty="0"/>
              <a:t>sensor sequence</a:t>
            </a:r>
          </a:p>
          <a:p>
            <a:r>
              <a:rPr lang="en-GB" dirty="0"/>
              <a:t>      ↓</a:t>
            </a:r>
          </a:p>
          <a:p>
            <a:r>
              <a:rPr lang="en-GB" dirty="0"/>
              <a:t>causal TCN</a:t>
            </a:r>
          </a:p>
          <a:p>
            <a:r>
              <a:rPr lang="en-GB" dirty="0"/>
              <a:t>      ↓</a:t>
            </a:r>
          </a:p>
          <a:p>
            <a:r>
              <a:rPr lang="en-GB" dirty="0"/>
              <a:t>temporal feature map</a:t>
            </a:r>
          </a:p>
          <a:p>
            <a:r>
              <a:rPr lang="en-GB" dirty="0"/>
              <a:t>      ↓</a:t>
            </a:r>
          </a:p>
          <a:p>
            <a:r>
              <a:rPr lang="en-GB" dirty="0"/>
              <a:t>classification at every time step</a:t>
            </a:r>
          </a:p>
          <a:p>
            <a:r>
              <a:rPr lang="en-GB" dirty="0"/>
              <a:t>      ↓</a:t>
            </a:r>
          </a:p>
          <a:p>
            <a:r>
              <a:rPr lang="en-GB" dirty="0"/>
              <a:t>normal / warning / fault</a:t>
            </a:r>
          </a:p>
          <a:p>
            <a:endParaRPr lang="en-GB" dirty="0"/>
          </a:p>
        </p:txBody>
      </p:sp>
      <p:sp>
        <p:nvSpPr>
          <p:cNvPr id="5" name="CasellaDiTesto 4">
            <a:extLst>
              <a:ext uri="{FF2B5EF4-FFF2-40B4-BE49-F238E27FC236}">
                <a16:creationId xmlns:a16="http://schemas.microsoft.com/office/drawing/2014/main" id="{556E7003-766F-ACFB-A9DB-010E16FE18FC}"/>
              </a:ext>
            </a:extLst>
          </p:cNvPr>
          <p:cNvSpPr txBox="1"/>
          <p:nvPr/>
        </p:nvSpPr>
        <p:spPr>
          <a:xfrm>
            <a:off x="4607368" y="3623921"/>
            <a:ext cx="6108700" cy="954107"/>
          </a:xfrm>
          <a:prstGeom prst="rect">
            <a:avLst/>
          </a:prstGeom>
          <a:noFill/>
        </p:spPr>
        <p:txBody>
          <a:bodyPr wrap="square">
            <a:spAutoFit/>
          </a:bodyPr>
          <a:lstStyle/>
          <a:p>
            <a:r>
              <a:rPr lang="en-GB" sz="1400" b="1" dirty="0"/>
              <a:t>Causal version</a:t>
            </a:r>
          </a:p>
          <a:p>
            <a:r>
              <a:rPr lang="en-GB" sz="1400" dirty="0"/>
              <a:t>Prediction at t uses only: x[1], ..., x[t]</a:t>
            </a:r>
          </a:p>
          <a:p>
            <a:r>
              <a:rPr lang="en-GB" sz="1400" b="1" dirty="0"/>
              <a:t>Non-causal version</a:t>
            </a:r>
          </a:p>
          <a:p>
            <a:r>
              <a:rPr lang="en-GB" sz="1400" dirty="0"/>
              <a:t>Can be used when the complete sequence is available offline.</a:t>
            </a:r>
          </a:p>
        </p:txBody>
      </p:sp>
    </p:spTree>
    <p:extLst>
      <p:ext uri="{BB962C8B-B14F-4D97-AF65-F5344CB8AC3E}">
        <p14:creationId xmlns:p14="http://schemas.microsoft.com/office/powerpoint/2010/main" val="277516024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B191A68-185D-ADD8-F0D7-534DAFA87406}"/>
              </a:ext>
            </a:extLst>
          </p:cNvPr>
          <p:cNvSpPr>
            <a:spLocks noGrp="1"/>
          </p:cNvSpPr>
          <p:nvPr>
            <p:ph type="title"/>
          </p:nvPr>
        </p:nvSpPr>
        <p:spPr>
          <a:xfrm>
            <a:off x="690034" y="381000"/>
            <a:ext cx="8596668" cy="1320800"/>
          </a:xfrm>
        </p:spPr>
        <p:txBody>
          <a:bodyPr/>
          <a:lstStyle/>
          <a:p>
            <a:r>
              <a:rPr lang="en-GB" dirty="0"/>
              <a:t>TCN for forecasting</a:t>
            </a:r>
          </a:p>
        </p:txBody>
      </p:sp>
      <p:sp>
        <p:nvSpPr>
          <p:cNvPr id="3" name="Segnaposto contenuto 2">
            <a:extLst>
              <a:ext uri="{FF2B5EF4-FFF2-40B4-BE49-F238E27FC236}">
                <a16:creationId xmlns:a16="http://schemas.microsoft.com/office/drawing/2014/main" id="{C540012E-326C-94BC-FF7F-F28E3FA890C1}"/>
              </a:ext>
            </a:extLst>
          </p:cNvPr>
          <p:cNvSpPr>
            <a:spLocks noGrp="1"/>
          </p:cNvSpPr>
          <p:nvPr>
            <p:ph sz="half" idx="1"/>
          </p:nvPr>
        </p:nvSpPr>
        <p:spPr>
          <a:xfrm>
            <a:off x="309034" y="1270000"/>
            <a:ext cx="5304366" cy="5372100"/>
          </a:xfrm>
        </p:spPr>
        <p:txBody>
          <a:bodyPr>
            <a:normAutofit fontScale="85000" lnSpcReduction="20000"/>
          </a:bodyPr>
          <a:lstStyle/>
          <a:p>
            <a:r>
              <a:rPr lang="en-GB" b="1" dirty="0"/>
              <a:t>One-step forecasting</a:t>
            </a:r>
          </a:p>
          <a:p>
            <a:r>
              <a:rPr lang="en-GB" dirty="0"/>
              <a:t>history</a:t>
            </a:r>
          </a:p>
          <a:p>
            <a:r>
              <a:rPr lang="en-GB" dirty="0"/>
              <a:t>  ↓</a:t>
            </a:r>
          </a:p>
          <a:p>
            <a:r>
              <a:rPr lang="en-GB" dirty="0"/>
              <a:t>causal TCN</a:t>
            </a:r>
          </a:p>
          <a:p>
            <a:r>
              <a:rPr lang="en-GB" dirty="0"/>
              <a:t>  ↓</a:t>
            </a:r>
          </a:p>
          <a:p>
            <a:r>
              <a:rPr lang="en-GB" dirty="0"/>
              <a:t>representation at time t</a:t>
            </a:r>
          </a:p>
          <a:p>
            <a:r>
              <a:rPr lang="en-GB" dirty="0"/>
              <a:t>  ↓</a:t>
            </a:r>
          </a:p>
          <a:p>
            <a:r>
              <a:rPr lang="en-GB" dirty="0" err="1"/>
              <a:t>y_hat</a:t>
            </a:r>
            <a:r>
              <a:rPr lang="en-GB" dirty="0"/>
              <a:t>[t+1]</a:t>
            </a:r>
          </a:p>
          <a:p>
            <a:endParaRPr lang="en-GB" b="1" dirty="0"/>
          </a:p>
          <a:p>
            <a:r>
              <a:rPr lang="en-GB" b="1" dirty="0"/>
              <a:t>Direct multi-horizon forecasting</a:t>
            </a:r>
          </a:p>
          <a:p>
            <a:r>
              <a:rPr lang="en-GB" dirty="0"/>
              <a:t>history</a:t>
            </a:r>
          </a:p>
          <a:p>
            <a:r>
              <a:rPr lang="en-GB" dirty="0"/>
              <a:t>  ↓</a:t>
            </a:r>
          </a:p>
          <a:p>
            <a:r>
              <a:rPr lang="en-GB" dirty="0"/>
              <a:t>causal TCN</a:t>
            </a:r>
          </a:p>
          <a:p>
            <a:r>
              <a:rPr lang="en-GB" dirty="0"/>
              <a:t>  ↓</a:t>
            </a:r>
          </a:p>
          <a:p>
            <a:r>
              <a:rPr lang="en-GB" dirty="0"/>
              <a:t>representation</a:t>
            </a:r>
          </a:p>
          <a:p>
            <a:r>
              <a:rPr lang="en-GB" dirty="0"/>
              <a:t>  ↓</a:t>
            </a:r>
          </a:p>
          <a:p>
            <a:r>
              <a:rPr lang="en-GB" dirty="0"/>
              <a:t>[</a:t>
            </a:r>
            <a:r>
              <a:rPr lang="en-GB" dirty="0" err="1"/>
              <a:t>y_hat</a:t>
            </a:r>
            <a:r>
              <a:rPr lang="en-GB" dirty="0"/>
              <a:t>[t+1], ..., </a:t>
            </a:r>
            <a:r>
              <a:rPr lang="en-GB" dirty="0" err="1"/>
              <a:t>y_hat</a:t>
            </a:r>
            <a:r>
              <a:rPr lang="en-GB" dirty="0"/>
              <a:t>[</a:t>
            </a:r>
            <a:r>
              <a:rPr lang="en-GB" dirty="0" err="1"/>
              <a:t>t+H</a:t>
            </a:r>
            <a:r>
              <a:rPr lang="en-GB" dirty="0"/>
              <a:t>]]</a:t>
            </a:r>
          </a:p>
        </p:txBody>
      </p:sp>
      <p:sp>
        <p:nvSpPr>
          <p:cNvPr id="4" name="Segnaposto contenuto 3">
            <a:extLst>
              <a:ext uri="{FF2B5EF4-FFF2-40B4-BE49-F238E27FC236}">
                <a16:creationId xmlns:a16="http://schemas.microsoft.com/office/drawing/2014/main" id="{44A5AEBF-6F70-08B8-036F-A5B18693DE37}"/>
              </a:ext>
            </a:extLst>
          </p:cNvPr>
          <p:cNvSpPr>
            <a:spLocks noGrp="1"/>
          </p:cNvSpPr>
          <p:nvPr>
            <p:ph sz="half" idx="2"/>
          </p:nvPr>
        </p:nvSpPr>
        <p:spPr>
          <a:xfrm>
            <a:off x="6283770" y="2231563"/>
            <a:ext cx="4184034" cy="3880773"/>
          </a:xfrm>
        </p:spPr>
        <p:txBody>
          <a:bodyPr>
            <a:normAutofit fontScale="85000" lnSpcReduction="20000"/>
          </a:bodyPr>
          <a:lstStyle/>
          <a:p>
            <a:r>
              <a:rPr lang="en-GB" b="1" dirty="0"/>
              <a:t>Obvious</a:t>
            </a:r>
          </a:p>
          <a:p>
            <a:r>
              <a:rPr lang="en-GB" dirty="0"/>
              <a:t>The receptive field should cover the historical context expected to influence the forecast.</a:t>
            </a:r>
          </a:p>
          <a:p>
            <a:endParaRPr lang="en-GB" b="1" dirty="0"/>
          </a:p>
          <a:p>
            <a:r>
              <a:rPr lang="en-GB" b="1" dirty="0"/>
              <a:t>Evaluation does not change</a:t>
            </a:r>
          </a:p>
          <a:p>
            <a:r>
              <a:rPr lang="en-GB" dirty="0"/>
              <a:t>Compare against:</a:t>
            </a:r>
          </a:p>
          <a:p>
            <a:pPr lvl="1"/>
            <a:r>
              <a:rPr lang="en-GB" dirty="0"/>
              <a:t>persistence; </a:t>
            </a:r>
          </a:p>
          <a:p>
            <a:pPr lvl="1"/>
            <a:r>
              <a:rPr lang="en-GB" dirty="0"/>
              <a:t>seasonal naïve; </a:t>
            </a:r>
          </a:p>
          <a:p>
            <a:pPr lvl="1"/>
            <a:r>
              <a:rPr lang="en-GB" dirty="0"/>
              <a:t>linear lag models; </a:t>
            </a:r>
          </a:p>
          <a:p>
            <a:pPr lvl="1"/>
            <a:r>
              <a:rPr lang="en-GB" dirty="0"/>
              <a:t>boosting; </a:t>
            </a:r>
          </a:p>
          <a:p>
            <a:pPr lvl="1"/>
            <a:r>
              <a:rPr lang="en-GB" dirty="0"/>
              <a:t>recurrent models. </a:t>
            </a:r>
          </a:p>
          <a:p>
            <a:endParaRPr lang="en-GB" dirty="0"/>
          </a:p>
        </p:txBody>
      </p:sp>
      <p:sp>
        <p:nvSpPr>
          <p:cNvPr id="6" name="CasellaDiTesto 5">
            <a:extLst>
              <a:ext uri="{FF2B5EF4-FFF2-40B4-BE49-F238E27FC236}">
                <a16:creationId xmlns:a16="http://schemas.microsoft.com/office/drawing/2014/main" id="{7B826211-B027-6666-ECE1-57F942713BE8}"/>
              </a:ext>
            </a:extLst>
          </p:cNvPr>
          <p:cNvSpPr txBox="1"/>
          <p:nvPr/>
        </p:nvSpPr>
        <p:spPr>
          <a:xfrm>
            <a:off x="5613400" y="623669"/>
            <a:ext cx="6108700" cy="646331"/>
          </a:xfrm>
          <a:prstGeom prst="rect">
            <a:avLst/>
          </a:prstGeom>
          <a:noFill/>
        </p:spPr>
        <p:txBody>
          <a:bodyPr wrap="square">
            <a:spAutoFit/>
          </a:bodyPr>
          <a:lstStyle/>
          <a:p>
            <a:r>
              <a:rPr lang="en-GB" sz="1800" dirty="0"/>
              <a:t>A causal TCN can transform a historical sequence into a representation used for forecasting.</a:t>
            </a:r>
          </a:p>
        </p:txBody>
      </p:sp>
    </p:spTree>
    <p:extLst>
      <p:ext uri="{BB962C8B-B14F-4D97-AF65-F5344CB8AC3E}">
        <p14:creationId xmlns:p14="http://schemas.microsoft.com/office/powerpoint/2010/main" val="4204820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C9A020F-1D04-CB28-F04F-5B7BFA42B6D2}"/>
              </a:ext>
            </a:extLst>
          </p:cNvPr>
          <p:cNvSpPr>
            <a:spLocks noGrp="1"/>
          </p:cNvSpPr>
          <p:nvPr>
            <p:ph type="title"/>
          </p:nvPr>
        </p:nvSpPr>
        <p:spPr/>
        <p:txBody>
          <a:bodyPr/>
          <a:lstStyle/>
          <a:p>
            <a:r>
              <a:rPr lang="en-GB" dirty="0"/>
              <a:t>TCN for sequence classification</a:t>
            </a:r>
          </a:p>
        </p:txBody>
      </p:sp>
      <p:sp>
        <p:nvSpPr>
          <p:cNvPr id="3" name="Segnaposto contenuto 2">
            <a:extLst>
              <a:ext uri="{FF2B5EF4-FFF2-40B4-BE49-F238E27FC236}">
                <a16:creationId xmlns:a16="http://schemas.microsoft.com/office/drawing/2014/main" id="{2E293FAF-07F4-CC05-635B-A66BF76A8354}"/>
              </a:ext>
            </a:extLst>
          </p:cNvPr>
          <p:cNvSpPr>
            <a:spLocks noGrp="1"/>
          </p:cNvSpPr>
          <p:nvPr>
            <p:ph sz="half" idx="1"/>
          </p:nvPr>
        </p:nvSpPr>
        <p:spPr/>
        <p:txBody>
          <a:bodyPr>
            <a:normAutofit fontScale="70000" lnSpcReduction="20000"/>
          </a:bodyPr>
          <a:lstStyle/>
          <a:p>
            <a:r>
              <a:rPr lang="en-GB" dirty="0"/>
              <a:t>For classification of a complete window:</a:t>
            </a:r>
          </a:p>
          <a:p>
            <a:r>
              <a:rPr lang="en-GB" dirty="0"/>
              <a:t>input window</a:t>
            </a:r>
          </a:p>
          <a:p>
            <a:r>
              <a:rPr lang="en-GB" dirty="0"/>
              <a:t>    ↓</a:t>
            </a:r>
          </a:p>
          <a:p>
            <a:r>
              <a:rPr lang="en-GB" dirty="0"/>
              <a:t>temporal convolution blocks</a:t>
            </a:r>
          </a:p>
          <a:p>
            <a:r>
              <a:rPr lang="en-GB" dirty="0"/>
              <a:t>    ↓</a:t>
            </a:r>
          </a:p>
          <a:p>
            <a:r>
              <a:rPr lang="en-GB" dirty="0"/>
              <a:t>feature maps</a:t>
            </a:r>
          </a:p>
          <a:p>
            <a:r>
              <a:rPr lang="en-GB" dirty="0"/>
              <a:t>    ↓</a:t>
            </a:r>
          </a:p>
          <a:p>
            <a:r>
              <a:rPr lang="en-GB" dirty="0"/>
              <a:t>global pooling</a:t>
            </a:r>
          </a:p>
          <a:p>
            <a:r>
              <a:rPr lang="en-GB" dirty="0"/>
              <a:t>    ↓</a:t>
            </a:r>
          </a:p>
          <a:p>
            <a:r>
              <a:rPr lang="en-GB" dirty="0"/>
              <a:t>fixed-size vector</a:t>
            </a:r>
          </a:p>
          <a:p>
            <a:r>
              <a:rPr lang="en-GB" dirty="0"/>
              <a:t>    ↓</a:t>
            </a:r>
          </a:p>
          <a:p>
            <a:r>
              <a:rPr lang="en-GB" dirty="0"/>
              <a:t>classifier</a:t>
            </a:r>
          </a:p>
          <a:p>
            <a:br>
              <a:rPr lang="en-GB" dirty="0"/>
            </a:br>
            <a:endParaRPr lang="en-GB" dirty="0"/>
          </a:p>
          <a:p>
            <a:endParaRPr lang="en-GB" dirty="0"/>
          </a:p>
        </p:txBody>
      </p:sp>
      <p:sp>
        <p:nvSpPr>
          <p:cNvPr id="4" name="Segnaposto contenuto 3">
            <a:extLst>
              <a:ext uri="{FF2B5EF4-FFF2-40B4-BE49-F238E27FC236}">
                <a16:creationId xmlns:a16="http://schemas.microsoft.com/office/drawing/2014/main" id="{547FEBD2-CEA8-2988-6C0D-826921B70A44}"/>
              </a:ext>
            </a:extLst>
          </p:cNvPr>
          <p:cNvSpPr>
            <a:spLocks noGrp="1"/>
          </p:cNvSpPr>
          <p:nvPr>
            <p:ph sz="half" idx="2"/>
          </p:nvPr>
        </p:nvSpPr>
        <p:spPr>
          <a:xfrm>
            <a:off x="5242370" y="2149479"/>
            <a:ext cx="6272296" cy="4416422"/>
          </a:xfrm>
        </p:spPr>
        <p:txBody>
          <a:bodyPr>
            <a:normAutofit fontScale="70000" lnSpcReduction="20000"/>
          </a:bodyPr>
          <a:lstStyle/>
          <a:p>
            <a:r>
              <a:rPr lang="en-GB" sz="2300" b="1" dirty="0"/>
              <a:t>Causality may not be necessary</a:t>
            </a:r>
          </a:p>
          <a:p>
            <a:r>
              <a:rPr lang="en-GB" sz="2300" dirty="0"/>
              <a:t>If the complete window is available before classification, the model may use:</a:t>
            </a:r>
          </a:p>
          <a:p>
            <a:pPr lvl="1"/>
            <a:r>
              <a:rPr lang="en-GB" sz="2000" dirty="0"/>
              <a:t>causal convolution; </a:t>
            </a:r>
          </a:p>
          <a:p>
            <a:pPr lvl="1"/>
            <a:r>
              <a:rPr lang="en-GB" sz="2000" dirty="0"/>
              <a:t>non-causal convolution. </a:t>
            </a:r>
          </a:p>
          <a:p>
            <a:r>
              <a:rPr lang="en-GB" sz="2300" b="1" dirty="0"/>
              <a:t>The architecture should follow the deployment condition, not a general preference for causal models.</a:t>
            </a:r>
          </a:p>
          <a:p>
            <a:endParaRPr lang="en-GB" sz="2300" b="1" dirty="0"/>
          </a:p>
          <a:p>
            <a:r>
              <a:rPr lang="en-GB" sz="2300" b="1" dirty="0">
                <a:highlight>
                  <a:srgbClr val="FFFF00"/>
                </a:highlight>
              </a:rPr>
              <a:t>Example</a:t>
            </a:r>
          </a:p>
          <a:p>
            <a:r>
              <a:rPr lang="en-GB" sz="2300" dirty="0"/>
              <a:t>Classify a completed machine cycle as:</a:t>
            </a:r>
          </a:p>
          <a:p>
            <a:pPr lvl="1"/>
            <a:r>
              <a:rPr lang="en-GB" sz="2000" dirty="0"/>
              <a:t>normal; </a:t>
            </a:r>
          </a:p>
          <a:p>
            <a:pPr lvl="1"/>
            <a:r>
              <a:rPr lang="en-GB" sz="2000" dirty="0"/>
              <a:t>imbalance; </a:t>
            </a:r>
          </a:p>
          <a:p>
            <a:pPr lvl="1"/>
            <a:r>
              <a:rPr lang="en-GB" sz="2000" dirty="0"/>
              <a:t>bearing fault; </a:t>
            </a:r>
          </a:p>
          <a:p>
            <a:pPr lvl="1"/>
            <a:r>
              <a:rPr lang="en-GB" sz="2000" dirty="0"/>
              <a:t>misalignment. </a:t>
            </a:r>
          </a:p>
          <a:p>
            <a:pPr marL="0" indent="0">
              <a:buNone/>
            </a:pPr>
            <a:endParaRPr lang="en-GB" sz="2300" b="1" dirty="0"/>
          </a:p>
          <a:p>
            <a:endParaRPr lang="en-GB" dirty="0"/>
          </a:p>
        </p:txBody>
      </p:sp>
    </p:spTree>
    <p:extLst>
      <p:ext uri="{BB962C8B-B14F-4D97-AF65-F5344CB8AC3E}">
        <p14:creationId xmlns:p14="http://schemas.microsoft.com/office/powerpoint/2010/main" val="245215905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104120" y="0"/>
            <a:ext cx="1828800" cy="6858000"/>
          </a:xfrm>
          <a:prstGeom prst="parallelogram">
            <a:avLst/>
          </a:prstGeom>
          <a:solidFill>
            <a:srgbClr val="86B817">
              <a:alpha val="92000"/>
            </a:srgbClr>
          </a:solidFill>
          <a:ln w="12700">
            <a:solidFill>
              <a:srgbClr val="86B817">
                <a:alpha val="0"/>
              </a:srgbClr>
            </a:solidFill>
            <a:prstDash val="solid"/>
          </a:ln>
        </p:spPr>
        <p:txBody>
          <a:bodyPr/>
          <a:lstStyle/>
          <a:p>
            <a:endParaRPr lang="en-GB"/>
          </a:p>
        </p:txBody>
      </p:sp>
      <p:sp>
        <p:nvSpPr>
          <p:cNvPr id="3" name="Shape 1"/>
          <p:cNvSpPr/>
          <p:nvPr/>
        </p:nvSpPr>
        <p:spPr>
          <a:xfrm>
            <a:off x="10835640" y="0"/>
            <a:ext cx="1188720" cy="6858000"/>
          </a:xfrm>
          <a:prstGeom prst="parallelogram">
            <a:avLst/>
          </a:prstGeom>
          <a:solidFill>
            <a:srgbClr val="5F8E2F">
              <a:alpha val="80000"/>
            </a:srgbClr>
          </a:solidFill>
          <a:ln w="12700">
            <a:solidFill>
              <a:srgbClr val="5F8E2F">
                <a:alpha val="0"/>
              </a:srgbClr>
            </a:solidFill>
            <a:prstDash val="solid"/>
          </a:ln>
        </p:spPr>
        <p:txBody>
          <a:bodyPr/>
          <a:lstStyle/>
          <a:p>
            <a:endParaRPr lang="en-GB"/>
          </a:p>
        </p:txBody>
      </p:sp>
      <p:sp>
        <p:nvSpPr>
          <p:cNvPr id="4" name="Shape 2"/>
          <p:cNvSpPr/>
          <p:nvPr/>
        </p:nvSpPr>
        <p:spPr>
          <a:xfrm>
            <a:off x="9372600" y="0"/>
            <a:ext cx="1143000" cy="6858000"/>
          </a:xfrm>
          <a:prstGeom prst="parallelogram">
            <a:avLst/>
          </a:prstGeom>
          <a:solidFill>
            <a:srgbClr val="A6CE39">
              <a:alpha val="40000"/>
            </a:srgbClr>
          </a:solidFill>
          <a:ln w="12700">
            <a:solidFill>
              <a:srgbClr val="A6CE39">
                <a:alpha val="0"/>
              </a:srgbClr>
            </a:solidFill>
            <a:prstDash val="solid"/>
          </a:ln>
        </p:spPr>
        <p:txBody>
          <a:bodyPr/>
          <a:lstStyle/>
          <a:p>
            <a:endParaRPr lang="en-GB"/>
          </a:p>
        </p:txBody>
      </p:sp>
      <p:sp>
        <p:nvSpPr>
          <p:cNvPr id="5" name="Shape 3"/>
          <p:cNvSpPr/>
          <p:nvPr/>
        </p:nvSpPr>
        <p:spPr>
          <a:xfrm>
            <a:off x="9281160" y="0"/>
            <a:ext cx="594360" cy="6858000"/>
          </a:xfrm>
          <a:prstGeom prst="line">
            <a:avLst/>
          </a:prstGeom>
          <a:noFill/>
          <a:ln w="12700">
            <a:solidFill>
              <a:srgbClr val="CBD5E1">
                <a:alpha val="75000"/>
              </a:srgbClr>
            </a:solidFill>
            <a:prstDash val="solid"/>
          </a:ln>
        </p:spPr>
        <p:txBody>
          <a:bodyPr/>
          <a:lstStyle/>
          <a:p>
            <a:endParaRPr lang="en-GB"/>
          </a:p>
        </p:txBody>
      </p:sp>
      <p:sp>
        <p:nvSpPr>
          <p:cNvPr id="6" name="Text 4"/>
          <p:cNvSpPr/>
          <p:nvPr/>
        </p:nvSpPr>
        <p:spPr>
          <a:xfrm>
            <a:off x="594360" y="347472"/>
            <a:ext cx="804672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TCNs support different temporal tasks</a:t>
            </a:r>
            <a:endParaRPr lang="en-US" sz="2800" dirty="0"/>
          </a:p>
        </p:txBody>
      </p:sp>
      <p:sp>
        <p:nvSpPr>
          <p:cNvPr id="7" name="Text 5"/>
          <p:cNvSpPr/>
          <p:nvPr/>
        </p:nvSpPr>
        <p:spPr>
          <a:xfrm>
            <a:off x="612648" y="868680"/>
            <a:ext cx="8046720" cy="320040"/>
          </a:xfrm>
          <a:prstGeom prst="rect">
            <a:avLst/>
          </a:prstGeom>
          <a:noFill/>
          <a:ln/>
        </p:spPr>
        <p:txBody>
          <a:bodyPr wrap="square" lIns="0" tIns="0" rIns="0" bIns="0" rtlCol="0" anchor="ctr"/>
          <a:lstStyle/>
          <a:p>
            <a:pPr marL="0" indent="0">
              <a:buNone/>
            </a:pPr>
            <a:r>
              <a:rPr lang="en-US" sz="1150" b="1" dirty="0">
                <a:solidFill>
                  <a:srgbClr val="475569"/>
                </a:solidFill>
              </a:rPr>
              <a:t>Same convolutional backbone, different output heads</a:t>
            </a:r>
            <a:endParaRPr lang="en-US" sz="1150" b="1" dirty="0"/>
          </a:p>
        </p:txBody>
      </p:sp>
      <p:sp>
        <p:nvSpPr>
          <p:cNvPr id="8" name="Shape 6"/>
          <p:cNvSpPr/>
          <p:nvPr/>
        </p:nvSpPr>
        <p:spPr>
          <a:xfrm>
            <a:off x="914400" y="2880360"/>
            <a:ext cx="1737360" cy="640080"/>
          </a:xfrm>
          <a:prstGeom prst="roundRect">
            <a:avLst>
              <a:gd name="adj" fmla="val 11429"/>
            </a:avLst>
          </a:prstGeom>
          <a:solidFill>
            <a:srgbClr val="F8FAFC"/>
          </a:solidFill>
          <a:ln w="13970">
            <a:solidFill>
              <a:srgbClr val="475569"/>
            </a:solidFill>
            <a:prstDash val="solid"/>
          </a:ln>
        </p:spPr>
        <p:txBody>
          <a:bodyPr/>
          <a:lstStyle/>
          <a:p>
            <a:endParaRPr lang="en-GB"/>
          </a:p>
        </p:txBody>
      </p:sp>
      <p:sp>
        <p:nvSpPr>
          <p:cNvPr id="9" name="Text 7"/>
          <p:cNvSpPr/>
          <p:nvPr/>
        </p:nvSpPr>
        <p:spPr>
          <a:xfrm>
            <a:off x="969264" y="2926080"/>
            <a:ext cx="1627632" cy="548640"/>
          </a:xfrm>
          <a:prstGeom prst="rect">
            <a:avLst/>
          </a:prstGeom>
          <a:noFill/>
          <a:ln/>
        </p:spPr>
        <p:txBody>
          <a:bodyPr wrap="square" lIns="0" tIns="0" rIns="0" bIns="0" rtlCol="0" anchor="ctr"/>
          <a:lstStyle/>
          <a:p>
            <a:pPr marL="0" indent="0" algn="ctr">
              <a:buNone/>
            </a:pPr>
            <a:r>
              <a:rPr lang="en-US" sz="1300" b="1" dirty="0">
                <a:solidFill>
                  <a:srgbClr val="111827"/>
                </a:solidFill>
              </a:rPr>
              <a:t>input</a:t>
            </a:r>
            <a:endParaRPr lang="en-US" sz="1300" dirty="0"/>
          </a:p>
          <a:p>
            <a:pPr marL="0" indent="0" algn="ctr">
              <a:buNone/>
            </a:pPr>
            <a:r>
              <a:rPr lang="en-US" sz="1300" b="1" dirty="0">
                <a:solidFill>
                  <a:srgbClr val="111827"/>
                </a:solidFill>
              </a:rPr>
              <a:t>sequence</a:t>
            </a:r>
            <a:endParaRPr lang="en-US" sz="1300" dirty="0"/>
          </a:p>
        </p:txBody>
      </p:sp>
      <p:sp>
        <p:nvSpPr>
          <p:cNvPr id="10" name="Shape 8"/>
          <p:cNvSpPr/>
          <p:nvPr/>
        </p:nvSpPr>
        <p:spPr>
          <a:xfrm>
            <a:off x="2651760" y="3200400"/>
            <a:ext cx="1005840" cy="0"/>
          </a:xfrm>
          <a:prstGeom prst="line">
            <a:avLst/>
          </a:prstGeom>
          <a:noFill/>
          <a:ln w="19050">
            <a:solidFill>
              <a:srgbClr val="475569"/>
            </a:solidFill>
            <a:prstDash val="solid"/>
            <a:headEnd type="none"/>
            <a:tailEnd type="triangle"/>
          </a:ln>
        </p:spPr>
        <p:txBody>
          <a:bodyPr/>
          <a:lstStyle/>
          <a:p>
            <a:endParaRPr lang="en-GB"/>
          </a:p>
        </p:txBody>
      </p:sp>
      <p:sp>
        <p:nvSpPr>
          <p:cNvPr id="11" name="Shape 9"/>
          <p:cNvSpPr/>
          <p:nvPr/>
        </p:nvSpPr>
        <p:spPr>
          <a:xfrm>
            <a:off x="3703320" y="2560320"/>
            <a:ext cx="1828800" cy="1280160"/>
          </a:xfrm>
          <a:prstGeom prst="roundRect">
            <a:avLst>
              <a:gd name="adj" fmla="val 5714"/>
            </a:avLst>
          </a:prstGeom>
          <a:solidFill>
            <a:srgbClr val="FFFFFF"/>
          </a:solidFill>
          <a:ln w="13970">
            <a:solidFill>
              <a:srgbClr val="86B817"/>
            </a:solidFill>
            <a:prstDash val="solid"/>
          </a:ln>
        </p:spPr>
        <p:txBody>
          <a:bodyPr/>
          <a:lstStyle/>
          <a:p>
            <a:endParaRPr lang="en-GB"/>
          </a:p>
        </p:txBody>
      </p:sp>
      <p:sp>
        <p:nvSpPr>
          <p:cNvPr id="12" name="Text 10"/>
          <p:cNvSpPr/>
          <p:nvPr/>
        </p:nvSpPr>
        <p:spPr>
          <a:xfrm>
            <a:off x="3758184" y="2606040"/>
            <a:ext cx="1719072" cy="1188720"/>
          </a:xfrm>
          <a:prstGeom prst="rect">
            <a:avLst/>
          </a:prstGeom>
          <a:noFill/>
          <a:ln/>
        </p:spPr>
        <p:txBody>
          <a:bodyPr wrap="square" lIns="0" tIns="0" rIns="0" bIns="0" rtlCol="0" anchor="ctr"/>
          <a:lstStyle/>
          <a:p>
            <a:pPr marL="0" indent="0" algn="ctr">
              <a:buNone/>
            </a:pPr>
            <a:r>
              <a:rPr lang="en-US" sz="1300" b="1" dirty="0">
                <a:solidFill>
                  <a:srgbClr val="111827"/>
                </a:solidFill>
              </a:rPr>
              <a:t>causal / non-causal</a:t>
            </a:r>
            <a:endParaRPr lang="en-US" sz="1300" dirty="0"/>
          </a:p>
          <a:p>
            <a:pPr marL="0" indent="0" algn="ctr">
              <a:buNone/>
            </a:pPr>
            <a:r>
              <a:rPr lang="en-US" sz="1300" b="1" dirty="0">
                <a:solidFill>
                  <a:srgbClr val="111827"/>
                </a:solidFill>
              </a:rPr>
              <a:t>TCN backbone</a:t>
            </a:r>
            <a:endParaRPr lang="en-US" sz="1300" dirty="0"/>
          </a:p>
        </p:txBody>
      </p:sp>
      <p:sp>
        <p:nvSpPr>
          <p:cNvPr id="13" name="Shape 11"/>
          <p:cNvSpPr/>
          <p:nvPr/>
        </p:nvSpPr>
        <p:spPr>
          <a:xfrm flipV="1">
            <a:off x="5532120" y="1581912"/>
            <a:ext cx="1152144" cy="1207008"/>
          </a:xfrm>
          <a:prstGeom prst="line">
            <a:avLst/>
          </a:prstGeom>
          <a:noFill/>
          <a:ln w="15240">
            <a:solidFill>
              <a:srgbClr val="475569"/>
            </a:solidFill>
            <a:prstDash val="solid"/>
            <a:headEnd type="none"/>
            <a:tailEnd type="triangle"/>
          </a:ln>
        </p:spPr>
        <p:txBody>
          <a:bodyPr/>
          <a:lstStyle/>
          <a:p>
            <a:endParaRPr lang="en-GB"/>
          </a:p>
        </p:txBody>
      </p:sp>
      <p:sp>
        <p:nvSpPr>
          <p:cNvPr id="14" name="Shape 12"/>
          <p:cNvSpPr/>
          <p:nvPr/>
        </p:nvSpPr>
        <p:spPr>
          <a:xfrm>
            <a:off x="6720840" y="1234440"/>
            <a:ext cx="2011680" cy="685800"/>
          </a:xfrm>
          <a:prstGeom prst="roundRect">
            <a:avLst>
              <a:gd name="adj" fmla="val 10667"/>
            </a:avLst>
          </a:prstGeom>
          <a:solidFill>
            <a:srgbClr val="FFFFFF"/>
          </a:solidFill>
          <a:ln w="13970">
            <a:solidFill>
              <a:srgbClr val="2B73FF"/>
            </a:solidFill>
            <a:prstDash val="solid"/>
          </a:ln>
        </p:spPr>
        <p:txBody>
          <a:bodyPr/>
          <a:lstStyle/>
          <a:p>
            <a:endParaRPr lang="en-GB"/>
          </a:p>
        </p:txBody>
      </p:sp>
      <p:sp>
        <p:nvSpPr>
          <p:cNvPr id="15" name="Text 13"/>
          <p:cNvSpPr/>
          <p:nvPr/>
        </p:nvSpPr>
        <p:spPr>
          <a:xfrm>
            <a:off x="6775704" y="1280160"/>
            <a:ext cx="1901952" cy="594360"/>
          </a:xfrm>
          <a:prstGeom prst="rect">
            <a:avLst/>
          </a:prstGeom>
          <a:noFill/>
          <a:ln/>
        </p:spPr>
        <p:txBody>
          <a:bodyPr wrap="square" lIns="0" tIns="0" rIns="0" bIns="0" rtlCol="0" anchor="ctr"/>
          <a:lstStyle/>
          <a:p>
            <a:pPr marL="0" indent="0" algn="ctr">
              <a:buNone/>
            </a:pPr>
            <a:r>
              <a:rPr lang="en-US" sz="1200" b="1" dirty="0">
                <a:solidFill>
                  <a:srgbClr val="2B73FF"/>
                </a:solidFill>
              </a:rPr>
              <a:t>sequence</a:t>
            </a:r>
            <a:endParaRPr lang="en-US" sz="1200" dirty="0"/>
          </a:p>
          <a:p>
            <a:pPr marL="0" indent="0" algn="ctr">
              <a:buNone/>
            </a:pPr>
            <a:r>
              <a:rPr lang="en-US" sz="1200" b="1" dirty="0">
                <a:solidFill>
                  <a:srgbClr val="2B73FF"/>
                </a:solidFill>
              </a:rPr>
              <a:t>classification</a:t>
            </a:r>
            <a:endParaRPr lang="en-US" sz="1200" dirty="0"/>
          </a:p>
        </p:txBody>
      </p:sp>
      <p:sp>
        <p:nvSpPr>
          <p:cNvPr id="16" name="Shape 14"/>
          <p:cNvSpPr/>
          <p:nvPr/>
        </p:nvSpPr>
        <p:spPr>
          <a:xfrm>
            <a:off x="5532120" y="3200400"/>
            <a:ext cx="1143000" cy="0"/>
          </a:xfrm>
          <a:prstGeom prst="line">
            <a:avLst/>
          </a:prstGeom>
          <a:noFill/>
          <a:ln w="15240">
            <a:solidFill>
              <a:srgbClr val="475569"/>
            </a:solidFill>
            <a:prstDash val="solid"/>
            <a:headEnd type="none"/>
            <a:tailEnd type="triangle"/>
          </a:ln>
        </p:spPr>
        <p:txBody>
          <a:bodyPr/>
          <a:lstStyle/>
          <a:p>
            <a:endParaRPr lang="en-GB"/>
          </a:p>
        </p:txBody>
      </p:sp>
      <p:sp>
        <p:nvSpPr>
          <p:cNvPr id="17" name="Shape 15"/>
          <p:cNvSpPr/>
          <p:nvPr/>
        </p:nvSpPr>
        <p:spPr>
          <a:xfrm>
            <a:off x="6720840" y="2880360"/>
            <a:ext cx="2011680" cy="685800"/>
          </a:xfrm>
          <a:prstGeom prst="roundRect">
            <a:avLst>
              <a:gd name="adj" fmla="val 10667"/>
            </a:avLst>
          </a:prstGeom>
          <a:solidFill>
            <a:srgbClr val="FFFFFF"/>
          </a:solidFill>
          <a:ln w="13970">
            <a:solidFill>
              <a:srgbClr val="F1B400"/>
            </a:solidFill>
            <a:prstDash val="solid"/>
          </a:ln>
        </p:spPr>
        <p:txBody>
          <a:bodyPr/>
          <a:lstStyle/>
          <a:p>
            <a:endParaRPr lang="en-GB"/>
          </a:p>
        </p:txBody>
      </p:sp>
      <p:sp>
        <p:nvSpPr>
          <p:cNvPr id="18" name="Text 16"/>
          <p:cNvSpPr/>
          <p:nvPr/>
        </p:nvSpPr>
        <p:spPr>
          <a:xfrm>
            <a:off x="6775704" y="2926080"/>
            <a:ext cx="1901952" cy="594360"/>
          </a:xfrm>
          <a:prstGeom prst="rect">
            <a:avLst/>
          </a:prstGeom>
          <a:noFill/>
          <a:ln/>
        </p:spPr>
        <p:txBody>
          <a:bodyPr wrap="square" lIns="0" tIns="0" rIns="0" bIns="0" rtlCol="0" anchor="ctr"/>
          <a:lstStyle/>
          <a:p>
            <a:pPr marL="0" indent="0" algn="ctr">
              <a:buNone/>
            </a:pPr>
            <a:r>
              <a:rPr lang="en-US" sz="1200" b="1" dirty="0">
                <a:solidFill>
                  <a:srgbClr val="F1B400"/>
                </a:solidFill>
              </a:rPr>
              <a:t>sequence</a:t>
            </a:r>
            <a:endParaRPr lang="en-US" sz="1200" dirty="0"/>
          </a:p>
          <a:p>
            <a:pPr marL="0" indent="0" algn="ctr">
              <a:buNone/>
            </a:pPr>
            <a:r>
              <a:rPr lang="en-US" sz="1200" b="1" dirty="0">
                <a:solidFill>
                  <a:srgbClr val="F1B400"/>
                </a:solidFill>
              </a:rPr>
              <a:t>labelling</a:t>
            </a:r>
            <a:endParaRPr lang="en-US" sz="1200" dirty="0"/>
          </a:p>
        </p:txBody>
      </p:sp>
      <p:sp>
        <p:nvSpPr>
          <p:cNvPr id="19" name="Shape 17"/>
          <p:cNvSpPr/>
          <p:nvPr/>
        </p:nvSpPr>
        <p:spPr>
          <a:xfrm>
            <a:off x="5532120" y="3611880"/>
            <a:ext cx="1143000" cy="1234440"/>
          </a:xfrm>
          <a:prstGeom prst="line">
            <a:avLst/>
          </a:prstGeom>
          <a:noFill/>
          <a:ln w="15240">
            <a:solidFill>
              <a:srgbClr val="475569"/>
            </a:solidFill>
            <a:prstDash val="solid"/>
            <a:headEnd type="none"/>
            <a:tailEnd type="triangle"/>
          </a:ln>
        </p:spPr>
        <p:txBody>
          <a:bodyPr/>
          <a:lstStyle/>
          <a:p>
            <a:endParaRPr lang="en-GB"/>
          </a:p>
        </p:txBody>
      </p:sp>
      <p:sp>
        <p:nvSpPr>
          <p:cNvPr id="20" name="Shape 18"/>
          <p:cNvSpPr/>
          <p:nvPr/>
        </p:nvSpPr>
        <p:spPr>
          <a:xfrm>
            <a:off x="6720840" y="4526280"/>
            <a:ext cx="2011680" cy="685800"/>
          </a:xfrm>
          <a:prstGeom prst="roundRect">
            <a:avLst>
              <a:gd name="adj" fmla="val 10667"/>
            </a:avLst>
          </a:prstGeom>
          <a:solidFill>
            <a:srgbClr val="FFFFFF"/>
          </a:solidFill>
          <a:ln w="13970">
            <a:solidFill>
              <a:srgbClr val="7C3AED"/>
            </a:solidFill>
            <a:prstDash val="solid"/>
          </a:ln>
        </p:spPr>
        <p:txBody>
          <a:bodyPr/>
          <a:lstStyle/>
          <a:p>
            <a:endParaRPr lang="en-GB"/>
          </a:p>
        </p:txBody>
      </p:sp>
      <p:sp>
        <p:nvSpPr>
          <p:cNvPr id="21" name="Text 19"/>
          <p:cNvSpPr/>
          <p:nvPr/>
        </p:nvSpPr>
        <p:spPr>
          <a:xfrm>
            <a:off x="6775704" y="4572000"/>
            <a:ext cx="1901952" cy="594360"/>
          </a:xfrm>
          <a:prstGeom prst="rect">
            <a:avLst/>
          </a:prstGeom>
          <a:noFill/>
          <a:ln/>
        </p:spPr>
        <p:txBody>
          <a:bodyPr wrap="square" lIns="0" tIns="0" rIns="0" bIns="0" rtlCol="0" anchor="ctr"/>
          <a:lstStyle/>
          <a:p>
            <a:pPr marL="0" indent="0" algn="ctr">
              <a:buNone/>
            </a:pPr>
            <a:r>
              <a:rPr lang="en-US" sz="1200" b="1" dirty="0">
                <a:solidFill>
                  <a:srgbClr val="7C3AED"/>
                </a:solidFill>
              </a:rPr>
              <a:t>forecasting</a:t>
            </a:r>
            <a:endParaRPr lang="en-US" sz="1200" dirty="0"/>
          </a:p>
        </p:txBody>
      </p:sp>
      <p:sp>
        <p:nvSpPr>
          <p:cNvPr id="22" name="Text 20"/>
          <p:cNvSpPr/>
          <p:nvPr/>
        </p:nvSpPr>
        <p:spPr>
          <a:xfrm>
            <a:off x="914400" y="5577840"/>
            <a:ext cx="7863840" cy="365760"/>
          </a:xfrm>
          <a:prstGeom prst="rect">
            <a:avLst/>
          </a:prstGeom>
          <a:noFill/>
          <a:ln/>
        </p:spPr>
        <p:txBody>
          <a:bodyPr wrap="square" lIns="0" tIns="0" rIns="0" bIns="0" rtlCol="0" anchor="ctr"/>
          <a:lstStyle/>
          <a:p>
            <a:pPr marL="0" indent="0">
              <a:buNone/>
            </a:pPr>
            <a:r>
              <a:rPr lang="en-US" sz="1350" dirty="0">
                <a:solidFill>
                  <a:srgbClr val="475569"/>
                </a:solidFill>
              </a:rPr>
              <a:t>Use global pooling for one label; preserve temporal length for labels at every time step; use causal representation for forecasts.</a:t>
            </a:r>
            <a:endParaRPr lang="en-US" sz="1350" dirty="0"/>
          </a:p>
        </p:txBody>
      </p:sp>
      <p:sp>
        <p:nvSpPr>
          <p:cNvPr id="23" name="Text 21"/>
          <p:cNvSpPr/>
          <p:nvPr/>
        </p:nvSpPr>
        <p:spPr>
          <a:xfrm>
            <a:off x="685800" y="6263640"/>
            <a:ext cx="7955280" cy="292608"/>
          </a:xfrm>
          <a:prstGeom prst="rect">
            <a:avLst/>
          </a:prstGeom>
          <a:noFill/>
          <a:ln/>
        </p:spPr>
        <p:txBody>
          <a:bodyPr wrap="square" lIns="381" tIns="381" rIns="381" bIns="381" rtlCol="0" anchor="ctr"/>
          <a:lstStyle/>
          <a:p>
            <a:pPr marL="0" indent="0">
              <a:buNone/>
            </a:pPr>
            <a:r>
              <a:rPr lang="en-US" sz="1150" i="1" dirty="0">
                <a:solidFill>
                  <a:srgbClr val="475569"/>
                </a:solidFill>
              </a:rPr>
              <a:t>The task determines causality, temporal resolution, pooling strategy and output head.</a:t>
            </a:r>
            <a:endParaRPr lang="en-US" sz="1150" dirty="0"/>
          </a:p>
        </p:txBody>
      </p:sp>
      <p:sp>
        <p:nvSpPr>
          <p:cNvPr id="25" name="CasellaDiTesto 24">
            <a:extLst>
              <a:ext uri="{FF2B5EF4-FFF2-40B4-BE49-F238E27FC236}">
                <a16:creationId xmlns:a16="http://schemas.microsoft.com/office/drawing/2014/main" id="{2DA6C898-E162-B194-8601-49A8BFA118CB}"/>
              </a:ext>
            </a:extLst>
          </p:cNvPr>
          <p:cNvSpPr txBox="1"/>
          <p:nvPr/>
        </p:nvSpPr>
        <p:spPr>
          <a:xfrm>
            <a:off x="8434070" y="5987308"/>
            <a:ext cx="3498850" cy="523220"/>
          </a:xfrm>
          <a:prstGeom prst="rect">
            <a:avLst/>
          </a:prstGeom>
          <a:noFill/>
        </p:spPr>
        <p:txBody>
          <a:bodyPr wrap="square">
            <a:spAutoFit/>
          </a:bodyPr>
          <a:lstStyle/>
          <a:p>
            <a:r>
              <a:rPr lang="en-GB" sz="1400" dirty="0"/>
              <a:t>Evaluation and comparison with other methods does not change</a:t>
            </a: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4DED480-2895-CCFF-B244-02FC56601530}"/>
              </a:ext>
            </a:extLst>
          </p:cNvPr>
          <p:cNvSpPr>
            <a:spLocks noGrp="1"/>
          </p:cNvSpPr>
          <p:nvPr>
            <p:ph type="title"/>
          </p:nvPr>
        </p:nvSpPr>
        <p:spPr/>
        <p:txBody>
          <a:bodyPr/>
          <a:lstStyle/>
          <a:p>
            <a:r>
              <a:rPr lang="en-GB" b="1" dirty="0"/>
              <a:t>TCN versus a standard temporal CNN</a:t>
            </a:r>
            <a:br>
              <a:rPr lang="en-GB" b="1" dirty="0"/>
            </a:br>
            <a:endParaRPr lang="en-GB" dirty="0"/>
          </a:p>
        </p:txBody>
      </p:sp>
      <p:sp>
        <p:nvSpPr>
          <p:cNvPr id="3" name="Segnaposto contenuto 2">
            <a:extLst>
              <a:ext uri="{FF2B5EF4-FFF2-40B4-BE49-F238E27FC236}">
                <a16:creationId xmlns:a16="http://schemas.microsoft.com/office/drawing/2014/main" id="{9226A73C-70B0-43B3-7A98-0209652D82FB}"/>
              </a:ext>
            </a:extLst>
          </p:cNvPr>
          <p:cNvSpPr>
            <a:spLocks noGrp="1"/>
          </p:cNvSpPr>
          <p:nvPr>
            <p:ph sz="half" idx="1"/>
          </p:nvPr>
        </p:nvSpPr>
        <p:spPr/>
        <p:txBody>
          <a:bodyPr>
            <a:normAutofit fontScale="92500" lnSpcReduction="20000"/>
          </a:bodyPr>
          <a:lstStyle/>
          <a:p>
            <a:r>
              <a:rPr lang="en-GB" dirty="0"/>
              <a:t>A standard temporal CNN may use:</a:t>
            </a:r>
          </a:p>
          <a:p>
            <a:pPr lvl="1"/>
            <a:r>
              <a:rPr lang="en-GB" dirty="0"/>
              <a:t>ordinary convolution; </a:t>
            </a:r>
          </a:p>
          <a:p>
            <a:pPr lvl="1"/>
            <a:r>
              <a:rPr lang="en-GB" dirty="0"/>
              <a:t>pooling; </a:t>
            </a:r>
          </a:p>
          <a:p>
            <a:pPr lvl="1"/>
            <a:r>
              <a:rPr lang="en-GB" dirty="0"/>
              <a:t>stride; </a:t>
            </a:r>
          </a:p>
          <a:p>
            <a:pPr lvl="1"/>
            <a:r>
              <a:rPr lang="en-GB" dirty="0"/>
              <a:t>non-causal padding. </a:t>
            </a:r>
          </a:p>
          <a:p>
            <a:endParaRPr lang="en-GB" dirty="0"/>
          </a:p>
          <a:p>
            <a:r>
              <a:rPr lang="en-GB" dirty="0">
                <a:highlight>
                  <a:srgbClr val="FFFF00"/>
                </a:highlight>
              </a:rPr>
              <a:t>A TCN generally emphasizes:</a:t>
            </a:r>
          </a:p>
          <a:p>
            <a:pPr lvl="1"/>
            <a:r>
              <a:rPr lang="en-GB" dirty="0"/>
              <a:t>causal convolution; </a:t>
            </a:r>
          </a:p>
          <a:p>
            <a:pPr lvl="1"/>
            <a:r>
              <a:rPr lang="en-GB" dirty="0"/>
              <a:t>dilation; </a:t>
            </a:r>
          </a:p>
          <a:p>
            <a:pPr lvl="1"/>
            <a:r>
              <a:rPr lang="en-GB" dirty="0"/>
              <a:t>preserved temporal resolution; </a:t>
            </a:r>
          </a:p>
          <a:p>
            <a:pPr lvl="1"/>
            <a:r>
              <a:rPr lang="en-GB" dirty="0"/>
              <a:t>residual connections; </a:t>
            </a:r>
          </a:p>
          <a:p>
            <a:pPr lvl="1"/>
            <a:r>
              <a:rPr lang="en-GB" dirty="0"/>
              <a:t>large receptive fields. </a:t>
            </a:r>
          </a:p>
          <a:p>
            <a:endParaRPr lang="en-GB" dirty="0"/>
          </a:p>
        </p:txBody>
      </p:sp>
      <p:sp>
        <p:nvSpPr>
          <p:cNvPr id="4" name="Segnaposto contenuto 3">
            <a:extLst>
              <a:ext uri="{FF2B5EF4-FFF2-40B4-BE49-F238E27FC236}">
                <a16:creationId xmlns:a16="http://schemas.microsoft.com/office/drawing/2014/main" id="{28A8F827-3614-1D4E-A651-F0352E911042}"/>
              </a:ext>
            </a:extLst>
          </p:cNvPr>
          <p:cNvSpPr>
            <a:spLocks noGrp="1"/>
          </p:cNvSpPr>
          <p:nvPr>
            <p:ph sz="half" idx="2"/>
          </p:nvPr>
        </p:nvSpPr>
        <p:spPr>
          <a:xfrm>
            <a:off x="5861664" y="2160589"/>
            <a:ext cx="5653001" cy="4532311"/>
          </a:xfrm>
        </p:spPr>
        <p:txBody>
          <a:bodyPr>
            <a:normAutofit fontScale="92500" lnSpcReduction="20000"/>
          </a:bodyPr>
          <a:lstStyle/>
          <a:p>
            <a:r>
              <a:rPr lang="en-GB" b="1" dirty="0"/>
              <a:t>Standard CNN</a:t>
            </a:r>
          </a:p>
          <a:p>
            <a:r>
              <a:rPr lang="en-GB" dirty="0"/>
              <a:t>Often useful for:</a:t>
            </a:r>
          </a:p>
          <a:p>
            <a:pPr lvl="1"/>
            <a:r>
              <a:rPr lang="en-GB" dirty="0"/>
              <a:t>window classification; </a:t>
            </a:r>
          </a:p>
          <a:p>
            <a:pPr lvl="1"/>
            <a:r>
              <a:rPr lang="en-GB" dirty="0"/>
              <a:t>offline analysis; </a:t>
            </a:r>
          </a:p>
          <a:p>
            <a:pPr lvl="1"/>
            <a:r>
              <a:rPr lang="en-GB" dirty="0"/>
              <a:t>compact hierarchical representations. </a:t>
            </a:r>
          </a:p>
          <a:p>
            <a:r>
              <a:rPr lang="en-GB" b="1" dirty="0"/>
              <a:t>TCN</a:t>
            </a:r>
          </a:p>
          <a:p>
            <a:r>
              <a:rPr lang="en-GB" dirty="0"/>
              <a:t>Particularly useful for:</a:t>
            </a:r>
          </a:p>
          <a:p>
            <a:pPr lvl="1"/>
            <a:r>
              <a:rPr lang="en-GB" dirty="0"/>
              <a:t>temporal sequence modelling with long context;</a:t>
            </a:r>
          </a:p>
          <a:p>
            <a:pPr lvl="1"/>
            <a:r>
              <a:rPr lang="en-GB" dirty="0"/>
              <a:t>forecasting from past observations;</a:t>
            </a:r>
          </a:p>
          <a:p>
            <a:pPr lvl="1"/>
            <a:r>
              <a:rPr lang="en-GB" dirty="0"/>
              <a:t>causal/online prediction as data arrive;</a:t>
            </a:r>
          </a:p>
          <a:p>
            <a:pPr lvl="1"/>
            <a:r>
              <a:rPr lang="en-GB" dirty="0"/>
              <a:t>tasks requiring large receptive fields without recurrent processing.</a:t>
            </a:r>
            <a:endParaRPr lang="en-GB" b="1" dirty="0"/>
          </a:p>
          <a:p>
            <a:r>
              <a:rPr lang="en-GB" b="1" dirty="0"/>
              <a:t>The term “TCN” describes an architectural family rather than one unique fixed network.</a:t>
            </a:r>
          </a:p>
          <a:p>
            <a:endParaRPr lang="en-GB" dirty="0"/>
          </a:p>
        </p:txBody>
      </p:sp>
    </p:spTree>
    <p:extLst>
      <p:ext uri="{BB962C8B-B14F-4D97-AF65-F5344CB8AC3E}">
        <p14:creationId xmlns:p14="http://schemas.microsoft.com/office/powerpoint/2010/main" val="201966167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D706CFE-ED1C-EAD9-0EC3-68EC3773E453}"/>
              </a:ext>
            </a:extLst>
          </p:cNvPr>
          <p:cNvSpPr>
            <a:spLocks noGrp="1"/>
          </p:cNvSpPr>
          <p:nvPr>
            <p:ph type="title"/>
          </p:nvPr>
        </p:nvSpPr>
        <p:spPr/>
        <p:txBody>
          <a:bodyPr/>
          <a:lstStyle/>
          <a:p>
            <a:r>
              <a:rPr lang="en-GB" dirty="0"/>
              <a:t>Strengths of TCNs</a:t>
            </a:r>
          </a:p>
        </p:txBody>
      </p:sp>
      <p:sp>
        <p:nvSpPr>
          <p:cNvPr id="3" name="Segnaposto contenuto 2">
            <a:extLst>
              <a:ext uri="{FF2B5EF4-FFF2-40B4-BE49-F238E27FC236}">
                <a16:creationId xmlns:a16="http://schemas.microsoft.com/office/drawing/2014/main" id="{E27AAE60-442F-45D0-1FD4-FD8E0E1C1D3F}"/>
              </a:ext>
            </a:extLst>
          </p:cNvPr>
          <p:cNvSpPr>
            <a:spLocks noGrp="1"/>
          </p:cNvSpPr>
          <p:nvPr>
            <p:ph idx="1"/>
          </p:nvPr>
        </p:nvSpPr>
        <p:spPr/>
        <p:txBody>
          <a:bodyPr>
            <a:normAutofit/>
          </a:bodyPr>
          <a:lstStyle/>
          <a:p>
            <a:r>
              <a:rPr lang="en-GB" b="1" dirty="0"/>
              <a:t>Long temporal context</a:t>
            </a:r>
          </a:p>
          <a:p>
            <a:r>
              <a:rPr lang="en-GB" dirty="0"/>
              <a:t>Dilation allows rapid receptive-field growth.</a:t>
            </a:r>
          </a:p>
          <a:p>
            <a:r>
              <a:rPr lang="en-GB" b="1" dirty="0"/>
              <a:t>Parallel computation</a:t>
            </a:r>
          </a:p>
          <a:p>
            <a:r>
              <a:rPr lang="en-GB" dirty="0"/>
              <a:t>Temporal positions within each convolutional layer can be processed simultaneously.</a:t>
            </a:r>
          </a:p>
          <a:p>
            <a:r>
              <a:rPr lang="en-GB" b="1" dirty="0"/>
              <a:t>Stable gradient paths</a:t>
            </a:r>
          </a:p>
          <a:p>
            <a:r>
              <a:rPr lang="en-GB" dirty="0"/>
              <a:t>Training does not require gradients to pass through hundreds of recurrent state transitions.</a:t>
            </a:r>
          </a:p>
          <a:p>
            <a:r>
              <a:rPr lang="en-GB" b="1" dirty="0"/>
              <a:t>Explicit receptive field</a:t>
            </a:r>
          </a:p>
          <a:p>
            <a:r>
              <a:rPr lang="en-GB" dirty="0"/>
              <a:t>Historical context can be calculated from the architecture.</a:t>
            </a:r>
          </a:p>
          <a:p>
            <a:endParaRPr lang="en-GB" dirty="0"/>
          </a:p>
        </p:txBody>
      </p:sp>
    </p:spTree>
    <p:extLst>
      <p:ext uri="{BB962C8B-B14F-4D97-AF65-F5344CB8AC3E}">
        <p14:creationId xmlns:p14="http://schemas.microsoft.com/office/powerpoint/2010/main" val="168920201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BB1C5-0ADE-35CF-1D5F-B9DE75FA8C5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CBAB732-1038-E109-2D5D-3986563DE9A3}"/>
              </a:ext>
            </a:extLst>
          </p:cNvPr>
          <p:cNvSpPr>
            <a:spLocks noGrp="1"/>
          </p:cNvSpPr>
          <p:nvPr>
            <p:ph type="title"/>
          </p:nvPr>
        </p:nvSpPr>
        <p:spPr/>
        <p:txBody>
          <a:bodyPr/>
          <a:lstStyle/>
          <a:p>
            <a:r>
              <a:rPr lang="en-GB" dirty="0"/>
              <a:t>Strengths of TCNs</a:t>
            </a:r>
          </a:p>
        </p:txBody>
      </p:sp>
      <p:sp>
        <p:nvSpPr>
          <p:cNvPr id="3" name="Segnaposto contenuto 2">
            <a:extLst>
              <a:ext uri="{FF2B5EF4-FFF2-40B4-BE49-F238E27FC236}">
                <a16:creationId xmlns:a16="http://schemas.microsoft.com/office/drawing/2014/main" id="{B005A647-7ED8-1B18-7868-8C5EC87C61BA}"/>
              </a:ext>
            </a:extLst>
          </p:cNvPr>
          <p:cNvSpPr>
            <a:spLocks noGrp="1"/>
          </p:cNvSpPr>
          <p:nvPr>
            <p:ph idx="1"/>
          </p:nvPr>
        </p:nvSpPr>
        <p:spPr/>
        <p:txBody>
          <a:bodyPr>
            <a:normAutofit/>
          </a:bodyPr>
          <a:lstStyle/>
          <a:p>
            <a:r>
              <a:rPr lang="en-GB" b="1" dirty="0"/>
              <a:t>Flexible output structure</a:t>
            </a:r>
          </a:p>
          <a:p>
            <a:r>
              <a:rPr lang="en-GB" dirty="0"/>
              <a:t>TCNs support:</a:t>
            </a:r>
          </a:p>
          <a:p>
            <a:pPr lvl="1"/>
            <a:r>
              <a:rPr lang="en-GB" dirty="0"/>
              <a:t>classification; </a:t>
            </a:r>
          </a:p>
          <a:p>
            <a:pPr lvl="1"/>
            <a:r>
              <a:rPr lang="en-GB" dirty="0"/>
              <a:t>regression; </a:t>
            </a:r>
          </a:p>
          <a:p>
            <a:pPr lvl="1"/>
            <a:r>
              <a:rPr lang="en-GB" dirty="0"/>
              <a:t>sequence labelling; </a:t>
            </a:r>
          </a:p>
          <a:p>
            <a:pPr lvl="1"/>
            <a:r>
              <a:rPr lang="en-GB" dirty="0"/>
              <a:t>forecasting. </a:t>
            </a:r>
          </a:p>
          <a:p>
            <a:endParaRPr lang="en-GB" b="1" dirty="0"/>
          </a:p>
          <a:p>
            <a:r>
              <a:rPr lang="en-GB" b="1" dirty="0"/>
              <a:t>Causal processing</a:t>
            </a:r>
          </a:p>
          <a:p>
            <a:r>
              <a:rPr lang="en-GB" dirty="0"/>
              <a:t>They can operate without future information when required.</a:t>
            </a:r>
          </a:p>
          <a:p>
            <a:endParaRPr lang="en-GB" dirty="0"/>
          </a:p>
        </p:txBody>
      </p:sp>
    </p:spTree>
    <p:extLst>
      <p:ext uri="{BB962C8B-B14F-4D97-AF65-F5344CB8AC3E}">
        <p14:creationId xmlns:p14="http://schemas.microsoft.com/office/powerpoint/2010/main" val="213718817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D2ADBC6-68B8-CEDB-E8AC-E66647FE72E8}"/>
              </a:ext>
            </a:extLst>
          </p:cNvPr>
          <p:cNvSpPr>
            <a:spLocks noGrp="1"/>
          </p:cNvSpPr>
          <p:nvPr>
            <p:ph type="title"/>
          </p:nvPr>
        </p:nvSpPr>
        <p:spPr/>
        <p:txBody>
          <a:bodyPr/>
          <a:lstStyle/>
          <a:p>
            <a:r>
              <a:rPr lang="en-GB" dirty="0"/>
              <a:t>Limitations of TCNs</a:t>
            </a:r>
          </a:p>
        </p:txBody>
      </p:sp>
      <p:sp>
        <p:nvSpPr>
          <p:cNvPr id="3" name="Segnaposto contenuto 2">
            <a:extLst>
              <a:ext uri="{FF2B5EF4-FFF2-40B4-BE49-F238E27FC236}">
                <a16:creationId xmlns:a16="http://schemas.microsoft.com/office/drawing/2014/main" id="{F3BA3BC2-3A86-767A-DFF5-4FD51A1516BD}"/>
              </a:ext>
            </a:extLst>
          </p:cNvPr>
          <p:cNvSpPr>
            <a:spLocks noGrp="1"/>
          </p:cNvSpPr>
          <p:nvPr>
            <p:ph sz="half" idx="1"/>
          </p:nvPr>
        </p:nvSpPr>
        <p:spPr/>
        <p:txBody>
          <a:bodyPr>
            <a:normAutofit fontScale="92500" lnSpcReduction="20000"/>
          </a:bodyPr>
          <a:lstStyle/>
          <a:p>
            <a:r>
              <a:rPr lang="en-GB" b="1" dirty="0"/>
              <a:t>Fixed receptive field</a:t>
            </a:r>
          </a:p>
          <a:p>
            <a:r>
              <a:rPr lang="en-GB" dirty="0"/>
              <a:t>Information outside the designed receptive field is inaccessible.</a:t>
            </a:r>
          </a:p>
          <a:p>
            <a:endParaRPr lang="en-GB" b="1" dirty="0"/>
          </a:p>
          <a:p>
            <a:r>
              <a:rPr lang="en-GB" b="1" dirty="0"/>
              <a:t>Architecture design matters</a:t>
            </a:r>
          </a:p>
          <a:p>
            <a:r>
              <a:rPr lang="en-GB" dirty="0"/>
              <a:t>The modeller must choose:</a:t>
            </a:r>
          </a:p>
          <a:p>
            <a:pPr lvl="1"/>
            <a:r>
              <a:rPr lang="en-GB" dirty="0"/>
              <a:t>depth; </a:t>
            </a:r>
          </a:p>
          <a:p>
            <a:pPr lvl="1"/>
            <a:r>
              <a:rPr lang="en-GB" dirty="0"/>
              <a:t>kernel size; </a:t>
            </a:r>
          </a:p>
          <a:p>
            <a:pPr lvl="1"/>
            <a:r>
              <a:rPr lang="en-GB" dirty="0"/>
              <a:t>dilation schedule; </a:t>
            </a:r>
          </a:p>
          <a:p>
            <a:pPr lvl="1"/>
            <a:r>
              <a:rPr lang="en-GB" dirty="0"/>
              <a:t>number of channels. </a:t>
            </a:r>
          </a:p>
          <a:p>
            <a:endParaRPr lang="en-GB" dirty="0"/>
          </a:p>
        </p:txBody>
      </p:sp>
      <p:sp>
        <p:nvSpPr>
          <p:cNvPr id="4" name="Segnaposto contenuto 3">
            <a:extLst>
              <a:ext uri="{FF2B5EF4-FFF2-40B4-BE49-F238E27FC236}">
                <a16:creationId xmlns:a16="http://schemas.microsoft.com/office/drawing/2014/main" id="{ADD6AE5A-AF51-4B5D-0FEB-33CF04A25A42}"/>
              </a:ext>
            </a:extLst>
          </p:cNvPr>
          <p:cNvSpPr>
            <a:spLocks noGrp="1"/>
          </p:cNvSpPr>
          <p:nvPr>
            <p:ph sz="half" idx="2"/>
          </p:nvPr>
        </p:nvSpPr>
        <p:spPr>
          <a:xfrm>
            <a:off x="5089970" y="2160589"/>
            <a:ext cx="6848030" cy="4214811"/>
          </a:xfrm>
        </p:spPr>
        <p:txBody>
          <a:bodyPr>
            <a:normAutofit fontScale="92500" lnSpcReduction="20000"/>
          </a:bodyPr>
          <a:lstStyle/>
          <a:p>
            <a:r>
              <a:rPr lang="en-GB" b="1" dirty="0"/>
              <a:t>Memory requirements</a:t>
            </a:r>
          </a:p>
          <a:p>
            <a:r>
              <a:rPr lang="en-GB" dirty="0"/>
              <a:t>Long feature maps and many channels may require substantial memory.</a:t>
            </a:r>
          </a:p>
          <a:p>
            <a:r>
              <a:rPr lang="en-GB" b="1" dirty="0"/>
              <a:t>Very sparse dilation</a:t>
            </a:r>
          </a:p>
          <a:p>
            <a:r>
              <a:rPr lang="en-GB" dirty="0"/>
              <a:t>May miss local structure if poorly designed.</a:t>
            </a:r>
          </a:p>
          <a:p>
            <a:r>
              <a:rPr lang="en-GB" b="1" dirty="0">
                <a:solidFill>
                  <a:schemeClr val="tx1"/>
                </a:solidFill>
                <a:highlight>
                  <a:srgbClr val="FFFF00"/>
                </a:highlight>
              </a:rPr>
              <a:t>Streaming implementation</a:t>
            </a:r>
          </a:p>
          <a:p>
            <a:pPr lvl="0"/>
            <a:r>
              <a:rPr lang="en-GB" dirty="0"/>
              <a:t>Possible, but causal convolutions require buffering past inputs or intermediate activations over the receptive field. </a:t>
            </a:r>
          </a:p>
          <a:p>
            <a:pPr lvl="0"/>
            <a:r>
              <a:rPr lang="en-GB" dirty="0"/>
              <a:t>An RNN naturally summarizes past information in a fixed-size recurrent state.</a:t>
            </a:r>
          </a:p>
          <a:p>
            <a:pPr lvl="1"/>
            <a:r>
              <a:rPr lang="en-GB" dirty="0"/>
              <a:t>An RNN processes each new input using the current sample and a compact recurrent state carried from the past.</a:t>
            </a:r>
          </a:p>
          <a:p>
            <a:pPr lvl="1"/>
            <a:r>
              <a:rPr lang="en-GB" dirty="0"/>
              <a:t>the whole past sequence does not need to be stored explicitly; its useful information is represented through hₜ₋₁.</a:t>
            </a:r>
          </a:p>
        </p:txBody>
      </p:sp>
      <p:sp>
        <p:nvSpPr>
          <p:cNvPr id="6" name="CasellaDiTesto 5">
            <a:extLst>
              <a:ext uri="{FF2B5EF4-FFF2-40B4-BE49-F238E27FC236}">
                <a16:creationId xmlns:a16="http://schemas.microsoft.com/office/drawing/2014/main" id="{2419692D-DE7F-52E4-6805-CA43319BC33B}"/>
              </a:ext>
            </a:extLst>
          </p:cNvPr>
          <p:cNvSpPr txBox="1"/>
          <p:nvPr/>
        </p:nvSpPr>
        <p:spPr>
          <a:xfrm>
            <a:off x="2294448" y="6211669"/>
            <a:ext cx="6108700" cy="646331"/>
          </a:xfrm>
          <a:prstGeom prst="rect">
            <a:avLst/>
          </a:prstGeom>
          <a:noFill/>
        </p:spPr>
        <p:txBody>
          <a:bodyPr wrap="square">
            <a:spAutoFit/>
          </a:bodyPr>
          <a:lstStyle/>
          <a:p>
            <a:r>
              <a:rPr lang="en-GB" sz="1800" b="1" dirty="0"/>
              <a:t>TCNs remove recurrent state propagation, but they introduce explicit receptive-field design.</a:t>
            </a:r>
          </a:p>
        </p:txBody>
      </p:sp>
    </p:spTree>
    <p:extLst>
      <p:ext uri="{BB962C8B-B14F-4D97-AF65-F5344CB8AC3E}">
        <p14:creationId xmlns:p14="http://schemas.microsoft.com/office/powerpoint/2010/main" val="244431948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D51007F-2972-EB24-EB65-545B8A3E6BEA}"/>
              </a:ext>
            </a:extLst>
          </p:cNvPr>
          <p:cNvSpPr>
            <a:spLocks noGrp="1"/>
          </p:cNvSpPr>
          <p:nvPr>
            <p:ph type="title"/>
          </p:nvPr>
        </p:nvSpPr>
        <p:spPr/>
        <p:txBody>
          <a:bodyPr/>
          <a:lstStyle/>
          <a:p>
            <a:r>
              <a:rPr lang="en-GB" b="1" dirty="0"/>
              <a:t>From TCN to </a:t>
            </a:r>
            <a:r>
              <a:rPr lang="en-GB" b="1" dirty="0" err="1"/>
              <a:t>WaveNet</a:t>
            </a:r>
            <a:br>
              <a:rPr lang="en-GB" b="1" dirty="0"/>
            </a:br>
            <a:endParaRPr lang="en-GB" dirty="0"/>
          </a:p>
        </p:txBody>
      </p:sp>
      <p:sp>
        <p:nvSpPr>
          <p:cNvPr id="3" name="Segnaposto contenuto 2">
            <a:extLst>
              <a:ext uri="{FF2B5EF4-FFF2-40B4-BE49-F238E27FC236}">
                <a16:creationId xmlns:a16="http://schemas.microsoft.com/office/drawing/2014/main" id="{EC52302C-E7C3-D28E-8327-B39D5D3675C8}"/>
              </a:ext>
            </a:extLst>
          </p:cNvPr>
          <p:cNvSpPr>
            <a:spLocks noGrp="1"/>
          </p:cNvSpPr>
          <p:nvPr>
            <p:ph idx="1"/>
          </p:nvPr>
        </p:nvSpPr>
        <p:spPr/>
        <p:txBody>
          <a:bodyPr>
            <a:normAutofit fontScale="85000" lnSpcReduction="20000"/>
          </a:bodyPr>
          <a:lstStyle/>
          <a:p>
            <a:r>
              <a:rPr lang="en-GB" dirty="0"/>
              <a:t>The combination of:</a:t>
            </a:r>
          </a:p>
          <a:p>
            <a:pPr lvl="1"/>
            <a:r>
              <a:rPr lang="en-GB" dirty="0"/>
              <a:t>causal convolution; </a:t>
            </a:r>
          </a:p>
          <a:p>
            <a:pPr lvl="1"/>
            <a:r>
              <a:rPr lang="en-GB" dirty="0"/>
              <a:t>dilation; </a:t>
            </a:r>
          </a:p>
          <a:p>
            <a:pPr lvl="1"/>
            <a:r>
              <a:rPr lang="en-GB" dirty="0"/>
              <a:t>exponentially growing receptive field; </a:t>
            </a:r>
          </a:p>
          <a:p>
            <a:pPr lvl="1"/>
            <a:r>
              <a:rPr lang="en-GB" dirty="0"/>
              <a:t>residual and skip connections; </a:t>
            </a:r>
          </a:p>
          <a:p>
            <a:r>
              <a:rPr lang="en-GB" dirty="0"/>
              <a:t>became especially influential through </a:t>
            </a:r>
            <a:r>
              <a:rPr lang="en-GB" b="1" dirty="0" err="1"/>
              <a:t>WaveNet</a:t>
            </a:r>
            <a:r>
              <a:rPr lang="en-GB" dirty="0"/>
              <a:t>.</a:t>
            </a:r>
          </a:p>
          <a:p>
            <a:r>
              <a:rPr lang="en-GB" dirty="0" err="1"/>
              <a:t>WaveNet</a:t>
            </a:r>
            <a:r>
              <a:rPr lang="en-GB" dirty="0"/>
              <a:t> was </a:t>
            </a:r>
            <a:r>
              <a:rPr lang="en-GB" dirty="0">
                <a:solidFill>
                  <a:schemeClr val="tx1"/>
                </a:solidFill>
              </a:rPr>
              <a:t>originally developed for raw audio generation</a:t>
            </a:r>
            <a:r>
              <a:rPr lang="en-GB" dirty="0"/>
              <a:t>, but its architectural principles are much more general.</a:t>
            </a:r>
          </a:p>
          <a:p>
            <a:pPr lvl="1"/>
            <a:r>
              <a:rPr lang="en-GB" b="1" dirty="0"/>
              <a:t>Audio generation through an autoregressive next-sample prediction model</a:t>
            </a:r>
            <a:r>
              <a:rPr lang="en-GB" dirty="0"/>
              <a:t>.</a:t>
            </a:r>
          </a:p>
          <a:p>
            <a:endParaRPr lang="en-GB" dirty="0"/>
          </a:p>
          <a:p>
            <a:r>
              <a:rPr lang="en-GB" dirty="0"/>
              <a:t>We are interested in </a:t>
            </a:r>
            <a:r>
              <a:rPr lang="en-GB" dirty="0" err="1"/>
              <a:t>WaveNet</a:t>
            </a:r>
            <a:r>
              <a:rPr lang="en-GB" dirty="0"/>
              <a:t> mainly because it demonstrates:</a:t>
            </a:r>
          </a:p>
          <a:p>
            <a:r>
              <a:rPr lang="en-GB" b="1" dirty="0"/>
              <a:t>Long temporal dependencies can be represented with deep causal dilated convolution instead of recurrent state propagation.</a:t>
            </a:r>
          </a:p>
          <a:p>
            <a:endParaRPr lang="en-GB" dirty="0"/>
          </a:p>
        </p:txBody>
      </p:sp>
    </p:spTree>
    <p:extLst>
      <p:ext uri="{BB962C8B-B14F-4D97-AF65-F5344CB8AC3E}">
        <p14:creationId xmlns:p14="http://schemas.microsoft.com/office/powerpoint/2010/main" val="205148068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i="1" dirty="0" err="1"/>
              <a:t>WaveNet</a:t>
            </a:r>
            <a:r>
              <a:rPr lang="en-US" i="1" dirty="0"/>
              <a:t> architecture</a:t>
            </a:r>
            <a:endParaRPr lang="en-US" dirty="0"/>
          </a:p>
        </p:txBody>
      </p:sp>
      <p:sp>
        <p:nvSpPr>
          <p:cNvPr id="4" name="Slide Number Placeholder 3"/>
          <p:cNvSpPr>
            <a:spLocks noGrp="1"/>
          </p:cNvSpPr>
          <p:nvPr>
            <p:ph type="sldNum" sz="quarter" idx="12"/>
          </p:nvPr>
        </p:nvSpPr>
        <p:spPr/>
        <p:txBody>
          <a:bodyPr/>
          <a:lstStyle/>
          <a:p>
            <a:fld id="{9B618960-8005-486C-9A75-10CB2AAC16F9}" type="slidenum">
              <a:rPr lang="en-US" smtClean="0"/>
              <a:t>195</a:t>
            </a:fld>
            <a:endParaRPr lang="en-US"/>
          </a:p>
        </p:txBody>
      </p:sp>
      <p:pic>
        <p:nvPicPr>
          <p:cNvPr id="5" name="Picture 4"/>
          <p:cNvPicPr>
            <a:picLocks noChangeAspect="1"/>
          </p:cNvPicPr>
          <p:nvPr/>
        </p:nvPicPr>
        <p:blipFill>
          <a:blip r:embed="rId2"/>
          <a:stretch>
            <a:fillRect/>
          </a:stretch>
        </p:blipFill>
        <p:spPr>
          <a:xfrm>
            <a:off x="1442965" y="2103257"/>
            <a:ext cx="9001641" cy="3592848"/>
          </a:xfrm>
          <a:prstGeom prst="rect">
            <a:avLst/>
          </a:prstGeom>
        </p:spPr>
      </p:pic>
      <p:sp>
        <p:nvSpPr>
          <p:cNvPr id="6" name="TextBox 5"/>
          <p:cNvSpPr txBox="1"/>
          <p:nvPr/>
        </p:nvSpPr>
        <p:spPr>
          <a:xfrm>
            <a:off x="1047318" y="5902868"/>
            <a:ext cx="6387955" cy="923330"/>
          </a:xfrm>
          <a:prstGeom prst="rect">
            <a:avLst/>
          </a:prstGeom>
          <a:noFill/>
        </p:spPr>
        <p:txBody>
          <a:bodyPr wrap="square" rtlCol="0">
            <a:spAutoFit/>
          </a:bodyPr>
          <a:lstStyle/>
          <a:p>
            <a:r>
              <a:rPr lang="it-IT" dirty="0"/>
              <a:t>N.B., kernel size </a:t>
            </a:r>
            <a:r>
              <a:rPr lang="it-IT" dirty="0" err="1"/>
              <a:t>always</a:t>
            </a:r>
            <a:r>
              <a:rPr lang="it-IT" dirty="0"/>
              <a:t> 2, </a:t>
            </a:r>
            <a:r>
              <a:rPr lang="it-IT" dirty="0" err="1"/>
              <a:t>but</a:t>
            </a:r>
            <a:r>
              <a:rPr lang="it-IT" dirty="0"/>
              <a:t> </a:t>
            </a:r>
            <a:r>
              <a:rPr lang="it-IT" dirty="0" err="1"/>
              <a:t>have</a:t>
            </a:r>
            <a:r>
              <a:rPr lang="it-IT" dirty="0"/>
              <a:t> a </a:t>
            </a:r>
            <a:r>
              <a:rPr lang="it-IT" dirty="0" err="1"/>
              <a:t>dilation</a:t>
            </a:r>
            <a:r>
              <a:rPr lang="it-IT" dirty="0"/>
              <a:t> rate (</a:t>
            </a:r>
            <a:r>
              <a:rPr lang="it-IT" dirty="0" err="1"/>
              <a:t>it</a:t>
            </a:r>
            <a:r>
              <a:rPr lang="it-IT" dirty="0"/>
              <a:t> </a:t>
            </a:r>
            <a:r>
              <a:rPr lang="it-IT" dirty="0" err="1"/>
              <a:t>determines</a:t>
            </a:r>
            <a:r>
              <a:rPr lang="it-IT" dirty="0"/>
              <a:t> the size of the gap </a:t>
            </a:r>
            <a:r>
              <a:rPr lang="it-IT" dirty="0" err="1"/>
              <a:t>between</a:t>
            </a:r>
            <a:r>
              <a:rPr lang="it-IT" dirty="0"/>
              <a:t> the steps/frames). </a:t>
            </a:r>
          </a:p>
          <a:p>
            <a:r>
              <a:rPr lang="it-IT" b="1" dirty="0"/>
              <a:t>The kernel </a:t>
            </a:r>
            <a:r>
              <a:rPr lang="it-IT" b="1" dirty="0" err="1"/>
              <a:t>is</a:t>
            </a:r>
            <a:r>
              <a:rPr lang="it-IT" b="1" dirty="0"/>
              <a:t> spread over </a:t>
            </a:r>
            <a:r>
              <a:rPr lang="it-IT" b="1" dirty="0" err="1"/>
              <a:t>several</a:t>
            </a:r>
            <a:r>
              <a:rPr lang="it-IT" b="1" dirty="0"/>
              <a:t> «</a:t>
            </a:r>
            <a:r>
              <a:rPr lang="it-IT" b="1" dirty="0" err="1"/>
              <a:t>distant</a:t>
            </a:r>
            <a:r>
              <a:rPr lang="it-IT" b="1" dirty="0"/>
              <a:t>» frames</a:t>
            </a:r>
            <a:endParaRPr lang="en-US" b="1" dirty="0"/>
          </a:p>
        </p:txBody>
      </p:sp>
      <p:sp>
        <p:nvSpPr>
          <p:cNvPr id="8" name="TextBox 7"/>
          <p:cNvSpPr txBox="1"/>
          <p:nvPr/>
        </p:nvSpPr>
        <p:spPr>
          <a:xfrm>
            <a:off x="10437901" y="4353216"/>
            <a:ext cx="1374654" cy="646331"/>
          </a:xfrm>
          <a:prstGeom prst="rect">
            <a:avLst/>
          </a:prstGeom>
          <a:noFill/>
        </p:spPr>
        <p:txBody>
          <a:bodyPr wrap="square" rtlCol="0">
            <a:spAutoFit/>
          </a:bodyPr>
          <a:lstStyle/>
          <a:p>
            <a:r>
              <a:rPr lang="it-IT" b="1" dirty="0">
                <a:highlight>
                  <a:srgbClr val="FFFF00"/>
                </a:highlight>
              </a:rPr>
              <a:t>Receptive field </a:t>
            </a:r>
            <a:r>
              <a:rPr lang="it-IT" dirty="0">
                <a:highlight>
                  <a:srgbClr val="FFFF00"/>
                </a:highlight>
              </a:rPr>
              <a:t>size: </a:t>
            </a:r>
            <a:r>
              <a:rPr lang="it-IT" dirty="0"/>
              <a:t>2</a:t>
            </a:r>
            <a:endParaRPr lang="en-US" dirty="0"/>
          </a:p>
        </p:txBody>
      </p:sp>
      <p:sp>
        <p:nvSpPr>
          <p:cNvPr id="9" name="TextBox 8"/>
          <p:cNvSpPr txBox="1"/>
          <p:nvPr/>
        </p:nvSpPr>
        <p:spPr>
          <a:xfrm>
            <a:off x="10437901" y="3762030"/>
            <a:ext cx="1222940" cy="369332"/>
          </a:xfrm>
          <a:prstGeom prst="rect">
            <a:avLst/>
          </a:prstGeom>
          <a:noFill/>
        </p:spPr>
        <p:txBody>
          <a:bodyPr wrap="square" rtlCol="0">
            <a:spAutoFit/>
          </a:bodyPr>
          <a:lstStyle/>
          <a:p>
            <a:r>
              <a:rPr lang="it-IT" dirty="0"/>
              <a:t>RF size: 4</a:t>
            </a:r>
            <a:endParaRPr lang="en-US" dirty="0"/>
          </a:p>
        </p:txBody>
      </p:sp>
      <p:sp>
        <p:nvSpPr>
          <p:cNvPr id="10" name="TextBox 9"/>
          <p:cNvSpPr txBox="1"/>
          <p:nvPr/>
        </p:nvSpPr>
        <p:spPr>
          <a:xfrm>
            <a:off x="10444606" y="2991134"/>
            <a:ext cx="1222940" cy="369332"/>
          </a:xfrm>
          <a:prstGeom prst="rect">
            <a:avLst/>
          </a:prstGeom>
          <a:noFill/>
        </p:spPr>
        <p:txBody>
          <a:bodyPr wrap="square" rtlCol="0">
            <a:spAutoFit/>
          </a:bodyPr>
          <a:lstStyle/>
          <a:p>
            <a:r>
              <a:rPr lang="it-IT" dirty="0"/>
              <a:t>RF size: 8</a:t>
            </a:r>
            <a:endParaRPr lang="en-US" dirty="0"/>
          </a:p>
        </p:txBody>
      </p:sp>
      <p:sp>
        <p:nvSpPr>
          <p:cNvPr id="11" name="TextBox 10"/>
          <p:cNvSpPr txBox="1"/>
          <p:nvPr/>
        </p:nvSpPr>
        <p:spPr>
          <a:xfrm>
            <a:off x="10444606" y="2230164"/>
            <a:ext cx="1222940" cy="369332"/>
          </a:xfrm>
          <a:prstGeom prst="rect">
            <a:avLst/>
          </a:prstGeom>
          <a:noFill/>
        </p:spPr>
        <p:txBody>
          <a:bodyPr wrap="square" rtlCol="0">
            <a:spAutoFit/>
          </a:bodyPr>
          <a:lstStyle/>
          <a:p>
            <a:r>
              <a:rPr lang="it-IT" dirty="0"/>
              <a:t>RF size: 16</a:t>
            </a:r>
            <a:endParaRPr lang="en-US" dirty="0"/>
          </a:p>
        </p:txBody>
      </p:sp>
      <p:sp>
        <p:nvSpPr>
          <p:cNvPr id="12" name="TextBox 11"/>
          <p:cNvSpPr txBox="1"/>
          <p:nvPr/>
        </p:nvSpPr>
        <p:spPr>
          <a:xfrm>
            <a:off x="770319" y="2414830"/>
            <a:ext cx="553998" cy="3139321"/>
          </a:xfrm>
          <a:prstGeom prst="rect">
            <a:avLst/>
          </a:prstGeom>
          <a:noFill/>
        </p:spPr>
        <p:txBody>
          <a:bodyPr vert="vert" wrap="square" rtlCol="0">
            <a:spAutoFit/>
          </a:bodyPr>
          <a:lstStyle/>
          <a:p>
            <a:pPr algn="ctr"/>
            <a:r>
              <a:rPr lang="it-IT" sz="2400" b="1" dirty="0">
                <a:highlight>
                  <a:srgbClr val="FFFF00"/>
                </a:highlight>
              </a:rPr>
              <a:t>Zero padding necessary</a:t>
            </a:r>
            <a:endParaRPr lang="en-US" sz="2400" b="1" dirty="0">
              <a:highlight>
                <a:srgbClr val="FFFF00"/>
              </a:highlight>
            </a:endParaRPr>
          </a:p>
        </p:txBody>
      </p:sp>
      <p:cxnSp>
        <p:nvCxnSpPr>
          <p:cNvPr id="7" name="Straight Arrow Connector 6"/>
          <p:cNvCxnSpPr>
            <a:cxnSpLocks/>
          </p:cNvCxnSpPr>
          <p:nvPr/>
        </p:nvCxnSpPr>
        <p:spPr>
          <a:xfrm>
            <a:off x="838200" y="5846885"/>
            <a:ext cx="8462963" cy="967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8665369" y="6033184"/>
            <a:ext cx="707231" cy="369332"/>
          </a:xfrm>
          <a:prstGeom prst="rect">
            <a:avLst/>
          </a:prstGeom>
          <a:noFill/>
        </p:spPr>
        <p:txBody>
          <a:bodyPr wrap="square" rtlCol="0">
            <a:spAutoFit/>
          </a:bodyPr>
          <a:lstStyle/>
          <a:p>
            <a:r>
              <a:rPr lang="it-IT" b="1" dirty="0"/>
              <a:t>time</a:t>
            </a:r>
            <a:endParaRPr lang="en-US" b="1" dirty="0"/>
          </a:p>
        </p:txBody>
      </p:sp>
      <p:sp>
        <p:nvSpPr>
          <p:cNvPr id="3" name="CasellaDiTesto 2">
            <a:extLst>
              <a:ext uri="{FF2B5EF4-FFF2-40B4-BE49-F238E27FC236}">
                <a16:creationId xmlns:a16="http://schemas.microsoft.com/office/drawing/2014/main" id="{3F8FF133-40D2-B60C-12F1-38DB6813821A}"/>
              </a:ext>
            </a:extLst>
          </p:cNvPr>
          <p:cNvSpPr txBox="1"/>
          <p:nvPr/>
        </p:nvSpPr>
        <p:spPr>
          <a:xfrm>
            <a:off x="7024019" y="311743"/>
            <a:ext cx="5167981" cy="1569660"/>
          </a:xfrm>
          <a:prstGeom prst="rect">
            <a:avLst/>
          </a:prstGeom>
          <a:noFill/>
        </p:spPr>
        <p:txBody>
          <a:bodyPr wrap="square" rtlCol="0">
            <a:spAutoFit/>
          </a:bodyPr>
          <a:lstStyle/>
          <a:p>
            <a:r>
              <a:rPr lang="it-IT" sz="1600" b="1" dirty="0">
                <a:highlight>
                  <a:srgbClr val="FFFF00"/>
                </a:highlight>
              </a:rPr>
              <a:t>Compare the RF size </a:t>
            </a:r>
            <a:r>
              <a:rPr lang="it-IT" sz="1600" b="1" dirty="0" err="1">
                <a:highlight>
                  <a:srgbClr val="FFFF00"/>
                </a:highlight>
              </a:rPr>
              <a:t>obtainable</a:t>
            </a:r>
            <a:r>
              <a:rPr lang="it-IT" sz="1600" b="1" dirty="0">
                <a:highlight>
                  <a:srgbClr val="FFFF00"/>
                </a:highlight>
              </a:rPr>
              <a:t> with </a:t>
            </a:r>
            <a:r>
              <a:rPr lang="it-IT" sz="1600" b="1" dirty="0" err="1">
                <a:highlight>
                  <a:srgbClr val="FFFF00"/>
                </a:highlight>
              </a:rPr>
              <a:t>dilation</a:t>
            </a:r>
            <a:r>
              <a:rPr lang="it-IT" sz="1600" b="1" dirty="0">
                <a:highlight>
                  <a:srgbClr val="FFFF00"/>
                </a:highlight>
              </a:rPr>
              <a:t> </a:t>
            </a:r>
            <a:r>
              <a:rPr lang="it-IT" sz="1600" b="1" dirty="0" err="1">
                <a:highlight>
                  <a:srgbClr val="FFFF00"/>
                </a:highlight>
              </a:rPr>
              <a:t>always</a:t>
            </a:r>
            <a:r>
              <a:rPr lang="it-IT" sz="1600" b="1" dirty="0">
                <a:highlight>
                  <a:srgbClr val="FFFF00"/>
                </a:highlight>
              </a:rPr>
              <a:t> 1.</a:t>
            </a:r>
          </a:p>
          <a:p>
            <a:r>
              <a:rPr lang="en-GB" sz="1600" dirty="0"/>
              <a:t>With exponentially increasing dilations 1,2,4,8,…, the receptive field grows exponentially with depth </a:t>
            </a:r>
            <a:r>
              <a:rPr lang="it-IT" sz="1600" b="1" dirty="0"/>
              <a:t>(vs. </a:t>
            </a:r>
            <a:r>
              <a:rPr lang="it-IT" sz="1600" b="1" dirty="0" err="1"/>
              <a:t>linearly</a:t>
            </a:r>
            <a:r>
              <a:rPr lang="it-IT" sz="1600" b="1" dirty="0"/>
              <a:t>). In </a:t>
            </a:r>
            <a:r>
              <a:rPr lang="it-IT" sz="1600" b="1" dirty="0" err="1"/>
              <a:t>other</a:t>
            </a:r>
            <a:r>
              <a:rPr lang="it-IT" sz="1600" b="1" dirty="0"/>
              <a:t> words, with </a:t>
            </a:r>
            <a:r>
              <a:rPr lang="it-IT" sz="1600" b="1" dirty="0" err="1"/>
              <a:t>Wavenet</a:t>
            </a:r>
            <a:r>
              <a:rPr lang="it-IT" sz="1600" b="1" dirty="0"/>
              <a:t> </a:t>
            </a:r>
            <a:r>
              <a:rPr lang="it-IT" sz="1600" b="1" dirty="0" err="1"/>
              <a:t>you</a:t>
            </a:r>
            <a:r>
              <a:rPr lang="it-IT" sz="1600" b="1" dirty="0"/>
              <a:t> </a:t>
            </a:r>
            <a:r>
              <a:rPr lang="it-IT" sz="1600" b="1" dirty="0" err="1"/>
              <a:t>need</a:t>
            </a:r>
            <a:r>
              <a:rPr lang="it-IT" sz="1600" b="1" dirty="0"/>
              <a:t> a </a:t>
            </a:r>
            <a:r>
              <a:rPr lang="it-IT" sz="1600" b="1" dirty="0" err="1"/>
              <a:t>logarithmic</a:t>
            </a:r>
            <a:r>
              <a:rPr lang="it-IT" sz="1600" b="1" dirty="0"/>
              <a:t> </a:t>
            </a:r>
            <a:r>
              <a:rPr lang="it-IT" sz="1600" b="1" dirty="0" err="1"/>
              <a:t>number</a:t>
            </a:r>
            <a:r>
              <a:rPr lang="it-IT" sz="1600" b="1" dirty="0"/>
              <a:t> of </a:t>
            </a:r>
            <a:r>
              <a:rPr lang="it-IT" sz="1600" b="1" dirty="0" err="1"/>
              <a:t>layers</a:t>
            </a:r>
            <a:r>
              <a:rPr lang="it-IT" sz="1600" b="1" dirty="0"/>
              <a:t> to </a:t>
            </a:r>
            <a:r>
              <a:rPr lang="it-IT" sz="1600" b="1" dirty="0" err="1"/>
              <a:t>have</a:t>
            </a:r>
            <a:r>
              <a:rPr lang="it-IT" sz="1600" b="1" dirty="0"/>
              <a:t> the </a:t>
            </a:r>
            <a:r>
              <a:rPr lang="it-IT" sz="1600" b="1" dirty="0" err="1"/>
              <a:t>same</a:t>
            </a:r>
            <a:r>
              <a:rPr lang="it-IT" sz="1600" b="1" dirty="0"/>
              <a:t> RF</a:t>
            </a:r>
            <a:endParaRPr lang="en-GB" sz="1600" b="1" dirty="0"/>
          </a:p>
        </p:txBody>
      </p:sp>
      <p:sp>
        <p:nvSpPr>
          <p:cNvPr id="14" name="CasellaDiTesto 13">
            <a:extLst>
              <a:ext uri="{FF2B5EF4-FFF2-40B4-BE49-F238E27FC236}">
                <a16:creationId xmlns:a16="http://schemas.microsoft.com/office/drawing/2014/main" id="{AC79CA34-7661-54B9-18EF-BB6253913CCE}"/>
              </a:ext>
            </a:extLst>
          </p:cNvPr>
          <p:cNvSpPr txBox="1"/>
          <p:nvPr/>
        </p:nvSpPr>
        <p:spPr>
          <a:xfrm>
            <a:off x="1143465" y="5298860"/>
            <a:ext cx="603929" cy="307777"/>
          </a:xfrm>
          <a:prstGeom prst="rect">
            <a:avLst/>
          </a:prstGeom>
          <a:noFill/>
        </p:spPr>
        <p:txBody>
          <a:bodyPr wrap="square" rtlCol="0">
            <a:spAutoFit/>
          </a:bodyPr>
          <a:lstStyle/>
          <a:p>
            <a:r>
              <a:rPr lang="it-IT" sz="1400" dirty="0"/>
              <a:t>1 </a:t>
            </a:r>
            <a:r>
              <a:rPr lang="it-IT" sz="1400" dirty="0" err="1"/>
              <a:t>pad</a:t>
            </a:r>
            <a:endParaRPr lang="en-GB" sz="1400" dirty="0"/>
          </a:p>
        </p:txBody>
      </p:sp>
      <p:sp>
        <p:nvSpPr>
          <p:cNvPr id="15" name="CasellaDiTesto 14">
            <a:extLst>
              <a:ext uri="{FF2B5EF4-FFF2-40B4-BE49-F238E27FC236}">
                <a16:creationId xmlns:a16="http://schemas.microsoft.com/office/drawing/2014/main" id="{80F85F91-F535-EC44-AFE1-24918296AE3F}"/>
              </a:ext>
            </a:extLst>
          </p:cNvPr>
          <p:cNvSpPr txBox="1"/>
          <p:nvPr/>
        </p:nvSpPr>
        <p:spPr>
          <a:xfrm>
            <a:off x="1215966" y="4522492"/>
            <a:ext cx="603929" cy="307777"/>
          </a:xfrm>
          <a:prstGeom prst="rect">
            <a:avLst/>
          </a:prstGeom>
          <a:noFill/>
        </p:spPr>
        <p:txBody>
          <a:bodyPr wrap="square" rtlCol="0">
            <a:spAutoFit/>
          </a:bodyPr>
          <a:lstStyle/>
          <a:p>
            <a:r>
              <a:rPr lang="it-IT" sz="1400" dirty="0"/>
              <a:t>2 </a:t>
            </a:r>
            <a:r>
              <a:rPr lang="it-IT" sz="1400" dirty="0" err="1"/>
              <a:t>pad</a:t>
            </a:r>
            <a:endParaRPr lang="en-GB" sz="1400" dirty="0"/>
          </a:p>
        </p:txBody>
      </p:sp>
      <p:sp>
        <p:nvSpPr>
          <p:cNvPr id="16" name="CasellaDiTesto 15">
            <a:extLst>
              <a:ext uri="{FF2B5EF4-FFF2-40B4-BE49-F238E27FC236}">
                <a16:creationId xmlns:a16="http://schemas.microsoft.com/office/drawing/2014/main" id="{5DE1454A-641D-C35E-D77E-F3598E8A2A3A}"/>
              </a:ext>
            </a:extLst>
          </p:cNvPr>
          <p:cNvSpPr txBox="1"/>
          <p:nvPr/>
        </p:nvSpPr>
        <p:spPr>
          <a:xfrm>
            <a:off x="1215965" y="3765015"/>
            <a:ext cx="603929" cy="307777"/>
          </a:xfrm>
          <a:prstGeom prst="rect">
            <a:avLst/>
          </a:prstGeom>
          <a:noFill/>
        </p:spPr>
        <p:txBody>
          <a:bodyPr wrap="square" rtlCol="0">
            <a:spAutoFit/>
          </a:bodyPr>
          <a:lstStyle/>
          <a:p>
            <a:r>
              <a:rPr lang="it-IT" sz="1400" dirty="0"/>
              <a:t>4 </a:t>
            </a:r>
            <a:r>
              <a:rPr lang="it-IT" sz="1400" dirty="0" err="1"/>
              <a:t>pad</a:t>
            </a:r>
            <a:endParaRPr lang="en-GB" sz="1400" dirty="0"/>
          </a:p>
        </p:txBody>
      </p:sp>
      <p:sp>
        <p:nvSpPr>
          <p:cNvPr id="17" name="CasellaDiTesto 16">
            <a:extLst>
              <a:ext uri="{FF2B5EF4-FFF2-40B4-BE49-F238E27FC236}">
                <a16:creationId xmlns:a16="http://schemas.microsoft.com/office/drawing/2014/main" id="{52EDAA8C-59C2-69BD-8EB6-C295A4DABA98}"/>
              </a:ext>
            </a:extLst>
          </p:cNvPr>
          <p:cNvSpPr txBox="1"/>
          <p:nvPr/>
        </p:nvSpPr>
        <p:spPr>
          <a:xfrm>
            <a:off x="1215965" y="3021911"/>
            <a:ext cx="603929" cy="307777"/>
          </a:xfrm>
          <a:prstGeom prst="rect">
            <a:avLst/>
          </a:prstGeom>
          <a:noFill/>
        </p:spPr>
        <p:txBody>
          <a:bodyPr wrap="square" rtlCol="0">
            <a:spAutoFit/>
          </a:bodyPr>
          <a:lstStyle/>
          <a:p>
            <a:r>
              <a:rPr lang="it-IT" sz="1400" dirty="0"/>
              <a:t>8 </a:t>
            </a:r>
            <a:r>
              <a:rPr lang="it-IT" sz="1400" dirty="0" err="1"/>
              <a:t>pad</a:t>
            </a:r>
            <a:endParaRPr lang="en-GB" sz="1400" dirty="0"/>
          </a:p>
        </p:txBody>
      </p:sp>
      <p:sp>
        <p:nvSpPr>
          <p:cNvPr id="19" name="CasellaDiTesto 18">
            <a:extLst>
              <a:ext uri="{FF2B5EF4-FFF2-40B4-BE49-F238E27FC236}">
                <a16:creationId xmlns:a16="http://schemas.microsoft.com/office/drawing/2014/main" id="{FDDD6A30-C532-1EFC-74BA-51C1A481540A}"/>
              </a:ext>
            </a:extLst>
          </p:cNvPr>
          <p:cNvSpPr txBox="1"/>
          <p:nvPr/>
        </p:nvSpPr>
        <p:spPr>
          <a:xfrm>
            <a:off x="73468" y="1650196"/>
            <a:ext cx="1746426" cy="1200329"/>
          </a:xfrm>
          <a:prstGeom prst="rect">
            <a:avLst/>
          </a:prstGeom>
          <a:noFill/>
        </p:spPr>
        <p:txBody>
          <a:bodyPr wrap="square">
            <a:spAutoFit/>
          </a:bodyPr>
          <a:lstStyle/>
          <a:p>
            <a:r>
              <a:rPr lang="en-GB" dirty="0">
                <a:highlight>
                  <a:srgbClr val="FFFF00"/>
                </a:highlight>
              </a:rPr>
              <a:t>Left padding =d </a:t>
            </a:r>
            <a:r>
              <a:rPr lang="en-GB" dirty="0"/>
              <a:t>preserves sequence length</a:t>
            </a:r>
          </a:p>
        </p:txBody>
      </p:sp>
      <p:sp>
        <p:nvSpPr>
          <p:cNvPr id="21" name="CasellaDiTesto 20">
            <a:extLst>
              <a:ext uri="{FF2B5EF4-FFF2-40B4-BE49-F238E27FC236}">
                <a16:creationId xmlns:a16="http://schemas.microsoft.com/office/drawing/2014/main" id="{B1B9AEFA-7907-64B4-8368-E66FF4E286B0}"/>
              </a:ext>
            </a:extLst>
          </p:cNvPr>
          <p:cNvSpPr txBox="1"/>
          <p:nvPr/>
        </p:nvSpPr>
        <p:spPr>
          <a:xfrm>
            <a:off x="2057879" y="1860832"/>
            <a:ext cx="6532784" cy="369332"/>
          </a:xfrm>
          <a:prstGeom prst="rect">
            <a:avLst/>
          </a:prstGeom>
          <a:noFill/>
        </p:spPr>
        <p:txBody>
          <a:bodyPr wrap="square">
            <a:spAutoFit/>
          </a:bodyPr>
          <a:lstStyle/>
          <a:p>
            <a:r>
              <a:rPr lang="en-GB" b="1" dirty="0">
                <a:highlight>
                  <a:srgbClr val="FFFF00"/>
                </a:highlight>
              </a:rPr>
              <a:t>Causal: each output uses only current and past positions</a:t>
            </a:r>
          </a:p>
        </p:txBody>
      </p:sp>
    </p:spTree>
    <p:extLst>
      <p:ext uri="{BB962C8B-B14F-4D97-AF65-F5344CB8AC3E}">
        <p14:creationId xmlns:p14="http://schemas.microsoft.com/office/powerpoint/2010/main" val="2060776453"/>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a:t>WaveNet</a:t>
            </a:r>
            <a:endParaRPr lang="en-US" dirty="0"/>
          </a:p>
        </p:txBody>
      </p:sp>
      <p:sp>
        <p:nvSpPr>
          <p:cNvPr id="3" name="Content Placeholder 2"/>
          <p:cNvSpPr>
            <a:spLocks noGrp="1"/>
          </p:cNvSpPr>
          <p:nvPr>
            <p:ph idx="1"/>
          </p:nvPr>
        </p:nvSpPr>
        <p:spPr/>
        <p:txBody>
          <a:bodyPr>
            <a:normAutofit fontScale="92500" lnSpcReduction="10000"/>
          </a:bodyPr>
          <a:lstStyle/>
          <a:p>
            <a:r>
              <a:rPr lang="en-US" dirty="0"/>
              <a:t>In the </a:t>
            </a:r>
            <a:r>
              <a:rPr lang="en-US" dirty="0" err="1"/>
              <a:t>WaveNet</a:t>
            </a:r>
            <a:r>
              <a:rPr lang="en-US" dirty="0"/>
              <a:t> paper, the authors actually stacked 10 convolutional layers with dilation rates of 1, 2, 4, 8, …, 256, 512, then they </a:t>
            </a:r>
            <a:r>
              <a:rPr lang="en-US" b="1" dirty="0"/>
              <a:t>stacked another group of 10 identical layers</a:t>
            </a:r>
            <a:r>
              <a:rPr lang="en-US" dirty="0"/>
              <a:t> (also with dilation rates 1, 2, 4, 8, …, 256, 512), then again another identical group of 10 layers.</a:t>
            </a:r>
          </a:p>
          <a:p>
            <a:r>
              <a:rPr lang="en-US" dirty="0"/>
              <a:t>They justified this architecture by pointing out that </a:t>
            </a:r>
            <a:r>
              <a:rPr lang="en-US" b="1" dirty="0">
                <a:highlight>
                  <a:srgbClr val="FFFF00"/>
                </a:highlight>
              </a:rPr>
              <a:t>a single stack of 10 convolutional layers</a:t>
            </a:r>
            <a:r>
              <a:rPr lang="en-US" dirty="0"/>
              <a:t> with these dilation rates will act like a </a:t>
            </a:r>
            <a:r>
              <a:rPr lang="en-US" b="1" dirty="0">
                <a:highlight>
                  <a:srgbClr val="FFFF00"/>
                </a:highlight>
              </a:rPr>
              <a:t>super-efficient convolutional layer with a kernel of size 1,024</a:t>
            </a:r>
            <a:r>
              <a:rPr lang="en-US" dirty="0"/>
              <a:t> (except way faster, more powerful, and using significantly fewer parameters), </a:t>
            </a:r>
            <a:r>
              <a:rPr lang="en-US" dirty="0">
                <a:highlight>
                  <a:srgbClr val="FFFF00"/>
                </a:highlight>
              </a:rPr>
              <a:t>which is why they </a:t>
            </a:r>
            <a:r>
              <a:rPr lang="en-US" b="1" dirty="0">
                <a:highlight>
                  <a:srgbClr val="FFFF00"/>
                </a:highlight>
              </a:rPr>
              <a:t>stacked 3 such blocks</a:t>
            </a:r>
            <a:r>
              <a:rPr lang="en-US" dirty="0">
                <a:highlight>
                  <a:srgbClr val="FFFF00"/>
                </a:highlight>
              </a:rPr>
              <a:t>.</a:t>
            </a:r>
          </a:p>
          <a:p>
            <a:r>
              <a:rPr lang="en-US" dirty="0"/>
              <a:t>They </a:t>
            </a:r>
            <a:r>
              <a:rPr lang="en-US" b="1" dirty="0">
                <a:highlight>
                  <a:srgbClr val="FFFF00"/>
                </a:highlight>
              </a:rPr>
              <a:t>also left-padded the input sequences of each layer with a number of zeros equal to the dilation rate of the layer</a:t>
            </a:r>
            <a:r>
              <a:rPr lang="en-US" dirty="0"/>
              <a:t>, </a:t>
            </a:r>
            <a:r>
              <a:rPr lang="en-US" dirty="0">
                <a:highlight>
                  <a:srgbClr val="FFFF00"/>
                </a:highlight>
              </a:rPr>
              <a:t>to preserve the </a:t>
            </a:r>
            <a:r>
              <a:rPr lang="en-US" b="1" dirty="0">
                <a:highlight>
                  <a:srgbClr val="FFFF00"/>
                </a:highlight>
              </a:rPr>
              <a:t>same sequence length throughout the network</a:t>
            </a:r>
            <a:r>
              <a:rPr lang="en-US" dirty="0"/>
              <a:t>. (you would lose them at the beginning)</a:t>
            </a:r>
          </a:p>
          <a:p>
            <a:pPr lvl="1"/>
            <a:r>
              <a:rPr lang="it-IT" dirty="0" err="1"/>
              <a:t>Keras</a:t>
            </a:r>
            <a:r>
              <a:rPr lang="it-IT" dirty="0"/>
              <a:t> </a:t>
            </a:r>
            <a:r>
              <a:rPr lang="it-IT" dirty="0" err="1"/>
              <a:t>implementation</a:t>
            </a:r>
            <a:r>
              <a:rPr lang="it-IT" dirty="0"/>
              <a:t>: </a:t>
            </a:r>
            <a:r>
              <a:rPr lang="it-IT" b="1" dirty="0" err="1"/>
              <a:t>padding</a:t>
            </a:r>
            <a:r>
              <a:rPr lang="it-IT" b="1" dirty="0"/>
              <a:t>=«</a:t>
            </a:r>
            <a:r>
              <a:rPr lang="it-IT" b="1" dirty="0" err="1"/>
              <a:t>causal</a:t>
            </a:r>
            <a:r>
              <a:rPr lang="it-IT" b="1" dirty="0"/>
              <a:t>» </a:t>
            </a:r>
            <a:r>
              <a:rPr lang="it-IT" sz="1500" dirty="0"/>
              <a:t>(https://stackoverflow.com/</a:t>
            </a:r>
            <a:r>
              <a:rPr lang="it-IT" sz="1500" dirty="0" err="1"/>
              <a:t>questions</a:t>
            </a:r>
            <a:r>
              <a:rPr lang="it-IT" sz="1500" dirty="0"/>
              <a:t>/52578950/</a:t>
            </a:r>
            <a:r>
              <a:rPr lang="it-IT" sz="1500" dirty="0" err="1"/>
              <a:t>causal</a:t>
            </a:r>
            <a:r>
              <a:rPr lang="it-IT" sz="1500" dirty="0"/>
              <a:t>-</a:t>
            </a:r>
            <a:r>
              <a:rPr lang="it-IT" sz="1500" dirty="0" err="1"/>
              <a:t>padding</a:t>
            </a:r>
            <a:r>
              <a:rPr lang="it-IT" sz="1500" dirty="0"/>
              <a:t>-in-</a:t>
            </a:r>
            <a:r>
              <a:rPr lang="it-IT" sz="1500" dirty="0" err="1"/>
              <a:t>keras</a:t>
            </a:r>
            <a:r>
              <a:rPr lang="it-IT" sz="1500" dirty="0"/>
              <a:t>)</a:t>
            </a:r>
            <a:endParaRPr lang="en-US" dirty="0"/>
          </a:p>
        </p:txBody>
      </p:sp>
      <p:sp>
        <p:nvSpPr>
          <p:cNvPr id="4" name="Slide Number Placeholder 3"/>
          <p:cNvSpPr>
            <a:spLocks noGrp="1"/>
          </p:cNvSpPr>
          <p:nvPr>
            <p:ph type="sldNum" sz="quarter" idx="12"/>
          </p:nvPr>
        </p:nvSpPr>
        <p:spPr/>
        <p:txBody>
          <a:bodyPr/>
          <a:lstStyle/>
          <a:p>
            <a:fld id="{9B618960-8005-486C-9A75-10CB2AAC16F9}" type="slidenum">
              <a:rPr lang="en-US" smtClean="0"/>
              <a:t>196</a:t>
            </a:fld>
            <a:endParaRPr lang="en-US" dirty="0"/>
          </a:p>
        </p:txBody>
      </p:sp>
      <p:sp>
        <p:nvSpPr>
          <p:cNvPr id="5" name="CasellaDiTesto 4">
            <a:extLst>
              <a:ext uri="{FF2B5EF4-FFF2-40B4-BE49-F238E27FC236}">
                <a16:creationId xmlns:a16="http://schemas.microsoft.com/office/drawing/2014/main" id="{BEAA1C18-B604-CEFF-B898-56159DDE4209}"/>
              </a:ext>
            </a:extLst>
          </p:cNvPr>
          <p:cNvSpPr txBox="1"/>
          <p:nvPr/>
        </p:nvSpPr>
        <p:spPr>
          <a:xfrm>
            <a:off x="-66260" y="6027003"/>
            <a:ext cx="3657600" cy="830997"/>
          </a:xfrm>
          <a:prstGeom prst="rect">
            <a:avLst/>
          </a:prstGeom>
          <a:noFill/>
        </p:spPr>
        <p:txBody>
          <a:bodyPr wrap="square" rtlCol="0">
            <a:spAutoFit/>
          </a:bodyPr>
          <a:lstStyle/>
          <a:p>
            <a:r>
              <a:rPr lang="it-IT" sz="1600" b="1" dirty="0" err="1"/>
              <a:t>Increases</a:t>
            </a:r>
            <a:r>
              <a:rPr lang="it-IT" sz="1600" b="1" dirty="0"/>
              <a:t> the </a:t>
            </a:r>
            <a:r>
              <a:rPr lang="it-IT" sz="1600" b="1" dirty="0" err="1"/>
              <a:t>receptive</a:t>
            </a:r>
            <a:r>
              <a:rPr lang="it-IT" sz="1600" b="1" dirty="0"/>
              <a:t> field </a:t>
            </a:r>
            <a:r>
              <a:rPr lang="it-IT" sz="1600" b="1" dirty="0" err="1"/>
              <a:t>exponentially</a:t>
            </a:r>
            <a:r>
              <a:rPr lang="it-IT" sz="1600" b="1" dirty="0"/>
              <a:t> </a:t>
            </a:r>
            <a:r>
              <a:rPr lang="it-IT" sz="1600" b="1" dirty="0" err="1"/>
              <a:t>rather</a:t>
            </a:r>
            <a:r>
              <a:rPr lang="it-IT" sz="1600" b="1" dirty="0"/>
              <a:t> </a:t>
            </a:r>
            <a:r>
              <a:rPr lang="it-IT" sz="1600" b="1" dirty="0" err="1"/>
              <a:t>than</a:t>
            </a:r>
            <a:r>
              <a:rPr lang="it-IT" sz="1600" b="1" dirty="0"/>
              <a:t> </a:t>
            </a:r>
            <a:r>
              <a:rPr lang="it-IT" sz="1600" b="1" dirty="0" err="1"/>
              <a:t>linearly</a:t>
            </a:r>
            <a:r>
              <a:rPr lang="it-IT" sz="1600" b="1" dirty="0"/>
              <a:t> </a:t>
            </a:r>
          </a:p>
          <a:p>
            <a:r>
              <a:rPr lang="it-IT" sz="1600" dirty="0"/>
              <a:t>(so </a:t>
            </a:r>
            <a:r>
              <a:rPr lang="it-IT" sz="1600" dirty="0" err="1"/>
              <a:t>you</a:t>
            </a:r>
            <a:r>
              <a:rPr lang="it-IT" sz="1600" dirty="0"/>
              <a:t> </a:t>
            </a:r>
            <a:r>
              <a:rPr lang="it-IT" sz="1600" dirty="0" err="1"/>
              <a:t>need</a:t>
            </a:r>
            <a:r>
              <a:rPr lang="it-IT" sz="1600" dirty="0"/>
              <a:t> </a:t>
            </a:r>
            <a:r>
              <a:rPr lang="it-IT" sz="1600" dirty="0" err="1"/>
              <a:t>less</a:t>
            </a:r>
            <a:r>
              <a:rPr lang="it-IT" sz="1600" dirty="0"/>
              <a:t> </a:t>
            </a:r>
            <a:r>
              <a:rPr lang="it-IT" sz="1600" dirty="0" err="1"/>
              <a:t>layers</a:t>
            </a:r>
            <a:r>
              <a:rPr lang="it-IT" sz="1600" dirty="0"/>
              <a:t> =&gt; </a:t>
            </a:r>
            <a:r>
              <a:rPr lang="it-IT" sz="1600" dirty="0" err="1"/>
              <a:t>less</a:t>
            </a:r>
            <a:r>
              <a:rPr lang="it-IT" sz="1600" dirty="0"/>
              <a:t> weights) </a:t>
            </a:r>
            <a:endParaRPr lang="en-GB" sz="1600" dirty="0"/>
          </a:p>
        </p:txBody>
      </p:sp>
      <p:cxnSp>
        <p:nvCxnSpPr>
          <p:cNvPr id="7" name="Connettore 2 6">
            <a:extLst>
              <a:ext uri="{FF2B5EF4-FFF2-40B4-BE49-F238E27FC236}">
                <a16:creationId xmlns:a16="http://schemas.microsoft.com/office/drawing/2014/main" id="{58F53CB6-3E59-2BFD-41F3-D7661AB26DA2}"/>
              </a:ext>
            </a:extLst>
          </p:cNvPr>
          <p:cNvCxnSpPr>
            <a:cxnSpLocks/>
          </p:cNvCxnSpPr>
          <p:nvPr/>
        </p:nvCxnSpPr>
        <p:spPr>
          <a:xfrm flipV="1">
            <a:off x="219808" y="3894992"/>
            <a:ext cx="888023" cy="23032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CasellaDiTesto 8">
            <a:extLst>
              <a:ext uri="{FF2B5EF4-FFF2-40B4-BE49-F238E27FC236}">
                <a16:creationId xmlns:a16="http://schemas.microsoft.com/office/drawing/2014/main" id="{8BFFFD27-48ED-28D1-CDF5-1897DA334D13}"/>
              </a:ext>
            </a:extLst>
          </p:cNvPr>
          <p:cNvSpPr txBox="1"/>
          <p:nvPr/>
        </p:nvSpPr>
        <p:spPr>
          <a:xfrm>
            <a:off x="3255820" y="6158011"/>
            <a:ext cx="9108458" cy="307777"/>
          </a:xfrm>
          <a:prstGeom prst="rect">
            <a:avLst/>
          </a:prstGeom>
          <a:noFill/>
        </p:spPr>
        <p:txBody>
          <a:bodyPr wrap="square">
            <a:spAutoFit/>
          </a:bodyPr>
          <a:lstStyle/>
          <a:p>
            <a:r>
              <a:rPr lang="en-GB" sz="1400" b="1" dirty="0"/>
              <a:t>https://medium.com/@binwang007/clarify-different-padding-in-deep-learning-for-wavenet-foundation-4c54c52268a2</a:t>
            </a:r>
          </a:p>
        </p:txBody>
      </p:sp>
      <p:cxnSp>
        <p:nvCxnSpPr>
          <p:cNvPr id="11" name="Connettore 2 10">
            <a:extLst>
              <a:ext uri="{FF2B5EF4-FFF2-40B4-BE49-F238E27FC236}">
                <a16:creationId xmlns:a16="http://schemas.microsoft.com/office/drawing/2014/main" id="{7A164C07-980C-9CA3-5B81-1BFCDFB598F6}"/>
              </a:ext>
            </a:extLst>
          </p:cNvPr>
          <p:cNvCxnSpPr>
            <a:cxnSpLocks/>
          </p:cNvCxnSpPr>
          <p:nvPr/>
        </p:nvCxnSpPr>
        <p:spPr>
          <a:xfrm flipH="1" flipV="1">
            <a:off x="3775700" y="5178287"/>
            <a:ext cx="677030" cy="105925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3502458"/>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a:t>Simplified Wavenet</a:t>
            </a:r>
            <a:endParaRPr lang="en-US" dirty="0"/>
          </a:p>
        </p:txBody>
      </p:sp>
      <p:sp>
        <p:nvSpPr>
          <p:cNvPr id="3" name="Content Placeholder 2"/>
          <p:cNvSpPr>
            <a:spLocks noGrp="1"/>
          </p:cNvSpPr>
          <p:nvPr>
            <p:ph idx="1"/>
          </p:nvPr>
        </p:nvSpPr>
        <p:spPr/>
        <p:txBody>
          <a:bodyPr/>
          <a:lstStyle/>
          <a:p>
            <a:r>
              <a:rPr lang="en-US" dirty="0"/>
              <a:t>Here is how to implement a simplified </a:t>
            </a:r>
            <a:r>
              <a:rPr lang="en-US" dirty="0" err="1"/>
              <a:t>WaveNet</a:t>
            </a:r>
            <a:r>
              <a:rPr lang="en-US" dirty="0"/>
              <a:t> to tackle the same sequences as earlier:</a:t>
            </a:r>
          </a:p>
          <a:p>
            <a:endParaRPr lang="en-US" dirty="0"/>
          </a:p>
        </p:txBody>
      </p:sp>
      <p:sp>
        <p:nvSpPr>
          <p:cNvPr id="4" name="Slide Number Placeholder 3"/>
          <p:cNvSpPr>
            <a:spLocks noGrp="1"/>
          </p:cNvSpPr>
          <p:nvPr>
            <p:ph type="sldNum" sz="quarter" idx="12"/>
          </p:nvPr>
        </p:nvSpPr>
        <p:spPr/>
        <p:txBody>
          <a:bodyPr/>
          <a:lstStyle/>
          <a:p>
            <a:fld id="{9B618960-8005-486C-9A75-10CB2AAC16F9}" type="slidenum">
              <a:rPr lang="en-US" smtClean="0"/>
              <a:t>197</a:t>
            </a:fld>
            <a:endParaRPr lang="en-US"/>
          </a:p>
        </p:txBody>
      </p:sp>
      <p:grpSp>
        <p:nvGrpSpPr>
          <p:cNvPr id="8" name="Group 7"/>
          <p:cNvGrpSpPr/>
          <p:nvPr/>
        </p:nvGrpSpPr>
        <p:grpSpPr>
          <a:xfrm>
            <a:off x="1340889" y="2851598"/>
            <a:ext cx="7718445" cy="3504752"/>
            <a:chOff x="1698171" y="2157713"/>
            <a:chExt cx="7718445" cy="3504752"/>
          </a:xfrm>
        </p:grpSpPr>
        <p:grpSp>
          <p:nvGrpSpPr>
            <p:cNvPr id="7" name="Group 6"/>
            <p:cNvGrpSpPr/>
            <p:nvPr/>
          </p:nvGrpSpPr>
          <p:grpSpPr>
            <a:xfrm>
              <a:off x="1698171" y="2157713"/>
              <a:ext cx="7718445" cy="3504752"/>
              <a:chOff x="2746613" y="2322420"/>
              <a:chExt cx="3631842" cy="1031566"/>
            </a:xfrm>
          </p:grpSpPr>
          <p:pic>
            <p:nvPicPr>
              <p:cNvPr id="5" name="Picture 4"/>
              <p:cNvPicPr>
                <a:picLocks noChangeAspect="1"/>
              </p:cNvPicPr>
              <p:nvPr/>
            </p:nvPicPr>
            <p:blipFill>
              <a:blip r:embed="rId3"/>
              <a:stretch>
                <a:fillRect/>
              </a:stretch>
            </p:blipFill>
            <p:spPr>
              <a:xfrm>
                <a:off x="2746613" y="2322420"/>
                <a:ext cx="3631842" cy="781925"/>
              </a:xfrm>
              <a:prstGeom prst="rect">
                <a:avLst/>
              </a:prstGeom>
            </p:spPr>
          </p:pic>
          <p:pic>
            <p:nvPicPr>
              <p:cNvPr id="6" name="Picture 5"/>
              <p:cNvPicPr>
                <a:picLocks noChangeAspect="1"/>
              </p:cNvPicPr>
              <p:nvPr/>
            </p:nvPicPr>
            <p:blipFill>
              <a:blip r:embed="rId4"/>
              <a:stretch>
                <a:fillRect/>
              </a:stretch>
            </p:blipFill>
            <p:spPr>
              <a:xfrm>
                <a:off x="2746613" y="3124578"/>
                <a:ext cx="2588654" cy="229408"/>
              </a:xfrm>
              <a:prstGeom prst="rect">
                <a:avLst/>
              </a:prstGeom>
            </p:spPr>
          </p:pic>
        </p:grpSp>
        <p:sp>
          <p:nvSpPr>
            <p:cNvPr id="12" name="Rectangle 11"/>
            <p:cNvSpPr/>
            <p:nvPr/>
          </p:nvSpPr>
          <p:spPr>
            <a:xfrm>
              <a:off x="4788278" y="2926282"/>
              <a:ext cx="2036135" cy="369332"/>
            </a:xfrm>
            <a:prstGeom prst="rect">
              <a:avLst/>
            </a:prstGeom>
          </p:spPr>
          <p:txBody>
            <a:bodyPr wrap="none">
              <a:spAutoFit/>
            </a:bodyPr>
            <a:lstStyle/>
            <a:p>
              <a:r>
                <a:rPr lang="en-US" dirty="0"/>
                <a:t>(1, 2, 4, 8, 1, 2, 4, 8)</a:t>
              </a:r>
            </a:p>
          </p:txBody>
        </p:sp>
        <p:sp>
          <p:nvSpPr>
            <p:cNvPr id="13" name="Rectangle 12"/>
            <p:cNvSpPr/>
            <p:nvPr/>
          </p:nvSpPr>
          <p:spPr>
            <a:xfrm>
              <a:off x="6917635" y="3691677"/>
              <a:ext cx="1692965" cy="323732"/>
            </a:xfrm>
            <a:prstGeom prst="rect">
              <a:avLst/>
            </a:prstGeom>
            <a:solidFill>
              <a:srgbClr val="FFFF00">
                <a:alpha val="39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4919810" y="2926282"/>
              <a:ext cx="1692965" cy="323732"/>
            </a:xfrm>
            <a:prstGeom prst="rect">
              <a:avLst/>
            </a:prstGeom>
            <a:solidFill>
              <a:srgbClr val="FFFF00">
                <a:alpha val="39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7764117" y="3306403"/>
              <a:ext cx="1513107" cy="323732"/>
            </a:xfrm>
            <a:prstGeom prst="rect">
              <a:avLst/>
            </a:prstGeom>
            <a:solidFill>
              <a:srgbClr val="FFFF00">
                <a:alpha val="39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p:cNvSpPr txBox="1"/>
          <p:nvPr/>
        </p:nvSpPr>
        <p:spPr>
          <a:xfrm>
            <a:off x="7204586" y="6053839"/>
            <a:ext cx="1297859" cy="646331"/>
          </a:xfrm>
          <a:prstGeom prst="rect">
            <a:avLst/>
          </a:prstGeom>
          <a:noFill/>
        </p:spPr>
        <p:txBody>
          <a:bodyPr wrap="square" rtlCol="0">
            <a:spAutoFit/>
          </a:bodyPr>
          <a:lstStyle/>
          <a:p>
            <a:r>
              <a:rPr lang="it-IT" dirty="0"/>
              <a:t>Vertical convolution</a:t>
            </a:r>
            <a:endParaRPr lang="en-US" dirty="0"/>
          </a:p>
        </p:txBody>
      </p:sp>
      <p:cxnSp>
        <p:nvCxnSpPr>
          <p:cNvPr id="16" name="Straight Arrow Connector 15"/>
          <p:cNvCxnSpPr/>
          <p:nvPr/>
        </p:nvCxnSpPr>
        <p:spPr>
          <a:xfrm flipH="1" flipV="1">
            <a:off x="6186948" y="5051324"/>
            <a:ext cx="1017639" cy="105450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9129547" y="3982967"/>
            <a:ext cx="2627261" cy="584775"/>
          </a:xfrm>
          <a:prstGeom prst="rect">
            <a:avLst/>
          </a:prstGeom>
          <a:noFill/>
        </p:spPr>
        <p:txBody>
          <a:bodyPr wrap="square" rtlCol="0">
            <a:spAutoFit/>
          </a:bodyPr>
          <a:lstStyle/>
          <a:p>
            <a:r>
              <a:rPr lang="it-IT" sz="1600" dirty="0" err="1"/>
              <a:t>Produces</a:t>
            </a:r>
            <a:r>
              <a:rPr lang="it-IT" sz="1600" dirty="0"/>
              <a:t> a </a:t>
            </a:r>
            <a:r>
              <a:rPr lang="it-IT" sz="1600" dirty="0" err="1"/>
              <a:t>sequence</a:t>
            </a:r>
            <a:r>
              <a:rPr lang="it-IT" sz="1600" dirty="0"/>
              <a:t> </a:t>
            </a:r>
            <a:r>
              <a:rPr lang="it-IT" sz="1600" dirty="0" err="1"/>
              <a:t>having</a:t>
            </a:r>
            <a:r>
              <a:rPr lang="it-IT" sz="1600" dirty="0"/>
              <a:t> 20D for </a:t>
            </a:r>
            <a:r>
              <a:rPr lang="it-IT" sz="1600" dirty="0" err="1"/>
              <a:t>each</a:t>
            </a:r>
            <a:r>
              <a:rPr lang="it-IT" sz="1600" dirty="0"/>
              <a:t> frame</a:t>
            </a:r>
            <a:endParaRPr lang="en-US" sz="1600" dirty="0"/>
          </a:p>
        </p:txBody>
      </p:sp>
      <p:sp>
        <p:nvSpPr>
          <p:cNvPr id="10" name="Rectangle 9"/>
          <p:cNvSpPr/>
          <p:nvPr/>
        </p:nvSpPr>
        <p:spPr>
          <a:xfrm>
            <a:off x="5120640" y="4051069"/>
            <a:ext cx="598516" cy="232756"/>
          </a:xfrm>
          <a:prstGeom prst="rect">
            <a:avLst/>
          </a:prstGeom>
          <a:solidFill>
            <a:srgbClr val="FFFF00">
              <a:alpha val="27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a:off x="4725064" y="4791609"/>
            <a:ext cx="598516" cy="232756"/>
          </a:xfrm>
          <a:prstGeom prst="rect">
            <a:avLst/>
          </a:prstGeom>
          <a:solidFill>
            <a:srgbClr val="FFFF00">
              <a:alpha val="27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6543077" y="3276175"/>
            <a:ext cx="157761" cy="310488"/>
          </a:xfrm>
          <a:prstGeom prst="rect">
            <a:avLst/>
          </a:prstGeom>
          <a:solidFill>
            <a:srgbClr val="FFFF00">
              <a:alpha val="27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14">
            <a:extLst>
              <a:ext uri="{FF2B5EF4-FFF2-40B4-BE49-F238E27FC236}">
                <a16:creationId xmlns:a16="http://schemas.microsoft.com/office/drawing/2014/main" id="{F032D36F-9844-5CC6-830B-1A747C265880}"/>
              </a:ext>
            </a:extLst>
          </p:cNvPr>
          <p:cNvCxnSpPr>
            <a:cxnSpLocks/>
            <a:endCxn id="10" idx="3"/>
          </p:cNvCxnSpPr>
          <p:nvPr/>
        </p:nvCxnSpPr>
        <p:spPr>
          <a:xfrm flipH="1">
            <a:off x="5719156" y="2730249"/>
            <a:ext cx="2636383" cy="143719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15">
            <a:extLst>
              <a:ext uri="{FF2B5EF4-FFF2-40B4-BE49-F238E27FC236}">
                <a16:creationId xmlns:a16="http://schemas.microsoft.com/office/drawing/2014/main" id="{01F9CE97-A55F-ADCC-EA14-A8C37DE9907A}"/>
              </a:ext>
            </a:extLst>
          </p:cNvPr>
          <p:cNvSpPr txBox="1"/>
          <p:nvPr/>
        </p:nvSpPr>
        <p:spPr>
          <a:xfrm>
            <a:off x="8307093" y="2489100"/>
            <a:ext cx="2355640" cy="307777"/>
          </a:xfrm>
          <a:prstGeom prst="rect">
            <a:avLst/>
          </a:prstGeom>
          <a:noFill/>
        </p:spPr>
        <p:txBody>
          <a:bodyPr wrap="square" rtlCol="0">
            <a:spAutoFit/>
          </a:bodyPr>
          <a:lstStyle/>
          <a:p>
            <a:r>
              <a:rPr lang="it-IT" sz="1400" dirty="0"/>
              <a:t>20 filters =&gt; a 20D sequence</a:t>
            </a:r>
            <a:endParaRPr lang="en-US" sz="1400" dirty="0"/>
          </a:p>
        </p:txBody>
      </p:sp>
    </p:spTree>
    <p:extLst>
      <p:ext uri="{BB962C8B-B14F-4D97-AF65-F5344CB8AC3E}">
        <p14:creationId xmlns:p14="http://schemas.microsoft.com/office/powerpoint/2010/main" val="395391985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BA6BF59-44D2-A6AA-C53F-84B60554C90A}"/>
              </a:ext>
            </a:extLst>
          </p:cNvPr>
          <p:cNvSpPr>
            <a:spLocks noGrp="1"/>
          </p:cNvSpPr>
          <p:nvPr>
            <p:ph type="title"/>
          </p:nvPr>
        </p:nvSpPr>
        <p:spPr/>
        <p:txBody>
          <a:bodyPr>
            <a:normAutofit/>
          </a:bodyPr>
          <a:lstStyle/>
          <a:p>
            <a:r>
              <a:rPr lang="en-GB" dirty="0"/>
              <a:t>Block 5.I — </a:t>
            </a:r>
            <a:r>
              <a:rPr lang="en-GB" dirty="0" err="1"/>
              <a:t>WaveNet</a:t>
            </a:r>
            <a:r>
              <a:rPr lang="en-GB" dirty="0"/>
              <a:t> as an Influential Temporal Architecture</a:t>
            </a:r>
          </a:p>
        </p:txBody>
      </p:sp>
      <p:sp>
        <p:nvSpPr>
          <p:cNvPr id="3" name="Segnaposto contenuto 2">
            <a:extLst>
              <a:ext uri="{FF2B5EF4-FFF2-40B4-BE49-F238E27FC236}">
                <a16:creationId xmlns:a16="http://schemas.microsoft.com/office/drawing/2014/main" id="{C210212B-8E12-A4C6-ADD2-276A6E5F1FA9}"/>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66797689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0E9AE97-7C47-34B3-C69C-C9E7C0E20F08}"/>
              </a:ext>
            </a:extLst>
          </p:cNvPr>
          <p:cNvSpPr>
            <a:spLocks noGrp="1"/>
          </p:cNvSpPr>
          <p:nvPr>
            <p:ph type="title"/>
          </p:nvPr>
        </p:nvSpPr>
        <p:spPr/>
        <p:txBody>
          <a:bodyPr/>
          <a:lstStyle/>
          <a:p>
            <a:endParaRPr lang="en-GB"/>
          </a:p>
        </p:txBody>
      </p:sp>
      <p:pic>
        <p:nvPicPr>
          <p:cNvPr id="9" name="Segnaposto contenuto 8" descr="../_images/wavenet.png">
            <a:extLst>
              <a:ext uri="{FF2B5EF4-FFF2-40B4-BE49-F238E27FC236}">
                <a16:creationId xmlns:a16="http://schemas.microsoft.com/office/drawing/2014/main" id="{D58EC6B1-825E-666E-96C7-85FA8A237F12}"/>
              </a:ext>
            </a:extLst>
          </p:cNvPr>
          <p:cNvPicPr>
            <a:picLocks noGrp="1" noChangeAspect="1"/>
          </p:cNvPicPr>
          <p:nvPr>
            <p:ph idx="1"/>
          </p:nvPr>
        </p:nvPicPr>
        <p:blipFill>
          <a:blip r:embed="rId2"/>
          <a:stretch>
            <a:fillRect/>
          </a:stretch>
        </p:blipFill>
        <p:spPr>
          <a:xfrm>
            <a:off x="1997466" y="2230739"/>
            <a:ext cx="7137297" cy="3790588"/>
          </a:xfrm>
          <a:prstGeom prst="rect">
            <a:avLst/>
          </a:prstGeom>
        </p:spPr>
      </p:pic>
    </p:spTree>
    <p:extLst>
      <p:ext uri="{BB962C8B-B14F-4D97-AF65-F5344CB8AC3E}">
        <p14:creationId xmlns:p14="http://schemas.microsoft.com/office/powerpoint/2010/main" val="40660080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E6990FB-E70E-57E8-F021-F3909F615BD6}"/>
              </a:ext>
            </a:extLst>
          </p:cNvPr>
          <p:cNvSpPr>
            <a:spLocks noGrp="1"/>
          </p:cNvSpPr>
          <p:nvPr>
            <p:ph type="title"/>
          </p:nvPr>
        </p:nvSpPr>
        <p:spPr/>
        <p:txBody>
          <a:bodyPr/>
          <a:lstStyle/>
          <a:p>
            <a:r>
              <a:rPr lang="en-GB" dirty="0" err="1"/>
              <a:t>WaveNet</a:t>
            </a:r>
            <a:r>
              <a:rPr lang="en-GB" dirty="0"/>
              <a:t>: why it matters beyond audio</a:t>
            </a:r>
          </a:p>
        </p:txBody>
      </p:sp>
      <p:sp>
        <p:nvSpPr>
          <p:cNvPr id="3" name="Segnaposto contenuto 2">
            <a:extLst>
              <a:ext uri="{FF2B5EF4-FFF2-40B4-BE49-F238E27FC236}">
                <a16:creationId xmlns:a16="http://schemas.microsoft.com/office/drawing/2014/main" id="{C0A8C7E5-53E3-B25D-EFAA-0CF10EB6ECFC}"/>
              </a:ext>
            </a:extLst>
          </p:cNvPr>
          <p:cNvSpPr>
            <a:spLocks noGrp="1"/>
          </p:cNvSpPr>
          <p:nvPr>
            <p:ph sz="half" idx="1"/>
          </p:nvPr>
        </p:nvSpPr>
        <p:spPr>
          <a:xfrm>
            <a:off x="677334" y="2160588"/>
            <a:ext cx="6129866" cy="4468811"/>
          </a:xfrm>
        </p:spPr>
        <p:txBody>
          <a:bodyPr>
            <a:normAutofit/>
          </a:bodyPr>
          <a:lstStyle/>
          <a:p>
            <a:r>
              <a:rPr lang="en-GB" dirty="0" err="1"/>
              <a:t>WaveNet</a:t>
            </a:r>
            <a:r>
              <a:rPr lang="en-GB" dirty="0"/>
              <a:t> was introduced as a generative model for raw audio.</a:t>
            </a:r>
          </a:p>
          <a:p>
            <a:r>
              <a:rPr lang="en-GB" dirty="0"/>
              <a:t>Its importance for this course is </a:t>
            </a:r>
            <a:r>
              <a:rPr lang="en-GB" dirty="0">
                <a:highlight>
                  <a:srgbClr val="FFFF00"/>
                </a:highlight>
              </a:rPr>
              <a:t>architectural</a:t>
            </a:r>
            <a:r>
              <a:rPr lang="en-GB" dirty="0"/>
              <a:t> rather than application-specific.</a:t>
            </a:r>
          </a:p>
          <a:p>
            <a:r>
              <a:rPr lang="en-GB" dirty="0" err="1"/>
              <a:t>WaveNet</a:t>
            </a:r>
            <a:r>
              <a:rPr lang="en-GB" dirty="0"/>
              <a:t> showed that </a:t>
            </a:r>
            <a:r>
              <a:rPr lang="en-GB" b="1" dirty="0"/>
              <a:t>long temporal dependencies can be modelled using:</a:t>
            </a:r>
          </a:p>
          <a:p>
            <a:pPr lvl="1"/>
            <a:r>
              <a:rPr lang="en-GB" dirty="0"/>
              <a:t>causal convolution; </a:t>
            </a:r>
          </a:p>
          <a:p>
            <a:pPr lvl="1"/>
            <a:r>
              <a:rPr lang="en-GB" dirty="0"/>
              <a:t>dilated convolution; </a:t>
            </a:r>
          </a:p>
          <a:p>
            <a:pPr lvl="1"/>
            <a:r>
              <a:rPr lang="en-GB" dirty="0"/>
              <a:t>residual connections (continues through the stack); </a:t>
            </a:r>
          </a:p>
          <a:p>
            <a:pPr lvl="1"/>
            <a:r>
              <a:rPr lang="en-GB" dirty="0"/>
              <a:t>skip connections (bypasses later layers to the output); </a:t>
            </a:r>
          </a:p>
          <a:p>
            <a:pPr lvl="1"/>
            <a:r>
              <a:rPr lang="en-GB" dirty="0"/>
              <a:t>deep stacks of temporal filters. </a:t>
            </a:r>
          </a:p>
          <a:p>
            <a:endParaRPr lang="en-GB" dirty="0"/>
          </a:p>
        </p:txBody>
      </p:sp>
      <p:sp>
        <p:nvSpPr>
          <p:cNvPr id="4" name="Segnaposto contenuto 3">
            <a:extLst>
              <a:ext uri="{FF2B5EF4-FFF2-40B4-BE49-F238E27FC236}">
                <a16:creationId xmlns:a16="http://schemas.microsoft.com/office/drawing/2014/main" id="{2C6B29FD-91E1-A31E-BAF9-CDF78C5143F0}"/>
              </a:ext>
            </a:extLst>
          </p:cNvPr>
          <p:cNvSpPr>
            <a:spLocks noGrp="1"/>
          </p:cNvSpPr>
          <p:nvPr>
            <p:ph sz="half" idx="2"/>
          </p:nvPr>
        </p:nvSpPr>
        <p:spPr>
          <a:xfrm>
            <a:off x="7181985" y="2160588"/>
            <a:ext cx="4184034" cy="3880773"/>
          </a:xfrm>
        </p:spPr>
        <p:txBody>
          <a:bodyPr>
            <a:normAutofit/>
          </a:bodyPr>
          <a:lstStyle/>
          <a:p>
            <a:r>
              <a:rPr lang="en-GB" dirty="0"/>
              <a:t>Instead of propagating a recurrent state: h[t−1] → h[t]</a:t>
            </a:r>
          </a:p>
          <a:p>
            <a:r>
              <a:rPr lang="en-GB" b="1" dirty="0" err="1">
                <a:highlight>
                  <a:srgbClr val="FFFF00"/>
                </a:highlight>
              </a:rPr>
              <a:t>WaveNet</a:t>
            </a:r>
            <a:r>
              <a:rPr lang="en-GB" b="1" dirty="0">
                <a:highlight>
                  <a:srgbClr val="FFFF00"/>
                </a:highlight>
              </a:rPr>
              <a:t> builds a large historical receptive field through a hierarchy of causal dilated convolutions.</a:t>
            </a:r>
          </a:p>
          <a:p>
            <a:endParaRPr lang="en-GB" dirty="0"/>
          </a:p>
          <a:p>
            <a:r>
              <a:rPr lang="en-GB" b="1" dirty="0" err="1"/>
              <a:t>WaveNet</a:t>
            </a:r>
            <a:r>
              <a:rPr lang="en-GB" b="1" dirty="0"/>
              <a:t> is an important example of long-range sequence modelling without recurrence.</a:t>
            </a:r>
          </a:p>
          <a:p>
            <a:endParaRPr lang="en-GB" dirty="0"/>
          </a:p>
        </p:txBody>
      </p:sp>
    </p:spTree>
    <p:extLst>
      <p:ext uri="{BB962C8B-B14F-4D97-AF65-F5344CB8AC3E}">
        <p14:creationId xmlns:p14="http://schemas.microsoft.com/office/powerpoint/2010/main" val="172500292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0F172A"/>
                </a:solidFill>
                <a:effectLst/>
                <a:uFillTx/>
                <a:latin typeface="Aptos Display"/>
                <a:ea typeface="Aptos Display"/>
              </a:rPr>
              <a:t>WaveNet: architectural lesson</a:t>
            </a:r>
            <a:endParaRPr lang="it-IT" sz="3000" b="0" u="none" strike="noStrike">
              <a:solidFill>
                <a:srgbClr val="000000"/>
              </a:solidFill>
              <a:effectLst/>
              <a:uFillTx/>
              <a:latin typeface="Arial"/>
            </a:endParaRPr>
          </a:p>
        </p:txBody>
      </p:sp>
      <p:sp>
        <p:nvSpPr>
          <p:cNvPr id="12"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Long-range sequence modelling without recurrent state propagation</a:t>
            </a:r>
            <a:endParaRPr lang="it-IT" sz="1500" b="0" u="none" strike="noStrike">
              <a:solidFill>
                <a:srgbClr val="000000"/>
              </a:solidFill>
              <a:effectLst/>
              <a:uFillTx/>
              <a:latin typeface="Arial"/>
            </a:endParaRPr>
          </a:p>
        </p:txBody>
      </p:sp>
      <p:sp>
        <p:nvSpPr>
          <p:cNvPr id="13" name="Text 2"/>
          <p:cNvSpPr/>
          <p:nvPr/>
        </p:nvSpPr>
        <p:spPr>
          <a:xfrm>
            <a:off x="914400" y="1234440"/>
            <a:ext cx="41144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0F172A"/>
                </a:solidFill>
                <a:effectLst/>
                <a:uFillTx/>
                <a:latin typeface="Aptos"/>
                <a:ea typeface="Aptos"/>
              </a:rPr>
              <a:t>Recurrent state propagation</a:t>
            </a:r>
            <a:endParaRPr lang="it-IT" sz="1600" b="0" u="none" strike="noStrike">
              <a:solidFill>
                <a:srgbClr val="000000"/>
              </a:solidFill>
              <a:effectLst/>
              <a:uFillTx/>
              <a:latin typeface="Arial"/>
            </a:endParaRPr>
          </a:p>
        </p:txBody>
      </p:sp>
      <p:sp>
        <p:nvSpPr>
          <p:cNvPr id="14" name="Shape 3"/>
          <p:cNvSpPr/>
          <p:nvPr/>
        </p:nvSpPr>
        <p:spPr>
          <a:xfrm>
            <a:off x="1005840" y="2011680"/>
            <a:ext cx="658080" cy="502560"/>
          </a:xfrm>
          <a:prstGeom prst="roundRect">
            <a:avLst>
              <a:gd name="adj" fmla="val 14545"/>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5" name="Text 4"/>
          <p:cNvSpPr/>
          <p:nvPr/>
        </p:nvSpPr>
        <p:spPr>
          <a:xfrm>
            <a:off x="1051560" y="2048400"/>
            <a:ext cx="56664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100" b="1" u="none" strike="noStrike">
                <a:solidFill>
                  <a:srgbClr val="0F172A"/>
                </a:solidFill>
                <a:effectLst/>
                <a:uFillTx/>
                <a:latin typeface="Aptos"/>
                <a:ea typeface="Aptos"/>
              </a:rPr>
              <a:t>h[t-4]</a:t>
            </a:r>
            <a:endParaRPr lang="it-IT" sz="1100" b="0" u="none" strike="noStrike">
              <a:solidFill>
                <a:srgbClr val="000000"/>
              </a:solidFill>
              <a:effectLst/>
              <a:uFillTx/>
              <a:latin typeface="Arial"/>
            </a:endParaRPr>
          </a:p>
        </p:txBody>
      </p:sp>
      <p:sp>
        <p:nvSpPr>
          <p:cNvPr id="16" name="Shape 5"/>
          <p:cNvSpPr/>
          <p:nvPr/>
        </p:nvSpPr>
        <p:spPr>
          <a:xfrm>
            <a:off x="1663920" y="2267640"/>
            <a:ext cx="256320" cy="360"/>
          </a:xfrm>
          <a:prstGeom prst="line">
            <a:avLst/>
          </a:prstGeom>
          <a:ln w="1651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17" name="Shape 6"/>
          <p:cNvSpPr/>
          <p:nvPr/>
        </p:nvSpPr>
        <p:spPr>
          <a:xfrm>
            <a:off x="1920240" y="2011680"/>
            <a:ext cx="658080" cy="502560"/>
          </a:xfrm>
          <a:prstGeom prst="roundRect">
            <a:avLst>
              <a:gd name="adj" fmla="val 14545"/>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18" name="Text 7"/>
          <p:cNvSpPr/>
          <p:nvPr/>
        </p:nvSpPr>
        <p:spPr>
          <a:xfrm>
            <a:off x="1965960" y="2048400"/>
            <a:ext cx="56664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100" b="1" u="none" strike="noStrike">
                <a:solidFill>
                  <a:srgbClr val="0F172A"/>
                </a:solidFill>
                <a:effectLst/>
                <a:uFillTx/>
                <a:latin typeface="Aptos"/>
                <a:ea typeface="Aptos"/>
              </a:rPr>
              <a:t>h[t-3]</a:t>
            </a:r>
            <a:endParaRPr lang="it-IT" sz="1100" b="0" u="none" strike="noStrike">
              <a:solidFill>
                <a:srgbClr val="000000"/>
              </a:solidFill>
              <a:effectLst/>
              <a:uFillTx/>
              <a:latin typeface="Arial"/>
            </a:endParaRPr>
          </a:p>
        </p:txBody>
      </p:sp>
      <p:sp>
        <p:nvSpPr>
          <p:cNvPr id="19" name="Shape 8"/>
          <p:cNvSpPr/>
          <p:nvPr/>
        </p:nvSpPr>
        <p:spPr>
          <a:xfrm>
            <a:off x="2578320" y="2267640"/>
            <a:ext cx="256320" cy="360"/>
          </a:xfrm>
          <a:prstGeom prst="line">
            <a:avLst/>
          </a:prstGeom>
          <a:ln w="1651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0" name="Shape 9"/>
          <p:cNvSpPr/>
          <p:nvPr/>
        </p:nvSpPr>
        <p:spPr>
          <a:xfrm>
            <a:off x="2834640" y="2011680"/>
            <a:ext cx="658080" cy="502560"/>
          </a:xfrm>
          <a:prstGeom prst="roundRect">
            <a:avLst>
              <a:gd name="adj" fmla="val 14545"/>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1" name="Text 10"/>
          <p:cNvSpPr/>
          <p:nvPr/>
        </p:nvSpPr>
        <p:spPr>
          <a:xfrm>
            <a:off x="2880360" y="2048400"/>
            <a:ext cx="56664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100" b="1" u="none" strike="noStrike">
                <a:solidFill>
                  <a:srgbClr val="0F172A"/>
                </a:solidFill>
                <a:effectLst/>
                <a:uFillTx/>
                <a:latin typeface="Aptos"/>
                <a:ea typeface="Aptos"/>
              </a:rPr>
              <a:t>h[t-2]</a:t>
            </a:r>
            <a:endParaRPr lang="it-IT" sz="1100" b="0" u="none" strike="noStrike">
              <a:solidFill>
                <a:srgbClr val="000000"/>
              </a:solidFill>
              <a:effectLst/>
              <a:uFillTx/>
              <a:latin typeface="Arial"/>
            </a:endParaRPr>
          </a:p>
        </p:txBody>
      </p:sp>
      <p:sp>
        <p:nvSpPr>
          <p:cNvPr id="22" name="Shape 11"/>
          <p:cNvSpPr/>
          <p:nvPr/>
        </p:nvSpPr>
        <p:spPr>
          <a:xfrm>
            <a:off x="3492720" y="2267640"/>
            <a:ext cx="256320" cy="360"/>
          </a:xfrm>
          <a:prstGeom prst="line">
            <a:avLst/>
          </a:prstGeom>
          <a:ln w="1651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3" name="Shape 12"/>
          <p:cNvSpPr/>
          <p:nvPr/>
        </p:nvSpPr>
        <p:spPr>
          <a:xfrm>
            <a:off x="3749040" y="2011680"/>
            <a:ext cx="658080" cy="502560"/>
          </a:xfrm>
          <a:prstGeom prst="roundRect">
            <a:avLst>
              <a:gd name="adj" fmla="val 14545"/>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4" name="Text 13"/>
          <p:cNvSpPr/>
          <p:nvPr/>
        </p:nvSpPr>
        <p:spPr>
          <a:xfrm>
            <a:off x="3794760" y="2048400"/>
            <a:ext cx="56664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100" b="1" u="none" strike="noStrike">
                <a:solidFill>
                  <a:srgbClr val="0F172A"/>
                </a:solidFill>
                <a:effectLst/>
                <a:uFillTx/>
                <a:latin typeface="Aptos"/>
                <a:ea typeface="Aptos"/>
              </a:rPr>
              <a:t>h[t-1]</a:t>
            </a:r>
            <a:endParaRPr lang="it-IT" sz="1100" b="0" u="none" strike="noStrike">
              <a:solidFill>
                <a:srgbClr val="000000"/>
              </a:solidFill>
              <a:effectLst/>
              <a:uFillTx/>
              <a:latin typeface="Arial"/>
            </a:endParaRPr>
          </a:p>
        </p:txBody>
      </p:sp>
      <p:sp>
        <p:nvSpPr>
          <p:cNvPr id="25" name="Shape 14"/>
          <p:cNvSpPr/>
          <p:nvPr/>
        </p:nvSpPr>
        <p:spPr>
          <a:xfrm>
            <a:off x="4407120" y="2267640"/>
            <a:ext cx="256320" cy="360"/>
          </a:xfrm>
          <a:prstGeom prst="line">
            <a:avLst/>
          </a:prstGeom>
          <a:ln w="1651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6" name="Shape 15"/>
          <p:cNvSpPr/>
          <p:nvPr/>
        </p:nvSpPr>
        <p:spPr>
          <a:xfrm>
            <a:off x="4663440" y="2011680"/>
            <a:ext cx="658080" cy="502560"/>
          </a:xfrm>
          <a:prstGeom prst="roundRect">
            <a:avLst>
              <a:gd name="adj" fmla="val 14545"/>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7" name="Text 16"/>
          <p:cNvSpPr/>
          <p:nvPr/>
        </p:nvSpPr>
        <p:spPr>
          <a:xfrm>
            <a:off x="4709160" y="2048400"/>
            <a:ext cx="56664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100" b="1" u="none" strike="noStrike">
                <a:solidFill>
                  <a:srgbClr val="0F172A"/>
                </a:solidFill>
                <a:effectLst/>
                <a:uFillTx/>
                <a:latin typeface="Aptos"/>
                <a:ea typeface="Aptos"/>
              </a:rPr>
              <a:t>h[t]</a:t>
            </a:r>
            <a:endParaRPr lang="it-IT" sz="1100" b="0" u="none" strike="noStrike">
              <a:solidFill>
                <a:srgbClr val="000000"/>
              </a:solidFill>
              <a:effectLst/>
              <a:uFillTx/>
              <a:latin typeface="Arial"/>
            </a:endParaRPr>
          </a:p>
        </p:txBody>
      </p:sp>
      <p:sp>
        <p:nvSpPr>
          <p:cNvPr id="28" name="Text 17"/>
          <p:cNvSpPr/>
          <p:nvPr/>
        </p:nvSpPr>
        <p:spPr>
          <a:xfrm>
            <a:off x="1051560" y="2788920"/>
            <a:ext cx="429732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300" b="0" u="none" strike="noStrike">
                <a:solidFill>
                  <a:srgbClr val="475569"/>
                </a:solidFill>
                <a:effectLst/>
                <a:uFillTx/>
                <a:latin typeface="Aptos"/>
                <a:ea typeface="Aptos"/>
              </a:rPr>
              <a:t>sequential dependency</a:t>
            </a:r>
            <a:endParaRPr lang="it-IT" sz="1300" b="0" u="none" strike="noStrike">
              <a:solidFill>
                <a:srgbClr val="000000"/>
              </a:solidFill>
              <a:effectLst/>
              <a:uFillTx/>
              <a:latin typeface="Arial"/>
            </a:endParaRPr>
          </a:p>
        </p:txBody>
      </p:sp>
      <p:sp>
        <p:nvSpPr>
          <p:cNvPr id="29" name="Text 18"/>
          <p:cNvSpPr/>
          <p:nvPr/>
        </p:nvSpPr>
        <p:spPr>
          <a:xfrm>
            <a:off x="6126480" y="1234440"/>
            <a:ext cx="41144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dirty="0">
                <a:solidFill>
                  <a:srgbClr val="0F172A"/>
                </a:solidFill>
                <a:effectLst/>
                <a:uFillTx/>
                <a:latin typeface="Aptos"/>
                <a:ea typeface="Aptos"/>
              </a:rPr>
              <a:t>Causal dilated convolution</a:t>
            </a:r>
            <a:endParaRPr lang="it-IT" sz="1600" b="0" u="none" strike="noStrike" dirty="0">
              <a:solidFill>
                <a:srgbClr val="000000"/>
              </a:solidFill>
              <a:effectLst/>
              <a:uFillTx/>
              <a:latin typeface="Arial"/>
            </a:endParaRPr>
          </a:p>
        </p:txBody>
      </p:sp>
      <p:sp>
        <p:nvSpPr>
          <p:cNvPr id="30" name="Shape 19"/>
          <p:cNvSpPr/>
          <p:nvPr/>
        </p:nvSpPr>
        <p:spPr>
          <a:xfrm>
            <a:off x="6355080" y="2606040"/>
            <a:ext cx="3246120" cy="360"/>
          </a:xfrm>
          <a:prstGeom prst="line">
            <a:avLst/>
          </a:prstGeom>
          <a:ln w="1524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1" name="Shape 20"/>
          <p:cNvSpPr/>
          <p:nvPr/>
        </p:nvSpPr>
        <p:spPr>
          <a:xfrm>
            <a:off x="9363600" y="2551320"/>
            <a:ext cx="109440" cy="10944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000000"/>
              </a:solidFill>
              <a:effectLst/>
              <a:uFillTx/>
              <a:latin typeface="Arial"/>
            </a:endParaRPr>
          </a:p>
        </p:txBody>
      </p:sp>
      <p:sp>
        <p:nvSpPr>
          <p:cNvPr id="32" name="Shape 21"/>
          <p:cNvSpPr/>
          <p:nvPr/>
        </p:nvSpPr>
        <p:spPr>
          <a:xfrm>
            <a:off x="9208080" y="2551320"/>
            <a:ext cx="109440" cy="109440"/>
          </a:xfrm>
          <a:prstGeom prst="ellipse">
            <a:avLst/>
          </a:prstGeom>
          <a:solidFill>
            <a:srgbClr val="F59E0B"/>
          </a:solidFill>
          <a:ln w="12700">
            <a:solidFill>
              <a:srgbClr val="F59E0B"/>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000000"/>
              </a:solidFill>
              <a:effectLst/>
              <a:uFillTx/>
              <a:latin typeface="Arial"/>
            </a:endParaRPr>
          </a:p>
        </p:txBody>
      </p:sp>
      <p:sp>
        <p:nvSpPr>
          <p:cNvPr id="33" name="Shape 22"/>
          <p:cNvSpPr/>
          <p:nvPr/>
        </p:nvSpPr>
        <p:spPr>
          <a:xfrm>
            <a:off x="9052560" y="2551320"/>
            <a:ext cx="109440" cy="109440"/>
          </a:xfrm>
          <a:prstGeom prst="ellipse">
            <a:avLst/>
          </a:prstGeom>
          <a:solidFill>
            <a:srgbClr val="7C3AED"/>
          </a:solidFill>
          <a:ln w="12700">
            <a:solidFill>
              <a:srgbClr val="7C3AED"/>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FFFFFF"/>
              </a:solidFill>
              <a:effectLst/>
              <a:uFillTx/>
              <a:latin typeface="Arial"/>
            </a:endParaRPr>
          </a:p>
        </p:txBody>
      </p:sp>
      <p:sp>
        <p:nvSpPr>
          <p:cNvPr id="34" name="Text 23"/>
          <p:cNvSpPr/>
          <p:nvPr/>
        </p:nvSpPr>
        <p:spPr>
          <a:xfrm>
            <a:off x="5577840" y="2496240"/>
            <a:ext cx="6854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r" defTabSz="914400">
              <a:lnSpc>
                <a:spcPct val="100000"/>
              </a:lnSpc>
              <a:tabLst>
                <a:tab pos="0" algn="l"/>
              </a:tabLst>
            </a:pPr>
            <a:r>
              <a:rPr lang="en-US" sz="1000" b="0" u="none" strike="noStrike">
                <a:solidFill>
                  <a:srgbClr val="475569"/>
                </a:solidFill>
                <a:effectLst/>
                <a:uFillTx/>
                <a:latin typeface="Aptos"/>
                <a:ea typeface="Aptos"/>
              </a:rPr>
              <a:t>dilation 1</a:t>
            </a:r>
            <a:endParaRPr lang="it-IT" sz="1000" b="0" u="none" strike="noStrike">
              <a:solidFill>
                <a:srgbClr val="000000"/>
              </a:solidFill>
              <a:effectLst/>
              <a:uFillTx/>
              <a:latin typeface="Arial"/>
            </a:endParaRPr>
          </a:p>
        </p:txBody>
      </p:sp>
      <p:sp>
        <p:nvSpPr>
          <p:cNvPr id="35" name="Shape 24"/>
          <p:cNvSpPr/>
          <p:nvPr/>
        </p:nvSpPr>
        <p:spPr>
          <a:xfrm>
            <a:off x="6355080" y="2331720"/>
            <a:ext cx="3246120" cy="360"/>
          </a:xfrm>
          <a:prstGeom prst="line">
            <a:avLst/>
          </a:prstGeom>
          <a:ln w="1524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6" name="Shape 25"/>
          <p:cNvSpPr/>
          <p:nvPr/>
        </p:nvSpPr>
        <p:spPr>
          <a:xfrm>
            <a:off x="9363600" y="2277000"/>
            <a:ext cx="109440" cy="10944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000000"/>
              </a:solidFill>
              <a:effectLst/>
              <a:uFillTx/>
              <a:latin typeface="Arial"/>
            </a:endParaRPr>
          </a:p>
        </p:txBody>
      </p:sp>
      <p:sp>
        <p:nvSpPr>
          <p:cNvPr id="37" name="Shape 26"/>
          <p:cNvSpPr/>
          <p:nvPr/>
        </p:nvSpPr>
        <p:spPr>
          <a:xfrm>
            <a:off x="9052560" y="2277000"/>
            <a:ext cx="109440" cy="109440"/>
          </a:xfrm>
          <a:prstGeom prst="ellipse">
            <a:avLst/>
          </a:prstGeom>
          <a:solidFill>
            <a:srgbClr val="F59E0B"/>
          </a:solidFill>
          <a:ln w="12700">
            <a:solidFill>
              <a:srgbClr val="F59E0B"/>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000000"/>
              </a:solidFill>
              <a:effectLst/>
              <a:uFillTx/>
              <a:latin typeface="Arial"/>
            </a:endParaRPr>
          </a:p>
        </p:txBody>
      </p:sp>
      <p:sp>
        <p:nvSpPr>
          <p:cNvPr id="38" name="Shape 27"/>
          <p:cNvSpPr/>
          <p:nvPr/>
        </p:nvSpPr>
        <p:spPr>
          <a:xfrm>
            <a:off x="8741520" y="2277000"/>
            <a:ext cx="109440" cy="109440"/>
          </a:xfrm>
          <a:prstGeom prst="ellipse">
            <a:avLst/>
          </a:prstGeom>
          <a:solidFill>
            <a:srgbClr val="7C3AED"/>
          </a:solidFill>
          <a:ln w="12700">
            <a:solidFill>
              <a:srgbClr val="7C3AED"/>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FFFFFF"/>
              </a:solidFill>
              <a:effectLst/>
              <a:uFillTx/>
              <a:latin typeface="Arial"/>
            </a:endParaRPr>
          </a:p>
        </p:txBody>
      </p:sp>
      <p:sp>
        <p:nvSpPr>
          <p:cNvPr id="39" name="Text 28"/>
          <p:cNvSpPr/>
          <p:nvPr/>
        </p:nvSpPr>
        <p:spPr>
          <a:xfrm>
            <a:off x="5577840" y="2221920"/>
            <a:ext cx="6854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r" defTabSz="914400">
              <a:lnSpc>
                <a:spcPct val="100000"/>
              </a:lnSpc>
              <a:tabLst>
                <a:tab pos="0" algn="l"/>
              </a:tabLst>
            </a:pPr>
            <a:r>
              <a:rPr lang="en-US" sz="1000" b="0" u="none" strike="noStrike">
                <a:solidFill>
                  <a:srgbClr val="475569"/>
                </a:solidFill>
                <a:effectLst/>
                <a:uFillTx/>
                <a:latin typeface="Aptos"/>
                <a:ea typeface="Aptos"/>
              </a:rPr>
              <a:t>dilation 2</a:t>
            </a:r>
            <a:endParaRPr lang="it-IT" sz="1000" b="0" u="none" strike="noStrike">
              <a:solidFill>
                <a:srgbClr val="000000"/>
              </a:solidFill>
              <a:effectLst/>
              <a:uFillTx/>
              <a:latin typeface="Arial"/>
            </a:endParaRPr>
          </a:p>
        </p:txBody>
      </p:sp>
      <p:sp>
        <p:nvSpPr>
          <p:cNvPr id="40" name="Shape 29"/>
          <p:cNvSpPr/>
          <p:nvPr/>
        </p:nvSpPr>
        <p:spPr>
          <a:xfrm>
            <a:off x="6355080" y="2057400"/>
            <a:ext cx="3246120" cy="360"/>
          </a:xfrm>
          <a:prstGeom prst="line">
            <a:avLst/>
          </a:prstGeom>
          <a:ln w="1524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1" name="Shape 30"/>
          <p:cNvSpPr/>
          <p:nvPr/>
        </p:nvSpPr>
        <p:spPr>
          <a:xfrm>
            <a:off x="9363600" y="2002680"/>
            <a:ext cx="109440" cy="10944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000000"/>
              </a:solidFill>
              <a:effectLst/>
              <a:uFillTx/>
              <a:latin typeface="Arial"/>
            </a:endParaRPr>
          </a:p>
        </p:txBody>
      </p:sp>
      <p:sp>
        <p:nvSpPr>
          <p:cNvPr id="42" name="Shape 31"/>
          <p:cNvSpPr/>
          <p:nvPr/>
        </p:nvSpPr>
        <p:spPr>
          <a:xfrm>
            <a:off x="8741520" y="2002680"/>
            <a:ext cx="109440" cy="109440"/>
          </a:xfrm>
          <a:prstGeom prst="ellipse">
            <a:avLst/>
          </a:prstGeom>
          <a:solidFill>
            <a:srgbClr val="F59E0B"/>
          </a:solidFill>
          <a:ln w="12700">
            <a:solidFill>
              <a:srgbClr val="F59E0B"/>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000000"/>
              </a:solidFill>
              <a:effectLst/>
              <a:uFillTx/>
              <a:latin typeface="Arial"/>
            </a:endParaRPr>
          </a:p>
        </p:txBody>
      </p:sp>
      <p:sp>
        <p:nvSpPr>
          <p:cNvPr id="43" name="Shape 32"/>
          <p:cNvSpPr/>
          <p:nvPr/>
        </p:nvSpPr>
        <p:spPr>
          <a:xfrm>
            <a:off x="8119800" y="2002680"/>
            <a:ext cx="109440" cy="109440"/>
          </a:xfrm>
          <a:prstGeom prst="ellipse">
            <a:avLst/>
          </a:prstGeom>
          <a:solidFill>
            <a:srgbClr val="7C3AED"/>
          </a:solidFill>
          <a:ln w="12700">
            <a:solidFill>
              <a:srgbClr val="7C3AED"/>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FFFFFF"/>
              </a:solidFill>
              <a:effectLst/>
              <a:uFillTx/>
              <a:latin typeface="Arial"/>
            </a:endParaRPr>
          </a:p>
        </p:txBody>
      </p:sp>
      <p:sp>
        <p:nvSpPr>
          <p:cNvPr id="44" name="Text 33"/>
          <p:cNvSpPr/>
          <p:nvPr/>
        </p:nvSpPr>
        <p:spPr>
          <a:xfrm>
            <a:off x="5577840" y="1947600"/>
            <a:ext cx="6854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r" defTabSz="914400">
              <a:lnSpc>
                <a:spcPct val="100000"/>
              </a:lnSpc>
              <a:tabLst>
                <a:tab pos="0" algn="l"/>
              </a:tabLst>
            </a:pPr>
            <a:r>
              <a:rPr lang="en-US" sz="1000" b="0" u="none" strike="noStrike" dirty="0">
                <a:solidFill>
                  <a:srgbClr val="475569"/>
                </a:solidFill>
                <a:effectLst/>
                <a:uFillTx/>
                <a:latin typeface="Aptos"/>
                <a:ea typeface="Aptos"/>
              </a:rPr>
              <a:t>dilation 4</a:t>
            </a:r>
            <a:endParaRPr lang="it-IT" sz="1000" b="0" u="none" strike="noStrike" dirty="0">
              <a:solidFill>
                <a:srgbClr val="000000"/>
              </a:solidFill>
              <a:effectLst/>
              <a:uFillTx/>
              <a:latin typeface="Arial"/>
            </a:endParaRPr>
          </a:p>
        </p:txBody>
      </p:sp>
      <p:sp>
        <p:nvSpPr>
          <p:cNvPr id="45" name="Shape 34"/>
          <p:cNvSpPr/>
          <p:nvPr/>
        </p:nvSpPr>
        <p:spPr>
          <a:xfrm>
            <a:off x="6355080" y="1783080"/>
            <a:ext cx="3246120" cy="360"/>
          </a:xfrm>
          <a:prstGeom prst="line">
            <a:avLst/>
          </a:prstGeom>
          <a:ln w="1524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6" name="Shape 35"/>
          <p:cNvSpPr/>
          <p:nvPr/>
        </p:nvSpPr>
        <p:spPr>
          <a:xfrm>
            <a:off x="9363600" y="1728360"/>
            <a:ext cx="109440" cy="10944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000000"/>
              </a:solidFill>
              <a:effectLst/>
              <a:uFillTx/>
              <a:latin typeface="Arial"/>
            </a:endParaRPr>
          </a:p>
        </p:txBody>
      </p:sp>
      <p:sp>
        <p:nvSpPr>
          <p:cNvPr id="47" name="Shape 36"/>
          <p:cNvSpPr/>
          <p:nvPr/>
        </p:nvSpPr>
        <p:spPr>
          <a:xfrm>
            <a:off x="8119800" y="1728360"/>
            <a:ext cx="109440" cy="109440"/>
          </a:xfrm>
          <a:prstGeom prst="ellipse">
            <a:avLst/>
          </a:prstGeom>
          <a:solidFill>
            <a:srgbClr val="F59E0B"/>
          </a:solidFill>
          <a:ln w="12700">
            <a:solidFill>
              <a:srgbClr val="F59E0B"/>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000000"/>
              </a:solidFill>
              <a:effectLst/>
              <a:uFillTx/>
              <a:latin typeface="Arial"/>
            </a:endParaRPr>
          </a:p>
        </p:txBody>
      </p:sp>
      <p:sp>
        <p:nvSpPr>
          <p:cNvPr id="48" name="Shape 37"/>
          <p:cNvSpPr/>
          <p:nvPr/>
        </p:nvSpPr>
        <p:spPr>
          <a:xfrm>
            <a:off x="6876360" y="1728360"/>
            <a:ext cx="109440" cy="109440"/>
          </a:xfrm>
          <a:prstGeom prst="ellipse">
            <a:avLst/>
          </a:prstGeom>
          <a:solidFill>
            <a:srgbClr val="7C3AED"/>
          </a:solidFill>
          <a:ln w="12700">
            <a:solidFill>
              <a:srgbClr val="7C3AED"/>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FFFFFF"/>
              </a:solidFill>
              <a:effectLst/>
              <a:uFillTx/>
              <a:latin typeface="Arial"/>
            </a:endParaRPr>
          </a:p>
        </p:txBody>
      </p:sp>
      <p:sp>
        <p:nvSpPr>
          <p:cNvPr id="49" name="Text 38"/>
          <p:cNvSpPr/>
          <p:nvPr/>
        </p:nvSpPr>
        <p:spPr>
          <a:xfrm>
            <a:off x="5577840" y="1673280"/>
            <a:ext cx="6854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r" defTabSz="914400">
              <a:lnSpc>
                <a:spcPct val="100000"/>
              </a:lnSpc>
              <a:tabLst>
                <a:tab pos="0" algn="l"/>
              </a:tabLst>
            </a:pPr>
            <a:r>
              <a:rPr lang="en-US" sz="1000" b="0" u="none" strike="noStrike">
                <a:solidFill>
                  <a:srgbClr val="475569"/>
                </a:solidFill>
                <a:effectLst/>
                <a:uFillTx/>
                <a:latin typeface="Aptos"/>
                <a:ea typeface="Aptos"/>
              </a:rPr>
              <a:t>dilation 8</a:t>
            </a:r>
            <a:endParaRPr lang="it-IT" sz="1000" b="0" u="none" strike="noStrike">
              <a:solidFill>
                <a:srgbClr val="000000"/>
              </a:solidFill>
              <a:effectLst/>
              <a:uFillTx/>
              <a:latin typeface="Arial"/>
            </a:endParaRPr>
          </a:p>
        </p:txBody>
      </p:sp>
      <p:sp>
        <p:nvSpPr>
          <p:cNvPr id="50" name="Shape 39"/>
          <p:cNvSpPr/>
          <p:nvPr/>
        </p:nvSpPr>
        <p:spPr>
          <a:xfrm>
            <a:off x="6995160" y="3246120"/>
            <a:ext cx="2377080" cy="502560"/>
          </a:xfrm>
          <a:prstGeom prst="roundRect">
            <a:avLst>
              <a:gd name="adj" fmla="val 14545"/>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 name="Text 40"/>
          <p:cNvSpPr/>
          <p:nvPr/>
        </p:nvSpPr>
        <p:spPr>
          <a:xfrm>
            <a:off x="7040880" y="3282840"/>
            <a:ext cx="228564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dirty="0">
                <a:solidFill>
                  <a:srgbClr val="0F172A"/>
                </a:solidFill>
                <a:effectLst/>
                <a:uFillTx/>
                <a:latin typeface="Aptos"/>
                <a:ea typeface="Aptos"/>
              </a:rPr>
              <a:t>large causal receptive field</a:t>
            </a:r>
            <a:endParaRPr lang="it-IT" sz="1300" b="0" u="none" strike="noStrike" dirty="0">
              <a:solidFill>
                <a:srgbClr val="000000"/>
              </a:solidFill>
              <a:effectLst/>
              <a:uFillTx/>
              <a:latin typeface="Arial"/>
            </a:endParaRPr>
          </a:p>
        </p:txBody>
      </p:sp>
      <p:sp>
        <p:nvSpPr>
          <p:cNvPr id="52" name="Shape 41"/>
          <p:cNvSpPr/>
          <p:nvPr/>
        </p:nvSpPr>
        <p:spPr>
          <a:xfrm flipV="1">
            <a:off x="8183880" y="2743200"/>
            <a:ext cx="360" cy="320040"/>
          </a:xfrm>
          <a:prstGeom prst="line">
            <a:avLst/>
          </a:prstGeom>
          <a:ln w="1524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3" name="Text 42"/>
          <p:cNvSpPr/>
          <p:nvPr/>
        </p:nvSpPr>
        <p:spPr>
          <a:xfrm>
            <a:off x="914400" y="5806440"/>
            <a:ext cx="9326520" cy="411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0F172A"/>
                </a:solidFill>
                <a:effectLst/>
                <a:uFillTx/>
                <a:latin typeface="Aptos"/>
                <a:ea typeface="Aptos"/>
              </a:rPr>
              <a:t>WaveNet-style temporal CNNs build memory through connectivity, not through h[t−1] → h[t].</a:t>
            </a:r>
            <a:endParaRPr lang="it-IT" sz="1500" b="0" u="none" strike="noStrike">
              <a:solidFill>
                <a:srgbClr val="000000"/>
              </a:solidFill>
              <a:effectLst/>
              <a:uFillTx/>
              <a:latin typeface="Arial"/>
            </a:endParaRPr>
          </a:p>
        </p:txBody>
      </p:sp>
      <p:sp>
        <p:nvSpPr>
          <p:cNvPr id="54" name="PlaceHolder 1"/>
          <p:cNvSpPr>
            <a:spLocks noGrp="1"/>
          </p:cNvSpPr>
          <p:nvPr>
            <p:ph type="sldNum" idx="5"/>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556D14F1-ED94-48FF-BC1F-DC947DF04EA4}" type="slidenum">
              <a:rPr lang="en-US" sz="1200" b="0" u="none" strike="noStrike">
                <a:solidFill>
                  <a:srgbClr val="64748B"/>
                </a:solidFill>
                <a:effectLst/>
                <a:uFillTx/>
                <a:latin typeface="Aptos"/>
              </a:rPr>
              <a:t>201</a:t>
            </a:fld>
            <a:endParaRPr lang="it-IT" sz="1200" b="0" u="none" strike="noStrike">
              <a:solidFill>
                <a:srgbClr val="000000"/>
              </a:solidFill>
              <a:effectLst/>
              <a:uFillTx/>
              <a:latin typeface="Times New Roman"/>
            </a:endParaRPr>
          </a:p>
        </p:txBody>
      </p:sp>
      <p:cxnSp>
        <p:nvCxnSpPr>
          <p:cNvPr id="568" name="Connettore 2 567">
            <a:extLst>
              <a:ext uri="{FF2B5EF4-FFF2-40B4-BE49-F238E27FC236}">
                <a16:creationId xmlns:a16="http://schemas.microsoft.com/office/drawing/2014/main" id="{EA71BCDD-91DB-54D7-354D-A9968C5DB33F}"/>
              </a:ext>
            </a:extLst>
          </p:cNvPr>
          <p:cNvCxnSpPr>
            <a:cxnSpLocks/>
          </p:cNvCxnSpPr>
          <p:nvPr/>
        </p:nvCxnSpPr>
        <p:spPr>
          <a:xfrm flipV="1">
            <a:off x="9418320" y="2349595"/>
            <a:ext cx="0" cy="2565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1" name="Connettore 2 570">
            <a:extLst>
              <a:ext uri="{FF2B5EF4-FFF2-40B4-BE49-F238E27FC236}">
                <a16:creationId xmlns:a16="http://schemas.microsoft.com/office/drawing/2014/main" id="{3573E064-ACC8-B684-FF18-420488DE167E}"/>
              </a:ext>
            </a:extLst>
          </p:cNvPr>
          <p:cNvCxnSpPr>
            <a:cxnSpLocks/>
          </p:cNvCxnSpPr>
          <p:nvPr/>
        </p:nvCxnSpPr>
        <p:spPr>
          <a:xfrm flipV="1">
            <a:off x="9418320" y="2048400"/>
            <a:ext cx="0" cy="2565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2" name="Connettore 2 571">
            <a:extLst>
              <a:ext uri="{FF2B5EF4-FFF2-40B4-BE49-F238E27FC236}">
                <a16:creationId xmlns:a16="http://schemas.microsoft.com/office/drawing/2014/main" id="{DD6223EA-B05A-66EF-A9AA-87E14AC13A7F}"/>
              </a:ext>
            </a:extLst>
          </p:cNvPr>
          <p:cNvCxnSpPr>
            <a:cxnSpLocks/>
          </p:cNvCxnSpPr>
          <p:nvPr/>
        </p:nvCxnSpPr>
        <p:spPr>
          <a:xfrm flipV="1">
            <a:off x="9418320" y="1783080"/>
            <a:ext cx="0" cy="2565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3" name="Connettore 2 572">
            <a:extLst>
              <a:ext uri="{FF2B5EF4-FFF2-40B4-BE49-F238E27FC236}">
                <a16:creationId xmlns:a16="http://schemas.microsoft.com/office/drawing/2014/main" id="{0E82049D-B96B-0F9F-4970-C5EC967B666C}"/>
              </a:ext>
            </a:extLst>
          </p:cNvPr>
          <p:cNvCxnSpPr>
            <a:cxnSpLocks/>
          </p:cNvCxnSpPr>
          <p:nvPr/>
        </p:nvCxnSpPr>
        <p:spPr>
          <a:xfrm flipV="1">
            <a:off x="9281520" y="2352571"/>
            <a:ext cx="109440" cy="1987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6" name="Connettore 2 575">
            <a:extLst>
              <a:ext uri="{FF2B5EF4-FFF2-40B4-BE49-F238E27FC236}">
                <a16:creationId xmlns:a16="http://schemas.microsoft.com/office/drawing/2014/main" id="{B5495E18-3DD5-F0DF-3FF8-69DC4492D4F6}"/>
              </a:ext>
            </a:extLst>
          </p:cNvPr>
          <p:cNvCxnSpPr>
            <a:cxnSpLocks/>
            <a:stCxn id="33" idx="7"/>
          </p:cNvCxnSpPr>
          <p:nvPr/>
        </p:nvCxnSpPr>
        <p:spPr>
          <a:xfrm flipV="1">
            <a:off x="9145973" y="2339098"/>
            <a:ext cx="198907" cy="2282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8" name="Connettore 2 577">
            <a:extLst>
              <a:ext uri="{FF2B5EF4-FFF2-40B4-BE49-F238E27FC236}">
                <a16:creationId xmlns:a16="http://schemas.microsoft.com/office/drawing/2014/main" id="{AD421D0C-DB34-2D33-ED83-F7AA1EC5B96D}"/>
              </a:ext>
            </a:extLst>
          </p:cNvPr>
          <p:cNvCxnSpPr>
            <a:cxnSpLocks/>
            <a:stCxn id="37" idx="0"/>
            <a:endCxn id="41" idx="3"/>
          </p:cNvCxnSpPr>
          <p:nvPr/>
        </p:nvCxnSpPr>
        <p:spPr>
          <a:xfrm flipV="1">
            <a:off x="9107280" y="2096093"/>
            <a:ext cx="272347" cy="18090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0" name="Connettore 2 579">
            <a:extLst>
              <a:ext uri="{FF2B5EF4-FFF2-40B4-BE49-F238E27FC236}">
                <a16:creationId xmlns:a16="http://schemas.microsoft.com/office/drawing/2014/main" id="{D763D5BF-C066-BA69-F104-CD5F3FD03928}"/>
              </a:ext>
            </a:extLst>
          </p:cNvPr>
          <p:cNvCxnSpPr>
            <a:cxnSpLocks/>
            <a:stCxn id="42" idx="6"/>
          </p:cNvCxnSpPr>
          <p:nvPr/>
        </p:nvCxnSpPr>
        <p:spPr>
          <a:xfrm flipV="1">
            <a:off x="8850960" y="1783722"/>
            <a:ext cx="540000" cy="27367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2" name="Connettore 2 581">
            <a:extLst>
              <a:ext uri="{FF2B5EF4-FFF2-40B4-BE49-F238E27FC236}">
                <a16:creationId xmlns:a16="http://schemas.microsoft.com/office/drawing/2014/main" id="{611897D4-9A93-94E5-9A7A-B00D540770E0}"/>
              </a:ext>
            </a:extLst>
          </p:cNvPr>
          <p:cNvCxnSpPr>
            <a:cxnSpLocks/>
            <a:stCxn id="43" idx="7"/>
            <a:endCxn id="46" idx="2"/>
          </p:cNvCxnSpPr>
          <p:nvPr/>
        </p:nvCxnSpPr>
        <p:spPr>
          <a:xfrm flipV="1">
            <a:off x="8213213" y="1783080"/>
            <a:ext cx="1150387" cy="2356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5" name="Connettore 2 584">
            <a:extLst>
              <a:ext uri="{FF2B5EF4-FFF2-40B4-BE49-F238E27FC236}">
                <a16:creationId xmlns:a16="http://schemas.microsoft.com/office/drawing/2014/main" id="{021AA539-79A0-7880-E007-8ADA42968D05}"/>
              </a:ext>
            </a:extLst>
          </p:cNvPr>
          <p:cNvCxnSpPr>
            <a:cxnSpLocks/>
            <a:endCxn id="41" idx="2"/>
          </p:cNvCxnSpPr>
          <p:nvPr/>
        </p:nvCxnSpPr>
        <p:spPr>
          <a:xfrm flipV="1">
            <a:off x="8816088" y="2057400"/>
            <a:ext cx="547512" cy="2690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BA37214-05D8-A82B-9299-1BA510B080A1}"/>
              </a:ext>
            </a:extLst>
          </p:cNvPr>
          <p:cNvSpPr>
            <a:spLocks noGrp="1"/>
          </p:cNvSpPr>
          <p:nvPr>
            <p:ph type="title"/>
          </p:nvPr>
        </p:nvSpPr>
        <p:spPr/>
        <p:txBody>
          <a:bodyPr/>
          <a:lstStyle/>
          <a:p>
            <a:r>
              <a:rPr lang="en-GB" dirty="0"/>
              <a:t>Exponentially increasing dilation</a:t>
            </a:r>
          </a:p>
        </p:txBody>
      </p:sp>
      <p:sp>
        <p:nvSpPr>
          <p:cNvPr id="3" name="Segnaposto testo 2">
            <a:extLst>
              <a:ext uri="{FF2B5EF4-FFF2-40B4-BE49-F238E27FC236}">
                <a16:creationId xmlns:a16="http://schemas.microsoft.com/office/drawing/2014/main" id="{9D203AF4-7D4E-1BE9-9B6B-7EFF05B9A978}"/>
              </a:ext>
            </a:extLst>
          </p:cNvPr>
          <p:cNvSpPr>
            <a:spLocks noGrp="1"/>
          </p:cNvSpPr>
          <p:nvPr>
            <p:ph sz="half" idx="1"/>
          </p:nvPr>
        </p:nvSpPr>
        <p:spPr/>
        <p:txBody>
          <a:bodyPr>
            <a:normAutofit fontScale="92500" lnSpcReduction="10000"/>
          </a:bodyPr>
          <a:lstStyle/>
          <a:p>
            <a:r>
              <a:rPr lang="en-GB" dirty="0"/>
              <a:t>A typical </a:t>
            </a:r>
            <a:r>
              <a:rPr lang="en-GB" dirty="0" err="1"/>
              <a:t>WaveNet</a:t>
            </a:r>
            <a:r>
              <a:rPr lang="en-GB" dirty="0"/>
              <a:t> stack increases dilation exponentially.</a:t>
            </a:r>
          </a:p>
          <a:p>
            <a:r>
              <a:rPr lang="en-GB" dirty="0"/>
              <a:t>For example:</a:t>
            </a:r>
          </a:p>
          <a:p>
            <a:pPr lvl="1"/>
            <a:r>
              <a:rPr lang="en-GB" dirty="0"/>
              <a:t>Layer 1: dilation = 1</a:t>
            </a:r>
          </a:p>
          <a:p>
            <a:pPr lvl="1"/>
            <a:r>
              <a:rPr lang="en-GB" dirty="0"/>
              <a:t>Layer 2: dilation = 2</a:t>
            </a:r>
          </a:p>
          <a:p>
            <a:pPr lvl="1"/>
            <a:r>
              <a:rPr lang="en-GB" dirty="0"/>
              <a:t>Layer 3: dilation = 4</a:t>
            </a:r>
          </a:p>
          <a:p>
            <a:pPr lvl="1"/>
            <a:r>
              <a:rPr lang="en-GB" dirty="0"/>
              <a:t>Layer 4: dilation = 8</a:t>
            </a:r>
          </a:p>
          <a:p>
            <a:pPr lvl="1"/>
            <a:r>
              <a:rPr lang="en-GB" dirty="0"/>
              <a:t>Layer 5: dilation = 16</a:t>
            </a:r>
          </a:p>
          <a:p>
            <a:r>
              <a:rPr lang="en-GB" dirty="0"/>
              <a:t>With small kernels, this creates a rapidly expanding receptive field.</a:t>
            </a:r>
          </a:p>
          <a:p>
            <a:endParaRPr lang="en-GB" dirty="0"/>
          </a:p>
        </p:txBody>
      </p:sp>
      <p:sp>
        <p:nvSpPr>
          <p:cNvPr id="4" name="Segnaposto contenuto 3">
            <a:extLst>
              <a:ext uri="{FF2B5EF4-FFF2-40B4-BE49-F238E27FC236}">
                <a16:creationId xmlns:a16="http://schemas.microsoft.com/office/drawing/2014/main" id="{78C6515B-D546-9B81-01A3-9FFA58AE3E67}"/>
              </a:ext>
            </a:extLst>
          </p:cNvPr>
          <p:cNvSpPr>
            <a:spLocks noGrp="1"/>
          </p:cNvSpPr>
          <p:nvPr>
            <p:ph sz="half" idx="2"/>
          </p:nvPr>
        </p:nvSpPr>
        <p:spPr>
          <a:xfrm>
            <a:off x="5089970" y="2160589"/>
            <a:ext cx="5641530" cy="3880773"/>
          </a:xfrm>
        </p:spPr>
        <p:txBody>
          <a:bodyPr>
            <a:normAutofit fontScale="92500" lnSpcReduction="10000"/>
          </a:bodyPr>
          <a:lstStyle/>
          <a:p>
            <a:r>
              <a:rPr lang="en-GB" b="1" dirty="0"/>
              <a:t>Example with kernel size 2</a:t>
            </a:r>
          </a:p>
          <a:p>
            <a:r>
              <a:rPr lang="en-GB" dirty="0"/>
              <a:t>One layer can connect:</a:t>
            </a:r>
          </a:p>
          <a:p>
            <a:r>
              <a:rPr lang="en-GB" dirty="0"/>
              <a:t>x[t] and x[t−1]</a:t>
            </a:r>
          </a:p>
          <a:p>
            <a:r>
              <a:rPr lang="en-GB" dirty="0"/>
              <a:t>With increasing dilation, deeper layers can connect:</a:t>
            </a:r>
          </a:p>
          <a:p>
            <a:pPr lvl="1"/>
            <a:r>
              <a:rPr lang="en-GB" dirty="0"/>
              <a:t>x[t−1]</a:t>
            </a:r>
          </a:p>
          <a:p>
            <a:pPr lvl="1"/>
            <a:r>
              <a:rPr lang="en-GB" dirty="0"/>
              <a:t>x[t−2]</a:t>
            </a:r>
          </a:p>
          <a:p>
            <a:pPr lvl="1"/>
            <a:r>
              <a:rPr lang="en-GB" dirty="0"/>
              <a:t>x[t−4]</a:t>
            </a:r>
          </a:p>
          <a:p>
            <a:pPr lvl="1"/>
            <a:r>
              <a:rPr lang="en-GB" dirty="0"/>
              <a:t>x[t−8]</a:t>
            </a:r>
          </a:p>
          <a:p>
            <a:pPr lvl="1"/>
            <a:r>
              <a:rPr lang="en-GB" dirty="0"/>
              <a:t>x[t−16]</a:t>
            </a:r>
          </a:p>
          <a:p>
            <a:pPr lvl="1"/>
            <a:r>
              <a:rPr lang="en-GB" dirty="0"/>
              <a:t>...</a:t>
            </a:r>
          </a:p>
          <a:p>
            <a:r>
              <a:rPr lang="en-GB" dirty="0"/>
              <a:t>indirectly through the convolutional stack.</a:t>
            </a:r>
          </a:p>
          <a:p>
            <a:endParaRPr lang="en-GB" dirty="0"/>
          </a:p>
        </p:txBody>
      </p:sp>
    </p:spTree>
    <p:extLst>
      <p:ext uri="{BB962C8B-B14F-4D97-AF65-F5344CB8AC3E}">
        <p14:creationId xmlns:p14="http://schemas.microsoft.com/office/powerpoint/2010/main" val="326347418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3" name="Rectangle 1">
            <a:extLst>
              <a:ext uri="{FF2B5EF4-FFF2-40B4-BE49-F238E27FC236}">
                <a16:creationId xmlns:a16="http://schemas.microsoft.com/office/drawing/2014/main" id="{461640E5-A8D7-2547-68FA-4B97CF277B26}"/>
              </a:ext>
            </a:extLst>
          </p:cNvPr>
          <p:cNvSpPr>
            <a:spLocks noChangeArrowheads="1"/>
          </p:cNvSpPr>
          <p:nvPr/>
        </p:nvSpPr>
        <p:spPr bwMode="auto">
          <a:xfrm>
            <a:off x="503238" y="365125"/>
            <a:ext cx="8137525" cy="347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 pos="1828800" algn="l"/>
                <a:tab pos="2743200" algn="l"/>
                <a:tab pos="3657600" algn="l"/>
                <a:tab pos="4572000" algn="l"/>
                <a:tab pos="5486400" algn="l"/>
                <a:tab pos="6400800" algn="l"/>
                <a:tab pos="73152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 pos="1828800" algn="l"/>
                <a:tab pos="2743200" algn="l"/>
                <a:tab pos="3657600" algn="l"/>
                <a:tab pos="4572000" algn="l"/>
                <a:tab pos="5486400" algn="l"/>
                <a:tab pos="6400800" algn="l"/>
                <a:tab pos="73152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 pos="1828800" algn="l"/>
                <a:tab pos="2743200" algn="l"/>
                <a:tab pos="3657600" algn="l"/>
                <a:tab pos="4572000" algn="l"/>
                <a:tab pos="5486400" algn="l"/>
                <a:tab pos="6400800" algn="l"/>
                <a:tab pos="73152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 pos="1828800" algn="l"/>
                <a:tab pos="2743200" algn="l"/>
                <a:tab pos="3657600" algn="l"/>
                <a:tab pos="4572000" algn="l"/>
                <a:tab pos="5486400" algn="l"/>
                <a:tab pos="6400800" algn="l"/>
                <a:tab pos="73152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 pos="1828800" algn="l"/>
                <a:tab pos="2743200" algn="l"/>
                <a:tab pos="3657600" algn="l"/>
                <a:tab pos="4572000" algn="l"/>
                <a:tab pos="5486400" algn="l"/>
                <a:tab pos="6400800" algn="l"/>
                <a:tab pos="73152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2800" b="1">
                <a:solidFill>
                  <a:srgbClr val="111827"/>
                </a:solidFill>
                <a:latin typeface="Aptos" panose="020B0004020202020204" pitchFamily="34" charset="0"/>
              </a:rPr>
              <a:t>Exponentially increasing dilation</a:t>
            </a:r>
          </a:p>
        </p:txBody>
      </p:sp>
      <p:sp>
        <p:nvSpPr>
          <p:cNvPr id="3074" name="Rectangle 2">
            <a:extLst>
              <a:ext uri="{FF2B5EF4-FFF2-40B4-BE49-F238E27FC236}">
                <a16:creationId xmlns:a16="http://schemas.microsoft.com/office/drawing/2014/main" id="{EC24D852-5311-B98F-CF21-183CF9BFC7E2}"/>
              </a:ext>
            </a:extLst>
          </p:cNvPr>
          <p:cNvSpPr>
            <a:spLocks noChangeArrowheads="1"/>
          </p:cNvSpPr>
          <p:nvPr/>
        </p:nvSpPr>
        <p:spPr bwMode="auto">
          <a:xfrm>
            <a:off x="503238" y="822325"/>
            <a:ext cx="8961437" cy="228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 pos="1828800" algn="l"/>
                <a:tab pos="2743200" algn="l"/>
                <a:tab pos="3657600" algn="l"/>
                <a:tab pos="4572000" algn="l"/>
                <a:tab pos="5486400" algn="l"/>
                <a:tab pos="6400800" algn="l"/>
                <a:tab pos="7315200" algn="l"/>
                <a:tab pos="82296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 pos="1828800" algn="l"/>
                <a:tab pos="2743200" algn="l"/>
                <a:tab pos="3657600" algn="l"/>
                <a:tab pos="4572000" algn="l"/>
                <a:tab pos="5486400" algn="l"/>
                <a:tab pos="6400800" algn="l"/>
                <a:tab pos="7315200" algn="l"/>
                <a:tab pos="82296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 pos="1828800" algn="l"/>
                <a:tab pos="2743200" algn="l"/>
                <a:tab pos="3657600" algn="l"/>
                <a:tab pos="4572000" algn="l"/>
                <a:tab pos="5486400" algn="l"/>
                <a:tab pos="6400800" algn="l"/>
                <a:tab pos="7315200" algn="l"/>
                <a:tab pos="82296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 pos="1828800" algn="l"/>
                <a:tab pos="2743200" algn="l"/>
                <a:tab pos="3657600" algn="l"/>
                <a:tab pos="4572000" algn="l"/>
                <a:tab pos="5486400" algn="l"/>
                <a:tab pos="6400800" algn="l"/>
                <a:tab pos="7315200" algn="l"/>
                <a:tab pos="82296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 pos="1828800" algn="l"/>
                <a:tab pos="2743200" algn="l"/>
                <a:tab pos="3657600" algn="l"/>
                <a:tab pos="4572000" algn="l"/>
                <a:tab pos="5486400" algn="l"/>
                <a:tab pos="6400800" algn="l"/>
                <a:tab pos="7315200" algn="l"/>
                <a:tab pos="82296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1500">
                <a:solidFill>
                  <a:srgbClr val="475569"/>
                </a:solidFill>
                <a:latin typeface="Aptos" panose="020B0004020202020204" pitchFamily="34" charset="0"/>
              </a:rPr>
              <a:t>Causal dilated convolutions expand past context without using future samples.</a:t>
            </a:r>
          </a:p>
        </p:txBody>
      </p:sp>
      <p:sp>
        <p:nvSpPr>
          <p:cNvPr id="3075" name="Line 3">
            <a:extLst>
              <a:ext uri="{FF2B5EF4-FFF2-40B4-BE49-F238E27FC236}">
                <a16:creationId xmlns:a16="http://schemas.microsoft.com/office/drawing/2014/main" id="{F954433C-B2CD-9C35-2B65-3D096F5C5F9F}"/>
              </a:ext>
            </a:extLst>
          </p:cNvPr>
          <p:cNvSpPr>
            <a:spLocks noChangeShapeType="1"/>
          </p:cNvSpPr>
          <p:nvPr/>
        </p:nvSpPr>
        <p:spPr bwMode="auto">
          <a:xfrm>
            <a:off x="1252538" y="5303838"/>
            <a:ext cx="7818437" cy="1587"/>
          </a:xfrm>
          <a:prstGeom prst="line">
            <a:avLst/>
          </a:prstGeom>
          <a:noFill/>
          <a:ln w="12600" cap="flat">
            <a:solidFill>
              <a:srgbClr val="11182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076" name="Rectangle 4">
            <a:extLst>
              <a:ext uri="{FF2B5EF4-FFF2-40B4-BE49-F238E27FC236}">
                <a16:creationId xmlns:a16="http://schemas.microsoft.com/office/drawing/2014/main" id="{C511FBBA-3213-A4C2-C10A-E3D905D0F06B}"/>
              </a:ext>
            </a:extLst>
          </p:cNvPr>
          <p:cNvSpPr>
            <a:spLocks noChangeArrowheads="1"/>
          </p:cNvSpPr>
          <p:nvPr/>
        </p:nvSpPr>
        <p:spPr bwMode="auto">
          <a:xfrm>
            <a:off x="8321675" y="5194300"/>
            <a:ext cx="411163" cy="146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Lst>
              <a:defRPr>
                <a:solidFill>
                  <a:srgbClr val="000000"/>
                </a:solidFill>
                <a:latin typeface="Arial" panose="020B0604020202020204" pitchFamily="34" charset="0"/>
                <a:ea typeface="Microsoft YaHei" panose="020B0503020204020204" pitchFamily="34" charset="-122"/>
              </a:defRPr>
            </a:lvl1pPr>
            <a:lvl2pPr>
              <a:tabLst>
                <a:tab pos="0" algn="l"/>
              </a:tabLst>
              <a:defRPr>
                <a:solidFill>
                  <a:srgbClr val="000000"/>
                </a:solidFill>
                <a:latin typeface="Arial" panose="020B0604020202020204" pitchFamily="34" charset="0"/>
                <a:ea typeface="Microsoft YaHei" panose="020B0503020204020204" pitchFamily="34" charset="-122"/>
              </a:defRPr>
            </a:lvl2pPr>
            <a:lvl3pPr>
              <a:tabLst>
                <a:tab pos="0" algn="l"/>
              </a:tabLst>
              <a:defRPr>
                <a:solidFill>
                  <a:srgbClr val="000000"/>
                </a:solidFill>
                <a:latin typeface="Arial" panose="020B0604020202020204" pitchFamily="34" charset="0"/>
                <a:ea typeface="Microsoft YaHei" panose="020B0503020204020204" pitchFamily="34" charset="-122"/>
              </a:defRPr>
            </a:lvl3pPr>
            <a:lvl4pPr>
              <a:tabLst>
                <a:tab pos="0" algn="l"/>
              </a:tabLst>
              <a:defRPr>
                <a:solidFill>
                  <a:srgbClr val="000000"/>
                </a:solidFill>
                <a:latin typeface="Arial" panose="020B0604020202020204" pitchFamily="34" charset="0"/>
                <a:ea typeface="Microsoft YaHei" panose="020B0503020204020204" pitchFamily="34" charset="-122"/>
              </a:defRPr>
            </a:lvl4pPr>
            <a:lvl5pPr>
              <a:tabLst>
                <a:tab pos="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1000">
                <a:solidFill>
                  <a:srgbClr val="475569"/>
                </a:solidFill>
                <a:latin typeface="Aptos" panose="020B0004020202020204" pitchFamily="34" charset="0"/>
              </a:rPr>
              <a:t>time →</a:t>
            </a:r>
          </a:p>
        </p:txBody>
      </p:sp>
      <p:sp>
        <p:nvSpPr>
          <p:cNvPr id="3077" name="Rectangle 5">
            <a:extLst>
              <a:ext uri="{FF2B5EF4-FFF2-40B4-BE49-F238E27FC236}">
                <a16:creationId xmlns:a16="http://schemas.microsoft.com/office/drawing/2014/main" id="{E36608FF-EA1A-A05F-713D-D62AD72F7497}"/>
              </a:ext>
            </a:extLst>
          </p:cNvPr>
          <p:cNvSpPr>
            <a:spLocks noChangeArrowheads="1"/>
          </p:cNvSpPr>
          <p:nvPr/>
        </p:nvSpPr>
        <p:spPr bwMode="auto">
          <a:xfrm>
            <a:off x="1271588" y="5440363"/>
            <a:ext cx="411162" cy="128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Lst>
              <a:defRPr>
                <a:solidFill>
                  <a:srgbClr val="000000"/>
                </a:solidFill>
                <a:latin typeface="Arial" panose="020B0604020202020204" pitchFamily="34" charset="0"/>
                <a:ea typeface="Microsoft YaHei" panose="020B0503020204020204" pitchFamily="34" charset="-122"/>
              </a:defRPr>
            </a:lvl1pPr>
            <a:lvl2pPr>
              <a:tabLst>
                <a:tab pos="0" algn="l"/>
              </a:tabLst>
              <a:defRPr>
                <a:solidFill>
                  <a:srgbClr val="000000"/>
                </a:solidFill>
                <a:latin typeface="Arial" panose="020B0604020202020204" pitchFamily="34" charset="0"/>
                <a:ea typeface="Microsoft YaHei" panose="020B0503020204020204" pitchFamily="34" charset="-122"/>
              </a:defRPr>
            </a:lvl2pPr>
            <a:lvl3pPr>
              <a:tabLst>
                <a:tab pos="0" algn="l"/>
              </a:tabLst>
              <a:defRPr>
                <a:solidFill>
                  <a:srgbClr val="000000"/>
                </a:solidFill>
                <a:latin typeface="Arial" panose="020B0604020202020204" pitchFamily="34" charset="0"/>
                <a:ea typeface="Microsoft YaHei" panose="020B0503020204020204" pitchFamily="34" charset="-122"/>
              </a:defRPr>
            </a:lvl3pPr>
            <a:lvl4pPr>
              <a:tabLst>
                <a:tab pos="0" algn="l"/>
              </a:tabLst>
              <a:defRPr>
                <a:solidFill>
                  <a:srgbClr val="000000"/>
                </a:solidFill>
                <a:latin typeface="Arial" panose="020B0604020202020204" pitchFamily="34" charset="0"/>
                <a:ea typeface="Microsoft YaHei" panose="020B0503020204020204" pitchFamily="34" charset="-122"/>
              </a:defRPr>
            </a:lvl4pPr>
            <a:lvl5pPr>
              <a:tabLst>
                <a:tab pos="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900">
                <a:solidFill>
                  <a:srgbClr val="475569"/>
                </a:solidFill>
                <a:latin typeface="Aptos" panose="020B0004020202020204" pitchFamily="34" charset="0"/>
              </a:rPr>
              <a:t>past</a:t>
            </a:r>
          </a:p>
        </p:txBody>
      </p:sp>
      <p:sp>
        <p:nvSpPr>
          <p:cNvPr id="3078" name="Rectangle 6">
            <a:extLst>
              <a:ext uri="{FF2B5EF4-FFF2-40B4-BE49-F238E27FC236}">
                <a16:creationId xmlns:a16="http://schemas.microsoft.com/office/drawing/2014/main" id="{53A3559D-3A7B-ADF1-C499-633042ECBB26}"/>
              </a:ext>
            </a:extLst>
          </p:cNvPr>
          <p:cNvSpPr>
            <a:spLocks noChangeArrowheads="1"/>
          </p:cNvSpPr>
          <p:nvPr/>
        </p:nvSpPr>
        <p:spPr bwMode="auto">
          <a:xfrm>
            <a:off x="8750300" y="5440363"/>
            <a:ext cx="182563" cy="128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Lst>
              <a:defRPr>
                <a:solidFill>
                  <a:srgbClr val="000000"/>
                </a:solidFill>
                <a:latin typeface="Arial" panose="020B0604020202020204" pitchFamily="34" charset="0"/>
                <a:ea typeface="Microsoft YaHei" panose="020B0503020204020204" pitchFamily="34" charset="-122"/>
              </a:defRPr>
            </a:lvl1pPr>
            <a:lvl2pPr>
              <a:tabLst>
                <a:tab pos="0" algn="l"/>
              </a:tabLst>
              <a:defRPr>
                <a:solidFill>
                  <a:srgbClr val="000000"/>
                </a:solidFill>
                <a:latin typeface="Arial" panose="020B0604020202020204" pitchFamily="34" charset="0"/>
                <a:ea typeface="Microsoft YaHei" panose="020B0503020204020204" pitchFamily="34" charset="-122"/>
              </a:defRPr>
            </a:lvl2pPr>
            <a:lvl3pPr>
              <a:tabLst>
                <a:tab pos="0" algn="l"/>
              </a:tabLst>
              <a:defRPr>
                <a:solidFill>
                  <a:srgbClr val="000000"/>
                </a:solidFill>
                <a:latin typeface="Arial" panose="020B0604020202020204" pitchFamily="34" charset="0"/>
                <a:ea typeface="Microsoft YaHei" panose="020B0503020204020204" pitchFamily="34" charset="-122"/>
              </a:defRPr>
            </a:lvl3pPr>
            <a:lvl4pPr>
              <a:tabLst>
                <a:tab pos="0" algn="l"/>
              </a:tabLst>
              <a:defRPr>
                <a:solidFill>
                  <a:srgbClr val="000000"/>
                </a:solidFill>
                <a:latin typeface="Arial" panose="020B0604020202020204" pitchFamily="34" charset="0"/>
                <a:ea typeface="Microsoft YaHei" panose="020B0503020204020204" pitchFamily="34" charset="-122"/>
              </a:defRPr>
            </a:lvl4pPr>
            <a:lvl5pPr>
              <a:tabLst>
                <a:tab pos="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1000" b="1">
                <a:solidFill>
                  <a:srgbClr val="111827"/>
                </a:solidFill>
                <a:latin typeface="Aptos" panose="020B0004020202020204" pitchFamily="34" charset="0"/>
              </a:rPr>
              <a:t>t</a:t>
            </a:r>
          </a:p>
        </p:txBody>
      </p:sp>
      <p:sp>
        <p:nvSpPr>
          <p:cNvPr id="3079" name="Rectangle 7">
            <a:extLst>
              <a:ext uri="{FF2B5EF4-FFF2-40B4-BE49-F238E27FC236}">
                <a16:creationId xmlns:a16="http://schemas.microsoft.com/office/drawing/2014/main" id="{5BECB410-2D1A-C22F-1E09-E32FB4BAFEB4}"/>
              </a:ext>
            </a:extLst>
          </p:cNvPr>
          <p:cNvSpPr>
            <a:spLocks noChangeArrowheads="1"/>
          </p:cNvSpPr>
          <p:nvPr/>
        </p:nvSpPr>
        <p:spPr bwMode="auto">
          <a:xfrm>
            <a:off x="384175" y="4791075"/>
            <a:ext cx="804863" cy="182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Lst>
              <a:defRPr>
                <a:solidFill>
                  <a:srgbClr val="000000"/>
                </a:solidFill>
                <a:latin typeface="Arial" panose="020B0604020202020204" pitchFamily="34" charset="0"/>
                <a:ea typeface="Microsoft YaHei" panose="020B0503020204020204" pitchFamily="34" charset="-122"/>
              </a:defRPr>
            </a:lvl1pPr>
            <a:lvl2pPr>
              <a:tabLst>
                <a:tab pos="0" algn="l"/>
              </a:tabLst>
              <a:defRPr>
                <a:solidFill>
                  <a:srgbClr val="000000"/>
                </a:solidFill>
                <a:latin typeface="Arial" panose="020B0604020202020204" pitchFamily="34" charset="0"/>
                <a:ea typeface="Microsoft YaHei" panose="020B0503020204020204" pitchFamily="34" charset="-122"/>
              </a:defRPr>
            </a:lvl2pPr>
            <a:lvl3pPr>
              <a:tabLst>
                <a:tab pos="0" algn="l"/>
              </a:tabLst>
              <a:defRPr>
                <a:solidFill>
                  <a:srgbClr val="000000"/>
                </a:solidFill>
                <a:latin typeface="Arial" panose="020B0604020202020204" pitchFamily="34" charset="0"/>
                <a:ea typeface="Microsoft YaHei" panose="020B0503020204020204" pitchFamily="34" charset="-122"/>
              </a:defRPr>
            </a:lvl3pPr>
            <a:lvl4pPr>
              <a:tabLst>
                <a:tab pos="0" algn="l"/>
              </a:tabLst>
              <a:defRPr>
                <a:solidFill>
                  <a:srgbClr val="000000"/>
                </a:solidFill>
                <a:latin typeface="Arial" panose="020B0604020202020204" pitchFamily="34" charset="0"/>
                <a:ea typeface="Microsoft YaHei" panose="020B0503020204020204" pitchFamily="34" charset="-122"/>
              </a:defRPr>
            </a:lvl4pPr>
            <a:lvl5pPr>
              <a:tabLst>
                <a:tab pos="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9pPr>
          </a:lstStyle>
          <a:p>
            <a:pPr algn="r" hangingPunct="1">
              <a:lnSpc>
                <a:spcPct val="100000"/>
              </a:lnSpc>
            </a:pPr>
            <a:r>
              <a:rPr lang="en-US" altLang="en-US" sz="1000" b="1">
                <a:solidFill>
                  <a:srgbClr val="111827"/>
                </a:solidFill>
                <a:latin typeface="Aptos" panose="020B0004020202020204" pitchFamily="34" charset="0"/>
              </a:rPr>
              <a:t>Input</a:t>
            </a:r>
          </a:p>
        </p:txBody>
      </p:sp>
      <p:sp>
        <p:nvSpPr>
          <p:cNvPr id="3080" name="Line 8">
            <a:extLst>
              <a:ext uri="{FF2B5EF4-FFF2-40B4-BE49-F238E27FC236}">
                <a16:creationId xmlns:a16="http://schemas.microsoft.com/office/drawing/2014/main" id="{3698DE33-D68F-E631-FF67-A3E7B3734FBD}"/>
              </a:ext>
            </a:extLst>
          </p:cNvPr>
          <p:cNvSpPr>
            <a:spLocks noChangeShapeType="1"/>
          </p:cNvSpPr>
          <p:nvPr/>
        </p:nvSpPr>
        <p:spPr bwMode="auto">
          <a:xfrm>
            <a:off x="1325563" y="4892675"/>
            <a:ext cx="7451725" cy="1588"/>
          </a:xfrm>
          <a:prstGeom prst="line">
            <a:avLst/>
          </a:prstGeom>
          <a:noFill/>
          <a:ln w="25560" cap="flat">
            <a:solidFill>
              <a:srgbClr val="CBD5E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081" name="Oval 9">
            <a:extLst>
              <a:ext uri="{FF2B5EF4-FFF2-40B4-BE49-F238E27FC236}">
                <a16:creationId xmlns:a16="http://schemas.microsoft.com/office/drawing/2014/main" id="{16946870-8168-4132-807B-53A13F52B0D3}"/>
              </a:ext>
            </a:extLst>
          </p:cNvPr>
          <p:cNvSpPr>
            <a:spLocks noChangeArrowheads="1"/>
          </p:cNvSpPr>
          <p:nvPr/>
        </p:nvSpPr>
        <p:spPr bwMode="auto">
          <a:xfrm>
            <a:off x="1293813"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82" name="Oval 10">
            <a:extLst>
              <a:ext uri="{FF2B5EF4-FFF2-40B4-BE49-F238E27FC236}">
                <a16:creationId xmlns:a16="http://schemas.microsoft.com/office/drawing/2014/main" id="{0505EB3B-EAE2-C210-914F-B432EDE225FA}"/>
              </a:ext>
            </a:extLst>
          </p:cNvPr>
          <p:cNvSpPr>
            <a:spLocks noChangeArrowheads="1"/>
          </p:cNvSpPr>
          <p:nvPr/>
        </p:nvSpPr>
        <p:spPr bwMode="auto">
          <a:xfrm>
            <a:off x="151923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83" name="Oval 11">
            <a:extLst>
              <a:ext uri="{FF2B5EF4-FFF2-40B4-BE49-F238E27FC236}">
                <a16:creationId xmlns:a16="http://schemas.microsoft.com/office/drawing/2014/main" id="{5F62B3A6-7988-8408-F3BC-6FC1B6DBD154}"/>
              </a:ext>
            </a:extLst>
          </p:cNvPr>
          <p:cNvSpPr>
            <a:spLocks noChangeArrowheads="1"/>
          </p:cNvSpPr>
          <p:nvPr/>
        </p:nvSpPr>
        <p:spPr bwMode="auto">
          <a:xfrm>
            <a:off x="1744663"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84" name="Oval 12">
            <a:extLst>
              <a:ext uri="{FF2B5EF4-FFF2-40B4-BE49-F238E27FC236}">
                <a16:creationId xmlns:a16="http://schemas.microsoft.com/office/drawing/2014/main" id="{13F79332-A3E3-ABB3-6323-19D09F0B168B}"/>
              </a:ext>
            </a:extLst>
          </p:cNvPr>
          <p:cNvSpPr>
            <a:spLocks noChangeArrowheads="1"/>
          </p:cNvSpPr>
          <p:nvPr/>
        </p:nvSpPr>
        <p:spPr bwMode="auto">
          <a:xfrm>
            <a:off x="197008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85" name="Oval 13">
            <a:extLst>
              <a:ext uri="{FF2B5EF4-FFF2-40B4-BE49-F238E27FC236}">
                <a16:creationId xmlns:a16="http://schemas.microsoft.com/office/drawing/2014/main" id="{2A46279B-C643-1C15-A717-680371FBDEE2}"/>
              </a:ext>
            </a:extLst>
          </p:cNvPr>
          <p:cNvSpPr>
            <a:spLocks noChangeArrowheads="1"/>
          </p:cNvSpPr>
          <p:nvPr/>
        </p:nvSpPr>
        <p:spPr bwMode="auto">
          <a:xfrm>
            <a:off x="2197100"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86" name="Oval 14">
            <a:extLst>
              <a:ext uri="{FF2B5EF4-FFF2-40B4-BE49-F238E27FC236}">
                <a16:creationId xmlns:a16="http://schemas.microsoft.com/office/drawing/2014/main" id="{ACE26039-A6C1-8636-2D93-B8DFA0BFDEB2}"/>
              </a:ext>
            </a:extLst>
          </p:cNvPr>
          <p:cNvSpPr>
            <a:spLocks noChangeArrowheads="1"/>
          </p:cNvSpPr>
          <p:nvPr/>
        </p:nvSpPr>
        <p:spPr bwMode="auto">
          <a:xfrm>
            <a:off x="2422525"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87" name="Oval 15">
            <a:extLst>
              <a:ext uri="{FF2B5EF4-FFF2-40B4-BE49-F238E27FC236}">
                <a16:creationId xmlns:a16="http://schemas.microsoft.com/office/drawing/2014/main" id="{A59FAEBC-3D99-9324-FD3C-3B08F105D1D3}"/>
              </a:ext>
            </a:extLst>
          </p:cNvPr>
          <p:cNvSpPr>
            <a:spLocks noChangeArrowheads="1"/>
          </p:cNvSpPr>
          <p:nvPr/>
        </p:nvSpPr>
        <p:spPr bwMode="auto">
          <a:xfrm>
            <a:off x="2647950"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88" name="Oval 16">
            <a:extLst>
              <a:ext uri="{FF2B5EF4-FFF2-40B4-BE49-F238E27FC236}">
                <a16:creationId xmlns:a16="http://schemas.microsoft.com/office/drawing/2014/main" id="{8A9D385C-0866-52E6-E41E-E689318970A6}"/>
              </a:ext>
            </a:extLst>
          </p:cNvPr>
          <p:cNvSpPr>
            <a:spLocks noChangeArrowheads="1"/>
          </p:cNvSpPr>
          <p:nvPr/>
        </p:nvSpPr>
        <p:spPr bwMode="auto">
          <a:xfrm>
            <a:off x="2873375"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89" name="Oval 17">
            <a:extLst>
              <a:ext uri="{FF2B5EF4-FFF2-40B4-BE49-F238E27FC236}">
                <a16:creationId xmlns:a16="http://schemas.microsoft.com/office/drawing/2014/main" id="{D0FA9509-FC58-8CB2-C7DD-8F6BBCF2CEC6}"/>
              </a:ext>
            </a:extLst>
          </p:cNvPr>
          <p:cNvSpPr>
            <a:spLocks noChangeArrowheads="1"/>
          </p:cNvSpPr>
          <p:nvPr/>
        </p:nvSpPr>
        <p:spPr bwMode="auto">
          <a:xfrm>
            <a:off x="310038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0" name="Oval 18">
            <a:extLst>
              <a:ext uri="{FF2B5EF4-FFF2-40B4-BE49-F238E27FC236}">
                <a16:creationId xmlns:a16="http://schemas.microsoft.com/office/drawing/2014/main" id="{D4744443-35CE-016A-F663-ACC938723E1A}"/>
              </a:ext>
            </a:extLst>
          </p:cNvPr>
          <p:cNvSpPr>
            <a:spLocks noChangeArrowheads="1"/>
          </p:cNvSpPr>
          <p:nvPr/>
        </p:nvSpPr>
        <p:spPr bwMode="auto">
          <a:xfrm>
            <a:off x="3325813"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1" name="Oval 19">
            <a:extLst>
              <a:ext uri="{FF2B5EF4-FFF2-40B4-BE49-F238E27FC236}">
                <a16:creationId xmlns:a16="http://schemas.microsoft.com/office/drawing/2014/main" id="{F0DF6818-0B33-F93D-06BD-D80268C70AD4}"/>
              </a:ext>
            </a:extLst>
          </p:cNvPr>
          <p:cNvSpPr>
            <a:spLocks noChangeArrowheads="1"/>
          </p:cNvSpPr>
          <p:nvPr/>
        </p:nvSpPr>
        <p:spPr bwMode="auto">
          <a:xfrm>
            <a:off x="355123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2" name="Oval 20">
            <a:extLst>
              <a:ext uri="{FF2B5EF4-FFF2-40B4-BE49-F238E27FC236}">
                <a16:creationId xmlns:a16="http://schemas.microsoft.com/office/drawing/2014/main" id="{89726162-602A-2AC3-A83B-0CB099CF5428}"/>
              </a:ext>
            </a:extLst>
          </p:cNvPr>
          <p:cNvSpPr>
            <a:spLocks noChangeArrowheads="1"/>
          </p:cNvSpPr>
          <p:nvPr/>
        </p:nvSpPr>
        <p:spPr bwMode="auto">
          <a:xfrm>
            <a:off x="3776663"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3" name="Oval 21">
            <a:extLst>
              <a:ext uri="{FF2B5EF4-FFF2-40B4-BE49-F238E27FC236}">
                <a16:creationId xmlns:a16="http://schemas.microsoft.com/office/drawing/2014/main" id="{6C17C5EE-5846-28C8-962D-3DF4871EB57A}"/>
              </a:ext>
            </a:extLst>
          </p:cNvPr>
          <p:cNvSpPr>
            <a:spLocks noChangeArrowheads="1"/>
          </p:cNvSpPr>
          <p:nvPr/>
        </p:nvSpPr>
        <p:spPr bwMode="auto">
          <a:xfrm>
            <a:off x="400208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4" name="Oval 22">
            <a:extLst>
              <a:ext uri="{FF2B5EF4-FFF2-40B4-BE49-F238E27FC236}">
                <a16:creationId xmlns:a16="http://schemas.microsoft.com/office/drawing/2014/main" id="{FF399BDB-F6F7-A9F9-6C7C-968094EB6A26}"/>
              </a:ext>
            </a:extLst>
          </p:cNvPr>
          <p:cNvSpPr>
            <a:spLocks noChangeArrowheads="1"/>
          </p:cNvSpPr>
          <p:nvPr/>
        </p:nvSpPr>
        <p:spPr bwMode="auto">
          <a:xfrm>
            <a:off x="4229100"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5" name="Oval 23">
            <a:extLst>
              <a:ext uri="{FF2B5EF4-FFF2-40B4-BE49-F238E27FC236}">
                <a16:creationId xmlns:a16="http://schemas.microsoft.com/office/drawing/2014/main" id="{22592AF6-6CF1-C0AB-4CD1-97472189DA24}"/>
              </a:ext>
            </a:extLst>
          </p:cNvPr>
          <p:cNvSpPr>
            <a:spLocks noChangeArrowheads="1"/>
          </p:cNvSpPr>
          <p:nvPr/>
        </p:nvSpPr>
        <p:spPr bwMode="auto">
          <a:xfrm>
            <a:off x="4454525"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6" name="Oval 24">
            <a:extLst>
              <a:ext uri="{FF2B5EF4-FFF2-40B4-BE49-F238E27FC236}">
                <a16:creationId xmlns:a16="http://schemas.microsoft.com/office/drawing/2014/main" id="{9204764D-44CE-EBF2-4F2D-79EDCFAB829C}"/>
              </a:ext>
            </a:extLst>
          </p:cNvPr>
          <p:cNvSpPr>
            <a:spLocks noChangeArrowheads="1"/>
          </p:cNvSpPr>
          <p:nvPr/>
        </p:nvSpPr>
        <p:spPr bwMode="auto">
          <a:xfrm>
            <a:off x="4679950"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7" name="Oval 25">
            <a:extLst>
              <a:ext uri="{FF2B5EF4-FFF2-40B4-BE49-F238E27FC236}">
                <a16:creationId xmlns:a16="http://schemas.microsoft.com/office/drawing/2014/main" id="{97C30B07-A800-1A70-507D-9668EB13C305}"/>
              </a:ext>
            </a:extLst>
          </p:cNvPr>
          <p:cNvSpPr>
            <a:spLocks noChangeArrowheads="1"/>
          </p:cNvSpPr>
          <p:nvPr/>
        </p:nvSpPr>
        <p:spPr bwMode="auto">
          <a:xfrm>
            <a:off x="4905375"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8" name="Oval 26">
            <a:extLst>
              <a:ext uri="{FF2B5EF4-FFF2-40B4-BE49-F238E27FC236}">
                <a16:creationId xmlns:a16="http://schemas.microsoft.com/office/drawing/2014/main" id="{562825FB-548C-5C17-7EE6-9533598ECB4C}"/>
              </a:ext>
            </a:extLst>
          </p:cNvPr>
          <p:cNvSpPr>
            <a:spLocks noChangeArrowheads="1"/>
          </p:cNvSpPr>
          <p:nvPr/>
        </p:nvSpPr>
        <p:spPr bwMode="auto">
          <a:xfrm>
            <a:off x="513238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099" name="Oval 27">
            <a:extLst>
              <a:ext uri="{FF2B5EF4-FFF2-40B4-BE49-F238E27FC236}">
                <a16:creationId xmlns:a16="http://schemas.microsoft.com/office/drawing/2014/main" id="{A41BDF34-1E80-E05A-D576-BF09F2CCE8F8}"/>
              </a:ext>
            </a:extLst>
          </p:cNvPr>
          <p:cNvSpPr>
            <a:spLocks noChangeArrowheads="1"/>
          </p:cNvSpPr>
          <p:nvPr/>
        </p:nvSpPr>
        <p:spPr bwMode="auto">
          <a:xfrm>
            <a:off x="5357813"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0" name="Oval 28">
            <a:extLst>
              <a:ext uri="{FF2B5EF4-FFF2-40B4-BE49-F238E27FC236}">
                <a16:creationId xmlns:a16="http://schemas.microsoft.com/office/drawing/2014/main" id="{0F080E84-7A54-3E52-B744-16E46E327C76}"/>
              </a:ext>
            </a:extLst>
          </p:cNvPr>
          <p:cNvSpPr>
            <a:spLocks noChangeArrowheads="1"/>
          </p:cNvSpPr>
          <p:nvPr/>
        </p:nvSpPr>
        <p:spPr bwMode="auto">
          <a:xfrm>
            <a:off x="558323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1" name="Oval 29">
            <a:extLst>
              <a:ext uri="{FF2B5EF4-FFF2-40B4-BE49-F238E27FC236}">
                <a16:creationId xmlns:a16="http://schemas.microsoft.com/office/drawing/2014/main" id="{79D1C03F-5AD4-2A6B-9910-E90041CE460A}"/>
              </a:ext>
            </a:extLst>
          </p:cNvPr>
          <p:cNvSpPr>
            <a:spLocks noChangeArrowheads="1"/>
          </p:cNvSpPr>
          <p:nvPr/>
        </p:nvSpPr>
        <p:spPr bwMode="auto">
          <a:xfrm>
            <a:off x="5810250"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2" name="Oval 30">
            <a:extLst>
              <a:ext uri="{FF2B5EF4-FFF2-40B4-BE49-F238E27FC236}">
                <a16:creationId xmlns:a16="http://schemas.microsoft.com/office/drawing/2014/main" id="{A7C19ECD-CA42-597F-D1C1-86F43116CE90}"/>
              </a:ext>
            </a:extLst>
          </p:cNvPr>
          <p:cNvSpPr>
            <a:spLocks noChangeArrowheads="1"/>
          </p:cNvSpPr>
          <p:nvPr/>
        </p:nvSpPr>
        <p:spPr bwMode="auto">
          <a:xfrm>
            <a:off x="6035675"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3" name="Oval 31">
            <a:extLst>
              <a:ext uri="{FF2B5EF4-FFF2-40B4-BE49-F238E27FC236}">
                <a16:creationId xmlns:a16="http://schemas.microsoft.com/office/drawing/2014/main" id="{7EDB5CB2-BE48-667D-E528-CE49D7EC37CC}"/>
              </a:ext>
            </a:extLst>
          </p:cNvPr>
          <p:cNvSpPr>
            <a:spLocks noChangeArrowheads="1"/>
          </p:cNvSpPr>
          <p:nvPr/>
        </p:nvSpPr>
        <p:spPr bwMode="auto">
          <a:xfrm>
            <a:off x="6261100"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4" name="Oval 32">
            <a:extLst>
              <a:ext uri="{FF2B5EF4-FFF2-40B4-BE49-F238E27FC236}">
                <a16:creationId xmlns:a16="http://schemas.microsoft.com/office/drawing/2014/main" id="{7AC7FF39-C610-9C47-5213-3808B05752A9}"/>
              </a:ext>
            </a:extLst>
          </p:cNvPr>
          <p:cNvSpPr>
            <a:spLocks noChangeArrowheads="1"/>
          </p:cNvSpPr>
          <p:nvPr/>
        </p:nvSpPr>
        <p:spPr bwMode="auto">
          <a:xfrm>
            <a:off x="6486525"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5" name="Oval 33">
            <a:extLst>
              <a:ext uri="{FF2B5EF4-FFF2-40B4-BE49-F238E27FC236}">
                <a16:creationId xmlns:a16="http://schemas.microsoft.com/office/drawing/2014/main" id="{E009CD05-AE92-E7D9-BAC3-8E940479907F}"/>
              </a:ext>
            </a:extLst>
          </p:cNvPr>
          <p:cNvSpPr>
            <a:spLocks noChangeArrowheads="1"/>
          </p:cNvSpPr>
          <p:nvPr/>
        </p:nvSpPr>
        <p:spPr bwMode="auto">
          <a:xfrm>
            <a:off x="671353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6" name="Oval 34">
            <a:extLst>
              <a:ext uri="{FF2B5EF4-FFF2-40B4-BE49-F238E27FC236}">
                <a16:creationId xmlns:a16="http://schemas.microsoft.com/office/drawing/2014/main" id="{6795A9DC-ED15-0DE8-67C9-B39B1C14C04D}"/>
              </a:ext>
            </a:extLst>
          </p:cNvPr>
          <p:cNvSpPr>
            <a:spLocks noChangeArrowheads="1"/>
          </p:cNvSpPr>
          <p:nvPr/>
        </p:nvSpPr>
        <p:spPr bwMode="auto">
          <a:xfrm>
            <a:off x="6938963"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7" name="Oval 35">
            <a:extLst>
              <a:ext uri="{FF2B5EF4-FFF2-40B4-BE49-F238E27FC236}">
                <a16:creationId xmlns:a16="http://schemas.microsoft.com/office/drawing/2014/main" id="{D067B04A-416E-C75C-BE15-C936DDC50F3E}"/>
              </a:ext>
            </a:extLst>
          </p:cNvPr>
          <p:cNvSpPr>
            <a:spLocks noChangeArrowheads="1"/>
          </p:cNvSpPr>
          <p:nvPr/>
        </p:nvSpPr>
        <p:spPr bwMode="auto">
          <a:xfrm>
            <a:off x="716438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8" name="Oval 36">
            <a:extLst>
              <a:ext uri="{FF2B5EF4-FFF2-40B4-BE49-F238E27FC236}">
                <a16:creationId xmlns:a16="http://schemas.microsoft.com/office/drawing/2014/main" id="{BECAF47E-26DD-67C3-9AC2-F99D18AC0DD4}"/>
              </a:ext>
            </a:extLst>
          </p:cNvPr>
          <p:cNvSpPr>
            <a:spLocks noChangeArrowheads="1"/>
          </p:cNvSpPr>
          <p:nvPr/>
        </p:nvSpPr>
        <p:spPr bwMode="auto">
          <a:xfrm>
            <a:off x="7389813"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09" name="Oval 37">
            <a:extLst>
              <a:ext uri="{FF2B5EF4-FFF2-40B4-BE49-F238E27FC236}">
                <a16:creationId xmlns:a16="http://schemas.microsoft.com/office/drawing/2014/main" id="{69F2A274-3426-ED0E-0CE9-E9BF70944B9E}"/>
              </a:ext>
            </a:extLst>
          </p:cNvPr>
          <p:cNvSpPr>
            <a:spLocks noChangeArrowheads="1"/>
          </p:cNvSpPr>
          <p:nvPr/>
        </p:nvSpPr>
        <p:spPr bwMode="auto">
          <a:xfrm>
            <a:off x="7616825"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10" name="Oval 38">
            <a:extLst>
              <a:ext uri="{FF2B5EF4-FFF2-40B4-BE49-F238E27FC236}">
                <a16:creationId xmlns:a16="http://schemas.microsoft.com/office/drawing/2014/main" id="{C839570C-D778-65D9-ABC0-3F357762A5DC}"/>
              </a:ext>
            </a:extLst>
          </p:cNvPr>
          <p:cNvSpPr>
            <a:spLocks noChangeArrowheads="1"/>
          </p:cNvSpPr>
          <p:nvPr/>
        </p:nvSpPr>
        <p:spPr bwMode="auto">
          <a:xfrm>
            <a:off x="7842250"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11" name="Oval 39">
            <a:extLst>
              <a:ext uri="{FF2B5EF4-FFF2-40B4-BE49-F238E27FC236}">
                <a16:creationId xmlns:a16="http://schemas.microsoft.com/office/drawing/2014/main" id="{159D839F-29BC-7146-AD5A-3207597AEA56}"/>
              </a:ext>
            </a:extLst>
          </p:cNvPr>
          <p:cNvSpPr>
            <a:spLocks noChangeArrowheads="1"/>
          </p:cNvSpPr>
          <p:nvPr/>
        </p:nvSpPr>
        <p:spPr bwMode="auto">
          <a:xfrm>
            <a:off x="8067675"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12" name="Oval 40">
            <a:extLst>
              <a:ext uri="{FF2B5EF4-FFF2-40B4-BE49-F238E27FC236}">
                <a16:creationId xmlns:a16="http://schemas.microsoft.com/office/drawing/2014/main" id="{323AB5CC-01BE-BB04-1B66-438CA4A2665D}"/>
              </a:ext>
            </a:extLst>
          </p:cNvPr>
          <p:cNvSpPr>
            <a:spLocks noChangeArrowheads="1"/>
          </p:cNvSpPr>
          <p:nvPr/>
        </p:nvSpPr>
        <p:spPr bwMode="auto">
          <a:xfrm>
            <a:off x="8293100" y="4859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13" name="Oval 41">
            <a:extLst>
              <a:ext uri="{FF2B5EF4-FFF2-40B4-BE49-F238E27FC236}">
                <a16:creationId xmlns:a16="http://schemas.microsoft.com/office/drawing/2014/main" id="{D0A6173B-4BEF-6AC8-4247-3E3E54B96976}"/>
              </a:ext>
            </a:extLst>
          </p:cNvPr>
          <p:cNvSpPr>
            <a:spLocks noChangeArrowheads="1"/>
          </p:cNvSpPr>
          <p:nvPr/>
        </p:nvSpPr>
        <p:spPr bwMode="auto">
          <a:xfrm>
            <a:off x="8520113"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14" name="Oval 42">
            <a:extLst>
              <a:ext uri="{FF2B5EF4-FFF2-40B4-BE49-F238E27FC236}">
                <a16:creationId xmlns:a16="http://schemas.microsoft.com/office/drawing/2014/main" id="{9FE7F180-E2F9-56FB-2BEE-62966B58164E}"/>
              </a:ext>
            </a:extLst>
          </p:cNvPr>
          <p:cNvSpPr>
            <a:spLocks noChangeArrowheads="1"/>
          </p:cNvSpPr>
          <p:nvPr/>
        </p:nvSpPr>
        <p:spPr bwMode="auto">
          <a:xfrm>
            <a:off x="8745538" y="4859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15" name="Rectangle 43">
            <a:extLst>
              <a:ext uri="{FF2B5EF4-FFF2-40B4-BE49-F238E27FC236}">
                <a16:creationId xmlns:a16="http://schemas.microsoft.com/office/drawing/2014/main" id="{35DCAEBA-87FD-525A-4910-B7710E764C63}"/>
              </a:ext>
            </a:extLst>
          </p:cNvPr>
          <p:cNvSpPr>
            <a:spLocks noChangeArrowheads="1"/>
          </p:cNvSpPr>
          <p:nvPr/>
        </p:nvSpPr>
        <p:spPr bwMode="auto">
          <a:xfrm>
            <a:off x="384175" y="4105275"/>
            <a:ext cx="804863" cy="182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Lst>
              <a:defRPr>
                <a:solidFill>
                  <a:srgbClr val="000000"/>
                </a:solidFill>
                <a:latin typeface="Arial" panose="020B0604020202020204" pitchFamily="34" charset="0"/>
                <a:ea typeface="Microsoft YaHei" panose="020B0503020204020204" pitchFamily="34" charset="-122"/>
              </a:defRPr>
            </a:lvl1pPr>
            <a:lvl2pPr>
              <a:tabLst>
                <a:tab pos="0" algn="l"/>
              </a:tabLst>
              <a:defRPr>
                <a:solidFill>
                  <a:srgbClr val="000000"/>
                </a:solidFill>
                <a:latin typeface="Arial" panose="020B0604020202020204" pitchFamily="34" charset="0"/>
                <a:ea typeface="Microsoft YaHei" panose="020B0503020204020204" pitchFamily="34" charset="-122"/>
              </a:defRPr>
            </a:lvl2pPr>
            <a:lvl3pPr>
              <a:tabLst>
                <a:tab pos="0" algn="l"/>
              </a:tabLst>
              <a:defRPr>
                <a:solidFill>
                  <a:srgbClr val="000000"/>
                </a:solidFill>
                <a:latin typeface="Arial" panose="020B0604020202020204" pitchFamily="34" charset="0"/>
                <a:ea typeface="Microsoft YaHei" panose="020B0503020204020204" pitchFamily="34" charset="-122"/>
              </a:defRPr>
            </a:lvl3pPr>
            <a:lvl4pPr>
              <a:tabLst>
                <a:tab pos="0" algn="l"/>
              </a:tabLst>
              <a:defRPr>
                <a:solidFill>
                  <a:srgbClr val="000000"/>
                </a:solidFill>
                <a:latin typeface="Arial" panose="020B0604020202020204" pitchFamily="34" charset="0"/>
                <a:ea typeface="Microsoft YaHei" panose="020B0503020204020204" pitchFamily="34" charset="-122"/>
              </a:defRPr>
            </a:lvl4pPr>
            <a:lvl5pPr>
              <a:tabLst>
                <a:tab pos="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9pPr>
          </a:lstStyle>
          <a:p>
            <a:pPr algn="r" hangingPunct="1">
              <a:lnSpc>
                <a:spcPct val="100000"/>
              </a:lnSpc>
            </a:pPr>
            <a:r>
              <a:rPr lang="en-US" altLang="en-US" sz="1000" b="1">
                <a:solidFill>
                  <a:srgbClr val="111827"/>
                </a:solidFill>
                <a:latin typeface="Aptos" panose="020B0004020202020204" pitchFamily="34" charset="0"/>
              </a:rPr>
              <a:t>Layer 1: d=1</a:t>
            </a:r>
          </a:p>
        </p:txBody>
      </p:sp>
      <p:sp>
        <p:nvSpPr>
          <p:cNvPr id="3116" name="Line 44">
            <a:extLst>
              <a:ext uri="{FF2B5EF4-FFF2-40B4-BE49-F238E27FC236}">
                <a16:creationId xmlns:a16="http://schemas.microsoft.com/office/drawing/2014/main" id="{4C324EAC-2E8F-A390-8624-DDEEA9B6B86A}"/>
              </a:ext>
            </a:extLst>
          </p:cNvPr>
          <p:cNvSpPr>
            <a:spLocks noChangeShapeType="1"/>
          </p:cNvSpPr>
          <p:nvPr/>
        </p:nvSpPr>
        <p:spPr bwMode="auto">
          <a:xfrm>
            <a:off x="1325563" y="4206875"/>
            <a:ext cx="7451725" cy="1588"/>
          </a:xfrm>
          <a:prstGeom prst="line">
            <a:avLst/>
          </a:prstGeom>
          <a:noFill/>
          <a:ln w="25560" cap="flat">
            <a:solidFill>
              <a:srgbClr val="CBD5E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117" name="Oval 45">
            <a:extLst>
              <a:ext uri="{FF2B5EF4-FFF2-40B4-BE49-F238E27FC236}">
                <a16:creationId xmlns:a16="http://schemas.microsoft.com/office/drawing/2014/main" id="{273F1E5C-14BA-4773-98F9-9AAE25FAC58D}"/>
              </a:ext>
            </a:extLst>
          </p:cNvPr>
          <p:cNvSpPr>
            <a:spLocks noChangeArrowheads="1"/>
          </p:cNvSpPr>
          <p:nvPr/>
        </p:nvSpPr>
        <p:spPr bwMode="auto">
          <a:xfrm>
            <a:off x="1293813"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18" name="Oval 46">
            <a:extLst>
              <a:ext uri="{FF2B5EF4-FFF2-40B4-BE49-F238E27FC236}">
                <a16:creationId xmlns:a16="http://schemas.microsoft.com/office/drawing/2014/main" id="{68A7958B-BC5A-5906-E285-A59CA482A1AC}"/>
              </a:ext>
            </a:extLst>
          </p:cNvPr>
          <p:cNvSpPr>
            <a:spLocks noChangeArrowheads="1"/>
          </p:cNvSpPr>
          <p:nvPr/>
        </p:nvSpPr>
        <p:spPr bwMode="auto">
          <a:xfrm>
            <a:off x="151923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19" name="Oval 47">
            <a:extLst>
              <a:ext uri="{FF2B5EF4-FFF2-40B4-BE49-F238E27FC236}">
                <a16:creationId xmlns:a16="http://schemas.microsoft.com/office/drawing/2014/main" id="{5DEE3DF2-DF6F-C7C0-94C8-FE47B40ABCB4}"/>
              </a:ext>
            </a:extLst>
          </p:cNvPr>
          <p:cNvSpPr>
            <a:spLocks noChangeArrowheads="1"/>
          </p:cNvSpPr>
          <p:nvPr/>
        </p:nvSpPr>
        <p:spPr bwMode="auto">
          <a:xfrm>
            <a:off x="1744663"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0" name="Oval 48">
            <a:extLst>
              <a:ext uri="{FF2B5EF4-FFF2-40B4-BE49-F238E27FC236}">
                <a16:creationId xmlns:a16="http://schemas.microsoft.com/office/drawing/2014/main" id="{E9F0C5F4-F61F-59FD-1988-2673570CA83A}"/>
              </a:ext>
            </a:extLst>
          </p:cNvPr>
          <p:cNvSpPr>
            <a:spLocks noChangeArrowheads="1"/>
          </p:cNvSpPr>
          <p:nvPr/>
        </p:nvSpPr>
        <p:spPr bwMode="auto">
          <a:xfrm>
            <a:off x="197008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1" name="Oval 49">
            <a:extLst>
              <a:ext uri="{FF2B5EF4-FFF2-40B4-BE49-F238E27FC236}">
                <a16:creationId xmlns:a16="http://schemas.microsoft.com/office/drawing/2014/main" id="{8444F20D-AAC5-098B-261D-56D306427D45}"/>
              </a:ext>
            </a:extLst>
          </p:cNvPr>
          <p:cNvSpPr>
            <a:spLocks noChangeArrowheads="1"/>
          </p:cNvSpPr>
          <p:nvPr/>
        </p:nvSpPr>
        <p:spPr bwMode="auto">
          <a:xfrm>
            <a:off x="2197100"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2" name="Oval 50">
            <a:extLst>
              <a:ext uri="{FF2B5EF4-FFF2-40B4-BE49-F238E27FC236}">
                <a16:creationId xmlns:a16="http://schemas.microsoft.com/office/drawing/2014/main" id="{97B7AE9E-A693-B356-2D56-62572587CB3C}"/>
              </a:ext>
            </a:extLst>
          </p:cNvPr>
          <p:cNvSpPr>
            <a:spLocks noChangeArrowheads="1"/>
          </p:cNvSpPr>
          <p:nvPr/>
        </p:nvSpPr>
        <p:spPr bwMode="auto">
          <a:xfrm>
            <a:off x="2422525"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3" name="Oval 51">
            <a:extLst>
              <a:ext uri="{FF2B5EF4-FFF2-40B4-BE49-F238E27FC236}">
                <a16:creationId xmlns:a16="http://schemas.microsoft.com/office/drawing/2014/main" id="{63770CF9-7FA8-3CE2-FD4F-D27B2B38213C}"/>
              </a:ext>
            </a:extLst>
          </p:cNvPr>
          <p:cNvSpPr>
            <a:spLocks noChangeArrowheads="1"/>
          </p:cNvSpPr>
          <p:nvPr/>
        </p:nvSpPr>
        <p:spPr bwMode="auto">
          <a:xfrm>
            <a:off x="2647950"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4" name="Oval 52">
            <a:extLst>
              <a:ext uri="{FF2B5EF4-FFF2-40B4-BE49-F238E27FC236}">
                <a16:creationId xmlns:a16="http://schemas.microsoft.com/office/drawing/2014/main" id="{B83B0EE8-359B-98FF-81D2-AF8AE71FBA05}"/>
              </a:ext>
            </a:extLst>
          </p:cNvPr>
          <p:cNvSpPr>
            <a:spLocks noChangeArrowheads="1"/>
          </p:cNvSpPr>
          <p:nvPr/>
        </p:nvSpPr>
        <p:spPr bwMode="auto">
          <a:xfrm>
            <a:off x="2873375"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5" name="Oval 53">
            <a:extLst>
              <a:ext uri="{FF2B5EF4-FFF2-40B4-BE49-F238E27FC236}">
                <a16:creationId xmlns:a16="http://schemas.microsoft.com/office/drawing/2014/main" id="{AF11547F-F91A-302E-66B5-F0451DB60855}"/>
              </a:ext>
            </a:extLst>
          </p:cNvPr>
          <p:cNvSpPr>
            <a:spLocks noChangeArrowheads="1"/>
          </p:cNvSpPr>
          <p:nvPr/>
        </p:nvSpPr>
        <p:spPr bwMode="auto">
          <a:xfrm>
            <a:off x="310038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6" name="Oval 54">
            <a:extLst>
              <a:ext uri="{FF2B5EF4-FFF2-40B4-BE49-F238E27FC236}">
                <a16:creationId xmlns:a16="http://schemas.microsoft.com/office/drawing/2014/main" id="{EAAAC445-4055-C295-8ACB-C34F18900E71}"/>
              </a:ext>
            </a:extLst>
          </p:cNvPr>
          <p:cNvSpPr>
            <a:spLocks noChangeArrowheads="1"/>
          </p:cNvSpPr>
          <p:nvPr/>
        </p:nvSpPr>
        <p:spPr bwMode="auto">
          <a:xfrm>
            <a:off x="3325813"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7" name="Oval 55">
            <a:extLst>
              <a:ext uri="{FF2B5EF4-FFF2-40B4-BE49-F238E27FC236}">
                <a16:creationId xmlns:a16="http://schemas.microsoft.com/office/drawing/2014/main" id="{5468A729-53E2-225C-95CD-9D93EA4430A4}"/>
              </a:ext>
            </a:extLst>
          </p:cNvPr>
          <p:cNvSpPr>
            <a:spLocks noChangeArrowheads="1"/>
          </p:cNvSpPr>
          <p:nvPr/>
        </p:nvSpPr>
        <p:spPr bwMode="auto">
          <a:xfrm>
            <a:off x="355123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8" name="Oval 56">
            <a:extLst>
              <a:ext uri="{FF2B5EF4-FFF2-40B4-BE49-F238E27FC236}">
                <a16:creationId xmlns:a16="http://schemas.microsoft.com/office/drawing/2014/main" id="{BCE93FE7-98F6-E8D6-3374-E1AF4E087FDB}"/>
              </a:ext>
            </a:extLst>
          </p:cNvPr>
          <p:cNvSpPr>
            <a:spLocks noChangeArrowheads="1"/>
          </p:cNvSpPr>
          <p:nvPr/>
        </p:nvSpPr>
        <p:spPr bwMode="auto">
          <a:xfrm>
            <a:off x="3776663"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29" name="Oval 57">
            <a:extLst>
              <a:ext uri="{FF2B5EF4-FFF2-40B4-BE49-F238E27FC236}">
                <a16:creationId xmlns:a16="http://schemas.microsoft.com/office/drawing/2014/main" id="{43667511-3A10-0D04-94DE-D544C19B430E}"/>
              </a:ext>
            </a:extLst>
          </p:cNvPr>
          <p:cNvSpPr>
            <a:spLocks noChangeArrowheads="1"/>
          </p:cNvSpPr>
          <p:nvPr/>
        </p:nvSpPr>
        <p:spPr bwMode="auto">
          <a:xfrm>
            <a:off x="400208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0" name="Oval 58">
            <a:extLst>
              <a:ext uri="{FF2B5EF4-FFF2-40B4-BE49-F238E27FC236}">
                <a16:creationId xmlns:a16="http://schemas.microsoft.com/office/drawing/2014/main" id="{EB30F576-0FFB-4EBC-7F04-1BE9A24B33FF}"/>
              </a:ext>
            </a:extLst>
          </p:cNvPr>
          <p:cNvSpPr>
            <a:spLocks noChangeArrowheads="1"/>
          </p:cNvSpPr>
          <p:nvPr/>
        </p:nvSpPr>
        <p:spPr bwMode="auto">
          <a:xfrm>
            <a:off x="4229100"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1" name="Oval 59">
            <a:extLst>
              <a:ext uri="{FF2B5EF4-FFF2-40B4-BE49-F238E27FC236}">
                <a16:creationId xmlns:a16="http://schemas.microsoft.com/office/drawing/2014/main" id="{AE881BB7-FF47-A4A0-29EE-E69018206097}"/>
              </a:ext>
            </a:extLst>
          </p:cNvPr>
          <p:cNvSpPr>
            <a:spLocks noChangeArrowheads="1"/>
          </p:cNvSpPr>
          <p:nvPr/>
        </p:nvSpPr>
        <p:spPr bwMode="auto">
          <a:xfrm>
            <a:off x="4454525"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2" name="Oval 60">
            <a:extLst>
              <a:ext uri="{FF2B5EF4-FFF2-40B4-BE49-F238E27FC236}">
                <a16:creationId xmlns:a16="http://schemas.microsoft.com/office/drawing/2014/main" id="{1D393FD6-04DF-F65D-5332-67EA7CF4477D}"/>
              </a:ext>
            </a:extLst>
          </p:cNvPr>
          <p:cNvSpPr>
            <a:spLocks noChangeArrowheads="1"/>
          </p:cNvSpPr>
          <p:nvPr/>
        </p:nvSpPr>
        <p:spPr bwMode="auto">
          <a:xfrm>
            <a:off x="4679950"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3" name="Oval 61">
            <a:extLst>
              <a:ext uri="{FF2B5EF4-FFF2-40B4-BE49-F238E27FC236}">
                <a16:creationId xmlns:a16="http://schemas.microsoft.com/office/drawing/2014/main" id="{A528461A-1303-6A2F-111C-2CF2DBCE38A3}"/>
              </a:ext>
            </a:extLst>
          </p:cNvPr>
          <p:cNvSpPr>
            <a:spLocks noChangeArrowheads="1"/>
          </p:cNvSpPr>
          <p:nvPr/>
        </p:nvSpPr>
        <p:spPr bwMode="auto">
          <a:xfrm>
            <a:off x="4905375"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4" name="Oval 62">
            <a:extLst>
              <a:ext uri="{FF2B5EF4-FFF2-40B4-BE49-F238E27FC236}">
                <a16:creationId xmlns:a16="http://schemas.microsoft.com/office/drawing/2014/main" id="{97A23B81-85B4-D34E-4771-908ADDF73205}"/>
              </a:ext>
            </a:extLst>
          </p:cNvPr>
          <p:cNvSpPr>
            <a:spLocks noChangeArrowheads="1"/>
          </p:cNvSpPr>
          <p:nvPr/>
        </p:nvSpPr>
        <p:spPr bwMode="auto">
          <a:xfrm>
            <a:off x="513238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5" name="Oval 63">
            <a:extLst>
              <a:ext uri="{FF2B5EF4-FFF2-40B4-BE49-F238E27FC236}">
                <a16:creationId xmlns:a16="http://schemas.microsoft.com/office/drawing/2014/main" id="{A5221937-A67B-6D23-8028-9A4201E044D2}"/>
              </a:ext>
            </a:extLst>
          </p:cNvPr>
          <p:cNvSpPr>
            <a:spLocks noChangeArrowheads="1"/>
          </p:cNvSpPr>
          <p:nvPr/>
        </p:nvSpPr>
        <p:spPr bwMode="auto">
          <a:xfrm>
            <a:off x="5357813"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6" name="Oval 64">
            <a:extLst>
              <a:ext uri="{FF2B5EF4-FFF2-40B4-BE49-F238E27FC236}">
                <a16:creationId xmlns:a16="http://schemas.microsoft.com/office/drawing/2014/main" id="{FFA97D15-C2BB-4B09-12C8-514164933D10}"/>
              </a:ext>
            </a:extLst>
          </p:cNvPr>
          <p:cNvSpPr>
            <a:spLocks noChangeArrowheads="1"/>
          </p:cNvSpPr>
          <p:nvPr/>
        </p:nvSpPr>
        <p:spPr bwMode="auto">
          <a:xfrm>
            <a:off x="558323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7" name="Oval 65">
            <a:extLst>
              <a:ext uri="{FF2B5EF4-FFF2-40B4-BE49-F238E27FC236}">
                <a16:creationId xmlns:a16="http://schemas.microsoft.com/office/drawing/2014/main" id="{876D124C-D64C-7362-C20C-DB6A9598BA1E}"/>
              </a:ext>
            </a:extLst>
          </p:cNvPr>
          <p:cNvSpPr>
            <a:spLocks noChangeArrowheads="1"/>
          </p:cNvSpPr>
          <p:nvPr/>
        </p:nvSpPr>
        <p:spPr bwMode="auto">
          <a:xfrm>
            <a:off x="5810250"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8" name="Oval 66">
            <a:extLst>
              <a:ext uri="{FF2B5EF4-FFF2-40B4-BE49-F238E27FC236}">
                <a16:creationId xmlns:a16="http://schemas.microsoft.com/office/drawing/2014/main" id="{3E0E0C32-555E-2630-175E-5D3BC282F7B7}"/>
              </a:ext>
            </a:extLst>
          </p:cNvPr>
          <p:cNvSpPr>
            <a:spLocks noChangeArrowheads="1"/>
          </p:cNvSpPr>
          <p:nvPr/>
        </p:nvSpPr>
        <p:spPr bwMode="auto">
          <a:xfrm>
            <a:off x="6035675"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39" name="Oval 67">
            <a:extLst>
              <a:ext uri="{FF2B5EF4-FFF2-40B4-BE49-F238E27FC236}">
                <a16:creationId xmlns:a16="http://schemas.microsoft.com/office/drawing/2014/main" id="{2C424F56-C0E5-19D5-84FC-198996B6B059}"/>
              </a:ext>
            </a:extLst>
          </p:cNvPr>
          <p:cNvSpPr>
            <a:spLocks noChangeArrowheads="1"/>
          </p:cNvSpPr>
          <p:nvPr/>
        </p:nvSpPr>
        <p:spPr bwMode="auto">
          <a:xfrm>
            <a:off x="6261100"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0" name="Oval 68">
            <a:extLst>
              <a:ext uri="{FF2B5EF4-FFF2-40B4-BE49-F238E27FC236}">
                <a16:creationId xmlns:a16="http://schemas.microsoft.com/office/drawing/2014/main" id="{B124F7D1-A3C3-B16C-52F8-8D05D8C36A51}"/>
              </a:ext>
            </a:extLst>
          </p:cNvPr>
          <p:cNvSpPr>
            <a:spLocks noChangeArrowheads="1"/>
          </p:cNvSpPr>
          <p:nvPr/>
        </p:nvSpPr>
        <p:spPr bwMode="auto">
          <a:xfrm>
            <a:off x="6486525"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1" name="Oval 69">
            <a:extLst>
              <a:ext uri="{FF2B5EF4-FFF2-40B4-BE49-F238E27FC236}">
                <a16:creationId xmlns:a16="http://schemas.microsoft.com/office/drawing/2014/main" id="{A23309EA-E011-EA67-CA64-2A8DF8C65094}"/>
              </a:ext>
            </a:extLst>
          </p:cNvPr>
          <p:cNvSpPr>
            <a:spLocks noChangeArrowheads="1"/>
          </p:cNvSpPr>
          <p:nvPr/>
        </p:nvSpPr>
        <p:spPr bwMode="auto">
          <a:xfrm>
            <a:off x="671353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2" name="Oval 70">
            <a:extLst>
              <a:ext uri="{FF2B5EF4-FFF2-40B4-BE49-F238E27FC236}">
                <a16:creationId xmlns:a16="http://schemas.microsoft.com/office/drawing/2014/main" id="{60DF8D63-1549-992B-216F-83510F8D03FA}"/>
              </a:ext>
            </a:extLst>
          </p:cNvPr>
          <p:cNvSpPr>
            <a:spLocks noChangeArrowheads="1"/>
          </p:cNvSpPr>
          <p:nvPr/>
        </p:nvSpPr>
        <p:spPr bwMode="auto">
          <a:xfrm>
            <a:off x="6938963"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3" name="Oval 71">
            <a:extLst>
              <a:ext uri="{FF2B5EF4-FFF2-40B4-BE49-F238E27FC236}">
                <a16:creationId xmlns:a16="http://schemas.microsoft.com/office/drawing/2014/main" id="{4A6B5AB9-421C-D010-C622-F428D3D7500B}"/>
              </a:ext>
            </a:extLst>
          </p:cNvPr>
          <p:cNvSpPr>
            <a:spLocks noChangeArrowheads="1"/>
          </p:cNvSpPr>
          <p:nvPr/>
        </p:nvSpPr>
        <p:spPr bwMode="auto">
          <a:xfrm>
            <a:off x="716438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4" name="Oval 72">
            <a:extLst>
              <a:ext uri="{FF2B5EF4-FFF2-40B4-BE49-F238E27FC236}">
                <a16:creationId xmlns:a16="http://schemas.microsoft.com/office/drawing/2014/main" id="{1AB55DBE-C133-C19B-176E-024DD66D08DD}"/>
              </a:ext>
            </a:extLst>
          </p:cNvPr>
          <p:cNvSpPr>
            <a:spLocks noChangeArrowheads="1"/>
          </p:cNvSpPr>
          <p:nvPr/>
        </p:nvSpPr>
        <p:spPr bwMode="auto">
          <a:xfrm>
            <a:off x="7389813"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5" name="Oval 73">
            <a:extLst>
              <a:ext uri="{FF2B5EF4-FFF2-40B4-BE49-F238E27FC236}">
                <a16:creationId xmlns:a16="http://schemas.microsoft.com/office/drawing/2014/main" id="{45ED8396-1178-3DEB-0865-E0A032C6CEE1}"/>
              </a:ext>
            </a:extLst>
          </p:cNvPr>
          <p:cNvSpPr>
            <a:spLocks noChangeArrowheads="1"/>
          </p:cNvSpPr>
          <p:nvPr/>
        </p:nvSpPr>
        <p:spPr bwMode="auto">
          <a:xfrm>
            <a:off x="7616825"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6" name="Oval 74">
            <a:extLst>
              <a:ext uri="{FF2B5EF4-FFF2-40B4-BE49-F238E27FC236}">
                <a16:creationId xmlns:a16="http://schemas.microsoft.com/office/drawing/2014/main" id="{48BEED55-266A-055D-4C39-3373B2516C7F}"/>
              </a:ext>
            </a:extLst>
          </p:cNvPr>
          <p:cNvSpPr>
            <a:spLocks noChangeArrowheads="1"/>
          </p:cNvSpPr>
          <p:nvPr/>
        </p:nvSpPr>
        <p:spPr bwMode="auto">
          <a:xfrm>
            <a:off x="7842250"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7" name="Oval 75">
            <a:extLst>
              <a:ext uri="{FF2B5EF4-FFF2-40B4-BE49-F238E27FC236}">
                <a16:creationId xmlns:a16="http://schemas.microsoft.com/office/drawing/2014/main" id="{E400E672-A332-C8E3-AE32-7F2B5BD5AFB3}"/>
              </a:ext>
            </a:extLst>
          </p:cNvPr>
          <p:cNvSpPr>
            <a:spLocks noChangeArrowheads="1"/>
          </p:cNvSpPr>
          <p:nvPr/>
        </p:nvSpPr>
        <p:spPr bwMode="auto">
          <a:xfrm>
            <a:off x="8067675"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8" name="Oval 76">
            <a:extLst>
              <a:ext uri="{FF2B5EF4-FFF2-40B4-BE49-F238E27FC236}">
                <a16:creationId xmlns:a16="http://schemas.microsoft.com/office/drawing/2014/main" id="{AEB91A48-90B4-0438-83EF-DCEF1B60B332}"/>
              </a:ext>
            </a:extLst>
          </p:cNvPr>
          <p:cNvSpPr>
            <a:spLocks noChangeArrowheads="1"/>
          </p:cNvSpPr>
          <p:nvPr/>
        </p:nvSpPr>
        <p:spPr bwMode="auto">
          <a:xfrm>
            <a:off x="8293100" y="41735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49" name="Oval 77">
            <a:extLst>
              <a:ext uri="{FF2B5EF4-FFF2-40B4-BE49-F238E27FC236}">
                <a16:creationId xmlns:a16="http://schemas.microsoft.com/office/drawing/2014/main" id="{1ADDD161-49E0-2A04-229E-D2E266D56328}"/>
              </a:ext>
            </a:extLst>
          </p:cNvPr>
          <p:cNvSpPr>
            <a:spLocks noChangeArrowheads="1"/>
          </p:cNvSpPr>
          <p:nvPr/>
        </p:nvSpPr>
        <p:spPr bwMode="auto">
          <a:xfrm>
            <a:off x="8520113"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50" name="Oval 78">
            <a:extLst>
              <a:ext uri="{FF2B5EF4-FFF2-40B4-BE49-F238E27FC236}">
                <a16:creationId xmlns:a16="http://schemas.microsoft.com/office/drawing/2014/main" id="{1DB96F07-AFB1-142F-82EC-9602B26EC3B9}"/>
              </a:ext>
            </a:extLst>
          </p:cNvPr>
          <p:cNvSpPr>
            <a:spLocks noChangeArrowheads="1"/>
          </p:cNvSpPr>
          <p:nvPr/>
        </p:nvSpPr>
        <p:spPr bwMode="auto">
          <a:xfrm>
            <a:off x="8745538" y="41735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51" name="Rectangle 79">
            <a:extLst>
              <a:ext uri="{FF2B5EF4-FFF2-40B4-BE49-F238E27FC236}">
                <a16:creationId xmlns:a16="http://schemas.microsoft.com/office/drawing/2014/main" id="{7D242BC0-447B-FFB9-72DC-5BFFA3FA0717}"/>
              </a:ext>
            </a:extLst>
          </p:cNvPr>
          <p:cNvSpPr>
            <a:spLocks noChangeArrowheads="1"/>
          </p:cNvSpPr>
          <p:nvPr/>
        </p:nvSpPr>
        <p:spPr bwMode="auto">
          <a:xfrm>
            <a:off x="384175" y="3419475"/>
            <a:ext cx="804863" cy="182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Lst>
              <a:defRPr>
                <a:solidFill>
                  <a:srgbClr val="000000"/>
                </a:solidFill>
                <a:latin typeface="Arial" panose="020B0604020202020204" pitchFamily="34" charset="0"/>
                <a:ea typeface="Microsoft YaHei" panose="020B0503020204020204" pitchFamily="34" charset="-122"/>
              </a:defRPr>
            </a:lvl1pPr>
            <a:lvl2pPr>
              <a:tabLst>
                <a:tab pos="0" algn="l"/>
              </a:tabLst>
              <a:defRPr>
                <a:solidFill>
                  <a:srgbClr val="000000"/>
                </a:solidFill>
                <a:latin typeface="Arial" panose="020B0604020202020204" pitchFamily="34" charset="0"/>
                <a:ea typeface="Microsoft YaHei" panose="020B0503020204020204" pitchFamily="34" charset="-122"/>
              </a:defRPr>
            </a:lvl2pPr>
            <a:lvl3pPr>
              <a:tabLst>
                <a:tab pos="0" algn="l"/>
              </a:tabLst>
              <a:defRPr>
                <a:solidFill>
                  <a:srgbClr val="000000"/>
                </a:solidFill>
                <a:latin typeface="Arial" panose="020B0604020202020204" pitchFamily="34" charset="0"/>
                <a:ea typeface="Microsoft YaHei" panose="020B0503020204020204" pitchFamily="34" charset="-122"/>
              </a:defRPr>
            </a:lvl3pPr>
            <a:lvl4pPr>
              <a:tabLst>
                <a:tab pos="0" algn="l"/>
              </a:tabLst>
              <a:defRPr>
                <a:solidFill>
                  <a:srgbClr val="000000"/>
                </a:solidFill>
                <a:latin typeface="Arial" panose="020B0604020202020204" pitchFamily="34" charset="0"/>
                <a:ea typeface="Microsoft YaHei" panose="020B0503020204020204" pitchFamily="34" charset="-122"/>
              </a:defRPr>
            </a:lvl4pPr>
            <a:lvl5pPr>
              <a:tabLst>
                <a:tab pos="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9pPr>
          </a:lstStyle>
          <a:p>
            <a:pPr algn="r" hangingPunct="1">
              <a:lnSpc>
                <a:spcPct val="100000"/>
              </a:lnSpc>
            </a:pPr>
            <a:r>
              <a:rPr lang="en-US" altLang="en-US" sz="1000" b="1">
                <a:solidFill>
                  <a:srgbClr val="111827"/>
                </a:solidFill>
                <a:latin typeface="Aptos" panose="020B0004020202020204" pitchFamily="34" charset="0"/>
              </a:rPr>
              <a:t>Layer 2: d=2</a:t>
            </a:r>
          </a:p>
        </p:txBody>
      </p:sp>
      <p:sp>
        <p:nvSpPr>
          <p:cNvPr id="3152" name="Line 80">
            <a:extLst>
              <a:ext uri="{FF2B5EF4-FFF2-40B4-BE49-F238E27FC236}">
                <a16:creationId xmlns:a16="http://schemas.microsoft.com/office/drawing/2014/main" id="{90F8FD17-D580-3FEA-949F-2E2A761F4676}"/>
              </a:ext>
            </a:extLst>
          </p:cNvPr>
          <p:cNvSpPr>
            <a:spLocks noChangeShapeType="1"/>
          </p:cNvSpPr>
          <p:nvPr/>
        </p:nvSpPr>
        <p:spPr bwMode="auto">
          <a:xfrm>
            <a:off x="1325563" y="3521075"/>
            <a:ext cx="7451725" cy="1588"/>
          </a:xfrm>
          <a:prstGeom prst="line">
            <a:avLst/>
          </a:prstGeom>
          <a:noFill/>
          <a:ln w="25560" cap="flat">
            <a:solidFill>
              <a:srgbClr val="CBD5E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153" name="Oval 81">
            <a:extLst>
              <a:ext uri="{FF2B5EF4-FFF2-40B4-BE49-F238E27FC236}">
                <a16:creationId xmlns:a16="http://schemas.microsoft.com/office/drawing/2014/main" id="{D2F5C801-BB9F-A1EF-BA8A-4ED4F3D6E641}"/>
              </a:ext>
            </a:extLst>
          </p:cNvPr>
          <p:cNvSpPr>
            <a:spLocks noChangeArrowheads="1"/>
          </p:cNvSpPr>
          <p:nvPr/>
        </p:nvSpPr>
        <p:spPr bwMode="auto">
          <a:xfrm>
            <a:off x="1293813"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54" name="Oval 82">
            <a:extLst>
              <a:ext uri="{FF2B5EF4-FFF2-40B4-BE49-F238E27FC236}">
                <a16:creationId xmlns:a16="http://schemas.microsoft.com/office/drawing/2014/main" id="{CF728AC0-B63A-0BA6-9682-5B9AE577D96D}"/>
              </a:ext>
            </a:extLst>
          </p:cNvPr>
          <p:cNvSpPr>
            <a:spLocks noChangeArrowheads="1"/>
          </p:cNvSpPr>
          <p:nvPr/>
        </p:nvSpPr>
        <p:spPr bwMode="auto">
          <a:xfrm>
            <a:off x="151923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55" name="Oval 83">
            <a:extLst>
              <a:ext uri="{FF2B5EF4-FFF2-40B4-BE49-F238E27FC236}">
                <a16:creationId xmlns:a16="http://schemas.microsoft.com/office/drawing/2014/main" id="{80EC4AEE-AACE-7525-F8B1-72D2E0D8A1BE}"/>
              </a:ext>
            </a:extLst>
          </p:cNvPr>
          <p:cNvSpPr>
            <a:spLocks noChangeArrowheads="1"/>
          </p:cNvSpPr>
          <p:nvPr/>
        </p:nvSpPr>
        <p:spPr bwMode="auto">
          <a:xfrm>
            <a:off x="1744663"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56" name="Oval 84">
            <a:extLst>
              <a:ext uri="{FF2B5EF4-FFF2-40B4-BE49-F238E27FC236}">
                <a16:creationId xmlns:a16="http://schemas.microsoft.com/office/drawing/2014/main" id="{35BDC20D-7E1E-2604-BE18-5852A8576018}"/>
              </a:ext>
            </a:extLst>
          </p:cNvPr>
          <p:cNvSpPr>
            <a:spLocks noChangeArrowheads="1"/>
          </p:cNvSpPr>
          <p:nvPr/>
        </p:nvSpPr>
        <p:spPr bwMode="auto">
          <a:xfrm>
            <a:off x="197008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57" name="Oval 85">
            <a:extLst>
              <a:ext uri="{FF2B5EF4-FFF2-40B4-BE49-F238E27FC236}">
                <a16:creationId xmlns:a16="http://schemas.microsoft.com/office/drawing/2014/main" id="{036BD61B-2EDF-BE0A-0633-A40B6B132FE3}"/>
              </a:ext>
            </a:extLst>
          </p:cNvPr>
          <p:cNvSpPr>
            <a:spLocks noChangeArrowheads="1"/>
          </p:cNvSpPr>
          <p:nvPr/>
        </p:nvSpPr>
        <p:spPr bwMode="auto">
          <a:xfrm>
            <a:off x="2197100"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58" name="Oval 86">
            <a:extLst>
              <a:ext uri="{FF2B5EF4-FFF2-40B4-BE49-F238E27FC236}">
                <a16:creationId xmlns:a16="http://schemas.microsoft.com/office/drawing/2014/main" id="{EDEB47C1-8FE4-39AB-21C1-FBBABDD970B2}"/>
              </a:ext>
            </a:extLst>
          </p:cNvPr>
          <p:cNvSpPr>
            <a:spLocks noChangeArrowheads="1"/>
          </p:cNvSpPr>
          <p:nvPr/>
        </p:nvSpPr>
        <p:spPr bwMode="auto">
          <a:xfrm>
            <a:off x="2422525"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59" name="Oval 87">
            <a:extLst>
              <a:ext uri="{FF2B5EF4-FFF2-40B4-BE49-F238E27FC236}">
                <a16:creationId xmlns:a16="http://schemas.microsoft.com/office/drawing/2014/main" id="{85626CB8-D101-4E6E-6A9F-B08F84BCC565}"/>
              </a:ext>
            </a:extLst>
          </p:cNvPr>
          <p:cNvSpPr>
            <a:spLocks noChangeArrowheads="1"/>
          </p:cNvSpPr>
          <p:nvPr/>
        </p:nvSpPr>
        <p:spPr bwMode="auto">
          <a:xfrm>
            <a:off x="2647950"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0" name="Oval 88">
            <a:extLst>
              <a:ext uri="{FF2B5EF4-FFF2-40B4-BE49-F238E27FC236}">
                <a16:creationId xmlns:a16="http://schemas.microsoft.com/office/drawing/2014/main" id="{2F9FB3BF-AAD0-801F-AF56-3A4736C66AF0}"/>
              </a:ext>
            </a:extLst>
          </p:cNvPr>
          <p:cNvSpPr>
            <a:spLocks noChangeArrowheads="1"/>
          </p:cNvSpPr>
          <p:nvPr/>
        </p:nvSpPr>
        <p:spPr bwMode="auto">
          <a:xfrm>
            <a:off x="2873375"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1" name="Oval 89">
            <a:extLst>
              <a:ext uri="{FF2B5EF4-FFF2-40B4-BE49-F238E27FC236}">
                <a16:creationId xmlns:a16="http://schemas.microsoft.com/office/drawing/2014/main" id="{CB8A6977-B804-0DE3-E895-982667C5A7EC}"/>
              </a:ext>
            </a:extLst>
          </p:cNvPr>
          <p:cNvSpPr>
            <a:spLocks noChangeArrowheads="1"/>
          </p:cNvSpPr>
          <p:nvPr/>
        </p:nvSpPr>
        <p:spPr bwMode="auto">
          <a:xfrm>
            <a:off x="310038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2" name="Oval 90">
            <a:extLst>
              <a:ext uri="{FF2B5EF4-FFF2-40B4-BE49-F238E27FC236}">
                <a16:creationId xmlns:a16="http://schemas.microsoft.com/office/drawing/2014/main" id="{067BF41B-C068-B07D-19E2-146629369782}"/>
              </a:ext>
            </a:extLst>
          </p:cNvPr>
          <p:cNvSpPr>
            <a:spLocks noChangeArrowheads="1"/>
          </p:cNvSpPr>
          <p:nvPr/>
        </p:nvSpPr>
        <p:spPr bwMode="auto">
          <a:xfrm>
            <a:off x="3325813"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3" name="Oval 91">
            <a:extLst>
              <a:ext uri="{FF2B5EF4-FFF2-40B4-BE49-F238E27FC236}">
                <a16:creationId xmlns:a16="http://schemas.microsoft.com/office/drawing/2014/main" id="{0BF32288-04D5-884C-E745-7A682526A76D}"/>
              </a:ext>
            </a:extLst>
          </p:cNvPr>
          <p:cNvSpPr>
            <a:spLocks noChangeArrowheads="1"/>
          </p:cNvSpPr>
          <p:nvPr/>
        </p:nvSpPr>
        <p:spPr bwMode="auto">
          <a:xfrm>
            <a:off x="355123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4" name="Oval 92">
            <a:extLst>
              <a:ext uri="{FF2B5EF4-FFF2-40B4-BE49-F238E27FC236}">
                <a16:creationId xmlns:a16="http://schemas.microsoft.com/office/drawing/2014/main" id="{0AE612D1-BC42-51FF-821E-78C859BAD150}"/>
              </a:ext>
            </a:extLst>
          </p:cNvPr>
          <p:cNvSpPr>
            <a:spLocks noChangeArrowheads="1"/>
          </p:cNvSpPr>
          <p:nvPr/>
        </p:nvSpPr>
        <p:spPr bwMode="auto">
          <a:xfrm>
            <a:off x="3776663"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5" name="Oval 93">
            <a:extLst>
              <a:ext uri="{FF2B5EF4-FFF2-40B4-BE49-F238E27FC236}">
                <a16:creationId xmlns:a16="http://schemas.microsoft.com/office/drawing/2014/main" id="{F4A15A57-5055-FC4A-D8CE-D912AAB39E51}"/>
              </a:ext>
            </a:extLst>
          </p:cNvPr>
          <p:cNvSpPr>
            <a:spLocks noChangeArrowheads="1"/>
          </p:cNvSpPr>
          <p:nvPr/>
        </p:nvSpPr>
        <p:spPr bwMode="auto">
          <a:xfrm>
            <a:off x="400208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6" name="Oval 94">
            <a:extLst>
              <a:ext uri="{FF2B5EF4-FFF2-40B4-BE49-F238E27FC236}">
                <a16:creationId xmlns:a16="http://schemas.microsoft.com/office/drawing/2014/main" id="{215D7B7E-0F9D-00EB-2015-0C053E0C9CCC}"/>
              </a:ext>
            </a:extLst>
          </p:cNvPr>
          <p:cNvSpPr>
            <a:spLocks noChangeArrowheads="1"/>
          </p:cNvSpPr>
          <p:nvPr/>
        </p:nvSpPr>
        <p:spPr bwMode="auto">
          <a:xfrm>
            <a:off x="4229100"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7" name="Oval 95">
            <a:extLst>
              <a:ext uri="{FF2B5EF4-FFF2-40B4-BE49-F238E27FC236}">
                <a16:creationId xmlns:a16="http://schemas.microsoft.com/office/drawing/2014/main" id="{79377B76-CEE9-5B58-7E53-776836A4B851}"/>
              </a:ext>
            </a:extLst>
          </p:cNvPr>
          <p:cNvSpPr>
            <a:spLocks noChangeArrowheads="1"/>
          </p:cNvSpPr>
          <p:nvPr/>
        </p:nvSpPr>
        <p:spPr bwMode="auto">
          <a:xfrm>
            <a:off x="4454525"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8" name="Oval 96">
            <a:extLst>
              <a:ext uri="{FF2B5EF4-FFF2-40B4-BE49-F238E27FC236}">
                <a16:creationId xmlns:a16="http://schemas.microsoft.com/office/drawing/2014/main" id="{7C181827-3D14-074F-19DF-1827E8F7F5A5}"/>
              </a:ext>
            </a:extLst>
          </p:cNvPr>
          <p:cNvSpPr>
            <a:spLocks noChangeArrowheads="1"/>
          </p:cNvSpPr>
          <p:nvPr/>
        </p:nvSpPr>
        <p:spPr bwMode="auto">
          <a:xfrm>
            <a:off x="4679950"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69" name="Oval 97">
            <a:extLst>
              <a:ext uri="{FF2B5EF4-FFF2-40B4-BE49-F238E27FC236}">
                <a16:creationId xmlns:a16="http://schemas.microsoft.com/office/drawing/2014/main" id="{BFB581A0-F06F-2FD2-57CE-F3BE4C0D6C53}"/>
              </a:ext>
            </a:extLst>
          </p:cNvPr>
          <p:cNvSpPr>
            <a:spLocks noChangeArrowheads="1"/>
          </p:cNvSpPr>
          <p:nvPr/>
        </p:nvSpPr>
        <p:spPr bwMode="auto">
          <a:xfrm>
            <a:off x="4905375"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0" name="Oval 98">
            <a:extLst>
              <a:ext uri="{FF2B5EF4-FFF2-40B4-BE49-F238E27FC236}">
                <a16:creationId xmlns:a16="http://schemas.microsoft.com/office/drawing/2014/main" id="{F57EF9B2-B110-402D-5BDE-6A22462117A3}"/>
              </a:ext>
            </a:extLst>
          </p:cNvPr>
          <p:cNvSpPr>
            <a:spLocks noChangeArrowheads="1"/>
          </p:cNvSpPr>
          <p:nvPr/>
        </p:nvSpPr>
        <p:spPr bwMode="auto">
          <a:xfrm>
            <a:off x="513238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1" name="Oval 99">
            <a:extLst>
              <a:ext uri="{FF2B5EF4-FFF2-40B4-BE49-F238E27FC236}">
                <a16:creationId xmlns:a16="http://schemas.microsoft.com/office/drawing/2014/main" id="{3EA85DBA-5BFC-1E1B-7CF9-520187D48831}"/>
              </a:ext>
            </a:extLst>
          </p:cNvPr>
          <p:cNvSpPr>
            <a:spLocks noChangeArrowheads="1"/>
          </p:cNvSpPr>
          <p:nvPr/>
        </p:nvSpPr>
        <p:spPr bwMode="auto">
          <a:xfrm>
            <a:off x="5357813"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2" name="Oval 100">
            <a:extLst>
              <a:ext uri="{FF2B5EF4-FFF2-40B4-BE49-F238E27FC236}">
                <a16:creationId xmlns:a16="http://schemas.microsoft.com/office/drawing/2014/main" id="{C44B614D-3FBB-D547-A347-B63F6AF11F5F}"/>
              </a:ext>
            </a:extLst>
          </p:cNvPr>
          <p:cNvSpPr>
            <a:spLocks noChangeArrowheads="1"/>
          </p:cNvSpPr>
          <p:nvPr/>
        </p:nvSpPr>
        <p:spPr bwMode="auto">
          <a:xfrm>
            <a:off x="558323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3" name="Oval 101">
            <a:extLst>
              <a:ext uri="{FF2B5EF4-FFF2-40B4-BE49-F238E27FC236}">
                <a16:creationId xmlns:a16="http://schemas.microsoft.com/office/drawing/2014/main" id="{52CB3569-97CC-8A9D-156F-82959DFC3B54}"/>
              </a:ext>
            </a:extLst>
          </p:cNvPr>
          <p:cNvSpPr>
            <a:spLocks noChangeArrowheads="1"/>
          </p:cNvSpPr>
          <p:nvPr/>
        </p:nvSpPr>
        <p:spPr bwMode="auto">
          <a:xfrm>
            <a:off x="5810250"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4" name="Oval 102">
            <a:extLst>
              <a:ext uri="{FF2B5EF4-FFF2-40B4-BE49-F238E27FC236}">
                <a16:creationId xmlns:a16="http://schemas.microsoft.com/office/drawing/2014/main" id="{1CF00C56-6BB0-32F3-B00D-DC583ED30BD9}"/>
              </a:ext>
            </a:extLst>
          </p:cNvPr>
          <p:cNvSpPr>
            <a:spLocks noChangeArrowheads="1"/>
          </p:cNvSpPr>
          <p:nvPr/>
        </p:nvSpPr>
        <p:spPr bwMode="auto">
          <a:xfrm>
            <a:off x="6035675"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5" name="Oval 103">
            <a:extLst>
              <a:ext uri="{FF2B5EF4-FFF2-40B4-BE49-F238E27FC236}">
                <a16:creationId xmlns:a16="http://schemas.microsoft.com/office/drawing/2014/main" id="{AE89ED50-F933-9A7A-8B1B-6DCF80D0DF9C}"/>
              </a:ext>
            </a:extLst>
          </p:cNvPr>
          <p:cNvSpPr>
            <a:spLocks noChangeArrowheads="1"/>
          </p:cNvSpPr>
          <p:nvPr/>
        </p:nvSpPr>
        <p:spPr bwMode="auto">
          <a:xfrm>
            <a:off x="6261100"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6" name="Oval 104">
            <a:extLst>
              <a:ext uri="{FF2B5EF4-FFF2-40B4-BE49-F238E27FC236}">
                <a16:creationId xmlns:a16="http://schemas.microsoft.com/office/drawing/2014/main" id="{6FFABD9B-8097-BB7E-4618-65ADBA0AAE05}"/>
              </a:ext>
            </a:extLst>
          </p:cNvPr>
          <p:cNvSpPr>
            <a:spLocks noChangeArrowheads="1"/>
          </p:cNvSpPr>
          <p:nvPr/>
        </p:nvSpPr>
        <p:spPr bwMode="auto">
          <a:xfrm>
            <a:off x="6486525"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7" name="Oval 105">
            <a:extLst>
              <a:ext uri="{FF2B5EF4-FFF2-40B4-BE49-F238E27FC236}">
                <a16:creationId xmlns:a16="http://schemas.microsoft.com/office/drawing/2014/main" id="{9AB9ED65-AB48-DACE-D9AD-9750BE2B3EA8}"/>
              </a:ext>
            </a:extLst>
          </p:cNvPr>
          <p:cNvSpPr>
            <a:spLocks noChangeArrowheads="1"/>
          </p:cNvSpPr>
          <p:nvPr/>
        </p:nvSpPr>
        <p:spPr bwMode="auto">
          <a:xfrm>
            <a:off x="671353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8" name="Oval 106">
            <a:extLst>
              <a:ext uri="{FF2B5EF4-FFF2-40B4-BE49-F238E27FC236}">
                <a16:creationId xmlns:a16="http://schemas.microsoft.com/office/drawing/2014/main" id="{449F6CDD-AD93-4739-B8A8-EED59077A311}"/>
              </a:ext>
            </a:extLst>
          </p:cNvPr>
          <p:cNvSpPr>
            <a:spLocks noChangeArrowheads="1"/>
          </p:cNvSpPr>
          <p:nvPr/>
        </p:nvSpPr>
        <p:spPr bwMode="auto">
          <a:xfrm>
            <a:off x="6938963"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79" name="Oval 107">
            <a:extLst>
              <a:ext uri="{FF2B5EF4-FFF2-40B4-BE49-F238E27FC236}">
                <a16:creationId xmlns:a16="http://schemas.microsoft.com/office/drawing/2014/main" id="{28556CEC-3776-44BF-7FE6-58BE9EA86735}"/>
              </a:ext>
            </a:extLst>
          </p:cNvPr>
          <p:cNvSpPr>
            <a:spLocks noChangeArrowheads="1"/>
          </p:cNvSpPr>
          <p:nvPr/>
        </p:nvSpPr>
        <p:spPr bwMode="auto">
          <a:xfrm>
            <a:off x="716438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80" name="Oval 108">
            <a:extLst>
              <a:ext uri="{FF2B5EF4-FFF2-40B4-BE49-F238E27FC236}">
                <a16:creationId xmlns:a16="http://schemas.microsoft.com/office/drawing/2014/main" id="{7B0910B2-B3ED-0111-B93B-1E1E87BE7901}"/>
              </a:ext>
            </a:extLst>
          </p:cNvPr>
          <p:cNvSpPr>
            <a:spLocks noChangeArrowheads="1"/>
          </p:cNvSpPr>
          <p:nvPr/>
        </p:nvSpPr>
        <p:spPr bwMode="auto">
          <a:xfrm>
            <a:off x="7389813"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81" name="Oval 109">
            <a:extLst>
              <a:ext uri="{FF2B5EF4-FFF2-40B4-BE49-F238E27FC236}">
                <a16:creationId xmlns:a16="http://schemas.microsoft.com/office/drawing/2014/main" id="{0F734B8D-F85E-8C4C-0EFE-696135C56117}"/>
              </a:ext>
            </a:extLst>
          </p:cNvPr>
          <p:cNvSpPr>
            <a:spLocks noChangeArrowheads="1"/>
          </p:cNvSpPr>
          <p:nvPr/>
        </p:nvSpPr>
        <p:spPr bwMode="auto">
          <a:xfrm>
            <a:off x="7616825"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82" name="Oval 110">
            <a:extLst>
              <a:ext uri="{FF2B5EF4-FFF2-40B4-BE49-F238E27FC236}">
                <a16:creationId xmlns:a16="http://schemas.microsoft.com/office/drawing/2014/main" id="{1A9D2BB9-48F6-6EED-72FD-33EE058002D2}"/>
              </a:ext>
            </a:extLst>
          </p:cNvPr>
          <p:cNvSpPr>
            <a:spLocks noChangeArrowheads="1"/>
          </p:cNvSpPr>
          <p:nvPr/>
        </p:nvSpPr>
        <p:spPr bwMode="auto">
          <a:xfrm>
            <a:off x="7842250"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83" name="Oval 111">
            <a:extLst>
              <a:ext uri="{FF2B5EF4-FFF2-40B4-BE49-F238E27FC236}">
                <a16:creationId xmlns:a16="http://schemas.microsoft.com/office/drawing/2014/main" id="{433323BA-D7E2-B45C-CF67-A799E871CF25}"/>
              </a:ext>
            </a:extLst>
          </p:cNvPr>
          <p:cNvSpPr>
            <a:spLocks noChangeArrowheads="1"/>
          </p:cNvSpPr>
          <p:nvPr/>
        </p:nvSpPr>
        <p:spPr bwMode="auto">
          <a:xfrm>
            <a:off x="8067675"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84" name="Oval 112">
            <a:extLst>
              <a:ext uri="{FF2B5EF4-FFF2-40B4-BE49-F238E27FC236}">
                <a16:creationId xmlns:a16="http://schemas.microsoft.com/office/drawing/2014/main" id="{2E570B9B-0881-6DB3-0E68-EC960C06B181}"/>
              </a:ext>
            </a:extLst>
          </p:cNvPr>
          <p:cNvSpPr>
            <a:spLocks noChangeArrowheads="1"/>
          </p:cNvSpPr>
          <p:nvPr/>
        </p:nvSpPr>
        <p:spPr bwMode="auto">
          <a:xfrm>
            <a:off x="8293100" y="34877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85" name="Oval 113">
            <a:extLst>
              <a:ext uri="{FF2B5EF4-FFF2-40B4-BE49-F238E27FC236}">
                <a16:creationId xmlns:a16="http://schemas.microsoft.com/office/drawing/2014/main" id="{6AC6C984-B15E-C02D-6AED-EE3515B97886}"/>
              </a:ext>
            </a:extLst>
          </p:cNvPr>
          <p:cNvSpPr>
            <a:spLocks noChangeArrowheads="1"/>
          </p:cNvSpPr>
          <p:nvPr/>
        </p:nvSpPr>
        <p:spPr bwMode="auto">
          <a:xfrm>
            <a:off x="8520113"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86" name="Oval 114">
            <a:extLst>
              <a:ext uri="{FF2B5EF4-FFF2-40B4-BE49-F238E27FC236}">
                <a16:creationId xmlns:a16="http://schemas.microsoft.com/office/drawing/2014/main" id="{6B691A14-E0E1-DC4A-6A57-FD1DB230CE2B}"/>
              </a:ext>
            </a:extLst>
          </p:cNvPr>
          <p:cNvSpPr>
            <a:spLocks noChangeArrowheads="1"/>
          </p:cNvSpPr>
          <p:nvPr/>
        </p:nvSpPr>
        <p:spPr bwMode="auto">
          <a:xfrm>
            <a:off x="8745538" y="34877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87" name="Rectangle 115">
            <a:extLst>
              <a:ext uri="{FF2B5EF4-FFF2-40B4-BE49-F238E27FC236}">
                <a16:creationId xmlns:a16="http://schemas.microsoft.com/office/drawing/2014/main" id="{BA33FC6E-7747-DC02-2AF5-199D960FAE11}"/>
              </a:ext>
            </a:extLst>
          </p:cNvPr>
          <p:cNvSpPr>
            <a:spLocks noChangeArrowheads="1"/>
          </p:cNvSpPr>
          <p:nvPr/>
        </p:nvSpPr>
        <p:spPr bwMode="auto">
          <a:xfrm>
            <a:off x="384175" y="2733675"/>
            <a:ext cx="804863" cy="182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Lst>
              <a:defRPr>
                <a:solidFill>
                  <a:srgbClr val="000000"/>
                </a:solidFill>
                <a:latin typeface="Arial" panose="020B0604020202020204" pitchFamily="34" charset="0"/>
                <a:ea typeface="Microsoft YaHei" panose="020B0503020204020204" pitchFamily="34" charset="-122"/>
              </a:defRPr>
            </a:lvl1pPr>
            <a:lvl2pPr>
              <a:tabLst>
                <a:tab pos="0" algn="l"/>
              </a:tabLst>
              <a:defRPr>
                <a:solidFill>
                  <a:srgbClr val="000000"/>
                </a:solidFill>
                <a:latin typeface="Arial" panose="020B0604020202020204" pitchFamily="34" charset="0"/>
                <a:ea typeface="Microsoft YaHei" panose="020B0503020204020204" pitchFamily="34" charset="-122"/>
              </a:defRPr>
            </a:lvl2pPr>
            <a:lvl3pPr>
              <a:tabLst>
                <a:tab pos="0" algn="l"/>
              </a:tabLst>
              <a:defRPr>
                <a:solidFill>
                  <a:srgbClr val="000000"/>
                </a:solidFill>
                <a:latin typeface="Arial" panose="020B0604020202020204" pitchFamily="34" charset="0"/>
                <a:ea typeface="Microsoft YaHei" panose="020B0503020204020204" pitchFamily="34" charset="-122"/>
              </a:defRPr>
            </a:lvl3pPr>
            <a:lvl4pPr>
              <a:tabLst>
                <a:tab pos="0" algn="l"/>
              </a:tabLst>
              <a:defRPr>
                <a:solidFill>
                  <a:srgbClr val="000000"/>
                </a:solidFill>
                <a:latin typeface="Arial" panose="020B0604020202020204" pitchFamily="34" charset="0"/>
                <a:ea typeface="Microsoft YaHei" panose="020B0503020204020204" pitchFamily="34" charset="-122"/>
              </a:defRPr>
            </a:lvl4pPr>
            <a:lvl5pPr>
              <a:tabLst>
                <a:tab pos="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9pPr>
          </a:lstStyle>
          <a:p>
            <a:pPr algn="r" hangingPunct="1">
              <a:lnSpc>
                <a:spcPct val="100000"/>
              </a:lnSpc>
            </a:pPr>
            <a:r>
              <a:rPr lang="en-US" altLang="en-US" sz="1000" b="1">
                <a:solidFill>
                  <a:srgbClr val="111827"/>
                </a:solidFill>
                <a:latin typeface="Aptos" panose="020B0004020202020204" pitchFamily="34" charset="0"/>
              </a:rPr>
              <a:t>Layer 3: d=4</a:t>
            </a:r>
          </a:p>
        </p:txBody>
      </p:sp>
      <p:sp>
        <p:nvSpPr>
          <p:cNvPr id="3188" name="Line 116">
            <a:extLst>
              <a:ext uri="{FF2B5EF4-FFF2-40B4-BE49-F238E27FC236}">
                <a16:creationId xmlns:a16="http://schemas.microsoft.com/office/drawing/2014/main" id="{1BF64403-853B-3002-8364-B5A8A2DF51DF}"/>
              </a:ext>
            </a:extLst>
          </p:cNvPr>
          <p:cNvSpPr>
            <a:spLocks noChangeShapeType="1"/>
          </p:cNvSpPr>
          <p:nvPr/>
        </p:nvSpPr>
        <p:spPr bwMode="auto">
          <a:xfrm>
            <a:off x="1325563" y="2835275"/>
            <a:ext cx="7451725" cy="1588"/>
          </a:xfrm>
          <a:prstGeom prst="line">
            <a:avLst/>
          </a:prstGeom>
          <a:noFill/>
          <a:ln w="25560" cap="flat">
            <a:solidFill>
              <a:srgbClr val="CBD5E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189" name="Oval 117">
            <a:extLst>
              <a:ext uri="{FF2B5EF4-FFF2-40B4-BE49-F238E27FC236}">
                <a16:creationId xmlns:a16="http://schemas.microsoft.com/office/drawing/2014/main" id="{BAB796C0-1964-37FA-2061-A4809415E727}"/>
              </a:ext>
            </a:extLst>
          </p:cNvPr>
          <p:cNvSpPr>
            <a:spLocks noChangeArrowheads="1"/>
          </p:cNvSpPr>
          <p:nvPr/>
        </p:nvSpPr>
        <p:spPr bwMode="auto">
          <a:xfrm>
            <a:off x="1293813"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0" name="Oval 118">
            <a:extLst>
              <a:ext uri="{FF2B5EF4-FFF2-40B4-BE49-F238E27FC236}">
                <a16:creationId xmlns:a16="http://schemas.microsoft.com/office/drawing/2014/main" id="{05C9CDB6-F2EE-3D1D-9B45-DB1DB0E98256}"/>
              </a:ext>
            </a:extLst>
          </p:cNvPr>
          <p:cNvSpPr>
            <a:spLocks noChangeArrowheads="1"/>
          </p:cNvSpPr>
          <p:nvPr/>
        </p:nvSpPr>
        <p:spPr bwMode="auto">
          <a:xfrm>
            <a:off x="151923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1" name="Oval 119">
            <a:extLst>
              <a:ext uri="{FF2B5EF4-FFF2-40B4-BE49-F238E27FC236}">
                <a16:creationId xmlns:a16="http://schemas.microsoft.com/office/drawing/2014/main" id="{F936D74C-45B0-7D75-D868-082EF5F01F8C}"/>
              </a:ext>
            </a:extLst>
          </p:cNvPr>
          <p:cNvSpPr>
            <a:spLocks noChangeArrowheads="1"/>
          </p:cNvSpPr>
          <p:nvPr/>
        </p:nvSpPr>
        <p:spPr bwMode="auto">
          <a:xfrm>
            <a:off x="1744663"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2" name="Oval 120">
            <a:extLst>
              <a:ext uri="{FF2B5EF4-FFF2-40B4-BE49-F238E27FC236}">
                <a16:creationId xmlns:a16="http://schemas.microsoft.com/office/drawing/2014/main" id="{25EF5FDE-8255-1595-7F80-753716DACDF6}"/>
              </a:ext>
            </a:extLst>
          </p:cNvPr>
          <p:cNvSpPr>
            <a:spLocks noChangeArrowheads="1"/>
          </p:cNvSpPr>
          <p:nvPr/>
        </p:nvSpPr>
        <p:spPr bwMode="auto">
          <a:xfrm>
            <a:off x="197008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3" name="Oval 121">
            <a:extLst>
              <a:ext uri="{FF2B5EF4-FFF2-40B4-BE49-F238E27FC236}">
                <a16:creationId xmlns:a16="http://schemas.microsoft.com/office/drawing/2014/main" id="{9D59F824-0F74-A9CC-9787-E018BA3E5C53}"/>
              </a:ext>
            </a:extLst>
          </p:cNvPr>
          <p:cNvSpPr>
            <a:spLocks noChangeArrowheads="1"/>
          </p:cNvSpPr>
          <p:nvPr/>
        </p:nvSpPr>
        <p:spPr bwMode="auto">
          <a:xfrm>
            <a:off x="2197100"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4" name="Oval 122">
            <a:extLst>
              <a:ext uri="{FF2B5EF4-FFF2-40B4-BE49-F238E27FC236}">
                <a16:creationId xmlns:a16="http://schemas.microsoft.com/office/drawing/2014/main" id="{CDD8E12C-171E-7A2F-6731-D7E9910C9C88}"/>
              </a:ext>
            </a:extLst>
          </p:cNvPr>
          <p:cNvSpPr>
            <a:spLocks noChangeArrowheads="1"/>
          </p:cNvSpPr>
          <p:nvPr/>
        </p:nvSpPr>
        <p:spPr bwMode="auto">
          <a:xfrm>
            <a:off x="2422525"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5" name="Oval 123">
            <a:extLst>
              <a:ext uri="{FF2B5EF4-FFF2-40B4-BE49-F238E27FC236}">
                <a16:creationId xmlns:a16="http://schemas.microsoft.com/office/drawing/2014/main" id="{EDD430D1-96FA-21CF-5F3B-66A4B15C6736}"/>
              </a:ext>
            </a:extLst>
          </p:cNvPr>
          <p:cNvSpPr>
            <a:spLocks noChangeArrowheads="1"/>
          </p:cNvSpPr>
          <p:nvPr/>
        </p:nvSpPr>
        <p:spPr bwMode="auto">
          <a:xfrm>
            <a:off x="2647950"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6" name="Oval 124">
            <a:extLst>
              <a:ext uri="{FF2B5EF4-FFF2-40B4-BE49-F238E27FC236}">
                <a16:creationId xmlns:a16="http://schemas.microsoft.com/office/drawing/2014/main" id="{D5C2320A-C1D3-29A7-27F5-4BEE8C62DCB2}"/>
              </a:ext>
            </a:extLst>
          </p:cNvPr>
          <p:cNvSpPr>
            <a:spLocks noChangeArrowheads="1"/>
          </p:cNvSpPr>
          <p:nvPr/>
        </p:nvSpPr>
        <p:spPr bwMode="auto">
          <a:xfrm>
            <a:off x="2873375"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7" name="Oval 125">
            <a:extLst>
              <a:ext uri="{FF2B5EF4-FFF2-40B4-BE49-F238E27FC236}">
                <a16:creationId xmlns:a16="http://schemas.microsoft.com/office/drawing/2014/main" id="{C54741F4-8762-5F50-ABC4-AF2C0C1BFC74}"/>
              </a:ext>
            </a:extLst>
          </p:cNvPr>
          <p:cNvSpPr>
            <a:spLocks noChangeArrowheads="1"/>
          </p:cNvSpPr>
          <p:nvPr/>
        </p:nvSpPr>
        <p:spPr bwMode="auto">
          <a:xfrm>
            <a:off x="310038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8" name="Oval 126">
            <a:extLst>
              <a:ext uri="{FF2B5EF4-FFF2-40B4-BE49-F238E27FC236}">
                <a16:creationId xmlns:a16="http://schemas.microsoft.com/office/drawing/2014/main" id="{CCB99D53-F317-14ED-B40B-6EF1F72EB2AA}"/>
              </a:ext>
            </a:extLst>
          </p:cNvPr>
          <p:cNvSpPr>
            <a:spLocks noChangeArrowheads="1"/>
          </p:cNvSpPr>
          <p:nvPr/>
        </p:nvSpPr>
        <p:spPr bwMode="auto">
          <a:xfrm>
            <a:off x="3325813"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199" name="Oval 127">
            <a:extLst>
              <a:ext uri="{FF2B5EF4-FFF2-40B4-BE49-F238E27FC236}">
                <a16:creationId xmlns:a16="http://schemas.microsoft.com/office/drawing/2014/main" id="{33EEA4D7-A684-320A-8881-ED1F52480725}"/>
              </a:ext>
            </a:extLst>
          </p:cNvPr>
          <p:cNvSpPr>
            <a:spLocks noChangeArrowheads="1"/>
          </p:cNvSpPr>
          <p:nvPr/>
        </p:nvSpPr>
        <p:spPr bwMode="auto">
          <a:xfrm>
            <a:off x="355123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0" name="Oval 128">
            <a:extLst>
              <a:ext uri="{FF2B5EF4-FFF2-40B4-BE49-F238E27FC236}">
                <a16:creationId xmlns:a16="http://schemas.microsoft.com/office/drawing/2014/main" id="{A8AA7E9F-B3DB-4212-3FB9-178B8519079C}"/>
              </a:ext>
            </a:extLst>
          </p:cNvPr>
          <p:cNvSpPr>
            <a:spLocks noChangeArrowheads="1"/>
          </p:cNvSpPr>
          <p:nvPr/>
        </p:nvSpPr>
        <p:spPr bwMode="auto">
          <a:xfrm>
            <a:off x="3776663"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1" name="Oval 129">
            <a:extLst>
              <a:ext uri="{FF2B5EF4-FFF2-40B4-BE49-F238E27FC236}">
                <a16:creationId xmlns:a16="http://schemas.microsoft.com/office/drawing/2014/main" id="{78F43EC5-D885-1C0D-84FC-5CF74C3EAA26}"/>
              </a:ext>
            </a:extLst>
          </p:cNvPr>
          <p:cNvSpPr>
            <a:spLocks noChangeArrowheads="1"/>
          </p:cNvSpPr>
          <p:nvPr/>
        </p:nvSpPr>
        <p:spPr bwMode="auto">
          <a:xfrm>
            <a:off x="400208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2" name="Oval 130">
            <a:extLst>
              <a:ext uri="{FF2B5EF4-FFF2-40B4-BE49-F238E27FC236}">
                <a16:creationId xmlns:a16="http://schemas.microsoft.com/office/drawing/2014/main" id="{22962B5E-F3EF-C1A6-C2DA-BB28BA6220A0}"/>
              </a:ext>
            </a:extLst>
          </p:cNvPr>
          <p:cNvSpPr>
            <a:spLocks noChangeArrowheads="1"/>
          </p:cNvSpPr>
          <p:nvPr/>
        </p:nvSpPr>
        <p:spPr bwMode="auto">
          <a:xfrm>
            <a:off x="4229100"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3" name="Oval 131">
            <a:extLst>
              <a:ext uri="{FF2B5EF4-FFF2-40B4-BE49-F238E27FC236}">
                <a16:creationId xmlns:a16="http://schemas.microsoft.com/office/drawing/2014/main" id="{BBB78279-7EBE-3A6C-CBFA-693EE04E85E3}"/>
              </a:ext>
            </a:extLst>
          </p:cNvPr>
          <p:cNvSpPr>
            <a:spLocks noChangeArrowheads="1"/>
          </p:cNvSpPr>
          <p:nvPr/>
        </p:nvSpPr>
        <p:spPr bwMode="auto">
          <a:xfrm>
            <a:off x="4454525"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4" name="Oval 132">
            <a:extLst>
              <a:ext uri="{FF2B5EF4-FFF2-40B4-BE49-F238E27FC236}">
                <a16:creationId xmlns:a16="http://schemas.microsoft.com/office/drawing/2014/main" id="{5979BF3A-DDA4-62BD-3155-189B9A116032}"/>
              </a:ext>
            </a:extLst>
          </p:cNvPr>
          <p:cNvSpPr>
            <a:spLocks noChangeArrowheads="1"/>
          </p:cNvSpPr>
          <p:nvPr/>
        </p:nvSpPr>
        <p:spPr bwMode="auto">
          <a:xfrm>
            <a:off x="4679950"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5" name="Oval 133">
            <a:extLst>
              <a:ext uri="{FF2B5EF4-FFF2-40B4-BE49-F238E27FC236}">
                <a16:creationId xmlns:a16="http://schemas.microsoft.com/office/drawing/2014/main" id="{942CA388-900D-CE0C-63D8-983A9E0F8D8C}"/>
              </a:ext>
            </a:extLst>
          </p:cNvPr>
          <p:cNvSpPr>
            <a:spLocks noChangeArrowheads="1"/>
          </p:cNvSpPr>
          <p:nvPr/>
        </p:nvSpPr>
        <p:spPr bwMode="auto">
          <a:xfrm>
            <a:off x="4905375"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6" name="Oval 134">
            <a:extLst>
              <a:ext uri="{FF2B5EF4-FFF2-40B4-BE49-F238E27FC236}">
                <a16:creationId xmlns:a16="http://schemas.microsoft.com/office/drawing/2014/main" id="{3FD6AE97-64ED-11EE-5101-556E245B11D8}"/>
              </a:ext>
            </a:extLst>
          </p:cNvPr>
          <p:cNvSpPr>
            <a:spLocks noChangeArrowheads="1"/>
          </p:cNvSpPr>
          <p:nvPr/>
        </p:nvSpPr>
        <p:spPr bwMode="auto">
          <a:xfrm>
            <a:off x="513238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7" name="Oval 135">
            <a:extLst>
              <a:ext uri="{FF2B5EF4-FFF2-40B4-BE49-F238E27FC236}">
                <a16:creationId xmlns:a16="http://schemas.microsoft.com/office/drawing/2014/main" id="{0D401802-7656-6C7D-DFAB-6636ECEC6A29}"/>
              </a:ext>
            </a:extLst>
          </p:cNvPr>
          <p:cNvSpPr>
            <a:spLocks noChangeArrowheads="1"/>
          </p:cNvSpPr>
          <p:nvPr/>
        </p:nvSpPr>
        <p:spPr bwMode="auto">
          <a:xfrm>
            <a:off x="5357813"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8" name="Oval 136">
            <a:extLst>
              <a:ext uri="{FF2B5EF4-FFF2-40B4-BE49-F238E27FC236}">
                <a16:creationId xmlns:a16="http://schemas.microsoft.com/office/drawing/2014/main" id="{9C647DA2-FC39-8C01-24FA-326994B0FD13}"/>
              </a:ext>
            </a:extLst>
          </p:cNvPr>
          <p:cNvSpPr>
            <a:spLocks noChangeArrowheads="1"/>
          </p:cNvSpPr>
          <p:nvPr/>
        </p:nvSpPr>
        <p:spPr bwMode="auto">
          <a:xfrm>
            <a:off x="558323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09" name="Oval 137">
            <a:extLst>
              <a:ext uri="{FF2B5EF4-FFF2-40B4-BE49-F238E27FC236}">
                <a16:creationId xmlns:a16="http://schemas.microsoft.com/office/drawing/2014/main" id="{28C7FD8E-8289-A821-8F08-24162A4B4310}"/>
              </a:ext>
            </a:extLst>
          </p:cNvPr>
          <p:cNvSpPr>
            <a:spLocks noChangeArrowheads="1"/>
          </p:cNvSpPr>
          <p:nvPr/>
        </p:nvSpPr>
        <p:spPr bwMode="auto">
          <a:xfrm>
            <a:off x="5810250"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0" name="Oval 138">
            <a:extLst>
              <a:ext uri="{FF2B5EF4-FFF2-40B4-BE49-F238E27FC236}">
                <a16:creationId xmlns:a16="http://schemas.microsoft.com/office/drawing/2014/main" id="{DA8726DA-5286-D086-C009-73A87F75EC39}"/>
              </a:ext>
            </a:extLst>
          </p:cNvPr>
          <p:cNvSpPr>
            <a:spLocks noChangeArrowheads="1"/>
          </p:cNvSpPr>
          <p:nvPr/>
        </p:nvSpPr>
        <p:spPr bwMode="auto">
          <a:xfrm>
            <a:off x="6035675"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1" name="Oval 139">
            <a:extLst>
              <a:ext uri="{FF2B5EF4-FFF2-40B4-BE49-F238E27FC236}">
                <a16:creationId xmlns:a16="http://schemas.microsoft.com/office/drawing/2014/main" id="{60A535FF-C909-33A9-68BF-F8FFDAF1D840}"/>
              </a:ext>
            </a:extLst>
          </p:cNvPr>
          <p:cNvSpPr>
            <a:spLocks noChangeArrowheads="1"/>
          </p:cNvSpPr>
          <p:nvPr/>
        </p:nvSpPr>
        <p:spPr bwMode="auto">
          <a:xfrm>
            <a:off x="6261100"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2" name="Oval 140">
            <a:extLst>
              <a:ext uri="{FF2B5EF4-FFF2-40B4-BE49-F238E27FC236}">
                <a16:creationId xmlns:a16="http://schemas.microsoft.com/office/drawing/2014/main" id="{B33AC99F-50EA-1196-61B3-E9F3FA623538}"/>
              </a:ext>
            </a:extLst>
          </p:cNvPr>
          <p:cNvSpPr>
            <a:spLocks noChangeArrowheads="1"/>
          </p:cNvSpPr>
          <p:nvPr/>
        </p:nvSpPr>
        <p:spPr bwMode="auto">
          <a:xfrm>
            <a:off x="6486525"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3" name="Oval 141">
            <a:extLst>
              <a:ext uri="{FF2B5EF4-FFF2-40B4-BE49-F238E27FC236}">
                <a16:creationId xmlns:a16="http://schemas.microsoft.com/office/drawing/2014/main" id="{3552B1DF-9A6A-0B7C-BF43-09BEA09B96FE}"/>
              </a:ext>
            </a:extLst>
          </p:cNvPr>
          <p:cNvSpPr>
            <a:spLocks noChangeArrowheads="1"/>
          </p:cNvSpPr>
          <p:nvPr/>
        </p:nvSpPr>
        <p:spPr bwMode="auto">
          <a:xfrm>
            <a:off x="671353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4" name="Oval 142">
            <a:extLst>
              <a:ext uri="{FF2B5EF4-FFF2-40B4-BE49-F238E27FC236}">
                <a16:creationId xmlns:a16="http://schemas.microsoft.com/office/drawing/2014/main" id="{12B7A415-84B5-AA9A-6C9B-A9A91AC599AB}"/>
              </a:ext>
            </a:extLst>
          </p:cNvPr>
          <p:cNvSpPr>
            <a:spLocks noChangeArrowheads="1"/>
          </p:cNvSpPr>
          <p:nvPr/>
        </p:nvSpPr>
        <p:spPr bwMode="auto">
          <a:xfrm>
            <a:off x="6938963"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5" name="Oval 143">
            <a:extLst>
              <a:ext uri="{FF2B5EF4-FFF2-40B4-BE49-F238E27FC236}">
                <a16:creationId xmlns:a16="http://schemas.microsoft.com/office/drawing/2014/main" id="{9A7D9121-E939-1523-306C-E282F1F88836}"/>
              </a:ext>
            </a:extLst>
          </p:cNvPr>
          <p:cNvSpPr>
            <a:spLocks noChangeArrowheads="1"/>
          </p:cNvSpPr>
          <p:nvPr/>
        </p:nvSpPr>
        <p:spPr bwMode="auto">
          <a:xfrm>
            <a:off x="716438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6" name="Oval 144">
            <a:extLst>
              <a:ext uri="{FF2B5EF4-FFF2-40B4-BE49-F238E27FC236}">
                <a16:creationId xmlns:a16="http://schemas.microsoft.com/office/drawing/2014/main" id="{DB97B0EB-2AF7-8EB5-83C7-F6FF89308F05}"/>
              </a:ext>
            </a:extLst>
          </p:cNvPr>
          <p:cNvSpPr>
            <a:spLocks noChangeArrowheads="1"/>
          </p:cNvSpPr>
          <p:nvPr/>
        </p:nvSpPr>
        <p:spPr bwMode="auto">
          <a:xfrm>
            <a:off x="7389813"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7" name="Oval 145">
            <a:extLst>
              <a:ext uri="{FF2B5EF4-FFF2-40B4-BE49-F238E27FC236}">
                <a16:creationId xmlns:a16="http://schemas.microsoft.com/office/drawing/2014/main" id="{A21B10AF-053F-899D-E753-D1B544FCCF84}"/>
              </a:ext>
            </a:extLst>
          </p:cNvPr>
          <p:cNvSpPr>
            <a:spLocks noChangeArrowheads="1"/>
          </p:cNvSpPr>
          <p:nvPr/>
        </p:nvSpPr>
        <p:spPr bwMode="auto">
          <a:xfrm>
            <a:off x="7616825"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8" name="Oval 146">
            <a:extLst>
              <a:ext uri="{FF2B5EF4-FFF2-40B4-BE49-F238E27FC236}">
                <a16:creationId xmlns:a16="http://schemas.microsoft.com/office/drawing/2014/main" id="{0F20B64B-AE4A-9979-05C4-D415921AD6BE}"/>
              </a:ext>
            </a:extLst>
          </p:cNvPr>
          <p:cNvSpPr>
            <a:spLocks noChangeArrowheads="1"/>
          </p:cNvSpPr>
          <p:nvPr/>
        </p:nvSpPr>
        <p:spPr bwMode="auto">
          <a:xfrm>
            <a:off x="7842250"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19" name="Oval 147">
            <a:extLst>
              <a:ext uri="{FF2B5EF4-FFF2-40B4-BE49-F238E27FC236}">
                <a16:creationId xmlns:a16="http://schemas.microsoft.com/office/drawing/2014/main" id="{D4CE3C3B-FA37-4509-DC6C-A6F364DE7868}"/>
              </a:ext>
            </a:extLst>
          </p:cNvPr>
          <p:cNvSpPr>
            <a:spLocks noChangeArrowheads="1"/>
          </p:cNvSpPr>
          <p:nvPr/>
        </p:nvSpPr>
        <p:spPr bwMode="auto">
          <a:xfrm>
            <a:off x="8067675"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20" name="Oval 148">
            <a:extLst>
              <a:ext uri="{FF2B5EF4-FFF2-40B4-BE49-F238E27FC236}">
                <a16:creationId xmlns:a16="http://schemas.microsoft.com/office/drawing/2014/main" id="{3A71C660-7FE6-93F2-B6C8-BDF192471B3A}"/>
              </a:ext>
            </a:extLst>
          </p:cNvPr>
          <p:cNvSpPr>
            <a:spLocks noChangeArrowheads="1"/>
          </p:cNvSpPr>
          <p:nvPr/>
        </p:nvSpPr>
        <p:spPr bwMode="auto">
          <a:xfrm>
            <a:off x="8293100" y="28019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21" name="Oval 149">
            <a:extLst>
              <a:ext uri="{FF2B5EF4-FFF2-40B4-BE49-F238E27FC236}">
                <a16:creationId xmlns:a16="http://schemas.microsoft.com/office/drawing/2014/main" id="{F166EC5E-5427-C1F1-B839-F815E8C4FAE9}"/>
              </a:ext>
            </a:extLst>
          </p:cNvPr>
          <p:cNvSpPr>
            <a:spLocks noChangeArrowheads="1"/>
          </p:cNvSpPr>
          <p:nvPr/>
        </p:nvSpPr>
        <p:spPr bwMode="auto">
          <a:xfrm>
            <a:off x="8520113"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22" name="Oval 150">
            <a:extLst>
              <a:ext uri="{FF2B5EF4-FFF2-40B4-BE49-F238E27FC236}">
                <a16:creationId xmlns:a16="http://schemas.microsoft.com/office/drawing/2014/main" id="{038381C5-A757-8ADF-41D0-1E8E3ADCB9EB}"/>
              </a:ext>
            </a:extLst>
          </p:cNvPr>
          <p:cNvSpPr>
            <a:spLocks noChangeArrowheads="1"/>
          </p:cNvSpPr>
          <p:nvPr/>
        </p:nvSpPr>
        <p:spPr bwMode="auto">
          <a:xfrm>
            <a:off x="8745538" y="28019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23" name="Rectangle 151">
            <a:extLst>
              <a:ext uri="{FF2B5EF4-FFF2-40B4-BE49-F238E27FC236}">
                <a16:creationId xmlns:a16="http://schemas.microsoft.com/office/drawing/2014/main" id="{C9B3BD52-7207-6258-84C1-E420FCD1EAE6}"/>
              </a:ext>
            </a:extLst>
          </p:cNvPr>
          <p:cNvSpPr>
            <a:spLocks noChangeArrowheads="1"/>
          </p:cNvSpPr>
          <p:nvPr/>
        </p:nvSpPr>
        <p:spPr bwMode="auto">
          <a:xfrm>
            <a:off x="384175" y="2047875"/>
            <a:ext cx="804863" cy="182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Lst>
              <a:defRPr>
                <a:solidFill>
                  <a:srgbClr val="000000"/>
                </a:solidFill>
                <a:latin typeface="Arial" panose="020B0604020202020204" pitchFamily="34" charset="0"/>
                <a:ea typeface="Microsoft YaHei" panose="020B0503020204020204" pitchFamily="34" charset="-122"/>
              </a:defRPr>
            </a:lvl1pPr>
            <a:lvl2pPr>
              <a:tabLst>
                <a:tab pos="0" algn="l"/>
              </a:tabLst>
              <a:defRPr>
                <a:solidFill>
                  <a:srgbClr val="000000"/>
                </a:solidFill>
                <a:latin typeface="Arial" panose="020B0604020202020204" pitchFamily="34" charset="0"/>
                <a:ea typeface="Microsoft YaHei" panose="020B0503020204020204" pitchFamily="34" charset="-122"/>
              </a:defRPr>
            </a:lvl2pPr>
            <a:lvl3pPr>
              <a:tabLst>
                <a:tab pos="0" algn="l"/>
              </a:tabLst>
              <a:defRPr>
                <a:solidFill>
                  <a:srgbClr val="000000"/>
                </a:solidFill>
                <a:latin typeface="Arial" panose="020B0604020202020204" pitchFamily="34" charset="0"/>
                <a:ea typeface="Microsoft YaHei" panose="020B0503020204020204" pitchFamily="34" charset="-122"/>
              </a:defRPr>
            </a:lvl3pPr>
            <a:lvl4pPr>
              <a:tabLst>
                <a:tab pos="0" algn="l"/>
              </a:tabLst>
              <a:defRPr>
                <a:solidFill>
                  <a:srgbClr val="000000"/>
                </a:solidFill>
                <a:latin typeface="Arial" panose="020B0604020202020204" pitchFamily="34" charset="0"/>
                <a:ea typeface="Microsoft YaHei" panose="020B0503020204020204" pitchFamily="34" charset="-122"/>
              </a:defRPr>
            </a:lvl4pPr>
            <a:lvl5pPr>
              <a:tabLst>
                <a:tab pos="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9pPr>
          </a:lstStyle>
          <a:p>
            <a:pPr algn="r" hangingPunct="1">
              <a:lnSpc>
                <a:spcPct val="100000"/>
              </a:lnSpc>
            </a:pPr>
            <a:r>
              <a:rPr lang="en-US" altLang="en-US" sz="1000" b="1">
                <a:solidFill>
                  <a:srgbClr val="111827"/>
                </a:solidFill>
                <a:latin typeface="Aptos" panose="020B0004020202020204" pitchFamily="34" charset="0"/>
              </a:rPr>
              <a:t>Layer 4: d=8</a:t>
            </a:r>
          </a:p>
        </p:txBody>
      </p:sp>
      <p:sp>
        <p:nvSpPr>
          <p:cNvPr id="3224" name="Line 152">
            <a:extLst>
              <a:ext uri="{FF2B5EF4-FFF2-40B4-BE49-F238E27FC236}">
                <a16:creationId xmlns:a16="http://schemas.microsoft.com/office/drawing/2014/main" id="{09190A9A-0D31-D3E6-1076-BDFED4971BAE}"/>
              </a:ext>
            </a:extLst>
          </p:cNvPr>
          <p:cNvSpPr>
            <a:spLocks noChangeShapeType="1"/>
          </p:cNvSpPr>
          <p:nvPr/>
        </p:nvSpPr>
        <p:spPr bwMode="auto">
          <a:xfrm>
            <a:off x="1325563" y="2149475"/>
            <a:ext cx="7451725" cy="1588"/>
          </a:xfrm>
          <a:prstGeom prst="line">
            <a:avLst/>
          </a:prstGeom>
          <a:noFill/>
          <a:ln w="25560" cap="flat">
            <a:solidFill>
              <a:srgbClr val="CBD5E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225" name="Oval 153">
            <a:extLst>
              <a:ext uri="{FF2B5EF4-FFF2-40B4-BE49-F238E27FC236}">
                <a16:creationId xmlns:a16="http://schemas.microsoft.com/office/drawing/2014/main" id="{180593C9-74C2-AFD8-7854-8B1299006A83}"/>
              </a:ext>
            </a:extLst>
          </p:cNvPr>
          <p:cNvSpPr>
            <a:spLocks noChangeArrowheads="1"/>
          </p:cNvSpPr>
          <p:nvPr/>
        </p:nvSpPr>
        <p:spPr bwMode="auto">
          <a:xfrm>
            <a:off x="1293813"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26" name="Oval 154">
            <a:extLst>
              <a:ext uri="{FF2B5EF4-FFF2-40B4-BE49-F238E27FC236}">
                <a16:creationId xmlns:a16="http://schemas.microsoft.com/office/drawing/2014/main" id="{B5632563-1203-94F5-7EFC-C920D2BCE9BC}"/>
              </a:ext>
            </a:extLst>
          </p:cNvPr>
          <p:cNvSpPr>
            <a:spLocks noChangeArrowheads="1"/>
          </p:cNvSpPr>
          <p:nvPr/>
        </p:nvSpPr>
        <p:spPr bwMode="auto">
          <a:xfrm>
            <a:off x="151923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27" name="Oval 155">
            <a:extLst>
              <a:ext uri="{FF2B5EF4-FFF2-40B4-BE49-F238E27FC236}">
                <a16:creationId xmlns:a16="http://schemas.microsoft.com/office/drawing/2014/main" id="{B0DF690D-7A24-ADC9-B3C5-D1A47D9096C4}"/>
              </a:ext>
            </a:extLst>
          </p:cNvPr>
          <p:cNvSpPr>
            <a:spLocks noChangeArrowheads="1"/>
          </p:cNvSpPr>
          <p:nvPr/>
        </p:nvSpPr>
        <p:spPr bwMode="auto">
          <a:xfrm>
            <a:off x="1744663"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28" name="Oval 156">
            <a:extLst>
              <a:ext uri="{FF2B5EF4-FFF2-40B4-BE49-F238E27FC236}">
                <a16:creationId xmlns:a16="http://schemas.microsoft.com/office/drawing/2014/main" id="{1ABB00EA-52B4-4CB3-1509-0F07A368EBB0}"/>
              </a:ext>
            </a:extLst>
          </p:cNvPr>
          <p:cNvSpPr>
            <a:spLocks noChangeArrowheads="1"/>
          </p:cNvSpPr>
          <p:nvPr/>
        </p:nvSpPr>
        <p:spPr bwMode="auto">
          <a:xfrm>
            <a:off x="197008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29" name="Oval 157">
            <a:extLst>
              <a:ext uri="{FF2B5EF4-FFF2-40B4-BE49-F238E27FC236}">
                <a16:creationId xmlns:a16="http://schemas.microsoft.com/office/drawing/2014/main" id="{232E28D8-F076-9484-6456-19D1840C3042}"/>
              </a:ext>
            </a:extLst>
          </p:cNvPr>
          <p:cNvSpPr>
            <a:spLocks noChangeArrowheads="1"/>
          </p:cNvSpPr>
          <p:nvPr/>
        </p:nvSpPr>
        <p:spPr bwMode="auto">
          <a:xfrm>
            <a:off x="2197100"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0" name="Oval 158">
            <a:extLst>
              <a:ext uri="{FF2B5EF4-FFF2-40B4-BE49-F238E27FC236}">
                <a16:creationId xmlns:a16="http://schemas.microsoft.com/office/drawing/2014/main" id="{2615AE89-B41A-7870-B104-B9D8E71D47FF}"/>
              </a:ext>
            </a:extLst>
          </p:cNvPr>
          <p:cNvSpPr>
            <a:spLocks noChangeArrowheads="1"/>
          </p:cNvSpPr>
          <p:nvPr/>
        </p:nvSpPr>
        <p:spPr bwMode="auto">
          <a:xfrm>
            <a:off x="2422525"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1" name="Oval 159">
            <a:extLst>
              <a:ext uri="{FF2B5EF4-FFF2-40B4-BE49-F238E27FC236}">
                <a16:creationId xmlns:a16="http://schemas.microsoft.com/office/drawing/2014/main" id="{9A36030D-F245-C14C-A0B8-FB30A0335D45}"/>
              </a:ext>
            </a:extLst>
          </p:cNvPr>
          <p:cNvSpPr>
            <a:spLocks noChangeArrowheads="1"/>
          </p:cNvSpPr>
          <p:nvPr/>
        </p:nvSpPr>
        <p:spPr bwMode="auto">
          <a:xfrm>
            <a:off x="2647950"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2" name="Oval 160">
            <a:extLst>
              <a:ext uri="{FF2B5EF4-FFF2-40B4-BE49-F238E27FC236}">
                <a16:creationId xmlns:a16="http://schemas.microsoft.com/office/drawing/2014/main" id="{333C6782-5A7A-6AB2-AFF8-93600D6E54ED}"/>
              </a:ext>
            </a:extLst>
          </p:cNvPr>
          <p:cNvSpPr>
            <a:spLocks noChangeArrowheads="1"/>
          </p:cNvSpPr>
          <p:nvPr/>
        </p:nvSpPr>
        <p:spPr bwMode="auto">
          <a:xfrm>
            <a:off x="2873375"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3" name="Oval 161">
            <a:extLst>
              <a:ext uri="{FF2B5EF4-FFF2-40B4-BE49-F238E27FC236}">
                <a16:creationId xmlns:a16="http://schemas.microsoft.com/office/drawing/2014/main" id="{E451BD7C-E897-8CD4-880E-EC959D67DD9D}"/>
              </a:ext>
            </a:extLst>
          </p:cNvPr>
          <p:cNvSpPr>
            <a:spLocks noChangeArrowheads="1"/>
          </p:cNvSpPr>
          <p:nvPr/>
        </p:nvSpPr>
        <p:spPr bwMode="auto">
          <a:xfrm>
            <a:off x="310038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4" name="Oval 162">
            <a:extLst>
              <a:ext uri="{FF2B5EF4-FFF2-40B4-BE49-F238E27FC236}">
                <a16:creationId xmlns:a16="http://schemas.microsoft.com/office/drawing/2014/main" id="{173A4976-4CF2-7554-1ECF-6F2A6EE8B2FC}"/>
              </a:ext>
            </a:extLst>
          </p:cNvPr>
          <p:cNvSpPr>
            <a:spLocks noChangeArrowheads="1"/>
          </p:cNvSpPr>
          <p:nvPr/>
        </p:nvSpPr>
        <p:spPr bwMode="auto">
          <a:xfrm>
            <a:off x="3325813"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5" name="Oval 163">
            <a:extLst>
              <a:ext uri="{FF2B5EF4-FFF2-40B4-BE49-F238E27FC236}">
                <a16:creationId xmlns:a16="http://schemas.microsoft.com/office/drawing/2014/main" id="{2613668C-6775-7F1C-6B5C-316A435B3F4F}"/>
              </a:ext>
            </a:extLst>
          </p:cNvPr>
          <p:cNvSpPr>
            <a:spLocks noChangeArrowheads="1"/>
          </p:cNvSpPr>
          <p:nvPr/>
        </p:nvSpPr>
        <p:spPr bwMode="auto">
          <a:xfrm>
            <a:off x="355123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6" name="Oval 164">
            <a:extLst>
              <a:ext uri="{FF2B5EF4-FFF2-40B4-BE49-F238E27FC236}">
                <a16:creationId xmlns:a16="http://schemas.microsoft.com/office/drawing/2014/main" id="{DFEA2831-C53A-656B-EE78-326BFD897511}"/>
              </a:ext>
            </a:extLst>
          </p:cNvPr>
          <p:cNvSpPr>
            <a:spLocks noChangeArrowheads="1"/>
          </p:cNvSpPr>
          <p:nvPr/>
        </p:nvSpPr>
        <p:spPr bwMode="auto">
          <a:xfrm>
            <a:off x="3776663"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7" name="Oval 165">
            <a:extLst>
              <a:ext uri="{FF2B5EF4-FFF2-40B4-BE49-F238E27FC236}">
                <a16:creationId xmlns:a16="http://schemas.microsoft.com/office/drawing/2014/main" id="{3BF64C8A-6E13-B5E1-E95D-00AC9FFF9A81}"/>
              </a:ext>
            </a:extLst>
          </p:cNvPr>
          <p:cNvSpPr>
            <a:spLocks noChangeArrowheads="1"/>
          </p:cNvSpPr>
          <p:nvPr/>
        </p:nvSpPr>
        <p:spPr bwMode="auto">
          <a:xfrm>
            <a:off x="400208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8" name="Oval 166">
            <a:extLst>
              <a:ext uri="{FF2B5EF4-FFF2-40B4-BE49-F238E27FC236}">
                <a16:creationId xmlns:a16="http://schemas.microsoft.com/office/drawing/2014/main" id="{88F5D3AA-AE22-FD4B-A6F7-FCA931AA199C}"/>
              </a:ext>
            </a:extLst>
          </p:cNvPr>
          <p:cNvSpPr>
            <a:spLocks noChangeArrowheads="1"/>
          </p:cNvSpPr>
          <p:nvPr/>
        </p:nvSpPr>
        <p:spPr bwMode="auto">
          <a:xfrm>
            <a:off x="4229100"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39" name="Oval 167">
            <a:extLst>
              <a:ext uri="{FF2B5EF4-FFF2-40B4-BE49-F238E27FC236}">
                <a16:creationId xmlns:a16="http://schemas.microsoft.com/office/drawing/2014/main" id="{0A377B3E-E899-F161-E37C-39D60476642C}"/>
              </a:ext>
            </a:extLst>
          </p:cNvPr>
          <p:cNvSpPr>
            <a:spLocks noChangeArrowheads="1"/>
          </p:cNvSpPr>
          <p:nvPr/>
        </p:nvSpPr>
        <p:spPr bwMode="auto">
          <a:xfrm>
            <a:off x="4454525"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0" name="Oval 168">
            <a:extLst>
              <a:ext uri="{FF2B5EF4-FFF2-40B4-BE49-F238E27FC236}">
                <a16:creationId xmlns:a16="http://schemas.microsoft.com/office/drawing/2014/main" id="{DD79DEBD-700A-C1A5-4F04-4CC75CF6D987}"/>
              </a:ext>
            </a:extLst>
          </p:cNvPr>
          <p:cNvSpPr>
            <a:spLocks noChangeArrowheads="1"/>
          </p:cNvSpPr>
          <p:nvPr/>
        </p:nvSpPr>
        <p:spPr bwMode="auto">
          <a:xfrm>
            <a:off x="4679950"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1" name="Oval 169">
            <a:extLst>
              <a:ext uri="{FF2B5EF4-FFF2-40B4-BE49-F238E27FC236}">
                <a16:creationId xmlns:a16="http://schemas.microsoft.com/office/drawing/2014/main" id="{8BE6B4DA-C9F8-B725-53AE-13D480939755}"/>
              </a:ext>
            </a:extLst>
          </p:cNvPr>
          <p:cNvSpPr>
            <a:spLocks noChangeArrowheads="1"/>
          </p:cNvSpPr>
          <p:nvPr/>
        </p:nvSpPr>
        <p:spPr bwMode="auto">
          <a:xfrm>
            <a:off x="4905375"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2" name="Oval 170">
            <a:extLst>
              <a:ext uri="{FF2B5EF4-FFF2-40B4-BE49-F238E27FC236}">
                <a16:creationId xmlns:a16="http://schemas.microsoft.com/office/drawing/2014/main" id="{51CFA1CE-B96B-0457-024D-A2F9CB5734D3}"/>
              </a:ext>
            </a:extLst>
          </p:cNvPr>
          <p:cNvSpPr>
            <a:spLocks noChangeArrowheads="1"/>
          </p:cNvSpPr>
          <p:nvPr/>
        </p:nvSpPr>
        <p:spPr bwMode="auto">
          <a:xfrm>
            <a:off x="513238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3" name="Oval 171">
            <a:extLst>
              <a:ext uri="{FF2B5EF4-FFF2-40B4-BE49-F238E27FC236}">
                <a16:creationId xmlns:a16="http://schemas.microsoft.com/office/drawing/2014/main" id="{07A1DE9F-43A3-0EE6-1421-16B53EDE4CA0}"/>
              </a:ext>
            </a:extLst>
          </p:cNvPr>
          <p:cNvSpPr>
            <a:spLocks noChangeArrowheads="1"/>
          </p:cNvSpPr>
          <p:nvPr/>
        </p:nvSpPr>
        <p:spPr bwMode="auto">
          <a:xfrm>
            <a:off x="5357813"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4" name="Oval 172">
            <a:extLst>
              <a:ext uri="{FF2B5EF4-FFF2-40B4-BE49-F238E27FC236}">
                <a16:creationId xmlns:a16="http://schemas.microsoft.com/office/drawing/2014/main" id="{20E04012-F9D0-D3F9-C530-0549E71EFAC8}"/>
              </a:ext>
            </a:extLst>
          </p:cNvPr>
          <p:cNvSpPr>
            <a:spLocks noChangeArrowheads="1"/>
          </p:cNvSpPr>
          <p:nvPr/>
        </p:nvSpPr>
        <p:spPr bwMode="auto">
          <a:xfrm>
            <a:off x="558323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5" name="Oval 173">
            <a:extLst>
              <a:ext uri="{FF2B5EF4-FFF2-40B4-BE49-F238E27FC236}">
                <a16:creationId xmlns:a16="http://schemas.microsoft.com/office/drawing/2014/main" id="{4281CFD9-BE86-0355-944E-7A0E036CF5B9}"/>
              </a:ext>
            </a:extLst>
          </p:cNvPr>
          <p:cNvSpPr>
            <a:spLocks noChangeArrowheads="1"/>
          </p:cNvSpPr>
          <p:nvPr/>
        </p:nvSpPr>
        <p:spPr bwMode="auto">
          <a:xfrm>
            <a:off x="5810250"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6" name="Oval 174">
            <a:extLst>
              <a:ext uri="{FF2B5EF4-FFF2-40B4-BE49-F238E27FC236}">
                <a16:creationId xmlns:a16="http://schemas.microsoft.com/office/drawing/2014/main" id="{8424DAD1-4ED7-3349-FAA5-26FB214A4C9B}"/>
              </a:ext>
            </a:extLst>
          </p:cNvPr>
          <p:cNvSpPr>
            <a:spLocks noChangeArrowheads="1"/>
          </p:cNvSpPr>
          <p:nvPr/>
        </p:nvSpPr>
        <p:spPr bwMode="auto">
          <a:xfrm>
            <a:off x="6035675"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7" name="Oval 175">
            <a:extLst>
              <a:ext uri="{FF2B5EF4-FFF2-40B4-BE49-F238E27FC236}">
                <a16:creationId xmlns:a16="http://schemas.microsoft.com/office/drawing/2014/main" id="{DAE2A0EB-4A5E-ED59-6E2E-146257870E07}"/>
              </a:ext>
            </a:extLst>
          </p:cNvPr>
          <p:cNvSpPr>
            <a:spLocks noChangeArrowheads="1"/>
          </p:cNvSpPr>
          <p:nvPr/>
        </p:nvSpPr>
        <p:spPr bwMode="auto">
          <a:xfrm>
            <a:off x="6261100"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8" name="Oval 176">
            <a:extLst>
              <a:ext uri="{FF2B5EF4-FFF2-40B4-BE49-F238E27FC236}">
                <a16:creationId xmlns:a16="http://schemas.microsoft.com/office/drawing/2014/main" id="{6076016D-FFF6-0C73-C914-5D4CE3370EB9}"/>
              </a:ext>
            </a:extLst>
          </p:cNvPr>
          <p:cNvSpPr>
            <a:spLocks noChangeArrowheads="1"/>
          </p:cNvSpPr>
          <p:nvPr/>
        </p:nvSpPr>
        <p:spPr bwMode="auto">
          <a:xfrm>
            <a:off x="6486525"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49" name="Oval 177">
            <a:extLst>
              <a:ext uri="{FF2B5EF4-FFF2-40B4-BE49-F238E27FC236}">
                <a16:creationId xmlns:a16="http://schemas.microsoft.com/office/drawing/2014/main" id="{798D4B1E-DB10-4343-518B-C3DF5B165972}"/>
              </a:ext>
            </a:extLst>
          </p:cNvPr>
          <p:cNvSpPr>
            <a:spLocks noChangeArrowheads="1"/>
          </p:cNvSpPr>
          <p:nvPr/>
        </p:nvSpPr>
        <p:spPr bwMode="auto">
          <a:xfrm>
            <a:off x="671353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0" name="Oval 178">
            <a:extLst>
              <a:ext uri="{FF2B5EF4-FFF2-40B4-BE49-F238E27FC236}">
                <a16:creationId xmlns:a16="http://schemas.microsoft.com/office/drawing/2014/main" id="{2E3FA76E-37BB-30EB-899C-4135604919F3}"/>
              </a:ext>
            </a:extLst>
          </p:cNvPr>
          <p:cNvSpPr>
            <a:spLocks noChangeArrowheads="1"/>
          </p:cNvSpPr>
          <p:nvPr/>
        </p:nvSpPr>
        <p:spPr bwMode="auto">
          <a:xfrm>
            <a:off x="6938963"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1" name="Oval 179">
            <a:extLst>
              <a:ext uri="{FF2B5EF4-FFF2-40B4-BE49-F238E27FC236}">
                <a16:creationId xmlns:a16="http://schemas.microsoft.com/office/drawing/2014/main" id="{4835CE60-DD00-1FDA-A3D8-A4986F06EF61}"/>
              </a:ext>
            </a:extLst>
          </p:cNvPr>
          <p:cNvSpPr>
            <a:spLocks noChangeArrowheads="1"/>
          </p:cNvSpPr>
          <p:nvPr/>
        </p:nvSpPr>
        <p:spPr bwMode="auto">
          <a:xfrm>
            <a:off x="716438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2" name="Oval 180">
            <a:extLst>
              <a:ext uri="{FF2B5EF4-FFF2-40B4-BE49-F238E27FC236}">
                <a16:creationId xmlns:a16="http://schemas.microsoft.com/office/drawing/2014/main" id="{C3D23167-0C6F-B223-07C9-2D93E4B00562}"/>
              </a:ext>
            </a:extLst>
          </p:cNvPr>
          <p:cNvSpPr>
            <a:spLocks noChangeArrowheads="1"/>
          </p:cNvSpPr>
          <p:nvPr/>
        </p:nvSpPr>
        <p:spPr bwMode="auto">
          <a:xfrm>
            <a:off x="7389813"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3" name="Oval 181">
            <a:extLst>
              <a:ext uri="{FF2B5EF4-FFF2-40B4-BE49-F238E27FC236}">
                <a16:creationId xmlns:a16="http://schemas.microsoft.com/office/drawing/2014/main" id="{5FF9C6A5-82DD-9BE2-FD49-EB32B9A8CC6B}"/>
              </a:ext>
            </a:extLst>
          </p:cNvPr>
          <p:cNvSpPr>
            <a:spLocks noChangeArrowheads="1"/>
          </p:cNvSpPr>
          <p:nvPr/>
        </p:nvSpPr>
        <p:spPr bwMode="auto">
          <a:xfrm>
            <a:off x="7616825"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4" name="Oval 182">
            <a:extLst>
              <a:ext uri="{FF2B5EF4-FFF2-40B4-BE49-F238E27FC236}">
                <a16:creationId xmlns:a16="http://schemas.microsoft.com/office/drawing/2014/main" id="{42D8D68C-E134-1878-4EC0-62183936569A}"/>
              </a:ext>
            </a:extLst>
          </p:cNvPr>
          <p:cNvSpPr>
            <a:spLocks noChangeArrowheads="1"/>
          </p:cNvSpPr>
          <p:nvPr/>
        </p:nvSpPr>
        <p:spPr bwMode="auto">
          <a:xfrm>
            <a:off x="7842250"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5" name="Oval 183">
            <a:extLst>
              <a:ext uri="{FF2B5EF4-FFF2-40B4-BE49-F238E27FC236}">
                <a16:creationId xmlns:a16="http://schemas.microsoft.com/office/drawing/2014/main" id="{D6E6E299-3718-E180-0867-78D7EA3C8847}"/>
              </a:ext>
            </a:extLst>
          </p:cNvPr>
          <p:cNvSpPr>
            <a:spLocks noChangeArrowheads="1"/>
          </p:cNvSpPr>
          <p:nvPr/>
        </p:nvSpPr>
        <p:spPr bwMode="auto">
          <a:xfrm>
            <a:off x="8067675"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6" name="Oval 184">
            <a:extLst>
              <a:ext uri="{FF2B5EF4-FFF2-40B4-BE49-F238E27FC236}">
                <a16:creationId xmlns:a16="http://schemas.microsoft.com/office/drawing/2014/main" id="{C1EBE07B-6B9F-F4DA-A7A3-06424246DEAE}"/>
              </a:ext>
            </a:extLst>
          </p:cNvPr>
          <p:cNvSpPr>
            <a:spLocks noChangeArrowheads="1"/>
          </p:cNvSpPr>
          <p:nvPr/>
        </p:nvSpPr>
        <p:spPr bwMode="auto">
          <a:xfrm>
            <a:off x="8293100" y="21161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7" name="Oval 185">
            <a:extLst>
              <a:ext uri="{FF2B5EF4-FFF2-40B4-BE49-F238E27FC236}">
                <a16:creationId xmlns:a16="http://schemas.microsoft.com/office/drawing/2014/main" id="{2042DE81-7A47-E02F-FEF3-8B6D512093F2}"/>
              </a:ext>
            </a:extLst>
          </p:cNvPr>
          <p:cNvSpPr>
            <a:spLocks noChangeArrowheads="1"/>
          </p:cNvSpPr>
          <p:nvPr/>
        </p:nvSpPr>
        <p:spPr bwMode="auto">
          <a:xfrm>
            <a:off x="8520113"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8" name="Oval 186">
            <a:extLst>
              <a:ext uri="{FF2B5EF4-FFF2-40B4-BE49-F238E27FC236}">
                <a16:creationId xmlns:a16="http://schemas.microsoft.com/office/drawing/2014/main" id="{D6296DC2-1EA6-6F9E-8CEE-F147ADC3D15C}"/>
              </a:ext>
            </a:extLst>
          </p:cNvPr>
          <p:cNvSpPr>
            <a:spLocks noChangeArrowheads="1"/>
          </p:cNvSpPr>
          <p:nvPr/>
        </p:nvSpPr>
        <p:spPr bwMode="auto">
          <a:xfrm>
            <a:off x="8745538" y="21161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59" name="Rectangle 187">
            <a:extLst>
              <a:ext uri="{FF2B5EF4-FFF2-40B4-BE49-F238E27FC236}">
                <a16:creationId xmlns:a16="http://schemas.microsoft.com/office/drawing/2014/main" id="{15E587FB-372C-6E85-5540-2AC8543B9120}"/>
              </a:ext>
            </a:extLst>
          </p:cNvPr>
          <p:cNvSpPr>
            <a:spLocks noChangeArrowheads="1"/>
          </p:cNvSpPr>
          <p:nvPr/>
        </p:nvSpPr>
        <p:spPr bwMode="auto">
          <a:xfrm>
            <a:off x="384175" y="1362075"/>
            <a:ext cx="804863" cy="182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Lst>
              <a:defRPr>
                <a:solidFill>
                  <a:srgbClr val="000000"/>
                </a:solidFill>
                <a:latin typeface="Arial" panose="020B0604020202020204" pitchFamily="34" charset="0"/>
                <a:ea typeface="Microsoft YaHei" panose="020B0503020204020204" pitchFamily="34" charset="-122"/>
              </a:defRPr>
            </a:lvl1pPr>
            <a:lvl2pPr>
              <a:tabLst>
                <a:tab pos="0" algn="l"/>
              </a:tabLst>
              <a:defRPr>
                <a:solidFill>
                  <a:srgbClr val="000000"/>
                </a:solidFill>
                <a:latin typeface="Arial" panose="020B0604020202020204" pitchFamily="34" charset="0"/>
                <a:ea typeface="Microsoft YaHei" panose="020B0503020204020204" pitchFamily="34" charset="-122"/>
              </a:defRPr>
            </a:lvl2pPr>
            <a:lvl3pPr>
              <a:tabLst>
                <a:tab pos="0" algn="l"/>
              </a:tabLst>
              <a:defRPr>
                <a:solidFill>
                  <a:srgbClr val="000000"/>
                </a:solidFill>
                <a:latin typeface="Arial" panose="020B0604020202020204" pitchFamily="34" charset="0"/>
                <a:ea typeface="Microsoft YaHei" panose="020B0503020204020204" pitchFamily="34" charset="-122"/>
              </a:defRPr>
            </a:lvl3pPr>
            <a:lvl4pPr>
              <a:tabLst>
                <a:tab pos="0" algn="l"/>
              </a:tabLst>
              <a:defRPr>
                <a:solidFill>
                  <a:srgbClr val="000000"/>
                </a:solidFill>
                <a:latin typeface="Arial" panose="020B0604020202020204" pitchFamily="34" charset="0"/>
                <a:ea typeface="Microsoft YaHei" panose="020B0503020204020204" pitchFamily="34" charset="-122"/>
              </a:defRPr>
            </a:lvl4pPr>
            <a:lvl5pPr>
              <a:tabLst>
                <a:tab pos="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Lst>
              <a:defRPr>
                <a:solidFill>
                  <a:srgbClr val="000000"/>
                </a:solidFill>
                <a:latin typeface="Arial" panose="020B0604020202020204" pitchFamily="34" charset="0"/>
                <a:ea typeface="Microsoft YaHei" panose="020B0503020204020204" pitchFamily="34" charset="-122"/>
              </a:defRPr>
            </a:lvl9pPr>
          </a:lstStyle>
          <a:p>
            <a:pPr algn="r" hangingPunct="1">
              <a:lnSpc>
                <a:spcPct val="100000"/>
              </a:lnSpc>
            </a:pPr>
            <a:r>
              <a:rPr lang="en-US" altLang="en-US" sz="1000" b="1">
                <a:solidFill>
                  <a:srgbClr val="111827"/>
                </a:solidFill>
                <a:latin typeface="Aptos" panose="020B0004020202020204" pitchFamily="34" charset="0"/>
              </a:rPr>
              <a:t>Layer 5: d=16</a:t>
            </a:r>
          </a:p>
        </p:txBody>
      </p:sp>
      <p:sp>
        <p:nvSpPr>
          <p:cNvPr id="3260" name="Line 188">
            <a:extLst>
              <a:ext uri="{FF2B5EF4-FFF2-40B4-BE49-F238E27FC236}">
                <a16:creationId xmlns:a16="http://schemas.microsoft.com/office/drawing/2014/main" id="{3EB38576-3F0C-1835-358F-3F030475096E}"/>
              </a:ext>
            </a:extLst>
          </p:cNvPr>
          <p:cNvSpPr>
            <a:spLocks noChangeShapeType="1"/>
          </p:cNvSpPr>
          <p:nvPr/>
        </p:nvSpPr>
        <p:spPr bwMode="auto">
          <a:xfrm>
            <a:off x="1325563" y="1463675"/>
            <a:ext cx="7451725" cy="1588"/>
          </a:xfrm>
          <a:prstGeom prst="line">
            <a:avLst/>
          </a:prstGeom>
          <a:noFill/>
          <a:ln w="25560" cap="flat">
            <a:solidFill>
              <a:srgbClr val="CBD5E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261" name="Oval 189">
            <a:extLst>
              <a:ext uri="{FF2B5EF4-FFF2-40B4-BE49-F238E27FC236}">
                <a16:creationId xmlns:a16="http://schemas.microsoft.com/office/drawing/2014/main" id="{BA69AD84-2E6A-FC31-FA2B-768F42D2D92B}"/>
              </a:ext>
            </a:extLst>
          </p:cNvPr>
          <p:cNvSpPr>
            <a:spLocks noChangeArrowheads="1"/>
          </p:cNvSpPr>
          <p:nvPr/>
        </p:nvSpPr>
        <p:spPr bwMode="auto">
          <a:xfrm>
            <a:off x="1293813"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62" name="Oval 190">
            <a:extLst>
              <a:ext uri="{FF2B5EF4-FFF2-40B4-BE49-F238E27FC236}">
                <a16:creationId xmlns:a16="http://schemas.microsoft.com/office/drawing/2014/main" id="{304F0EC7-C40B-294C-D26D-4DD166736886}"/>
              </a:ext>
            </a:extLst>
          </p:cNvPr>
          <p:cNvSpPr>
            <a:spLocks noChangeArrowheads="1"/>
          </p:cNvSpPr>
          <p:nvPr/>
        </p:nvSpPr>
        <p:spPr bwMode="auto">
          <a:xfrm>
            <a:off x="151923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63" name="Oval 191">
            <a:extLst>
              <a:ext uri="{FF2B5EF4-FFF2-40B4-BE49-F238E27FC236}">
                <a16:creationId xmlns:a16="http://schemas.microsoft.com/office/drawing/2014/main" id="{1ACDA00C-B779-531D-F6DB-CBBBB992E267}"/>
              </a:ext>
            </a:extLst>
          </p:cNvPr>
          <p:cNvSpPr>
            <a:spLocks noChangeArrowheads="1"/>
          </p:cNvSpPr>
          <p:nvPr/>
        </p:nvSpPr>
        <p:spPr bwMode="auto">
          <a:xfrm>
            <a:off x="1744663"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64" name="Oval 192">
            <a:extLst>
              <a:ext uri="{FF2B5EF4-FFF2-40B4-BE49-F238E27FC236}">
                <a16:creationId xmlns:a16="http://schemas.microsoft.com/office/drawing/2014/main" id="{1194A52F-0C32-2656-51AD-749246AEEB91}"/>
              </a:ext>
            </a:extLst>
          </p:cNvPr>
          <p:cNvSpPr>
            <a:spLocks noChangeArrowheads="1"/>
          </p:cNvSpPr>
          <p:nvPr/>
        </p:nvSpPr>
        <p:spPr bwMode="auto">
          <a:xfrm>
            <a:off x="197008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65" name="Oval 193">
            <a:extLst>
              <a:ext uri="{FF2B5EF4-FFF2-40B4-BE49-F238E27FC236}">
                <a16:creationId xmlns:a16="http://schemas.microsoft.com/office/drawing/2014/main" id="{3E3E9128-07C8-8DF5-5EA2-F419FF9D1B8F}"/>
              </a:ext>
            </a:extLst>
          </p:cNvPr>
          <p:cNvSpPr>
            <a:spLocks noChangeArrowheads="1"/>
          </p:cNvSpPr>
          <p:nvPr/>
        </p:nvSpPr>
        <p:spPr bwMode="auto">
          <a:xfrm>
            <a:off x="2197100"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66" name="Oval 194">
            <a:extLst>
              <a:ext uri="{FF2B5EF4-FFF2-40B4-BE49-F238E27FC236}">
                <a16:creationId xmlns:a16="http://schemas.microsoft.com/office/drawing/2014/main" id="{B98BA243-8E68-F22B-A17A-CE199BAC0905}"/>
              </a:ext>
            </a:extLst>
          </p:cNvPr>
          <p:cNvSpPr>
            <a:spLocks noChangeArrowheads="1"/>
          </p:cNvSpPr>
          <p:nvPr/>
        </p:nvSpPr>
        <p:spPr bwMode="auto">
          <a:xfrm>
            <a:off x="2422525"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67" name="Oval 195">
            <a:extLst>
              <a:ext uri="{FF2B5EF4-FFF2-40B4-BE49-F238E27FC236}">
                <a16:creationId xmlns:a16="http://schemas.microsoft.com/office/drawing/2014/main" id="{C985F908-2BA8-DE63-F774-167038CBF518}"/>
              </a:ext>
            </a:extLst>
          </p:cNvPr>
          <p:cNvSpPr>
            <a:spLocks noChangeArrowheads="1"/>
          </p:cNvSpPr>
          <p:nvPr/>
        </p:nvSpPr>
        <p:spPr bwMode="auto">
          <a:xfrm>
            <a:off x="2647950"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68" name="Oval 196">
            <a:extLst>
              <a:ext uri="{FF2B5EF4-FFF2-40B4-BE49-F238E27FC236}">
                <a16:creationId xmlns:a16="http://schemas.microsoft.com/office/drawing/2014/main" id="{BD42AE53-62AE-B512-D526-F9872B0CA9EA}"/>
              </a:ext>
            </a:extLst>
          </p:cNvPr>
          <p:cNvSpPr>
            <a:spLocks noChangeArrowheads="1"/>
          </p:cNvSpPr>
          <p:nvPr/>
        </p:nvSpPr>
        <p:spPr bwMode="auto">
          <a:xfrm>
            <a:off x="2873375"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69" name="Oval 197">
            <a:extLst>
              <a:ext uri="{FF2B5EF4-FFF2-40B4-BE49-F238E27FC236}">
                <a16:creationId xmlns:a16="http://schemas.microsoft.com/office/drawing/2014/main" id="{FA9AF337-AC2A-9E24-C15C-4AE2897FF924}"/>
              </a:ext>
            </a:extLst>
          </p:cNvPr>
          <p:cNvSpPr>
            <a:spLocks noChangeArrowheads="1"/>
          </p:cNvSpPr>
          <p:nvPr/>
        </p:nvSpPr>
        <p:spPr bwMode="auto">
          <a:xfrm>
            <a:off x="310038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0" name="Oval 198">
            <a:extLst>
              <a:ext uri="{FF2B5EF4-FFF2-40B4-BE49-F238E27FC236}">
                <a16:creationId xmlns:a16="http://schemas.microsoft.com/office/drawing/2014/main" id="{E3AE1136-B2E1-2F74-AB49-2748C47A5D0F}"/>
              </a:ext>
            </a:extLst>
          </p:cNvPr>
          <p:cNvSpPr>
            <a:spLocks noChangeArrowheads="1"/>
          </p:cNvSpPr>
          <p:nvPr/>
        </p:nvSpPr>
        <p:spPr bwMode="auto">
          <a:xfrm>
            <a:off x="3325813"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1" name="Oval 199">
            <a:extLst>
              <a:ext uri="{FF2B5EF4-FFF2-40B4-BE49-F238E27FC236}">
                <a16:creationId xmlns:a16="http://schemas.microsoft.com/office/drawing/2014/main" id="{846E1461-DAD6-49CC-48A6-ECA465DD18C3}"/>
              </a:ext>
            </a:extLst>
          </p:cNvPr>
          <p:cNvSpPr>
            <a:spLocks noChangeArrowheads="1"/>
          </p:cNvSpPr>
          <p:nvPr/>
        </p:nvSpPr>
        <p:spPr bwMode="auto">
          <a:xfrm>
            <a:off x="355123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2" name="Oval 200">
            <a:extLst>
              <a:ext uri="{FF2B5EF4-FFF2-40B4-BE49-F238E27FC236}">
                <a16:creationId xmlns:a16="http://schemas.microsoft.com/office/drawing/2014/main" id="{D7583D67-6917-CF87-D06D-061C6259D823}"/>
              </a:ext>
            </a:extLst>
          </p:cNvPr>
          <p:cNvSpPr>
            <a:spLocks noChangeArrowheads="1"/>
          </p:cNvSpPr>
          <p:nvPr/>
        </p:nvSpPr>
        <p:spPr bwMode="auto">
          <a:xfrm>
            <a:off x="3776663"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3" name="Oval 201">
            <a:extLst>
              <a:ext uri="{FF2B5EF4-FFF2-40B4-BE49-F238E27FC236}">
                <a16:creationId xmlns:a16="http://schemas.microsoft.com/office/drawing/2014/main" id="{CE50F7EA-DB24-E9A9-A23E-479AE5F3AC83}"/>
              </a:ext>
            </a:extLst>
          </p:cNvPr>
          <p:cNvSpPr>
            <a:spLocks noChangeArrowheads="1"/>
          </p:cNvSpPr>
          <p:nvPr/>
        </p:nvSpPr>
        <p:spPr bwMode="auto">
          <a:xfrm>
            <a:off x="400208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4" name="Oval 202">
            <a:extLst>
              <a:ext uri="{FF2B5EF4-FFF2-40B4-BE49-F238E27FC236}">
                <a16:creationId xmlns:a16="http://schemas.microsoft.com/office/drawing/2014/main" id="{ACB10270-8578-1037-4897-782E63285FC0}"/>
              </a:ext>
            </a:extLst>
          </p:cNvPr>
          <p:cNvSpPr>
            <a:spLocks noChangeArrowheads="1"/>
          </p:cNvSpPr>
          <p:nvPr/>
        </p:nvSpPr>
        <p:spPr bwMode="auto">
          <a:xfrm>
            <a:off x="4229100"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5" name="Oval 203">
            <a:extLst>
              <a:ext uri="{FF2B5EF4-FFF2-40B4-BE49-F238E27FC236}">
                <a16:creationId xmlns:a16="http://schemas.microsoft.com/office/drawing/2014/main" id="{0A5F081A-DB56-065D-2359-F561AA1F9F8D}"/>
              </a:ext>
            </a:extLst>
          </p:cNvPr>
          <p:cNvSpPr>
            <a:spLocks noChangeArrowheads="1"/>
          </p:cNvSpPr>
          <p:nvPr/>
        </p:nvSpPr>
        <p:spPr bwMode="auto">
          <a:xfrm>
            <a:off x="4454525"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6" name="Oval 204">
            <a:extLst>
              <a:ext uri="{FF2B5EF4-FFF2-40B4-BE49-F238E27FC236}">
                <a16:creationId xmlns:a16="http://schemas.microsoft.com/office/drawing/2014/main" id="{969465F5-81AD-9C76-CEF8-A7E5C8D8EDD5}"/>
              </a:ext>
            </a:extLst>
          </p:cNvPr>
          <p:cNvSpPr>
            <a:spLocks noChangeArrowheads="1"/>
          </p:cNvSpPr>
          <p:nvPr/>
        </p:nvSpPr>
        <p:spPr bwMode="auto">
          <a:xfrm>
            <a:off x="4679950"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7" name="Oval 205">
            <a:extLst>
              <a:ext uri="{FF2B5EF4-FFF2-40B4-BE49-F238E27FC236}">
                <a16:creationId xmlns:a16="http://schemas.microsoft.com/office/drawing/2014/main" id="{C210F4E3-8BD0-44A9-2C1F-F8BF1BEEAB1F}"/>
              </a:ext>
            </a:extLst>
          </p:cNvPr>
          <p:cNvSpPr>
            <a:spLocks noChangeArrowheads="1"/>
          </p:cNvSpPr>
          <p:nvPr/>
        </p:nvSpPr>
        <p:spPr bwMode="auto">
          <a:xfrm>
            <a:off x="4905375"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8" name="Oval 206">
            <a:extLst>
              <a:ext uri="{FF2B5EF4-FFF2-40B4-BE49-F238E27FC236}">
                <a16:creationId xmlns:a16="http://schemas.microsoft.com/office/drawing/2014/main" id="{79DAF793-5365-17E7-CED7-F829DE1C9023}"/>
              </a:ext>
            </a:extLst>
          </p:cNvPr>
          <p:cNvSpPr>
            <a:spLocks noChangeArrowheads="1"/>
          </p:cNvSpPr>
          <p:nvPr/>
        </p:nvSpPr>
        <p:spPr bwMode="auto">
          <a:xfrm>
            <a:off x="513238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79" name="Oval 207">
            <a:extLst>
              <a:ext uri="{FF2B5EF4-FFF2-40B4-BE49-F238E27FC236}">
                <a16:creationId xmlns:a16="http://schemas.microsoft.com/office/drawing/2014/main" id="{94282F8A-3797-555D-0C95-F454D83BFEFC}"/>
              </a:ext>
            </a:extLst>
          </p:cNvPr>
          <p:cNvSpPr>
            <a:spLocks noChangeArrowheads="1"/>
          </p:cNvSpPr>
          <p:nvPr/>
        </p:nvSpPr>
        <p:spPr bwMode="auto">
          <a:xfrm>
            <a:off x="5357813"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0" name="Oval 208">
            <a:extLst>
              <a:ext uri="{FF2B5EF4-FFF2-40B4-BE49-F238E27FC236}">
                <a16:creationId xmlns:a16="http://schemas.microsoft.com/office/drawing/2014/main" id="{E56A67B4-7F0B-48E9-5104-3FDA1A6E486D}"/>
              </a:ext>
            </a:extLst>
          </p:cNvPr>
          <p:cNvSpPr>
            <a:spLocks noChangeArrowheads="1"/>
          </p:cNvSpPr>
          <p:nvPr/>
        </p:nvSpPr>
        <p:spPr bwMode="auto">
          <a:xfrm>
            <a:off x="558323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1" name="Oval 209">
            <a:extLst>
              <a:ext uri="{FF2B5EF4-FFF2-40B4-BE49-F238E27FC236}">
                <a16:creationId xmlns:a16="http://schemas.microsoft.com/office/drawing/2014/main" id="{6790D8D7-7EBA-9FB5-7C11-A59CC711F8CB}"/>
              </a:ext>
            </a:extLst>
          </p:cNvPr>
          <p:cNvSpPr>
            <a:spLocks noChangeArrowheads="1"/>
          </p:cNvSpPr>
          <p:nvPr/>
        </p:nvSpPr>
        <p:spPr bwMode="auto">
          <a:xfrm>
            <a:off x="5810250"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2" name="Oval 210">
            <a:extLst>
              <a:ext uri="{FF2B5EF4-FFF2-40B4-BE49-F238E27FC236}">
                <a16:creationId xmlns:a16="http://schemas.microsoft.com/office/drawing/2014/main" id="{0233A304-3AFB-BE77-AD1A-4BCCA2CA4ED6}"/>
              </a:ext>
            </a:extLst>
          </p:cNvPr>
          <p:cNvSpPr>
            <a:spLocks noChangeArrowheads="1"/>
          </p:cNvSpPr>
          <p:nvPr/>
        </p:nvSpPr>
        <p:spPr bwMode="auto">
          <a:xfrm>
            <a:off x="6035675"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3" name="Oval 211">
            <a:extLst>
              <a:ext uri="{FF2B5EF4-FFF2-40B4-BE49-F238E27FC236}">
                <a16:creationId xmlns:a16="http://schemas.microsoft.com/office/drawing/2014/main" id="{04E3C9B2-0403-7E17-356B-D9A1799588E4}"/>
              </a:ext>
            </a:extLst>
          </p:cNvPr>
          <p:cNvSpPr>
            <a:spLocks noChangeArrowheads="1"/>
          </p:cNvSpPr>
          <p:nvPr/>
        </p:nvSpPr>
        <p:spPr bwMode="auto">
          <a:xfrm>
            <a:off x="6261100"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4" name="Oval 212">
            <a:extLst>
              <a:ext uri="{FF2B5EF4-FFF2-40B4-BE49-F238E27FC236}">
                <a16:creationId xmlns:a16="http://schemas.microsoft.com/office/drawing/2014/main" id="{7DF08991-049F-A7D4-A565-4D2B9687B5FD}"/>
              </a:ext>
            </a:extLst>
          </p:cNvPr>
          <p:cNvSpPr>
            <a:spLocks noChangeArrowheads="1"/>
          </p:cNvSpPr>
          <p:nvPr/>
        </p:nvSpPr>
        <p:spPr bwMode="auto">
          <a:xfrm>
            <a:off x="6486525"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5" name="Oval 213">
            <a:extLst>
              <a:ext uri="{FF2B5EF4-FFF2-40B4-BE49-F238E27FC236}">
                <a16:creationId xmlns:a16="http://schemas.microsoft.com/office/drawing/2014/main" id="{A57B9068-E0C5-2544-648F-ED39AF36E023}"/>
              </a:ext>
            </a:extLst>
          </p:cNvPr>
          <p:cNvSpPr>
            <a:spLocks noChangeArrowheads="1"/>
          </p:cNvSpPr>
          <p:nvPr/>
        </p:nvSpPr>
        <p:spPr bwMode="auto">
          <a:xfrm>
            <a:off x="671353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6" name="Oval 214">
            <a:extLst>
              <a:ext uri="{FF2B5EF4-FFF2-40B4-BE49-F238E27FC236}">
                <a16:creationId xmlns:a16="http://schemas.microsoft.com/office/drawing/2014/main" id="{EB234B74-6291-1EEE-37FF-FBD679B50C23}"/>
              </a:ext>
            </a:extLst>
          </p:cNvPr>
          <p:cNvSpPr>
            <a:spLocks noChangeArrowheads="1"/>
          </p:cNvSpPr>
          <p:nvPr/>
        </p:nvSpPr>
        <p:spPr bwMode="auto">
          <a:xfrm>
            <a:off x="6938963"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7" name="Oval 215">
            <a:extLst>
              <a:ext uri="{FF2B5EF4-FFF2-40B4-BE49-F238E27FC236}">
                <a16:creationId xmlns:a16="http://schemas.microsoft.com/office/drawing/2014/main" id="{41C27AA1-7BB8-526C-DF92-80C8AEC58143}"/>
              </a:ext>
            </a:extLst>
          </p:cNvPr>
          <p:cNvSpPr>
            <a:spLocks noChangeArrowheads="1"/>
          </p:cNvSpPr>
          <p:nvPr/>
        </p:nvSpPr>
        <p:spPr bwMode="auto">
          <a:xfrm>
            <a:off x="716438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8" name="Oval 216">
            <a:extLst>
              <a:ext uri="{FF2B5EF4-FFF2-40B4-BE49-F238E27FC236}">
                <a16:creationId xmlns:a16="http://schemas.microsoft.com/office/drawing/2014/main" id="{7CEA9A8B-E68E-896F-9B5E-C0519D6142EB}"/>
              </a:ext>
            </a:extLst>
          </p:cNvPr>
          <p:cNvSpPr>
            <a:spLocks noChangeArrowheads="1"/>
          </p:cNvSpPr>
          <p:nvPr/>
        </p:nvSpPr>
        <p:spPr bwMode="auto">
          <a:xfrm>
            <a:off x="7389813"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89" name="Oval 217">
            <a:extLst>
              <a:ext uri="{FF2B5EF4-FFF2-40B4-BE49-F238E27FC236}">
                <a16:creationId xmlns:a16="http://schemas.microsoft.com/office/drawing/2014/main" id="{6DA1D38C-A465-9773-1AE5-4BA50F2AAD5F}"/>
              </a:ext>
            </a:extLst>
          </p:cNvPr>
          <p:cNvSpPr>
            <a:spLocks noChangeArrowheads="1"/>
          </p:cNvSpPr>
          <p:nvPr/>
        </p:nvSpPr>
        <p:spPr bwMode="auto">
          <a:xfrm>
            <a:off x="7616825"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90" name="Oval 218">
            <a:extLst>
              <a:ext uri="{FF2B5EF4-FFF2-40B4-BE49-F238E27FC236}">
                <a16:creationId xmlns:a16="http://schemas.microsoft.com/office/drawing/2014/main" id="{DBC340A3-B36D-377D-A1CB-4F1338738EB4}"/>
              </a:ext>
            </a:extLst>
          </p:cNvPr>
          <p:cNvSpPr>
            <a:spLocks noChangeArrowheads="1"/>
          </p:cNvSpPr>
          <p:nvPr/>
        </p:nvSpPr>
        <p:spPr bwMode="auto">
          <a:xfrm>
            <a:off x="7842250"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91" name="Oval 219">
            <a:extLst>
              <a:ext uri="{FF2B5EF4-FFF2-40B4-BE49-F238E27FC236}">
                <a16:creationId xmlns:a16="http://schemas.microsoft.com/office/drawing/2014/main" id="{5960D48B-A7C4-E749-1122-08ED89216D22}"/>
              </a:ext>
            </a:extLst>
          </p:cNvPr>
          <p:cNvSpPr>
            <a:spLocks noChangeArrowheads="1"/>
          </p:cNvSpPr>
          <p:nvPr/>
        </p:nvSpPr>
        <p:spPr bwMode="auto">
          <a:xfrm>
            <a:off x="8067675"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92" name="Oval 220">
            <a:extLst>
              <a:ext uri="{FF2B5EF4-FFF2-40B4-BE49-F238E27FC236}">
                <a16:creationId xmlns:a16="http://schemas.microsoft.com/office/drawing/2014/main" id="{B6D898C0-F4C9-4D40-2B95-AC2D750C99E1}"/>
              </a:ext>
            </a:extLst>
          </p:cNvPr>
          <p:cNvSpPr>
            <a:spLocks noChangeArrowheads="1"/>
          </p:cNvSpPr>
          <p:nvPr/>
        </p:nvSpPr>
        <p:spPr bwMode="auto">
          <a:xfrm>
            <a:off x="8293100" y="1430338"/>
            <a:ext cx="65088"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93" name="Oval 221">
            <a:extLst>
              <a:ext uri="{FF2B5EF4-FFF2-40B4-BE49-F238E27FC236}">
                <a16:creationId xmlns:a16="http://schemas.microsoft.com/office/drawing/2014/main" id="{825297BF-D60C-39EC-4B65-858093539954}"/>
              </a:ext>
            </a:extLst>
          </p:cNvPr>
          <p:cNvSpPr>
            <a:spLocks noChangeArrowheads="1"/>
          </p:cNvSpPr>
          <p:nvPr/>
        </p:nvSpPr>
        <p:spPr bwMode="auto">
          <a:xfrm>
            <a:off x="8520113"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94" name="Oval 222">
            <a:extLst>
              <a:ext uri="{FF2B5EF4-FFF2-40B4-BE49-F238E27FC236}">
                <a16:creationId xmlns:a16="http://schemas.microsoft.com/office/drawing/2014/main" id="{76DDDD25-E32E-F79F-442D-D9C6D4891D68}"/>
              </a:ext>
            </a:extLst>
          </p:cNvPr>
          <p:cNvSpPr>
            <a:spLocks noChangeArrowheads="1"/>
          </p:cNvSpPr>
          <p:nvPr/>
        </p:nvSpPr>
        <p:spPr bwMode="auto">
          <a:xfrm>
            <a:off x="8745538" y="1430338"/>
            <a:ext cx="65087" cy="65087"/>
          </a:xfrm>
          <a:prstGeom prst="ellipse">
            <a:avLst/>
          </a:prstGeom>
          <a:solidFill>
            <a:srgbClr val="334155"/>
          </a:solidFill>
          <a:ln w="5040" cap="flat">
            <a:solidFill>
              <a:srgbClr val="334155"/>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295" name="Line 223">
            <a:extLst>
              <a:ext uri="{FF2B5EF4-FFF2-40B4-BE49-F238E27FC236}">
                <a16:creationId xmlns:a16="http://schemas.microsoft.com/office/drawing/2014/main" id="{1C243637-97FC-0F5F-C41D-99F44D85D11C}"/>
              </a:ext>
            </a:extLst>
          </p:cNvPr>
          <p:cNvSpPr>
            <a:spLocks noChangeShapeType="1"/>
          </p:cNvSpPr>
          <p:nvPr/>
        </p:nvSpPr>
        <p:spPr bwMode="auto">
          <a:xfrm flipV="1">
            <a:off x="8778875" y="4243388"/>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296" name="Line 224">
            <a:extLst>
              <a:ext uri="{FF2B5EF4-FFF2-40B4-BE49-F238E27FC236}">
                <a16:creationId xmlns:a16="http://schemas.microsoft.com/office/drawing/2014/main" id="{B823A752-0790-7EAD-F117-010D3275A9C0}"/>
              </a:ext>
            </a:extLst>
          </p:cNvPr>
          <p:cNvSpPr>
            <a:spLocks noChangeShapeType="1"/>
          </p:cNvSpPr>
          <p:nvPr/>
        </p:nvSpPr>
        <p:spPr bwMode="auto">
          <a:xfrm flipV="1">
            <a:off x="8551863" y="4243388"/>
            <a:ext cx="217487"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297" name="Line 225">
            <a:extLst>
              <a:ext uri="{FF2B5EF4-FFF2-40B4-BE49-F238E27FC236}">
                <a16:creationId xmlns:a16="http://schemas.microsoft.com/office/drawing/2014/main" id="{76DA6EDE-4C9D-EE0E-7BAC-4A93B95143FF}"/>
              </a:ext>
            </a:extLst>
          </p:cNvPr>
          <p:cNvSpPr>
            <a:spLocks noChangeShapeType="1"/>
          </p:cNvSpPr>
          <p:nvPr/>
        </p:nvSpPr>
        <p:spPr bwMode="auto">
          <a:xfrm>
            <a:off x="8551863" y="4379913"/>
            <a:ext cx="225425" cy="158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298" name="Line 226">
            <a:extLst>
              <a:ext uri="{FF2B5EF4-FFF2-40B4-BE49-F238E27FC236}">
                <a16:creationId xmlns:a16="http://schemas.microsoft.com/office/drawing/2014/main" id="{2B4E5E48-4611-9CE7-2EC2-0B4F6E19EC2F}"/>
              </a:ext>
            </a:extLst>
          </p:cNvPr>
          <p:cNvSpPr>
            <a:spLocks noChangeShapeType="1"/>
          </p:cNvSpPr>
          <p:nvPr/>
        </p:nvSpPr>
        <p:spPr bwMode="auto">
          <a:xfrm>
            <a:off x="8551863" y="4357688"/>
            <a:ext cx="1587"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299" name="Line 227">
            <a:extLst>
              <a:ext uri="{FF2B5EF4-FFF2-40B4-BE49-F238E27FC236}">
                <a16:creationId xmlns:a16="http://schemas.microsoft.com/office/drawing/2014/main" id="{91B6B72F-D752-425B-2470-59AB18600823}"/>
              </a:ext>
            </a:extLst>
          </p:cNvPr>
          <p:cNvSpPr>
            <a:spLocks noChangeShapeType="1"/>
          </p:cNvSpPr>
          <p:nvPr/>
        </p:nvSpPr>
        <p:spPr bwMode="auto">
          <a:xfrm>
            <a:off x="8778875" y="4357688"/>
            <a:ext cx="1588"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0" name="Line 228">
            <a:extLst>
              <a:ext uri="{FF2B5EF4-FFF2-40B4-BE49-F238E27FC236}">
                <a16:creationId xmlns:a16="http://schemas.microsoft.com/office/drawing/2014/main" id="{402E0305-464A-F3CC-414F-CC7408E64306}"/>
              </a:ext>
            </a:extLst>
          </p:cNvPr>
          <p:cNvSpPr>
            <a:spLocks noChangeShapeType="1"/>
          </p:cNvSpPr>
          <p:nvPr/>
        </p:nvSpPr>
        <p:spPr bwMode="auto">
          <a:xfrm flipV="1">
            <a:off x="8778875" y="3557588"/>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1" name="Line 229">
            <a:extLst>
              <a:ext uri="{FF2B5EF4-FFF2-40B4-BE49-F238E27FC236}">
                <a16:creationId xmlns:a16="http://schemas.microsoft.com/office/drawing/2014/main" id="{6BEADE52-286A-34AA-73A4-FEAF47257E3A}"/>
              </a:ext>
            </a:extLst>
          </p:cNvPr>
          <p:cNvSpPr>
            <a:spLocks noChangeShapeType="1"/>
          </p:cNvSpPr>
          <p:nvPr/>
        </p:nvSpPr>
        <p:spPr bwMode="auto">
          <a:xfrm flipV="1">
            <a:off x="8326438" y="3557588"/>
            <a:ext cx="442912"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2" name="Line 230">
            <a:extLst>
              <a:ext uri="{FF2B5EF4-FFF2-40B4-BE49-F238E27FC236}">
                <a16:creationId xmlns:a16="http://schemas.microsoft.com/office/drawing/2014/main" id="{9AE695CA-C972-4D49-3B4A-FA65A10DB6AC}"/>
              </a:ext>
            </a:extLst>
          </p:cNvPr>
          <p:cNvSpPr>
            <a:spLocks noChangeShapeType="1"/>
          </p:cNvSpPr>
          <p:nvPr/>
        </p:nvSpPr>
        <p:spPr bwMode="auto">
          <a:xfrm>
            <a:off x="8101013" y="3694113"/>
            <a:ext cx="677862" cy="158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3" name="Line 231">
            <a:extLst>
              <a:ext uri="{FF2B5EF4-FFF2-40B4-BE49-F238E27FC236}">
                <a16:creationId xmlns:a16="http://schemas.microsoft.com/office/drawing/2014/main" id="{E7C3A815-68C5-15CA-2B14-5982F476374C}"/>
              </a:ext>
            </a:extLst>
          </p:cNvPr>
          <p:cNvSpPr>
            <a:spLocks noChangeShapeType="1"/>
          </p:cNvSpPr>
          <p:nvPr/>
        </p:nvSpPr>
        <p:spPr bwMode="auto">
          <a:xfrm>
            <a:off x="8101013" y="3671888"/>
            <a:ext cx="1587"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4" name="Line 232">
            <a:extLst>
              <a:ext uri="{FF2B5EF4-FFF2-40B4-BE49-F238E27FC236}">
                <a16:creationId xmlns:a16="http://schemas.microsoft.com/office/drawing/2014/main" id="{D55E5256-94DA-8925-38A0-6AF962D40867}"/>
              </a:ext>
            </a:extLst>
          </p:cNvPr>
          <p:cNvSpPr>
            <a:spLocks noChangeShapeType="1"/>
          </p:cNvSpPr>
          <p:nvPr/>
        </p:nvSpPr>
        <p:spPr bwMode="auto">
          <a:xfrm>
            <a:off x="8778875" y="3671888"/>
            <a:ext cx="1588"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5" name="Line 233">
            <a:extLst>
              <a:ext uri="{FF2B5EF4-FFF2-40B4-BE49-F238E27FC236}">
                <a16:creationId xmlns:a16="http://schemas.microsoft.com/office/drawing/2014/main" id="{06308C45-EA9E-6E7B-1357-84DD849F5D96}"/>
              </a:ext>
            </a:extLst>
          </p:cNvPr>
          <p:cNvSpPr>
            <a:spLocks noChangeShapeType="1"/>
          </p:cNvSpPr>
          <p:nvPr/>
        </p:nvSpPr>
        <p:spPr bwMode="auto">
          <a:xfrm flipV="1">
            <a:off x="8778875" y="2871788"/>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6" name="Line 234">
            <a:extLst>
              <a:ext uri="{FF2B5EF4-FFF2-40B4-BE49-F238E27FC236}">
                <a16:creationId xmlns:a16="http://schemas.microsoft.com/office/drawing/2014/main" id="{945EAF08-E1E7-5197-D903-C7118AD5AB57}"/>
              </a:ext>
            </a:extLst>
          </p:cNvPr>
          <p:cNvSpPr>
            <a:spLocks noChangeShapeType="1"/>
          </p:cNvSpPr>
          <p:nvPr/>
        </p:nvSpPr>
        <p:spPr bwMode="auto">
          <a:xfrm flipV="1">
            <a:off x="7874000" y="2871788"/>
            <a:ext cx="893763"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7" name="Line 235">
            <a:extLst>
              <a:ext uri="{FF2B5EF4-FFF2-40B4-BE49-F238E27FC236}">
                <a16:creationId xmlns:a16="http://schemas.microsoft.com/office/drawing/2014/main" id="{FDDA0678-975F-410C-48E4-25BED5607C2B}"/>
              </a:ext>
            </a:extLst>
          </p:cNvPr>
          <p:cNvSpPr>
            <a:spLocks noChangeShapeType="1"/>
          </p:cNvSpPr>
          <p:nvPr/>
        </p:nvSpPr>
        <p:spPr bwMode="auto">
          <a:xfrm>
            <a:off x="7197725" y="3008313"/>
            <a:ext cx="1581150" cy="158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8" name="Line 236">
            <a:extLst>
              <a:ext uri="{FF2B5EF4-FFF2-40B4-BE49-F238E27FC236}">
                <a16:creationId xmlns:a16="http://schemas.microsoft.com/office/drawing/2014/main" id="{D3EE9EF5-F227-D8C3-E73C-763585C2C532}"/>
              </a:ext>
            </a:extLst>
          </p:cNvPr>
          <p:cNvSpPr>
            <a:spLocks noChangeShapeType="1"/>
          </p:cNvSpPr>
          <p:nvPr/>
        </p:nvSpPr>
        <p:spPr bwMode="auto">
          <a:xfrm>
            <a:off x="7197725" y="2986088"/>
            <a:ext cx="1588"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09" name="Line 237">
            <a:extLst>
              <a:ext uri="{FF2B5EF4-FFF2-40B4-BE49-F238E27FC236}">
                <a16:creationId xmlns:a16="http://schemas.microsoft.com/office/drawing/2014/main" id="{F2617FAD-EC8D-E46E-DA68-3E9C506B291D}"/>
              </a:ext>
            </a:extLst>
          </p:cNvPr>
          <p:cNvSpPr>
            <a:spLocks noChangeShapeType="1"/>
          </p:cNvSpPr>
          <p:nvPr/>
        </p:nvSpPr>
        <p:spPr bwMode="auto">
          <a:xfrm>
            <a:off x="8778875" y="2986088"/>
            <a:ext cx="1588"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0" name="Line 238">
            <a:extLst>
              <a:ext uri="{FF2B5EF4-FFF2-40B4-BE49-F238E27FC236}">
                <a16:creationId xmlns:a16="http://schemas.microsoft.com/office/drawing/2014/main" id="{9BA85333-1D79-07A5-0DC7-183CAEF5D9F5}"/>
              </a:ext>
            </a:extLst>
          </p:cNvPr>
          <p:cNvSpPr>
            <a:spLocks noChangeShapeType="1"/>
          </p:cNvSpPr>
          <p:nvPr/>
        </p:nvSpPr>
        <p:spPr bwMode="auto">
          <a:xfrm flipV="1">
            <a:off x="8778875" y="2185988"/>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1" name="Line 239">
            <a:extLst>
              <a:ext uri="{FF2B5EF4-FFF2-40B4-BE49-F238E27FC236}">
                <a16:creationId xmlns:a16="http://schemas.microsoft.com/office/drawing/2014/main" id="{3C220016-08DD-54C7-7303-EF0061F4C6F5}"/>
              </a:ext>
            </a:extLst>
          </p:cNvPr>
          <p:cNvSpPr>
            <a:spLocks noChangeShapeType="1"/>
          </p:cNvSpPr>
          <p:nvPr/>
        </p:nvSpPr>
        <p:spPr bwMode="auto">
          <a:xfrm flipV="1">
            <a:off x="6970713" y="2185988"/>
            <a:ext cx="1797050"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2" name="Line 240">
            <a:extLst>
              <a:ext uri="{FF2B5EF4-FFF2-40B4-BE49-F238E27FC236}">
                <a16:creationId xmlns:a16="http://schemas.microsoft.com/office/drawing/2014/main" id="{312C7F3A-2BEF-7F13-3553-19313325E715}"/>
              </a:ext>
            </a:extLst>
          </p:cNvPr>
          <p:cNvSpPr>
            <a:spLocks noChangeShapeType="1"/>
          </p:cNvSpPr>
          <p:nvPr/>
        </p:nvSpPr>
        <p:spPr bwMode="auto">
          <a:xfrm>
            <a:off x="5391150" y="2322513"/>
            <a:ext cx="3387725" cy="158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3" name="Line 241">
            <a:extLst>
              <a:ext uri="{FF2B5EF4-FFF2-40B4-BE49-F238E27FC236}">
                <a16:creationId xmlns:a16="http://schemas.microsoft.com/office/drawing/2014/main" id="{63C22255-A726-0C84-CAEE-488F1A2FF2B7}"/>
              </a:ext>
            </a:extLst>
          </p:cNvPr>
          <p:cNvSpPr>
            <a:spLocks noChangeShapeType="1"/>
          </p:cNvSpPr>
          <p:nvPr/>
        </p:nvSpPr>
        <p:spPr bwMode="auto">
          <a:xfrm>
            <a:off x="5391150" y="2300288"/>
            <a:ext cx="1588"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4" name="Line 242">
            <a:extLst>
              <a:ext uri="{FF2B5EF4-FFF2-40B4-BE49-F238E27FC236}">
                <a16:creationId xmlns:a16="http://schemas.microsoft.com/office/drawing/2014/main" id="{EFC03BFD-E5CB-47AB-EB6B-7EE34F045A59}"/>
              </a:ext>
            </a:extLst>
          </p:cNvPr>
          <p:cNvSpPr>
            <a:spLocks noChangeShapeType="1"/>
          </p:cNvSpPr>
          <p:nvPr/>
        </p:nvSpPr>
        <p:spPr bwMode="auto">
          <a:xfrm>
            <a:off x="8778875" y="2300288"/>
            <a:ext cx="1588"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5" name="Line 243">
            <a:extLst>
              <a:ext uri="{FF2B5EF4-FFF2-40B4-BE49-F238E27FC236}">
                <a16:creationId xmlns:a16="http://schemas.microsoft.com/office/drawing/2014/main" id="{3362676C-C23C-EA7D-49FA-F0BA6845D993}"/>
              </a:ext>
            </a:extLst>
          </p:cNvPr>
          <p:cNvSpPr>
            <a:spLocks noChangeShapeType="1"/>
          </p:cNvSpPr>
          <p:nvPr/>
        </p:nvSpPr>
        <p:spPr bwMode="auto">
          <a:xfrm flipV="1">
            <a:off x="8778875" y="1500188"/>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6" name="Line 244">
            <a:extLst>
              <a:ext uri="{FF2B5EF4-FFF2-40B4-BE49-F238E27FC236}">
                <a16:creationId xmlns:a16="http://schemas.microsoft.com/office/drawing/2014/main" id="{5D5285A0-5524-579C-4CEE-AC293C18E108}"/>
              </a:ext>
            </a:extLst>
          </p:cNvPr>
          <p:cNvSpPr>
            <a:spLocks noChangeShapeType="1"/>
          </p:cNvSpPr>
          <p:nvPr/>
        </p:nvSpPr>
        <p:spPr bwMode="auto">
          <a:xfrm flipV="1">
            <a:off x="5164138" y="1500188"/>
            <a:ext cx="3603625"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7" name="Line 245">
            <a:extLst>
              <a:ext uri="{FF2B5EF4-FFF2-40B4-BE49-F238E27FC236}">
                <a16:creationId xmlns:a16="http://schemas.microsoft.com/office/drawing/2014/main" id="{CAF5281E-089D-E1B3-83B4-B82ADD3834C8}"/>
              </a:ext>
            </a:extLst>
          </p:cNvPr>
          <p:cNvSpPr>
            <a:spLocks noChangeShapeType="1"/>
          </p:cNvSpPr>
          <p:nvPr/>
        </p:nvSpPr>
        <p:spPr bwMode="auto">
          <a:xfrm>
            <a:off x="1778000" y="1636713"/>
            <a:ext cx="7000875" cy="158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8" name="Line 246">
            <a:extLst>
              <a:ext uri="{FF2B5EF4-FFF2-40B4-BE49-F238E27FC236}">
                <a16:creationId xmlns:a16="http://schemas.microsoft.com/office/drawing/2014/main" id="{0DBAF1E3-8C43-079E-F5AA-F47FF2A711EE}"/>
              </a:ext>
            </a:extLst>
          </p:cNvPr>
          <p:cNvSpPr>
            <a:spLocks noChangeShapeType="1"/>
          </p:cNvSpPr>
          <p:nvPr/>
        </p:nvSpPr>
        <p:spPr bwMode="auto">
          <a:xfrm>
            <a:off x="1778000" y="1614488"/>
            <a:ext cx="1588"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19" name="Line 247">
            <a:extLst>
              <a:ext uri="{FF2B5EF4-FFF2-40B4-BE49-F238E27FC236}">
                <a16:creationId xmlns:a16="http://schemas.microsoft.com/office/drawing/2014/main" id="{D89060AE-AA40-32C3-B9FA-44E7B1E59AA5}"/>
              </a:ext>
            </a:extLst>
          </p:cNvPr>
          <p:cNvSpPr>
            <a:spLocks noChangeShapeType="1"/>
          </p:cNvSpPr>
          <p:nvPr/>
        </p:nvSpPr>
        <p:spPr bwMode="auto">
          <a:xfrm>
            <a:off x="8778875" y="1614488"/>
            <a:ext cx="1588" cy="46037"/>
          </a:xfrm>
          <a:prstGeom prst="line">
            <a:avLst/>
          </a:prstGeom>
          <a:noFill/>
          <a:ln w="14040" cap="flat">
            <a:solidFill>
              <a:srgbClr val="84CC1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20" name="Oval 248">
            <a:extLst>
              <a:ext uri="{FF2B5EF4-FFF2-40B4-BE49-F238E27FC236}">
                <a16:creationId xmlns:a16="http://schemas.microsoft.com/office/drawing/2014/main" id="{15096CD0-1593-0886-6D82-B422195F5F62}"/>
              </a:ext>
            </a:extLst>
          </p:cNvPr>
          <p:cNvSpPr>
            <a:spLocks noChangeArrowheads="1"/>
          </p:cNvSpPr>
          <p:nvPr/>
        </p:nvSpPr>
        <p:spPr bwMode="auto">
          <a:xfrm>
            <a:off x="8696325" y="4810125"/>
            <a:ext cx="163513" cy="163513"/>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21" name="Oval 249">
            <a:extLst>
              <a:ext uri="{FF2B5EF4-FFF2-40B4-BE49-F238E27FC236}">
                <a16:creationId xmlns:a16="http://schemas.microsoft.com/office/drawing/2014/main" id="{D81CEC06-7C98-6898-DD0D-53AAF08C2E46}"/>
              </a:ext>
            </a:extLst>
          </p:cNvPr>
          <p:cNvSpPr>
            <a:spLocks noChangeArrowheads="1"/>
          </p:cNvSpPr>
          <p:nvPr/>
        </p:nvSpPr>
        <p:spPr bwMode="auto">
          <a:xfrm>
            <a:off x="8469313" y="4810125"/>
            <a:ext cx="163512" cy="163513"/>
          </a:xfrm>
          <a:prstGeom prst="ellipse">
            <a:avLst/>
          </a:prstGeom>
          <a:solidFill>
            <a:srgbClr val="F59E0B"/>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22" name="Oval 250">
            <a:extLst>
              <a:ext uri="{FF2B5EF4-FFF2-40B4-BE49-F238E27FC236}">
                <a16:creationId xmlns:a16="http://schemas.microsoft.com/office/drawing/2014/main" id="{F5EF28CB-6C3C-02C1-F79A-908F253ABBA5}"/>
              </a:ext>
            </a:extLst>
          </p:cNvPr>
          <p:cNvSpPr>
            <a:spLocks noChangeArrowheads="1"/>
          </p:cNvSpPr>
          <p:nvPr/>
        </p:nvSpPr>
        <p:spPr bwMode="auto">
          <a:xfrm>
            <a:off x="8691563" y="4119563"/>
            <a:ext cx="173037" cy="173037"/>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23" name="Oval 251">
            <a:extLst>
              <a:ext uri="{FF2B5EF4-FFF2-40B4-BE49-F238E27FC236}">
                <a16:creationId xmlns:a16="http://schemas.microsoft.com/office/drawing/2014/main" id="{CAB41082-3DEE-DBE6-BD37-945DFEF02E4F}"/>
              </a:ext>
            </a:extLst>
          </p:cNvPr>
          <p:cNvSpPr>
            <a:spLocks noChangeArrowheads="1"/>
          </p:cNvSpPr>
          <p:nvPr/>
        </p:nvSpPr>
        <p:spPr bwMode="auto">
          <a:xfrm>
            <a:off x="8696325" y="4124325"/>
            <a:ext cx="163513" cy="163513"/>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24" name="Oval 252">
            <a:extLst>
              <a:ext uri="{FF2B5EF4-FFF2-40B4-BE49-F238E27FC236}">
                <a16:creationId xmlns:a16="http://schemas.microsoft.com/office/drawing/2014/main" id="{F3EF0D45-BC05-6BA3-ECEB-46104D3EF2EB}"/>
              </a:ext>
            </a:extLst>
          </p:cNvPr>
          <p:cNvSpPr>
            <a:spLocks noChangeArrowheads="1"/>
          </p:cNvSpPr>
          <p:nvPr/>
        </p:nvSpPr>
        <p:spPr bwMode="auto">
          <a:xfrm>
            <a:off x="8243888" y="4124325"/>
            <a:ext cx="163512" cy="163513"/>
          </a:xfrm>
          <a:prstGeom prst="ellipse">
            <a:avLst/>
          </a:prstGeom>
          <a:solidFill>
            <a:srgbClr val="7C3AED"/>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25" name="Oval 253">
            <a:extLst>
              <a:ext uri="{FF2B5EF4-FFF2-40B4-BE49-F238E27FC236}">
                <a16:creationId xmlns:a16="http://schemas.microsoft.com/office/drawing/2014/main" id="{4FBB08AD-E37E-E2FD-2EDC-BF6218CBE41D}"/>
              </a:ext>
            </a:extLst>
          </p:cNvPr>
          <p:cNvSpPr>
            <a:spLocks noChangeArrowheads="1"/>
          </p:cNvSpPr>
          <p:nvPr/>
        </p:nvSpPr>
        <p:spPr bwMode="auto">
          <a:xfrm>
            <a:off x="8691563" y="3433763"/>
            <a:ext cx="173037" cy="173037"/>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26" name="Oval 254">
            <a:extLst>
              <a:ext uri="{FF2B5EF4-FFF2-40B4-BE49-F238E27FC236}">
                <a16:creationId xmlns:a16="http://schemas.microsoft.com/office/drawing/2014/main" id="{E0E9ABB5-A37E-A2A0-10D6-E7B613203474}"/>
              </a:ext>
            </a:extLst>
          </p:cNvPr>
          <p:cNvSpPr>
            <a:spLocks noChangeArrowheads="1"/>
          </p:cNvSpPr>
          <p:nvPr/>
        </p:nvSpPr>
        <p:spPr bwMode="auto">
          <a:xfrm>
            <a:off x="8696325" y="3438525"/>
            <a:ext cx="163513" cy="163513"/>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27" name="Oval 255">
            <a:extLst>
              <a:ext uri="{FF2B5EF4-FFF2-40B4-BE49-F238E27FC236}">
                <a16:creationId xmlns:a16="http://schemas.microsoft.com/office/drawing/2014/main" id="{6CAA99DC-63A7-8B47-38F6-D28D64DCF33D}"/>
              </a:ext>
            </a:extLst>
          </p:cNvPr>
          <p:cNvSpPr>
            <a:spLocks noChangeArrowheads="1"/>
          </p:cNvSpPr>
          <p:nvPr/>
        </p:nvSpPr>
        <p:spPr bwMode="auto">
          <a:xfrm>
            <a:off x="7793038" y="3438525"/>
            <a:ext cx="163512" cy="163513"/>
          </a:xfrm>
          <a:prstGeom prst="ellipse">
            <a:avLst/>
          </a:prstGeom>
          <a:solidFill>
            <a:srgbClr val="F59E0B"/>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28" name="Oval 256">
            <a:extLst>
              <a:ext uri="{FF2B5EF4-FFF2-40B4-BE49-F238E27FC236}">
                <a16:creationId xmlns:a16="http://schemas.microsoft.com/office/drawing/2014/main" id="{1C4ACEF9-9DDB-07E4-A171-AC8F2EB393AD}"/>
              </a:ext>
            </a:extLst>
          </p:cNvPr>
          <p:cNvSpPr>
            <a:spLocks noChangeArrowheads="1"/>
          </p:cNvSpPr>
          <p:nvPr/>
        </p:nvSpPr>
        <p:spPr bwMode="auto">
          <a:xfrm>
            <a:off x="8691563" y="2747963"/>
            <a:ext cx="173037" cy="173037"/>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29" name="Oval 257">
            <a:extLst>
              <a:ext uri="{FF2B5EF4-FFF2-40B4-BE49-F238E27FC236}">
                <a16:creationId xmlns:a16="http://schemas.microsoft.com/office/drawing/2014/main" id="{E5392164-D916-4289-3DCE-8069F4122206}"/>
              </a:ext>
            </a:extLst>
          </p:cNvPr>
          <p:cNvSpPr>
            <a:spLocks noChangeArrowheads="1"/>
          </p:cNvSpPr>
          <p:nvPr/>
        </p:nvSpPr>
        <p:spPr bwMode="auto">
          <a:xfrm>
            <a:off x="8696325" y="2752725"/>
            <a:ext cx="163513" cy="163513"/>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30" name="Oval 258">
            <a:extLst>
              <a:ext uri="{FF2B5EF4-FFF2-40B4-BE49-F238E27FC236}">
                <a16:creationId xmlns:a16="http://schemas.microsoft.com/office/drawing/2014/main" id="{7DB797A7-6757-4F6C-D5EC-7523EDA095F2}"/>
              </a:ext>
            </a:extLst>
          </p:cNvPr>
          <p:cNvSpPr>
            <a:spLocks noChangeArrowheads="1"/>
          </p:cNvSpPr>
          <p:nvPr/>
        </p:nvSpPr>
        <p:spPr bwMode="auto">
          <a:xfrm>
            <a:off x="6889750" y="2752725"/>
            <a:ext cx="163513" cy="163513"/>
          </a:xfrm>
          <a:prstGeom prst="ellipse">
            <a:avLst/>
          </a:prstGeom>
          <a:solidFill>
            <a:srgbClr val="7C3AED"/>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31" name="Oval 259">
            <a:extLst>
              <a:ext uri="{FF2B5EF4-FFF2-40B4-BE49-F238E27FC236}">
                <a16:creationId xmlns:a16="http://schemas.microsoft.com/office/drawing/2014/main" id="{ED57B013-CEEA-BE96-B8AD-4FD408865D20}"/>
              </a:ext>
            </a:extLst>
          </p:cNvPr>
          <p:cNvSpPr>
            <a:spLocks noChangeArrowheads="1"/>
          </p:cNvSpPr>
          <p:nvPr/>
        </p:nvSpPr>
        <p:spPr bwMode="auto">
          <a:xfrm>
            <a:off x="8691563" y="2062163"/>
            <a:ext cx="173037" cy="173037"/>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32" name="Oval 260">
            <a:extLst>
              <a:ext uri="{FF2B5EF4-FFF2-40B4-BE49-F238E27FC236}">
                <a16:creationId xmlns:a16="http://schemas.microsoft.com/office/drawing/2014/main" id="{4AADCEE9-7796-8291-A595-AE8EB90D5966}"/>
              </a:ext>
            </a:extLst>
          </p:cNvPr>
          <p:cNvSpPr>
            <a:spLocks noChangeArrowheads="1"/>
          </p:cNvSpPr>
          <p:nvPr/>
        </p:nvSpPr>
        <p:spPr bwMode="auto">
          <a:xfrm>
            <a:off x="8696325" y="2066925"/>
            <a:ext cx="163513" cy="163513"/>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33" name="Oval 261">
            <a:extLst>
              <a:ext uri="{FF2B5EF4-FFF2-40B4-BE49-F238E27FC236}">
                <a16:creationId xmlns:a16="http://schemas.microsoft.com/office/drawing/2014/main" id="{D3F33DEE-237D-1BA7-7A7A-5F20E15A2051}"/>
              </a:ext>
            </a:extLst>
          </p:cNvPr>
          <p:cNvSpPr>
            <a:spLocks noChangeArrowheads="1"/>
          </p:cNvSpPr>
          <p:nvPr/>
        </p:nvSpPr>
        <p:spPr bwMode="auto">
          <a:xfrm>
            <a:off x="5083175" y="2066925"/>
            <a:ext cx="163513" cy="163513"/>
          </a:xfrm>
          <a:prstGeom prst="ellipse">
            <a:avLst/>
          </a:prstGeom>
          <a:solidFill>
            <a:srgbClr val="F59E0B"/>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34" name="Oval 262">
            <a:extLst>
              <a:ext uri="{FF2B5EF4-FFF2-40B4-BE49-F238E27FC236}">
                <a16:creationId xmlns:a16="http://schemas.microsoft.com/office/drawing/2014/main" id="{344B72B4-4D1A-FF08-96A2-76BD2E75E1CE}"/>
              </a:ext>
            </a:extLst>
          </p:cNvPr>
          <p:cNvSpPr>
            <a:spLocks noChangeArrowheads="1"/>
          </p:cNvSpPr>
          <p:nvPr/>
        </p:nvSpPr>
        <p:spPr bwMode="auto">
          <a:xfrm>
            <a:off x="8691563" y="1376363"/>
            <a:ext cx="173037" cy="173037"/>
          </a:xfrm>
          <a:prstGeom prst="ellipse">
            <a:avLst/>
          </a:prstGeom>
          <a:solidFill>
            <a:srgbClr val="84CC16"/>
          </a:solidFill>
          <a:ln w="5040" cap="flat">
            <a:solidFill>
              <a:srgbClr val="FFFFFF"/>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35" name="AutoShape 263">
            <a:extLst>
              <a:ext uri="{FF2B5EF4-FFF2-40B4-BE49-F238E27FC236}">
                <a16:creationId xmlns:a16="http://schemas.microsoft.com/office/drawing/2014/main" id="{1BA4E030-7F0E-FEE9-0235-AC2A50272E61}"/>
              </a:ext>
            </a:extLst>
          </p:cNvPr>
          <p:cNvSpPr>
            <a:spLocks noChangeArrowheads="1"/>
          </p:cNvSpPr>
          <p:nvPr/>
        </p:nvSpPr>
        <p:spPr bwMode="auto">
          <a:xfrm>
            <a:off x="9190038" y="1189038"/>
            <a:ext cx="2239962" cy="4224337"/>
          </a:xfrm>
          <a:prstGeom prst="roundRect">
            <a:avLst>
              <a:gd name="adj" fmla="val 3264"/>
            </a:avLst>
          </a:prstGeom>
          <a:solidFill>
            <a:srgbClr val="FFFFFF"/>
          </a:solidFill>
          <a:ln w="11520" cap="flat">
            <a:solidFill>
              <a:srgbClr val="D1D5DB"/>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36" name="Rectangle 264">
            <a:extLst>
              <a:ext uri="{FF2B5EF4-FFF2-40B4-BE49-F238E27FC236}">
                <a16:creationId xmlns:a16="http://schemas.microsoft.com/office/drawing/2014/main" id="{B602B3FB-2D3A-7003-6D82-8A4EFF52D2D1}"/>
              </a:ext>
            </a:extLst>
          </p:cNvPr>
          <p:cNvSpPr>
            <a:spLocks noChangeArrowheads="1"/>
          </p:cNvSpPr>
          <p:nvPr/>
        </p:nvSpPr>
        <p:spPr bwMode="auto">
          <a:xfrm>
            <a:off x="9190038" y="1189038"/>
            <a:ext cx="73025" cy="4224337"/>
          </a:xfrm>
          <a:prstGeom prst="rect">
            <a:avLst/>
          </a:prstGeom>
          <a:solidFill>
            <a:srgbClr val="84CC16"/>
          </a:solidFill>
          <a:ln w="12600" cap="flat">
            <a:solidFill>
              <a:srgbClr val="84CC16">
                <a:alpha val="0"/>
              </a:srgbClr>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37" name="Rectangle 265">
            <a:extLst>
              <a:ext uri="{FF2B5EF4-FFF2-40B4-BE49-F238E27FC236}">
                <a16:creationId xmlns:a16="http://schemas.microsoft.com/office/drawing/2014/main" id="{F53C95C7-2F48-428A-9C26-4B554286E149}"/>
              </a:ext>
            </a:extLst>
          </p:cNvPr>
          <p:cNvSpPr>
            <a:spLocks noChangeArrowheads="1"/>
          </p:cNvSpPr>
          <p:nvPr/>
        </p:nvSpPr>
        <p:spPr bwMode="auto">
          <a:xfrm>
            <a:off x="9363075" y="1352550"/>
            <a:ext cx="1782763" cy="182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1200" b="1" dirty="0">
                <a:solidFill>
                  <a:srgbClr val="111827"/>
                </a:solidFill>
                <a:latin typeface="Aptos" panose="020B0004020202020204" pitchFamily="34" charset="0"/>
              </a:rPr>
              <a:t>Note</a:t>
            </a:r>
          </a:p>
        </p:txBody>
      </p:sp>
      <p:sp>
        <p:nvSpPr>
          <p:cNvPr id="3338" name="Rectangle 266">
            <a:extLst>
              <a:ext uri="{FF2B5EF4-FFF2-40B4-BE49-F238E27FC236}">
                <a16:creationId xmlns:a16="http://schemas.microsoft.com/office/drawing/2014/main" id="{E11FC509-88A3-6CF4-C6EC-D2A1E50D9CB4}"/>
              </a:ext>
            </a:extLst>
          </p:cNvPr>
          <p:cNvSpPr>
            <a:spLocks noChangeArrowheads="1"/>
          </p:cNvSpPr>
          <p:nvPr/>
        </p:nvSpPr>
        <p:spPr bwMode="auto">
          <a:xfrm>
            <a:off x="9363075" y="1719263"/>
            <a:ext cx="1874838" cy="914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 tIns="360" rIns="360" bIns="360" anchor="ctr"/>
          <a:lstStyle>
            <a:lvl1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1000" dirty="0">
                <a:solidFill>
                  <a:srgbClr val="475569"/>
                </a:solidFill>
                <a:latin typeface="Aptos" panose="020B0004020202020204" pitchFamily="34" charset="0"/>
              </a:rPr>
              <a:t>• each output at t uses only t and earlier positions</a:t>
            </a:r>
          </a:p>
          <a:p>
            <a:pPr hangingPunct="1">
              <a:lnSpc>
                <a:spcPct val="100000"/>
              </a:lnSpc>
            </a:pPr>
            <a:r>
              <a:rPr lang="en-US" altLang="en-US" sz="1000" b="1" dirty="0">
                <a:solidFill>
                  <a:srgbClr val="475569"/>
                </a:solidFill>
                <a:latin typeface="Aptos" panose="020B0004020202020204" pitchFamily="34" charset="0"/>
              </a:rPr>
              <a:t>• each layer samples the previous layer at t and t−d</a:t>
            </a:r>
          </a:p>
        </p:txBody>
      </p:sp>
      <p:sp>
        <p:nvSpPr>
          <p:cNvPr id="3339" name="Rectangle 267">
            <a:extLst>
              <a:ext uri="{FF2B5EF4-FFF2-40B4-BE49-F238E27FC236}">
                <a16:creationId xmlns:a16="http://schemas.microsoft.com/office/drawing/2014/main" id="{ABC342D9-B47C-A1D1-6C24-B448D88AA42C}"/>
              </a:ext>
            </a:extLst>
          </p:cNvPr>
          <p:cNvSpPr>
            <a:spLocks noChangeArrowheads="1"/>
          </p:cNvSpPr>
          <p:nvPr/>
        </p:nvSpPr>
        <p:spPr bwMode="auto">
          <a:xfrm>
            <a:off x="9363075" y="2871788"/>
            <a:ext cx="1828800" cy="182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1200" b="1">
                <a:solidFill>
                  <a:srgbClr val="111827"/>
                </a:solidFill>
                <a:latin typeface="Aptos" panose="020B0004020202020204" pitchFamily="34" charset="0"/>
              </a:rPr>
              <a:t>Cumulative receptive field</a:t>
            </a:r>
          </a:p>
        </p:txBody>
      </p:sp>
      <p:sp>
        <p:nvSpPr>
          <p:cNvPr id="3340" name="Rectangle 268">
            <a:extLst>
              <a:ext uri="{FF2B5EF4-FFF2-40B4-BE49-F238E27FC236}">
                <a16:creationId xmlns:a16="http://schemas.microsoft.com/office/drawing/2014/main" id="{8AD0B90D-62FE-0292-5BD3-C5B78955AE01}"/>
              </a:ext>
            </a:extLst>
          </p:cNvPr>
          <p:cNvSpPr>
            <a:spLocks noChangeArrowheads="1"/>
          </p:cNvSpPr>
          <p:nvPr/>
        </p:nvSpPr>
        <p:spPr bwMode="auto">
          <a:xfrm>
            <a:off x="9509125" y="3181350"/>
            <a:ext cx="1462088" cy="8223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1000">
                <a:solidFill>
                  <a:srgbClr val="111827"/>
                </a:solidFill>
                <a:latin typeface="Aptos Mono" panose="020B0009020202020204" pitchFamily="49" charset="0"/>
              </a:rPr>
              <a:t>after d=1:    2</a:t>
            </a:r>
          </a:p>
          <a:p>
            <a:pPr hangingPunct="1">
              <a:lnSpc>
                <a:spcPct val="100000"/>
              </a:lnSpc>
            </a:pPr>
            <a:r>
              <a:rPr lang="en-US" altLang="en-US" sz="1000">
                <a:solidFill>
                  <a:srgbClr val="111827"/>
                </a:solidFill>
                <a:latin typeface="Aptos Mono" panose="020B0009020202020204" pitchFamily="49" charset="0"/>
              </a:rPr>
              <a:t>after d=2:    4</a:t>
            </a:r>
          </a:p>
          <a:p>
            <a:pPr hangingPunct="1">
              <a:lnSpc>
                <a:spcPct val="100000"/>
              </a:lnSpc>
            </a:pPr>
            <a:r>
              <a:rPr lang="en-US" altLang="en-US" sz="1000">
                <a:solidFill>
                  <a:srgbClr val="111827"/>
                </a:solidFill>
                <a:latin typeface="Aptos Mono" panose="020B0009020202020204" pitchFamily="49" charset="0"/>
              </a:rPr>
              <a:t>after d=4:    8</a:t>
            </a:r>
          </a:p>
          <a:p>
            <a:pPr hangingPunct="1">
              <a:lnSpc>
                <a:spcPct val="100000"/>
              </a:lnSpc>
            </a:pPr>
            <a:r>
              <a:rPr lang="en-US" altLang="en-US" sz="1000">
                <a:solidFill>
                  <a:srgbClr val="111827"/>
                </a:solidFill>
                <a:latin typeface="Aptos Mono" panose="020B0009020202020204" pitchFamily="49" charset="0"/>
              </a:rPr>
              <a:t>after d=8:   16</a:t>
            </a:r>
          </a:p>
          <a:p>
            <a:pPr hangingPunct="1">
              <a:lnSpc>
                <a:spcPct val="100000"/>
              </a:lnSpc>
            </a:pPr>
            <a:r>
              <a:rPr lang="en-US" altLang="en-US" sz="1000">
                <a:solidFill>
                  <a:srgbClr val="111827"/>
                </a:solidFill>
                <a:latin typeface="Aptos Mono" panose="020B0009020202020204" pitchFamily="49" charset="0"/>
              </a:rPr>
              <a:t>after d=16:  32</a:t>
            </a:r>
          </a:p>
        </p:txBody>
      </p:sp>
      <p:sp>
        <p:nvSpPr>
          <p:cNvPr id="3341" name="AutoShape 269">
            <a:extLst>
              <a:ext uri="{FF2B5EF4-FFF2-40B4-BE49-F238E27FC236}">
                <a16:creationId xmlns:a16="http://schemas.microsoft.com/office/drawing/2014/main" id="{17E848F0-A720-C13C-BFC4-6DFD446A0A4F}"/>
              </a:ext>
            </a:extLst>
          </p:cNvPr>
          <p:cNvSpPr>
            <a:spLocks noChangeArrowheads="1"/>
          </p:cNvSpPr>
          <p:nvPr/>
        </p:nvSpPr>
        <p:spPr bwMode="auto">
          <a:xfrm>
            <a:off x="9418638" y="4406900"/>
            <a:ext cx="1719262" cy="503238"/>
          </a:xfrm>
          <a:prstGeom prst="roundRect">
            <a:avLst>
              <a:gd name="adj" fmla="val 10907"/>
            </a:avLst>
          </a:prstGeom>
          <a:solidFill>
            <a:srgbClr val="ECFCCB"/>
          </a:solidFill>
          <a:ln w="12600" cap="flat">
            <a:solidFill>
              <a:srgbClr val="84CC16"/>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42" name="Rectangle 270">
            <a:extLst>
              <a:ext uri="{FF2B5EF4-FFF2-40B4-BE49-F238E27FC236}">
                <a16:creationId xmlns:a16="http://schemas.microsoft.com/office/drawing/2014/main" id="{FA4315BE-4B5C-DFF8-4DA4-48CE04BCC378}"/>
              </a:ext>
            </a:extLst>
          </p:cNvPr>
          <p:cNvSpPr>
            <a:spLocks noChangeArrowheads="1"/>
          </p:cNvSpPr>
          <p:nvPr/>
        </p:nvSpPr>
        <p:spPr bwMode="auto">
          <a:xfrm>
            <a:off x="9564688" y="4498975"/>
            <a:ext cx="1417637" cy="292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9pPr>
          </a:lstStyle>
          <a:p>
            <a:pPr algn="ctr" hangingPunct="1">
              <a:lnSpc>
                <a:spcPct val="100000"/>
              </a:lnSpc>
            </a:pPr>
            <a:r>
              <a:rPr lang="en-US" altLang="en-US" sz="1000" b="1">
                <a:solidFill>
                  <a:srgbClr val="3F7D20"/>
                </a:solidFill>
                <a:latin typeface="Aptos" panose="020B0004020202020204" pitchFamily="34" charset="0"/>
              </a:rPr>
              <a:t>Left causal padding</a:t>
            </a:r>
          </a:p>
          <a:p>
            <a:pPr algn="ctr" hangingPunct="1">
              <a:lnSpc>
                <a:spcPct val="100000"/>
              </a:lnSpc>
            </a:pPr>
            <a:r>
              <a:rPr lang="en-US" altLang="en-US" sz="1000" b="1">
                <a:solidFill>
                  <a:srgbClr val="3F7D20"/>
                </a:solidFill>
                <a:latin typeface="Aptos" panose="020B0004020202020204" pitchFamily="34" charset="0"/>
              </a:rPr>
              <a:t>preserves alignment</a:t>
            </a:r>
          </a:p>
        </p:txBody>
      </p:sp>
      <p:sp>
        <p:nvSpPr>
          <p:cNvPr id="3343" name="AutoShape 271">
            <a:extLst>
              <a:ext uri="{FF2B5EF4-FFF2-40B4-BE49-F238E27FC236}">
                <a16:creationId xmlns:a16="http://schemas.microsoft.com/office/drawing/2014/main" id="{137F0AD1-857B-8FC3-2E3B-0AB86EEFFCC9}"/>
              </a:ext>
            </a:extLst>
          </p:cNvPr>
          <p:cNvSpPr>
            <a:spLocks noChangeArrowheads="1"/>
          </p:cNvSpPr>
          <p:nvPr/>
        </p:nvSpPr>
        <p:spPr bwMode="auto">
          <a:xfrm>
            <a:off x="914400" y="5741988"/>
            <a:ext cx="2011363" cy="401637"/>
          </a:xfrm>
          <a:prstGeom prst="roundRect">
            <a:avLst>
              <a:gd name="adj" fmla="val 13634"/>
            </a:avLst>
          </a:prstGeom>
          <a:solidFill>
            <a:srgbClr val="DBEAFE"/>
          </a:solidFill>
          <a:ln w="12600" cap="flat">
            <a:solidFill>
              <a:srgbClr val="2563EB"/>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44" name="Rectangle 272">
            <a:extLst>
              <a:ext uri="{FF2B5EF4-FFF2-40B4-BE49-F238E27FC236}">
                <a16:creationId xmlns:a16="http://schemas.microsoft.com/office/drawing/2014/main" id="{E491F088-38CF-8527-A146-1CE560F533DC}"/>
              </a:ext>
            </a:extLst>
          </p:cNvPr>
          <p:cNvSpPr>
            <a:spLocks noChangeArrowheads="1"/>
          </p:cNvSpPr>
          <p:nvPr/>
        </p:nvSpPr>
        <p:spPr bwMode="auto">
          <a:xfrm>
            <a:off x="1206500" y="5851525"/>
            <a:ext cx="1417638" cy="1285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Lst>
              <a:defRPr>
                <a:solidFill>
                  <a:srgbClr val="000000"/>
                </a:solidFill>
                <a:latin typeface="Arial" panose="020B0604020202020204" pitchFamily="34" charset="0"/>
                <a:ea typeface="Microsoft YaHei" panose="020B0503020204020204" pitchFamily="34" charset="-122"/>
              </a:defRPr>
            </a:lvl9pPr>
          </a:lstStyle>
          <a:p>
            <a:pPr algn="ctr" hangingPunct="1">
              <a:lnSpc>
                <a:spcPct val="100000"/>
              </a:lnSpc>
            </a:pPr>
            <a:r>
              <a:rPr lang="en-US" altLang="en-US" sz="1000" b="1">
                <a:solidFill>
                  <a:srgbClr val="111827"/>
                </a:solidFill>
                <a:latin typeface="Aptos" panose="020B0004020202020204" pitchFamily="34" charset="0"/>
              </a:rPr>
              <a:t>small kernels</a:t>
            </a:r>
          </a:p>
        </p:txBody>
      </p:sp>
      <p:sp>
        <p:nvSpPr>
          <p:cNvPr id="3346" name="AutoShape 274">
            <a:extLst>
              <a:ext uri="{FF2B5EF4-FFF2-40B4-BE49-F238E27FC236}">
                <a16:creationId xmlns:a16="http://schemas.microsoft.com/office/drawing/2014/main" id="{06B6B346-751F-181B-5078-E5A3C7EF29C2}"/>
              </a:ext>
            </a:extLst>
          </p:cNvPr>
          <p:cNvSpPr>
            <a:spLocks noChangeArrowheads="1"/>
          </p:cNvSpPr>
          <p:nvPr/>
        </p:nvSpPr>
        <p:spPr bwMode="auto">
          <a:xfrm>
            <a:off x="3949700" y="5632450"/>
            <a:ext cx="2303463" cy="612775"/>
          </a:xfrm>
          <a:prstGeom prst="roundRect">
            <a:avLst>
              <a:gd name="adj" fmla="val 8954"/>
            </a:avLst>
          </a:prstGeom>
          <a:solidFill>
            <a:srgbClr val="ECFCCB"/>
          </a:solidFill>
          <a:ln w="12600" cap="flat">
            <a:solidFill>
              <a:srgbClr val="84CC16"/>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47" name="Rectangle 275">
            <a:extLst>
              <a:ext uri="{FF2B5EF4-FFF2-40B4-BE49-F238E27FC236}">
                <a16:creationId xmlns:a16="http://schemas.microsoft.com/office/drawing/2014/main" id="{B943D62E-4290-42C0-3353-3476061017C0}"/>
              </a:ext>
            </a:extLst>
          </p:cNvPr>
          <p:cNvSpPr>
            <a:spLocks noChangeArrowheads="1"/>
          </p:cNvSpPr>
          <p:nvPr/>
        </p:nvSpPr>
        <p:spPr bwMode="auto">
          <a:xfrm>
            <a:off x="4160838" y="5761038"/>
            <a:ext cx="1901825" cy="3111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9pPr>
          </a:lstStyle>
          <a:p>
            <a:pPr algn="ctr" hangingPunct="1">
              <a:lnSpc>
                <a:spcPct val="100000"/>
              </a:lnSpc>
            </a:pPr>
            <a:r>
              <a:rPr lang="en-US" altLang="en-US" sz="1000" b="1">
                <a:solidFill>
                  <a:srgbClr val="111827"/>
                </a:solidFill>
                <a:latin typeface="Aptos" panose="020B0004020202020204" pitchFamily="34" charset="0"/>
              </a:rPr>
              <a:t>exponentially growing</a:t>
            </a:r>
          </a:p>
          <a:p>
            <a:pPr algn="ctr" hangingPunct="1">
              <a:lnSpc>
                <a:spcPct val="100000"/>
              </a:lnSpc>
            </a:pPr>
            <a:r>
              <a:rPr lang="en-US" altLang="en-US" sz="1000" b="1">
                <a:solidFill>
                  <a:srgbClr val="111827"/>
                </a:solidFill>
                <a:latin typeface="Aptos" panose="020B0004020202020204" pitchFamily="34" charset="0"/>
              </a:rPr>
              <a:t>past context</a:t>
            </a:r>
          </a:p>
        </p:txBody>
      </p:sp>
      <p:sp>
        <p:nvSpPr>
          <p:cNvPr id="3349" name="AutoShape 277">
            <a:extLst>
              <a:ext uri="{FF2B5EF4-FFF2-40B4-BE49-F238E27FC236}">
                <a16:creationId xmlns:a16="http://schemas.microsoft.com/office/drawing/2014/main" id="{0E9BB36F-B705-BD37-8430-C109E9B84AD3}"/>
              </a:ext>
            </a:extLst>
          </p:cNvPr>
          <p:cNvSpPr>
            <a:spLocks noChangeArrowheads="1"/>
          </p:cNvSpPr>
          <p:nvPr/>
        </p:nvSpPr>
        <p:spPr bwMode="auto">
          <a:xfrm>
            <a:off x="7269163" y="5632450"/>
            <a:ext cx="2359025" cy="612775"/>
          </a:xfrm>
          <a:prstGeom prst="roundRect">
            <a:avLst>
              <a:gd name="adj" fmla="val 8954"/>
            </a:avLst>
          </a:prstGeom>
          <a:solidFill>
            <a:srgbClr val="FFF7ED"/>
          </a:solidFill>
          <a:ln w="12600" cap="flat">
            <a:solidFill>
              <a:srgbClr val="F59E0B"/>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a:p>
        </p:txBody>
      </p:sp>
      <p:sp>
        <p:nvSpPr>
          <p:cNvPr id="3350" name="Rectangle 278">
            <a:extLst>
              <a:ext uri="{FF2B5EF4-FFF2-40B4-BE49-F238E27FC236}">
                <a16:creationId xmlns:a16="http://schemas.microsoft.com/office/drawing/2014/main" id="{1C49FCF7-AB35-F5AF-D568-B1402FC17971}"/>
              </a:ext>
            </a:extLst>
          </p:cNvPr>
          <p:cNvSpPr>
            <a:spLocks noChangeArrowheads="1"/>
          </p:cNvSpPr>
          <p:nvPr/>
        </p:nvSpPr>
        <p:spPr bwMode="auto">
          <a:xfrm>
            <a:off x="7516813" y="5761038"/>
            <a:ext cx="1874837" cy="3111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9pPr>
          </a:lstStyle>
          <a:p>
            <a:pPr algn="ctr" hangingPunct="1">
              <a:lnSpc>
                <a:spcPct val="100000"/>
              </a:lnSpc>
            </a:pPr>
            <a:r>
              <a:rPr lang="en-US" altLang="en-US" sz="1000" b="1">
                <a:solidFill>
                  <a:srgbClr val="111827"/>
                </a:solidFill>
                <a:latin typeface="Aptos" panose="020B0004020202020204" pitchFamily="34" charset="0"/>
              </a:rPr>
              <a:t>causal output</a:t>
            </a:r>
          </a:p>
          <a:p>
            <a:pPr algn="ctr" hangingPunct="1">
              <a:lnSpc>
                <a:spcPct val="100000"/>
              </a:lnSpc>
            </a:pPr>
            <a:r>
              <a:rPr lang="en-US" altLang="en-US" sz="1000" b="1">
                <a:solidFill>
                  <a:srgbClr val="111827"/>
                </a:solidFill>
                <a:latin typeface="Aptos" panose="020B0004020202020204" pitchFamily="34" charset="0"/>
              </a:rPr>
              <a:t>at time t</a:t>
            </a:r>
          </a:p>
        </p:txBody>
      </p:sp>
      <p:sp>
        <p:nvSpPr>
          <p:cNvPr id="3351" name="Rectangle 279">
            <a:extLst>
              <a:ext uri="{FF2B5EF4-FFF2-40B4-BE49-F238E27FC236}">
                <a16:creationId xmlns:a16="http://schemas.microsoft.com/office/drawing/2014/main" id="{25FC6745-28AC-E953-427E-C5C1CFAB24B9}"/>
              </a:ext>
            </a:extLst>
          </p:cNvPr>
          <p:cNvSpPr>
            <a:spLocks noChangeArrowheads="1"/>
          </p:cNvSpPr>
          <p:nvPr/>
        </p:nvSpPr>
        <p:spPr bwMode="auto">
          <a:xfrm>
            <a:off x="503238" y="6619875"/>
            <a:ext cx="2376487" cy="109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lvl1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1pPr>
            <a:lvl2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2pPr>
            <a:lvl3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3pPr>
            <a:lvl4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4pPr>
            <a:lvl5pPr>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5pPr>
            <a:lvl6pPr marL="25146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6pPr>
            <a:lvl7pPr marL="29718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7pPr>
            <a:lvl8pPr marL="34290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8pPr>
            <a:lvl9pPr marL="3886200" indent="-228600" fontAlgn="base" hangingPunct="0">
              <a:lnSpc>
                <a:spcPct val="93000"/>
              </a:lnSpc>
              <a:spcBef>
                <a:spcPts val="13"/>
              </a:spcBef>
              <a:spcAft>
                <a:spcPts val="13"/>
              </a:spcAft>
              <a:buClr>
                <a:srgbClr val="000000"/>
              </a:buClr>
              <a:buSzPct val="100000"/>
              <a:buFont typeface="Times New Roman" panose="02020603050405020304" pitchFamily="18" charset="0"/>
              <a:tabLst>
                <a:tab pos="0" algn="l"/>
                <a:tab pos="914400" algn="l"/>
                <a:tab pos="1828800" algn="l"/>
              </a:tabLst>
              <a:defRPr>
                <a:solidFill>
                  <a:srgbClr val="000000"/>
                </a:solidFill>
                <a:latin typeface="Arial" panose="020B0604020202020204" pitchFamily="34" charset="0"/>
                <a:ea typeface="Microsoft YaHei" panose="020B0503020204020204" pitchFamily="34" charset="-122"/>
              </a:defRPr>
            </a:lvl9pPr>
          </a:lstStyle>
          <a:p>
            <a:pPr hangingPunct="1">
              <a:lnSpc>
                <a:spcPct val="100000"/>
              </a:lnSpc>
            </a:pPr>
            <a:r>
              <a:rPr lang="en-US" altLang="en-US" sz="800">
                <a:solidFill>
                  <a:srgbClr val="64748B"/>
                </a:solidFill>
                <a:latin typeface="Aptos" panose="020B0004020202020204" pitchFamily="34" charset="0"/>
              </a:rPr>
              <a:t>Lecture 3 — Temporal CNNs</a:t>
            </a:r>
          </a:p>
        </p:txBody>
      </p:sp>
      <p:sp>
        <p:nvSpPr>
          <p:cNvPr id="3" name="Line 223">
            <a:extLst>
              <a:ext uri="{FF2B5EF4-FFF2-40B4-BE49-F238E27FC236}">
                <a16:creationId xmlns:a16="http://schemas.microsoft.com/office/drawing/2014/main" id="{DF2DAD18-F72A-FA6C-4F27-BFE866144BFB}"/>
              </a:ext>
            </a:extLst>
          </p:cNvPr>
          <p:cNvSpPr>
            <a:spLocks noChangeShapeType="1"/>
          </p:cNvSpPr>
          <p:nvPr/>
        </p:nvSpPr>
        <p:spPr bwMode="auto">
          <a:xfrm flipV="1">
            <a:off x="8321675" y="4225131"/>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5" name="Line 224">
            <a:extLst>
              <a:ext uri="{FF2B5EF4-FFF2-40B4-BE49-F238E27FC236}">
                <a16:creationId xmlns:a16="http://schemas.microsoft.com/office/drawing/2014/main" id="{E74EE565-6BBD-F1E1-34BE-070CDF2FB5C3}"/>
              </a:ext>
            </a:extLst>
          </p:cNvPr>
          <p:cNvSpPr>
            <a:spLocks noChangeShapeType="1"/>
          </p:cNvSpPr>
          <p:nvPr/>
        </p:nvSpPr>
        <p:spPr bwMode="auto">
          <a:xfrm flipV="1">
            <a:off x="8094663" y="4225131"/>
            <a:ext cx="217487"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23" name="Line 228">
            <a:extLst>
              <a:ext uri="{FF2B5EF4-FFF2-40B4-BE49-F238E27FC236}">
                <a16:creationId xmlns:a16="http://schemas.microsoft.com/office/drawing/2014/main" id="{5C3327ED-36D1-A240-7672-FE5FE086FA6A}"/>
              </a:ext>
            </a:extLst>
          </p:cNvPr>
          <p:cNvSpPr>
            <a:spLocks noChangeShapeType="1"/>
          </p:cNvSpPr>
          <p:nvPr/>
        </p:nvSpPr>
        <p:spPr bwMode="auto">
          <a:xfrm flipV="1">
            <a:off x="7873999" y="3560763"/>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25" name="Line 229">
            <a:extLst>
              <a:ext uri="{FF2B5EF4-FFF2-40B4-BE49-F238E27FC236}">
                <a16:creationId xmlns:a16="http://schemas.microsoft.com/office/drawing/2014/main" id="{8A0F02EA-089D-6AA0-9959-DE975F54047F}"/>
              </a:ext>
            </a:extLst>
          </p:cNvPr>
          <p:cNvSpPr>
            <a:spLocks noChangeShapeType="1"/>
          </p:cNvSpPr>
          <p:nvPr/>
        </p:nvSpPr>
        <p:spPr bwMode="auto">
          <a:xfrm flipV="1">
            <a:off x="7421562" y="3560763"/>
            <a:ext cx="442912"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27" name="Line 233">
            <a:extLst>
              <a:ext uri="{FF2B5EF4-FFF2-40B4-BE49-F238E27FC236}">
                <a16:creationId xmlns:a16="http://schemas.microsoft.com/office/drawing/2014/main" id="{6458C31D-EEB6-F5E5-45F4-3AB7F6FBA94F}"/>
              </a:ext>
            </a:extLst>
          </p:cNvPr>
          <p:cNvSpPr>
            <a:spLocks noChangeShapeType="1"/>
          </p:cNvSpPr>
          <p:nvPr/>
        </p:nvSpPr>
        <p:spPr bwMode="auto">
          <a:xfrm flipV="1">
            <a:off x="6999288" y="2870994"/>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29" name="Line 234">
            <a:extLst>
              <a:ext uri="{FF2B5EF4-FFF2-40B4-BE49-F238E27FC236}">
                <a16:creationId xmlns:a16="http://schemas.microsoft.com/office/drawing/2014/main" id="{43CEF855-234D-65F7-22B2-9810EBCAD266}"/>
              </a:ext>
            </a:extLst>
          </p:cNvPr>
          <p:cNvSpPr>
            <a:spLocks noChangeShapeType="1"/>
          </p:cNvSpPr>
          <p:nvPr/>
        </p:nvSpPr>
        <p:spPr bwMode="auto">
          <a:xfrm flipV="1">
            <a:off x="6094413" y="2870994"/>
            <a:ext cx="893763"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9" name="Line 228">
            <a:extLst>
              <a:ext uri="{FF2B5EF4-FFF2-40B4-BE49-F238E27FC236}">
                <a16:creationId xmlns:a16="http://schemas.microsoft.com/office/drawing/2014/main" id="{272FB5D9-D9F2-5859-BE31-146B1F6421DA}"/>
              </a:ext>
            </a:extLst>
          </p:cNvPr>
          <p:cNvSpPr>
            <a:spLocks noChangeShapeType="1"/>
          </p:cNvSpPr>
          <p:nvPr/>
        </p:nvSpPr>
        <p:spPr bwMode="auto">
          <a:xfrm flipV="1">
            <a:off x="6073774" y="3573265"/>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41" name="Line 229">
            <a:extLst>
              <a:ext uri="{FF2B5EF4-FFF2-40B4-BE49-F238E27FC236}">
                <a16:creationId xmlns:a16="http://schemas.microsoft.com/office/drawing/2014/main" id="{DB7AAF84-F4E9-814C-9F5A-94272FA37519}"/>
              </a:ext>
            </a:extLst>
          </p:cNvPr>
          <p:cNvSpPr>
            <a:spLocks noChangeShapeType="1"/>
          </p:cNvSpPr>
          <p:nvPr/>
        </p:nvSpPr>
        <p:spPr bwMode="auto">
          <a:xfrm flipV="1">
            <a:off x="5621337" y="3573265"/>
            <a:ext cx="442912"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43" name="Line 223">
            <a:extLst>
              <a:ext uri="{FF2B5EF4-FFF2-40B4-BE49-F238E27FC236}">
                <a16:creationId xmlns:a16="http://schemas.microsoft.com/office/drawing/2014/main" id="{34CF702B-4B40-1F97-E0F5-761C5FC802AB}"/>
              </a:ext>
            </a:extLst>
          </p:cNvPr>
          <p:cNvSpPr>
            <a:spLocks noChangeShapeType="1"/>
          </p:cNvSpPr>
          <p:nvPr/>
        </p:nvSpPr>
        <p:spPr bwMode="auto">
          <a:xfrm flipV="1">
            <a:off x="7420769" y="4238625"/>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45" name="Line 224">
            <a:extLst>
              <a:ext uri="{FF2B5EF4-FFF2-40B4-BE49-F238E27FC236}">
                <a16:creationId xmlns:a16="http://schemas.microsoft.com/office/drawing/2014/main" id="{BADAA11E-BE23-C63E-1083-301A4BA3B8BE}"/>
              </a:ext>
            </a:extLst>
          </p:cNvPr>
          <p:cNvSpPr>
            <a:spLocks noChangeShapeType="1"/>
          </p:cNvSpPr>
          <p:nvPr/>
        </p:nvSpPr>
        <p:spPr bwMode="auto">
          <a:xfrm flipV="1">
            <a:off x="7193757" y="4238625"/>
            <a:ext cx="217487"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47" name="Line 223">
            <a:extLst>
              <a:ext uri="{FF2B5EF4-FFF2-40B4-BE49-F238E27FC236}">
                <a16:creationId xmlns:a16="http://schemas.microsoft.com/office/drawing/2014/main" id="{09E04212-66F7-7074-ED42-0587348F6EDE}"/>
              </a:ext>
            </a:extLst>
          </p:cNvPr>
          <p:cNvSpPr>
            <a:spLocks noChangeShapeType="1"/>
          </p:cNvSpPr>
          <p:nvPr/>
        </p:nvSpPr>
        <p:spPr bwMode="auto">
          <a:xfrm flipV="1">
            <a:off x="5657850" y="4257675"/>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49" name="Line 224">
            <a:extLst>
              <a:ext uri="{FF2B5EF4-FFF2-40B4-BE49-F238E27FC236}">
                <a16:creationId xmlns:a16="http://schemas.microsoft.com/office/drawing/2014/main" id="{E89B32C8-DD82-AC67-5380-0A14285E0559}"/>
              </a:ext>
            </a:extLst>
          </p:cNvPr>
          <p:cNvSpPr>
            <a:spLocks noChangeShapeType="1"/>
          </p:cNvSpPr>
          <p:nvPr/>
        </p:nvSpPr>
        <p:spPr bwMode="auto">
          <a:xfrm flipV="1">
            <a:off x="5430838" y="4257675"/>
            <a:ext cx="217487"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51" name="Line 238">
            <a:extLst>
              <a:ext uri="{FF2B5EF4-FFF2-40B4-BE49-F238E27FC236}">
                <a16:creationId xmlns:a16="http://schemas.microsoft.com/office/drawing/2014/main" id="{72C497E9-5A5C-9F82-F414-95D67A88E53A}"/>
              </a:ext>
            </a:extLst>
          </p:cNvPr>
          <p:cNvSpPr>
            <a:spLocks noChangeShapeType="1"/>
          </p:cNvSpPr>
          <p:nvPr/>
        </p:nvSpPr>
        <p:spPr bwMode="auto">
          <a:xfrm flipV="1">
            <a:off x="5197475" y="2153443"/>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53" name="Line 239">
            <a:extLst>
              <a:ext uri="{FF2B5EF4-FFF2-40B4-BE49-F238E27FC236}">
                <a16:creationId xmlns:a16="http://schemas.microsoft.com/office/drawing/2014/main" id="{D5067A67-2406-8C8C-11C2-B34DB16B3577}"/>
              </a:ext>
            </a:extLst>
          </p:cNvPr>
          <p:cNvSpPr>
            <a:spLocks noChangeShapeType="1"/>
          </p:cNvSpPr>
          <p:nvPr/>
        </p:nvSpPr>
        <p:spPr bwMode="auto">
          <a:xfrm flipV="1">
            <a:off x="3389313" y="2153443"/>
            <a:ext cx="1797050"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55" name="Line 233">
            <a:extLst>
              <a:ext uri="{FF2B5EF4-FFF2-40B4-BE49-F238E27FC236}">
                <a16:creationId xmlns:a16="http://schemas.microsoft.com/office/drawing/2014/main" id="{A359FEF2-C510-203A-0010-B825BBB53909}"/>
              </a:ext>
            </a:extLst>
          </p:cNvPr>
          <p:cNvSpPr>
            <a:spLocks noChangeShapeType="1"/>
          </p:cNvSpPr>
          <p:nvPr/>
        </p:nvSpPr>
        <p:spPr bwMode="auto">
          <a:xfrm flipV="1">
            <a:off x="3338513" y="2897635"/>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57" name="Line 234">
            <a:extLst>
              <a:ext uri="{FF2B5EF4-FFF2-40B4-BE49-F238E27FC236}">
                <a16:creationId xmlns:a16="http://schemas.microsoft.com/office/drawing/2014/main" id="{63F87310-5FBE-482F-245D-08252588F3D9}"/>
              </a:ext>
            </a:extLst>
          </p:cNvPr>
          <p:cNvSpPr>
            <a:spLocks noChangeShapeType="1"/>
          </p:cNvSpPr>
          <p:nvPr/>
        </p:nvSpPr>
        <p:spPr bwMode="auto">
          <a:xfrm flipV="1">
            <a:off x="2433638" y="2897635"/>
            <a:ext cx="893763"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59" name="Line 228">
            <a:extLst>
              <a:ext uri="{FF2B5EF4-FFF2-40B4-BE49-F238E27FC236}">
                <a16:creationId xmlns:a16="http://schemas.microsoft.com/office/drawing/2014/main" id="{1A86E622-04AC-165E-2166-CD86A8DF814A}"/>
              </a:ext>
            </a:extLst>
          </p:cNvPr>
          <p:cNvSpPr>
            <a:spLocks noChangeShapeType="1"/>
          </p:cNvSpPr>
          <p:nvPr/>
        </p:nvSpPr>
        <p:spPr bwMode="auto">
          <a:xfrm flipV="1">
            <a:off x="2454274" y="3564756"/>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61" name="Line 229">
            <a:extLst>
              <a:ext uri="{FF2B5EF4-FFF2-40B4-BE49-F238E27FC236}">
                <a16:creationId xmlns:a16="http://schemas.microsoft.com/office/drawing/2014/main" id="{F18446D3-4BF4-F88B-61FB-7CA5412A0438}"/>
              </a:ext>
            </a:extLst>
          </p:cNvPr>
          <p:cNvSpPr>
            <a:spLocks noChangeShapeType="1"/>
          </p:cNvSpPr>
          <p:nvPr/>
        </p:nvSpPr>
        <p:spPr bwMode="auto">
          <a:xfrm flipV="1">
            <a:off x="2001837" y="3564756"/>
            <a:ext cx="442912"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63" name="Line 223">
            <a:extLst>
              <a:ext uri="{FF2B5EF4-FFF2-40B4-BE49-F238E27FC236}">
                <a16:creationId xmlns:a16="http://schemas.microsoft.com/office/drawing/2014/main" id="{0DFE6D42-CC7C-4B96-9A28-5AEF6E96F06B}"/>
              </a:ext>
            </a:extLst>
          </p:cNvPr>
          <p:cNvSpPr>
            <a:spLocks noChangeShapeType="1"/>
          </p:cNvSpPr>
          <p:nvPr/>
        </p:nvSpPr>
        <p:spPr bwMode="auto">
          <a:xfrm flipV="1">
            <a:off x="2028825" y="4238625"/>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53" name="Line 224">
            <a:extLst>
              <a:ext uri="{FF2B5EF4-FFF2-40B4-BE49-F238E27FC236}">
                <a16:creationId xmlns:a16="http://schemas.microsoft.com/office/drawing/2014/main" id="{602A2DAC-BC1B-9C92-018B-E35169866AA0}"/>
              </a:ext>
            </a:extLst>
          </p:cNvPr>
          <p:cNvSpPr>
            <a:spLocks noChangeShapeType="1"/>
          </p:cNvSpPr>
          <p:nvPr/>
        </p:nvSpPr>
        <p:spPr bwMode="auto">
          <a:xfrm flipV="1">
            <a:off x="1801813" y="4238625"/>
            <a:ext cx="217487"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55" name="Line 223">
            <a:extLst>
              <a:ext uri="{FF2B5EF4-FFF2-40B4-BE49-F238E27FC236}">
                <a16:creationId xmlns:a16="http://schemas.microsoft.com/office/drawing/2014/main" id="{40C05376-31C0-F6C6-19C3-0A575EFC62D0}"/>
              </a:ext>
            </a:extLst>
          </p:cNvPr>
          <p:cNvSpPr>
            <a:spLocks noChangeShapeType="1"/>
          </p:cNvSpPr>
          <p:nvPr/>
        </p:nvSpPr>
        <p:spPr bwMode="auto">
          <a:xfrm flipV="1">
            <a:off x="7874000" y="4194969"/>
            <a:ext cx="1588"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
        <p:nvSpPr>
          <p:cNvPr id="3357" name="Line 224">
            <a:extLst>
              <a:ext uri="{FF2B5EF4-FFF2-40B4-BE49-F238E27FC236}">
                <a16:creationId xmlns:a16="http://schemas.microsoft.com/office/drawing/2014/main" id="{CF084075-F20B-E64E-5E97-C1742BAA06E8}"/>
              </a:ext>
            </a:extLst>
          </p:cNvPr>
          <p:cNvSpPr>
            <a:spLocks noChangeShapeType="1"/>
          </p:cNvSpPr>
          <p:nvPr/>
        </p:nvSpPr>
        <p:spPr bwMode="auto">
          <a:xfrm flipV="1">
            <a:off x="7646988" y="4194969"/>
            <a:ext cx="217487" cy="612775"/>
          </a:xfrm>
          <a:prstGeom prst="line">
            <a:avLst/>
          </a:prstGeom>
          <a:noFill/>
          <a:ln w="17640" cap="flat">
            <a:solidFill>
              <a:srgbClr val="3F7D2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a:p>
        </p:txBody>
      </p:sp>
    </p:spTree>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5C5ACFA-4820-19EE-99E3-E49BB45D3B6D}"/>
              </a:ext>
            </a:extLst>
          </p:cNvPr>
          <p:cNvSpPr>
            <a:spLocks noGrp="1"/>
          </p:cNvSpPr>
          <p:nvPr>
            <p:ph type="title"/>
          </p:nvPr>
        </p:nvSpPr>
        <p:spPr/>
        <p:txBody>
          <a:bodyPr/>
          <a:lstStyle/>
          <a:p>
            <a:r>
              <a:rPr lang="en-GB" dirty="0" err="1"/>
              <a:t>WaveNet</a:t>
            </a:r>
            <a:r>
              <a:rPr lang="en-GB" dirty="0"/>
              <a:t> is causal</a:t>
            </a:r>
          </a:p>
        </p:txBody>
      </p:sp>
      <p:sp>
        <p:nvSpPr>
          <p:cNvPr id="3" name="Segnaposto contenuto 2">
            <a:extLst>
              <a:ext uri="{FF2B5EF4-FFF2-40B4-BE49-F238E27FC236}">
                <a16:creationId xmlns:a16="http://schemas.microsoft.com/office/drawing/2014/main" id="{204E48C9-8D34-F4E1-DA8F-7CEF2389AC3B}"/>
              </a:ext>
            </a:extLst>
          </p:cNvPr>
          <p:cNvSpPr>
            <a:spLocks noGrp="1"/>
          </p:cNvSpPr>
          <p:nvPr>
            <p:ph sz="half" idx="1"/>
          </p:nvPr>
        </p:nvSpPr>
        <p:spPr>
          <a:xfrm>
            <a:off x="677334" y="2160588"/>
            <a:ext cx="5123836" cy="4481511"/>
          </a:xfrm>
        </p:spPr>
        <p:txBody>
          <a:bodyPr>
            <a:normAutofit/>
          </a:bodyPr>
          <a:lstStyle/>
          <a:p>
            <a:r>
              <a:rPr lang="en-GB" dirty="0"/>
              <a:t>For an output at time t, </a:t>
            </a:r>
            <a:r>
              <a:rPr lang="en-GB" dirty="0" err="1"/>
              <a:t>WaveNet</a:t>
            </a:r>
            <a:r>
              <a:rPr lang="en-GB" dirty="0"/>
              <a:t> uses only information from the present and past.</a:t>
            </a:r>
          </a:p>
          <a:p>
            <a:r>
              <a:rPr lang="en-GB" dirty="0"/>
              <a:t>Conceptually:</a:t>
            </a:r>
          </a:p>
          <a:p>
            <a:r>
              <a:rPr lang="en-GB" dirty="0"/>
              <a:t>past                              now</a:t>
            </a:r>
          </a:p>
          <a:p>
            <a:r>
              <a:rPr lang="en-GB" dirty="0"/>
              <a:t>x[t−R+1] ... x[t−2] x[t−1] x[t]</a:t>
            </a:r>
          </a:p>
          <a:p>
            <a:r>
              <a:rPr lang="en-GB" dirty="0"/>
              <a:t>        └──── receptive field ────┘</a:t>
            </a:r>
          </a:p>
          <a:p>
            <a:r>
              <a:rPr lang="en-GB" dirty="0"/>
              <a:t>                         ↓</a:t>
            </a:r>
          </a:p>
          <a:p>
            <a:r>
              <a:rPr lang="en-GB" dirty="0"/>
              <a:t>                     output[t]</a:t>
            </a:r>
          </a:p>
          <a:p>
            <a:r>
              <a:rPr lang="en-GB" dirty="0"/>
              <a:t>No future observation:</a:t>
            </a:r>
          </a:p>
          <a:p>
            <a:r>
              <a:rPr lang="en-GB" dirty="0"/>
              <a:t>x[t+1], x[t+2], ...</a:t>
            </a:r>
          </a:p>
          <a:p>
            <a:r>
              <a:rPr lang="en-GB" dirty="0"/>
              <a:t>is used.</a:t>
            </a:r>
          </a:p>
          <a:p>
            <a:endParaRPr lang="en-GB" dirty="0"/>
          </a:p>
        </p:txBody>
      </p:sp>
      <p:sp>
        <p:nvSpPr>
          <p:cNvPr id="4" name="Segnaposto contenuto 3">
            <a:extLst>
              <a:ext uri="{FF2B5EF4-FFF2-40B4-BE49-F238E27FC236}">
                <a16:creationId xmlns:a16="http://schemas.microsoft.com/office/drawing/2014/main" id="{B42B7E63-241E-1DBD-467E-3EF9E3381A52}"/>
              </a:ext>
            </a:extLst>
          </p:cNvPr>
          <p:cNvSpPr>
            <a:spLocks noGrp="1"/>
          </p:cNvSpPr>
          <p:nvPr>
            <p:ph sz="half" idx="2"/>
          </p:nvPr>
        </p:nvSpPr>
        <p:spPr>
          <a:xfrm>
            <a:off x="5801170" y="2174878"/>
            <a:ext cx="6225730" cy="4354511"/>
          </a:xfrm>
        </p:spPr>
        <p:txBody>
          <a:bodyPr>
            <a:normAutofit/>
          </a:bodyPr>
          <a:lstStyle/>
          <a:p>
            <a:r>
              <a:rPr lang="en-GB" b="1" dirty="0"/>
              <a:t>Why this was important</a:t>
            </a:r>
          </a:p>
          <a:p>
            <a:r>
              <a:rPr lang="en-GB" dirty="0"/>
              <a:t>For sequential generation, the next value must be produced without seeing future outputs.</a:t>
            </a:r>
          </a:p>
          <a:p>
            <a:r>
              <a:rPr lang="en-GB" dirty="0"/>
              <a:t>The same principle is useful for:</a:t>
            </a:r>
          </a:p>
          <a:p>
            <a:pPr lvl="1"/>
            <a:r>
              <a:rPr lang="en-GB" dirty="0"/>
              <a:t>forecasting; </a:t>
            </a:r>
          </a:p>
          <a:p>
            <a:pPr lvl="1"/>
            <a:r>
              <a:rPr lang="en-GB" dirty="0">
                <a:solidFill>
                  <a:schemeClr val="tx1"/>
                </a:solidFill>
              </a:rPr>
              <a:t>online monitoring; </a:t>
            </a:r>
          </a:p>
          <a:p>
            <a:pPr lvl="1"/>
            <a:r>
              <a:rPr lang="en-GB" dirty="0">
                <a:solidFill>
                  <a:schemeClr val="tx1"/>
                </a:solidFill>
              </a:rPr>
              <a:t>streaming sequence modelling. </a:t>
            </a:r>
          </a:p>
          <a:p>
            <a:endParaRPr lang="en-GB" b="1" dirty="0"/>
          </a:p>
          <a:p>
            <a:r>
              <a:rPr lang="en-GB" b="1" dirty="0"/>
              <a:t>Important distinction</a:t>
            </a:r>
          </a:p>
          <a:p>
            <a:r>
              <a:rPr lang="en-GB" dirty="0"/>
              <a:t>Causality comes from the convolutional connectivity.</a:t>
            </a:r>
          </a:p>
          <a:p>
            <a:r>
              <a:rPr lang="en-GB" dirty="0"/>
              <a:t>Dilation only increases the spacing and receptive field.</a:t>
            </a:r>
          </a:p>
          <a:p>
            <a:endParaRPr lang="en-GB" dirty="0"/>
          </a:p>
        </p:txBody>
      </p:sp>
    </p:spTree>
    <p:extLst>
      <p:ext uri="{BB962C8B-B14F-4D97-AF65-F5344CB8AC3E}">
        <p14:creationId xmlns:p14="http://schemas.microsoft.com/office/powerpoint/2010/main" val="229519696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dirty="0" err="1">
                <a:solidFill>
                  <a:srgbClr val="0F172A"/>
                </a:solidFill>
                <a:effectLst/>
                <a:uFillTx/>
                <a:latin typeface="Aptos Display"/>
                <a:ea typeface="Aptos Display"/>
              </a:rPr>
              <a:t>WaveNet</a:t>
            </a:r>
            <a:r>
              <a:rPr lang="en-US" sz="3000" b="1" u="none" strike="noStrike" dirty="0">
                <a:solidFill>
                  <a:srgbClr val="0F172A"/>
                </a:solidFill>
                <a:effectLst/>
                <a:uFillTx/>
                <a:latin typeface="Aptos Display"/>
                <a:ea typeface="Aptos Display"/>
              </a:rPr>
              <a:t> </a:t>
            </a:r>
            <a:r>
              <a:rPr lang="en-US" sz="3000" b="1" dirty="0">
                <a:solidFill>
                  <a:srgbClr val="0F172A"/>
                </a:solidFill>
                <a:latin typeface="Aptos Display"/>
                <a:ea typeface="Aptos Display"/>
              </a:rPr>
              <a:t>i</a:t>
            </a:r>
            <a:r>
              <a:rPr lang="en-US" sz="3000" b="1" u="none" strike="noStrike" dirty="0">
                <a:solidFill>
                  <a:srgbClr val="0F172A"/>
                </a:solidFill>
                <a:effectLst/>
                <a:uFillTx/>
                <a:latin typeface="Aptos Display"/>
                <a:ea typeface="Aptos Display"/>
              </a:rPr>
              <a:t>s causal</a:t>
            </a:r>
            <a:endParaRPr lang="it-IT" sz="3000" b="0" u="none" strike="noStrike" dirty="0">
              <a:solidFill>
                <a:srgbClr val="000000"/>
              </a:solidFill>
              <a:effectLst/>
              <a:uFillTx/>
              <a:latin typeface="Arial"/>
            </a:endParaRPr>
          </a:p>
        </p:txBody>
      </p:sp>
      <p:sp>
        <p:nvSpPr>
          <p:cNvPr id="187"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The receptive field extends only into the past</a:t>
            </a:r>
            <a:endParaRPr lang="it-IT" sz="1500" b="0" u="none" strike="noStrike">
              <a:solidFill>
                <a:srgbClr val="000000"/>
              </a:solidFill>
              <a:effectLst/>
              <a:uFillTx/>
              <a:latin typeface="Arial"/>
            </a:endParaRPr>
          </a:p>
        </p:txBody>
      </p:sp>
      <p:sp>
        <p:nvSpPr>
          <p:cNvPr id="188" name="Shape 2"/>
          <p:cNvSpPr/>
          <p:nvPr/>
        </p:nvSpPr>
        <p:spPr>
          <a:xfrm>
            <a:off x="1005840" y="2743200"/>
            <a:ext cx="896112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189" name="Shape 3"/>
          <p:cNvSpPr/>
          <p:nvPr/>
        </p:nvSpPr>
        <p:spPr>
          <a:xfrm>
            <a:off x="96912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190" name="Text 4"/>
          <p:cNvSpPr/>
          <p:nvPr/>
        </p:nvSpPr>
        <p:spPr>
          <a:xfrm>
            <a:off x="82296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t-16</a:t>
            </a:r>
            <a:endParaRPr lang="it-IT" sz="800" b="0" u="none" strike="noStrike">
              <a:solidFill>
                <a:srgbClr val="000000"/>
              </a:solidFill>
              <a:effectLst/>
              <a:uFillTx/>
              <a:latin typeface="Arial"/>
            </a:endParaRPr>
          </a:p>
        </p:txBody>
      </p:sp>
      <p:sp>
        <p:nvSpPr>
          <p:cNvPr id="191" name="Shape 5"/>
          <p:cNvSpPr/>
          <p:nvPr/>
        </p:nvSpPr>
        <p:spPr>
          <a:xfrm>
            <a:off x="152928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192" name="Text 6"/>
          <p:cNvSpPr/>
          <p:nvPr/>
        </p:nvSpPr>
        <p:spPr>
          <a:xfrm>
            <a:off x="138312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t-15</a:t>
            </a:r>
            <a:endParaRPr lang="it-IT" sz="800" b="0" u="none" strike="noStrike">
              <a:solidFill>
                <a:srgbClr val="000000"/>
              </a:solidFill>
              <a:effectLst/>
              <a:uFillTx/>
              <a:latin typeface="Arial"/>
            </a:endParaRPr>
          </a:p>
        </p:txBody>
      </p:sp>
      <p:sp>
        <p:nvSpPr>
          <p:cNvPr id="193" name="Shape 7"/>
          <p:cNvSpPr/>
          <p:nvPr/>
        </p:nvSpPr>
        <p:spPr>
          <a:xfrm>
            <a:off x="208944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194" name="Text 8"/>
          <p:cNvSpPr/>
          <p:nvPr/>
        </p:nvSpPr>
        <p:spPr>
          <a:xfrm>
            <a:off x="194328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t-14</a:t>
            </a:r>
            <a:endParaRPr lang="it-IT" sz="800" b="0" u="none" strike="noStrike">
              <a:solidFill>
                <a:srgbClr val="000000"/>
              </a:solidFill>
              <a:effectLst/>
              <a:uFillTx/>
              <a:latin typeface="Arial"/>
            </a:endParaRPr>
          </a:p>
        </p:txBody>
      </p:sp>
      <p:sp>
        <p:nvSpPr>
          <p:cNvPr id="195" name="Shape 9"/>
          <p:cNvSpPr/>
          <p:nvPr/>
        </p:nvSpPr>
        <p:spPr>
          <a:xfrm>
            <a:off x="264960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196" name="Text 10"/>
          <p:cNvSpPr/>
          <p:nvPr/>
        </p:nvSpPr>
        <p:spPr>
          <a:xfrm>
            <a:off x="250308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t-13</a:t>
            </a:r>
            <a:endParaRPr lang="it-IT" sz="800" b="0" u="none" strike="noStrike">
              <a:solidFill>
                <a:srgbClr val="000000"/>
              </a:solidFill>
              <a:effectLst/>
              <a:uFillTx/>
              <a:latin typeface="Arial"/>
            </a:endParaRPr>
          </a:p>
        </p:txBody>
      </p:sp>
      <p:sp>
        <p:nvSpPr>
          <p:cNvPr id="197" name="Shape 11"/>
          <p:cNvSpPr/>
          <p:nvPr/>
        </p:nvSpPr>
        <p:spPr>
          <a:xfrm>
            <a:off x="320940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198" name="Text 12"/>
          <p:cNvSpPr/>
          <p:nvPr/>
        </p:nvSpPr>
        <p:spPr>
          <a:xfrm>
            <a:off x="306324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t-12</a:t>
            </a:r>
            <a:endParaRPr lang="it-IT" sz="800" b="0" u="none" strike="noStrike">
              <a:solidFill>
                <a:srgbClr val="000000"/>
              </a:solidFill>
              <a:effectLst/>
              <a:uFillTx/>
              <a:latin typeface="Arial"/>
            </a:endParaRPr>
          </a:p>
        </p:txBody>
      </p:sp>
      <p:sp>
        <p:nvSpPr>
          <p:cNvPr id="199" name="Shape 13"/>
          <p:cNvSpPr/>
          <p:nvPr/>
        </p:nvSpPr>
        <p:spPr>
          <a:xfrm>
            <a:off x="376956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00" name="Text 14"/>
          <p:cNvSpPr/>
          <p:nvPr/>
        </p:nvSpPr>
        <p:spPr>
          <a:xfrm>
            <a:off x="362340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t-11</a:t>
            </a:r>
            <a:endParaRPr lang="it-IT" sz="800" b="0" u="none" strike="noStrike">
              <a:solidFill>
                <a:srgbClr val="000000"/>
              </a:solidFill>
              <a:effectLst/>
              <a:uFillTx/>
              <a:latin typeface="Arial"/>
            </a:endParaRPr>
          </a:p>
        </p:txBody>
      </p:sp>
      <p:sp>
        <p:nvSpPr>
          <p:cNvPr id="201" name="Shape 15"/>
          <p:cNvSpPr/>
          <p:nvPr/>
        </p:nvSpPr>
        <p:spPr>
          <a:xfrm>
            <a:off x="432972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02" name="Text 16"/>
          <p:cNvSpPr/>
          <p:nvPr/>
        </p:nvSpPr>
        <p:spPr>
          <a:xfrm>
            <a:off x="418356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t-10</a:t>
            </a:r>
            <a:endParaRPr lang="it-IT" sz="800" b="0" u="none" strike="noStrike">
              <a:solidFill>
                <a:srgbClr val="000000"/>
              </a:solidFill>
              <a:effectLst/>
              <a:uFillTx/>
              <a:latin typeface="Arial"/>
            </a:endParaRPr>
          </a:p>
        </p:txBody>
      </p:sp>
      <p:sp>
        <p:nvSpPr>
          <p:cNvPr id="203" name="Shape 17"/>
          <p:cNvSpPr/>
          <p:nvPr/>
        </p:nvSpPr>
        <p:spPr>
          <a:xfrm>
            <a:off x="488988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04" name="Text 18"/>
          <p:cNvSpPr/>
          <p:nvPr/>
        </p:nvSpPr>
        <p:spPr>
          <a:xfrm>
            <a:off x="474336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t-9</a:t>
            </a:r>
            <a:endParaRPr lang="it-IT" sz="800" b="0" u="none" strike="noStrike">
              <a:solidFill>
                <a:srgbClr val="000000"/>
              </a:solidFill>
              <a:effectLst/>
              <a:uFillTx/>
              <a:latin typeface="Arial"/>
            </a:endParaRPr>
          </a:p>
        </p:txBody>
      </p:sp>
      <p:sp>
        <p:nvSpPr>
          <p:cNvPr id="205" name="Shape 19"/>
          <p:cNvSpPr/>
          <p:nvPr/>
        </p:nvSpPr>
        <p:spPr>
          <a:xfrm>
            <a:off x="544968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06" name="Text 20"/>
          <p:cNvSpPr/>
          <p:nvPr/>
        </p:nvSpPr>
        <p:spPr>
          <a:xfrm>
            <a:off x="530352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t-8</a:t>
            </a:r>
            <a:endParaRPr lang="it-IT" sz="800" b="0" u="none" strike="noStrike">
              <a:solidFill>
                <a:srgbClr val="000000"/>
              </a:solidFill>
              <a:effectLst/>
              <a:uFillTx/>
              <a:latin typeface="Arial"/>
            </a:endParaRPr>
          </a:p>
        </p:txBody>
      </p:sp>
      <p:sp>
        <p:nvSpPr>
          <p:cNvPr id="207" name="Shape 21"/>
          <p:cNvSpPr/>
          <p:nvPr/>
        </p:nvSpPr>
        <p:spPr>
          <a:xfrm>
            <a:off x="600984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08" name="Text 22"/>
          <p:cNvSpPr/>
          <p:nvPr/>
        </p:nvSpPr>
        <p:spPr>
          <a:xfrm>
            <a:off x="586368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t-7</a:t>
            </a:r>
            <a:endParaRPr lang="it-IT" sz="800" b="0" u="none" strike="noStrike">
              <a:solidFill>
                <a:srgbClr val="000000"/>
              </a:solidFill>
              <a:effectLst/>
              <a:uFillTx/>
              <a:latin typeface="Arial"/>
            </a:endParaRPr>
          </a:p>
        </p:txBody>
      </p:sp>
      <p:sp>
        <p:nvSpPr>
          <p:cNvPr id="209" name="Shape 23"/>
          <p:cNvSpPr/>
          <p:nvPr/>
        </p:nvSpPr>
        <p:spPr>
          <a:xfrm>
            <a:off x="657000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10" name="Text 24"/>
          <p:cNvSpPr/>
          <p:nvPr/>
        </p:nvSpPr>
        <p:spPr>
          <a:xfrm>
            <a:off x="642384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t-6</a:t>
            </a:r>
            <a:endParaRPr lang="it-IT" sz="800" b="0" u="none" strike="noStrike">
              <a:solidFill>
                <a:srgbClr val="000000"/>
              </a:solidFill>
              <a:effectLst/>
              <a:uFillTx/>
              <a:latin typeface="Arial"/>
            </a:endParaRPr>
          </a:p>
        </p:txBody>
      </p:sp>
      <p:sp>
        <p:nvSpPr>
          <p:cNvPr id="211" name="Shape 25"/>
          <p:cNvSpPr/>
          <p:nvPr/>
        </p:nvSpPr>
        <p:spPr>
          <a:xfrm>
            <a:off x="713016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12" name="Text 26"/>
          <p:cNvSpPr/>
          <p:nvPr/>
        </p:nvSpPr>
        <p:spPr>
          <a:xfrm>
            <a:off x="698364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t-5</a:t>
            </a:r>
            <a:endParaRPr lang="it-IT" sz="800" b="0" u="none" strike="noStrike">
              <a:solidFill>
                <a:srgbClr val="000000"/>
              </a:solidFill>
              <a:effectLst/>
              <a:uFillTx/>
              <a:latin typeface="Arial"/>
            </a:endParaRPr>
          </a:p>
        </p:txBody>
      </p:sp>
      <p:sp>
        <p:nvSpPr>
          <p:cNvPr id="213" name="Shape 27"/>
          <p:cNvSpPr/>
          <p:nvPr/>
        </p:nvSpPr>
        <p:spPr>
          <a:xfrm>
            <a:off x="768996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14" name="Text 28"/>
          <p:cNvSpPr/>
          <p:nvPr/>
        </p:nvSpPr>
        <p:spPr>
          <a:xfrm>
            <a:off x="754380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t-4</a:t>
            </a:r>
            <a:endParaRPr lang="it-IT" sz="800" b="0" u="none" strike="noStrike">
              <a:solidFill>
                <a:srgbClr val="000000"/>
              </a:solidFill>
              <a:effectLst/>
              <a:uFillTx/>
              <a:latin typeface="Arial"/>
            </a:endParaRPr>
          </a:p>
        </p:txBody>
      </p:sp>
      <p:sp>
        <p:nvSpPr>
          <p:cNvPr id="215" name="Shape 29"/>
          <p:cNvSpPr/>
          <p:nvPr/>
        </p:nvSpPr>
        <p:spPr>
          <a:xfrm>
            <a:off x="825012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16" name="Text 30"/>
          <p:cNvSpPr/>
          <p:nvPr/>
        </p:nvSpPr>
        <p:spPr>
          <a:xfrm>
            <a:off x="810396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t-3</a:t>
            </a:r>
            <a:endParaRPr lang="it-IT" sz="800" b="0" u="none" strike="noStrike">
              <a:solidFill>
                <a:srgbClr val="000000"/>
              </a:solidFill>
              <a:effectLst/>
              <a:uFillTx/>
              <a:latin typeface="Arial"/>
            </a:endParaRPr>
          </a:p>
        </p:txBody>
      </p:sp>
      <p:sp>
        <p:nvSpPr>
          <p:cNvPr id="217" name="Shape 31"/>
          <p:cNvSpPr/>
          <p:nvPr/>
        </p:nvSpPr>
        <p:spPr>
          <a:xfrm>
            <a:off x="881028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18" name="Text 32"/>
          <p:cNvSpPr/>
          <p:nvPr/>
        </p:nvSpPr>
        <p:spPr>
          <a:xfrm>
            <a:off x="866412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t-2</a:t>
            </a:r>
            <a:endParaRPr lang="it-IT" sz="800" b="0" u="none" strike="noStrike">
              <a:solidFill>
                <a:srgbClr val="000000"/>
              </a:solidFill>
              <a:effectLst/>
              <a:uFillTx/>
              <a:latin typeface="Arial"/>
            </a:endParaRPr>
          </a:p>
        </p:txBody>
      </p:sp>
      <p:sp>
        <p:nvSpPr>
          <p:cNvPr id="219" name="Shape 33"/>
          <p:cNvSpPr/>
          <p:nvPr/>
        </p:nvSpPr>
        <p:spPr>
          <a:xfrm>
            <a:off x="937044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20" name="Text 34"/>
          <p:cNvSpPr/>
          <p:nvPr/>
        </p:nvSpPr>
        <p:spPr>
          <a:xfrm>
            <a:off x="922392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t-1</a:t>
            </a:r>
            <a:endParaRPr lang="it-IT" sz="800" b="0" u="none" strike="noStrike">
              <a:solidFill>
                <a:srgbClr val="000000"/>
              </a:solidFill>
              <a:effectLst/>
              <a:uFillTx/>
              <a:latin typeface="Arial"/>
            </a:endParaRPr>
          </a:p>
        </p:txBody>
      </p:sp>
      <p:sp>
        <p:nvSpPr>
          <p:cNvPr id="221" name="Shape 35"/>
          <p:cNvSpPr/>
          <p:nvPr/>
        </p:nvSpPr>
        <p:spPr>
          <a:xfrm>
            <a:off x="9930240" y="27064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222" name="Text 36"/>
          <p:cNvSpPr/>
          <p:nvPr/>
        </p:nvSpPr>
        <p:spPr>
          <a:xfrm>
            <a:off x="9784080" y="2853000"/>
            <a:ext cx="3654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800" b="0" u="none" strike="noStrike">
                <a:solidFill>
                  <a:srgbClr val="475569"/>
                </a:solidFill>
                <a:effectLst/>
                <a:uFillTx/>
                <a:latin typeface="Aptos"/>
                <a:ea typeface="Aptos"/>
              </a:rPr>
              <a:t>t</a:t>
            </a:r>
            <a:endParaRPr lang="it-IT" sz="800" b="0" u="none" strike="noStrike">
              <a:solidFill>
                <a:srgbClr val="000000"/>
              </a:solidFill>
              <a:effectLst/>
              <a:uFillTx/>
              <a:latin typeface="Arial"/>
            </a:endParaRPr>
          </a:p>
        </p:txBody>
      </p:sp>
      <p:sp>
        <p:nvSpPr>
          <p:cNvPr id="223" name="Shape 37"/>
          <p:cNvSpPr/>
          <p:nvPr/>
        </p:nvSpPr>
        <p:spPr>
          <a:xfrm>
            <a:off x="2103120" y="2240280"/>
            <a:ext cx="7818120" cy="360"/>
          </a:xfrm>
          <a:prstGeom prst="line">
            <a:avLst/>
          </a:prstGeom>
          <a:ln w="25400">
            <a:solidFill>
              <a:srgbClr val="86B817"/>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24" name="Shape 38"/>
          <p:cNvSpPr/>
          <p:nvPr/>
        </p:nvSpPr>
        <p:spPr>
          <a:xfrm>
            <a:off x="2103120" y="2240280"/>
            <a:ext cx="360" cy="274320"/>
          </a:xfrm>
          <a:prstGeom prst="line">
            <a:avLst/>
          </a:prstGeom>
          <a:ln w="254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25" name="Shape 39"/>
          <p:cNvSpPr/>
          <p:nvPr/>
        </p:nvSpPr>
        <p:spPr>
          <a:xfrm>
            <a:off x="9921240" y="2240280"/>
            <a:ext cx="360" cy="274320"/>
          </a:xfrm>
          <a:prstGeom prst="line">
            <a:avLst/>
          </a:prstGeom>
          <a:ln w="254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26" name="Text 40"/>
          <p:cNvSpPr/>
          <p:nvPr/>
        </p:nvSpPr>
        <p:spPr>
          <a:xfrm>
            <a:off x="3931920" y="1874520"/>
            <a:ext cx="27428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300" b="1" u="none" strike="noStrike">
                <a:solidFill>
                  <a:srgbClr val="86B817"/>
                </a:solidFill>
                <a:effectLst/>
                <a:uFillTx/>
                <a:latin typeface="Aptos"/>
                <a:ea typeface="Aptos"/>
              </a:rPr>
              <a:t>causal receptive field</a:t>
            </a:r>
            <a:endParaRPr lang="it-IT" sz="1300" b="0" u="none" strike="noStrike">
              <a:solidFill>
                <a:srgbClr val="000000"/>
              </a:solidFill>
              <a:effectLst/>
              <a:uFillTx/>
              <a:latin typeface="Arial"/>
            </a:endParaRPr>
          </a:p>
        </p:txBody>
      </p:sp>
      <p:sp>
        <p:nvSpPr>
          <p:cNvPr id="227" name="Shape 41"/>
          <p:cNvSpPr/>
          <p:nvPr/>
        </p:nvSpPr>
        <p:spPr>
          <a:xfrm>
            <a:off x="9966960" y="2103120"/>
            <a:ext cx="360" cy="1280160"/>
          </a:xfrm>
          <a:prstGeom prst="line">
            <a:avLst/>
          </a:prstGeom>
          <a:ln w="25400">
            <a:solidFill>
              <a:srgbClr val="DC2626"/>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28" name="Text 42"/>
          <p:cNvSpPr/>
          <p:nvPr/>
        </p:nvSpPr>
        <p:spPr>
          <a:xfrm>
            <a:off x="9692640" y="3474720"/>
            <a:ext cx="54828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DC2626"/>
                </a:solidFill>
                <a:effectLst/>
                <a:uFillTx/>
                <a:latin typeface="Aptos"/>
                <a:ea typeface="Aptos"/>
              </a:rPr>
              <a:t>now: t</a:t>
            </a:r>
            <a:endParaRPr lang="it-IT" sz="1200" b="0" u="none" strike="noStrike">
              <a:solidFill>
                <a:srgbClr val="000000"/>
              </a:solidFill>
              <a:effectLst/>
              <a:uFillTx/>
              <a:latin typeface="Arial"/>
            </a:endParaRPr>
          </a:p>
        </p:txBody>
      </p:sp>
      <p:sp>
        <p:nvSpPr>
          <p:cNvPr id="229" name="Text 43"/>
          <p:cNvSpPr/>
          <p:nvPr/>
        </p:nvSpPr>
        <p:spPr>
          <a:xfrm>
            <a:off x="2011680" y="1463040"/>
            <a:ext cx="2925720" cy="365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0F172A"/>
                </a:solidFill>
                <a:effectLst/>
                <a:uFillTx/>
                <a:latin typeface="Aptos"/>
                <a:ea typeface="Aptos"/>
              </a:rPr>
              <a:t>past observations are allowed</a:t>
            </a:r>
            <a:endParaRPr lang="it-IT" sz="1500" b="0" u="none" strike="noStrike">
              <a:solidFill>
                <a:srgbClr val="000000"/>
              </a:solidFill>
              <a:effectLst/>
              <a:uFillTx/>
              <a:latin typeface="Arial"/>
            </a:endParaRPr>
          </a:p>
        </p:txBody>
      </p:sp>
      <p:sp>
        <p:nvSpPr>
          <p:cNvPr id="230" name="Text 44"/>
          <p:cNvSpPr/>
          <p:nvPr/>
        </p:nvSpPr>
        <p:spPr>
          <a:xfrm>
            <a:off x="6583680" y="1463040"/>
            <a:ext cx="3108600" cy="365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0F172A"/>
                </a:solidFill>
                <a:effectLst/>
                <a:uFillTx/>
                <a:latin typeface="Aptos"/>
                <a:ea typeface="Aptos"/>
              </a:rPr>
              <a:t>future observations are not used</a:t>
            </a:r>
            <a:endParaRPr lang="it-IT" sz="1500" b="0" u="none" strike="noStrike">
              <a:solidFill>
                <a:srgbClr val="000000"/>
              </a:solidFill>
              <a:effectLst/>
              <a:uFillTx/>
              <a:latin typeface="Arial"/>
            </a:endParaRPr>
          </a:p>
        </p:txBody>
      </p:sp>
      <p:sp>
        <p:nvSpPr>
          <p:cNvPr id="231" name="Shape 45"/>
          <p:cNvSpPr/>
          <p:nvPr/>
        </p:nvSpPr>
        <p:spPr>
          <a:xfrm>
            <a:off x="8778240" y="4114800"/>
            <a:ext cx="1188360" cy="502560"/>
          </a:xfrm>
          <a:prstGeom prst="roundRect">
            <a:avLst>
              <a:gd name="adj" fmla="val 14545"/>
            </a:avLst>
          </a:prstGeom>
          <a:solidFill>
            <a:srgbClr val="FEE2E2"/>
          </a:solidFill>
          <a:ln w="13970">
            <a:solidFill>
              <a:srgbClr val="DC262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32" name="Text 46"/>
          <p:cNvSpPr/>
          <p:nvPr/>
        </p:nvSpPr>
        <p:spPr>
          <a:xfrm>
            <a:off x="8823960" y="4151520"/>
            <a:ext cx="109692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output[t]</a:t>
            </a:r>
            <a:endParaRPr lang="it-IT" sz="1400" b="0" u="none" strike="noStrike">
              <a:solidFill>
                <a:srgbClr val="000000"/>
              </a:solidFill>
              <a:effectLst/>
              <a:uFillTx/>
              <a:latin typeface="Arial"/>
            </a:endParaRPr>
          </a:p>
        </p:txBody>
      </p:sp>
      <p:sp>
        <p:nvSpPr>
          <p:cNvPr id="233" name="Shape 47"/>
          <p:cNvSpPr/>
          <p:nvPr/>
        </p:nvSpPr>
        <p:spPr>
          <a:xfrm>
            <a:off x="7772400" y="3154680"/>
            <a:ext cx="1600200" cy="914400"/>
          </a:xfrm>
          <a:prstGeom prst="line">
            <a:avLst/>
          </a:prstGeom>
          <a:ln w="1651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34" name="PlaceHolder 1"/>
          <p:cNvSpPr>
            <a:spLocks noGrp="1"/>
          </p:cNvSpPr>
          <p:nvPr>
            <p:ph type="sldNum" idx="7"/>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830394B0-5435-4EF0-B739-13B9CD1AD848}" type="slidenum">
              <a:rPr lang="en-US" sz="1200" b="0" u="none" strike="noStrike">
                <a:solidFill>
                  <a:srgbClr val="64748B"/>
                </a:solidFill>
                <a:effectLst/>
                <a:uFillTx/>
                <a:latin typeface="Aptos"/>
              </a:rPr>
              <a:t>205</a:t>
            </a:fld>
            <a:endParaRPr lang="it-IT" sz="1200" b="0" u="none" strike="noStrike">
              <a:solidFill>
                <a:srgbClr val="000000"/>
              </a:solidFill>
              <a:effectLst/>
              <a:uFillTx/>
              <a:latin typeface="Times New Roman"/>
            </a:endParaRPr>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AAEF400-07A0-7F83-45EA-8F35BEAA02DD}"/>
              </a:ext>
            </a:extLst>
          </p:cNvPr>
          <p:cNvSpPr>
            <a:spLocks noGrp="1"/>
          </p:cNvSpPr>
          <p:nvPr>
            <p:ph type="title"/>
          </p:nvPr>
        </p:nvSpPr>
        <p:spPr/>
        <p:txBody>
          <a:bodyPr/>
          <a:lstStyle/>
          <a:p>
            <a:r>
              <a:rPr lang="en-GB" dirty="0"/>
              <a:t>Residual and skip connections</a:t>
            </a:r>
          </a:p>
        </p:txBody>
      </p:sp>
      <p:sp>
        <p:nvSpPr>
          <p:cNvPr id="3" name="Segnaposto contenuto 2">
            <a:extLst>
              <a:ext uri="{FF2B5EF4-FFF2-40B4-BE49-F238E27FC236}">
                <a16:creationId xmlns:a16="http://schemas.microsoft.com/office/drawing/2014/main" id="{35E91759-6941-7E93-BFBF-C2CC96822995}"/>
              </a:ext>
            </a:extLst>
          </p:cNvPr>
          <p:cNvSpPr>
            <a:spLocks noGrp="1"/>
          </p:cNvSpPr>
          <p:nvPr>
            <p:ph sz="half" idx="1"/>
          </p:nvPr>
        </p:nvSpPr>
        <p:spPr>
          <a:xfrm>
            <a:off x="215900" y="1768495"/>
            <a:ext cx="5156200" cy="4826220"/>
          </a:xfrm>
        </p:spPr>
        <p:txBody>
          <a:bodyPr>
            <a:normAutofit fontScale="85000" lnSpcReduction="10000"/>
          </a:bodyPr>
          <a:lstStyle/>
          <a:p>
            <a:endParaRPr lang="en-GB" dirty="0"/>
          </a:p>
          <a:p>
            <a:r>
              <a:rPr lang="en-GB" b="1" dirty="0"/>
              <a:t>Residual connection</a:t>
            </a:r>
          </a:p>
          <a:p>
            <a:r>
              <a:rPr lang="en-GB" dirty="0"/>
              <a:t>Helps propagate information through a deep stack.</a:t>
            </a:r>
          </a:p>
          <a:p>
            <a:r>
              <a:rPr lang="en-GB" dirty="0"/>
              <a:t>Conceptually:</a:t>
            </a:r>
          </a:p>
          <a:p>
            <a:r>
              <a:rPr lang="en-GB" dirty="0"/>
              <a:t>block input ───────────────┐</a:t>
            </a:r>
          </a:p>
          <a:p>
            <a:r>
              <a:rPr lang="en-GB" dirty="0"/>
              <a:t>     ↓                                              │</a:t>
            </a:r>
          </a:p>
          <a:p>
            <a:r>
              <a:rPr lang="en-GB" dirty="0"/>
              <a:t>dilated transformation                   │</a:t>
            </a:r>
          </a:p>
          <a:p>
            <a:r>
              <a:rPr lang="en-GB" dirty="0"/>
              <a:t>     ↓                                              │</a:t>
            </a:r>
          </a:p>
          <a:p>
            <a:r>
              <a:rPr lang="en-GB" dirty="0"/>
              <a:t>     └───────────── +</a:t>
            </a:r>
          </a:p>
          <a:p>
            <a:r>
              <a:rPr lang="en-GB" dirty="0"/>
              <a:t>                                          ←───┘</a:t>
            </a:r>
          </a:p>
          <a:p>
            <a:r>
              <a:rPr lang="en-GB" dirty="0"/>
              <a:t>                                        ↓</a:t>
            </a:r>
          </a:p>
          <a:p>
            <a:r>
              <a:rPr lang="en-GB" dirty="0"/>
              <a:t>                                next block</a:t>
            </a:r>
          </a:p>
          <a:p>
            <a:endParaRPr lang="en-GB" dirty="0"/>
          </a:p>
        </p:txBody>
      </p:sp>
      <p:sp>
        <p:nvSpPr>
          <p:cNvPr id="6" name="Segnaposto contenuto 5">
            <a:extLst>
              <a:ext uri="{FF2B5EF4-FFF2-40B4-BE49-F238E27FC236}">
                <a16:creationId xmlns:a16="http://schemas.microsoft.com/office/drawing/2014/main" id="{8CA2C66D-168C-DAB1-1444-8297A313C57F}"/>
              </a:ext>
            </a:extLst>
          </p:cNvPr>
          <p:cNvSpPr>
            <a:spLocks noGrp="1"/>
          </p:cNvSpPr>
          <p:nvPr>
            <p:ph sz="half" idx="2"/>
          </p:nvPr>
        </p:nvSpPr>
        <p:spPr>
          <a:xfrm>
            <a:off x="5991670" y="2067611"/>
            <a:ext cx="4184034" cy="3880773"/>
          </a:xfrm>
        </p:spPr>
        <p:txBody>
          <a:bodyPr>
            <a:normAutofit fontScale="85000" lnSpcReduction="10000"/>
          </a:bodyPr>
          <a:lstStyle/>
          <a:p>
            <a:r>
              <a:rPr lang="en-GB" b="1" dirty="0"/>
              <a:t>Skip connection (see next slide picture)</a:t>
            </a:r>
          </a:p>
          <a:p>
            <a:r>
              <a:rPr lang="en-GB" dirty="0"/>
              <a:t>Sends information from several intermediate blocks directly toward the final output.</a:t>
            </a:r>
          </a:p>
          <a:p>
            <a:r>
              <a:rPr lang="en-GB" dirty="0"/>
              <a:t>Conceptually:</a:t>
            </a:r>
          </a:p>
          <a:p>
            <a:r>
              <a:rPr lang="en-GB" dirty="0"/>
              <a:t>Block 1 ───→</a:t>
            </a:r>
          </a:p>
          <a:p>
            <a:r>
              <a:rPr lang="en-GB" dirty="0"/>
              <a:t>Block 2 ───→</a:t>
            </a:r>
          </a:p>
          <a:p>
            <a:r>
              <a:rPr lang="en-GB" dirty="0"/>
              <a:t>Block 3 ───→ combine → output</a:t>
            </a:r>
          </a:p>
          <a:p>
            <a:r>
              <a:rPr lang="en-GB" dirty="0"/>
              <a:t>Block 4 ───→</a:t>
            </a:r>
          </a:p>
          <a:p>
            <a:r>
              <a:rPr lang="en-GB" b="1" dirty="0"/>
              <a:t>Purpose</a:t>
            </a:r>
          </a:p>
          <a:p>
            <a:r>
              <a:rPr lang="en-GB" b="1" dirty="0"/>
              <a:t>Skip connections allow features learned at several temporal scales to contribute directly to prediction.</a:t>
            </a:r>
          </a:p>
          <a:p>
            <a:endParaRPr lang="en-GB" dirty="0"/>
          </a:p>
        </p:txBody>
      </p:sp>
      <p:sp>
        <p:nvSpPr>
          <p:cNvPr id="5" name="CasellaDiTesto 4">
            <a:extLst>
              <a:ext uri="{FF2B5EF4-FFF2-40B4-BE49-F238E27FC236}">
                <a16:creationId xmlns:a16="http://schemas.microsoft.com/office/drawing/2014/main" id="{C400ECA2-FEBF-06A0-F04C-E708A4CCB9D3}"/>
              </a:ext>
            </a:extLst>
          </p:cNvPr>
          <p:cNvSpPr txBox="1"/>
          <p:nvPr/>
        </p:nvSpPr>
        <p:spPr>
          <a:xfrm>
            <a:off x="3727450" y="1399163"/>
            <a:ext cx="7372350" cy="369332"/>
          </a:xfrm>
          <a:prstGeom prst="rect">
            <a:avLst/>
          </a:prstGeom>
          <a:noFill/>
        </p:spPr>
        <p:txBody>
          <a:bodyPr wrap="square">
            <a:spAutoFit/>
          </a:bodyPr>
          <a:lstStyle/>
          <a:p>
            <a:r>
              <a:rPr lang="en-GB" sz="1800" dirty="0" err="1"/>
              <a:t>WaveNet</a:t>
            </a:r>
            <a:r>
              <a:rPr lang="en-GB" sz="1800" dirty="0"/>
              <a:t> uses both </a:t>
            </a:r>
            <a:r>
              <a:rPr lang="en-GB" sz="1800" b="1" dirty="0"/>
              <a:t>residual connections</a:t>
            </a:r>
            <a:r>
              <a:rPr lang="en-GB" sz="1800" dirty="0"/>
              <a:t> and </a:t>
            </a:r>
            <a:r>
              <a:rPr lang="en-GB" sz="1800" b="1" dirty="0"/>
              <a:t>skip connections</a:t>
            </a:r>
            <a:r>
              <a:rPr lang="en-GB" sz="1800" dirty="0"/>
              <a:t>.</a:t>
            </a:r>
            <a:endParaRPr lang="en-GB" dirty="0"/>
          </a:p>
        </p:txBody>
      </p:sp>
      <p:sp>
        <p:nvSpPr>
          <p:cNvPr id="8" name="CasellaDiTesto 7">
            <a:extLst>
              <a:ext uri="{FF2B5EF4-FFF2-40B4-BE49-F238E27FC236}">
                <a16:creationId xmlns:a16="http://schemas.microsoft.com/office/drawing/2014/main" id="{B64607ED-A556-A806-2450-39EF757704E3}"/>
              </a:ext>
            </a:extLst>
          </p:cNvPr>
          <p:cNvSpPr txBox="1"/>
          <p:nvPr/>
        </p:nvSpPr>
        <p:spPr>
          <a:xfrm>
            <a:off x="2457739" y="6071495"/>
            <a:ext cx="7406698" cy="523220"/>
          </a:xfrm>
          <a:prstGeom prst="rect">
            <a:avLst/>
          </a:prstGeom>
          <a:noFill/>
        </p:spPr>
        <p:txBody>
          <a:bodyPr wrap="square">
            <a:spAutoFit/>
          </a:bodyPr>
          <a:lstStyle/>
          <a:p>
            <a:r>
              <a:rPr lang="en-GB" sz="1400" b="1" dirty="0">
                <a:highlight>
                  <a:srgbClr val="FFFF00"/>
                </a:highlight>
              </a:rPr>
              <a:t>Residual connections support deep optimization; </a:t>
            </a:r>
            <a:br>
              <a:rPr lang="en-GB" sz="1400" b="1" dirty="0">
                <a:highlight>
                  <a:srgbClr val="FFFF00"/>
                </a:highlight>
              </a:rPr>
            </a:br>
            <a:r>
              <a:rPr lang="en-GB" sz="1400" b="1" dirty="0">
                <a:highlight>
                  <a:srgbClr val="FFFF00"/>
                </a:highlight>
              </a:rPr>
              <a:t>skip connections aggregate information from several levels of the temporal hierarchy.</a:t>
            </a:r>
          </a:p>
        </p:txBody>
      </p:sp>
    </p:spTree>
    <p:extLst>
      <p:ext uri="{BB962C8B-B14F-4D97-AF65-F5344CB8AC3E}">
        <p14:creationId xmlns:p14="http://schemas.microsoft.com/office/powerpoint/2010/main" val="267683342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0F172A"/>
                </a:solidFill>
                <a:effectLst/>
                <a:uFillTx/>
                <a:latin typeface="Aptos Display"/>
                <a:ea typeface="Aptos Display"/>
              </a:rPr>
              <a:t>Residual and skip connections</a:t>
            </a:r>
            <a:endParaRPr lang="it-IT" sz="3000" b="0" u="none" strike="noStrike">
              <a:solidFill>
                <a:srgbClr val="000000"/>
              </a:solidFill>
              <a:effectLst/>
              <a:uFillTx/>
              <a:latin typeface="Arial"/>
            </a:endParaRPr>
          </a:p>
        </p:txBody>
      </p:sp>
      <p:sp>
        <p:nvSpPr>
          <p:cNvPr id="236"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Two paths serving different purposes</a:t>
            </a:r>
            <a:endParaRPr lang="it-IT" sz="1500" b="0" u="none" strike="noStrike">
              <a:solidFill>
                <a:srgbClr val="000000"/>
              </a:solidFill>
              <a:effectLst/>
              <a:uFillTx/>
              <a:latin typeface="Arial"/>
            </a:endParaRPr>
          </a:p>
        </p:txBody>
      </p:sp>
      <p:sp>
        <p:nvSpPr>
          <p:cNvPr id="237" name="Text 2"/>
          <p:cNvSpPr/>
          <p:nvPr/>
        </p:nvSpPr>
        <p:spPr>
          <a:xfrm>
            <a:off x="914400" y="1325880"/>
            <a:ext cx="347436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0F172A"/>
                </a:solidFill>
                <a:effectLst/>
                <a:uFillTx/>
                <a:latin typeface="Aptos"/>
                <a:ea typeface="Aptos"/>
              </a:rPr>
              <a:t>Residual connection</a:t>
            </a:r>
            <a:endParaRPr lang="it-IT" sz="1600" b="0" u="none" strike="noStrike">
              <a:solidFill>
                <a:srgbClr val="000000"/>
              </a:solidFill>
              <a:effectLst/>
              <a:uFillTx/>
              <a:latin typeface="Arial"/>
            </a:endParaRPr>
          </a:p>
        </p:txBody>
      </p:sp>
      <p:sp>
        <p:nvSpPr>
          <p:cNvPr id="239" name="Text 4"/>
          <p:cNvSpPr/>
          <p:nvPr/>
        </p:nvSpPr>
        <p:spPr>
          <a:xfrm>
            <a:off x="960120" y="1865520"/>
            <a:ext cx="118836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block input</a:t>
            </a:r>
            <a:endParaRPr lang="it-IT" sz="1400" b="0" u="none" strike="noStrike">
              <a:solidFill>
                <a:srgbClr val="000000"/>
              </a:solidFill>
              <a:effectLst/>
              <a:uFillTx/>
              <a:latin typeface="Arial"/>
            </a:endParaRPr>
          </a:p>
        </p:txBody>
      </p:sp>
      <p:sp>
        <p:nvSpPr>
          <p:cNvPr id="240" name="Shape 5"/>
          <p:cNvSpPr/>
          <p:nvPr/>
        </p:nvSpPr>
        <p:spPr>
          <a:xfrm>
            <a:off x="2834640" y="1691640"/>
            <a:ext cx="1645560" cy="731160"/>
          </a:xfrm>
          <a:prstGeom prst="roundRect">
            <a:avLst>
              <a:gd name="adj" fmla="val 10000"/>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41" name="Text 6"/>
          <p:cNvSpPr/>
          <p:nvPr/>
        </p:nvSpPr>
        <p:spPr>
          <a:xfrm>
            <a:off x="2880360" y="1728360"/>
            <a:ext cx="1554120" cy="658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92500" lnSpcReduction="10000"/>
          </a:bodyPr>
          <a:lstStyle/>
          <a:p>
            <a:pPr algn="ctr" defTabSz="914400">
              <a:lnSpc>
                <a:spcPct val="100000"/>
              </a:lnSpc>
              <a:tabLst>
                <a:tab pos="0" algn="l"/>
              </a:tabLst>
            </a:pPr>
            <a:r>
              <a:rPr lang="en-US" sz="1400" b="1" u="none" strike="noStrike" dirty="0">
                <a:solidFill>
                  <a:srgbClr val="0F172A"/>
                </a:solidFill>
                <a:effectLst/>
                <a:uFillTx/>
                <a:latin typeface="Aptos"/>
                <a:ea typeface="Aptos"/>
              </a:rPr>
              <a:t>dilated</a:t>
            </a:r>
            <a:endParaRPr lang="it-IT" sz="1400" b="0" u="none" strike="noStrike" dirty="0">
              <a:solidFill>
                <a:srgbClr val="000000"/>
              </a:solidFill>
              <a:effectLst/>
              <a:uFillTx/>
              <a:latin typeface="Arial"/>
            </a:endParaRPr>
          </a:p>
          <a:p>
            <a:pPr algn="ctr" defTabSz="914400">
              <a:lnSpc>
                <a:spcPct val="100000"/>
              </a:lnSpc>
              <a:tabLst>
                <a:tab pos="0" algn="l"/>
              </a:tabLst>
            </a:pPr>
            <a:r>
              <a:rPr lang="en-US" sz="1400" b="1" u="none" strike="noStrike" dirty="0">
                <a:solidFill>
                  <a:srgbClr val="0F172A"/>
                </a:solidFill>
                <a:effectLst/>
                <a:uFillTx/>
                <a:latin typeface="Aptos"/>
                <a:ea typeface="Aptos"/>
              </a:rPr>
              <a:t>Transformation block</a:t>
            </a:r>
            <a:endParaRPr lang="it-IT" sz="1400" b="0" u="none" strike="noStrike" dirty="0">
              <a:solidFill>
                <a:srgbClr val="000000"/>
              </a:solidFill>
              <a:effectLst/>
              <a:uFillTx/>
              <a:latin typeface="Arial"/>
            </a:endParaRPr>
          </a:p>
        </p:txBody>
      </p:sp>
      <p:sp>
        <p:nvSpPr>
          <p:cNvPr id="242" name="Shape 7"/>
          <p:cNvSpPr/>
          <p:nvPr/>
        </p:nvSpPr>
        <p:spPr>
          <a:xfrm>
            <a:off x="5120640" y="1874520"/>
            <a:ext cx="411120" cy="411120"/>
          </a:xfrm>
          <a:prstGeom prst="roundRect">
            <a:avLst>
              <a:gd name="adj" fmla="val 17778"/>
            </a:avLst>
          </a:prstGeom>
          <a:solidFill>
            <a:srgbClr val="FFFFFF"/>
          </a:solidFill>
          <a:ln w="13970">
            <a:solidFill>
              <a:srgbClr val="47556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43" name="Text 8"/>
          <p:cNvSpPr/>
          <p:nvPr/>
        </p:nvSpPr>
        <p:spPr>
          <a:xfrm>
            <a:off x="5166360" y="1911240"/>
            <a:ext cx="3196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lnSpcReduction="10000"/>
          </a:bodyPr>
          <a:lstStyle/>
          <a:p>
            <a:pPr algn="ctr" defTabSz="914400">
              <a:lnSpc>
                <a:spcPct val="100000"/>
              </a:lnSpc>
              <a:tabLst>
                <a:tab pos="0" algn="l"/>
              </a:tabLst>
            </a:pPr>
            <a:r>
              <a:rPr lang="en-US" sz="1800" b="1" u="none" strike="noStrike">
                <a:solidFill>
                  <a:srgbClr val="0F172A"/>
                </a:solidFill>
                <a:effectLst/>
                <a:uFillTx/>
                <a:latin typeface="Aptos"/>
                <a:ea typeface="Aptos"/>
              </a:rPr>
              <a:t>+</a:t>
            </a:r>
            <a:endParaRPr lang="it-IT" sz="1800" b="0" u="none" strike="noStrike">
              <a:solidFill>
                <a:srgbClr val="000000"/>
              </a:solidFill>
              <a:effectLst/>
              <a:uFillTx/>
              <a:latin typeface="Arial"/>
            </a:endParaRPr>
          </a:p>
        </p:txBody>
      </p:sp>
      <p:sp>
        <p:nvSpPr>
          <p:cNvPr id="245" name="Text 10"/>
          <p:cNvSpPr/>
          <p:nvPr/>
        </p:nvSpPr>
        <p:spPr>
          <a:xfrm>
            <a:off x="5989320" y="1865520"/>
            <a:ext cx="109692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next block</a:t>
            </a:r>
            <a:endParaRPr lang="it-IT" sz="1400" b="0" u="none" strike="noStrike">
              <a:solidFill>
                <a:srgbClr val="000000"/>
              </a:solidFill>
              <a:effectLst/>
              <a:uFillTx/>
              <a:latin typeface="Arial"/>
            </a:endParaRPr>
          </a:p>
        </p:txBody>
      </p:sp>
      <p:sp>
        <p:nvSpPr>
          <p:cNvPr id="246" name="Shape 11"/>
          <p:cNvSpPr/>
          <p:nvPr/>
        </p:nvSpPr>
        <p:spPr>
          <a:xfrm>
            <a:off x="2194560" y="2057400"/>
            <a:ext cx="64008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47" name="Shape 12"/>
          <p:cNvSpPr/>
          <p:nvPr/>
        </p:nvSpPr>
        <p:spPr>
          <a:xfrm>
            <a:off x="4480560" y="2057400"/>
            <a:ext cx="64008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48" name="Shape 13"/>
          <p:cNvSpPr/>
          <p:nvPr/>
        </p:nvSpPr>
        <p:spPr>
          <a:xfrm>
            <a:off x="5532120" y="2057400"/>
            <a:ext cx="41148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49" name="Shape 14"/>
          <p:cNvSpPr/>
          <p:nvPr/>
        </p:nvSpPr>
        <p:spPr>
          <a:xfrm>
            <a:off x="2491020" y="2057400"/>
            <a:ext cx="360" cy="914400"/>
          </a:xfrm>
          <a:prstGeom prst="line">
            <a:avLst/>
          </a:prstGeom>
          <a:ln w="1778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50" name="Shape 15"/>
          <p:cNvSpPr/>
          <p:nvPr/>
        </p:nvSpPr>
        <p:spPr>
          <a:xfrm flipV="1">
            <a:off x="2491020" y="2972160"/>
            <a:ext cx="2830500" cy="17280"/>
          </a:xfrm>
          <a:prstGeom prst="line">
            <a:avLst/>
          </a:prstGeom>
          <a:ln w="17780">
            <a:solidFill>
              <a:srgbClr val="F59E0B"/>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51" name="Shape 16"/>
          <p:cNvSpPr/>
          <p:nvPr/>
        </p:nvSpPr>
        <p:spPr>
          <a:xfrm flipV="1">
            <a:off x="5321520" y="2304000"/>
            <a:ext cx="360" cy="667800"/>
          </a:xfrm>
          <a:prstGeom prst="line">
            <a:avLst/>
          </a:prstGeom>
          <a:ln w="1778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52" name="Text 17"/>
          <p:cNvSpPr/>
          <p:nvPr/>
        </p:nvSpPr>
        <p:spPr>
          <a:xfrm>
            <a:off x="1188720" y="3383280"/>
            <a:ext cx="521172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300" b="1" u="none" strike="noStrike" dirty="0">
                <a:solidFill>
                  <a:srgbClr val="475569"/>
                </a:solidFill>
                <a:effectLst/>
                <a:uFillTx/>
                <a:latin typeface="Aptos"/>
                <a:ea typeface="Aptos"/>
              </a:rPr>
              <a:t>helps deep optimization</a:t>
            </a:r>
            <a:endParaRPr lang="it-IT" sz="1300" b="1" u="none" strike="noStrike" dirty="0">
              <a:solidFill>
                <a:srgbClr val="000000"/>
              </a:solidFill>
              <a:effectLst/>
              <a:uFillTx/>
              <a:latin typeface="Arial"/>
            </a:endParaRPr>
          </a:p>
        </p:txBody>
      </p:sp>
      <p:sp>
        <p:nvSpPr>
          <p:cNvPr id="253" name="Text 18"/>
          <p:cNvSpPr/>
          <p:nvPr/>
        </p:nvSpPr>
        <p:spPr>
          <a:xfrm>
            <a:off x="7544160" y="2512060"/>
            <a:ext cx="310860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0F172A"/>
                </a:solidFill>
                <a:effectLst/>
                <a:uFillTx/>
                <a:latin typeface="Aptos"/>
                <a:ea typeface="Aptos"/>
              </a:rPr>
              <a:t>Skip connections</a:t>
            </a:r>
            <a:endParaRPr lang="it-IT" sz="1600" b="0" u="none" strike="noStrike">
              <a:solidFill>
                <a:srgbClr val="000000"/>
              </a:solidFill>
              <a:effectLst/>
              <a:uFillTx/>
              <a:latin typeface="Arial"/>
            </a:endParaRPr>
          </a:p>
        </p:txBody>
      </p:sp>
      <p:sp>
        <p:nvSpPr>
          <p:cNvPr id="254" name="Shape 19"/>
          <p:cNvSpPr/>
          <p:nvPr/>
        </p:nvSpPr>
        <p:spPr>
          <a:xfrm>
            <a:off x="7635600" y="2832100"/>
            <a:ext cx="1096920" cy="411120"/>
          </a:xfrm>
          <a:prstGeom prst="roundRect">
            <a:avLst>
              <a:gd name="adj" fmla="val 17778"/>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55" name="Text 20"/>
          <p:cNvSpPr/>
          <p:nvPr/>
        </p:nvSpPr>
        <p:spPr>
          <a:xfrm>
            <a:off x="7681320" y="2868820"/>
            <a:ext cx="100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Block 1</a:t>
            </a:r>
            <a:endParaRPr lang="it-IT" sz="1200" b="0" u="none" strike="noStrike">
              <a:solidFill>
                <a:srgbClr val="000000"/>
              </a:solidFill>
              <a:effectLst/>
              <a:uFillTx/>
              <a:latin typeface="Arial"/>
            </a:endParaRPr>
          </a:p>
        </p:txBody>
      </p:sp>
      <p:sp>
        <p:nvSpPr>
          <p:cNvPr id="256" name="Shape 21"/>
          <p:cNvSpPr/>
          <p:nvPr/>
        </p:nvSpPr>
        <p:spPr>
          <a:xfrm>
            <a:off x="8732880" y="3037660"/>
            <a:ext cx="1005840" cy="891720"/>
          </a:xfrm>
          <a:prstGeom prst="line">
            <a:avLst/>
          </a:prstGeom>
          <a:ln w="1397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57" name="Shape 22"/>
          <p:cNvSpPr/>
          <p:nvPr/>
        </p:nvSpPr>
        <p:spPr>
          <a:xfrm>
            <a:off x="7635600" y="3517900"/>
            <a:ext cx="1096920" cy="411120"/>
          </a:xfrm>
          <a:prstGeom prst="roundRect">
            <a:avLst>
              <a:gd name="adj" fmla="val 17778"/>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58" name="Text 23"/>
          <p:cNvSpPr/>
          <p:nvPr/>
        </p:nvSpPr>
        <p:spPr>
          <a:xfrm>
            <a:off x="7681320" y="3554620"/>
            <a:ext cx="100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Block 2</a:t>
            </a:r>
            <a:endParaRPr lang="it-IT" sz="1200" b="0" u="none" strike="noStrike">
              <a:solidFill>
                <a:srgbClr val="000000"/>
              </a:solidFill>
              <a:effectLst/>
              <a:uFillTx/>
              <a:latin typeface="Arial"/>
            </a:endParaRPr>
          </a:p>
        </p:txBody>
      </p:sp>
      <p:sp>
        <p:nvSpPr>
          <p:cNvPr id="259" name="Shape 24"/>
          <p:cNvSpPr/>
          <p:nvPr/>
        </p:nvSpPr>
        <p:spPr>
          <a:xfrm>
            <a:off x="8732880" y="3723460"/>
            <a:ext cx="1005840" cy="205920"/>
          </a:xfrm>
          <a:prstGeom prst="line">
            <a:avLst/>
          </a:prstGeom>
          <a:ln w="1397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60" name="Shape 25"/>
          <p:cNvSpPr/>
          <p:nvPr/>
        </p:nvSpPr>
        <p:spPr>
          <a:xfrm>
            <a:off x="7635600" y="4203700"/>
            <a:ext cx="1096920" cy="411120"/>
          </a:xfrm>
          <a:prstGeom prst="roundRect">
            <a:avLst>
              <a:gd name="adj" fmla="val 17778"/>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61" name="Text 26"/>
          <p:cNvSpPr/>
          <p:nvPr/>
        </p:nvSpPr>
        <p:spPr>
          <a:xfrm>
            <a:off x="7681320" y="4240420"/>
            <a:ext cx="100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Block 3</a:t>
            </a:r>
            <a:endParaRPr lang="it-IT" sz="1200" b="0" u="none" strike="noStrike">
              <a:solidFill>
                <a:srgbClr val="000000"/>
              </a:solidFill>
              <a:effectLst/>
              <a:uFillTx/>
              <a:latin typeface="Arial"/>
            </a:endParaRPr>
          </a:p>
        </p:txBody>
      </p:sp>
      <p:sp>
        <p:nvSpPr>
          <p:cNvPr id="262" name="Shape 27"/>
          <p:cNvSpPr/>
          <p:nvPr/>
        </p:nvSpPr>
        <p:spPr>
          <a:xfrm flipV="1">
            <a:off x="8732880" y="3929380"/>
            <a:ext cx="1005840" cy="479880"/>
          </a:xfrm>
          <a:prstGeom prst="line">
            <a:avLst/>
          </a:prstGeom>
          <a:ln w="1397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63" name="Shape 28"/>
          <p:cNvSpPr/>
          <p:nvPr/>
        </p:nvSpPr>
        <p:spPr>
          <a:xfrm>
            <a:off x="7635600" y="4889500"/>
            <a:ext cx="1096920" cy="411120"/>
          </a:xfrm>
          <a:prstGeom prst="roundRect">
            <a:avLst>
              <a:gd name="adj" fmla="val 17778"/>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64" name="Text 29"/>
          <p:cNvSpPr/>
          <p:nvPr/>
        </p:nvSpPr>
        <p:spPr>
          <a:xfrm>
            <a:off x="7681320" y="4926220"/>
            <a:ext cx="100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Block 4</a:t>
            </a:r>
            <a:endParaRPr lang="it-IT" sz="1200" b="0" u="none" strike="noStrike">
              <a:solidFill>
                <a:srgbClr val="000000"/>
              </a:solidFill>
              <a:effectLst/>
              <a:uFillTx/>
              <a:latin typeface="Arial"/>
            </a:endParaRPr>
          </a:p>
        </p:txBody>
      </p:sp>
      <p:sp>
        <p:nvSpPr>
          <p:cNvPr id="265" name="Shape 30"/>
          <p:cNvSpPr/>
          <p:nvPr/>
        </p:nvSpPr>
        <p:spPr>
          <a:xfrm flipV="1">
            <a:off x="8732880" y="3929380"/>
            <a:ext cx="1005840" cy="1165680"/>
          </a:xfrm>
          <a:prstGeom prst="line">
            <a:avLst/>
          </a:prstGeom>
          <a:ln w="1397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66" name="Shape 31"/>
          <p:cNvSpPr/>
          <p:nvPr/>
        </p:nvSpPr>
        <p:spPr>
          <a:xfrm>
            <a:off x="9784440" y="3609340"/>
            <a:ext cx="1005480" cy="639720"/>
          </a:xfrm>
          <a:prstGeom prst="roundRect">
            <a:avLst>
              <a:gd name="adj" fmla="val 11429"/>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67" name="Text 32"/>
          <p:cNvSpPr/>
          <p:nvPr/>
        </p:nvSpPr>
        <p:spPr>
          <a:xfrm>
            <a:off x="9830160" y="3646060"/>
            <a:ext cx="91404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dirty="0">
                <a:solidFill>
                  <a:srgbClr val="0F172A"/>
                </a:solidFill>
                <a:effectLst/>
                <a:uFillTx/>
                <a:latin typeface="Aptos"/>
                <a:ea typeface="Aptos"/>
              </a:rPr>
              <a:t>sum</a:t>
            </a:r>
            <a:endParaRPr lang="it-IT" sz="1300" b="0" u="none" strike="noStrike" dirty="0">
              <a:solidFill>
                <a:srgbClr val="000000"/>
              </a:solidFill>
              <a:effectLst/>
              <a:uFillTx/>
              <a:latin typeface="Arial"/>
            </a:endParaRPr>
          </a:p>
        </p:txBody>
      </p:sp>
      <p:sp>
        <p:nvSpPr>
          <p:cNvPr id="268" name="Shape 33"/>
          <p:cNvSpPr/>
          <p:nvPr/>
        </p:nvSpPr>
        <p:spPr>
          <a:xfrm>
            <a:off x="9875880" y="4843780"/>
            <a:ext cx="822600" cy="411120"/>
          </a:xfrm>
          <a:prstGeom prst="roundRect">
            <a:avLst>
              <a:gd name="adj" fmla="val 17778"/>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69" name="Text 34"/>
          <p:cNvSpPr/>
          <p:nvPr/>
        </p:nvSpPr>
        <p:spPr>
          <a:xfrm>
            <a:off x="9921600" y="4880500"/>
            <a:ext cx="73116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output</a:t>
            </a:r>
            <a:endParaRPr lang="it-IT" sz="1200" b="0" u="none" strike="noStrike">
              <a:solidFill>
                <a:srgbClr val="000000"/>
              </a:solidFill>
              <a:effectLst/>
              <a:uFillTx/>
              <a:latin typeface="Arial"/>
            </a:endParaRPr>
          </a:p>
        </p:txBody>
      </p:sp>
      <p:sp>
        <p:nvSpPr>
          <p:cNvPr id="270" name="Shape 35"/>
          <p:cNvSpPr/>
          <p:nvPr/>
        </p:nvSpPr>
        <p:spPr>
          <a:xfrm>
            <a:off x="10287360" y="4249420"/>
            <a:ext cx="360" cy="594360"/>
          </a:xfrm>
          <a:prstGeom prst="line">
            <a:avLst/>
          </a:prstGeom>
          <a:ln w="1524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71" name="Text 36"/>
          <p:cNvSpPr/>
          <p:nvPr/>
        </p:nvSpPr>
        <p:spPr>
          <a:xfrm>
            <a:off x="7498620" y="5552620"/>
            <a:ext cx="3474360" cy="365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10000"/>
          </a:bodyPr>
          <a:lstStyle/>
          <a:p>
            <a:pPr algn="ctr" defTabSz="914400">
              <a:lnSpc>
                <a:spcPct val="100000"/>
              </a:lnSpc>
              <a:tabLst>
                <a:tab pos="0" algn="l"/>
              </a:tabLst>
            </a:pPr>
            <a:r>
              <a:rPr lang="en-US" sz="1300" b="1" u="none" strike="noStrike" dirty="0">
                <a:solidFill>
                  <a:srgbClr val="475569"/>
                </a:solidFill>
                <a:effectLst/>
                <a:uFillTx/>
                <a:latin typeface="Aptos"/>
                <a:ea typeface="Aptos"/>
              </a:rPr>
              <a:t>Combines representations from different receptive-field scales</a:t>
            </a:r>
            <a:endParaRPr lang="it-IT" sz="1300" b="1" u="none" strike="noStrike" dirty="0">
              <a:solidFill>
                <a:srgbClr val="000000"/>
              </a:solidFill>
              <a:effectLst/>
              <a:uFillTx/>
              <a:latin typeface="Arial"/>
            </a:endParaRPr>
          </a:p>
        </p:txBody>
      </p:sp>
      <p:sp>
        <p:nvSpPr>
          <p:cNvPr id="272" name="PlaceHolder 1"/>
          <p:cNvSpPr>
            <a:spLocks noGrp="1"/>
          </p:cNvSpPr>
          <p:nvPr>
            <p:ph type="sldNum" idx="8"/>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6E2F45BF-C293-43B9-996B-AC35468181BC}" type="slidenum">
              <a:rPr lang="en-US" sz="1200" b="0" u="none" strike="noStrike">
                <a:solidFill>
                  <a:srgbClr val="64748B"/>
                </a:solidFill>
                <a:effectLst/>
                <a:uFillTx/>
                <a:latin typeface="Aptos"/>
              </a:rPr>
              <a:t>207</a:t>
            </a:fld>
            <a:endParaRPr lang="it-IT" sz="1200" b="0" u="none" strike="noStrike">
              <a:solidFill>
                <a:srgbClr val="000000"/>
              </a:solidFill>
              <a:effectLst/>
              <a:uFillTx/>
              <a:latin typeface="Times New Roman"/>
            </a:endParaRPr>
          </a:p>
        </p:txBody>
      </p:sp>
      <p:sp>
        <p:nvSpPr>
          <p:cNvPr id="3" name="Shape 13">
            <a:extLst>
              <a:ext uri="{FF2B5EF4-FFF2-40B4-BE49-F238E27FC236}">
                <a16:creationId xmlns:a16="http://schemas.microsoft.com/office/drawing/2014/main" id="{8842D748-0C63-578A-7E52-66D44B08E396}"/>
              </a:ext>
            </a:extLst>
          </p:cNvPr>
          <p:cNvSpPr/>
          <p:nvPr/>
        </p:nvSpPr>
        <p:spPr>
          <a:xfrm>
            <a:off x="8123280" y="2466700"/>
            <a:ext cx="0" cy="41112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11" name="Shape 13">
            <a:extLst>
              <a:ext uri="{FF2B5EF4-FFF2-40B4-BE49-F238E27FC236}">
                <a16:creationId xmlns:a16="http://schemas.microsoft.com/office/drawing/2014/main" id="{FFF76868-454D-8071-A934-F585F838E5D3}"/>
              </a:ext>
            </a:extLst>
          </p:cNvPr>
          <p:cNvSpPr/>
          <p:nvPr/>
        </p:nvSpPr>
        <p:spPr>
          <a:xfrm>
            <a:off x="8130900" y="3206860"/>
            <a:ext cx="0" cy="41112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13" name="Shape 13">
            <a:extLst>
              <a:ext uri="{FF2B5EF4-FFF2-40B4-BE49-F238E27FC236}">
                <a16:creationId xmlns:a16="http://schemas.microsoft.com/office/drawing/2014/main" id="{D3526DE4-D929-5752-210B-978DBA54E1C6}"/>
              </a:ext>
            </a:extLst>
          </p:cNvPr>
          <p:cNvSpPr/>
          <p:nvPr/>
        </p:nvSpPr>
        <p:spPr>
          <a:xfrm>
            <a:off x="8130900" y="3892660"/>
            <a:ext cx="0" cy="41112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15" name="Shape 13">
            <a:extLst>
              <a:ext uri="{FF2B5EF4-FFF2-40B4-BE49-F238E27FC236}">
                <a16:creationId xmlns:a16="http://schemas.microsoft.com/office/drawing/2014/main" id="{C61B6B2E-5FD5-5733-791B-36492C4C3672}"/>
              </a:ext>
            </a:extLst>
          </p:cNvPr>
          <p:cNvSpPr/>
          <p:nvPr/>
        </p:nvSpPr>
        <p:spPr>
          <a:xfrm>
            <a:off x="8130900" y="4515100"/>
            <a:ext cx="0" cy="41112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 name="CasellaDiTesto 1">
            <a:extLst>
              <a:ext uri="{FF2B5EF4-FFF2-40B4-BE49-F238E27FC236}">
                <a16:creationId xmlns:a16="http://schemas.microsoft.com/office/drawing/2014/main" id="{8A864340-DFE3-45F4-C1AA-E5928DFC08F0}"/>
              </a:ext>
            </a:extLst>
          </p:cNvPr>
          <p:cNvSpPr txBox="1"/>
          <p:nvPr/>
        </p:nvSpPr>
        <p:spPr>
          <a:xfrm>
            <a:off x="2022764" y="4203700"/>
            <a:ext cx="3966556" cy="646331"/>
          </a:xfrm>
          <a:prstGeom prst="rect">
            <a:avLst/>
          </a:prstGeom>
          <a:noFill/>
        </p:spPr>
        <p:txBody>
          <a:bodyPr wrap="square" rtlCol="0">
            <a:spAutoFit/>
          </a:bodyPr>
          <a:lstStyle/>
          <a:p>
            <a:r>
              <a:rPr lang="it-IT" dirty="0" err="1"/>
              <a:t>This</a:t>
            </a:r>
            <a:r>
              <a:rPr lang="it-IT" dirty="0"/>
              <a:t> </a:t>
            </a:r>
            <a:r>
              <a:rPr lang="it-IT" dirty="0" err="1"/>
              <a:t>residual</a:t>
            </a:r>
            <a:r>
              <a:rPr lang="it-IT" dirty="0"/>
              <a:t> connection </a:t>
            </a:r>
            <a:r>
              <a:rPr lang="it-IT" dirty="0" err="1"/>
              <a:t>is</a:t>
            </a:r>
            <a:r>
              <a:rPr lang="it-IT" dirty="0"/>
              <a:t> </a:t>
            </a:r>
            <a:r>
              <a:rPr lang="it-IT" dirty="0" err="1"/>
              <a:t>simplified</a:t>
            </a:r>
            <a:r>
              <a:rPr lang="it-IT" dirty="0"/>
              <a:t> (</a:t>
            </a:r>
            <a:r>
              <a:rPr lang="it-IT" dirty="0" err="1"/>
              <a:t>see</a:t>
            </a:r>
            <a:r>
              <a:rPr lang="it-IT" dirty="0"/>
              <a:t> </a:t>
            </a:r>
            <a:r>
              <a:rPr lang="it-IT" dirty="0" err="1"/>
              <a:t>next</a:t>
            </a:r>
            <a:r>
              <a:rPr lang="it-IT" dirty="0"/>
              <a:t> slide)</a:t>
            </a:r>
            <a:endParaRPr lang="en-GB" dirty="0"/>
          </a:p>
        </p:txBody>
      </p:sp>
      <p:sp>
        <p:nvSpPr>
          <p:cNvPr id="4" name="CasellaDiTesto 3">
            <a:extLst>
              <a:ext uri="{FF2B5EF4-FFF2-40B4-BE49-F238E27FC236}">
                <a16:creationId xmlns:a16="http://schemas.microsoft.com/office/drawing/2014/main" id="{F479898F-4F29-F053-2117-503FA363D74E}"/>
              </a:ext>
            </a:extLst>
          </p:cNvPr>
          <p:cNvSpPr txBox="1"/>
          <p:nvPr/>
        </p:nvSpPr>
        <p:spPr>
          <a:xfrm>
            <a:off x="5652655" y="830015"/>
            <a:ext cx="1717963" cy="523220"/>
          </a:xfrm>
          <a:prstGeom prst="rect">
            <a:avLst/>
          </a:prstGeom>
          <a:noFill/>
        </p:spPr>
        <p:txBody>
          <a:bodyPr wrap="square" rtlCol="0">
            <a:spAutoFit/>
          </a:bodyPr>
          <a:lstStyle/>
          <a:p>
            <a:r>
              <a:rPr lang="it-IT" sz="1400" dirty="0"/>
              <a:t>One </a:t>
            </a:r>
            <a:r>
              <a:rPr lang="it-IT" sz="1400" dirty="0" err="1"/>
              <a:t>block</a:t>
            </a:r>
            <a:r>
              <a:rPr lang="it-IT" sz="1400" dirty="0"/>
              <a:t> </a:t>
            </a:r>
            <a:r>
              <a:rPr lang="it-IT" sz="1400" dirty="0" err="1"/>
              <a:t>is</a:t>
            </a:r>
            <a:r>
              <a:rPr lang="it-IT" sz="1400" dirty="0"/>
              <a:t> </a:t>
            </a:r>
            <a:r>
              <a:rPr lang="it-IT" sz="1400" dirty="0" err="1"/>
              <a:t>actually</a:t>
            </a:r>
            <a:r>
              <a:rPr lang="it-IT" sz="1400" dirty="0"/>
              <a:t> one </a:t>
            </a:r>
            <a:r>
              <a:rPr lang="it-IT" sz="1400" dirty="0" err="1"/>
              <a:t>layer</a:t>
            </a:r>
            <a:endParaRPr lang="en-GB" sz="1400" dirty="0"/>
          </a:p>
        </p:txBody>
      </p:sp>
      <p:cxnSp>
        <p:nvCxnSpPr>
          <p:cNvPr id="6" name="Connettore 2 5">
            <a:extLst>
              <a:ext uri="{FF2B5EF4-FFF2-40B4-BE49-F238E27FC236}">
                <a16:creationId xmlns:a16="http://schemas.microsoft.com/office/drawing/2014/main" id="{7E1F0FB3-7ADF-107A-D0B0-AC00CA96A31D}"/>
              </a:ext>
            </a:extLst>
          </p:cNvPr>
          <p:cNvCxnSpPr/>
          <p:nvPr/>
        </p:nvCxnSpPr>
        <p:spPr>
          <a:xfrm flipH="1">
            <a:off x="4073236" y="1060200"/>
            <a:ext cx="1458524" cy="11890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F39E1A6-CF8E-3157-B832-BFB3CED5A6B6}"/>
              </a:ext>
            </a:extLst>
          </p:cNvPr>
          <p:cNvSpPr>
            <a:spLocks noGrp="1"/>
          </p:cNvSpPr>
          <p:nvPr>
            <p:ph type="title"/>
          </p:nvPr>
        </p:nvSpPr>
        <p:spPr/>
        <p:txBody>
          <a:bodyPr/>
          <a:lstStyle/>
          <a:p>
            <a:r>
              <a:rPr lang="en-GB" dirty="0"/>
              <a:t>Gated activation inside </a:t>
            </a:r>
            <a:r>
              <a:rPr lang="en-GB" dirty="0" err="1"/>
              <a:t>WaveNet</a:t>
            </a:r>
            <a:r>
              <a:rPr lang="en-GB" dirty="0"/>
              <a:t> blocks</a:t>
            </a:r>
          </a:p>
        </p:txBody>
      </p:sp>
      <p:sp>
        <p:nvSpPr>
          <p:cNvPr id="3" name="Segnaposto contenuto 2">
            <a:extLst>
              <a:ext uri="{FF2B5EF4-FFF2-40B4-BE49-F238E27FC236}">
                <a16:creationId xmlns:a16="http://schemas.microsoft.com/office/drawing/2014/main" id="{AE030905-6872-60FB-F682-E02BF80E413B}"/>
              </a:ext>
            </a:extLst>
          </p:cNvPr>
          <p:cNvSpPr>
            <a:spLocks noGrp="1"/>
          </p:cNvSpPr>
          <p:nvPr>
            <p:ph sz="half" idx="1"/>
          </p:nvPr>
        </p:nvSpPr>
        <p:spPr/>
        <p:txBody>
          <a:bodyPr>
            <a:normAutofit lnSpcReduction="10000"/>
          </a:bodyPr>
          <a:lstStyle/>
          <a:p>
            <a:r>
              <a:rPr lang="en-GB" dirty="0" err="1"/>
              <a:t>WaveNet</a:t>
            </a:r>
            <a:r>
              <a:rPr lang="en-GB" dirty="0"/>
              <a:t> also uses gated nonlinear transformations.</a:t>
            </a:r>
          </a:p>
          <a:p>
            <a:r>
              <a:rPr lang="en-GB" dirty="0"/>
              <a:t>A simplified conceptual form is:</a:t>
            </a:r>
          </a:p>
          <a:p>
            <a:r>
              <a:rPr lang="en-GB" dirty="0"/>
              <a:t>tanh transformation</a:t>
            </a:r>
          </a:p>
          <a:p>
            <a:r>
              <a:rPr lang="en-GB" dirty="0"/>
              <a:t>        ×</a:t>
            </a:r>
          </a:p>
          <a:p>
            <a:r>
              <a:rPr lang="en-GB" dirty="0"/>
              <a:t>sigmoid gate</a:t>
            </a:r>
          </a:p>
          <a:p>
            <a:r>
              <a:rPr lang="en-GB" dirty="0"/>
              <a:t>        ↓</a:t>
            </a:r>
          </a:p>
          <a:p>
            <a:r>
              <a:rPr lang="en-GB" dirty="0"/>
              <a:t>gated activation</a:t>
            </a:r>
          </a:p>
          <a:p>
            <a:r>
              <a:rPr lang="en-GB" b="1" dirty="0"/>
              <a:t>This allows the block to control how strongly a learned temporal feature is propagated.</a:t>
            </a:r>
          </a:p>
          <a:p>
            <a:endParaRPr lang="en-GB" dirty="0"/>
          </a:p>
        </p:txBody>
      </p:sp>
      <p:pic>
        <p:nvPicPr>
          <p:cNvPr id="5" name="Segnaposto contenuto 8" descr="../_images/wavenet.png">
            <a:extLst>
              <a:ext uri="{FF2B5EF4-FFF2-40B4-BE49-F238E27FC236}">
                <a16:creationId xmlns:a16="http://schemas.microsoft.com/office/drawing/2014/main" id="{37D34A2F-F069-0E82-1E78-514D05CA8B78}"/>
              </a:ext>
            </a:extLst>
          </p:cNvPr>
          <p:cNvPicPr>
            <a:picLocks noChangeAspect="1"/>
          </p:cNvPicPr>
          <p:nvPr/>
        </p:nvPicPr>
        <p:blipFill>
          <a:blip r:embed="rId2"/>
          <a:stretch>
            <a:fillRect/>
          </a:stretch>
        </p:blipFill>
        <p:spPr>
          <a:xfrm>
            <a:off x="5293170" y="2382262"/>
            <a:ext cx="5920508" cy="3144357"/>
          </a:xfrm>
          <a:prstGeom prst="rect">
            <a:avLst/>
          </a:prstGeom>
        </p:spPr>
      </p:pic>
    </p:spTree>
    <p:extLst>
      <p:ext uri="{BB962C8B-B14F-4D97-AF65-F5344CB8AC3E}">
        <p14:creationId xmlns:p14="http://schemas.microsoft.com/office/powerpoint/2010/main" val="4037213394"/>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dirty="0">
                <a:solidFill>
                  <a:srgbClr val="0F172A"/>
                </a:solidFill>
                <a:effectLst/>
                <a:uFillTx/>
                <a:latin typeface="Aptos Display"/>
                <a:ea typeface="Aptos Display"/>
              </a:rPr>
              <a:t>Gated activation inside a </a:t>
            </a:r>
            <a:r>
              <a:rPr lang="en-US" sz="3000" b="1" u="none" strike="noStrike" dirty="0" err="1">
                <a:solidFill>
                  <a:srgbClr val="0F172A"/>
                </a:solidFill>
                <a:effectLst/>
                <a:uFillTx/>
                <a:latin typeface="Aptos Display"/>
                <a:ea typeface="Aptos Display"/>
              </a:rPr>
              <a:t>WaveNet</a:t>
            </a:r>
            <a:r>
              <a:rPr lang="en-US" sz="3000" b="1" u="none" strike="noStrike" dirty="0">
                <a:solidFill>
                  <a:srgbClr val="0F172A"/>
                </a:solidFill>
                <a:effectLst/>
                <a:uFillTx/>
                <a:latin typeface="Aptos Display"/>
                <a:ea typeface="Aptos Display"/>
              </a:rPr>
              <a:t> block</a:t>
            </a:r>
            <a:endParaRPr lang="it-IT" sz="3000" b="0" u="none" strike="noStrike" dirty="0">
              <a:solidFill>
                <a:srgbClr val="000000"/>
              </a:solidFill>
              <a:effectLst/>
              <a:uFillTx/>
              <a:latin typeface="Arial"/>
            </a:endParaRPr>
          </a:p>
        </p:txBody>
      </p:sp>
      <p:sp>
        <p:nvSpPr>
          <p:cNvPr id="275" name="Shape 2"/>
          <p:cNvSpPr/>
          <p:nvPr/>
        </p:nvSpPr>
        <p:spPr>
          <a:xfrm>
            <a:off x="914400" y="2743200"/>
            <a:ext cx="1234080" cy="502560"/>
          </a:xfrm>
          <a:prstGeom prst="roundRect">
            <a:avLst>
              <a:gd name="adj" fmla="val 14545"/>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76" name="Text 3"/>
          <p:cNvSpPr/>
          <p:nvPr/>
        </p:nvSpPr>
        <p:spPr>
          <a:xfrm>
            <a:off x="960120" y="2779920"/>
            <a:ext cx="114264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92500" lnSpcReduction="20000"/>
          </a:bodyPr>
          <a:lstStyle/>
          <a:p>
            <a:pPr algn="ctr" defTabSz="914400">
              <a:lnSpc>
                <a:spcPct val="100000"/>
              </a:lnSpc>
              <a:tabLst>
                <a:tab pos="0" algn="l"/>
              </a:tabLst>
            </a:pPr>
            <a:r>
              <a:rPr lang="en-US" sz="1400" b="1" u="none" strike="noStrike" dirty="0">
                <a:solidFill>
                  <a:srgbClr val="0F172A"/>
                </a:solidFill>
                <a:effectLst/>
                <a:uFillTx/>
                <a:latin typeface="Aptos"/>
                <a:ea typeface="Aptos"/>
              </a:rPr>
              <a:t>block input X</a:t>
            </a:r>
            <a:endParaRPr lang="it-IT" sz="1400" b="0" u="none" strike="noStrike" dirty="0">
              <a:solidFill>
                <a:srgbClr val="000000"/>
              </a:solidFill>
              <a:effectLst/>
              <a:uFillTx/>
              <a:latin typeface="Arial"/>
            </a:endParaRPr>
          </a:p>
        </p:txBody>
      </p:sp>
      <p:sp>
        <p:nvSpPr>
          <p:cNvPr id="277" name="Shape 4"/>
          <p:cNvSpPr/>
          <p:nvPr/>
        </p:nvSpPr>
        <p:spPr>
          <a:xfrm>
            <a:off x="2834640" y="1874520"/>
            <a:ext cx="1645560" cy="685440"/>
          </a:xfrm>
          <a:prstGeom prst="roundRect">
            <a:avLst>
              <a:gd name="adj" fmla="val 10667"/>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78" name="Text 5"/>
          <p:cNvSpPr/>
          <p:nvPr/>
        </p:nvSpPr>
        <p:spPr>
          <a:xfrm>
            <a:off x="2880360" y="1911240"/>
            <a:ext cx="155412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dirty="0">
                <a:solidFill>
                  <a:srgbClr val="0F172A"/>
                </a:solidFill>
                <a:effectLst/>
                <a:uFillTx/>
                <a:latin typeface="Aptos"/>
                <a:ea typeface="Aptos"/>
              </a:rPr>
              <a:t>tanh</a:t>
            </a:r>
            <a:endParaRPr lang="it-IT" sz="1400" b="0" u="none" strike="noStrike" dirty="0">
              <a:solidFill>
                <a:srgbClr val="000000"/>
              </a:solidFill>
              <a:effectLst/>
              <a:uFillTx/>
              <a:latin typeface="Arial"/>
            </a:endParaRPr>
          </a:p>
          <a:p>
            <a:pPr algn="ctr" defTabSz="914400">
              <a:lnSpc>
                <a:spcPct val="100000"/>
              </a:lnSpc>
              <a:tabLst>
                <a:tab pos="0" algn="l"/>
              </a:tabLst>
            </a:pPr>
            <a:r>
              <a:rPr lang="en-US" sz="1400" b="1" u="none" strike="noStrike" dirty="0">
                <a:solidFill>
                  <a:srgbClr val="0F172A"/>
                </a:solidFill>
                <a:effectLst/>
                <a:uFillTx/>
                <a:latin typeface="Aptos"/>
                <a:ea typeface="Aptos"/>
              </a:rPr>
              <a:t>transformation</a:t>
            </a:r>
            <a:endParaRPr lang="it-IT" sz="1400" b="0" u="none" strike="noStrike" dirty="0">
              <a:solidFill>
                <a:srgbClr val="000000"/>
              </a:solidFill>
              <a:effectLst/>
              <a:uFillTx/>
              <a:latin typeface="Arial"/>
            </a:endParaRPr>
          </a:p>
        </p:txBody>
      </p:sp>
      <p:sp>
        <p:nvSpPr>
          <p:cNvPr id="279" name="Shape 6"/>
          <p:cNvSpPr/>
          <p:nvPr/>
        </p:nvSpPr>
        <p:spPr>
          <a:xfrm>
            <a:off x="2834640" y="3520440"/>
            <a:ext cx="1645560" cy="685440"/>
          </a:xfrm>
          <a:prstGeom prst="roundRect">
            <a:avLst>
              <a:gd name="adj" fmla="val 10667"/>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80" name="Text 7"/>
          <p:cNvSpPr/>
          <p:nvPr/>
        </p:nvSpPr>
        <p:spPr>
          <a:xfrm>
            <a:off x="2880360" y="3557160"/>
            <a:ext cx="155412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sigmoid</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0F172A"/>
                </a:solidFill>
                <a:effectLst/>
                <a:uFillTx/>
                <a:latin typeface="Aptos"/>
                <a:ea typeface="Aptos"/>
              </a:rPr>
              <a:t>gate</a:t>
            </a:r>
            <a:endParaRPr lang="it-IT" sz="1400" b="0" u="none" strike="noStrike">
              <a:solidFill>
                <a:srgbClr val="000000"/>
              </a:solidFill>
              <a:effectLst/>
              <a:uFillTx/>
              <a:latin typeface="Arial"/>
            </a:endParaRPr>
          </a:p>
        </p:txBody>
      </p:sp>
      <p:sp>
        <p:nvSpPr>
          <p:cNvPr id="281" name="Shape 8"/>
          <p:cNvSpPr/>
          <p:nvPr/>
        </p:nvSpPr>
        <p:spPr>
          <a:xfrm>
            <a:off x="5212080" y="2743200"/>
            <a:ext cx="502560" cy="502560"/>
          </a:xfrm>
          <a:prstGeom prst="roundRect">
            <a:avLst>
              <a:gd name="adj" fmla="val 14545"/>
            </a:avLst>
          </a:prstGeom>
          <a:solidFill>
            <a:srgbClr val="FFFFFF"/>
          </a:solidFill>
          <a:ln w="13970">
            <a:solidFill>
              <a:srgbClr val="47556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82" name="Text 9"/>
          <p:cNvSpPr/>
          <p:nvPr/>
        </p:nvSpPr>
        <p:spPr>
          <a:xfrm>
            <a:off x="5257800" y="2779920"/>
            <a:ext cx="41112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800" b="1" u="none" strike="noStrike">
                <a:solidFill>
                  <a:srgbClr val="0F172A"/>
                </a:solidFill>
                <a:effectLst/>
                <a:uFillTx/>
                <a:latin typeface="Aptos"/>
                <a:ea typeface="Aptos"/>
              </a:rPr>
              <a:t>×</a:t>
            </a:r>
            <a:endParaRPr lang="it-IT" sz="1800" b="0" u="none" strike="noStrike">
              <a:solidFill>
                <a:srgbClr val="000000"/>
              </a:solidFill>
              <a:effectLst/>
              <a:uFillTx/>
              <a:latin typeface="Arial"/>
            </a:endParaRPr>
          </a:p>
        </p:txBody>
      </p:sp>
      <p:sp>
        <p:nvSpPr>
          <p:cNvPr id="283" name="Shape 10"/>
          <p:cNvSpPr/>
          <p:nvPr/>
        </p:nvSpPr>
        <p:spPr>
          <a:xfrm>
            <a:off x="6400800" y="2651760"/>
            <a:ext cx="1645560" cy="685440"/>
          </a:xfrm>
          <a:prstGeom prst="roundRect">
            <a:avLst>
              <a:gd name="adj" fmla="val 10667"/>
            </a:avLst>
          </a:prstGeom>
          <a:solidFill>
            <a:srgbClr val="EDE9FE"/>
          </a:solidFill>
          <a:ln w="13970">
            <a:solidFill>
              <a:srgbClr val="7C3AE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284" name="Text 11"/>
          <p:cNvSpPr/>
          <p:nvPr/>
        </p:nvSpPr>
        <p:spPr>
          <a:xfrm>
            <a:off x="6446520" y="2688480"/>
            <a:ext cx="155412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dirty="0">
                <a:solidFill>
                  <a:srgbClr val="0F172A"/>
                </a:solidFill>
                <a:effectLst/>
                <a:uFillTx/>
                <a:latin typeface="Aptos"/>
                <a:ea typeface="Aptos"/>
              </a:rPr>
              <a:t>gated</a:t>
            </a:r>
            <a:endParaRPr lang="it-IT" sz="1400" b="0" u="none" strike="noStrike" dirty="0">
              <a:solidFill>
                <a:srgbClr val="000000"/>
              </a:solidFill>
              <a:effectLst/>
              <a:uFillTx/>
              <a:latin typeface="Arial"/>
            </a:endParaRPr>
          </a:p>
          <a:p>
            <a:pPr algn="ctr" defTabSz="914400">
              <a:lnSpc>
                <a:spcPct val="100000"/>
              </a:lnSpc>
              <a:tabLst>
                <a:tab pos="0" algn="l"/>
              </a:tabLst>
            </a:pPr>
            <a:r>
              <a:rPr lang="en-US" sz="1400" b="1" u="none" strike="noStrike" dirty="0">
                <a:solidFill>
                  <a:srgbClr val="0F172A"/>
                </a:solidFill>
                <a:effectLst/>
                <a:uFillTx/>
                <a:latin typeface="Aptos"/>
                <a:ea typeface="Aptos"/>
              </a:rPr>
              <a:t>Activation Z</a:t>
            </a:r>
            <a:endParaRPr lang="it-IT" sz="1400" b="0" u="none" strike="noStrike" dirty="0">
              <a:solidFill>
                <a:srgbClr val="000000"/>
              </a:solidFill>
              <a:effectLst/>
              <a:uFillTx/>
              <a:latin typeface="Arial"/>
            </a:endParaRPr>
          </a:p>
        </p:txBody>
      </p:sp>
      <p:sp>
        <p:nvSpPr>
          <p:cNvPr id="287" name="Shape 14"/>
          <p:cNvSpPr/>
          <p:nvPr/>
        </p:nvSpPr>
        <p:spPr>
          <a:xfrm flipV="1">
            <a:off x="2148840" y="2221920"/>
            <a:ext cx="685800" cy="76788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88" name="Shape 15"/>
          <p:cNvSpPr/>
          <p:nvPr/>
        </p:nvSpPr>
        <p:spPr>
          <a:xfrm>
            <a:off x="2148840" y="2989800"/>
            <a:ext cx="685800" cy="87804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89" name="Shape 16"/>
          <p:cNvSpPr/>
          <p:nvPr/>
        </p:nvSpPr>
        <p:spPr>
          <a:xfrm>
            <a:off x="4480560" y="2221920"/>
            <a:ext cx="731520" cy="658440"/>
          </a:xfrm>
          <a:prstGeom prst="line">
            <a:avLst/>
          </a:prstGeom>
          <a:ln w="1905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90" name="Shape 17"/>
          <p:cNvSpPr/>
          <p:nvPr/>
        </p:nvSpPr>
        <p:spPr>
          <a:xfrm flipV="1">
            <a:off x="4480560" y="3136320"/>
            <a:ext cx="731520" cy="731520"/>
          </a:xfrm>
          <a:prstGeom prst="line">
            <a:avLst/>
          </a:prstGeom>
          <a:ln w="1905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291" name="Shape 18"/>
          <p:cNvSpPr/>
          <p:nvPr/>
        </p:nvSpPr>
        <p:spPr>
          <a:xfrm>
            <a:off x="5715000" y="2989800"/>
            <a:ext cx="68580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293" name="Text 20"/>
          <p:cNvSpPr/>
          <p:nvPr/>
        </p:nvSpPr>
        <p:spPr>
          <a:xfrm>
            <a:off x="2514600" y="1417320"/>
            <a:ext cx="22856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20000"/>
          </a:bodyPr>
          <a:lstStyle/>
          <a:p>
            <a:pPr algn="ctr" defTabSz="914400">
              <a:lnSpc>
                <a:spcPct val="100000"/>
              </a:lnSpc>
              <a:tabLst>
                <a:tab pos="0" algn="l"/>
              </a:tabLst>
            </a:pPr>
            <a:r>
              <a:rPr lang="en-US" sz="1200" b="1" u="none" strike="noStrike" dirty="0">
                <a:solidFill>
                  <a:srgbClr val="86B817"/>
                </a:solidFill>
                <a:effectLst/>
                <a:highlight>
                  <a:srgbClr val="FFFF00"/>
                </a:highlight>
                <a:uFillTx/>
                <a:latin typeface="Aptos"/>
                <a:ea typeface="Aptos"/>
              </a:rPr>
              <a:t>tanh path proposes a candidate temporal feature</a:t>
            </a:r>
            <a:endParaRPr lang="it-IT" sz="1200" b="1" u="none" strike="noStrike" dirty="0">
              <a:solidFill>
                <a:srgbClr val="000000"/>
              </a:solidFill>
              <a:effectLst/>
              <a:highlight>
                <a:srgbClr val="FFFF00"/>
              </a:highlight>
              <a:uFillTx/>
              <a:latin typeface="Arial"/>
            </a:endParaRPr>
          </a:p>
        </p:txBody>
      </p:sp>
      <p:sp>
        <p:nvSpPr>
          <p:cNvPr id="294" name="Text 21"/>
          <p:cNvSpPr/>
          <p:nvPr/>
        </p:nvSpPr>
        <p:spPr>
          <a:xfrm>
            <a:off x="2286000" y="4434840"/>
            <a:ext cx="27428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dirty="0">
                <a:solidFill>
                  <a:srgbClr val="F59E0B"/>
                </a:solidFill>
                <a:effectLst/>
                <a:highlight>
                  <a:srgbClr val="FFFF00"/>
                </a:highlight>
                <a:uFillTx/>
                <a:latin typeface="Aptos"/>
                <a:ea typeface="Aptos"/>
              </a:rPr>
              <a:t>sigmoid path controls its strength</a:t>
            </a:r>
            <a:endParaRPr lang="it-IT" sz="1200" b="0" u="none" strike="noStrike" dirty="0">
              <a:solidFill>
                <a:srgbClr val="000000"/>
              </a:solidFill>
              <a:effectLst/>
              <a:highlight>
                <a:srgbClr val="FFFF00"/>
              </a:highlight>
              <a:uFillTx/>
              <a:latin typeface="Arial"/>
            </a:endParaRPr>
          </a:p>
        </p:txBody>
      </p:sp>
      <p:sp>
        <p:nvSpPr>
          <p:cNvPr id="296" name="PlaceHolder 1"/>
          <p:cNvSpPr>
            <a:spLocks noGrp="1"/>
          </p:cNvSpPr>
          <p:nvPr>
            <p:ph type="sldNum" idx="9"/>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7DC59AA9-5B28-4915-A6C3-F871A14F5FDD}" type="slidenum">
              <a:rPr lang="en-US" sz="1200" b="0" u="none" strike="noStrike">
                <a:solidFill>
                  <a:srgbClr val="64748B"/>
                </a:solidFill>
                <a:effectLst/>
                <a:uFillTx/>
                <a:latin typeface="Aptos"/>
              </a:rPr>
              <a:t>209</a:t>
            </a:fld>
            <a:endParaRPr lang="it-IT" sz="1200" b="0" u="none" strike="noStrike">
              <a:solidFill>
                <a:srgbClr val="000000"/>
              </a:solidFill>
              <a:effectLst/>
              <a:uFillTx/>
              <a:latin typeface="Times New Roman"/>
            </a:endParaRPr>
          </a:p>
        </p:txBody>
      </p:sp>
      <p:sp>
        <p:nvSpPr>
          <p:cNvPr id="3" name="CasellaDiTesto 2">
            <a:extLst>
              <a:ext uri="{FF2B5EF4-FFF2-40B4-BE49-F238E27FC236}">
                <a16:creationId xmlns:a16="http://schemas.microsoft.com/office/drawing/2014/main" id="{7C6BB88A-B1A7-F901-3BF5-0D7B02DFCC77}"/>
              </a:ext>
            </a:extLst>
          </p:cNvPr>
          <p:cNvSpPr txBox="1"/>
          <p:nvPr/>
        </p:nvSpPr>
        <p:spPr>
          <a:xfrm>
            <a:off x="2491740" y="2553349"/>
            <a:ext cx="1361542" cy="376726"/>
          </a:xfrm>
          <a:prstGeom prst="rect">
            <a:avLst/>
          </a:prstGeom>
          <a:noFill/>
        </p:spPr>
        <p:txBody>
          <a:bodyPr wrap="square">
            <a:spAutoFit/>
          </a:bodyPr>
          <a:lstStyle/>
          <a:p>
            <a:r>
              <a:rPr lang="en-GB" dirty="0"/>
              <a:t>A=</a:t>
            </a:r>
            <a:r>
              <a:rPr lang="en-GB" dirty="0" err="1"/>
              <a:t>W</a:t>
            </a:r>
            <a:r>
              <a:rPr lang="en-GB" baseline="-25000" dirty="0" err="1"/>
              <a:t>f</a:t>
            </a:r>
            <a:r>
              <a:rPr lang="en-GB" baseline="-25000" dirty="0"/>
              <a:t>​∗d​</a:t>
            </a:r>
            <a:r>
              <a:rPr lang="en-GB" dirty="0" err="1"/>
              <a:t>X+b</a:t>
            </a:r>
            <a:r>
              <a:rPr lang="en-GB" baseline="-25000" dirty="0" err="1"/>
              <a:t>f</a:t>
            </a:r>
            <a:r>
              <a:rPr lang="en-GB" dirty="0"/>
              <a:t>​</a:t>
            </a:r>
          </a:p>
        </p:txBody>
      </p:sp>
      <p:sp>
        <p:nvSpPr>
          <p:cNvPr id="7" name="CasellaDiTesto 6">
            <a:extLst>
              <a:ext uri="{FF2B5EF4-FFF2-40B4-BE49-F238E27FC236}">
                <a16:creationId xmlns:a16="http://schemas.microsoft.com/office/drawing/2014/main" id="{843A83B0-2CF3-7690-B43F-B4E41C38EAA6}"/>
              </a:ext>
            </a:extLst>
          </p:cNvPr>
          <p:cNvSpPr txBox="1"/>
          <p:nvPr/>
        </p:nvSpPr>
        <p:spPr>
          <a:xfrm>
            <a:off x="2444971" y="3103117"/>
            <a:ext cx="1408311" cy="369332"/>
          </a:xfrm>
          <a:prstGeom prst="rect">
            <a:avLst/>
          </a:prstGeom>
          <a:noFill/>
        </p:spPr>
        <p:txBody>
          <a:bodyPr wrap="square">
            <a:spAutoFit/>
          </a:bodyPr>
          <a:lstStyle/>
          <a:p>
            <a:r>
              <a:rPr lang="en-GB" dirty="0"/>
              <a:t>B=</a:t>
            </a:r>
            <a:r>
              <a:rPr lang="en-GB" dirty="0" err="1"/>
              <a:t>W</a:t>
            </a:r>
            <a:r>
              <a:rPr lang="en-GB" baseline="-25000" dirty="0" err="1"/>
              <a:t>g∗d</a:t>
            </a:r>
            <a:r>
              <a:rPr lang="en-GB" baseline="-25000" dirty="0"/>
              <a:t>​</a:t>
            </a:r>
            <a:r>
              <a:rPr lang="en-GB" dirty="0" err="1"/>
              <a:t>X+b</a:t>
            </a:r>
            <a:r>
              <a:rPr lang="en-GB" baseline="-25000" dirty="0" err="1"/>
              <a:t>g</a:t>
            </a:r>
            <a:endParaRPr lang="en-GB" dirty="0"/>
          </a:p>
        </p:txBody>
      </p:sp>
      <p:sp>
        <p:nvSpPr>
          <p:cNvPr id="9" name="CasellaDiTesto 8">
            <a:extLst>
              <a:ext uri="{FF2B5EF4-FFF2-40B4-BE49-F238E27FC236}">
                <a16:creationId xmlns:a16="http://schemas.microsoft.com/office/drawing/2014/main" id="{E37EB69D-7FD8-1CA0-0471-4F250C0637E7}"/>
              </a:ext>
            </a:extLst>
          </p:cNvPr>
          <p:cNvSpPr txBox="1"/>
          <p:nvPr/>
        </p:nvSpPr>
        <p:spPr>
          <a:xfrm>
            <a:off x="6017391" y="2248214"/>
            <a:ext cx="1925062" cy="369332"/>
          </a:xfrm>
          <a:prstGeom prst="rect">
            <a:avLst/>
          </a:prstGeom>
          <a:noFill/>
        </p:spPr>
        <p:txBody>
          <a:bodyPr wrap="square">
            <a:spAutoFit/>
          </a:bodyPr>
          <a:lstStyle/>
          <a:p>
            <a:r>
              <a:rPr lang="en-GB" dirty="0"/>
              <a:t>Z=tanh(A)⊙σ(B)</a:t>
            </a:r>
          </a:p>
        </p:txBody>
      </p:sp>
      <p:sp>
        <p:nvSpPr>
          <p:cNvPr id="15" name="CasellaDiTesto 14">
            <a:extLst>
              <a:ext uri="{FF2B5EF4-FFF2-40B4-BE49-F238E27FC236}">
                <a16:creationId xmlns:a16="http://schemas.microsoft.com/office/drawing/2014/main" id="{91AAED90-7C10-7164-33C8-A7D04F894553}"/>
              </a:ext>
            </a:extLst>
          </p:cNvPr>
          <p:cNvSpPr txBox="1"/>
          <p:nvPr/>
        </p:nvSpPr>
        <p:spPr>
          <a:xfrm>
            <a:off x="5714640" y="3645196"/>
            <a:ext cx="6103620" cy="2031325"/>
          </a:xfrm>
          <a:prstGeom prst="rect">
            <a:avLst/>
          </a:prstGeom>
          <a:noFill/>
        </p:spPr>
        <p:txBody>
          <a:bodyPr wrap="square">
            <a:spAutoFit/>
          </a:bodyPr>
          <a:lstStyle/>
          <a:p>
            <a:pPr>
              <a:buNone/>
            </a:pPr>
            <a:r>
              <a:rPr lang="en-GB" b="1" dirty="0"/>
              <a:t>Is this done step by step?</a:t>
            </a:r>
          </a:p>
          <a:p>
            <a:pPr>
              <a:buNone/>
            </a:pPr>
            <a:r>
              <a:rPr lang="en-GB" b="1" dirty="0"/>
              <a:t>Mathematically, there is a result for every time position t, but computationally it is not sequential like an RNN.</a:t>
            </a:r>
            <a:endParaRPr lang="en-GB" dirty="0"/>
          </a:p>
          <a:p>
            <a:pPr>
              <a:buNone/>
            </a:pPr>
            <a:r>
              <a:rPr lang="en-GB" dirty="0"/>
              <a:t>For a causal convolution with kernel size 2 and dilation d, for example:</a:t>
            </a:r>
          </a:p>
          <a:p>
            <a:pPr>
              <a:buNone/>
            </a:pPr>
            <a:r>
              <a:rPr lang="en-GB" dirty="0"/>
              <a:t>A</a:t>
            </a:r>
            <a:r>
              <a:rPr lang="en-GB" baseline="-25000" dirty="0"/>
              <a:t>t</a:t>
            </a:r>
            <a:r>
              <a:rPr lang="en-GB" dirty="0"/>
              <a:t>​=W</a:t>
            </a:r>
            <a:r>
              <a:rPr lang="en-GB" baseline="-25000" dirty="0"/>
              <a:t>f,0</a:t>
            </a:r>
            <a:r>
              <a:rPr lang="en-GB" dirty="0"/>
              <a:t>​</a:t>
            </a:r>
            <a:r>
              <a:rPr lang="en-GB" dirty="0" err="1"/>
              <a:t>X</a:t>
            </a:r>
            <a:r>
              <a:rPr lang="en-GB" baseline="-25000" dirty="0" err="1"/>
              <a:t>t</a:t>
            </a:r>
            <a:r>
              <a:rPr lang="en-GB" dirty="0"/>
              <a:t>​+W</a:t>
            </a:r>
            <a:r>
              <a:rPr lang="en-GB" baseline="-25000" dirty="0"/>
              <a:t>f,1</a:t>
            </a:r>
            <a:r>
              <a:rPr lang="en-GB" dirty="0"/>
              <a:t>​</a:t>
            </a:r>
            <a:r>
              <a:rPr lang="en-GB" dirty="0" err="1"/>
              <a:t>X</a:t>
            </a:r>
            <a:r>
              <a:rPr lang="en-GB" baseline="-25000" dirty="0" err="1"/>
              <a:t>t</a:t>
            </a:r>
            <a:r>
              <a:rPr lang="en-GB" baseline="-25000" dirty="0"/>
              <a:t>−d​</a:t>
            </a:r>
            <a:r>
              <a:rPr lang="en-GB" dirty="0"/>
              <a:t>+b</a:t>
            </a:r>
            <a:r>
              <a:rPr lang="en-GB" baseline="-25000" dirty="0"/>
              <a:t>f</a:t>
            </a:r>
            <a:r>
              <a:rPr lang="en-GB" dirty="0"/>
              <a:t>​.</a:t>
            </a:r>
          </a:p>
        </p:txBody>
      </p:sp>
      <p:sp>
        <p:nvSpPr>
          <p:cNvPr id="17" name="CasellaDiTesto 16">
            <a:extLst>
              <a:ext uri="{FF2B5EF4-FFF2-40B4-BE49-F238E27FC236}">
                <a16:creationId xmlns:a16="http://schemas.microsoft.com/office/drawing/2014/main" id="{62911262-01A0-7CFF-F60E-B633B95497A1}"/>
              </a:ext>
            </a:extLst>
          </p:cNvPr>
          <p:cNvSpPr txBox="1"/>
          <p:nvPr/>
        </p:nvSpPr>
        <p:spPr>
          <a:xfrm>
            <a:off x="120701" y="5093280"/>
            <a:ext cx="5137099" cy="1754326"/>
          </a:xfrm>
          <a:prstGeom prst="rect">
            <a:avLst/>
          </a:prstGeom>
          <a:noFill/>
        </p:spPr>
        <p:txBody>
          <a:bodyPr wrap="square">
            <a:spAutoFit/>
          </a:bodyPr>
          <a:lstStyle/>
          <a:p>
            <a:pPr>
              <a:buNone/>
            </a:pPr>
            <a:r>
              <a:rPr lang="en-GB" b="1" dirty="0"/>
              <a:t>N.B.</a:t>
            </a:r>
          </a:p>
          <a:p>
            <a:pPr>
              <a:buNone/>
            </a:pPr>
            <a:r>
              <a:rPr lang="en-GB" dirty="0"/>
              <a:t>The final gating operation is elementwise </a:t>
            </a:r>
            <a:r>
              <a:rPr lang="en-GB" b="1" dirty="0"/>
              <a:t>per time position and output channel</a:t>
            </a:r>
            <a:r>
              <a:rPr lang="en-GB" dirty="0"/>
              <a:t>:</a:t>
            </a:r>
          </a:p>
          <a:p>
            <a:pPr>
              <a:buNone/>
            </a:pPr>
            <a:r>
              <a:rPr lang="en-GB" dirty="0" err="1"/>
              <a:t>Z</a:t>
            </a:r>
            <a:r>
              <a:rPr lang="en-GB" baseline="-25000" dirty="0" err="1"/>
              <a:t>t,c</a:t>
            </a:r>
            <a:r>
              <a:rPr lang="en-GB" dirty="0"/>
              <a:t>​=tanh(</a:t>
            </a:r>
            <a:r>
              <a:rPr lang="en-GB" dirty="0" err="1"/>
              <a:t>A</a:t>
            </a:r>
            <a:r>
              <a:rPr lang="en-GB" baseline="-25000" dirty="0" err="1"/>
              <a:t>t,c</a:t>
            </a:r>
            <a:r>
              <a:rPr lang="en-GB" baseline="-25000" dirty="0"/>
              <a:t>​</a:t>
            </a:r>
            <a:r>
              <a:rPr lang="en-GB" dirty="0"/>
              <a:t>)σ(​</a:t>
            </a:r>
            <a:r>
              <a:rPr lang="en-GB" dirty="0" err="1"/>
              <a:t>B</a:t>
            </a:r>
            <a:r>
              <a:rPr lang="en-GB" baseline="-25000" dirty="0" err="1"/>
              <a:t>t,c</a:t>
            </a:r>
            <a:r>
              <a:rPr lang="en-GB" dirty="0"/>
              <a:t>). </a:t>
            </a:r>
          </a:p>
          <a:p>
            <a:pPr>
              <a:buNone/>
            </a:pPr>
            <a:r>
              <a:rPr lang="en-GB" dirty="0"/>
              <a:t>But the convolutions themselves generally </a:t>
            </a:r>
            <a:r>
              <a:rPr lang="en-GB" b="1" dirty="0"/>
              <a:t>mix input channels</a:t>
            </a:r>
            <a:r>
              <a:rPr lang="en-GB" dirty="0"/>
              <a:t>.</a:t>
            </a:r>
          </a:p>
        </p:txBody>
      </p:sp>
      <p:sp>
        <p:nvSpPr>
          <p:cNvPr id="19" name="CasellaDiTesto 18">
            <a:extLst>
              <a:ext uri="{FF2B5EF4-FFF2-40B4-BE49-F238E27FC236}">
                <a16:creationId xmlns:a16="http://schemas.microsoft.com/office/drawing/2014/main" id="{0E044B39-3B22-BD0F-1E6E-598A74AB42E4}"/>
              </a:ext>
            </a:extLst>
          </p:cNvPr>
          <p:cNvSpPr txBox="1"/>
          <p:nvPr/>
        </p:nvSpPr>
        <p:spPr>
          <a:xfrm>
            <a:off x="342900" y="3882714"/>
            <a:ext cx="1645560" cy="646331"/>
          </a:xfrm>
          <a:prstGeom prst="rect">
            <a:avLst/>
          </a:prstGeom>
          <a:noFill/>
        </p:spPr>
        <p:txBody>
          <a:bodyPr wrap="square">
            <a:spAutoFit/>
          </a:bodyPr>
          <a:lstStyle/>
          <a:p>
            <a:r>
              <a:rPr lang="en-GB" dirty="0"/>
              <a:t>dilated causal Conv1D</a:t>
            </a:r>
          </a:p>
        </p:txBody>
      </p:sp>
      <p:cxnSp>
        <p:nvCxnSpPr>
          <p:cNvPr id="21" name="Connettore 2 20">
            <a:extLst>
              <a:ext uri="{FF2B5EF4-FFF2-40B4-BE49-F238E27FC236}">
                <a16:creationId xmlns:a16="http://schemas.microsoft.com/office/drawing/2014/main" id="{AF7767DD-E350-C880-F728-2D88699FEA1B}"/>
              </a:ext>
            </a:extLst>
          </p:cNvPr>
          <p:cNvCxnSpPr>
            <a:cxnSpLocks/>
          </p:cNvCxnSpPr>
          <p:nvPr/>
        </p:nvCxnSpPr>
        <p:spPr>
          <a:xfrm flipV="1">
            <a:off x="1303020" y="2930075"/>
            <a:ext cx="1577340" cy="10416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nettore 2 22">
            <a:extLst>
              <a:ext uri="{FF2B5EF4-FFF2-40B4-BE49-F238E27FC236}">
                <a16:creationId xmlns:a16="http://schemas.microsoft.com/office/drawing/2014/main" id="{DB18EB93-27C3-4A60-3988-E7CF7C2CD07C}"/>
              </a:ext>
            </a:extLst>
          </p:cNvPr>
          <p:cNvCxnSpPr>
            <a:cxnSpLocks/>
          </p:cNvCxnSpPr>
          <p:nvPr/>
        </p:nvCxnSpPr>
        <p:spPr>
          <a:xfrm flipV="1">
            <a:off x="1359990" y="3433110"/>
            <a:ext cx="1365379" cy="5480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8" descr="../_images/wavenet.png">
            <a:extLst>
              <a:ext uri="{FF2B5EF4-FFF2-40B4-BE49-F238E27FC236}">
                <a16:creationId xmlns:a16="http://schemas.microsoft.com/office/drawing/2014/main" id="{6B378885-DADB-AF7E-8490-72980C28A531}"/>
              </a:ext>
            </a:extLst>
          </p:cNvPr>
          <p:cNvPicPr>
            <a:picLocks noChangeAspect="1"/>
          </p:cNvPicPr>
          <p:nvPr/>
        </p:nvPicPr>
        <p:blipFill>
          <a:blip r:embed="rId2"/>
          <a:stretch>
            <a:fillRect/>
          </a:stretch>
        </p:blipFill>
        <p:spPr>
          <a:xfrm>
            <a:off x="2035887" y="2252954"/>
            <a:ext cx="6662162" cy="3538246"/>
          </a:xfrm>
          <a:prstGeom prst="rect">
            <a:avLst/>
          </a:prstGeom>
        </p:spPr>
      </p:pic>
      <p:sp>
        <p:nvSpPr>
          <p:cNvPr id="2" name="Titolo 1">
            <a:extLst>
              <a:ext uri="{FF2B5EF4-FFF2-40B4-BE49-F238E27FC236}">
                <a16:creationId xmlns:a16="http://schemas.microsoft.com/office/drawing/2014/main" id="{423C08E0-2B22-1D4D-905E-EFC879F07852}"/>
              </a:ext>
            </a:extLst>
          </p:cNvPr>
          <p:cNvSpPr>
            <a:spLocks noGrp="1"/>
          </p:cNvSpPr>
          <p:nvPr>
            <p:ph type="title"/>
          </p:nvPr>
        </p:nvSpPr>
        <p:spPr/>
        <p:txBody>
          <a:bodyPr/>
          <a:lstStyle/>
          <a:p>
            <a:r>
              <a:rPr lang="en-US" b="1" dirty="0">
                <a:solidFill>
                  <a:srgbClr val="0F172A"/>
                </a:solidFill>
                <a:latin typeface="Aptos Display"/>
                <a:ea typeface="Aptos Display"/>
              </a:rPr>
              <a:t>Gated activation inside a </a:t>
            </a:r>
            <a:r>
              <a:rPr lang="en-US" b="1" dirty="0" err="1">
                <a:solidFill>
                  <a:srgbClr val="0F172A"/>
                </a:solidFill>
                <a:latin typeface="Aptos Display"/>
                <a:ea typeface="Aptos Display"/>
              </a:rPr>
              <a:t>WaveNet</a:t>
            </a:r>
            <a:r>
              <a:rPr lang="en-US" b="1" dirty="0">
                <a:solidFill>
                  <a:srgbClr val="0F172A"/>
                </a:solidFill>
                <a:latin typeface="Aptos Display"/>
                <a:ea typeface="Aptos Display"/>
              </a:rPr>
              <a:t> block</a:t>
            </a:r>
            <a:endParaRPr lang="en-GB" dirty="0"/>
          </a:p>
        </p:txBody>
      </p:sp>
      <p:sp>
        <p:nvSpPr>
          <p:cNvPr id="8" name="CasellaDiTesto 7">
            <a:extLst>
              <a:ext uri="{FF2B5EF4-FFF2-40B4-BE49-F238E27FC236}">
                <a16:creationId xmlns:a16="http://schemas.microsoft.com/office/drawing/2014/main" id="{8F84824A-9FBF-4969-27D6-8218DC576BEB}"/>
              </a:ext>
            </a:extLst>
          </p:cNvPr>
          <p:cNvSpPr txBox="1"/>
          <p:nvPr/>
        </p:nvSpPr>
        <p:spPr>
          <a:xfrm>
            <a:off x="3546765" y="1551709"/>
            <a:ext cx="1136072" cy="523220"/>
          </a:xfrm>
          <a:prstGeom prst="rect">
            <a:avLst/>
          </a:prstGeom>
          <a:noFill/>
        </p:spPr>
        <p:txBody>
          <a:bodyPr wrap="square" rtlCol="0">
            <a:spAutoFit/>
          </a:bodyPr>
          <a:lstStyle/>
          <a:p>
            <a:r>
              <a:rPr lang="it-IT" sz="1400" dirty="0"/>
              <a:t>To the </a:t>
            </a:r>
            <a:r>
              <a:rPr lang="it-IT" sz="1400" dirty="0" err="1"/>
              <a:t>next</a:t>
            </a:r>
            <a:r>
              <a:rPr lang="it-IT" sz="1400" dirty="0"/>
              <a:t> </a:t>
            </a:r>
            <a:r>
              <a:rPr lang="it-IT" sz="1400" dirty="0" err="1"/>
              <a:t>layer</a:t>
            </a:r>
            <a:r>
              <a:rPr lang="it-IT" sz="1400" dirty="0"/>
              <a:t>/</a:t>
            </a:r>
            <a:r>
              <a:rPr lang="it-IT" sz="1400" dirty="0" err="1"/>
              <a:t>block</a:t>
            </a:r>
            <a:endParaRPr lang="en-GB" sz="1400" dirty="0"/>
          </a:p>
        </p:txBody>
      </p:sp>
      <p:cxnSp>
        <p:nvCxnSpPr>
          <p:cNvPr id="10" name="Connettore 2 9">
            <a:extLst>
              <a:ext uri="{FF2B5EF4-FFF2-40B4-BE49-F238E27FC236}">
                <a16:creationId xmlns:a16="http://schemas.microsoft.com/office/drawing/2014/main" id="{1DA3BA51-8F6C-9ACC-0E3E-9FAC6505EB26}"/>
              </a:ext>
            </a:extLst>
          </p:cNvPr>
          <p:cNvCxnSpPr/>
          <p:nvPr/>
        </p:nvCxnSpPr>
        <p:spPr>
          <a:xfrm flipH="1">
            <a:off x="3297382" y="2142836"/>
            <a:ext cx="406400" cy="387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CasellaDiTesto 11">
            <a:extLst>
              <a:ext uri="{FF2B5EF4-FFF2-40B4-BE49-F238E27FC236}">
                <a16:creationId xmlns:a16="http://schemas.microsoft.com/office/drawing/2014/main" id="{F662E180-BABA-ABCE-20DA-5CF6C994A1AD}"/>
              </a:ext>
            </a:extLst>
          </p:cNvPr>
          <p:cNvSpPr txBox="1"/>
          <p:nvPr/>
        </p:nvSpPr>
        <p:spPr>
          <a:xfrm>
            <a:off x="4965277" y="1967063"/>
            <a:ext cx="2666999" cy="461665"/>
          </a:xfrm>
          <a:prstGeom prst="rect">
            <a:avLst/>
          </a:prstGeom>
          <a:noFill/>
        </p:spPr>
        <p:txBody>
          <a:bodyPr wrap="square">
            <a:spAutoFit/>
          </a:bodyPr>
          <a:lstStyle/>
          <a:p>
            <a:r>
              <a:rPr lang="en-GB" sz="1200" dirty="0"/>
              <a:t>1×1 Conv: mixes channels independently at each time position</a:t>
            </a:r>
          </a:p>
        </p:txBody>
      </p:sp>
      <p:cxnSp>
        <p:nvCxnSpPr>
          <p:cNvPr id="13" name="Connettore 2 12">
            <a:extLst>
              <a:ext uri="{FF2B5EF4-FFF2-40B4-BE49-F238E27FC236}">
                <a16:creationId xmlns:a16="http://schemas.microsoft.com/office/drawing/2014/main" id="{7A22B8A2-626D-6107-5F30-500C47E1496E}"/>
              </a:ext>
            </a:extLst>
          </p:cNvPr>
          <p:cNvCxnSpPr>
            <a:cxnSpLocks/>
          </p:cNvCxnSpPr>
          <p:nvPr/>
        </p:nvCxnSpPr>
        <p:spPr>
          <a:xfrm flipH="1">
            <a:off x="3546765" y="2336800"/>
            <a:ext cx="1418512" cy="7599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CasellaDiTesto 15">
            <a:extLst>
              <a:ext uri="{FF2B5EF4-FFF2-40B4-BE49-F238E27FC236}">
                <a16:creationId xmlns:a16="http://schemas.microsoft.com/office/drawing/2014/main" id="{C4C1B9CA-2AD4-C1E9-9270-CFEBC5577F03}"/>
              </a:ext>
            </a:extLst>
          </p:cNvPr>
          <p:cNvSpPr txBox="1"/>
          <p:nvPr/>
        </p:nvSpPr>
        <p:spPr>
          <a:xfrm>
            <a:off x="6262255" y="4530544"/>
            <a:ext cx="4420330" cy="1323439"/>
          </a:xfrm>
          <a:prstGeom prst="rect">
            <a:avLst/>
          </a:prstGeom>
          <a:noFill/>
        </p:spPr>
        <p:txBody>
          <a:bodyPr wrap="square">
            <a:spAutoFit/>
          </a:bodyPr>
          <a:lstStyle/>
          <a:p>
            <a:r>
              <a:rPr lang="en-GB" sz="1600" dirty="0"/>
              <a:t>A probability distribution is produced at every relevant time position during training.</a:t>
            </a:r>
          </a:p>
          <a:p>
            <a:r>
              <a:rPr lang="en-GB" sz="1600" b="1" dirty="0"/>
              <a:t>Historical reason: </a:t>
            </a:r>
            <a:r>
              <a:rPr lang="en-GB" sz="1600" dirty="0"/>
              <a:t>original </a:t>
            </a:r>
            <a:r>
              <a:rPr lang="en-GB" sz="1600" dirty="0" err="1"/>
              <a:t>WaveNet</a:t>
            </a:r>
            <a:r>
              <a:rPr lang="en-GB" sz="1600" dirty="0"/>
              <a:t> formulates raw-audio generation as a 256-class prediction problem at every time step</a:t>
            </a:r>
          </a:p>
        </p:txBody>
      </p:sp>
      <p:cxnSp>
        <p:nvCxnSpPr>
          <p:cNvPr id="18" name="Connettore 2 17">
            <a:extLst>
              <a:ext uri="{FF2B5EF4-FFF2-40B4-BE49-F238E27FC236}">
                <a16:creationId xmlns:a16="http://schemas.microsoft.com/office/drawing/2014/main" id="{8A94A9A8-C989-9B22-70C3-154152D71D3D}"/>
              </a:ext>
            </a:extLst>
          </p:cNvPr>
          <p:cNvCxnSpPr/>
          <p:nvPr/>
        </p:nvCxnSpPr>
        <p:spPr>
          <a:xfrm flipV="1">
            <a:off x="6446982" y="3528291"/>
            <a:ext cx="738909" cy="10806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47122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0FE1E55-1CF1-F8C9-5E5B-13A3C31011F2}"/>
              </a:ext>
            </a:extLst>
          </p:cNvPr>
          <p:cNvSpPr>
            <a:spLocks noGrp="1"/>
          </p:cNvSpPr>
          <p:nvPr>
            <p:ph type="title"/>
          </p:nvPr>
        </p:nvSpPr>
        <p:spPr/>
        <p:txBody>
          <a:bodyPr/>
          <a:lstStyle/>
          <a:p>
            <a:r>
              <a:rPr lang="en-GB" dirty="0"/>
              <a:t>What </a:t>
            </a:r>
            <a:r>
              <a:rPr lang="en-GB" dirty="0" err="1"/>
              <a:t>WaveNet</a:t>
            </a:r>
            <a:r>
              <a:rPr lang="en-GB" dirty="0"/>
              <a:t> contributes conceptually</a:t>
            </a:r>
          </a:p>
        </p:txBody>
      </p:sp>
      <p:sp>
        <p:nvSpPr>
          <p:cNvPr id="3" name="Segnaposto contenuto 2">
            <a:extLst>
              <a:ext uri="{FF2B5EF4-FFF2-40B4-BE49-F238E27FC236}">
                <a16:creationId xmlns:a16="http://schemas.microsoft.com/office/drawing/2014/main" id="{16DF7FFB-8BD3-1CA8-9FF8-6F23636F9F74}"/>
              </a:ext>
            </a:extLst>
          </p:cNvPr>
          <p:cNvSpPr>
            <a:spLocks noGrp="1"/>
          </p:cNvSpPr>
          <p:nvPr>
            <p:ph sz="half" idx="1"/>
          </p:nvPr>
        </p:nvSpPr>
        <p:spPr>
          <a:xfrm>
            <a:off x="677334" y="2160589"/>
            <a:ext cx="3026565" cy="3880772"/>
          </a:xfrm>
        </p:spPr>
        <p:txBody>
          <a:bodyPr>
            <a:normAutofit/>
          </a:bodyPr>
          <a:lstStyle/>
          <a:p>
            <a:r>
              <a:rPr lang="en-GB" dirty="0" err="1"/>
              <a:t>WaveNet</a:t>
            </a:r>
            <a:r>
              <a:rPr lang="en-GB" dirty="0"/>
              <a:t> demonstrates that a temporal model can simultaneously have:</a:t>
            </a:r>
          </a:p>
          <a:p>
            <a:pPr lvl="1"/>
            <a:r>
              <a:rPr lang="en-GB" dirty="0"/>
              <a:t>local pattern detection; </a:t>
            </a:r>
          </a:p>
          <a:p>
            <a:pPr lvl="1"/>
            <a:r>
              <a:rPr lang="en-GB" dirty="0"/>
              <a:t>large historical context; </a:t>
            </a:r>
          </a:p>
          <a:p>
            <a:pPr lvl="1"/>
            <a:r>
              <a:rPr lang="en-GB" dirty="0"/>
              <a:t>causal prediction; </a:t>
            </a:r>
          </a:p>
          <a:p>
            <a:pPr lvl="1"/>
            <a:r>
              <a:rPr lang="en-GB" dirty="0"/>
              <a:t>deep hierarchical representations; </a:t>
            </a:r>
          </a:p>
          <a:p>
            <a:pPr lvl="1"/>
            <a:r>
              <a:rPr lang="en-GB" dirty="0"/>
              <a:t>no recurrent state. </a:t>
            </a:r>
          </a:p>
          <a:p>
            <a:endParaRPr lang="en-GB" dirty="0"/>
          </a:p>
        </p:txBody>
      </p:sp>
      <p:sp>
        <p:nvSpPr>
          <p:cNvPr id="4" name="Segnaposto contenuto 3">
            <a:extLst>
              <a:ext uri="{FF2B5EF4-FFF2-40B4-BE49-F238E27FC236}">
                <a16:creationId xmlns:a16="http://schemas.microsoft.com/office/drawing/2014/main" id="{1681C1D2-E410-A417-D898-2B2128C654A7}"/>
              </a:ext>
            </a:extLst>
          </p:cNvPr>
          <p:cNvSpPr>
            <a:spLocks noGrp="1"/>
          </p:cNvSpPr>
          <p:nvPr>
            <p:ph sz="half" idx="2"/>
          </p:nvPr>
        </p:nvSpPr>
        <p:spPr>
          <a:xfrm>
            <a:off x="4013525" y="2160588"/>
            <a:ext cx="3026565" cy="3880773"/>
          </a:xfrm>
        </p:spPr>
        <p:txBody>
          <a:bodyPr>
            <a:normAutofit/>
          </a:bodyPr>
          <a:lstStyle/>
          <a:p>
            <a:r>
              <a:rPr lang="en-GB" b="1" dirty="0"/>
              <a:t>Compared with an RNN</a:t>
            </a:r>
          </a:p>
          <a:p>
            <a:r>
              <a:rPr lang="en-GB" dirty="0"/>
              <a:t>RNN:</a:t>
            </a:r>
          </a:p>
          <a:p>
            <a:r>
              <a:rPr lang="en-GB" dirty="0"/>
              <a:t>history</a:t>
            </a:r>
          </a:p>
          <a:p>
            <a:r>
              <a:rPr lang="en-GB" dirty="0"/>
              <a:t>  ↓</a:t>
            </a:r>
          </a:p>
          <a:p>
            <a:r>
              <a:rPr lang="en-GB" dirty="0"/>
              <a:t>sequential state updates</a:t>
            </a:r>
          </a:p>
          <a:p>
            <a:r>
              <a:rPr lang="en-GB" dirty="0"/>
              <a:t>  ↓</a:t>
            </a:r>
          </a:p>
          <a:p>
            <a:r>
              <a:rPr lang="en-GB" dirty="0"/>
              <a:t>prediction</a:t>
            </a:r>
          </a:p>
          <a:p>
            <a:endParaRPr lang="en-GB" dirty="0"/>
          </a:p>
        </p:txBody>
      </p:sp>
      <p:sp>
        <p:nvSpPr>
          <p:cNvPr id="7" name="Segnaposto contenuto 3">
            <a:extLst>
              <a:ext uri="{FF2B5EF4-FFF2-40B4-BE49-F238E27FC236}">
                <a16:creationId xmlns:a16="http://schemas.microsoft.com/office/drawing/2014/main" id="{29F48CC9-F379-0147-0CB6-4D349A055F1E}"/>
              </a:ext>
            </a:extLst>
          </p:cNvPr>
          <p:cNvSpPr txBox="1">
            <a:spLocks/>
          </p:cNvSpPr>
          <p:nvPr/>
        </p:nvSpPr>
        <p:spPr>
          <a:xfrm>
            <a:off x="7349716" y="2160587"/>
            <a:ext cx="3026565" cy="3880773"/>
          </a:xfrm>
          <a:prstGeom prst="rect">
            <a:avLst/>
          </a:prstGeom>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err="1"/>
              <a:t>WaveNet</a:t>
            </a:r>
            <a:r>
              <a:rPr lang="en-GB" dirty="0"/>
              <a:t>-style CNN:</a:t>
            </a:r>
          </a:p>
          <a:p>
            <a:r>
              <a:rPr lang="en-GB" dirty="0"/>
              <a:t>history</a:t>
            </a:r>
          </a:p>
          <a:p>
            <a:r>
              <a:rPr lang="en-GB" dirty="0"/>
              <a:t>  ↓</a:t>
            </a:r>
          </a:p>
          <a:p>
            <a:r>
              <a:rPr lang="en-GB" dirty="0"/>
              <a:t>causal dilated filters</a:t>
            </a:r>
          </a:p>
          <a:p>
            <a:r>
              <a:rPr lang="en-GB" dirty="0"/>
              <a:t>  ↓</a:t>
            </a:r>
          </a:p>
          <a:p>
            <a:r>
              <a:rPr lang="en-GB" dirty="0"/>
              <a:t>multiscale feature hierarchy</a:t>
            </a:r>
          </a:p>
          <a:p>
            <a:r>
              <a:rPr lang="en-GB" dirty="0"/>
              <a:t>  ↓</a:t>
            </a:r>
          </a:p>
          <a:p>
            <a:r>
              <a:rPr lang="en-GB" dirty="0"/>
              <a:t>prediction</a:t>
            </a:r>
          </a:p>
          <a:p>
            <a:endParaRPr lang="en-GB" dirty="0"/>
          </a:p>
          <a:p>
            <a:r>
              <a:rPr lang="en-GB" dirty="0"/>
              <a:t>Long memory does not require recurrence; it can also be created through convolutional connectivity.</a:t>
            </a:r>
          </a:p>
          <a:p>
            <a:endParaRPr lang="en-GB" dirty="0"/>
          </a:p>
        </p:txBody>
      </p:sp>
    </p:spTree>
    <p:extLst>
      <p:ext uri="{BB962C8B-B14F-4D97-AF65-F5344CB8AC3E}">
        <p14:creationId xmlns:p14="http://schemas.microsoft.com/office/powerpoint/2010/main" val="3644605433"/>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0F172A"/>
                </a:solidFill>
                <a:effectLst/>
                <a:uFillTx/>
                <a:latin typeface="Aptos Display"/>
                <a:ea typeface="Aptos Display"/>
              </a:rPr>
              <a:t>WaveNet-style CNN versus RNN</a:t>
            </a:r>
            <a:endParaRPr lang="it-IT" sz="3000" b="0" u="none" strike="noStrike">
              <a:solidFill>
                <a:srgbClr val="000000"/>
              </a:solidFill>
              <a:effectLst/>
              <a:uFillTx/>
              <a:latin typeface="Arial"/>
            </a:endParaRPr>
          </a:p>
        </p:txBody>
      </p:sp>
      <p:sp>
        <p:nvSpPr>
          <p:cNvPr id="298"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Two ways to build historical context</a:t>
            </a:r>
            <a:endParaRPr lang="it-IT" sz="1500" b="0" u="none" strike="noStrike">
              <a:solidFill>
                <a:srgbClr val="000000"/>
              </a:solidFill>
              <a:effectLst/>
              <a:uFillTx/>
              <a:latin typeface="Arial"/>
            </a:endParaRPr>
          </a:p>
        </p:txBody>
      </p:sp>
      <p:sp>
        <p:nvSpPr>
          <p:cNvPr id="299" name="Text 2"/>
          <p:cNvSpPr/>
          <p:nvPr/>
        </p:nvSpPr>
        <p:spPr>
          <a:xfrm>
            <a:off x="1005840" y="1234440"/>
            <a:ext cx="338292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0F172A"/>
                </a:solidFill>
                <a:effectLst/>
                <a:uFillTx/>
                <a:latin typeface="Aptos"/>
                <a:ea typeface="Aptos"/>
              </a:rPr>
              <a:t>RNN/LSTM/GRU</a:t>
            </a:r>
            <a:endParaRPr lang="it-IT" sz="1600" b="0" u="none" strike="noStrike">
              <a:solidFill>
                <a:srgbClr val="000000"/>
              </a:solidFill>
              <a:effectLst/>
              <a:uFillTx/>
              <a:latin typeface="Arial"/>
            </a:endParaRPr>
          </a:p>
        </p:txBody>
      </p:sp>
      <p:sp>
        <p:nvSpPr>
          <p:cNvPr id="300" name="Shape 3"/>
          <p:cNvSpPr/>
          <p:nvPr/>
        </p:nvSpPr>
        <p:spPr>
          <a:xfrm>
            <a:off x="914400" y="2103120"/>
            <a:ext cx="456840" cy="411120"/>
          </a:xfrm>
          <a:prstGeom prst="roundRect">
            <a:avLst>
              <a:gd name="adj" fmla="val 17778"/>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01" name="Text 4"/>
          <p:cNvSpPr/>
          <p:nvPr/>
        </p:nvSpPr>
        <p:spPr>
          <a:xfrm>
            <a:off x="960120" y="2139840"/>
            <a:ext cx="36540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000" b="1" u="none" strike="noStrike">
                <a:solidFill>
                  <a:srgbClr val="0F172A"/>
                </a:solidFill>
                <a:effectLst/>
                <a:uFillTx/>
                <a:latin typeface="Aptos"/>
                <a:ea typeface="Aptos"/>
              </a:rPr>
              <a:t>h1</a:t>
            </a:r>
            <a:endParaRPr lang="it-IT" sz="1000" b="0" u="none" strike="noStrike">
              <a:solidFill>
                <a:srgbClr val="000000"/>
              </a:solidFill>
              <a:effectLst/>
              <a:uFillTx/>
              <a:latin typeface="Arial"/>
            </a:endParaRPr>
          </a:p>
        </p:txBody>
      </p:sp>
      <p:sp>
        <p:nvSpPr>
          <p:cNvPr id="302" name="Shape 5"/>
          <p:cNvSpPr/>
          <p:nvPr/>
        </p:nvSpPr>
        <p:spPr>
          <a:xfrm>
            <a:off x="1371600" y="2313360"/>
            <a:ext cx="228600" cy="360"/>
          </a:xfrm>
          <a:prstGeom prst="line">
            <a:avLst/>
          </a:prstGeom>
          <a:ln w="1397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03" name="Shape 6"/>
          <p:cNvSpPr/>
          <p:nvPr/>
        </p:nvSpPr>
        <p:spPr>
          <a:xfrm>
            <a:off x="1600200" y="2103120"/>
            <a:ext cx="456840" cy="411120"/>
          </a:xfrm>
          <a:prstGeom prst="roundRect">
            <a:avLst>
              <a:gd name="adj" fmla="val 17778"/>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04" name="Text 7"/>
          <p:cNvSpPr/>
          <p:nvPr/>
        </p:nvSpPr>
        <p:spPr>
          <a:xfrm>
            <a:off x="1645920" y="2139840"/>
            <a:ext cx="36540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000" b="1" u="none" strike="noStrike">
                <a:solidFill>
                  <a:srgbClr val="0F172A"/>
                </a:solidFill>
                <a:effectLst/>
                <a:uFillTx/>
                <a:latin typeface="Aptos"/>
                <a:ea typeface="Aptos"/>
              </a:rPr>
              <a:t>h2</a:t>
            </a:r>
            <a:endParaRPr lang="it-IT" sz="1000" b="0" u="none" strike="noStrike">
              <a:solidFill>
                <a:srgbClr val="000000"/>
              </a:solidFill>
              <a:effectLst/>
              <a:uFillTx/>
              <a:latin typeface="Arial"/>
            </a:endParaRPr>
          </a:p>
        </p:txBody>
      </p:sp>
      <p:sp>
        <p:nvSpPr>
          <p:cNvPr id="305" name="Shape 8"/>
          <p:cNvSpPr/>
          <p:nvPr/>
        </p:nvSpPr>
        <p:spPr>
          <a:xfrm>
            <a:off x="2057400" y="2313360"/>
            <a:ext cx="228600" cy="360"/>
          </a:xfrm>
          <a:prstGeom prst="line">
            <a:avLst/>
          </a:prstGeom>
          <a:ln w="1397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06" name="Shape 9"/>
          <p:cNvSpPr/>
          <p:nvPr/>
        </p:nvSpPr>
        <p:spPr>
          <a:xfrm>
            <a:off x="2286000" y="2103120"/>
            <a:ext cx="456840" cy="411120"/>
          </a:xfrm>
          <a:prstGeom prst="roundRect">
            <a:avLst>
              <a:gd name="adj" fmla="val 17778"/>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07" name="Text 10"/>
          <p:cNvSpPr/>
          <p:nvPr/>
        </p:nvSpPr>
        <p:spPr>
          <a:xfrm>
            <a:off x="2331720" y="2139840"/>
            <a:ext cx="36540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000" b="1" u="none" strike="noStrike">
                <a:solidFill>
                  <a:srgbClr val="0F172A"/>
                </a:solidFill>
                <a:effectLst/>
                <a:uFillTx/>
                <a:latin typeface="Aptos"/>
                <a:ea typeface="Aptos"/>
              </a:rPr>
              <a:t>h3</a:t>
            </a:r>
            <a:endParaRPr lang="it-IT" sz="1000" b="0" u="none" strike="noStrike">
              <a:solidFill>
                <a:srgbClr val="000000"/>
              </a:solidFill>
              <a:effectLst/>
              <a:uFillTx/>
              <a:latin typeface="Arial"/>
            </a:endParaRPr>
          </a:p>
        </p:txBody>
      </p:sp>
      <p:sp>
        <p:nvSpPr>
          <p:cNvPr id="308" name="Shape 11"/>
          <p:cNvSpPr/>
          <p:nvPr/>
        </p:nvSpPr>
        <p:spPr>
          <a:xfrm>
            <a:off x="2743200" y="2313360"/>
            <a:ext cx="228600" cy="360"/>
          </a:xfrm>
          <a:prstGeom prst="line">
            <a:avLst/>
          </a:prstGeom>
          <a:ln w="1397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09" name="Shape 12"/>
          <p:cNvSpPr/>
          <p:nvPr/>
        </p:nvSpPr>
        <p:spPr>
          <a:xfrm>
            <a:off x="2971800" y="2103120"/>
            <a:ext cx="456840" cy="411120"/>
          </a:xfrm>
          <a:prstGeom prst="roundRect">
            <a:avLst>
              <a:gd name="adj" fmla="val 17778"/>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10" name="Text 13"/>
          <p:cNvSpPr/>
          <p:nvPr/>
        </p:nvSpPr>
        <p:spPr>
          <a:xfrm>
            <a:off x="3017520" y="2139840"/>
            <a:ext cx="36540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000" b="1" u="none" strike="noStrike">
                <a:solidFill>
                  <a:srgbClr val="0F172A"/>
                </a:solidFill>
                <a:effectLst/>
                <a:uFillTx/>
                <a:latin typeface="Aptos"/>
                <a:ea typeface="Aptos"/>
              </a:rPr>
              <a:t>h4</a:t>
            </a:r>
            <a:endParaRPr lang="it-IT" sz="1000" b="0" u="none" strike="noStrike">
              <a:solidFill>
                <a:srgbClr val="000000"/>
              </a:solidFill>
              <a:effectLst/>
              <a:uFillTx/>
              <a:latin typeface="Arial"/>
            </a:endParaRPr>
          </a:p>
        </p:txBody>
      </p:sp>
      <p:sp>
        <p:nvSpPr>
          <p:cNvPr id="311" name="Shape 14"/>
          <p:cNvSpPr/>
          <p:nvPr/>
        </p:nvSpPr>
        <p:spPr>
          <a:xfrm>
            <a:off x="3429000" y="2313360"/>
            <a:ext cx="228600" cy="360"/>
          </a:xfrm>
          <a:prstGeom prst="line">
            <a:avLst/>
          </a:prstGeom>
          <a:ln w="1397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12" name="Shape 15"/>
          <p:cNvSpPr/>
          <p:nvPr/>
        </p:nvSpPr>
        <p:spPr>
          <a:xfrm>
            <a:off x="3657600" y="2103120"/>
            <a:ext cx="456840" cy="411120"/>
          </a:xfrm>
          <a:prstGeom prst="roundRect">
            <a:avLst>
              <a:gd name="adj" fmla="val 17778"/>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13" name="Text 16"/>
          <p:cNvSpPr/>
          <p:nvPr/>
        </p:nvSpPr>
        <p:spPr>
          <a:xfrm>
            <a:off x="3703320" y="2139840"/>
            <a:ext cx="36540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000" b="1" u="none" strike="noStrike">
                <a:solidFill>
                  <a:srgbClr val="0F172A"/>
                </a:solidFill>
                <a:effectLst/>
                <a:uFillTx/>
                <a:latin typeface="Aptos"/>
                <a:ea typeface="Aptos"/>
              </a:rPr>
              <a:t>h5</a:t>
            </a:r>
            <a:endParaRPr lang="it-IT" sz="1000" b="0" u="none" strike="noStrike">
              <a:solidFill>
                <a:srgbClr val="000000"/>
              </a:solidFill>
              <a:effectLst/>
              <a:uFillTx/>
              <a:latin typeface="Arial"/>
            </a:endParaRPr>
          </a:p>
        </p:txBody>
      </p:sp>
      <p:sp>
        <p:nvSpPr>
          <p:cNvPr id="314" name="Shape 17"/>
          <p:cNvSpPr/>
          <p:nvPr/>
        </p:nvSpPr>
        <p:spPr>
          <a:xfrm>
            <a:off x="3839478" y="3045600"/>
            <a:ext cx="1096920" cy="438480"/>
          </a:xfrm>
          <a:prstGeom prst="roundRect">
            <a:avLst>
              <a:gd name="adj" fmla="val 16667"/>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15" name="Text 18"/>
          <p:cNvSpPr/>
          <p:nvPr/>
        </p:nvSpPr>
        <p:spPr>
          <a:xfrm>
            <a:off x="3886020" y="3054240"/>
            <a:ext cx="1005480" cy="365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dirty="0">
                <a:solidFill>
                  <a:srgbClr val="0F172A"/>
                </a:solidFill>
                <a:effectLst/>
                <a:uFillTx/>
                <a:latin typeface="Aptos"/>
                <a:ea typeface="Aptos"/>
              </a:rPr>
              <a:t>prediction</a:t>
            </a:r>
            <a:endParaRPr lang="it-IT" sz="1200" b="0" u="none" strike="noStrike" dirty="0">
              <a:solidFill>
                <a:srgbClr val="000000"/>
              </a:solidFill>
              <a:effectLst/>
              <a:uFillTx/>
              <a:latin typeface="Arial"/>
            </a:endParaRPr>
          </a:p>
        </p:txBody>
      </p:sp>
      <p:sp>
        <p:nvSpPr>
          <p:cNvPr id="316" name="Shape 19"/>
          <p:cNvSpPr/>
          <p:nvPr/>
        </p:nvSpPr>
        <p:spPr>
          <a:xfrm>
            <a:off x="4023000" y="2560320"/>
            <a:ext cx="365760" cy="457200"/>
          </a:xfrm>
          <a:prstGeom prst="line">
            <a:avLst/>
          </a:prstGeom>
          <a:ln w="1397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317" name="Text 20"/>
          <p:cNvSpPr/>
          <p:nvPr/>
        </p:nvSpPr>
        <p:spPr>
          <a:xfrm>
            <a:off x="822960" y="3840480"/>
            <a:ext cx="3657240" cy="456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a:solidFill>
                  <a:srgbClr val="475569"/>
                </a:solidFill>
                <a:effectLst/>
                <a:uFillTx/>
                <a:latin typeface="Aptos"/>
                <a:ea typeface="Aptos"/>
              </a:rPr>
              <a:t>history compressed into sequential state updates</a:t>
            </a:r>
            <a:endParaRPr lang="it-IT" sz="1200" b="0" u="none" strike="noStrike">
              <a:solidFill>
                <a:srgbClr val="000000"/>
              </a:solidFill>
              <a:effectLst/>
              <a:uFillTx/>
              <a:latin typeface="Arial"/>
            </a:endParaRPr>
          </a:p>
        </p:txBody>
      </p:sp>
      <p:sp>
        <p:nvSpPr>
          <p:cNvPr id="318" name="Text 21"/>
          <p:cNvSpPr/>
          <p:nvPr/>
        </p:nvSpPr>
        <p:spPr>
          <a:xfrm>
            <a:off x="5669280" y="1234440"/>
            <a:ext cx="41144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0F172A"/>
                </a:solidFill>
                <a:effectLst/>
                <a:uFillTx/>
                <a:latin typeface="Aptos"/>
                <a:ea typeface="Aptos"/>
              </a:rPr>
              <a:t>WaveNet-style temporal CNN</a:t>
            </a:r>
            <a:endParaRPr lang="it-IT" sz="1600" b="0" u="none" strike="noStrike">
              <a:solidFill>
                <a:srgbClr val="000000"/>
              </a:solidFill>
              <a:effectLst/>
              <a:uFillTx/>
              <a:latin typeface="Arial"/>
            </a:endParaRPr>
          </a:p>
        </p:txBody>
      </p:sp>
      <p:sp>
        <p:nvSpPr>
          <p:cNvPr id="319" name="Shape 22"/>
          <p:cNvSpPr/>
          <p:nvPr/>
        </p:nvSpPr>
        <p:spPr>
          <a:xfrm>
            <a:off x="5669280" y="1920240"/>
            <a:ext cx="914040" cy="502560"/>
          </a:xfrm>
          <a:prstGeom prst="roundRect">
            <a:avLst>
              <a:gd name="adj" fmla="val 14545"/>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20" name="Text 23"/>
          <p:cNvSpPr/>
          <p:nvPr/>
        </p:nvSpPr>
        <p:spPr>
          <a:xfrm>
            <a:off x="5715000" y="1956960"/>
            <a:ext cx="82260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950" b="1" u="none" strike="noStrike">
                <a:solidFill>
                  <a:srgbClr val="0F172A"/>
                </a:solidFill>
                <a:effectLst/>
                <a:uFillTx/>
                <a:latin typeface="Aptos"/>
                <a:ea typeface="Aptos"/>
              </a:rPr>
              <a:t>dilated</a:t>
            </a:r>
            <a:endParaRPr lang="it-IT"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F172A"/>
                </a:solidFill>
                <a:effectLst/>
                <a:uFillTx/>
                <a:latin typeface="Aptos"/>
                <a:ea typeface="Aptos"/>
              </a:rPr>
              <a:t>conv D=1</a:t>
            </a:r>
            <a:endParaRPr lang="it-IT" sz="950" b="0" u="none" strike="noStrike">
              <a:solidFill>
                <a:srgbClr val="000000"/>
              </a:solidFill>
              <a:effectLst/>
              <a:uFillTx/>
              <a:latin typeface="Arial"/>
            </a:endParaRPr>
          </a:p>
        </p:txBody>
      </p:sp>
      <p:sp>
        <p:nvSpPr>
          <p:cNvPr id="321" name="Shape 24"/>
          <p:cNvSpPr/>
          <p:nvPr/>
        </p:nvSpPr>
        <p:spPr>
          <a:xfrm>
            <a:off x="6583680" y="2166840"/>
            <a:ext cx="91440" cy="320040"/>
          </a:xfrm>
          <a:prstGeom prst="line">
            <a:avLst/>
          </a:prstGeom>
          <a:ln w="1397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322" name="Shape 25"/>
          <p:cNvSpPr/>
          <p:nvPr/>
        </p:nvSpPr>
        <p:spPr>
          <a:xfrm>
            <a:off x="6675120" y="2240280"/>
            <a:ext cx="914040" cy="502560"/>
          </a:xfrm>
          <a:prstGeom prst="roundRect">
            <a:avLst>
              <a:gd name="adj" fmla="val 14545"/>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23" name="Text 26"/>
          <p:cNvSpPr/>
          <p:nvPr/>
        </p:nvSpPr>
        <p:spPr>
          <a:xfrm>
            <a:off x="6720840" y="2277000"/>
            <a:ext cx="82260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950" b="1" u="none" strike="noStrike">
                <a:solidFill>
                  <a:srgbClr val="0F172A"/>
                </a:solidFill>
                <a:effectLst/>
                <a:uFillTx/>
                <a:latin typeface="Aptos"/>
                <a:ea typeface="Aptos"/>
              </a:rPr>
              <a:t>dilated</a:t>
            </a:r>
            <a:endParaRPr lang="it-IT"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F172A"/>
                </a:solidFill>
                <a:effectLst/>
                <a:uFillTx/>
                <a:latin typeface="Aptos"/>
                <a:ea typeface="Aptos"/>
              </a:rPr>
              <a:t>conv D=2</a:t>
            </a:r>
            <a:endParaRPr lang="it-IT" sz="950" b="0" u="none" strike="noStrike">
              <a:solidFill>
                <a:srgbClr val="000000"/>
              </a:solidFill>
              <a:effectLst/>
              <a:uFillTx/>
              <a:latin typeface="Arial"/>
            </a:endParaRPr>
          </a:p>
        </p:txBody>
      </p:sp>
      <p:sp>
        <p:nvSpPr>
          <p:cNvPr id="324" name="Shape 27"/>
          <p:cNvSpPr/>
          <p:nvPr/>
        </p:nvSpPr>
        <p:spPr>
          <a:xfrm>
            <a:off x="7589520" y="2486880"/>
            <a:ext cx="91440" cy="320040"/>
          </a:xfrm>
          <a:prstGeom prst="line">
            <a:avLst/>
          </a:prstGeom>
          <a:ln w="1397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325" name="Shape 28"/>
          <p:cNvSpPr/>
          <p:nvPr/>
        </p:nvSpPr>
        <p:spPr>
          <a:xfrm>
            <a:off x="7680960" y="2560320"/>
            <a:ext cx="914040" cy="502560"/>
          </a:xfrm>
          <a:prstGeom prst="roundRect">
            <a:avLst>
              <a:gd name="adj" fmla="val 14545"/>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26" name="Text 29"/>
          <p:cNvSpPr/>
          <p:nvPr/>
        </p:nvSpPr>
        <p:spPr>
          <a:xfrm>
            <a:off x="7726680" y="2597040"/>
            <a:ext cx="82260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950" b="1" u="none" strike="noStrike">
                <a:solidFill>
                  <a:srgbClr val="0F172A"/>
                </a:solidFill>
                <a:effectLst/>
                <a:uFillTx/>
                <a:latin typeface="Aptos"/>
                <a:ea typeface="Aptos"/>
              </a:rPr>
              <a:t>dilated</a:t>
            </a:r>
            <a:endParaRPr lang="it-IT"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F172A"/>
                </a:solidFill>
                <a:effectLst/>
                <a:uFillTx/>
                <a:latin typeface="Aptos"/>
                <a:ea typeface="Aptos"/>
              </a:rPr>
              <a:t>conv D=4</a:t>
            </a:r>
            <a:endParaRPr lang="it-IT" sz="950" b="0" u="none" strike="noStrike">
              <a:solidFill>
                <a:srgbClr val="000000"/>
              </a:solidFill>
              <a:effectLst/>
              <a:uFillTx/>
              <a:latin typeface="Arial"/>
            </a:endParaRPr>
          </a:p>
        </p:txBody>
      </p:sp>
      <p:sp>
        <p:nvSpPr>
          <p:cNvPr id="327" name="Shape 30"/>
          <p:cNvSpPr/>
          <p:nvPr/>
        </p:nvSpPr>
        <p:spPr>
          <a:xfrm>
            <a:off x="8595360" y="2806920"/>
            <a:ext cx="91440" cy="320040"/>
          </a:xfrm>
          <a:prstGeom prst="line">
            <a:avLst/>
          </a:prstGeom>
          <a:ln w="1397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328" name="Shape 31"/>
          <p:cNvSpPr/>
          <p:nvPr/>
        </p:nvSpPr>
        <p:spPr>
          <a:xfrm>
            <a:off x="8686800" y="2880360"/>
            <a:ext cx="914040" cy="502560"/>
          </a:xfrm>
          <a:prstGeom prst="roundRect">
            <a:avLst>
              <a:gd name="adj" fmla="val 14545"/>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29" name="Text 32"/>
          <p:cNvSpPr/>
          <p:nvPr/>
        </p:nvSpPr>
        <p:spPr>
          <a:xfrm>
            <a:off x="8732520" y="2917080"/>
            <a:ext cx="82260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950" b="1" u="none" strike="noStrike">
                <a:solidFill>
                  <a:srgbClr val="0F172A"/>
                </a:solidFill>
                <a:effectLst/>
                <a:uFillTx/>
                <a:latin typeface="Aptos"/>
                <a:ea typeface="Aptos"/>
              </a:rPr>
              <a:t>dilated</a:t>
            </a:r>
            <a:endParaRPr lang="it-IT"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F172A"/>
                </a:solidFill>
                <a:effectLst/>
                <a:uFillTx/>
                <a:latin typeface="Aptos"/>
                <a:ea typeface="Aptos"/>
              </a:rPr>
              <a:t>conv D=8</a:t>
            </a:r>
            <a:endParaRPr lang="it-IT" sz="950" b="0" u="none" strike="noStrike">
              <a:solidFill>
                <a:srgbClr val="000000"/>
              </a:solidFill>
              <a:effectLst/>
              <a:uFillTx/>
              <a:latin typeface="Arial"/>
            </a:endParaRPr>
          </a:p>
        </p:txBody>
      </p:sp>
      <p:sp>
        <p:nvSpPr>
          <p:cNvPr id="330" name="Shape 33"/>
          <p:cNvSpPr/>
          <p:nvPr/>
        </p:nvSpPr>
        <p:spPr>
          <a:xfrm>
            <a:off x="9875520" y="2971800"/>
            <a:ext cx="914040" cy="438480"/>
          </a:xfrm>
          <a:prstGeom prst="roundRect">
            <a:avLst>
              <a:gd name="adj" fmla="val 16667"/>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31" name="Text 34"/>
          <p:cNvSpPr/>
          <p:nvPr/>
        </p:nvSpPr>
        <p:spPr>
          <a:xfrm>
            <a:off x="9921240" y="3008520"/>
            <a:ext cx="822600" cy="365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92500" lnSpcReduction="19999"/>
          </a:bodyPr>
          <a:lstStyle/>
          <a:p>
            <a:pPr algn="ctr" defTabSz="914400">
              <a:lnSpc>
                <a:spcPct val="100000"/>
              </a:lnSpc>
              <a:tabLst>
                <a:tab pos="0" algn="l"/>
              </a:tabLst>
            </a:pPr>
            <a:r>
              <a:rPr lang="en-US" sz="1200" b="1" u="none" strike="noStrike">
                <a:solidFill>
                  <a:srgbClr val="0F172A"/>
                </a:solidFill>
                <a:effectLst/>
                <a:uFillTx/>
                <a:latin typeface="Aptos"/>
                <a:ea typeface="Aptos"/>
              </a:rPr>
              <a:t>prediction</a:t>
            </a:r>
            <a:endParaRPr lang="it-IT" sz="1200" b="0" u="none" strike="noStrike">
              <a:solidFill>
                <a:srgbClr val="000000"/>
              </a:solidFill>
              <a:effectLst/>
              <a:uFillTx/>
              <a:latin typeface="Arial"/>
            </a:endParaRPr>
          </a:p>
        </p:txBody>
      </p:sp>
      <p:sp>
        <p:nvSpPr>
          <p:cNvPr id="332" name="Shape 35"/>
          <p:cNvSpPr/>
          <p:nvPr/>
        </p:nvSpPr>
        <p:spPr>
          <a:xfrm>
            <a:off x="9601200" y="3136320"/>
            <a:ext cx="274320" cy="360"/>
          </a:xfrm>
          <a:prstGeom prst="line">
            <a:avLst/>
          </a:prstGeom>
          <a:ln w="1397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33" name="Text 36"/>
          <p:cNvSpPr/>
          <p:nvPr/>
        </p:nvSpPr>
        <p:spPr>
          <a:xfrm>
            <a:off x="5577840" y="3840480"/>
            <a:ext cx="4388760" cy="456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a:solidFill>
                  <a:srgbClr val="475569"/>
                </a:solidFill>
                <a:effectLst/>
                <a:uFillTx/>
                <a:latin typeface="Aptos"/>
                <a:ea typeface="Aptos"/>
              </a:rPr>
              <a:t>history represented through causal dilated connectivity</a:t>
            </a:r>
            <a:endParaRPr lang="it-IT" sz="1200" b="0" u="none" strike="noStrike">
              <a:solidFill>
                <a:srgbClr val="000000"/>
              </a:solidFill>
              <a:effectLst/>
              <a:uFillTx/>
              <a:latin typeface="Arial"/>
            </a:endParaRPr>
          </a:p>
        </p:txBody>
      </p:sp>
      <p:sp>
        <p:nvSpPr>
          <p:cNvPr id="334" name="Shape 37"/>
          <p:cNvSpPr/>
          <p:nvPr/>
        </p:nvSpPr>
        <p:spPr>
          <a:xfrm>
            <a:off x="3474720" y="5212080"/>
            <a:ext cx="3657240" cy="548280"/>
          </a:xfrm>
          <a:prstGeom prst="roundRect">
            <a:avLst>
              <a:gd name="adj" fmla="val 13333"/>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35" name="Text 38"/>
          <p:cNvSpPr/>
          <p:nvPr/>
        </p:nvSpPr>
        <p:spPr>
          <a:xfrm>
            <a:off x="3520440" y="5248800"/>
            <a:ext cx="3565800" cy="475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92500"/>
          </a:bodyPr>
          <a:lstStyle/>
          <a:p>
            <a:pPr algn="ctr" defTabSz="914400">
              <a:lnSpc>
                <a:spcPct val="100000"/>
              </a:lnSpc>
              <a:tabLst>
                <a:tab pos="0" algn="l"/>
              </a:tabLst>
            </a:pPr>
            <a:r>
              <a:rPr lang="en-US" sz="1500" b="1" u="none" strike="noStrike">
                <a:solidFill>
                  <a:srgbClr val="0F172A"/>
                </a:solidFill>
                <a:effectLst/>
                <a:uFillTx/>
                <a:latin typeface="Aptos"/>
                <a:ea typeface="Aptos"/>
              </a:rPr>
              <a:t>Long memory does not require recurrence</a:t>
            </a:r>
            <a:endParaRPr lang="it-IT" sz="1500" b="0" u="none" strike="noStrike">
              <a:solidFill>
                <a:srgbClr val="000000"/>
              </a:solidFill>
              <a:effectLst/>
              <a:uFillTx/>
              <a:latin typeface="Arial"/>
            </a:endParaRPr>
          </a:p>
        </p:txBody>
      </p:sp>
      <p:sp>
        <p:nvSpPr>
          <p:cNvPr id="336" name="PlaceHolder 1"/>
          <p:cNvSpPr>
            <a:spLocks noGrp="1"/>
          </p:cNvSpPr>
          <p:nvPr>
            <p:ph type="sldNum" idx="10"/>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57F29C7F-2B78-4DAD-B0E9-ABA978A252F1}" type="slidenum">
              <a:rPr lang="en-US" sz="1200" b="0" u="none" strike="noStrike">
                <a:solidFill>
                  <a:srgbClr val="64748B"/>
                </a:solidFill>
                <a:effectLst/>
                <a:uFillTx/>
                <a:latin typeface="Aptos"/>
              </a:rPr>
              <a:t>212</a:t>
            </a:fld>
            <a:endParaRPr lang="it-IT" sz="1200" b="0" u="none" strike="noStrike">
              <a:solidFill>
                <a:srgbClr val="000000"/>
              </a:solidFill>
              <a:effectLst/>
              <a:uFillTx/>
              <a:latin typeface="Times New Roman"/>
            </a:endParaRP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782EB19-15FB-1860-8025-AC8F1D682F7B}"/>
              </a:ext>
            </a:extLst>
          </p:cNvPr>
          <p:cNvSpPr>
            <a:spLocks noGrp="1"/>
          </p:cNvSpPr>
          <p:nvPr>
            <p:ph type="title"/>
          </p:nvPr>
        </p:nvSpPr>
        <p:spPr/>
        <p:txBody>
          <a:bodyPr/>
          <a:lstStyle/>
          <a:p>
            <a:r>
              <a:rPr lang="en-GB" dirty="0" err="1"/>
              <a:t>WaveNet</a:t>
            </a:r>
            <a:r>
              <a:rPr lang="en-GB" dirty="0"/>
              <a:t> is an architectural reference, not the endpoint</a:t>
            </a:r>
          </a:p>
        </p:txBody>
      </p:sp>
      <p:sp>
        <p:nvSpPr>
          <p:cNvPr id="3" name="Segnaposto contenuto 2">
            <a:extLst>
              <a:ext uri="{FF2B5EF4-FFF2-40B4-BE49-F238E27FC236}">
                <a16:creationId xmlns:a16="http://schemas.microsoft.com/office/drawing/2014/main" id="{72D578F6-EDF3-2C9B-FD6A-CE36A28A5532}"/>
              </a:ext>
            </a:extLst>
          </p:cNvPr>
          <p:cNvSpPr>
            <a:spLocks noGrp="1"/>
          </p:cNvSpPr>
          <p:nvPr>
            <p:ph idx="1"/>
          </p:nvPr>
        </p:nvSpPr>
        <p:spPr>
          <a:xfrm>
            <a:off x="677333" y="2160589"/>
            <a:ext cx="10515385" cy="4390682"/>
          </a:xfrm>
        </p:spPr>
        <p:txBody>
          <a:bodyPr>
            <a:normAutofit fontScale="77500" lnSpcReduction="20000"/>
          </a:bodyPr>
          <a:lstStyle/>
          <a:p>
            <a:r>
              <a:rPr lang="en-GB" dirty="0"/>
              <a:t>For this course, </a:t>
            </a:r>
            <a:r>
              <a:rPr lang="en-GB" b="1" dirty="0" err="1">
                <a:highlight>
                  <a:srgbClr val="FFFF00"/>
                </a:highlight>
              </a:rPr>
              <a:t>WaveNet</a:t>
            </a:r>
            <a:r>
              <a:rPr lang="en-GB" b="1" dirty="0">
                <a:highlight>
                  <a:srgbClr val="FFFF00"/>
                </a:highlight>
              </a:rPr>
              <a:t> should be viewed as an influential design pattern.</a:t>
            </a:r>
          </a:p>
          <a:p>
            <a:r>
              <a:rPr lang="en-GB" dirty="0"/>
              <a:t>We do not need to develop in detail:</a:t>
            </a:r>
          </a:p>
          <a:p>
            <a:pPr lvl="1"/>
            <a:r>
              <a:rPr lang="en-GB" dirty="0"/>
              <a:t>raw audio quantization; </a:t>
            </a:r>
          </a:p>
          <a:p>
            <a:pPr lvl="1"/>
            <a:r>
              <a:rPr lang="en-GB" dirty="0"/>
              <a:t>audio-specific output distributions; </a:t>
            </a:r>
          </a:p>
          <a:p>
            <a:pPr lvl="1"/>
            <a:r>
              <a:rPr lang="en-GB" dirty="0"/>
              <a:t>sample-by-sample waveform synthesis. </a:t>
            </a:r>
          </a:p>
          <a:p>
            <a:r>
              <a:rPr lang="en-GB" dirty="0">
                <a:highlight>
                  <a:srgbClr val="FFFF00"/>
                </a:highlight>
              </a:rPr>
              <a:t>Instead, retain the architectural ideas:</a:t>
            </a:r>
          </a:p>
          <a:p>
            <a:pPr lvl="1"/>
            <a:r>
              <a:rPr lang="en-GB" dirty="0"/>
              <a:t>causal convolution; </a:t>
            </a:r>
          </a:p>
          <a:p>
            <a:pPr lvl="1"/>
            <a:r>
              <a:rPr lang="en-GB" dirty="0"/>
              <a:t>dilation; </a:t>
            </a:r>
          </a:p>
          <a:p>
            <a:pPr lvl="1"/>
            <a:r>
              <a:rPr lang="en-GB" dirty="0"/>
              <a:t>exponentially increasing receptive field; </a:t>
            </a:r>
          </a:p>
          <a:p>
            <a:pPr lvl="1"/>
            <a:r>
              <a:rPr lang="en-GB" dirty="0"/>
              <a:t>residual paths; </a:t>
            </a:r>
          </a:p>
          <a:p>
            <a:pPr lvl="1"/>
            <a:r>
              <a:rPr lang="en-GB" dirty="0"/>
              <a:t>skip connections. </a:t>
            </a:r>
          </a:p>
          <a:p>
            <a:r>
              <a:rPr lang="en-GB" b="1" dirty="0"/>
              <a:t>These ideas appear in many later temporal convolutional models.</a:t>
            </a:r>
          </a:p>
          <a:p>
            <a:endParaRPr lang="en-GB" b="1" dirty="0"/>
          </a:p>
          <a:p>
            <a:r>
              <a:rPr lang="en-GB" b="1" dirty="0"/>
              <a:t>Transition</a:t>
            </a:r>
          </a:p>
          <a:p>
            <a:r>
              <a:rPr lang="en-GB" dirty="0"/>
              <a:t>We now return from architecture to the prediction tasks introduced in Lecture 1.</a:t>
            </a:r>
          </a:p>
          <a:p>
            <a:endParaRPr lang="en-GB" dirty="0"/>
          </a:p>
        </p:txBody>
      </p:sp>
    </p:spTree>
    <p:extLst>
      <p:ext uri="{BB962C8B-B14F-4D97-AF65-F5344CB8AC3E}">
        <p14:creationId xmlns:p14="http://schemas.microsoft.com/office/powerpoint/2010/main" val="24019346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CB8447C-1D34-8A78-AA2B-A083B16DBF8B}"/>
              </a:ext>
            </a:extLst>
          </p:cNvPr>
          <p:cNvSpPr>
            <a:spLocks noGrp="1"/>
          </p:cNvSpPr>
          <p:nvPr>
            <p:ph type="title"/>
          </p:nvPr>
        </p:nvSpPr>
        <p:spPr/>
        <p:txBody>
          <a:bodyPr/>
          <a:lstStyle/>
          <a:p>
            <a:r>
              <a:rPr lang="en-GB" dirty="0"/>
              <a:t>Block 5.J — Temporal CNNs for Different Prediction Tasks</a:t>
            </a:r>
          </a:p>
        </p:txBody>
      </p:sp>
      <p:sp>
        <p:nvSpPr>
          <p:cNvPr id="3" name="Segnaposto contenuto 2">
            <a:extLst>
              <a:ext uri="{FF2B5EF4-FFF2-40B4-BE49-F238E27FC236}">
                <a16:creationId xmlns:a16="http://schemas.microsoft.com/office/drawing/2014/main" id="{BC0F7D1A-8406-7F38-405C-6C45571F2DD0}"/>
              </a:ext>
            </a:extLst>
          </p:cNvPr>
          <p:cNvSpPr>
            <a:spLocks noGrp="1"/>
          </p:cNvSpPr>
          <p:nvPr>
            <p:ph idx="1"/>
          </p:nvPr>
        </p:nvSpPr>
        <p:spPr/>
        <p:txBody>
          <a:bodyPr/>
          <a:lstStyle/>
          <a:p>
            <a:endParaRPr lang="en-GB" dirty="0"/>
          </a:p>
        </p:txBody>
      </p:sp>
    </p:spTree>
    <p:extLst>
      <p:ext uri="{BB962C8B-B14F-4D97-AF65-F5344CB8AC3E}">
        <p14:creationId xmlns:p14="http://schemas.microsoft.com/office/powerpoint/2010/main" val="376784903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dirty="0">
                <a:solidFill>
                  <a:srgbClr val="0F172A"/>
                </a:solidFill>
                <a:effectLst/>
                <a:uFillTx/>
                <a:latin typeface="Aptos Display"/>
                <a:ea typeface="Aptos Display"/>
              </a:rPr>
              <a:t>Temporal CNN backbone, task-specific heads</a:t>
            </a:r>
            <a:endParaRPr lang="it-IT" sz="3000" b="0" u="none" strike="noStrike" dirty="0">
              <a:solidFill>
                <a:srgbClr val="000000"/>
              </a:solidFill>
              <a:effectLst/>
              <a:uFillTx/>
              <a:latin typeface="Arial"/>
            </a:endParaRPr>
          </a:p>
        </p:txBody>
      </p:sp>
      <p:sp>
        <p:nvSpPr>
          <p:cNvPr id="339" name="Shape 2"/>
          <p:cNvSpPr/>
          <p:nvPr/>
        </p:nvSpPr>
        <p:spPr>
          <a:xfrm>
            <a:off x="731520" y="2788920"/>
            <a:ext cx="1462680" cy="594000"/>
          </a:xfrm>
          <a:prstGeom prst="roundRect">
            <a:avLst>
              <a:gd name="adj" fmla="val 12308"/>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40" name="Text 3"/>
          <p:cNvSpPr/>
          <p:nvPr/>
        </p:nvSpPr>
        <p:spPr>
          <a:xfrm>
            <a:off x="777240" y="2825640"/>
            <a:ext cx="137124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input sequence</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[N, L, d]</a:t>
            </a:r>
            <a:endParaRPr lang="it-IT" sz="1300" b="0" u="none" strike="noStrike">
              <a:solidFill>
                <a:srgbClr val="000000"/>
              </a:solidFill>
              <a:effectLst/>
              <a:uFillTx/>
              <a:latin typeface="Arial"/>
            </a:endParaRPr>
          </a:p>
        </p:txBody>
      </p:sp>
      <p:sp>
        <p:nvSpPr>
          <p:cNvPr id="341" name="Shape 4"/>
          <p:cNvSpPr/>
          <p:nvPr/>
        </p:nvSpPr>
        <p:spPr>
          <a:xfrm>
            <a:off x="2926080" y="2651760"/>
            <a:ext cx="1645560" cy="822600"/>
          </a:xfrm>
          <a:prstGeom prst="roundRect">
            <a:avLst>
              <a:gd name="adj" fmla="val 8889"/>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42" name="Text 5"/>
          <p:cNvSpPr/>
          <p:nvPr/>
        </p:nvSpPr>
        <p:spPr>
          <a:xfrm>
            <a:off x="2971800" y="2688480"/>
            <a:ext cx="1554120" cy="74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Conv1D / TCN</a:t>
            </a:r>
            <a:endParaRPr lang="it-IT" sz="1400" b="0" u="none" strike="noStrike">
              <a:solidFill>
                <a:srgbClr val="000000"/>
              </a:solidFill>
              <a:effectLst/>
              <a:uFillTx/>
              <a:latin typeface="Arial"/>
            </a:endParaRPr>
          </a:p>
          <a:p>
            <a:pPr algn="ctr" defTabSz="914400">
              <a:lnSpc>
                <a:spcPct val="100000"/>
              </a:lnSpc>
              <a:tabLst>
                <a:tab pos="0" algn="l"/>
              </a:tabLst>
            </a:pPr>
            <a:r>
              <a:rPr lang="en-US" sz="1400" b="1" u="none" strike="noStrike">
                <a:solidFill>
                  <a:srgbClr val="0F172A"/>
                </a:solidFill>
                <a:effectLst/>
                <a:uFillTx/>
                <a:latin typeface="Aptos"/>
                <a:ea typeface="Aptos"/>
              </a:rPr>
              <a:t>backbone</a:t>
            </a:r>
            <a:endParaRPr lang="it-IT" sz="1400" b="0" u="none" strike="noStrike">
              <a:solidFill>
                <a:srgbClr val="000000"/>
              </a:solidFill>
              <a:effectLst/>
              <a:uFillTx/>
              <a:latin typeface="Arial"/>
            </a:endParaRPr>
          </a:p>
        </p:txBody>
      </p:sp>
      <p:sp>
        <p:nvSpPr>
          <p:cNvPr id="343" name="Shape 6"/>
          <p:cNvSpPr/>
          <p:nvPr/>
        </p:nvSpPr>
        <p:spPr>
          <a:xfrm>
            <a:off x="2194560" y="3090600"/>
            <a:ext cx="73152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44" name="Shape 7"/>
          <p:cNvSpPr/>
          <p:nvPr/>
        </p:nvSpPr>
        <p:spPr>
          <a:xfrm>
            <a:off x="5486400" y="1143000"/>
            <a:ext cx="1828440" cy="685440"/>
          </a:xfrm>
          <a:prstGeom prst="roundRect">
            <a:avLst>
              <a:gd name="adj" fmla="val 10667"/>
            </a:avLst>
          </a:prstGeom>
          <a:solidFill>
            <a:srgbClr val="EDE9FE"/>
          </a:solidFill>
          <a:ln w="13970">
            <a:solidFill>
              <a:srgbClr val="7C3AE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45" name="Text 8"/>
          <p:cNvSpPr/>
          <p:nvPr/>
        </p:nvSpPr>
        <p:spPr>
          <a:xfrm>
            <a:off x="5532120" y="1179720"/>
            <a:ext cx="173700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classification</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[N, K]</a:t>
            </a:r>
            <a:endParaRPr lang="it-IT" sz="1300" b="0" u="none" strike="noStrike">
              <a:solidFill>
                <a:srgbClr val="000000"/>
              </a:solidFill>
              <a:effectLst/>
              <a:uFillTx/>
              <a:latin typeface="Arial"/>
            </a:endParaRPr>
          </a:p>
        </p:txBody>
      </p:sp>
      <p:sp>
        <p:nvSpPr>
          <p:cNvPr id="346" name="Shape 9"/>
          <p:cNvSpPr/>
          <p:nvPr/>
        </p:nvSpPr>
        <p:spPr>
          <a:xfrm flipV="1">
            <a:off x="4572000" y="1490400"/>
            <a:ext cx="914400" cy="1572840"/>
          </a:xfrm>
          <a:prstGeom prst="line">
            <a:avLst/>
          </a:prstGeom>
          <a:ln w="15240">
            <a:solidFill>
              <a:srgbClr val="7C3AED"/>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347" name="Shape 10"/>
          <p:cNvSpPr/>
          <p:nvPr/>
        </p:nvSpPr>
        <p:spPr>
          <a:xfrm>
            <a:off x="5486400" y="2331720"/>
            <a:ext cx="1828440" cy="685440"/>
          </a:xfrm>
          <a:prstGeom prst="roundRect">
            <a:avLst>
              <a:gd name="adj" fmla="val 10667"/>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48" name="Text 11"/>
          <p:cNvSpPr/>
          <p:nvPr/>
        </p:nvSpPr>
        <p:spPr>
          <a:xfrm>
            <a:off x="5532120" y="2368440"/>
            <a:ext cx="173700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regression</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[N, q]</a:t>
            </a:r>
            <a:endParaRPr lang="it-IT" sz="1300" b="0" u="none" strike="noStrike">
              <a:solidFill>
                <a:srgbClr val="000000"/>
              </a:solidFill>
              <a:effectLst/>
              <a:uFillTx/>
              <a:latin typeface="Arial"/>
            </a:endParaRPr>
          </a:p>
        </p:txBody>
      </p:sp>
      <p:sp>
        <p:nvSpPr>
          <p:cNvPr id="349" name="Shape 12"/>
          <p:cNvSpPr/>
          <p:nvPr/>
        </p:nvSpPr>
        <p:spPr>
          <a:xfrm flipV="1">
            <a:off x="4572000" y="2679120"/>
            <a:ext cx="914400" cy="384120"/>
          </a:xfrm>
          <a:prstGeom prst="line">
            <a:avLst/>
          </a:prstGeom>
          <a:ln w="1524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350" name="Shape 13"/>
          <p:cNvSpPr/>
          <p:nvPr/>
        </p:nvSpPr>
        <p:spPr>
          <a:xfrm>
            <a:off x="5486400" y="3520440"/>
            <a:ext cx="1828440" cy="685440"/>
          </a:xfrm>
          <a:prstGeom prst="roundRect">
            <a:avLst>
              <a:gd name="adj" fmla="val 10667"/>
            </a:avLst>
          </a:prstGeom>
          <a:solidFill>
            <a:srgbClr val="CCFBF1"/>
          </a:solidFill>
          <a:ln w="13970">
            <a:solidFill>
              <a:srgbClr val="0F766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51" name="Text 14"/>
          <p:cNvSpPr/>
          <p:nvPr/>
        </p:nvSpPr>
        <p:spPr>
          <a:xfrm>
            <a:off x="5532120" y="3557160"/>
            <a:ext cx="173700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sequence labelling</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[N, L, K]</a:t>
            </a:r>
            <a:endParaRPr lang="it-IT" sz="1300" b="0" u="none" strike="noStrike">
              <a:solidFill>
                <a:srgbClr val="000000"/>
              </a:solidFill>
              <a:effectLst/>
              <a:uFillTx/>
              <a:latin typeface="Arial"/>
            </a:endParaRPr>
          </a:p>
        </p:txBody>
      </p:sp>
      <p:sp>
        <p:nvSpPr>
          <p:cNvPr id="352" name="Shape 15"/>
          <p:cNvSpPr/>
          <p:nvPr/>
        </p:nvSpPr>
        <p:spPr>
          <a:xfrm>
            <a:off x="4572000" y="3063240"/>
            <a:ext cx="914400" cy="804600"/>
          </a:xfrm>
          <a:prstGeom prst="line">
            <a:avLst/>
          </a:prstGeom>
          <a:ln w="15240">
            <a:solidFill>
              <a:srgbClr val="0F766E"/>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353" name="Shape 16"/>
          <p:cNvSpPr/>
          <p:nvPr/>
        </p:nvSpPr>
        <p:spPr>
          <a:xfrm>
            <a:off x="5486400" y="4709160"/>
            <a:ext cx="1828440" cy="685440"/>
          </a:xfrm>
          <a:prstGeom prst="roundRect">
            <a:avLst>
              <a:gd name="adj" fmla="val 10667"/>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54" name="Text 17"/>
          <p:cNvSpPr/>
          <p:nvPr/>
        </p:nvSpPr>
        <p:spPr>
          <a:xfrm>
            <a:off x="5532120" y="4745880"/>
            <a:ext cx="173700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forecasting</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[N, H] / [N,H,q]</a:t>
            </a:r>
            <a:endParaRPr lang="it-IT" sz="1300" b="0" u="none" strike="noStrike">
              <a:solidFill>
                <a:srgbClr val="000000"/>
              </a:solidFill>
              <a:effectLst/>
              <a:uFillTx/>
              <a:latin typeface="Arial"/>
            </a:endParaRPr>
          </a:p>
        </p:txBody>
      </p:sp>
      <p:sp>
        <p:nvSpPr>
          <p:cNvPr id="355" name="Shape 18"/>
          <p:cNvSpPr/>
          <p:nvPr/>
        </p:nvSpPr>
        <p:spPr>
          <a:xfrm>
            <a:off x="4572000" y="3063240"/>
            <a:ext cx="914400" cy="1993320"/>
          </a:xfrm>
          <a:prstGeom prst="line">
            <a:avLst/>
          </a:prstGeom>
          <a:ln w="1524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357" name="PlaceHolder 1"/>
          <p:cNvSpPr>
            <a:spLocks noGrp="1"/>
          </p:cNvSpPr>
          <p:nvPr>
            <p:ph type="sldNum" idx="11"/>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66FE15C0-6B3B-44C9-ABC5-33689ECD60B9}" type="slidenum">
              <a:rPr lang="en-US" sz="1200" b="0" u="none" strike="noStrike">
                <a:solidFill>
                  <a:srgbClr val="64748B"/>
                </a:solidFill>
                <a:effectLst/>
                <a:uFillTx/>
                <a:latin typeface="Aptos"/>
              </a:rPr>
              <a:t>215</a:t>
            </a:fld>
            <a:endParaRPr lang="it-IT" sz="1200" b="0" u="none" strike="noStrike">
              <a:solidFill>
                <a:srgbClr val="000000"/>
              </a:solidFill>
              <a:effectLst/>
              <a:uFillTx/>
              <a:latin typeface="Times New Roman"/>
            </a:endParaRPr>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8FC68AE2-C2A7-5E06-69C1-AAC757C6AE65}"/>
              </a:ext>
            </a:extLst>
          </p:cNvPr>
          <p:cNvSpPr>
            <a:spLocks noGrp="1"/>
          </p:cNvSpPr>
          <p:nvPr>
            <p:ph type="title"/>
          </p:nvPr>
        </p:nvSpPr>
        <p:spPr/>
        <p:txBody>
          <a:bodyPr/>
          <a:lstStyle/>
          <a:p>
            <a:r>
              <a:rPr lang="en-GB" dirty="0"/>
              <a:t>Why pooling works well for classification</a:t>
            </a:r>
          </a:p>
        </p:txBody>
      </p:sp>
      <p:sp>
        <p:nvSpPr>
          <p:cNvPr id="5" name="Segnaposto contenuto 4">
            <a:extLst>
              <a:ext uri="{FF2B5EF4-FFF2-40B4-BE49-F238E27FC236}">
                <a16:creationId xmlns:a16="http://schemas.microsoft.com/office/drawing/2014/main" id="{4CC89EA3-936B-2C40-7187-9AC598D6CBDB}"/>
              </a:ext>
            </a:extLst>
          </p:cNvPr>
          <p:cNvSpPr>
            <a:spLocks noGrp="1"/>
          </p:cNvSpPr>
          <p:nvPr>
            <p:ph sz="half" idx="1"/>
          </p:nvPr>
        </p:nvSpPr>
        <p:spPr>
          <a:xfrm>
            <a:off x="677334" y="2160588"/>
            <a:ext cx="5418666" cy="4270691"/>
          </a:xfrm>
        </p:spPr>
        <p:txBody>
          <a:bodyPr>
            <a:normAutofit/>
          </a:bodyPr>
          <a:lstStyle/>
          <a:p>
            <a:r>
              <a:rPr lang="en-GB" dirty="0"/>
              <a:t>For many sequence-classification problems, the target depends on whether certain patterns occur somewhere in the window.</a:t>
            </a:r>
          </a:p>
          <a:p>
            <a:r>
              <a:rPr lang="en-GB" dirty="0"/>
              <a:t>Suppose a filter detects:</a:t>
            </a:r>
          </a:p>
          <a:p>
            <a:pPr lvl="1"/>
            <a:r>
              <a:rPr lang="en-GB" dirty="0"/>
              <a:t>fault-like vibration burst</a:t>
            </a:r>
          </a:p>
          <a:p>
            <a:r>
              <a:rPr lang="en-GB" dirty="0"/>
              <a:t>Its feature map may contain:</a:t>
            </a:r>
          </a:p>
          <a:p>
            <a:r>
              <a:rPr lang="en-GB" dirty="0"/>
              <a:t>0.1  0.2  0.1  4.8  0.3  0.1</a:t>
            </a:r>
          </a:p>
          <a:p>
            <a:r>
              <a:rPr lang="en-GB" b="1" dirty="0"/>
              <a:t>Global max pooling</a:t>
            </a:r>
          </a:p>
          <a:p>
            <a:r>
              <a:rPr lang="en-GB" dirty="0"/>
              <a:t>Retains: 4.8</a:t>
            </a:r>
          </a:p>
          <a:p>
            <a:r>
              <a:rPr lang="en-GB" dirty="0"/>
              <a:t>and asks approximately:</a:t>
            </a:r>
          </a:p>
          <a:p>
            <a:r>
              <a:rPr lang="en-GB" dirty="0"/>
              <a:t>Was this pattern strongly present anywhere?</a:t>
            </a:r>
          </a:p>
          <a:p>
            <a:endParaRPr lang="en-GB" dirty="0"/>
          </a:p>
        </p:txBody>
      </p:sp>
      <p:sp>
        <p:nvSpPr>
          <p:cNvPr id="6" name="Segnaposto contenuto 5">
            <a:extLst>
              <a:ext uri="{FF2B5EF4-FFF2-40B4-BE49-F238E27FC236}">
                <a16:creationId xmlns:a16="http://schemas.microsoft.com/office/drawing/2014/main" id="{777D792C-F262-7DAB-86BB-4FDACC06B39D}"/>
              </a:ext>
            </a:extLst>
          </p:cNvPr>
          <p:cNvSpPr>
            <a:spLocks noGrp="1"/>
          </p:cNvSpPr>
          <p:nvPr>
            <p:ph sz="half" idx="2"/>
          </p:nvPr>
        </p:nvSpPr>
        <p:spPr>
          <a:xfrm>
            <a:off x="6096000" y="2160588"/>
            <a:ext cx="5753564" cy="4270692"/>
          </a:xfrm>
        </p:spPr>
        <p:txBody>
          <a:bodyPr>
            <a:normAutofit/>
          </a:bodyPr>
          <a:lstStyle/>
          <a:p>
            <a:r>
              <a:rPr lang="en-GB" b="1" dirty="0"/>
              <a:t>Global average pooling</a:t>
            </a:r>
          </a:p>
          <a:p>
            <a:r>
              <a:rPr lang="en-GB" dirty="0"/>
              <a:t>Summarizes:</a:t>
            </a:r>
          </a:p>
          <a:p>
            <a:r>
              <a:rPr lang="en-GB" dirty="0"/>
              <a:t>How much was this pattern active over the entire sequence?</a:t>
            </a:r>
          </a:p>
          <a:p>
            <a:r>
              <a:rPr lang="en-GB" b="1" dirty="0"/>
              <a:t>Benefit</a:t>
            </a:r>
          </a:p>
          <a:p>
            <a:r>
              <a:rPr lang="en-GB" dirty="0"/>
              <a:t>The classifier receives a fixed-size feature vector regardless of temporal length.</a:t>
            </a:r>
          </a:p>
          <a:p>
            <a:r>
              <a:rPr lang="en-GB" b="1" dirty="0"/>
              <a:t>Cost</a:t>
            </a:r>
          </a:p>
          <a:p>
            <a:r>
              <a:rPr lang="en-GB" dirty="0"/>
              <a:t>Exact event location is discarded.</a:t>
            </a:r>
          </a:p>
          <a:p>
            <a:endParaRPr lang="en-GB" dirty="0"/>
          </a:p>
        </p:txBody>
      </p:sp>
    </p:spTree>
    <p:extLst>
      <p:ext uri="{BB962C8B-B14F-4D97-AF65-F5344CB8AC3E}">
        <p14:creationId xmlns:p14="http://schemas.microsoft.com/office/powerpoint/2010/main" val="303882296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0F172A"/>
                </a:solidFill>
                <a:effectLst/>
                <a:uFillTx/>
                <a:latin typeface="Aptos Display"/>
                <a:ea typeface="Aptos Display"/>
              </a:rPr>
              <a:t>Window classification with global pooling</a:t>
            </a:r>
            <a:endParaRPr lang="it-IT" sz="3000" b="0" u="none" strike="noStrike">
              <a:solidFill>
                <a:srgbClr val="000000"/>
              </a:solidFill>
              <a:effectLst/>
              <a:uFillTx/>
              <a:latin typeface="Arial"/>
            </a:endParaRPr>
          </a:p>
        </p:txBody>
      </p:sp>
      <p:sp>
        <p:nvSpPr>
          <p:cNvPr id="359"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Pooling converts temporal feature maps into a fixed-size vector</a:t>
            </a:r>
            <a:endParaRPr lang="it-IT" sz="1500" b="0" u="none" strike="noStrike">
              <a:solidFill>
                <a:srgbClr val="000000"/>
              </a:solidFill>
              <a:effectLst/>
              <a:uFillTx/>
              <a:latin typeface="Arial"/>
            </a:endParaRPr>
          </a:p>
        </p:txBody>
      </p:sp>
      <p:sp>
        <p:nvSpPr>
          <p:cNvPr id="360" name="Shape 2"/>
          <p:cNvSpPr/>
          <p:nvPr/>
        </p:nvSpPr>
        <p:spPr>
          <a:xfrm>
            <a:off x="685800" y="2743200"/>
            <a:ext cx="1279800" cy="594000"/>
          </a:xfrm>
          <a:prstGeom prst="roundRect">
            <a:avLst>
              <a:gd name="adj" fmla="val 12308"/>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1" name="Text 3"/>
          <p:cNvSpPr/>
          <p:nvPr/>
        </p:nvSpPr>
        <p:spPr>
          <a:xfrm>
            <a:off x="731520" y="2779920"/>
            <a:ext cx="118836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input</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[N, 500, 6]</a:t>
            </a:r>
            <a:endParaRPr lang="it-IT" sz="1200" b="0" u="none" strike="noStrike">
              <a:solidFill>
                <a:srgbClr val="000000"/>
              </a:solidFill>
              <a:effectLst/>
              <a:uFillTx/>
              <a:latin typeface="Arial"/>
            </a:endParaRPr>
          </a:p>
        </p:txBody>
      </p:sp>
      <p:sp>
        <p:nvSpPr>
          <p:cNvPr id="362" name="Shape 4"/>
          <p:cNvSpPr/>
          <p:nvPr/>
        </p:nvSpPr>
        <p:spPr>
          <a:xfrm>
            <a:off x="2743200" y="2560320"/>
            <a:ext cx="1828440" cy="914040"/>
          </a:xfrm>
          <a:prstGeom prst="roundRect">
            <a:avLst>
              <a:gd name="adj" fmla="val 8000"/>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3" name="Text 5"/>
          <p:cNvSpPr/>
          <p:nvPr/>
        </p:nvSpPr>
        <p:spPr>
          <a:xfrm>
            <a:off x="2788920" y="2597040"/>
            <a:ext cx="1737000" cy="840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Conv1D</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feature maps</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[N, 125, 64]</a:t>
            </a:r>
            <a:endParaRPr lang="it-IT" sz="1200" b="0" u="none" strike="noStrike">
              <a:solidFill>
                <a:srgbClr val="000000"/>
              </a:solidFill>
              <a:effectLst/>
              <a:uFillTx/>
              <a:latin typeface="Arial"/>
            </a:endParaRPr>
          </a:p>
        </p:txBody>
      </p:sp>
      <p:sp>
        <p:nvSpPr>
          <p:cNvPr id="364" name="Shape 6"/>
          <p:cNvSpPr/>
          <p:nvPr/>
        </p:nvSpPr>
        <p:spPr>
          <a:xfrm>
            <a:off x="5394960" y="2606040"/>
            <a:ext cx="1645560" cy="822600"/>
          </a:xfrm>
          <a:prstGeom prst="roundRect">
            <a:avLst>
              <a:gd name="adj" fmla="val 8889"/>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5" name="Text 7"/>
          <p:cNvSpPr/>
          <p:nvPr/>
        </p:nvSpPr>
        <p:spPr>
          <a:xfrm>
            <a:off x="5440680" y="2642760"/>
            <a:ext cx="1554120" cy="74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global max / avg</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pooling</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[N, 64]</a:t>
            </a:r>
            <a:endParaRPr lang="it-IT" sz="1200" b="0" u="none" strike="noStrike">
              <a:solidFill>
                <a:srgbClr val="000000"/>
              </a:solidFill>
              <a:effectLst/>
              <a:uFillTx/>
              <a:latin typeface="Arial"/>
            </a:endParaRPr>
          </a:p>
        </p:txBody>
      </p:sp>
      <p:sp>
        <p:nvSpPr>
          <p:cNvPr id="366" name="Shape 8"/>
          <p:cNvSpPr/>
          <p:nvPr/>
        </p:nvSpPr>
        <p:spPr>
          <a:xfrm>
            <a:off x="7863840" y="2743200"/>
            <a:ext cx="1371240" cy="594000"/>
          </a:xfrm>
          <a:prstGeom prst="roundRect">
            <a:avLst>
              <a:gd name="adj" fmla="val 12308"/>
            </a:avLst>
          </a:prstGeom>
          <a:solidFill>
            <a:srgbClr val="EDE9FE"/>
          </a:solidFill>
          <a:ln w="13970">
            <a:solidFill>
              <a:srgbClr val="7C3AE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7" name="Text 9"/>
          <p:cNvSpPr/>
          <p:nvPr/>
        </p:nvSpPr>
        <p:spPr>
          <a:xfrm>
            <a:off x="7909560" y="2779920"/>
            <a:ext cx="127980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classifier</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[N, K]</a:t>
            </a:r>
            <a:endParaRPr lang="it-IT" sz="1200" b="0" u="none" strike="noStrike">
              <a:solidFill>
                <a:srgbClr val="000000"/>
              </a:solidFill>
              <a:effectLst/>
              <a:uFillTx/>
              <a:latin typeface="Arial"/>
            </a:endParaRPr>
          </a:p>
        </p:txBody>
      </p:sp>
      <p:sp>
        <p:nvSpPr>
          <p:cNvPr id="368" name="Shape 10"/>
          <p:cNvSpPr/>
          <p:nvPr/>
        </p:nvSpPr>
        <p:spPr>
          <a:xfrm>
            <a:off x="9875520" y="2743200"/>
            <a:ext cx="1188360" cy="594000"/>
          </a:xfrm>
          <a:prstGeom prst="roundRect">
            <a:avLst>
              <a:gd name="adj" fmla="val 12308"/>
            </a:avLst>
          </a:prstGeom>
          <a:solidFill>
            <a:srgbClr val="F1F5F9"/>
          </a:solidFill>
          <a:ln w="1397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369" name="Text 11"/>
          <p:cNvSpPr/>
          <p:nvPr/>
        </p:nvSpPr>
        <p:spPr>
          <a:xfrm>
            <a:off x="9921240" y="2779920"/>
            <a:ext cx="109692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class</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probabilities</a:t>
            </a:r>
            <a:endParaRPr lang="it-IT" sz="1200" b="0" u="none" strike="noStrike">
              <a:solidFill>
                <a:srgbClr val="000000"/>
              </a:solidFill>
              <a:effectLst/>
              <a:uFillTx/>
              <a:latin typeface="Arial"/>
            </a:endParaRPr>
          </a:p>
        </p:txBody>
      </p:sp>
      <p:sp>
        <p:nvSpPr>
          <p:cNvPr id="370" name="Shape 12"/>
          <p:cNvSpPr/>
          <p:nvPr/>
        </p:nvSpPr>
        <p:spPr>
          <a:xfrm>
            <a:off x="1965960" y="3044880"/>
            <a:ext cx="77724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71" name="Shape 13"/>
          <p:cNvSpPr/>
          <p:nvPr/>
        </p:nvSpPr>
        <p:spPr>
          <a:xfrm>
            <a:off x="4572000" y="3044880"/>
            <a:ext cx="82296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72" name="Shape 14"/>
          <p:cNvSpPr/>
          <p:nvPr/>
        </p:nvSpPr>
        <p:spPr>
          <a:xfrm>
            <a:off x="7040880" y="3044880"/>
            <a:ext cx="82296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73" name="Shape 15"/>
          <p:cNvSpPr/>
          <p:nvPr/>
        </p:nvSpPr>
        <p:spPr>
          <a:xfrm>
            <a:off x="9235440" y="3044880"/>
            <a:ext cx="64008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74" name="Text 16"/>
          <p:cNvSpPr/>
          <p:nvPr/>
        </p:nvSpPr>
        <p:spPr>
          <a:xfrm>
            <a:off x="5074920" y="4261680"/>
            <a:ext cx="292572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a:solidFill>
                  <a:srgbClr val="F59E0B"/>
                </a:solidFill>
                <a:effectLst/>
                <a:uFillTx/>
                <a:latin typeface="Aptos"/>
                <a:ea typeface="Aptos"/>
              </a:rPr>
              <a:t>global max: strongest occurrence anywhere</a:t>
            </a:r>
            <a:endParaRPr lang="it-IT" sz="1200" b="0" u="none" strike="noStrike">
              <a:solidFill>
                <a:srgbClr val="000000"/>
              </a:solidFill>
              <a:effectLst/>
              <a:uFillTx/>
              <a:latin typeface="Arial"/>
            </a:endParaRPr>
          </a:p>
        </p:txBody>
      </p:sp>
      <p:sp>
        <p:nvSpPr>
          <p:cNvPr id="375" name="Text 17"/>
          <p:cNvSpPr/>
          <p:nvPr/>
        </p:nvSpPr>
        <p:spPr>
          <a:xfrm>
            <a:off x="5074920" y="4572000"/>
            <a:ext cx="246852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a:solidFill>
                  <a:srgbClr val="F59E0B"/>
                </a:solidFill>
                <a:effectLst/>
                <a:uFillTx/>
                <a:latin typeface="Aptos"/>
                <a:ea typeface="Aptos"/>
              </a:rPr>
              <a:t>global average: overall feature activity</a:t>
            </a:r>
            <a:endParaRPr lang="it-IT" sz="1200" b="0" u="none" strike="noStrike">
              <a:solidFill>
                <a:srgbClr val="000000"/>
              </a:solidFill>
              <a:effectLst/>
              <a:uFillTx/>
              <a:latin typeface="Arial"/>
            </a:endParaRPr>
          </a:p>
        </p:txBody>
      </p:sp>
      <p:sp>
        <p:nvSpPr>
          <p:cNvPr id="376" name="Text 18"/>
          <p:cNvSpPr/>
          <p:nvPr/>
        </p:nvSpPr>
        <p:spPr>
          <a:xfrm>
            <a:off x="5882640" y="5011560"/>
            <a:ext cx="255996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a:solidFill>
                  <a:srgbClr val="DC2626"/>
                </a:solidFill>
                <a:effectLst/>
                <a:uFillTx/>
                <a:latin typeface="Aptos"/>
                <a:ea typeface="Aptos"/>
              </a:rPr>
              <a:t>exact event location is discarded</a:t>
            </a:r>
            <a:endParaRPr lang="it-IT" sz="1200" b="0" u="none" strike="noStrike">
              <a:solidFill>
                <a:srgbClr val="000000"/>
              </a:solidFill>
              <a:effectLst/>
              <a:uFillTx/>
              <a:latin typeface="Arial"/>
            </a:endParaRPr>
          </a:p>
        </p:txBody>
      </p:sp>
      <p:sp>
        <p:nvSpPr>
          <p:cNvPr id="377" name="PlaceHolder 1"/>
          <p:cNvSpPr>
            <a:spLocks noGrp="1"/>
          </p:cNvSpPr>
          <p:nvPr>
            <p:ph type="sldNum" idx="12"/>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0032F9FA-68A1-48FD-97C3-6031466C9625}" type="slidenum">
              <a:rPr lang="en-US" sz="1200" b="0" u="none" strike="noStrike">
                <a:solidFill>
                  <a:srgbClr val="64748B"/>
                </a:solidFill>
                <a:effectLst/>
                <a:uFillTx/>
                <a:latin typeface="Aptos"/>
              </a:rPr>
              <a:t>217</a:t>
            </a:fld>
            <a:endParaRPr lang="it-IT" sz="1200" b="0" u="none" strike="noStrike">
              <a:solidFill>
                <a:srgbClr val="000000"/>
              </a:solidFill>
              <a:effectLst/>
              <a:uFillTx/>
              <a:latin typeface="Times New Roman"/>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13C7482D-B0ED-2575-086A-6238FC58E189}"/>
              </a:ext>
            </a:extLst>
          </p:cNvPr>
          <p:cNvSpPr>
            <a:spLocks noGrp="1"/>
          </p:cNvSpPr>
          <p:nvPr>
            <p:ph type="title"/>
          </p:nvPr>
        </p:nvSpPr>
        <p:spPr/>
        <p:txBody>
          <a:bodyPr/>
          <a:lstStyle/>
          <a:p>
            <a:r>
              <a:rPr lang="en-GB" dirty="0"/>
              <a:t>Regression from a temporal sequence</a:t>
            </a:r>
          </a:p>
        </p:txBody>
      </p:sp>
      <p:sp>
        <p:nvSpPr>
          <p:cNvPr id="5" name="Segnaposto contenuto 4">
            <a:extLst>
              <a:ext uri="{FF2B5EF4-FFF2-40B4-BE49-F238E27FC236}">
                <a16:creationId xmlns:a16="http://schemas.microsoft.com/office/drawing/2014/main" id="{11B955AD-AD59-97C5-431D-FAA2EA13628D}"/>
              </a:ext>
            </a:extLst>
          </p:cNvPr>
          <p:cNvSpPr>
            <a:spLocks noGrp="1"/>
          </p:cNvSpPr>
          <p:nvPr>
            <p:ph sz="half" idx="1"/>
          </p:nvPr>
        </p:nvSpPr>
        <p:spPr/>
        <p:txBody>
          <a:bodyPr>
            <a:normAutofit fontScale="85000" lnSpcReduction="20000"/>
          </a:bodyPr>
          <a:lstStyle/>
          <a:p>
            <a:r>
              <a:rPr lang="en-GB" dirty="0"/>
              <a:t>The same architecture can produce a continuous output.</a:t>
            </a:r>
          </a:p>
          <a:p>
            <a:r>
              <a:rPr lang="en-GB" dirty="0"/>
              <a:t>temporal sequence</a:t>
            </a:r>
          </a:p>
          <a:p>
            <a:r>
              <a:rPr lang="en-GB" dirty="0"/>
              <a:t>      ↓</a:t>
            </a:r>
          </a:p>
          <a:p>
            <a:r>
              <a:rPr lang="en-GB" dirty="0"/>
              <a:t>Conv1D layers</a:t>
            </a:r>
          </a:p>
          <a:p>
            <a:r>
              <a:rPr lang="en-GB" dirty="0"/>
              <a:t>      ↓</a:t>
            </a:r>
          </a:p>
          <a:p>
            <a:r>
              <a:rPr lang="en-GB" dirty="0"/>
              <a:t>global pooling</a:t>
            </a:r>
          </a:p>
          <a:p>
            <a:r>
              <a:rPr lang="en-GB" dirty="0"/>
              <a:t>      ↓</a:t>
            </a:r>
          </a:p>
          <a:p>
            <a:r>
              <a:rPr lang="en-GB" dirty="0"/>
              <a:t>fixed-size representation</a:t>
            </a:r>
          </a:p>
          <a:p>
            <a:r>
              <a:rPr lang="en-GB" dirty="0"/>
              <a:t>      ↓</a:t>
            </a:r>
          </a:p>
          <a:p>
            <a:r>
              <a:rPr lang="en-GB" dirty="0"/>
              <a:t>regression layer</a:t>
            </a:r>
          </a:p>
          <a:p>
            <a:r>
              <a:rPr lang="en-GB" dirty="0"/>
              <a:t>      ↓</a:t>
            </a:r>
          </a:p>
          <a:p>
            <a:r>
              <a:rPr lang="en-GB" dirty="0"/>
              <a:t>continuous prediction</a:t>
            </a:r>
          </a:p>
          <a:p>
            <a:endParaRPr lang="en-GB" dirty="0"/>
          </a:p>
        </p:txBody>
      </p:sp>
      <p:sp>
        <p:nvSpPr>
          <p:cNvPr id="6" name="Segnaposto contenuto 5">
            <a:extLst>
              <a:ext uri="{FF2B5EF4-FFF2-40B4-BE49-F238E27FC236}">
                <a16:creationId xmlns:a16="http://schemas.microsoft.com/office/drawing/2014/main" id="{21B65AB4-59C5-CDF3-4C09-52DDC2D33ABD}"/>
              </a:ext>
            </a:extLst>
          </p:cNvPr>
          <p:cNvSpPr>
            <a:spLocks noGrp="1"/>
          </p:cNvSpPr>
          <p:nvPr>
            <p:ph sz="half" idx="2"/>
          </p:nvPr>
        </p:nvSpPr>
        <p:spPr>
          <a:xfrm>
            <a:off x="5089970" y="2160589"/>
            <a:ext cx="6903910" cy="4438331"/>
          </a:xfrm>
        </p:spPr>
        <p:txBody>
          <a:bodyPr>
            <a:normAutofit fontScale="85000" lnSpcReduction="20000"/>
          </a:bodyPr>
          <a:lstStyle/>
          <a:p>
            <a:r>
              <a:rPr lang="en-GB" b="1" dirty="0">
                <a:highlight>
                  <a:srgbClr val="FFFF00"/>
                </a:highlight>
              </a:rPr>
              <a:t>Examples</a:t>
            </a:r>
          </a:p>
          <a:p>
            <a:pPr lvl="1"/>
            <a:r>
              <a:rPr lang="en-GB" dirty="0"/>
              <a:t>remaining useful life; </a:t>
            </a:r>
          </a:p>
          <a:p>
            <a:pPr lvl="1"/>
            <a:r>
              <a:rPr lang="en-GB" dirty="0"/>
              <a:t>product-quality estimate; </a:t>
            </a:r>
          </a:p>
          <a:p>
            <a:pPr lvl="1"/>
            <a:r>
              <a:rPr lang="en-GB" dirty="0"/>
              <a:t>energy consumption; </a:t>
            </a:r>
          </a:p>
          <a:p>
            <a:pPr lvl="1"/>
            <a:r>
              <a:rPr lang="en-GB" dirty="0"/>
              <a:t>physiological parameter; </a:t>
            </a:r>
          </a:p>
          <a:p>
            <a:pPr lvl="1"/>
            <a:r>
              <a:rPr lang="en-GB" dirty="0"/>
              <a:t>process-state indicator. </a:t>
            </a:r>
          </a:p>
          <a:p>
            <a:r>
              <a:rPr lang="en-GB" b="1" dirty="0"/>
              <a:t>Output shapes</a:t>
            </a:r>
          </a:p>
          <a:p>
            <a:r>
              <a:rPr lang="en-GB" dirty="0"/>
              <a:t>Scalar regression: [N, 1]</a:t>
            </a:r>
          </a:p>
          <a:p>
            <a:r>
              <a:rPr lang="en-GB" dirty="0"/>
              <a:t>Multiple continuous targets: [N, q]</a:t>
            </a:r>
          </a:p>
          <a:p>
            <a:endParaRPr lang="en-GB" dirty="0"/>
          </a:p>
          <a:p>
            <a:r>
              <a:rPr lang="en-GB" b="1" dirty="0"/>
              <a:t>The convolutional network learns the temporal representation, while the final regression layer maps that representation to the desired quantity.</a:t>
            </a:r>
          </a:p>
          <a:p>
            <a:endParaRPr lang="en-GB" dirty="0"/>
          </a:p>
        </p:txBody>
      </p:sp>
    </p:spTree>
    <p:extLst>
      <p:ext uri="{BB962C8B-B14F-4D97-AF65-F5344CB8AC3E}">
        <p14:creationId xmlns:p14="http://schemas.microsoft.com/office/powerpoint/2010/main" val="3493370717"/>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E455D15-8CA8-6F0F-D7FE-FE55B92FC42A}"/>
              </a:ext>
            </a:extLst>
          </p:cNvPr>
          <p:cNvSpPr>
            <a:spLocks noGrp="1"/>
          </p:cNvSpPr>
          <p:nvPr>
            <p:ph type="title"/>
          </p:nvPr>
        </p:nvSpPr>
        <p:spPr/>
        <p:txBody>
          <a:bodyPr/>
          <a:lstStyle/>
          <a:p>
            <a:r>
              <a:rPr lang="en-GB" dirty="0"/>
              <a:t>Sequence labelling requires temporal resolution</a:t>
            </a:r>
          </a:p>
        </p:txBody>
      </p:sp>
      <p:sp>
        <p:nvSpPr>
          <p:cNvPr id="3" name="Segnaposto contenuto 2">
            <a:extLst>
              <a:ext uri="{FF2B5EF4-FFF2-40B4-BE49-F238E27FC236}">
                <a16:creationId xmlns:a16="http://schemas.microsoft.com/office/drawing/2014/main" id="{494565F2-4C1E-0BA6-A5B3-9B3C247547F6}"/>
              </a:ext>
            </a:extLst>
          </p:cNvPr>
          <p:cNvSpPr>
            <a:spLocks noGrp="1"/>
          </p:cNvSpPr>
          <p:nvPr>
            <p:ph sz="half" idx="1"/>
          </p:nvPr>
        </p:nvSpPr>
        <p:spPr>
          <a:xfrm>
            <a:off x="677334" y="2160588"/>
            <a:ext cx="5007186" cy="4484051"/>
          </a:xfrm>
        </p:spPr>
        <p:txBody>
          <a:bodyPr>
            <a:normAutofit fontScale="85000" lnSpcReduction="20000"/>
          </a:bodyPr>
          <a:lstStyle/>
          <a:p>
            <a:r>
              <a:rPr lang="en-GB" dirty="0"/>
              <a:t>For sequence labelling, the model must produce an output for every time step or temporal position.</a:t>
            </a:r>
          </a:p>
          <a:p>
            <a:r>
              <a:rPr lang="en-GB" dirty="0">
                <a:highlight>
                  <a:srgbClr val="FFFF00"/>
                </a:highlight>
              </a:rPr>
              <a:t>Input: [N, L, d]</a:t>
            </a:r>
          </a:p>
          <a:p>
            <a:r>
              <a:rPr lang="en-GB" dirty="0">
                <a:highlight>
                  <a:srgbClr val="FFFF00"/>
                </a:highlight>
              </a:rPr>
              <a:t>Desired output for K classes: [N, L, K]</a:t>
            </a:r>
          </a:p>
          <a:p>
            <a:r>
              <a:rPr lang="en-GB" b="1" dirty="0"/>
              <a:t>Architecture</a:t>
            </a:r>
          </a:p>
          <a:p>
            <a:r>
              <a:rPr lang="en-GB" dirty="0"/>
              <a:t>input sequence</a:t>
            </a:r>
          </a:p>
          <a:p>
            <a:r>
              <a:rPr lang="en-GB" dirty="0"/>
              <a:t>      ↓</a:t>
            </a:r>
          </a:p>
          <a:p>
            <a:r>
              <a:rPr lang="en-GB" dirty="0"/>
              <a:t>Conv1D layers</a:t>
            </a:r>
          </a:p>
          <a:p>
            <a:r>
              <a:rPr lang="en-GB" dirty="0"/>
              <a:t>      ↓</a:t>
            </a:r>
          </a:p>
          <a:p>
            <a:r>
              <a:rPr lang="en-GB" dirty="0"/>
              <a:t>temporal feature maps</a:t>
            </a:r>
          </a:p>
          <a:p>
            <a:r>
              <a:rPr lang="en-GB" dirty="0"/>
              <a:t>      ↓</a:t>
            </a:r>
          </a:p>
          <a:p>
            <a:r>
              <a:rPr lang="en-GB" dirty="0"/>
              <a:t>per-time-step prediction layer</a:t>
            </a:r>
          </a:p>
          <a:p>
            <a:r>
              <a:rPr lang="en-GB" dirty="0"/>
              <a:t>      ↓</a:t>
            </a:r>
          </a:p>
          <a:p>
            <a:r>
              <a:rPr lang="en-GB" dirty="0"/>
              <a:t>label sequence</a:t>
            </a:r>
          </a:p>
          <a:p>
            <a:endParaRPr lang="en-GB" dirty="0"/>
          </a:p>
        </p:txBody>
      </p:sp>
      <p:sp>
        <p:nvSpPr>
          <p:cNvPr id="4" name="Segnaposto contenuto 3">
            <a:extLst>
              <a:ext uri="{FF2B5EF4-FFF2-40B4-BE49-F238E27FC236}">
                <a16:creationId xmlns:a16="http://schemas.microsoft.com/office/drawing/2014/main" id="{D8F55F39-33BF-89BE-4B1A-71982D106798}"/>
              </a:ext>
            </a:extLst>
          </p:cNvPr>
          <p:cNvSpPr>
            <a:spLocks noGrp="1"/>
          </p:cNvSpPr>
          <p:nvPr>
            <p:ph sz="half" idx="2"/>
          </p:nvPr>
        </p:nvSpPr>
        <p:spPr>
          <a:xfrm>
            <a:off x="6096000" y="2160589"/>
            <a:ext cx="5806630" cy="4484051"/>
          </a:xfrm>
        </p:spPr>
        <p:txBody>
          <a:bodyPr>
            <a:normAutofit fontScale="85000" lnSpcReduction="20000"/>
          </a:bodyPr>
          <a:lstStyle/>
          <a:p>
            <a:r>
              <a:rPr lang="en-GB" b="1" dirty="0"/>
              <a:t>Important requirement</a:t>
            </a:r>
          </a:p>
          <a:p>
            <a:r>
              <a:rPr lang="en-GB" b="1" dirty="0"/>
              <a:t>The temporal dimension should be preserved or restored.</a:t>
            </a:r>
          </a:p>
          <a:p>
            <a:r>
              <a:rPr lang="en-GB" dirty="0"/>
              <a:t>Therefore excessive:</a:t>
            </a:r>
          </a:p>
          <a:p>
            <a:pPr lvl="1"/>
            <a:r>
              <a:rPr lang="en-GB" dirty="0"/>
              <a:t>stride; </a:t>
            </a:r>
          </a:p>
          <a:p>
            <a:pPr lvl="1"/>
            <a:r>
              <a:rPr lang="en-GB" dirty="0"/>
              <a:t>pooling; </a:t>
            </a:r>
          </a:p>
          <a:p>
            <a:r>
              <a:rPr lang="en-GB" dirty="0"/>
              <a:t>may be inappropriate.</a:t>
            </a:r>
          </a:p>
          <a:p>
            <a:endParaRPr lang="en-GB" b="1" dirty="0"/>
          </a:p>
          <a:p>
            <a:r>
              <a:rPr lang="en-GB" b="1" dirty="0"/>
              <a:t>Applications</a:t>
            </a:r>
          </a:p>
          <a:p>
            <a:pPr lvl="1"/>
            <a:r>
              <a:rPr lang="en-GB" dirty="0"/>
              <a:t>process-phase labelling; </a:t>
            </a:r>
          </a:p>
          <a:p>
            <a:pPr lvl="1"/>
            <a:r>
              <a:rPr lang="en-GB" dirty="0"/>
              <a:t>activity segmentation; </a:t>
            </a:r>
          </a:p>
          <a:p>
            <a:pPr lvl="1"/>
            <a:r>
              <a:rPr lang="en-GB" dirty="0"/>
              <a:t>anomaly probability over time; </a:t>
            </a:r>
          </a:p>
          <a:p>
            <a:pPr lvl="1"/>
            <a:r>
              <a:rPr lang="en-GB" dirty="0"/>
              <a:t>operating-state recognition.</a:t>
            </a:r>
          </a:p>
          <a:p>
            <a:endParaRPr lang="en-GB" dirty="0"/>
          </a:p>
        </p:txBody>
      </p:sp>
    </p:spTree>
    <p:extLst>
      <p:ext uri="{BB962C8B-B14F-4D97-AF65-F5344CB8AC3E}">
        <p14:creationId xmlns:p14="http://schemas.microsoft.com/office/powerpoint/2010/main" val="422510146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0F172A"/>
                </a:solidFill>
                <a:effectLst/>
                <a:uFillTx/>
                <a:latin typeface="Aptos Display"/>
                <a:ea typeface="Aptos Display"/>
              </a:rPr>
              <a:t>Sequence labelling: preserve temporal resolution</a:t>
            </a:r>
            <a:endParaRPr lang="it-IT" sz="3000" b="0" u="none" strike="noStrike">
              <a:solidFill>
                <a:srgbClr val="000000"/>
              </a:solidFill>
              <a:effectLst/>
              <a:uFillTx/>
              <a:latin typeface="Arial"/>
            </a:endParaRPr>
          </a:p>
        </p:txBody>
      </p:sp>
      <p:sp>
        <p:nvSpPr>
          <p:cNvPr id="379"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Output requires one prediction per time step</a:t>
            </a:r>
            <a:endParaRPr lang="it-IT" sz="1500" b="0" u="none" strike="noStrike">
              <a:solidFill>
                <a:srgbClr val="000000"/>
              </a:solidFill>
              <a:effectLst/>
              <a:uFillTx/>
              <a:latin typeface="Arial"/>
            </a:endParaRPr>
          </a:p>
        </p:txBody>
      </p:sp>
      <p:sp>
        <p:nvSpPr>
          <p:cNvPr id="380" name="Text 2"/>
          <p:cNvSpPr/>
          <p:nvPr/>
        </p:nvSpPr>
        <p:spPr>
          <a:xfrm>
            <a:off x="365760" y="2240280"/>
            <a:ext cx="4568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input</a:t>
            </a:r>
            <a:endParaRPr lang="it-IT" sz="1200" b="0" u="none" strike="noStrike">
              <a:solidFill>
                <a:srgbClr val="000000"/>
              </a:solidFill>
              <a:effectLst/>
              <a:uFillTx/>
              <a:latin typeface="Arial"/>
            </a:endParaRPr>
          </a:p>
        </p:txBody>
      </p:sp>
      <p:sp>
        <p:nvSpPr>
          <p:cNvPr id="381" name="Shape 3"/>
          <p:cNvSpPr/>
          <p:nvPr/>
        </p:nvSpPr>
        <p:spPr>
          <a:xfrm>
            <a:off x="914400" y="2377440"/>
            <a:ext cx="804672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382" name="Shape 4"/>
          <p:cNvSpPr/>
          <p:nvPr/>
        </p:nvSpPr>
        <p:spPr>
          <a:xfrm>
            <a:off x="87768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83" name="Shape 5"/>
          <p:cNvSpPr/>
          <p:nvPr/>
        </p:nvSpPr>
        <p:spPr>
          <a:xfrm>
            <a:off x="177192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84" name="Shape 6"/>
          <p:cNvSpPr/>
          <p:nvPr/>
        </p:nvSpPr>
        <p:spPr>
          <a:xfrm>
            <a:off x="266616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85" name="Shape 7"/>
          <p:cNvSpPr/>
          <p:nvPr/>
        </p:nvSpPr>
        <p:spPr>
          <a:xfrm>
            <a:off x="356004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86" name="Shape 8"/>
          <p:cNvSpPr/>
          <p:nvPr/>
        </p:nvSpPr>
        <p:spPr>
          <a:xfrm>
            <a:off x="445428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87" name="Shape 9"/>
          <p:cNvSpPr/>
          <p:nvPr/>
        </p:nvSpPr>
        <p:spPr>
          <a:xfrm>
            <a:off x="534816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88" name="Shape 10"/>
          <p:cNvSpPr/>
          <p:nvPr/>
        </p:nvSpPr>
        <p:spPr>
          <a:xfrm>
            <a:off x="624240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89" name="Shape 11"/>
          <p:cNvSpPr/>
          <p:nvPr/>
        </p:nvSpPr>
        <p:spPr>
          <a:xfrm>
            <a:off x="713628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90" name="Shape 12"/>
          <p:cNvSpPr/>
          <p:nvPr/>
        </p:nvSpPr>
        <p:spPr>
          <a:xfrm>
            <a:off x="803052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91" name="Shape 13"/>
          <p:cNvSpPr/>
          <p:nvPr/>
        </p:nvSpPr>
        <p:spPr>
          <a:xfrm>
            <a:off x="8924400" y="23407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392" name="Text 14"/>
          <p:cNvSpPr/>
          <p:nvPr/>
        </p:nvSpPr>
        <p:spPr>
          <a:xfrm>
            <a:off x="79560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x1</a:t>
            </a:r>
            <a:endParaRPr lang="it-IT" sz="900" b="0" u="none" strike="noStrike">
              <a:solidFill>
                <a:srgbClr val="000000"/>
              </a:solidFill>
              <a:effectLst/>
              <a:uFillTx/>
              <a:latin typeface="Arial"/>
            </a:endParaRPr>
          </a:p>
        </p:txBody>
      </p:sp>
      <p:sp>
        <p:nvSpPr>
          <p:cNvPr id="393" name="Text 15"/>
          <p:cNvSpPr/>
          <p:nvPr/>
        </p:nvSpPr>
        <p:spPr>
          <a:xfrm>
            <a:off x="168948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x2</a:t>
            </a:r>
            <a:endParaRPr lang="it-IT" sz="900" b="0" u="none" strike="noStrike">
              <a:solidFill>
                <a:srgbClr val="000000"/>
              </a:solidFill>
              <a:effectLst/>
              <a:uFillTx/>
              <a:latin typeface="Arial"/>
            </a:endParaRPr>
          </a:p>
        </p:txBody>
      </p:sp>
      <p:sp>
        <p:nvSpPr>
          <p:cNvPr id="394" name="Text 16"/>
          <p:cNvSpPr/>
          <p:nvPr/>
        </p:nvSpPr>
        <p:spPr>
          <a:xfrm>
            <a:off x="258372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x3</a:t>
            </a:r>
            <a:endParaRPr lang="it-IT" sz="900" b="0" u="none" strike="noStrike">
              <a:solidFill>
                <a:srgbClr val="000000"/>
              </a:solidFill>
              <a:effectLst/>
              <a:uFillTx/>
              <a:latin typeface="Arial"/>
            </a:endParaRPr>
          </a:p>
        </p:txBody>
      </p:sp>
      <p:sp>
        <p:nvSpPr>
          <p:cNvPr id="395" name="Text 17"/>
          <p:cNvSpPr/>
          <p:nvPr/>
        </p:nvSpPr>
        <p:spPr>
          <a:xfrm>
            <a:off x="347760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x4</a:t>
            </a:r>
            <a:endParaRPr lang="it-IT" sz="900" b="0" u="none" strike="noStrike">
              <a:solidFill>
                <a:srgbClr val="000000"/>
              </a:solidFill>
              <a:effectLst/>
              <a:uFillTx/>
              <a:latin typeface="Arial"/>
            </a:endParaRPr>
          </a:p>
        </p:txBody>
      </p:sp>
      <p:sp>
        <p:nvSpPr>
          <p:cNvPr id="396" name="Text 18"/>
          <p:cNvSpPr/>
          <p:nvPr/>
        </p:nvSpPr>
        <p:spPr>
          <a:xfrm>
            <a:off x="437184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x5</a:t>
            </a:r>
            <a:endParaRPr lang="it-IT" sz="900" b="0" u="none" strike="noStrike">
              <a:solidFill>
                <a:srgbClr val="000000"/>
              </a:solidFill>
              <a:effectLst/>
              <a:uFillTx/>
              <a:latin typeface="Arial"/>
            </a:endParaRPr>
          </a:p>
        </p:txBody>
      </p:sp>
      <p:sp>
        <p:nvSpPr>
          <p:cNvPr id="397" name="Text 19"/>
          <p:cNvSpPr/>
          <p:nvPr/>
        </p:nvSpPr>
        <p:spPr>
          <a:xfrm>
            <a:off x="526608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x6</a:t>
            </a:r>
            <a:endParaRPr lang="it-IT" sz="900" b="0" u="none" strike="noStrike">
              <a:solidFill>
                <a:srgbClr val="000000"/>
              </a:solidFill>
              <a:effectLst/>
              <a:uFillTx/>
              <a:latin typeface="Arial"/>
            </a:endParaRPr>
          </a:p>
        </p:txBody>
      </p:sp>
      <p:sp>
        <p:nvSpPr>
          <p:cNvPr id="398" name="Text 20"/>
          <p:cNvSpPr/>
          <p:nvPr/>
        </p:nvSpPr>
        <p:spPr>
          <a:xfrm>
            <a:off x="615996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x7</a:t>
            </a:r>
            <a:endParaRPr lang="it-IT" sz="900" b="0" u="none" strike="noStrike">
              <a:solidFill>
                <a:srgbClr val="000000"/>
              </a:solidFill>
              <a:effectLst/>
              <a:uFillTx/>
              <a:latin typeface="Arial"/>
            </a:endParaRPr>
          </a:p>
        </p:txBody>
      </p:sp>
      <p:sp>
        <p:nvSpPr>
          <p:cNvPr id="399" name="Text 21"/>
          <p:cNvSpPr/>
          <p:nvPr/>
        </p:nvSpPr>
        <p:spPr>
          <a:xfrm>
            <a:off x="705420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x8</a:t>
            </a:r>
            <a:endParaRPr lang="it-IT" sz="900" b="0" u="none" strike="noStrike">
              <a:solidFill>
                <a:srgbClr val="000000"/>
              </a:solidFill>
              <a:effectLst/>
              <a:uFillTx/>
              <a:latin typeface="Arial"/>
            </a:endParaRPr>
          </a:p>
        </p:txBody>
      </p:sp>
      <p:sp>
        <p:nvSpPr>
          <p:cNvPr id="400" name="Text 22"/>
          <p:cNvSpPr/>
          <p:nvPr/>
        </p:nvSpPr>
        <p:spPr>
          <a:xfrm>
            <a:off x="794808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x9</a:t>
            </a:r>
            <a:endParaRPr lang="it-IT" sz="900" b="0" u="none" strike="noStrike">
              <a:solidFill>
                <a:srgbClr val="000000"/>
              </a:solidFill>
              <a:effectLst/>
              <a:uFillTx/>
              <a:latin typeface="Arial"/>
            </a:endParaRPr>
          </a:p>
        </p:txBody>
      </p:sp>
      <p:sp>
        <p:nvSpPr>
          <p:cNvPr id="401" name="Text 23"/>
          <p:cNvSpPr/>
          <p:nvPr/>
        </p:nvSpPr>
        <p:spPr>
          <a:xfrm>
            <a:off x="8842320" y="196596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x10</a:t>
            </a:r>
            <a:endParaRPr lang="it-IT" sz="900" b="0" u="none" strike="noStrike">
              <a:solidFill>
                <a:srgbClr val="000000"/>
              </a:solidFill>
              <a:effectLst/>
              <a:uFillTx/>
              <a:latin typeface="Arial"/>
            </a:endParaRPr>
          </a:p>
        </p:txBody>
      </p:sp>
      <p:sp>
        <p:nvSpPr>
          <p:cNvPr id="402" name="Shape 24"/>
          <p:cNvSpPr/>
          <p:nvPr/>
        </p:nvSpPr>
        <p:spPr>
          <a:xfrm>
            <a:off x="3931920" y="3017520"/>
            <a:ext cx="1828440" cy="639720"/>
          </a:xfrm>
          <a:prstGeom prst="roundRect">
            <a:avLst>
              <a:gd name="adj" fmla="val 11429"/>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03" name="Text 25"/>
          <p:cNvSpPr/>
          <p:nvPr/>
        </p:nvSpPr>
        <p:spPr>
          <a:xfrm>
            <a:off x="3977640" y="3054240"/>
            <a:ext cx="17370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same-length</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Conv1D/TCN</a:t>
            </a:r>
            <a:endParaRPr lang="it-IT" sz="1300" b="0" u="none" strike="noStrike">
              <a:solidFill>
                <a:srgbClr val="000000"/>
              </a:solidFill>
              <a:effectLst/>
              <a:uFillTx/>
              <a:latin typeface="Arial"/>
            </a:endParaRPr>
          </a:p>
        </p:txBody>
      </p:sp>
      <p:sp>
        <p:nvSpPr>
          <p:cNvPr id="404" name="Shape 26"/>
          <p:cNvSpPr/>
          <p:nvPr/>
        </p:nvSpPr>
        <p:spPr>
          <a:xfrm>
            <a:off x="4846320" y="2606040"/>
            <a:ext cx="360" cy="411480"/>
          </a:xfrm>
          <a:prstGeom prst="line">
            <a:avLst/>
          </a:prstGeom>
          <a:ln w="1905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405" name="Text 27"/>
          <p:cNvSpPr/>
          <p:nvPr/>
        </p:nvSpPr>
        <p:spPr>
          <a:xfrm>
            <a:off x="274320" y="4206240"/>
            <a:ext cx="54828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output</a:t>
            </a:r>
            <a:endParaRPr lang="it-IT" sz="1200" b="0" u="none" strike="noStrike">
              <a:solidFill>
                <a:srgbClr val="000000"/>
              </a:solidFill>
              <a:effectLst/>
              <a:uFillTx/>
              <a:latin typeface="Arial"/>
            </a:endParaRPr>
          </a:p>
        </p:txBody>
      </p:sp>
      <p:sp>
        <p:nvSpPr>
          <p:cNvPr id="406" name="Shape 28"/>
          <p:cNvSpPr/>
          <p:nvPr/>
        </p:nvSpPr>
        <p:spPr>
          <a:xfrm>
            <a:off x="914400" y="4343400"/>
            <a:ext cx="804672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07" name="Shape 29"/>
          <p:cNvSpPr/>
          <p:nvPr/>
        </p:nvSpPr>
        <p:spPr>
          <a:xfrm>
            <a:off x="87768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08" name="Shape 30"/>
          <p:cNvSpPr/>
          <p:nvPr/>
        </p:nvSpPr>
        <p:spPr>
          <a:xfrm>
            <a:off x="177192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09" name="Shape 31"/>
          <p:cNvSpPr/>
          <p:nvPr/>
        </p:nvSpPr>
        <p:spPr>
          <a:xfrm>
            <a:off x="266616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10" name="Shape 32"/>
          <p:cNvSpPr/>
          <p:nvPr/>
        </p:nvSpPr>
        <p:spPr>
          <a:xfrm>
            <a:off x="356004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11" name="Shape 33"/>
          <p:cNvSpPr/>
          <p:nvPr/>
        </p:nvSpPr>
        <p:spPr>
          <a:xfrm>
            <a:off x="445428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12" name="Shape 34"/>
          <p:cNvSpPr/>
          <p:nvPr/>
        </p:nvSpPr>
        <p:spPr>
          <a:xfrm>
            <a:off x="534816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13" name="Shape 35"/>
          <p:cNvSpPr/>
          <p:nvPr/>
        </p:nvSpPr>
        <p:spPr>
          <a:xfrm>
            <a:off x="624240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14" name="Shape 36"/>
          <p:cNvSpPr/>
          <p:nvPr/>
        </p:nvSpPr>
        <p:spPr>
          <a:xfrm>
            <a:off x="713628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15" name="Shape 37"/>
          <p:cNvSpPr/>
          <p:nvPr/>
        </p:nvSpPr>
        <p:spPr>
          <a:xfrm>
            <a:off x="803052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16" name="Shape 38"/>
          <p:cNvSpPr/>
          <p:nvPr/>
        </p:nvSpPr>
        <p:spPr>
          <a:xfrm>
            <a:off x="8924400" y="43066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17" name="Text 39"/>
          <p:cNvSpPr/>
          <p:nvPr/>
        </p:nvSpPr>
        <p:spPr>
          <a:xfrm>
            <a:off x="79560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ŷ1</a:t>
            </a:r>
            <a:endParaRPr lang="it-IT" sz="900" b="0" u="none" strike="noStrike">
              <a:solidFill>
                <a:srgbClr val="000000"/>
              </a:solidFill>
              <a:effectLst/>
              <a:uFillTx/>
              <a:latin typeface="Arial"/>
            </a:endParaRPr>
          </a:p>
        </p:txBody>
      </p:sp>
      <p:sp>
        <p:nvSpPr>
          <p:cNvPr id="418" name="Text 40"/>
          <p:cNvSpPr/>
          <p:nvPr/>
        </p:nvSpPr>
        <p:spPr>
          <a:xfrm>
            <a:off x="168948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ŷ2</a:t>
            </a:r>
            <a:endParaRPr lang="it-IT" sz="900" b="0" u="none" strike="noStrike">
              <a:solidFill>
                <a:srgbClr val="000000"/>
              </a:solidFill>
              <a:effectLst/>
              <a:uFillTx/>
              <a:latin typeface="Arial"/>
            </a:endParaRPr>
          </a:p>
        </p:txBody>
      </p:sp>
      <p:sp>
        <p:nvSpPr>
          <p:cNvPr id="419" name="Text 41"/>
          <p:cNvSpPr/>
          <p:nvPr/>
        </p:nvSpPr>
        <p:spPr>
          <a:xfrm>
            <a:off x="258372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ŷ3</a:t>
            </a:r>
            <a:endParaRPr lang="it-IT" sz="900" b="0" u="none" strike="noStrike">
              <a:solidFill>
                <a:srgbClr val="000000"/>
              </a:solidFill>
              <a:effectLst/>
              <a:uFillTx/>
              <a:latin typeface="Arial"/>
            </a:endParaRPr>
          </a:p>
        </p:txBody>
      </p:sp>
      <p:sp>
        <p:nvSpPr>
          <p:cNvPr id="420" name="Text 42"/>
          <p:cNvSpPr/>
          <p:nvPr/>
        </p:nvSpPr>
        <p:spPr>
          <a:xfrm>
            <a:off x="347760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ŷ4</a:t>
            </a:r>
            <a:endParaRPr lang="it-IT" sz="900" b="0" u="none" strike="noStrike">
              <a:solidFill>
                <a:srgbClr val="000000"/>
              </a:solidFill>
              <a:effectLst/>
              <a:uFillTx/>
              <a:latin typeface="Arial"/>
            </a:endParaRPr>
          </a:p>
        </p:txBody>
      </p:sp>
      <p:sp>
        <p:nvSpPr>
          <p:cNvPr id="421" name="Text 43"/>
          <p:cNvSpPr/>
          <p:nvPr/>
        </p:nvSpPr>
        <p:spPr>
          <a:xfrm>
            <a:off x="437184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ŷ5</a:t>
            </a:r>
            <a:endParaRPr lang="it-IT" sz="900" b="0" u="none" strike="noStrike">
              <a:solidFill>
                <a:srgbClr val="000000"/>
              </a:solidFill>
              <a:effectLst/>
              <a:uFillTx/>
              <a:latin typeface="Arial"/>
            </a:endParaRPr>
          </a:p>
        </p:txBody>
      </p:sp>
      <p:sp>
        <p:nvSpPr>
          <p:cNvPr id="422" name="Text 44"/>
          <p:cNvSpPr/>
          <p:nvPr/>
        </p:nvSpPr>
        <p:spPr>
          <a:xfrm>
            <a:off x="526608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ŷ6</a:t>
            </a:r>
            <a:endParaRPr lang="it-IT" sz="900" b="0" u="none" strike="noStrike">
              <a:solidFill>
                <a:srgbClr val="000000"/>
              </a:solidFill>
              <a:effectLst/>
              <a:uFillTx/>
              <a:latin typeface="Arial"/>
            </a:endParaRPr>
          </a:p>
        </p:txBody>
      </p:sp>
      <p:sp>
        <p:nvSpPr>
          <p:cNvPr id="423" name="Text 45"/>
          <p:cNvSpPr/>
          <p:nvPr/>
        </p:nvSpPr>
        <p:spPr>
          <a:xfrm>
            <a:off x="615996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ŷ7</a:t>
            </a:r>
            <a:endParaRPr lang="it-IT" sz="900" b="0" u="none" strike="noStrike">
              <a:solidFill>
                <a:srgbClr val="000000"/>
              </a:solidFill>
              <a:effectLst/>
              <a:uFillTx/>
              <a:latin typeface="Arial"/>
            </a:endParaRPr>
          </a:p>
        </p:txBody>
      </p:sp>
      <p:sp>
        <p:nvSpPr>
          <p:cNvPr id="424" name="Text 46"/>
          <p:cNvSpPr/>
          <p:nvPr/>
        </p:nvSpPr>
        <p:spPr>
          <a:xfrm>
            <a:off x="705420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ŷ8</a:t>
            </a:r>
            <a:endParaRPr lang="it-IT" sz="900" b="0" u="none" strike="noStrike">
              <a:solidFill>
                <a:srgbClr val="000000"/>
              </a:solidFill>
              <a:effectLst/>
              <a:uFillTx/>
              <a:latin typeface="Arial"/>
            </a:endParaRPr>
          </a:p>
        </p:txBody>
      </p:sp>
      <p:sp>
        <p:nvSpPr>
          <p:cNvPr id="425" name="Text 47"/>
          <p:cNvSpPr/>
          <p:nvPr/>
        </p:nvSpPr>
        <p:spPr>
          <a:xfrm>
            <a:off x="794808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ŷ9</a:t>
            </a:r>
            <a:endParaRPr lang="it-IT" sz="900" b="0" u="none" strike="noStrike">
              <a:solidFill>
                <a:srgbClr val="000000"/>
              </a:solidFill>
              <a:effectLst/>
              <a:uFillTx/>
              <a:latin typeface="Arial"/>
            </a:endParaRPr>
          </a:p>
        </p:txBody>
      </p:sp>
      <p:sp>
        <p:nvSpPr>
          <p:cNvPr id="426" name="Text 48"/>
          <p:cNvSpPr/>
          <p:nvPr/>
        </p:nvSpPr>
        <p:spPr>
          <a:xfrm>
            <a:off x="8842320" y="4572000"/>
            <a:ext cx="2372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ŷ10</a:t>
            </a:r>
            <a:endParaRPr lang="it-IT" sz="900" b="0" u="none" strike="noStrike">
              <a:solidFill>
                <a:srgbClr val="000000"/>
              </a:solidFill>
              <a:effectLst/>
              <a:uFillTx/>
              <a:latin typeface="Arial"/>
            </a:endParaRPr>
          </a:p>
        </p:txBody>
      </p:sp>
      <p:sp>
        <p:nvSpPr>
          <p:cNvPr id="427" name="Shape 49"/>
          <p:cNvSpPr/>
          <p:nvPr/>
        </p:nvSpPr>
        <p:spPr>
          <a:xfrm>
            <a:off x="4846320" y="3657600"/>
            <a:ext cx="360" cy="502920"/>
          </a:xfrm>
          <a:prstGeom prst="line">
            <a:avLst/>
          </a:prstGeom>
          <a:ln w="1905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428" name="Shape 50"/>
          <p:cNvSpPr/>
          <p:nvPr/>
        </p:nvSpPr>
        <p:spPr>
          <a:xfrm>
            <a:off x="3566160" y="5349240"/>
            <a:ext cx="2559960" cy="594000"/>
          </a:xfrm>
          <a:prstGeom prst="roundRect">
            <a:avLst>
              <a:gd name="adj" fmla="val 12308"/>
            </a:avLst>
          </a:prstGeom>
          <a:solidFill>
            <a:srgbClr val="FEE2E2"/>
          </a:solidFill>
          <a:ln w="13970">
            <a:solidFill>
              <a:srgbClr val="DC262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29" name="Text 51"/>
          <p:cNvSpPr/>
          <p:nvPr/>
        </p:nvSpPr>
        <p:spPr>
          <a:xfrm>
            <a:off x="3611880" y="5385960"/>
            <a:ext cx="246852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avoid excessive stride/pooling</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if precise timing matters</a:t>
            </a:r>
            <a:endParaRPr lang="it-IT" sz="1300" b="0" u="none" strike="noStrike">
              <a:solidFill>
                <a:srgbClr val="000000"/>
              </a:solidFill>
              <a:effectLst/>
              <a:uFillTx/>
              <a:latin typeface="Arial"/>
            </a:endParaRPr>
          </a:p>
        </p:txBody>
      </p:sp>
      <p:sp>
        <p:nvSpPr>
          <p:cNvPr id="430" name="PlaceHolder 1"/>
          <p:cNvSpPr>
            <a:spLocks noGrp="1"/>
          </p:cNvSpPr>
          <p:nvPr>
            <p:ph type="sldNum" idx="13"/>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1D480DBC-D1D0-4C7A-B40F-ABA88A32A809}" type="slidenum">
              <a:rPr lang="en-US" sz="1200" b="0" u="none" strike="noStrike">
                <a:solidFill>
                  <a:srgbClr val="64748B"/>
                </a:solidFill>
                <a:effectLst/>
                <a:uFillTx/>
                <a:latin typeface="Aptos"/>
              </a:rPr>
              <a:t>220</a:t>
            </a:fld>
            <a:endParaRPr lang="it-IT" sz="1200" b="0" u="none" strike="noStrike">
              <a:solidFill>
                <a:srgbClr val="000000"/>
              </a:solidFill>
              <a:effectLst/>
              <a:uFillTx/>
              <a:latin typeface="Times New Roman"/>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5B0B86-1130-6EF8-DD33-DBFCB46FA04F}"/>
              </a:ext>
            </a:extLst>
          </p:cNvPr>
          <p:cNvSpPr>
            <a:spLocks noGrp="1"/>
          </p:cNvSpPr>
          <p:nvPr>
            <p:ph type="title"/>
          </p:nvPr>
        </p:nvSpPr>
        <p:spPr/>
        <p:txBody>
          <a:bodyPr/>
          <a:lstStyle/>
          <a:p>
            <a:r>
              <a:rPr lang="en-GB" dirty="0"/>
              <a:t>Online versus offline sequence labelling</a:t>
            </a:r>
          </a:p>
        </p:txBody>
      </p:sp>
      <p:sp>
        <p:nvSpPr>
          <p:cNvPr id="3" name="Segnaposto contenuto 2">
            <a:extLst>
              <a:ext uri="{FF2B5EF4-FFF2-40B4-BE49-F238E27FC236}">
                <a16:creationId xmlns:a16="http://schemas.microsoft.com/office/drawing/2014/main" id="{6117ABAD-AEE6-416A-4F35-95690C471BDD}"/>
              </a:ext>
            </a:extLst>
          </p:cNvPr>
          <p:cNvSpPr>
            <a:spLocks noGrp="1"/>
          </p:cNvSpPr>
          <p:nvPr>
            <p:ph sz="half" idx="1"/>
          </p:nvPr>
        </p:nvSpPr>
        <p:spPr>
          <a:xfrm>
            <a:off x="677334" y="2160588"/>
            <a:ext cx="4793826" cy="4453571"/>
          </a:xfrm>
        </p:spPr>
        <p:txBody>
          <a:bodyPr>
            <a:normAutofit/>
          </a:bodyPr>
          <a:lstStyle/>
          <a:p>
            <a:r>
              <a:rPr lang="en-GB" b="1" dirty="0"/>
              <a:t>Online labelling</a:t>
            </a:r>
          </a:p>
          <a:p>
            <a:r>
              <a:rPr lang="en-GB" dirty="0"/>
              <a:t>Prediction at time t must be available immediately.</a:t>
            </a:r>
          </a:p>
          <a:p>
            <a:r>
              <a:rPr lang="en-GB" dirty="0"/>
              <a:t>Use a causal architecture:</a:t>
            </a:r>
          </a:p>
          <a:p>
            <a:r>
              <a:rPr lang="en-GB" dirty="0" err="1"/>
              <a:t>y_hat</a:t>
            </a:r>
            <a:r>
              <a:rPr lang="en-GB" dirty="0"/>
              <a:t>[t] depends only on x[1] ... x[t]</a:t>
            </a:r>
          </a:p>
          <a:p>
            <a:endParaRPr lang="en-GB" b="1" dirty="0"/>
          </a:p>
          <a:p>
            <a:r>
              <a:rPr lang="en-GB" b="1" dirty="0"/>
              <a:t>Offline labelling</a:t>
            </a:r>
          </a:p>
          <a:p>
            <a:r>
              <a:rPr lang="en-GB" dirty="0"/>
              <a:t>The entire sequence is available.</a:t>
            </a:r>
          </a:p>
          <a:p>
            <a:r>
              <a:rPr lang="en-GB" dirty="0"/>
              <a:t>A non-causal CNN may use both:</a:t>
            </a:r>
          </a:p>
          <a:p>
            <a:pPr lvl="0"/>
            <a:r>
              <a:rPr lang="en-GB" dirty="0"/>
              <a:t>past context; </a:t>
            </a:r>
          </a:p>
          <a:p>
            <a:pPr lvl="0"/>
            <a:r>
              <a:rPr lang="en-GB" dirty="0"/>
              <a:t>future context. </a:t>
            </a:r>
          </a:p>
          <a:p>
            <a:endParaRPr lang="en-GB" dirty="0"/>
          </a:p>
        </p:txBody>
      </p:sp>
      <p:sp>
        <p:nvSpPr>
          <p:cNvPr id="4" name="Segnaposto contenuto 3">
            <a:extLst>
              <a:ext uri="{FF2B5EF4-FFF2-40B4-BE49-F238E27FC236}">
                <a16:creationId xmlns:a16="http://schemas.microsoft.com/office/drawing/2014/main" id="{DB6A4C4E-E293-BE04-63D8-D3A7E2D53E91}"/>
              </a:ext>
            </a:extLst>
          </p:cNvPr>
          <p:cNvSpPr>
            <a:spLocks noGrp="1"/>
          </p:cNvSpPr>
          <p:nvPr>
            <p:ph sz="half" idx="2"/>
          </p:nvPr>
        </p:nvSpPr>
        <p:spPr>
          <a:xfrm>
            <a:off x="5928170" y="2160589"/>
            <a:ext cx="6019990" cy="4453571"/>
          </a:xfrm>
        </p:spPr>
        <p:txBody>
          <a:bodyPr>
            <a:normAutofit/>
          </a:bodyPr>
          <a:lstStyle/>
          <a:p>
            <a:r>
              <a:rPr lang="en-GB" dirty="0"/>
              <a:t>Example:</a:t>
            </a:r>
          </a:p>
          <a:p>
            <a:r>
              <a:rPr lang="en-GB" dirty="0"/>
              <a:t>past        t         future</a:t>
            </a:r>
          </a:p>
          <a:p>
            <a:r>
              <a:rPr lang="en-GB" dirty="0"/>
              <a:t>───────┬────●────┬────────</a:t>
            </a:r>
          </a:p>
          <a:p>
            <a:r>
              <a:rPr lang="en-GB" dirty="0"/>
              <a:t>       └ receptive field ┘</a:t>
            </a:r>
          </a:p>
          <a:p>
            <a:endParaRPr lang="en-GB" dirty="0"/>
          </a:p>
          <a:p>
            <a:r>
              <a:rPr lang="en-GB" dirty="0"/>
              <a:t>Future context may improve boundary identification.</a:t>
            </a:r>
          </a:p>
          <a:p>
            <a:r>
              <a:rPr lang="en-GB" dirty="0"/>
              <a:t>But it cannot be used for real-time decisions.</a:t>
            </a:r>
          </a:p>
          <a:p>
            <a:endParaRPr lang="en-GB" b="1" dirty="0"/>
          </a:p>
          <a:p>
            <a:r>
              <a:rPr lang="en-GB" b="1" dirty="0"/>
              <a:t>Key question</a:t>
            </a:r>
          </a:p>
          <a:p>
            <a:r>
              <a:rPr lang="en-GB" dirty="0"/>
              <a:t>Is the label required during operation or only after the complete sequence has been recorded?</a:t>
            </a:r>
          </a:p>
          <a:p>
            <a:endParaRPr lang="en-GB" dirty="0"/>
          </a:p>
        </p:txBody>
      </p:sp>
    </p:spTree>
    <p:extLst>
      <p:ext uri="{BB962C8B-B14F-4D97-AF65-F5344CB8AC3E}">
        <p14:creationId xmlns:p14="http://schemas.microsoft.com/office/powerpoint/2010/main" val="186650440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41EB373-180F-048A-4DC0-9D29AD3A7512}"/>
              </a:ext>
            </a:extLst>
          </p:cNvPr>
          <p:cNvSpPr>
            <a:spLocks noGrp="1"/>
          </p:cNvSpPr>
          <p:nvPr>
            <p:ph type="title"/>
          </p:nvPr>
        </p:nvSpPr>
        <p:spPr/>
        <p:txBody>
          <a:bodyPr/>
          <a:lstStyle/>
          <a:p>
            <a:r>
              <a:rPr lang="en-GB" dirty="0"/>
              <a:t>One-step forecasting with a temporal CNN</a:t>
            </a:r>
          </a:p>
        </p:txBody>
      </p:sp>
      <p:sp>
        <p:nvSpPr>
          <p:cNvPr id="3" name="Segnaposto contenuto 2">
            <a:extLst>
              <a:ext uri="{FF2B5EF4-FFF2-40B4-BE49-F238E27FC236}">
                <a16:creationId xmlns:a16="http://schemas.microsoft.com/office/drawing/2014/main" id="{7BCDABC0-39F3-165C-223D-0AE8336B9F1F}"/>
              </a:ext>
            </a:extLst>
          </p:cNvPr>
          <p:cNvSpPr>
            <a:spLocks noGrp="1"/>
          </p:cNvSpPr>
          <p:nvPr>
            <p:ph sz="half" idx="1"/>
          </p:nvPr>
        </p:nvSpPr>
        <p:spPr>
          <a:xfrm>
            <a:off x="677334" y="2160588"/>
            <a:ext cx="5120830" cy="4255451"/>
          </a:xfrm>
        </p:spPr>
        <p:txBody>
          <a:bodyPr>
            <a:normAutofit fontScale="85000" lnSpcReduction="20000"/>
          </a:bodyPr>
          <a:lstStyle/>
          <a:p>
            <a:r>
              <a:rPr lang="en-GB" dirty="0"/>
              <a:t>For one-step forecasting:</a:t>
            </a:r>
          </a:p>
          <a:p>
            <a:r>
              <a:rPr lang="en-GB" dirty="0"/>
              <a:t>Input: [x[t−L+1], ..., x[t]]</a:t>
            </a:r>
          </a:p>
          <a:p>
            <a:r>
              <a:rPr lang="en-GB" dirty="0"/>
              <a:t>Output: </a:t>
            </a:r>
            <a:r>
              <a:rPr lang="en-GB" dirty="0" err="1"/>
              <a:t>y_hat</a:t>
            </a:r>
            <a:r>
              <a:rPr lang="en-GB" dirty="0"/>
              <a:t>[t+1]</a:t>
            </a:r>
          </a:p>
          <a:p>
            <a:r>
              <a:rPr lang="en-GB" b="1" dirty="0"/>
              <a:t>Architecture</a:t>
            </a:r>
          </a:p>
          <a:p>
            <a:r>
              <a:rPr lang="en-GB" dirty="0"/>
              <a:t>historical window</a:t>
            </a:r>
          </a:p>
          <a:p>
            <a:r>
              <a:rPr lang="en-GB" dirty="0"/>
              <a:t>      ↓</a:t>
            </a:r>
          </a:p>
          <a:p>
            <a:r>
              <a:rPr lang="en-GB" dirty="0"/>
              <a:t>causal Conv1D / TCN</a:t>
            </a:r>
          </a:p>
          <a:p>
            <a:r>
              <a:rPr lang="en-GB" dirty="0"/>
              <a:t>      ↓</a:t>
            </a:r>
          </a:p>
          <a:p>
            <a:r>
              <a:rPr lang="en-GB" dirty="0"/>
              <a:t>historical representation</a:t>
            </a:r>
          </a:p>
          <a:p>
            <a:r>
              <a:rPr lang="en-GB" dirty="0"/>
              <a:t>      ↓</a:t>
            </a:r>
          </a:p>
          <a:p>
            <a:r>
              <a:rPr lang="en-GB" dirty="0"/>
              <a:t>forecasting layer</a:t>
            </a:r>
          </a:p>
          <a:p>
            <a:r>
              <a:rPr lang="en-GB" dirty="0"/>
              <a:t>      ↓</a:t>
            </a:r>
          </a:p>
          <a:p>
            <a:r>
              <a:rPr lang="en-GB" dirty="0" err="1"/>
              <a:t>y_hat</a:t>
            </a:r>
            <a:r>
              <a:rPr lang="en-GB" dirty="0"/>
              <a:t>[t+1]</a:t>
            </a:r>
          </a:p>
          <a:p>
            <a:endParaRPr lang="en-GB" dirty="0"/>
          </a:p>
        </p:txBody>
      </p:sp>
      <p:sp>
        <p:nvSpPr>
          <p:cNvPr id="4" name="Segnaposto contenuto 3">
            <a:extLst>
              <a:ext uri="{FF2B5EF4-FFF2-40B4-BE49-F238E27FC236}">
                <a16:creationId xmlns:a16="http://schemas.microsoft.com/office/drawing/2014/main" id="{4A23BA87-F261-C522-1931-22A173594174}"/>
              </a:ext>
            </a:extLst>
          </p:cNvPr>
          <p:cNvSpPr>
            <a:spLocks noGrp="1"/>
          </p:cNvSpPr>
          <p:nvPr>
            <p:ph sz="half" idx="2"/>
          </p:nvPr>
        </p:nvSpPr>
        <p:spPr>
          <a:xfrm>
            <a:off x="6842570" y="2160589"/>
            <a:ext cx="5120830" cy="4377371"/>
          </a:xfrm>
        </p:spPr>
        <p:txBody>
          <a:bodyPr>
            <a:normAutofit fontScale="85000" lnSpcReduction="20000"/>
          </a:bodyPr>
          <a:lstStyle/>
          <a:p>
            <a:r>
              <a:rPr lang="en-GB" b="1" dirty="0"/>
              <a:t>Important requirements</a:t>
            </a:r>
          </a:p>
          <a:p>
            <a:pPr lvl="0"/>
            <a:r>
              <a:rPr lang="en-GB" dirty="0"/>
              <a:t>no future values in the convolutional representation; </a:t>
            </a:r>
          </a:p>
          <a:p>
            <a:pPr lvl="0"/>
            <a:r>
              <a:rPr lang="en-GB" dirty="0"/>
              <a:t>receptive field sufficient for relevant historical dependencies; </a:t>
            </a:r>
          </a:p>
          <a:p>
            <a:pPr lvl="0"/>
            <a:r>
              <a:rPr lang="en-GB" dirty="0"/>
              <a:t>preprocessing must also be causal. </a:t>
            </a:r>
          </a:p>
          <a:p>
            <a:endParaRPr lang="en-GB" b="1" dirty="0"/>
          </a:p>
          <a:p>
            <a:r>
              <a:rPr lang="en-GB" b="1" dirty="0">
                <a:highlight>
                  <a:srgbClr val="FFFF00"/>
                </a:highlight>
              </a:rPr>
              <a:t>Comparison</a:t>
            </a:r>
          </a:p>
          <a:p>
            <a:r>
              <a:rPr lang="en-GB" dirty="0"/>
              <a:t>The same one-step forecasting problem can be addressed with:</a:t>
            </a:r>
          </a:p>
          <a:p>
            <a:pPr lvl="1"/>
            <a:r>
              <a:rPr lang="en-GB" dirty="0"/>
              <a:t>explicit lag features in an autoregressive model;</a:t>
            </a:r>
          </a:p>
          <a:p>
            <a:pPr lvl="2"/>
            <a:r>
              <a:rPr lang="en-GB" dirty="0"/>
              <a:t>Autoregressive forecasting: past values of the target variable are used to predict its future value</a:t>
            </a:r>
          </a:p>
          <a:p>
            <a:pPr lvl="1"/>
            <a:r>
              <a:rPr lang="en-GB" dirty="0"/>
              <a:t>a learned recurrent state in an RNN;</a:t>
            </a:r>
          </a:p>
          <a:p>
            <a:pPr lvl="1"/>
            <a:r>
              <a:rPr lang="en-GB" dirty="0"/>
              <a:t>a learned causal receptive-field representation in a TCN.</a:t>
            </a:r>
          </a:p>
          <a:p>
            <a:endParaRPr lang="en-GB" dirty="0"/>
          </a:p>
        </p:txBody>
      </p:sp>
    </p:spTree>
    <p:extLst>
      <p:ext uri="{BB962C8B-B14F-4D97-AF65-F5344CB8AC3E}">
        <p14:creationId xmlns:p14="http://schemas.microsoft.com/office/powerpoint/2010/main" val="128765663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86D3D6-FB31-E18C-6C64-4234380DC9F9}"/>
              </a:ext>
            </a:extLst>
          </p:cNvPr>
          <p:cNvSpPr>
            <a:spLocks noGrp="1"/>
          </p:cNvSpPr>
          <p:nvPr>
            <p:ph type="title"/>
          </p:nvPr>
        </p:nvSpPr>
        <p:spPr/>
        <p:txBody>
          <a:bodyPr/>
          <a:lstStyle/>
          <a:p>
            <a:r>
              <a:rPr lang="en-GB" dirty="0"/>
              <a:t>Direct multi-horizon forecasting</a:t>
            </a:r>
          </a:p>
        </p:txBody>
      </p:sp>
      <p:sp>
        <p:nvSpPr>
          <p:cNvPr id="3" name="Segnaposto contenuto 2">
            <a:extLst>
              <a:ext uri="{FF2B5EF4-FFF2-40B4-BE49-F238E27FC236}">
                <a16:creationId xmlns:a16="http://schemas.microsoft.com/office/drawing/2014/main" id="{A5D728EC-55F7-6E3F-C1D4-F672332C2D0D}"/>
              </a:ext>
            </a:extLst>
          </p:cNvPr>
          <p:cNvSpPr>
            <a:spLocks noGrp="1"/>
          </p:cNvSpPr>
          <p:nvPr>
            <p:ph sz="half" idx="1"/>
          </p:nvPr>
        </p:nvSpPr>
        <p:spPr>
          <a:xfrm>
            <a:off x="677334" y="2160588"/>
            <a:ext cx="5418666" cy="4453571"/>
          </a:xfrm>
        </p:spPr>
        <p:txBody>
          <a:bodyPr>
            <a:normAutofit fontScale="85000" lnSpcReduction="20000"/>
          </a:bodyPr>
          <a:lstStyle/>
          <a:p>
            <a:r>
              <a:rPr lang="en-GB" dirty="0"/>
              <a:t>A CNN or TCN can produce several future values simultaneously.</a:t>
            </a:r>
          </a:p>
          <a:p>
            <a:r>
              <a:rPr lang="en-GB" dirty="0"/>
              <a:t>Input: [x[t−L+1], ..., x[t]]</a:t>
            </a:r>
          </a:p>
          <a:p>
            <a:r>
              <a:rPr lang="en-GB" dirty="0"/>
              <a:t>Output: [</a:t>
            </a:r>
            <a:r>
              <a:rPr lang="en-GB" dirty="0" err="1"/>
              <a:t>y_hat</a:t>
            </a:r>
            <a:r>
              <a:rPr lang="en-GB" dirty="0"/>
              <a:t>[t+1], ..., </a:t>
            </a:r>
            <a:r>
              <a:rPr lang="en-GB" dirty="0" err="1"/>
              <a:t>y_hat</a:t>
            </a:r>
            <a:r>
              <a:rPr lang="en-GB" dirty="0"/>
              <a:t>[</a:t>
            </a:r>
            <a:r>
              <a:rPr lang="en-GB" dirty="0" err="1"/>
              <a:t>t+H</a:t>
            </a:r>
            <a:r>
              <a:rPr lang="en-GB" dirty="0"/>
              <a:t>]]</a:t>
            </a:r>
          </a:p>
          <a:p>
            <a:r>
              <a:rPr lang="en-GB" b="1" dirty="0"/>
              <a:t>Architecture</a:t>
            </a:r>
          </a:p>
          <a:p>
            <a:r>
              <a:rPr lang="en-GB" dirty="0"/>
              <a:t>history</a:t>
            </a:r>
          </a:p>
          <a:p>
            <a:r>
              <a:rPr lang="en-GB" dirty="0"/>
              <a:t>   ↓</a:t>
            </a:r>
          </a:p>
          <a:p>
            <a:r>
              <a:rPr lang="en-GB" dirty="0"/>
              <a:t>causal CNN / TCN</a:t>
            </a:r>
          </a:p>
          <a:p>
            <a:r>
              <a:rPr lang="en-GB" dirty="0"/>
              <a:t>   ↓</a:t>
            </a:r>
          </a:p>
          <a:p>
            <a:r>
              <a:rPr lang="en-GB" dirty="0"/>
              <a:t>temporal representation</a:t>
            </a:r>
          </a:p>
          <a:p>
            <a:r>
              <a:rPr lang="en-GB" dirty="0"/>
              <a:t>   ↓</a:t>
            </a:r>
          </a:p>
          <a:p>
            <a:r>
              <a:rPr lang="en-GB" dirty="0"/>
              <a:t>multi-output layer</a:t>
            </a:r>
          </a:p>
          <a:p>
            <a:r>
              <a:rPr lang="en-GB" dirty="0"/>
              <a:t>   ↓</a:t>
            </a:r>
          </a:p>
          <a:p>
            <a:r>
              <a:rPr lang="en-GB" dirty="0"/>
              <a:t>t+1  t+2  ...  </a:t>
            </a:r>
            <a:r>
              <a:rPr lang="en-GB" dirty="0" err="1"/>
              <a:t>t+H</a:t>
            </a:r>
            <a:endParaRPr lang="en-GB" dirty="0"/>
          </a:p>
          <a:p>
            <a:endParaRPr lang="en-GB" dirty="0"/>
          </a:p>
        </p:txBody>
      </p:sp>
      <p:sp>
        <p:nvSpPr>
          <p:cNvPr id="4" name="Segnaposto contenuto 3">
            <a:extLst>
              <a:ext uri="{FF2B5EF4-FFF2-40B4-BE49-F238E27FC236}">
                <a16:creationId xmlns:a16="http://schemas.microsoft.com/office/drawing/2014/main" id="{8B438C0D-8B9D-6D9F-BD8A-4D1262D2AA1A}"/>
              </a:ext>
            </a:extLst>
          </p:cNvPr>
          <p:cNvSpPr>
            <a:spLocks noGrp="1"/>
          </p:cNvSpPr>
          <p:nvPr>
            <p:ph sz="half" idx="2"/>
          </p:nvPr>
        </p:nvSpPr>
        <p:spPr>
          <a:xfrm>
            <a:off x="7025450" y="2160589"/>
            <a:ext cx="4922710" cy="4590731"/>
          </a:xfrm>
        </p:spPr>
        <p:txBody>
          <a:bodyPr>
            <a:normAutofit fontScale="85000" lnSpcReduction="20000"/>
          </a:bodyPr>
          <a:lstStyle/>
          <a:p>
            <a:r>
              <a:rPr lang="en-GB" b="1" dirty="0"/>
              <a:t>Advantages</a:t>
            </a:r>
          </a:p>
          <a:p>
            <a:pPr lvl="0"/>
            <a:r>
              <a:rPr lang="en-GB" dirty="0"/>
              <a:t>all horizons predicted in one forward pass; </a:t>
            </a:r>
          </a:p>
          <a:p>
            <a:pPr lvl="0"/>
            <a:r>
              <a:rPr lang="en-GB" dirty="0"/>
              <a:t>no recursive feeding of predicted values; </a:t>
            </a:r>
          </a:p>
          <a:p>
            <a:pPr lvl="0"/>
            <a:r>
              <a:rPr lang="en-GB" dirty="0"/>
              <a:t>convolutional history representation is shared across horizons. </a:t>
            </a:r>
          </a:p>
          <a:p>
            <a:endParaRPr lang="en-GB" b="1" dirty="0"/>
          </a:p>
          <a:p>
            <a:r>
              <a:rPr lang="en-GB" b="1" dirty="0"/>
              <a:t>Evaluation</a:t>
            </a:r>
          </a:p>
          <a:p>
            <a:r>
              <a:rPr lang="en-GB" dirty="0"/>
              <a:t>Report error by horizon:</a:t>
            </a:r>
          </a:p>
          <a:p>
            <a:r>
              <a:rPr lang="en-GB" dirty="0"/>
              <a:t>h = 1</a:t>
            </a:r>
          </a:p>
          <a:p>
            <a:r>
              <a:rPr lang="en-GB" dirty="0"/>
              <a:t>h = 2</a:t>
            </a:r>
          </a:p>
          <a:p>
            <a:r>
              <a:rPr lang="en-GB" dirty="0"/>
              <a:t>...</a:t>
            </a:r>
          </a:p>
          <a:p>
            <a:r>
              <a:rPr lang="en-GB" dirty="0"/>
              <a:t>h = H</a:t>
            </a:r>
          </a:p>
          <a:p>
            <a:r>
              <a:rPr lang="en-GB" dirty="0"/>
              <a:t>not only one average score.</a:t>
            </a:r>
          </a:p>
          <a:p>
            <a:endParaRPr lang="en-GB" dirty="0"/>
          </a:p>
        </p:txBody>
      </p:sp>
    </p:spTree>
    <p:extLst>
      <p:ext uri="{BB962C8B-B14F-4D97-AF65-F5344CB8AC3E}">
        <p14:creationId xmlns:p14="http://schemas.microsoft.com/office/powerpoint/2010/main" val="320316619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1"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0F172A"/>
                </a:solidFill>
                <a:effectLst/>
                <a:uFillTx/>
                <a:latin typeface="Aptos Display"/>
                <a:ea typeface="Aptos Display"/>
              </a:rPr>
              <a:t>Direct multi-horizon forecasting with a CNN/TCN</a:t>
            </a:r>
            <a:endParaRPr lang="it-IT" sz="3000" b="0" u="none" strike="noStrike">
              <a:solidFill>
                <a:srgbClr val="000000"/>
              </a:solidFill>
              <a:effectLst/>
              <a:uFillTx/>
              <a:latin typeface="Arial"/>
            </a:endParaRPr>
          </a:p>
        </p:txBody>
      </p:sp>
      <p:sp>
        <p:nvSpPr>
          <p:cNvPr id="432"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A causal representation supports several future horizons</a:t>
            </a:r>
            <a:endParaRPr lang="it-IT" sz="1500" b="0" u="none" strike="noStrike">
              <a:solidFill>
                <a:srgbClr val="000000"/>
              </a:solidFill>
              <a:effectLst/>
              <a:uFillTx/>
              <a:latin typeface="Arial"/>
            </a:endParaRPr>
          </a:p>
        </p:txBody>
      </p:sp>
      <p:sp>
        <p:nvSpPr>
          <p:cNvPr id="433" name="Shape 2"/>
          <p:cNvSpPr/>
          <p:nvPr/>
        </p:nvSpPr>
        <p:spPr>
          <a:xfrm>
            <a:off x="914400" y="2834640"/>
            <a:ext cx="502920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34" name="Shape 3"/>
          <p:cNvSpPr/>
          <p:nvPr/>
        </p:nvSpPr>
        <p:spPr>
          <a:xfrm>
            <a:off x="87768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35" name="Shape 4"/>
          <p:cNvSpPr/>
          <p:nvPr/>
        </p:nvSpPr>
        <p:spPr>
          <a:xfrm>
            <a:off x="143676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36" name="Shape 5"/>
          <p:cNvSpPr/>
          <p:nvPr/>
        </p:nvSpPr>
        <p:spPr>
          <a:xfrm>
            <a:off x="199548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37" name="Shape 6"/>
          <p:cNvSpPr/>
          <p:nvPr/>
        </p:nvSpPr>
        <p:spPr>
          <a:xfrm>
            <a:off x="255420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38" name="Shape 7"/>
          <p:cNvSpPr/>
          <p:nvPr/>
        </p:nvSpPr>
        <p:spPr>
          <a:xfrm>
            <a:off x="311292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39" name="Shape 8"/>
          <p:cNvSpPr/>
          <p:nvPr/>
        </p:nvSpPr>
        <p:spPr>
          <a:xfrm>
            <a:off x="367200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40" name="Shape 9"/>
          <p:cNvSpPr/>
          <p:nvPr/>
        </p:nvSpPr>
        <p:spPr>
          <a:xfrm>
            <a:off x="423072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41" name="Shape 10"/>
          <p:cNvSpPr/>
          <p:nvPr/>
        </p:nvSpPr>
        <p:spPr>
          <a:xfrm>
            <a:off x="478944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42" name="Shape 11"/>
          <p:cNvSpPr/>
          <p:nvPr/>
        </p:nvSpPr>
        <p:spPr>
          <a:xfrm>
            <a:off x="534816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43" name="Shape 12"/>
          <p:cNvSpPr/>
          <p:nvPr/>
        </p:nvSpPr>
        <p:spPr>
          <a:xfrm>
            <a:off x="5906880" y="279792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444" name="Text 13"/>
          <p:cNvSpPr/>
          <p:nvPr/>
        </p:nvSpPr>
        <p:spPr>
          <a:xfrm>
            <a:off x="2286000" y="2331720"/>
            <a:ext cx="219420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historical window</a:t>
            </a:r>
            <a:endParaRPr lang="it-IT" sz="1300" b="0" u="none" strike="noStrike">
              <a:solidFill>
                <a:srgbClr val="000000"/>
              </a:solidFill>
              <a:effectLst/>
              <a:uFillTx/>
              <a:latin typeface="Arial"/>
            </a:endParaRPr>
          </a:p>
        </p:txBody>
      </p:sp>
      <p:sp>
        <p:nvSpPr>
          <p:cNvPr id="445" name="Shape 14"/>
          <p:cNvSpPr/>
          <p:nvPr/>
        </p:nvSpPr>
        <p:spPr>
          <a:xfrm>
            <a:off x="6355080" y="2487240"/>
            <a:ext cx="1279800" cy="685440"/>
          </a:xfrm>
          <a:prstGeom prst="roundRect">
            <a:avLst>
              <a:gd name="adj" fmla="val 10667"/>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46" name="Text 15"/>
          <p:cNvSpPr/>
          <p:nvPr/>
        </p:nvSpPr>
        <p:spPr>
          <a:xfrm>
            <a:off x="6400800" y="2523600"/>
            <a:ext cx="118836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causal</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CNN/TCN</a:t>
            </a:r>
            <a:endParaRPr lang="it-IT" sz="1300" b="0" u="none" strike="noStrike">
              <a:solidFill>
                <a:srgbClr val="000000"/>
              </a:solidFill>
              <a:effectLst/>
              <a:uFillTx/>
              <a:latin typeface="Arial"/>
            </a:endParaRPr>
          </a:p>
        </p:txBody>
      </p:sp>
      <p:sp>
        <p:nvSpPr>
          <p:cNvPr id="447" name="Shape 16"/>
          <p:cNvSpPr/>
          <p:nvPr/>
        </p:nvSpPr>
        <p:spPr>
          <a:xfrm>
            <a:off x="5943600" y="2834640"/>
            <a:ext cx="41148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48" name="Shape 17"/>
          <p:cNvSpPr/>
          <p:nvPr/>
        </p:nvSpPr>
        <p:spPr>
          <a:xfrm>
            <a:off x="8092440" y="2487240"/>
            <a:ext cx="1096920" cy="685440"/>
          </a:xfrm>
          <a:prstGeom prst="roundRect">
            <a:avLst>
              <a:gd name="adj" fmla="val 10667"/>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49" name="Text 18"/>
          <p:cNvSpPr/>
          <p:nvPr/>
        </p:nvSpPr>
        <p:spPr>
          <a:xfrm>
            <a:off x="8138160" y="2523600"/>
            <a:ext cx="100548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forecast</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head</a:t>
            </a:r>
            <a:endParaRPr lang="it-IT" sz="1300" b="0" u="none" strike="noStrike">
              <a:solidFill>
                <a:srgbClr val="000000"/>
              </a:solidFill>
              <a:effectLst/>
              <a:uFillTx/>
              <a:latin typeface="Arial"/>
            </a:endParaRPr>
          </a:p>
        </p:txBody>
      </p:sp>
      <p:sp>
        <p:nvSpPr>
          <p:cNvPr id="450" name="Shape 19"/>
          <p:cNvSpPr/>
          <p:nvPr/>
        </p:nvSpPr>
        <p:spPr>
          <a:xfrm>
            <a:off x="7635240" y="2834640"/>
            <a:ext cx="45720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51" name="Shape 20"/>
          <p:cNvSpPr/>
          <p:nvPr/>
        </p:nvSpPr>
        <p:spPr>
          <a:xfrm>
            <a:off x="9784080" y="2651760"/>
            <a:ext cx="328680" cy="328680"/>
          </a:xfrm>
          <a:prstGeom prst="roundRect">
            <a:avLst>
              <a:gd name="adj" fmla="val 22222"/>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52" name="Text 21"/>
          <p:cNvSpPr/>
          <p:nvPr/>
        </p:nvSpPr>
        <p:spPr>
          <a:xfrm>
            <a:off x="9829800" y="2688480"/>
            <a:ext cx="237240" cy="25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62500" lnSpcReduction="20000"/>
          </a:bodyPr>
          <a:lstStyle/>
          <a:p>
            <a:pPr algn="ctr" defTabSz="914400">
              <a:lnSpc>
                <a:spcPct val="100000"/>
              </a:lnSpc>
              <a:tabLst>
                <a:tab pos="0" algn="l"/>
              </a:tabLst>
            </a:pPr>
            <a:r>
              <a:rPr lang="en-US" sz="800" b="1" u="none" strike="noStrike">
                <a:solidFill>
                  <a:srgbClr val="0F172A"/>
                </a:solidFill>
                <a:effectLst/>
                <a:uFillTx/>
                <a:latin typeface="Aptos"/>
                <a:ea typeface="Aptos"/>
              </a:rPr>
              <a:t>t+1</a:t>
            </a:r>
            <a:endParaRPr lang="it-IT" sz="800" b="0" u="none" strike="noStrike">
              <a:solidFill>
                <a:srgbClr val="000000"/>
              </a:solidFill>
              <a:effectLst/>
              <a:uFillTx/>
              <a:latin typeface="Arial"/>
            </a:endParaRPr>
          </a:p>
        </p:txBody>
      </p:sp>
      <p:sp>
        <p:nvSpPr>
          <p:cNvPr id="453" name="Shape 22"/>
          <p:cNvSpPr/>
          <p:nvPr/>
        </p:nvSpPr>
        <p:spPr>
          <a:xfrm>
            <a:off x="10195560" y="2651760"/>
            <a:ext cx="328680" cy="328680"/>
          </a:xfrm>
          <a:prstGeom prst="roundRect">
            <a:avLst>
              <a:gd name="adj" fmla="val 22222"/>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54" name="Text 23"/>
          <p:cNvSpPr/>
          <p:nvPr/>
        </p:nvSpPr>
        <p:spPr>
          <a:xfrm>
            <a:off x="10241280" y="2688480"/>
            <a:ext cx="237240" cy="25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62500" lnSpcReduction="20000"/>
          </a:bodyPr>
          <a:lstStyle/>
          <a:p>
            <a:pPr algn="ctr" defTabSz="914400">
              <a:lnSpc>
                <a:spcPct val="100000"/>
              </a:lnSpc>
              <a:tabLst>
                <a:tab pos="0" algn="l"/>
              </a:tabLst>
            </a:pPr>
            <a:r>
              <a:rPr lang="en-US" sz="800" b="1" u="none" strike="noStrike">
                <a:solidFill>
                  <a:srgbClr val="0F172A"/>
                </a:solidFill>
                <a:effectLst/>
                <a:uFillTx/>
                <a:latin typeface="Aptos"/>
                <a:ea typeface="Aptos"/>
              </a:rPr>
              <a:t>t+2</a:t>
            </a:r>
            <a:endParaRPr lang="it-IT" sz="800" b="0" u="none" strike="noStrike">
              <a:solidFill>
                <a:srgbClr val="000000"/>
              </a:solidFill>
              <a:effectLst/>
              <a:uFillTx/>
              <a:latin typeface="Arial"/>
            </a:endParaRPr>
          </a:p>
        </p:txBody>
      </p:sp>
      <p:sp>
        <p:nvSpPr>
          <p:cNvPr id="455" name="Shape 24"/>
          <p:cNvSpPr/>
          <p:nvPr/>
        </p:nvSpPr>
        <p:spPr>
          <a:xfrm>
            <a:off x="10607040" y="2651760"/>
            <a:ext cx="328680" cy="328680"/>
          </a:xfrm>
          <a:prstGeom prst="roundRect">
            <a:avLst>
              <a:gd name="adj" fmla="val 22222"/>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56" name="Text 25"/>
          <p:cNvSpPr/>
          <p:nvPr/>
        </p:nvSpPr>
        <p:spPr>
          <a:xfrm>
            <a:off x="10652760" y="2688480"/>
            <a:ext cx="237240" cy="25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62500" lnSpcReduction="20000"/>
          </a:bodyPr>
          <a:lstStyle/>
          <a:p>
            <a:pPr algn="ctr" defTabSz="914400">
              <a:lnSpc>
                <a:spcPct val="100000"/>
              </a:lnSpc>
              <a:tabLst>
                <a:tab pos="0" algn="l"/>
              </a:tabLst>
            </a:pPr>
            <a:r>
              <a:rPr lang="en-US" sz="800" b="1" u="none" strike="noStrike">
                <a:solidFill>
                  <a:srgbClr val="0F172A"/>
                </a:solidFill>
                <a:effectLst/>
                <a:uFillTx/>
                <a:latin typeface="Aptos"/>
                <a:ea typeface="Aptos"/>
              </a:rPr>
              <a:t>t+3</a:t>
            </a:r>
            <a:endParaRPr lang="it-IT" sz="800" b="0" u="none" strike="noStrike">
              <a:solidFill>
                <a:srgbClr val="000000"/>
              </a:solidFill>
              <a:effectLst/>
              <a:uFillTx/>
              <a:latin typeface="Arial"/>
            </a:endParaRPr>
          </a:p>
        </p:txBody>
      </p:sp>
      <p:sp>
        <p:nvSpPr>
          <p:cNvPr id="457" name="Shape 26"/>
          <p:cNvSpPr/>
          <p:nvPr/>
        </p:nvSpPr>
        <p:spPr>
          <a:xfrm>
            <a:off x="11018520" y="2651760"/>
            <a:ext cx="328680" cy="328680"/>
          </a:xfrm>
          <a:prstGeom prst="roundRect">
            <a:avLst>
              <a:gd name="adj" fmla="val 22222"/>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58" name="Text 27"/>
          <p:cNvSpPr/>
          <p:nvPr/>
        </p:nvSpPr>
        <p:spPr>
          <a:xfrm>
            <a:off x="11064240" y="2688480"/>
            <a:ext cx="237240" cy="25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62500" lnSpcReduction="20000"/>
          </a:bodyPr>
          <a:lstStyle/>
          <a:p>
            <a:pPr algn="ctr" defTabSz="914400">
              <a:lnSpc>
                <a:spcPct val="100000"/>
              </a:lnSpc>
              <a:tabLst>
                <a:tab pos="0" algn="l"/>
              </a:tabLst>
            </a:pPr>
            <a:r>
              <a:rPr lang="en-US" sz="800" b="1" u="none" strike="noStrike">
                <a:solidFill>
                  <a:srgbClr val="0F172A"/>
                </a:solidFill>
                <a:effectLst/>
                <a:uFillTx/>
                <a:latin typeface="Aptos"/>
                <a:ea typeface="Aptos"/>
              </a:rPr>
              <a:t>t+4</a:t>
            </a:r>
            <a:endParaRPr lang="it-IT" sz="800" b="0" u="none" strike="noStrike">
              <a:solidFill>
                <a:srgbClr val="000000"/>
              </a:solidFill>
              <a:effectLst/>
              <a:uFillTx/>
              <a:latin typeface="Arial"/>
            </a:endParaRPr>
          </a:p>
        </p:txBody>
      </p:sp>
      <p:sp>
        <p:nvSpPr>
          <p:cNvPr id="459" name="Shape 28"/>
          <p:cNvSpPr/>
          <p:nvPr/>
        </p:nvSpPr>
        <p:spPr>
          <a:xfrm>
            <a:off x="11430000" y="2651760"/>
            <a:ext cx="328680" cy="328680"/>
          </a:xfrm>
          <a:prstGeom prst="roundRect">
            <a:avLst>
              <a:gd name="adj" fmla="val 22222"/>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60" name="Text 29"/>
          <p:cNvSpPr/>
          <p:nvPr/>
        </p:nvSpPr>
        <p:spPr>
          <a:xfrm>
            <a:off x="11475720" y="2688480"/>
            <a:ext cx="237240" cy="25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62500" lnSpcReduction="20000"/>
          </a:bodyPr>
          <a:lstStyle/>
          <a:p>
            <a:pPr algn="ctr" defTabSz="914400">
              <a:lnSpc>
                <a:spcPct val="100000"/>
              </a:lnSpc>
              <a:tabLst>
                <a:tab pos="0" algn="l"/>
              </a:tabLst>
            </a:pPr>
            <a:r>
              <a:rPr lang="en-US" sz="800" b="1" u="none" strike="noStrike">
                <a:solidFill>
                  <a:srgbClr val="0F172A"/>
                </a:solidFill>
                <a:effectLst/>
                <a:uFillTx/>
                <a:latin typeface="Aptos"/>
                <a:ea typeface="Aptos"/>
              </a:rPr>
              <a:t>t+5</a:t>
            </a:r>
            <a:endParaRPr lang="it-IT" sz="800" b="0" u="none" strike="noStrike">
              <a:solidFill>
                <a:srgbClr val="000000"/>
              </a:solidFill>
              <a:effectLst/>
              <a:uFillTx/>
              <a:latin typeface="Arial"/>
            </a:endParaRPr>
          </a:p>
        </p:txBody>
      </p:sp>
      <p:sp>
        <p:nvSpPr>
          <p:cNvPr id="461" name="Shape 30"/>
          <p:cNvSpPr/>
          <p:nvPr/>
        </p:nvSpPr>
        <p:spPr>
          <a:xfrm>
            <a:off x="9189720" y="2834640"/>
            <a:ext cx="548640" cy="360"/>
          </a:xfrm>
          <a:prstGeom prst="line">
            <a:avLst/>
          </a:prstGeom>
          <a:ln w="1905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62" name="Text 31"/>
          <p:cNvSpPr/>
          <p:nvPr/>
        </p:nvSpPr>
        <p:spPr>
          <a:xfrm>
            <a:off x="8961120" y="3291840"/>
            <a:ext cx="22856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300" b="1" u="none" strike="noStrike">
                <a:solidFill>
                  <a:srgbClr val="2563EB"/>
                </a:solidFill>
                <a:effectLst/>
                <a:uFillTx/>
                <a:latin typeface="Aptos"/>
                <a:ea typeface="Aptos"/>
              </a:rPr>
              <a:t>[ŷ[t+1], ..., ŷ[t+H]]</a:t>
            </a:r>
            <a:endParaRPr lang="it-IT" sz="1300" b="0" u="none" strike="noStrike">
              <a:solidFill>
                <a:srgbClr val="000000"/>
              </a:solidFill>
              <a:effectLst/>
              <a:uFillTx/>
              <a:latin typeface="Arial"/>
            </a:endParaRPr>
          </a:p>
        </p:txBody>
      </p:sp>
      <p:sp>
        <p:nvSpPr>
          <p:cNvPr id="463" name="Text 32"/>
          <p:cNvSpPr/>
          <p:nvPr/>
        </p:nvSpPr>
        <p:spPr>
          <a:xfrm>
            <a:off x="1188720" y="4800600"/>
            <a:ext cx="210276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evaluate by horizon</a:t>
            </a:r>
            <a:endParaRPr lang="it-IT" sz="1300" b="0" u="none" strike="noStrike">
              <a:solidFill>
                <a:srgbClr val="000000"/>
              </a:solidFill>
              <a:effectLst/>
              <a:uFillTx/>
              <a:latin typeface="Arial"/>
            </a:endParaRPr>
          </a:p>
        </p:txBody>
      </p:sp>
      <p:sp>
        <p:nvSpPr>
          <p:cNvPr id="464" name="Shape 33"/>
          <p:cNvSpPr/>
          <p:nvPr/>
        </p:nvSpPr>
        <p:spPr>
          <a:xfrm>
            <a:off x="3474720" y="5394960"/>
            <a:ext cx="3657600" cy="360"/>
          </a:xfrm>
          <a:prstGeom prst="line">
            <a:avLst/>
          </a:prstGeom>
          <a:ln w="12700">
            <a:solidFill>
              <a:srgbClr val="475569"/>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465" name="Shape 34"/>
          <p:cNvSpPr/>
          <p:nvPr/>
        </p:nvSpPr>
        <p:spPr>
          <a:xfrm flipV="1">
            <a:off x="3474720" y="4251960"/>
            <a:ext cx="360" cy="1143000"/>
          </a:xfrm>
          <a:prstGeom prst="line">
            <a:avLst/>
          </a:prstGeom>
          <a:ln w="12700">
            <a:solidFill>
              <a:srgbClr val="475569"/>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466" name="Shape 35"/>
          <p:cNvSpPr/>
          <p:nvPr/>
        </p:nvSpPr>
        <p:spPr>
          <a:xfrm>
            <a:off x="3694320" y="5111640"/>
            <a:ext cx="109440" cy="109440"/>
          </a:xfrm>
          <a:prstGeom prst="ellipse">
            <a:avLst/>
          </a:prstGeom>
          <a:solidFill>
            <a:srgbClr val="DC2626"/>
          </a:solidFill>
          <a:ln w="12700">
            <a:solidFill>
              <a:srgbClr val="DC2626"/>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FFFFFF"/>
              </a:solidFill>
              <a:effectLst/>
              <a:uFillTx/>
              <a:latin typeface="Arial"/>
            </a:endParaRPr>
          </a:p>
        </p:txBody>
      </p:sp>
      <p:sp>
        <p:nvSpPr>
          <p:cNvPr id="467" name="Shape 36"/>
          <p:cNvSpPr/>
          <p:nvPr/>
        </p:nvSpPr>
        <p:spPr>
          <a:xfrm>
            <a:off x="4334400" y="4928760"/>
            <a:ext cx="109440" cy="109440"/>
          </a:xfrm>
          <a:prstGeom prst="ellipse">
            <a:avLst/>
          </a:prstGeom>
          <a:solidFill>
            <a:srgbClr val="DC2626"/>
          </a:solidFill>
          <a:ln w="12700">
            <a:solidFill>
              <a:srgbClr val="DC2626"/>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FFFFFF"/>
              </a:solidFill>
              <a:effectLst/>
              <a:uFillTx/>
              <a:latin typeface="Arial"/>
            </a:endParaRPr>
          </a:p>
        </p:txBody>
      </p:sp>
      <p:sp>
        <p:nvSpPr>
          <p:cNvPr id="468" name="Shape 37"/>
          <p:cNvSpPr/>
          <p:nvPr/>
        </p:nvSpPr>
        <p:spPr>
          <a:xfrm flipV="1">
            <a:off x="3749040" y="4983480"/>
            <a:ext cx="640080" cy="182880"/>
          </a:xfrm>
          <a:prstGeom prst="line">
            <a:avLst/>
          </a:prstGeom>
          <a:ln w="17780">
            <a:solidFill>
              <a:srgbClr val="DC2626"/>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469" name="Shape 38"/>
          <p:cNvSpPr/>
          <p:nvPr/>
        </p:nvSpPr>
        <p:spPr>
          <a:xfrm>
            <a:off x="4974480" y="4745880"/>
            <a:ext cx="109440" cy="109440"/>
          </a:xfrm>
          <a:prstGeom prst="ellipse">
            <a:avLst/>
          </a:prstGeom>
          <a:solidFill>
            <a:srgbClr val="DC2626"/>
          </a:solidFill>
          <a:ln w="12700">
            <a:solidFill>
              <a:srgbClr val="DC2626"/>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FFFFFF"/>
              </a:solidFill>
              <a:effectLst/>
              <a:uFillTx/>
              <a:latin typeface="Arial"/>
            </a:endParaRPr>
          </a:p>
        </p:txBody>
      </p:sp>
      <p:sp>
        <p:nvSpPr>
          <p:cNvPr id="470" name="Shape 39"/>
          <p:cNvSpPr/>
          <p:nvPr/>
        </p:nvSpPr>
        <p:spPr>
          <a:xfrm flipV="1">
            <a:off x="4389120" y="4800600"/>
            <a:ext cx="640080" cy="182880"/>
          </a:xfrm>
          <a:prstGeom prst="line">
            <a:avLst/>
          </a:prstGeom>
          <a:ln w="17780">
            <a:solidFill>
              <a:srgbClr val="DC2626"/>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471" name="Shape 40"/>
          <p:cNvSpPr/>
          <p:nvPr/>
        </p:nvSpPr>
        <p:spPr>
          <a:xfrm>
            <a:off x="5614560" y="4517280"/>
            <a:ext cx="109440" cy="109440"/>
          </a:xfrm>
          <a:prstGeom prst="ellipse">
            <a:avLst/>
          </a:prstGeom>
          <a:solidFill>
            <a:srgbClr val="DC2626"/>
          </a:solidFill>
          <a:ln w="12700">
            <a:solidFill>
              <a:srgbClr val="DC2626"/>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FFFFFF"/>
              </a:solidFill>
              <a:effectLst/>
              <a:uFillTx/>
              <a:latin typeface="Arial"/>
            </a:endParaRPr>
          </a:p>
        </p:txBody>
      </p:sp>
      <p:sp>
        <p:nvSpPr>
          <p:cNvPr id="472" name="Shape 41"/>
          <p:cNvSpPr/>
          <p:nvPr/>
        </p:nvSpPr>
        <p:spPr>
          <a:xfrm flipV="1">
            <a:off x="5029200" y="4572000"/>
            <a:ext cx="640080" cy="228600"/>
          </a:xfrm>
          <a:prstGeom prst="line">
            <a:avLst/>
          </a:prstGeom>
          <a:ln w="17780">
            <a:solidFill>
              <a:srgbClr val="DC2626"/>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473" name="Shape 42"/>
          <p:cNvSpPr/>
          <p:nvPr/>
        </p:nvSpPr>
        <p:spPr>
          <a:xfrm>
            <a:off x="6437520" y="4288680"/>
            <a:ext cx="109440" cy="109440"/>
          </a:xfrm>
          <a:prstGeom prst="ellipse">
            <a:avLst/>
          </a:prstGeom>
          <a:solidFill>
            <a:srgbClr val="DC2626"/>
          </a:solidFill>
          <a:ln w="12700">
            <a:solidFill>
              <a:srgbClr val="DC2626"/>
            </a:solidFill>
            <a:round/>
          </a:ln>
        </p:spPr>
        <p:style>
          <a:lnRef idx="0">
            <a:scrgbClr r="0" g="0" b="0"/>
          </a:lnRef>
          <a:fillRef idx="0">
            <a:scrgbClr r="0" g="0" b="0"/>
          </a:fillRef>
          <a:effectRef idx="0">
            <a:scrgbClr r="0" g="0" b="0"/>
          </a:effectRef>
          <a:fontRef idx="minor"/>
        </p:style>
        <p:txBody>
          <a:bodyPr lIns="90000" tIns="32760" rIns="90000" bIns="32760" anchor="t">
            <a:noAutofit/>
          </a:bodyPr>
          <a:lstStyle/>
          <a:p>
            <a:endParaRPr lang="it-IT" sz="1800" b="0" u="none" strike="noStrike">
              <a:solidFill>
                <a:srgbClr val="FFFFFF"/>
              </a:solidFill>
              <a:effectLst/>
              <a:uFillTx/>
              <a:latin typeface="Arial"/>
            </a:endParaRPr>
          </a:p>
        </p:txBody>
      </p:sp>
      <p:sp>
        <p:nvSpPr>
          <p:cNvPr id="474" name="Shape 43"/>
          <p:cNvSpPr/>
          <p:nvPr/>
        </p:nvSpPr>
        <p:spPr>
          <a:xfrm flipV="1">
            <a:off x="5669280" y="4343400"/>
            <a:ext cx="822960" cy="228600"/>
          </a:xfrm>
          <a:prstGeom prst="line">
            <a:avLst/>
          </a:prstGeom>
          <a:ln w="17780">
            <a:solidFill>
              <a:srgbClr val="DC2626"/>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475" name="Text 44"/>
          <p:cNvSpPr/>
          <p:nvPr/>
        </p:nvSpPr>
        <p:spPr>
          <a:xfrm>
            <a:off x="4846320" y="5532120"/>
            <a:ext cx="914040" cy="182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900" b="0" u="none" strike="noStrike">
                <a:solidFill>
                  <a:srgbClr val="475569"/>
                </a:solidFill>
                <a:effectLst/>
                <a:uFillTx/>
                <a:latin typeface="Aptos"/>
                <a:ea typeface="Aptos"/>
              </a:rPr>
              <a:t>horizon</a:t>
            </a:r>
            <a:endParaRPr lang="it-IT" sz="900" b="0" u="none" strike="noStrike">
              <a:solidFill>
                <a:srgbClr val="000000"/>
              </a:solidFill>
              <a:effectLst/>
              <a:uFillTx/>
              <a:latin typeface="Arial"/>
            </a:endParaRPr>
          </a:p>
        </p:txBody>
      </p:sp>
      <p:sp>
        <p:nvSpPr>
          <p:cNvPr id="476" name="Text 45"/>
          <p:cNvSpPr/>
          <p:nvPr/>
        </p:nvSpPr>
        <p:spPr>
          <a:xfrm>
            <a:off x="3017520" y="4343400"/>
            <a:ext cx="411120" cy="182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a:bodyPr>
          <a:lstStyle/>
          <a:p>
            <a:pPr algn="ctr" defTabSz="914400">
              <a:lnSpc>
                <a:spcPct val="100000"/>
              </a:lnSpc>
              <a:tabLst>
                <a:tab pos="0" algn="l"/>
              </a:tabLst>
            </a:pPr>
            <a:r>
              <a:rPr lang="en-US" sz="900" b="0" u="none" strike="noStrike" dirty="0">
                <a:solidFill>
                  <a:srgbClr val="475569"/>
                </a:solidFill>
                <a:effectLst/>
                <a:uFillTx/>
                <a:latin typeface="Aptos"/>
                <a:ea typeface="Aptos"/>
              </a:rPr>
              <a:t>Abs error</a:t>
            </a:r>
            <a:endParaRPr lang="it-IT" sz="900" b="0" u="none" strike="noStrike" dirty="0">
              <a:solidFill>
                <a:srgbClr val="000000"/>
              </a:solidFill>
              <a:effectLst/>
              <a:uFillTx/>
              <a:latin typeface="Arial"/>
            </a:endParaRPr>
          </a:p>
        </p:txBody>
      </p:sp>
      <p:sp>
        <p:nvSpPr>
          <p:cNvPr id="477" name="PlaceHolder 1"/>
          <p:cNvSpPr>
            <a:spLocks noGrp="1"/>
          </p:cNvSpPr>
          <p:nvPr>
            <p:ph type="sldNum" idx="14"/>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4F85A8A1-56A0-46AE-B25E-79962058F6EC}" type="slidenum">
              <a:rPr lang="en-US" sz="1200" b="0" u="none" strike="noStrike">
                <a:solidFill>
                  <a:srgbClr val="64748B"/>
                </a:solidFill>
                <a:effectLst/>
                <a:uFillTx/>
                <a:latin typeface="Aptos"/>
              </a:rPr>
              <a:t>224</a:t>
            </a:fld>
            <a:endParaRPr lang="it-IT" sz="1200" b="0" u="none" strike="noStrike">
              <a:solidFill>
                <a:srgbClr val="000000"/>
              </a:solidFill>
              <a:effectLst/>
              <a:uFillTx/>
              <a:latin typeface="Times New Roman"/>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95CAFF4-9165-6A81-6171-7C5201B27B23}"/>
              </a:ext>
            </a:extLst>
          </p:cNvPr>
          <p:cNvSpPr>
            <a:spLocks noGrp="1"/>
          </p:cNvSpPr>
          <p:nvPr>
            <p:ph type="title"/>
          </p:nvPr>
        </p:nvSpPr>
        <p:spPr/>
        <p:txBody>
          <a:bodyPr/>
          <a:lstStyle/>
          <a:p>
            <a:r>
              <a:rPr lang="en-GB" dirty="0"/>
              <a:t>Temporal CNNs can combine several input channels</a:t>
            </a:r>
          </a:p>
        </p:txBody>
      </p:sp>
      <p:sp>
        <p:nvSpPr>
          <p:cNvPr id="3" name="Segnaposto contenuto 2">
            <a:extLst>
              <a:ext uri="{FF2B5EF4-FFF2-40B4-BE49-F238E27FC236}">
                <a16:creationId xmlns:a16="http://schemas.microsoft.com/office/drawing/2014/main" id="{C9BD7439-04C1-644C-9A4F-A8E2CE14DDBE}"/>
              </a:ext>
            </a:extLst>
          </p:cNvPr>
          <p:cNvSpPr>
            <a:spLocks noGrp="1"/>
          </p:cNvSpPr>
          <p:nvPr>
            <p:ph sz="half" idx="1"/>
          </p:nvPr>
        </p:nvSpPr>
        <p:spPr>
          <a:xfrm>
            <a:off x="677334" y="2160589"/>
            <a:ext cx="5052906" cy="4499290"/>
          </a:xfrm>
        </p:spPr>
        <p:txBody>
          <a:bodyPr>
            <a:normAutofit/>
          </a:bodyPr>
          <a:lstStyle/>
          <a:p>
            <a:r>
              <a:rPr lang="en-GB" dirty="0"/>
              <a:t>Suppose the input at time t contains:</a:t>
            </a:r>
          </a:p>
          <a:p>
            <a:pPr lvl="1"/>
            <a:r>
              <a:rPr lang="en-GB" dirty="0"/>
              <a:t>temperature[t]</a:t>
            </a:r>
          </a:p>
          <a:p>
            <a:pPr lvl="1"/>
            <a:r>
              <a:rPr lang="en-GB" dirty="0"/>
              <a:t>pressure[t]</a:t>
            </a:r>
          </a:p>
          <a:p>
            <a:pPr lvl="1"/>
            <a:r>
              <a:rPr lang="en-GB" dirty="0"/>
              <a:t>flow[t]</a:t>
            </a:r>
          </a:p>
          <a:p>
            <a:pPr lvl="1"/>
            <a:r>
              <a:rPr lang="en-GB" dirty="0"/>
              <a:t>vibration[t]</a:t>
            </a:r>
          </a:p>
          <a:p>
            <a:r>
              <a:rPr lang="en-GB" dirty="0"/>
              <a:t>A Conv1D kernel spans:</a:t>
            </a:r>
          </a:p>
          <a:p>
            <a:pPr lvl="1"/>
            <a:r>
              <a:rPr lang="en-GB" dirty="0"/>
              <a:t>several time positions; </a:t>
            </a:r>
          </a:p>
          <a:p>
            <a:pPr lvl="1"/>
            <a:r>
              <a:rPr lang="en-GB" dirty="0"/>
              <a:t>all input channels. </a:t>
            </a:r>
          </a:p>
          <a:p>
            <a:r>
              <a:rPr lang="en-GB" dirty="0"/>
              <a:t>Therefore it can learn patterns involving both:</a:t>
            </a:r>
          </a:p>
          <a:p>
            <a:pPr lvl="1"/>
            <a:r>
              <a:rPr lang="en-GB" dirty="0"/>
              <a:t>temporal evolution; </a:t>
            </a:r>
          </a:p>
          <a:p>
            <a:pPr lvl="1"/>
            <a:r>
              <a:rPr lang="en-GB" dirty="0"/>
              <a:t>cross-variable interaction. </a:t>
            </a:r>
          </a:p>
          <a:p>
            <a:endParaRPr lang="en-GB" dirty="0"/>
          </a:p>
        </p:txBody>
      </p:sp>
      <p:sp>
        <p:nvSpPr>
          <p:cNvPr id="4" name="Segnaposto contenuto 3">
            <a:extLst>
              <a:ext uri="{FF2B5EF4-FFF2-40B4-BE49-F238E27FC236}">
                <a16:creationId xmlns:a16="http://schemas.microsoft.com/office/drawing/2014/main" id="{7336C995-770F-CC43-1019-A719CC730DA7}"/>
              </a:ext>
            </a:extLst>
          </p:cNvPr>
          <p:cNvSpPr>
            <a:spLocks noGrp="1"/>
          </p:cNvSpPr>
          <p:nvPr>
            <p:ph sz="half" idx="2"/>
          </p:nvPr>
        </p:nvSpPr>
        <p:spPr>
          <a:xfrm>
            <a:off x="6096000" y="2160589"/>
            <a:ext cx="5897880" cy="4499291"/>
          </a:xfrm>
        </p:spPr>
        <p:txBody>
          <a:bodyPr>
            <a:normAutofit/>
          </a:bodyPr>
          <a:lstStyle/>
          <a:p>
            <a:r>
              <a:rPr lang="en-GB" b="1" dirty="0"/>
              <a:t>Example</a:t>
            </a:r>
          </a:p>
          <a:p>
            <a:r>
              <a:rPr lang="en-GB" dirty="0"/>
              <a:t>A filter might respond strongly when:</a:t>
            </a:r>
          </a:p>
          <a:p>
            <a:pPr lvl="1"/>
            <a:r>
              <a:rPr lang="en-GB" dirty="0"/>
              <a:t>vibration rises; </a:t>
            </a:r>
          </a:p>
          <a:p>
            <a:pPr lvl="1"/>
            <a:r>
              <a:rPr lang="en-GB" dirty="0"/>
              <a:t>load is high; </a:t>
            </a:r>
          </a:p>
          <a:p>
            <a:pPr lvl="1"/>
            <a:r>
              <a:rPr lang="en-GB" dirty="0"/>
              <a:t>temperature begins to increase; </a:t>
            </a:r>
          </a:p>
          <a:p>
            <a:pPr lvl="1"/>
            <a:r>
              <a:rPr lang="en-GB" dirty="0"/>
              <a:t>within the same local interval.</a:t>
            </a:r>
            <a:endParaRPr lang="en-GB" b="1" dirty="0"/>
          </a:p>
          <a:p>
            <a:endParaRPr lang="en-GB" dirty="0"/>
          </a:p>
          <a:p>
            <a:r>
              <a:rPr lang="en-GB" b="1" dirty="0">
                <a:highlight>
                  <a:srgbClr val="FFFF00"/>
                </a:highlight>
              </a:rPr>
              <a:t>This interaction is learned directly from the multivariate temporal window.</a:t>
            </a:r>
          </a:p>
          <a:p>
            <a:r>
              <a:rPr lang="en-GB" b="1" dirty="0">
                <a:highlight>
                  <a:srgbClr val="FFFF00"/>
                </a:highlight>
              </a:rPr>
              <a:t>Manual construction of every cross-variable temporal feature is not required.</a:t>
            </a:r>
          </a:p>
          <a:p>
            <a:endParaRPr lang="en-GB" dirty="0"/>
          </a:p>
        </p:txBody>
      </p:sp>
    </p:spTree>
    <p:extLst>
      <p:ext uri="{BB962C8B-B14F-4D97-AF65-F5344CB8AC3E}">
        <p14:creationId xmlns:p14="http://schemas.microsoft.com/office/powerpoint/2010/main" val="272169661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0F172A"/>
                </a:solidFill>
                <a:effectLst/>
                <a:uFillTx/>
                <a:latin typeface="Aptos Display"/>
                <a:ea typeface="Aptos Display"/>
              </a:rPr>
              <a:t>Conv1D kernels combine time and channels</a:t>
            </a:r>
            <a:endParaRPr lang="it-IT" sz="3000" b="0" u="none" strike="noStrike">
              <a:solidFill>
                <a:srgbClr val="000000"/>
              </a:solidFill>
              <a:effectLst/>
              <a:uFillTx/>
              <a:latin typeface="Arial"/>
            </a:endParaRPr>
          </a:p>
        </p:txBody>
      </p:sp>
      <p:sp>
        <p:nvSpPr>
          <p:cNvPr id="479"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A filter can learn cross-variable temporal patterns</a:t>
            </a:r>
            <a:endParaRPr lang="it-IT" sz="1500" b="0" u="none" strike="noStrike">
              <a:solidFill>
                <a:srgbClr val="000000"/>
              </a:solidFill>
              <a:effectLst/>
              <a:uFillTx/>
              <a:latin typeface="Arial"/>
            </a:endParaRPr>
          </a:p>
        </p:txBody>
      </p:sp>
      <p:sp>
        <p:nvSpPr>
          <p:cNvPr id="480" name="Text 2"/>
          <p:cNvSpPr/>
          <p:nvPr/>
        </p:nvSpPr>
        <p:spPr>
          <a:xfrm>
            <a:off x="3474720" y="1234440"/>
            <a:ext cx="91404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475569"/>
                </a:solidFill>
                <a:effectLst/>
                <a:uFillTx/>
                <a:latin typeface="Aptos"/>
                <a:ea typeface="Aptos"/>
              </a:rPr>
              <a:t>time →</a:t>
            </a:r>
            <a:endParaRPr lang="it-IT" sz="1200" b="0" u="none" strike="noStrike">
              <a:solidFill>
                <a:srgbClr val="000000"/>
              </a:solidFill>
              <a:effectLst/>
              <a:uFillTx/>
              <a:latin typeface="Arial"/>
            </a:endParaRPr>
          </a:p>
        </p:txBody>
      </p:sp>
      <p:sp>
        <p:nvSpPr>
          <p:cNvPr id="481" name="Text 3"/>
          <p:cNvSpPr/>
          <p:nvPr/>
        </p:nvSpPr>
        <p:spPr>
          <a:xfrm>
            <a:off x="411480" y="1234440"/>
            <a:ext cx="822600" cy="228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00" b="1" u="none" strike="noStrike">
                <a:solidFill>
                  <a:srgbClr val="475569"/>
                </a:solidFill>
                <a:effectLst/>
                <a:uFillTx/>
                <a:latin typeface="Aptos"/>
                <a:ea typeface="Aptos"/>
              </a:rPr>
              <a:t>channels</a:t>
            </a:r>
            <a:endParaRPr lang="it-IT" sz="1100" b="0" u="none" strike="noStrike">
              <a:solidFill>
                <a:srgbClr val="000000"/>
              </a:solidFill>
              <a:effectLst/>
              <a:uFillTx/>
              <a:latin typeface="Arial"/>
            </a:endParaRPr>
          </a:p>
        </p:txBody>
      </p:sp>
      <p:sp>
        <p:nvSpPr>
          <p:cNvPr id="482" name="Text 4"/>
          <p:cNvSpPr/>
          <p:nvPr/>
        </p:nvSpPr>
        <p:spPr>
          <a:xfrm>
            <a:off x="411480" y="1572840"/>
            <a:ext cx="502560" cy="182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r" defTabSz="914400">
              <a:lnSpc>
                <a:spcPct val="100000"/>
              </a:lnSpc>
              <a:tabLst>
                <a:tab pos="0" algn="l"/>
              </a:tabLst>
            </a:pPr>
            <a:r>
              <a:rPr lang="en-US" sz="800" b="0" u="none" strike="noStrike">
                <a:solidFill>
                  <a:srgbClr val="475569"/>
                </a:solidFill>
                <a:effectLst/>
                <a:uFillTx/>
                <a:latin typeface="Aptos"/>
                <a:ea typeface="Aptos"/>
              </a:rPr>
              <a:t>temp</a:t>
            </a:r>
            <a:endParaRPr lang="it-IT" sz="800" b="0" u="none" strike="noStrike">
              <a:solidFill>
                <a:srgbClr val="000000"/>
              </a:solidFill>
              <a:effectLst/>
              <a:uFillTx/>
              <a:latin typeface="Arial"/>
            </a:endParaRPr>
          </a:p>
        </p:txBody>
      </p:sp>
      <p:sp>
        <p:nvSpPr>
          <p:cNvPr id="483" name="Shape 5"/>
          <p:cNvSpPr/>
          <p:nvPr/>
        </p:nvSpPr>
        <p:spPr>
          <a:xfrm>
            <a:off x="1005840" y="150876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84" name="Shape 6"/>
          <p:cNvSpPr/>
          <p:nvPr/>
        </p:nvSpPr>
        <p:spPr>
          <a:xfrm>
            <a:off x="1600200" y="150876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85" name="Shape 7"/>
          <p:cNvSpPr/>
          <p:nvPr/>
        </p:nvSpPr>
        <p:spPr>
          <a:xfrm>
            <a:off x="2194560" y="150876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86" name="Shape 8"/>
          <p:cNvSpPr/>
          <p:nvPr/>
        </p:nvSpPr>
        <p:spPr>
          <a:xfrm>
            <a:off x="2788920" y="150876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87" name="Shape 9"/>
          <p:cNvSpPr/>
          <p:nvPr/>
        </p:nvSpPr>
        <p:spPr>
          <a:xfrm>
            <a:off x="3383280" y="150876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88" name="Shape 10"/>
          <p:cNvSpPr/>
          <p:nvPr/>
        </p:nvSpPr>
        <p:spPr>
          <a:xfrm>
            <a:off x="3977640" y="150876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89" name="Shape 11"/>
          <p:cNvSpPr/>
          <p:nvPr/>
        </p:nvSpPr>
        <p:spPr>
          <a:xfrm>
            <a:off x="4572000" y="150876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0" name="Shape 12"/>
          <p:cNvSpPr/>
          <p:nvPr/>
        </p:nvSpPr>
        <p:spPr>
          <a:xfrm>
            <a:off x="5166360" y="150876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1" name="Shape 13"/>
          <p:cNvSpPr/>
          <p:nvPr/>
        </p:nvSpPr>
        <p:spPr>
          <a:xfrm>
            <a:off x="5760720" y="150876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2" name="Shape 14"/>
          <p:cNvSpPr/>
          <p:nvPr/>
        </p:nvSpPr>
        <p:spPr>
          <a:xfrm>
            <a:off x="6355080" y="150876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3" name="Text 15"/>
          <p:cNvSpPr/>
          <p:nvPr/>
        </p:nvSpPr>
        <p:spPr>
          <a:xfrm>
            <a:off x="411480" y="1965960"/>
            <a:ext cx="502560" cy="182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r" defTabSz="914400">
              <a:lnSpc>
                <a:spcPct val="100000"/>
              </a:lnSpc>
              <a:tabLst>
                <a:tab pos="0" algn="l"/>
              </a:tabLst>
            </a:pPr>
            <a:r>
              <a:rPr lang="en-US" sz="800" b="0" u="none" strike="noStrike">
                <a:solidFill>
                  <a:srgbClr val="475569"/>
                </a:solidFill>
                <a:effectLst/>
                <a:uFillTx/>
                <a:latin typeface="Aptos"/>
                <a:ea typeface="Aptos"/>
              </a:rPr>
              <a:t>press</a:t>
            </a:r>
            <a:endParaRPr lang="it-IT" sz="800" b="0" u="none" strike="noStrike">
              <a:solidFill>
                <a:srgbClr val="000000"/>
              </a:solidFill>
              <a:effectLst/>
              <a:uFillTx/>
              <a:latin typeface="Arial"/>
            </a:endParaRPr>
          </a:p>
        </p:txBody>
      </p:sp>
      <p:sp>
        <p:nvSpPr>
          <p:cNvPr id="494" name="Shape 16"/>
          <p:cNvSpPr/>
          <p:nvPr/>
        </p:nvSpPr>
        <p:spPr>
          <a:xfrm>
            <a:off x="1005840" y="19018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5" name="Shape 17"/>
          <p:cNvSpPr/>
          <p:nvPr/>
        </p:nvSpPr>
        <p:spPr>
          <a:xfrm>
            <a:off x="1600200" y="19018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6" name="Shape 18"/>
          <p:cNvSpPr/>
          <p:nvPr/>
        </p:nvSpPr>
        <p:spPr>
          <a:xfrm>
            <a:off x="2194560" y="19018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7" name="Shape 19"/>
          <p:cNvSpPr/>
          <p:nvPr/>
        </p:nvSpPr>
        <p:spPr>
          <a:xfrm>
            <a:off x="2788920" y="190188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8" name="Shape 20"/>
          <p:cNvSpPr/>
          <p:nvPr/>
        </p:nvSpPr>
        <p:spPr>
          <a:xfrm>
            <a:off x="3383280" y="190188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499" name="Shape 21"/>
          <p:cNvSpPr/>
          <p:nvPr/>
        </p:nvSpPr>
        <p:spPr>
          <a:xfrm>
            <a:off x="3977640" y="190188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0" name="Shape 22"/>
          <p:cNvSpPr/>
          <p:nvPr/>
        </p:nvSpPr>
        <p:spPr>
          <a:xfrm>
            <a:off x="4572000" y="19018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1" name="Shape 23"/>
          <p:cNvSpPr/>
          <p:nvPr/>
        </p:nvSpPr>
        <p:spPr>
          <a:xfrm>
            <a:off x="5166360" y="19018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2" name="Shape 24"/>
          <p:cNvSpPr/>
          <p:nvPr/>
        </p:nvSpPr>
        <p:spPr>
          <a:xfrm>
            <a:off x="5760720" y="19018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3" name="Shape 25"/>
          <p:cNvSpPr/>
          <p:nvPr/>
        </p:nvSpPr>
        <p:spPr>
          <a:xfrm>
            <a:off x="6355080" y="19018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4" name="Text 26"/>
          <p:cNvSpPr/>
          <p:nvPr/>
        </p:nvSpPr>
        <p:spPr>
          <a:xfrm>
            <a:off x="411480" y="2359080"/>
            <a:ext cx="502560" cy="182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r" defTabSz="914400">
              <a:lnSpc>
                <a:spcPct val="100000"/>
              </a:lnSpc>
              <a:tabLst>
                <a:tab pos="0" algn="l"/>
              </a:tabLst>
            </a:pPr>
            <a:r>
              <a:rPr lang="en-US" sz="800" b="0" u="none" strike="noStrike">
                <a:solidFill>
                  <a:srgbClr val="475569"/>
                </a:solidFill>
                <a:effectLst/>
                <a:uFillTx/>
                <a:latin typeface="Aptos"/>
                <a:ea typeface="Aptos"/>
              </a:rPr>
              <a:t>flow</a:t>
            </a:r>
            <a:endParaRPr lang="it-IT" sz="800" b="0" u="none" strike="noStrike">
              <a:solidFill>
                <a:srgbClr val="000000"/>
              </a:solidFill>
              <a:effectLst/>
              <a:uFillTx/>
              <a:latin typeface="Arial"/>
            </a:endParaRPr>
          </a:p>
        </p:txBody>
      </p:sp>
      <p:sp>
        <p:nvSpPr>
          <p:cNvPr id="505" name="Shape 27"/>
          <p:cNvSpPr/>
          <p:nvPr/>
        </p:nvSpPr>
        <p:spPr>
          <a:xfrm>
            <a:off x="1005840" y="229500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6" name="Shape 28"/>
          <p:cNvSpPr/>
          <p:nvPr/>
        </p:nvSpPr>
        <p:spPr>
          <a:xfrm>
            <a:off x="1600200" y="229500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7" name="Shape 29"/>
          <p:cNvSpPr/>
          <p:nvPr/>
        </p:nvSpPr>
        <p:spPr>
          <a:xfrm>
            <a:off x="2194560" y="229500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8" name="Shape 30"/>
          <p:cNvSpPr/>
          <p:nvPr/>
        </p:nvSpPr>
        <p:spPr>
          <a:xfrm>
            <a:off x="2788920" y="229500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09" name="Shape 31"/>
          <p:cNvSpPr/>
          <p:nvPr/>
        </p:nvSpPr>
        <p:spPr>
          <a:xfrm>
            <a:off x="3383280" y="229500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0" name="Shape 32"/>
          <p:cNvSpPr/>
          <p:nvPr/>
        </p:nvSpPr>
        <p:spPr>
          <a:xfrm>
            <a:off x="3977640" y="229500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1" name="Shape 33"/>
          <p:cNvSpPr/>
          <p:nvPr/>
        </p:nvSpPr>
        <p:spPr>
          <a:xfrm>
            <a:off x="4572000" y="229500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2" name="Shape 34"/>
          <p:cNvSpPr/>
          <p:nvPr/>
        </p:nvSpPr>
        <p:spPr>
          <a:xfrm>
            <a:off x="5166360" y="229500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3" name="Shape 35"/>
          <p:cNvSpPr/>
          <p:nvPr/>
        </p:nvSpPr>
        <p:spPr>
          <a:xfrm>
            <a:off x="5760720" y="229500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4" name="Shape 36"/>
          <p:cNvSpPr/>
          <p:nvPr/>
        </p:nvSpPr>
        <p:spPr>
          <a:xfrm>
            <a:off x="6355080" y="229500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5" name="Text 37"/>
          <p:cNvSpPr/>
          <p:nvPr/>
        </p:nvSpPr>
        <p:spPr>
          <a:xfrm>
            <a:off x="411480" y="2752200"/>
            <a:ext cx="502560" cy="182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r" defTabSz="914400">
              <a:lnSpc>
                <a:spcPct val="100000"/>
              </a:lnSpc>
              <a:tabLst>
                <a:tab pos="0" algn="l"/>
              </a:tabLst>
            </a:pPr>
            <a:r>
              <a:rPr lang="en-US" sz="800" b="0" u="none" strike="noStrike">
                <a:solidFill>
                  <a:srgbClr val="475569"/>
                </a:solidFill>
                <a:effectLst/>
                <a:uFillTx/>
                <a:latin typeface="Aptos"/>
                <a:ea typeface="Aptos"/>
              </a:rPr>
              <a:t>vibr</a:t>
            </a:r>
            <a:endParaRPr lang="it-IT" sz="800" b="0" u="none" strike="noStrike">
              <a:solidFill>
                <a:srgbClr val="000000"/>
              </a:solidFill>
              <a:effectLst/>
              <a:uFillTx/>
              <a:latin typeface="Arial"/>
            </a:endParaRPr>
          </a:p>
        </p:txBody>
      </p:sp>
      <p:sp>
        <p:nvSpPr>
          <p:cNvPr id="516" name="Shape 38"/>
          <p:cNvSpPr/>
          <p:nvPr/>
        </p:nvSpPr>
        <p:spPr>
          <a:xfrm>
            <a:off x="1005840" y="26884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7" name="Shape 39"/>
          <p:cNvSpPr/>
          <p:nvPr/>
        </p:nvSpPr>
        <p:spPr>
          <a:xfrm>
            <a:off x="1600200" y="26884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8" name="Shape 40"/>
          <p:cNvSpPr/>
          <p:nvPr/>
        </p:nvSpPr>
        <p:spPr>
          <a:xfrm>
            <a:off x="2194560" y="26884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19" name="Shape 41"/>
          <p:cNvSpPr/>
          <p:nvPr/>
        </p:nvSpPr>
        <p:spPr>
          <a:xfrm>
            <a:off x="2788920" y="268848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0" name="Shape 42"/>
          <p:cNvSpPr/>
          <p:nvPr/>
        </p:nvSpPr>
        <p:spPr>
          <a:xfrm>
            <a:off x="3383280" y="268848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1" name="Shape 43"/>
          <p:cNvSpPr/>
          <p:nvPr/>
        </p:nvSpPr>
        <p:spPr>
          <a:xfrm>
            <a:off x="3977640" y="2688480"/>
            <a:ext cx="594000" cy="392760"/>
          </a:xfrm>
          <a:prstGeom prst="rect">
            <a:avLst/>
          </a:prstGeom>
          <a:solidFill>
            <a:srgbClr val="ECFCCB"/>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2" name="Shape 44"/>
          <p:cNvSpPr/>
          <p:nvPr/>
        </p:nvSpPr>
        <p:spPr>
          <a:xfrm>
            <a:off x="4572000" y="26884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3" name="Shape 45"/>
          <p:cNvSpPr/>
          <p:nvPr/>
        </p:nvSpPr>
        <p:spPr>
          <a:xfrm>
            <a:off x="5166360" y="26884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4" name="Shape 46"/>
          <p:cNvSpPr/>
          <p:nvPr/>
        </p:nvSpPr>
        <p:spPr>
          <a:xfrm>
            <a:off x="5760720" y="26884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5" name="Shape 47"/>
          <p:cNvSpPr/>
          <p:nvPr/>
        </p:nvSpPr>
        <p:spPr>
          <a:xfrm>
            <a:off x="6355080" y="2688480"/>
            <a:ext cx="594000" cy="392760"/>
          </a:xfrm>
          <a:prstGeom prst="rect">
            <a:avLst/>
          </a:prstGeom>
          <a:solidFill>
            <a:srgbClr val="FFFFFF"/>
          </a:solidFill>
          <a:ln w="889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6" name="Shape 48"/>
          <p:cNvSpPr/>
          <p:nvPr/>
        </p:nvSpPr>
        <p:spPr>
          <a:xfrm>
            <a:off x="2788920" y="1508760"/>
            <a:ext cx="1782720" cy="1572480"/>
          </a:xfrm>
          <a:prstGeom prst="rect">
            <a:avLst/>
          </a:prstGeom>
          <a:noFill/>
          <a:ln w="254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7" name="Text 49"/>
          <p:cNvSpPr/>
          <p:nvPr/>
        </p:nvSpPr>
        <p:spPr>
          <a:xfrm>
            <a:off x="2699640" y="3246120"/>
            <a:ext cx="1828440" cy="319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10000"/>
          </a:bodyPr>
          <a:lstStyle/>
          <a:p>
            <a:pPr algn="ctr" defTabSz="914400">
              <a:lnSpc>
                <a:spcPct val="100000"/>
              </a:lnSpc>
              <a:tabLst>
                <a:tab pos="0" algn="l"/>
              </a:tabLst>
            </a:pPr>
            <a:r>
              <a:rPr lang="en-US" sz="1200" b="1" u="none" strike="noStrike">
                <a:solidFill>
                  <a:srgbClr val="86B817"/>
                </a:solidFill>
                <a:effectLst/>
                <a:uFillTx/>
                <a:latin typeface="Aptos"/>
                <a:ea typeface="Aptos"/>
              </a:rPr>
              <a:t>kernel window</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86B817"/>
                </a:solidFill>
                <a:effectLst/>
                <a:uFillTx/>
                <a:latin typeface="Aptos"/>
                <a:ea typeface="Aptos"/>
              </a:rPr>
              <a:t>K=3, d=4</a:t>
            </a:r>
            <a:endParaRPr lang="it-IT" sz="1200" b="0" u="none" strike="noStrike">
              <a:solidFill>
                <a:srgbClr val="000000"/>
              </a:solidFill>
              <a:effectLst/>
              <a:uFillTx/>
              <a:latin typeface="Arial"/>
            </a:endParaRPr>
          </a:p>
        </p:txBody>
      </p:sp>
      <p:sp>
        <p:nvSpPr>
          <p:cNvPr id="528" name="Shape 50"/>
          <p:cNvSpPr/>
          <p:nvPr/>
        </p:nvSpPr>
        <p:spPr>
          <a:xfrm>
            <a:off x="7589520" y="1828800"/>
            <a:ext cx="1554120" cy="548280"/>
          </a:xfrm>
          <a:prstGeom prst="roundRect">
            <a:avLst>
              <a:gd name="adj" fmla="val 13333"/>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29" name="Text 51"/>
          <p:cNvSpPr/>
          <p:nvPr/>
        </p:nvSpPr>
        <p:spPr>
          <a:xfrm>
            <a:off x="7635240" y="1865520"/>
            <a:ext cx="1462680" cy="475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learned filter</a:t>
            </a:r>
            <a:endParaRPr lang="it-IT" sz="1400" b="0" u="none" strike="noStrike">
              <a:solidFill>
                <a:srgbClr val="000000"/>
              </a:solidFill>
              <a:effectLst/>
              <a:uFillTx/>
              <a:latin typeface="Arial"/>
            </a:endParaRPr>
          </a:p>
        </p:txBody>
      </p:sp>
      <p:sp>
        <p:nvSpPr>
          <p:cNvPr id="530" name="Shape 52"/>
          <p:cNvSpPr/>
          <p:nvPr/>
        </p:nvSpPr>
        <p:spPr>
          <a:xfrm flipV="1">
            <a:off x="3680280" y="2103120"/>
            <a:ext cx="3909240" cy="19188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31" name="Shape 53"/>
          <p:cNvSpPr/>
          <p:nvPr/>
        </p:nvSpPr>
        <p:spPr>
          <a:xfrm>
            <a:off x="9601200" y="1874520"/>
            <a:ext cx="1142640" cy="456840"/>
          </a:xfrm>
          <a:prstGeom prst="roundRect">
            <a:avLst>
              <a:gd name="adj" fmla="val 16000"/>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32" name="Text 54"/>
          <p:cNvSpPr/>
          <p:nvPr/>
        </p:nvSpPr>
        <p:spPr>
          <a:xfrm>
            <a:off x="9646920" y="1911240"/>
            <a:ext cx="105120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activation</a:t>
            </a:r>
            <a:endParaRPr lang="it-IT" sz="1400" b="0" u="none" strike="noStrike">
              <a:solidFill>
                <a:srgbClr val="000000"/>
              </a:solidFill>
              <a:effectLst/>
              <a:uFillTx/>
              <a:latin typeface="Arial"/>
            </a:endParaRPr>
          </a:p>
        </p:txBody>
      </p:sp>
      <p:sp>
        <p:nvSpPr>
          <p:cNvPr id="533" name="Shape 55"/>
          <p:cNvSpPr/>
          <p:nvPr/>
        </p:nvSpPr>
        <p:spPr>
          <a:xfrm>
            <a:off x="9144000" y="2103120"/>
            <a:ext cx="45720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34" name="Text 56"/>
          <p:cNvSpPr/>
          <p:nvPr/>
        </p:nvSpPr>
        <p:spPr>
          <a:xfrm>
            <a:off x="1828800" y="4937760"/>
            <a:ext cx="7680600" cy="411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0F172A"/>
                </a:solidFill>
                <a:effectLst/>
                <a:uFillTx/>
                <a:latin typeface="Aptos"/>
                <a:ea typeface="Aptos"/>
              </a:rPr>
              <a:t>Example pattern: vibration rises while load and temperature change together.</a:t>
            </a:r>
            <a:endParaRPr lang="it-IT" sz="1500" b="0" u="none" strike="noStrike">
              <a:solidFill>
                <a:srgbClr val="000000"/>
              </a:solidFill>
              <a:effectLst/>
              <a:uFillTx/>
              <a:latin typeface="Arial"/>
            </a:endParaRPr>
          </a:p>
        </p:txBody>
      </p:sp>
      <p:sp>
        <p:nvSpPr>
          <p:cNvPr id="535" name="PlaceHolder 1"/>
          <p:cNvSpPr>
            <a:spLocks noGrp="1"/>
          </p:cNvSpPr>
          <p:nvPr>
            <p:ph type="sldNum" idx="15"/>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2C6C5EED-1261-4186-8FAE-1E758F6B77BC}" type="slidenum">
              <a:rPr lang="en-US" sz="1200" b="0" u="none" strike="noStrike">
                <a:solidFill>
                  <a:srgbClr val="64748B"/>
                </a:solidFill>
                <a:effectLst/>
                <a:uFillTx/>
                <a:latin typeface="Aptos"/>
              </a:rPr>
              <a:t>226</a:t>
            </a:fld>
            <a:endParaRPr lang="it-IT" sz="1200" b="0" u="none" strike="noStrike">
              <a:solidFill>
                <a:srgbClr val="000000"/>
              </a:solidFill>
              <a:effectLst/>
              <a:uFillTx/>
              <a:latin typeface="Times New Roman"/>
            </a:endParaRP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C7F93B-C763-EAA6-9815-41D8BD01F5C2}"/>
              </a:ext>
            </a:extLst>
          </p:cNvPr>
          <p:cNvSpPr>
            <a:spLocks noGrp="1"/>
          </p:cNvSpPr>
          <p:nvPr>
            <p:ph type="title"/>
          </p:nvPr>
        </p:nvSpPr>
        <p:spPr/>
        <p:txBody>
          <a:bodyPr/>
          <a:lstStyle/>
          <a:p>
            <a:r>
              <a:rPr lang="en-GB" dirty="0"/>
              <a:t>Choosing the architecture from the task (wrap-up)</a:t>
            </a:r>
          </a:p>
        </p:txBody>
      </p:sp>
      <p:sp>
        <p:nvSpPr>
          <p:cNvPr id="3" name="Segnaposto contenuto 2">
            <a:extLst>
              <a:ext uri="{FF2B5EF4-FFF2-40B4-BE49-F238E27FC236}">
                <a16:creationId xmlns:a16="http://schemas.microsoft.com/office/drawing/2014/main" id="{A2529435-F452-4B35-27F3-B42DACF9E24A}"/>
              </a:ext>
            </a:extLst>
          </p:cNvPr>
          <p:cNvSpPr>
            <a:spLocks noGrp="1"/>
          </p:cNvSpPr>
          <p:nvPr>
            <p:ph sz="half" idx="1"/>
          </p:nvPr>
        </p:nvSpPr>
        <p:spPr>
          <a:xfrm>
            <a:off x="677334" y="2160588"/>
            <a:ext cx="5159586" cy="4362131"/>
          </a:xfrm>
        </p:spPr>
        <p:txBody>
          <a:bodyPr>
            <a:normAutofit fontScale="92500" lnSpcReduction="10000"/>
          </a:bodyPr>
          <a:lstStyle/>
          <a:p>
            <a:r>
              <a:rPr lang="en-GB" b="1" dirty="0"/>
              <a:t>Window classification</a:t>
            </a:r>
          </a:p>
          <a:p>
            <a:r>
              <a:rPr lang="en-GB" dirty="0"/>
              <a:t>Often use:</a:t>
            </a:r>
          </a:p>
          <a:p>
            <a:pPr lvl="1"/>
            <a:r>
              <a:rPr lang="en-GB" dirty="0"/>
              <a:t>non-causal CNN; </a:t>
            </a:r>
          </a:p>
          <a:p>
            <a:pPr lvl="1"/>
            <a:r>
              <a:rPr lang="en-GB" dirty="0" err="1"/>
              <a:t>downsampling</a:t>
            </a:r>
            <a:r>
              <a:rPr lang="en-GB" dirty="0"/>
              <a:t>; </a:t>
            </a:r>
          </a:p>
          <a:p>
            <a:pPr lvl="1"/>
            <a:r>
              <a:rPr lang="en-GB" dirty="0"/>
              <a:t>global pooling. </a:t>
            </a:r>
          </a:p>
          <a:p>
            <a:r>
              <a:rPr lang="en-GB" b="1" dirty="0"/>
              <a:t>Sequence labelling</a:t>
            </a:r>
          </a:p>
          <a:p>
            <a:r>
              <a:rPr lang="en-GB" dirty="0"/>
              <a:t>Often use:</a:t>
            </a:r>
          </a:p>
          <a:p>
            <a:pPr lvl="1"/>
            <a:r>
              <a:rPr lang="en-GB" dirty="0"/>
              <a:t>same padding; </a:t>
            </a:r>
          </a:p>
          <a:p>
            <a:pPr lvl="1"/>
            <a:r>
              <a:rPr lang="en-GB" dirty="0"/>
              <a:t>limited </a:t>
            </a:r>
            <a:r>
              <a:rPr lang="en-GB" dirty="0" err="1"/>
              <a:t>downsampling</a:t>
            </a:r>
            <a:r>
              <a:rPr lang="en-GB" dirty="0"/>
              <a:t>; </a:t>
            </a:r>
          </a:p>
          <a:p>
            <a:pPr lvl="1"/>
            <a:r>
              <a:rPr lang="en-GB" dirty="0"/>
              <a:t>causal or non-causal depending on deployment. </a:t>
            </a:r>
          </a:p>
          <a:p>
            <a:endParaRPr lang="en-GB" dirty="0"/>
          </a:p>
        </p:txBody>
      </p:sp>
      <p:sp>
        <p:nvSpPr>
          <p:cNvPr id="4" name="Segnaposto contenuto 3">
            <a:extLst>
              <a:ext uri="{FF2B5EF4-FFF2-40B4-BE49-F238E27FC236}">
                <a16:creationId xmlns:a16="http://schemas.microsoft.com/office/drawing/2014/main" id="{DFA6BE33-81D6-7192-EC7F-DB52D9142F3C}"/>
              </a:ext>
            </a:extLst>
          </p:cNvPr>
          <p:cNvSpPr>
            <a:spLocks noGrp="1"/>
          </p:cNvSpPr>
          <p:nvPr>
            <p:ph sz="half" idx="2"/>
          </p:nvPr>
        </p:nvSpPr>
        <p:spPr>
          <a:xfrm>
            <a:off x="6096000" y="2160589"/>
            <a:ext cx="5943790" cy="4560251"/>
          </a:xfrm>
        </p:spPr>
        <p:txBody>
          <a:bodyPr>
            <a:normAutofit fontScale="92500" lnSpcReduction="10000"/>
          </a:bodyPr>
          <a:lstStyle/>
          <a:p>
            <a:r>
              <a:rPr lang="en-GB" b="1" dirty="0"/>
              <a:t>Forecasting</a:t>
            </a:r>
          </a:p>
          <a:p>
            <a:r>
              <a:rPr lang="en-GB" dirty="0"/>
              <a:t>Use:</a:t>
            </a:r>
          </a:p>
          <a:p>
            <a:pPr lvl="1"/>
            <a:r>
              <a:rPr lang="en-GB" dirty="0"/>
              <a:t>causal convolution; </a:t>
            </a:r>
          </a:p>
          <a:p>
            <a:pPr lvl="1"/>
            <a:r>
              <a:rPr lang="en-GB" dirty="0"/>
              <a:t>sufficient receptive field; </a:t>
            </a:r>
          </a:p>
          <a:p>
            <a:pPr lvl="1"/>
            <a:r>
              <a:rPr lang="en-GB" dirty="0">
                <a:solidFill>
                  <a:schemeClr val="tx1"/>
                </a:solidFill>
              </a:rPr>
              <a:t>direct or recursive output strategy. </a:t>
            </a:r>
          </a:p>
          <a:p>
            <a:r>
              <a:rPr lang="en-GB" b="1" dirty="0">
                <a:solidFill>
                  <a:schemeClr val="tx1"/>
                </a:solidFill>
              </a:rPr>
              <a:t>Regression from sequence</a:t>
            </a:r>
          </a:p>
          <a:p>
            <a:r>
              <a:rPr lang="en-GB" dirty="0"/>
              <a:t>Often use:</a:t>
            </a:r>
          </a:p>
          <a:p>
            <a:pPr lvl="1"/>
            <a:r>
              <a:rPr lang="en-GB" dirty="0"/>
              <a:t>convolutional stack; </a:t>
            </a:r>
          </a:p>
          <a:p>
            <a:pPr lvl="1"/>
            <a:r>
              <a:rPr lang="en-GB" dirty="0"/>
              <a:t>global pooling; </a:t>
            </a:r>
          </a:p>
          <a:p>
            <a:pPr lvl="1"/>
            <a:r>
              <a:rPr lang="en-GB" dirty="0"/>
              <a:t>regression head. </a:t>
            </a:r>
          </a:p>
          <a:p>
            <a:pPr marL="0" indent="0">
              <a:buNone/>
            </a:pPr>
            <a:endParaRPr lang="en-GB" b="1" dirty="0"/>
          </a:p>
          <a:p>
            <a:r>
              <a:rPr lang="en-GB" dirty="0"/>
              <a:t>The correct CNN architecture follows from the prediction-time and output requirements.</a:t>
            </a:r>
          </a:p>
          <a:p>
            <a:endParaRPr lang="en-GB" dirty="0"/>
          </a:p>
        </p:txBody>
      </p:sp>
    </p:spTree>
    <p:extLst>
      <p:ext uri="{BB962C8B-B14F-4D97-AF65-F5344CB8AC3E}">
        <p14:creationId xmlns:p14="http://schemas.microsoft.com/office/powerpoint/2010/main" val="1644574023"/>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BF3D24E-E61E-FD66-8C67-3460E901A800}"/>
              </a:ext>
            </a:extLst>
          </p:cNvPr>
          <p:cNvSpPr>
            <a:spLocks noGrp="1"/>
          </p:cNvSpPr>
          <p:nvPr>
            <p:ph type="title"/>
          </p:nvPr>
        </p:nvSpPr>
        <p:spPr/>
        <p:txBody>
          <a:bodyPr/>
          <a:lstStyle/>
          <a:p>
            <a:r>
              <a:rPr lang="en-GB" dirty="0"/>
              <a:t>Convolutional output structure and tensor shapes</a:t>
            </a:r>
          </a:p>
        </p:txBody>
      </p:sp>
      <p:pic>
        <p:nvPicPr>
          <p:cNvPr id="5" name="Segnaposto contenuto 4">
            <a:extLst>
              <a:ext uri="{FF2B5EF4-FFF2-40B4-BE49-F238E27FC236}">
                <a16:creationId xmlns:a16="http://schemas.microsoft.com/office/drawing/2014/main" id="{B21E8DFF-6D70-CB45-357D-93418B0466D9}"/>
              </a:ext>
            </a:extLst>
          </p:cNvPr>
          <p:cNvPicPr>
            <a:picLocks noGrp="1" noChangeAspect="1"/>
          </p:cNvPicPr>
          <p:nvPr>
            <p:ph idx="1"/>
          </p:nvPr>
        </p:nvPicPr>
        <p:blipFill>
          <a:blip r:embed="rId2"/>
          <a:stretch>
            <a:fillRect/>
          </a:stretch>
        </p:blipFill>
        <p:spPr>
          <a:xfrm>
            <a:off x="853320" y="1991003"/>
            <a:ext cx="7081961" cy="3027917"/>
          </a:xfrm>
          <a:prstGeom prst="rect">
            <a:avLst/>
          </a:prstGeom>
        </p:spPr>
      </p:pic>
      <p:sp>
        <p:nvSpPr>
          <p:cNvPr id="7" name="CasellaDiTesto 6">
            <a:extLst>
              <a:ext uri="{FF2B5EF4-FFF2-40B4-BE49-F238E27FC236}">
                <a16:creationId xmlns:a16="http://schemas.microsoft.com/office/drawing/2014/main" id="{B0F1BFBA-14BC-B088-EB4A-F22CF463D891}"/>
              </a:ext>
            </a:extLst>
          </p:cNvPr>
          <p:cNvSpPr txBox="1"/>
          <p:nvPr/>
        </p:nvSpPr>
        <p:spPr>
          <a:xfrm>
            <a:off x="7055757" y="4828765"/>
            <a:ext cx="6110514" cy="1754326"/>
          </a:xfrm>
          <a:prstGeom prst="rect">
            <a:avLst/>
          </a:prstGeom>
          <a:noFill/>
        </p:spPr>
        <p:txBody>
          <a:bodyPr wrap="square">
            <a:spAutoFit/>
          </a:bodyPr>
          <a:lstStyle/>
          <a:p>
            <a:pPr marL="342900" lvl="0" indent="-342900">
              <a:buFont typeface="Arial" panose="020B0604020202020204" pitchFamily="34" charset="0"/>
              <a:buChar char="•"/>
            </a:pPr>
            <a:r>
              <a:rPr lang="en-GB" dirty="0">
                <a:latin typeface="Courier New" panose="02070309020205020404" pitchFamily="49" charset="0"/>
              </a:rPr>
              <a:t>L</a:t>
            </a:r>
            <a:r>
              <a:rPr lang="en-GB" dirty="0"/>
              <a:t> = original temporal length; </a:t>
            </a:r>
          </a:p>
          <a:p>
            <a:pPr marL="342900" lvl="0" indent="-342900">
              <a:buFont typeface="Arial" panose="020B0604020202020204" pitchFamily="34" charset="0"/>
              <a:buChar char="•"/>
            </a:pPr>
            <a:r>
              <a:rPr lang="en-GB" dirty="0">
                <a:latin typeface="Courier New" panose="02070309020205020404" pitchFamily="49" charset="0"/>
              </a:rPr>
              <a:t>L'</a:t>
            </a:r>
            <a:r>
              <a:rPr lang="en-GB" dirty="0"/>
              <a:t> = possibly transformed temporal length; </a:t>
            </a:r>
          </a:p>
          <a:p>
            <a:pPr marL="342900" lvl="0" indent="-342900">
              <a:buFont typeface="Arial" panose="020B0604020202020204" pitchFamily="34" charset="0"/>
              <a:buChar char="•"/>
            </a:pPr>
            <a:r>
              <a:rPr lang="en-GB" dirty="0">
                <a:latin typeface="Courier New" panose="02070309020205020404" pitchFamily="49" charset="0"/>
              </a:rPr>
              <a:t>F</a:t>
            </a:r>
            <a:r>
              <a:rPr lang="en-GB" dirty="0"/>
              <a:t> = learned convolutional channels; </a:t>
            </a:r>
          </a:p>
          <a:p>
            <a:pPr marL="342900" lvl="0" indent="-342900">
              <a:buFont typeface="Arial" panose="020B0604020202020204" pitchFamily="34" charset="0"/>
              <a:buChar char="•"/>
            </a:pPr>
            <a:r>
              <a:rPr lang="en-GB" dirty="0">
                <a:latin typeface="Courier New" panose="02070309020205020404" pitchFamily="49" charset="0"/>
              </a:rPr>
              <a:t>K</a:t>
            </a:r>
            <a:r>
              <a:rPr lang="en-GB" dirty="0"/>
              <a:t> = number of classes; </a:t>
            </a:r>
          </a:p>
          <a:p>
            <a:pPr marL="342900" lvl="0" indent="-342900">
              <a:buFont typeface="Arial" panose="020B0604020202020204" pitchFamily="34" charset="0"/>
              <a:buChar char="•"/>
            </a:pPr>
            <a:r>
              <a:rPr lang="en-GB" dirty="0">
                <a:latin typeface="Courier New" panose="02070309020205020404" pitchFamily="49" charset="0"/>
              </a:rPr>
              <a:t>H</a:t>
            </a:r>
            <a:r>
              <a:rPr lang="en-GB" dirty="0"/>
              <a:t> = forecast horizon; </a:t>
            </a:r>
          </a:p>
          <a:p>
            <a:pPr marL="342900" lvl="0" indent="-342900">
              <a:buFont typeface="Arial" panose="020B0604020202020204" pitchFamily="34" charset="0"/>
              <a:buChar char="•"/>
            </a:pPr>
            <a:r>
              <a:rPr lang="en-GB" dirty="0">
                <a:latin typeface="Courier New" panose="02070309020205020404" pitchFamily="49" charset="0"/>
              </a:rPr>
              <a:t>q</a:t>
            </a:r>
            <a:r>
              <a:rPr lang="en-GB" dirty="0"/>
              <a:t> = number of continuous target variables.</a:t>
            </a:r>
          </a:p>
        </p:txBody>
      </p:sp>
    </p:spTree>
    <p:extLst>
      <p:ext uri="{BB962C8B-B14F-4D97-AF65-F5344CB8AC3E}">
        <p14:creationId xmlns:p14="http://schemas.microsoft.com/office/powerpoint/2010/main" val="2364954952"/>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57778EE-5901-031A-7F8A-E1E0D2AE9447}"/>
              </a:ext>
            </a:extLst>
          </p:cNvPr>
          <p:cNvSpPr>
            <a:spLocks noGrp="1"/>
          </p:cNvSpPr>
          <p:nvPr>
            <p:ph type="title"/>
          </p:nvPr>
        </p:nvSpPr>
        <p:spPr/>
        <p:txBody>
          <a:bodyPr/>
          <a:lstStyle/>
          <a:p>
            <a:r>
              <a:rPr lang="en-GB" dirty="0"/>
              <a:t>Block 5.K — Multiscale Temporal Patterns</a:t>
            </a:r>
          </a:p>
        </p:txBody>
      </p:sp>
      <p:sp>
        <p:nvSpPr>
          <p:cNvPr id="3" name="Segnaposto contenuto 2">
            <a:extLst>
              <a:ext uri="{FF2B5EF4-FFF2-40B4-BE49-F238E27FC236}">
                <a16:creationId xmlns:a16="http://schemas.microsoft.com/office/drawing/2014/main" id="{AEA5AF91-55AC-975F-8E39-C720F120534B}"/>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215669182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F290077-8737-DC6C-798D-E93C222C1854}"/>
              </a:ext>
            </a:extLst>
          </p:cNvPr>
          <p:cNvSpPr>
            <a:spLocks noGrp="1"/>
          </p:cNvSpPr>
          <p:nvPr>
            <p:ph type="title"/>
          </p:nvPr>
        </p:nvSpPr>
        <p:spPr/>
        <p:txBody>
          <a:bodyPr/>
          <a:lstStyle/>
          <a:p>
            <a:r>
              <a:rPr lang="en-GB" dirty="0"/>
              <a:t>Real temporal patterns occur at different scales</a:t>
            </a:r>
          </a:p>
        </p:txBody>
      </p:sp>
      <p:sp>
        <p:nvSpPr>
          <p:cNvPr id="3" name="Segnaposto contenuto 2">
            <a:extLst>
              <a:ext uri="{FF2B5EF4-FFF2-40B4-BE49-F238E27FC236}">
                <a16:creationId xmlns:a16="http://schemas.microsoft.com/office/drawing/2014/main" id="{39122542-D421-E4BA-5313-913EF5A1FCE7}"/>
              </a:ext>
            </a:extLst>
          </p:cNvPr>
          <p:cNvSpPr>
            <a:spLocks noGrp="1"/>
          </p:cNvSpPr>
          <p:nvPr>
            <p:ph sz="half" idx="1"/>
          </p:nvPr>
        </p:nvSpPr>
        <p:spPr>
          <a:xfrm>
            <a:off x="677334" y="2160588"/>
            <a:ext cx="5220356" cy="4697411"/>
          </a:xfrm>
        </p:spPr>
        <p:txBody>
          <a:bodyPr>
            <a:normAutofit/>
          </a:bodyPr>
          <a:lstStyle/>
          <a:p>
            <a:r>
              <a:rPr lang="en-GB" dirty="0"/>
              <a:t>A single temporal signal may contain phenomena of very different durations.</a:t>
            </a:r>
          </a:p>
          <a:p>
            <a:pPr lvl="1"/>
            <a:r>
              <a:rPr lang="en-GB" dirty="0"/>
              <a:t>Example in industrial monitoring:</a:t>
            </a:r>
          </a:p>
          <a:p>
            <a:pPr lvl="1"/>
            <a:r>
              <a:rPr lang="en-GB" dirty="0"/>
              <a:t>short vibration impulse: milliseconds; </a:t>
            </a:r>
          </a:p>
          <a:p>
            <a:pPr lvl="1"/>
            <a:r>
              <a:rPr lang="en-GB" dirty="0"/>
              <a:t>mechanical oscillation: fractions of a second; </a:t>
            </a:r>
          </a:p>
          <a:p>
            <a:pPr lvl="1"/>
            <a:r>
              <a:rPr lang="en-GB" dirty="0"/>
              <a:t>thermal drift: minutes; </a:t>
            </a:r>
          </a:p>
          <a:p>
            <a:pPr lvl="1"/>
            <a:r>
              <a:rPr lang="en-GB" dirty="0"/>
              <a:t>operating-cycle change: hours. </a:t>
            </a:r>
          </a:p>
          <a:p>
            <a:r>
              <a:rPr lang="en-GB" dirty="0"/>
              <a:t>A single kernel size emphasizes one local temporal scale.</a:t>
            </a:r>
          </a:p>
          <a:p>
            <a:endParaRPr lang="en-GB" dirty="0"/>
          </a:p>
        </p:txBody>
      </p:sp>
      <p:sp>
        <p:nvSpPr>
          <p:cNvPr id="4" name="Segnaposto contenuto 3">
            <a:extLst>
              <a:ext uri="{FF2B5EF4-FFF2-40B4-BE49-F238E27FC236}">
                <a16:creationId xmlns:a16="http://schemas.microsoft.com/office/drawing/2014/main" id="{1CEDD2A7-E7BF-79F8-C061-CC501D30B0F2}"/>
              </a:ext>
            </a:extLst>
          </p:cNvPr>
          <p:cNvSpPr>
            <a:spLocks noGrp="1"/>
          </p:cNvSpPr>
          <p:nvPr>
            <p:ph sz="half" idx="2"/>
          </p:nvPr>
        </p:nvSpPr>
        <p:spPr>
          <a:xfrm>
            <a:off x="5897690" y="2160589"/>
            <a:ext cx="6096190" cy="4392611"/>
          </a:xfrm>
        </p:spPr>
        <p:txBody>
          <a:bodyPr>
            <a:normAutofit/>
          </a:bodyPr>
          <a:lstStyle/>
          <a:p>
            <a:r>
              <a:rPr lang="en-GB" b="1" dirty="0"/>
              <a:t>Example</a:t>
            </a:r>
          </a:p>
          <a:p>
            <a:r>
              <a:rPr lang="en-GB" dirty="0"/>
              <a:t>At 100 Hz:</a:t>
            </a:r>
          </a:p>
          <a:p>
            <a:pPr lvl="1"/>
            <a:r>
              <a:rPr lang="en-GB" dirty="0"/>
              <a:t>K = 5 covers: 0.05 s</a:t>
            </a:r>
          </a:p>
          <a:p>
            <a:pPr lvl="1"/>
            <a:r>
              <a:rPr lang="en-GB" dirty="0"/>
              <a:t>while: K = 100 covers: 1 s</a:t>
            </a:r>
          </a:p>
          <a:p>
            <a:endParaRPr lang="en-GB" b="1" dirty="0"/>
          </a:p>
          <a:p>
            <a:r>
              <a:rPr lang="en-GB" b="1" dirty="0"/>
              <a:t>Question</a:t>
            </a:r>
          </a:p>
          <a:p>
            <a:r>
              <a:rPr lang="en-GB" dirty="0"/>
              <a:t>What if relevant patterns exist at several temporal scales simultaneously?</a:t>
            </a:r>
          </a:p>
          <a:p>
            <a:r>
              <a:rPr lang="en-GB" b="1" dirty="0"/>
              <a:t>This motivates multiscale convolutional architectures.</a:t>
            </a:r>
          </a:p>
          <a:p>
            <a:endParaRPr lang="en-GB" dirty="0"/>
          </a:p>
        </p:txBody>
      </p:sp>
      <p:sp>
        <p:nvSpPr>
          <p:cNvPr id="5" name="CasellaDiTesto 4">
            <a:extLst>
              <a:ext uri="{FF2B5EF4-FFF2-40B4-BE49-F238E27FC236}">
                <a16:creationId xmlns:a16="http://schemas.microsoft.com/office/drawing/2014/main" id="{406FECCB-3FB2-AD64-90AB-AE5FC7B1A8FE}"/>
              </a:ext>
            </a:extLst>
          </p:cNvPr>
          <p:cNvSpPr txBox="1"/>
          <p:nvPr/>
        </p:nvSpPr>
        <p:spPr>
          <a:xfrm>
            <a:off x="586239" y="5586680"/>
            <a:ext cx="5708073" cy="1323439"/>
          </a:xfrm>
          <a:prstGeom prst="rect">
            <a:avLst/>
          </a:prstGeom>
          <a:noFill/>
        </p:spPr>
        <p:txBody>
          <a:bodyPr wrap="square" rtlCol="0">
            <a:spAutoFit/>
          </a:bodyPr>
          <a:lstStyle/>
          <a:p>
            <a:r>
              <a:rPr lang="en-GB" sz="1600" b="1" dirty="0">
                <a:highlight>
                  <a:srgbClr val="FFFF00"/>
                </a:highlight>
              </a:rPr>
              <a:t>N.B. Deep CNNs </a:t>
            </a:r>
            <a:r>
              <a:rPr lang="en-GB" sz="1600" b="1" dirty="0"/>
              <a:t>can also build multiscale representations progressively. </a:t>
            </a:r>
            <a:br>
              <a:rPr lang="en-GB" sz="1600" b="1" dirty="0"/>
            </a:br>
            <a:r>
              <a:rPr lang="en-GB" sz="1600" b="1" dirty="0">
                <a:highlight>
                  <a:srgbClr val="FFFF00"/>
                </a:highlight>
              </a:rPr>
              <a:t>Parallel multiscale convolutions </a:t>
            </a:r>
            <a:r>
              <a:rPr lang="en-GB" sz="1600" b="1" dirty="0"/>
              <a:t>provide a more explicit and direct way to capture several temporal scales simultaneously.</a:t>
            </a:r>
            <a:endParaRPr lang="en-GB" sz="1600" b="1" dirty="0">
              <a:solidFill>
                <a:srgbClr val="FF0000"/>
              </a:solidFill>
            </a:endParaRPr>
          </a:p>
        </p:txBody>
      </p:sp>
    </p:spTree>
    <p:extLst>
      <p:ext uri="{BB962C8B-B14F-4D97-AF65-F5344CB8AC3E}">
        <p14:creationId xmlns:p14="http://schemas.microsoft.com/office/powerpoint/2010/main" val="39775743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dirty="0">
                <a:solidFill>
                  <a:srgbClr val="0F172A"/>
                </a:solidFill>
                <a:effectLst/>
                <a:uFillTx/>
                <a:latin typeface="Aptos Display"/>
                <a:ea typeface="Aptos Display"/>
              </a:rPr>
              <a:t>Real temporal patterns occur at </a:t>
            </a:r>
            <a:r>
              <a:rPr lang="en-US" sz="3000" b="1" u="none" strike="noStrike" dirty="0">
                <a:solidFill>
                  <a:srgbClr val="0F172A"/>
                </a:solidFill>
                <a:effectLst/>
                <a:highlight>
                  <a:srgbClr val="FFFF00"/>
                </a:highlight>
                <a:uFillTx/>
                <a:latin typeface="Aptos Display"/>
                <a:ea typeface="Aptos Display"/>
              </a:rPr>
              <a:t>different scales</a:t>
            </a:r>
            <a:endParaRPr lang="it-IT" sz="3000" b="0" u="none" strike="noStrike" dirty="0">
              <a:solidFill>
                <a:srgbClr val="000000"/>
              </a:solidFill>
              <a:effectLst/>
              <a:highlight>
                <a:srgbClr val="FFFF00"/>
              </a:highlight>
              <a:uFillTx/>
              <a:latin typeface="Arial"/>
            </a:endParaRPr>
          </a:p>
        </p:txBody>
      </p:sp>
      <p:sp>
        <p:nvSpPr>
          <p:cNvPr id="537"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Architecture should reflect physical time scales</a:t>
            </a:r>
            <a:endParaRPr lang="it-IT" sz="1500" b="0" u="none" strike="noStrike">
              <a:solidFill>
                <a:srgbClr val="000000"/>
              </a:solidFill>
              <a:effectLst/>
              <a:uFillTx/>
              <a:latin typeface="Arial"/>
            </a:endParaRPr>
          </a:p>
        </p:txBody>
      </p:sp>
      <p:sp>
        <p:nvSpPr>
          <p:cNvPr id="538" name="Shape 2"/>
          <p:cNvSpPr/>
          <p:nvPr/>
        </p:nvSpPr>
        <p:spPr>
          <a:xfrm>
            <a:off x="914400" y="3931920"/>
            <a:ext cx="877824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39" name="Shape 3"/>
          <p:cNvSpPr/>
          <p:nvPr/>
        </p:nvSpPr>
        <p:spPr>
          <a:xfrm>
            <a:off x="1371600" y="3931920"/>
            <a:ext cx="365760" cy="360"/>
          </a:xfrm>
          <a:prstGeom prst="line">
            <a:avLst/>
          </a:prstGeom>
          <a:ln w="25400">
            <a:solidFill>
              <a:srgbClr val="2563EB"/>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40" name="Shape 4"/>
          <p:cNvSpPr/>
          <p:nvPr/>
        </p:nvSpPr>
        <p:spPr>
          <a:xfrm flipV="1">
            <a:off x="1737360" y="3291840"/>
            <a:ext cx="45720" cy="640080"/>
          </a:xfrm>
          <a:prstGeom prst="line">
            <a:avLst/>
          </a:prstGeom>
          <a:ln w="254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41" name="Shape 5"/>
          <p:cNvSpPr/>
          <p:nvPr/>
        </p:nvSpPr>
        <p:spPr>
          <a:xfrm>
            <a:off x="1783080" y="3291840"/>
            <a:ext cx="45720" cy="640080"/>
          </a:xfrm>
          <a:prstGeom prst="line">
            <a:avLst/>
          </a:prstGeom>
          <a:ln w="254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42" name="Shape 6"/>
          <p:cNvSpPr/>
          <p:nvPr/>
        </p:nvSpPr>
        <p:spPr>
          <a:xfrm>
            <a:off x="1828800" y="3931920"/>
            <a:ext cx="365760" cy="360"/>
          </a:xfrm>
          <a:prstGeom prst="line">
            <a:avLst/>
          </a:prstGeom>
          <a:ln w="25400">
            <a:solidFill>
              <a:srgbClr val="2563EB"/>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543" name="Text 7"/>
          <p:cNvSpPr/>
          <p:nvPr/>
        </p:nvSpPr>
        <p:spPr>
          <a:xfrm>
            <a:off x="1234440" y="4297680"/>
            <a:ext cx="1096920" cy="456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100" b="1" u="none" strike="noStrike">
                <a:solidFill>
                  <a:srgbClr val="2563EB"/>
                </a:solidFill>
                <a:effectLst/>
                <a:uFillTx/>
                <a:latin typeface="Aptos"/>
                <a:ea typeface="Aptos"/>
              </a:rPr>
              <a:t>20 ms</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2563EB"/>
                </a:solidFill>
                <a:effectLst/>
                <a:uFillTx/>
                <a:latin typeface="Aptos"/>
                <a:ea typeface="Aptos"/>
              </a:rPr>
              <a:t>impulse</a:t>
            </a:r>
            <a:endParaRPr lang="it-IT" sz="1100" b="0" u="none" strike="noStrike">
              <a:solidFill>
                <a:srgbClr val="000000"/>
              </a:solidFill>
              <a:effectLst/>
              <a:uFillTx/>
              <a:latin typeface="Arial"/>
            </a:endParaRPr>
          </a:p>
        </p:txBody>
      </p:sp>
      <p:sp>
        <p:nvSpPr>
          <p:cNvPr id="544" name="Shape 8"/>
          <p:cNvSpPr/>
          <p:nvPr/>
        </p:nvSpPr>
        <p:spPr>
          <a:xfrm flipV="1">
            <a:off x="3657600" y="3616560"/>
            <a:ext cx="50040" cy="31536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45" name="Shape 9"/>
          <p:cNvSpPr/>
          <p:nvPr/>
        </p:nvSpPr>
        <p:spPr>
          <a:xfrm flipV="1">
            <a:off x="3707640" y="3510000"/>
            <a:ext cx="50400" cy="10656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46" name="Shape 10"/>
          <p:cNvSpPr/>
          <p:nvPr/>
        </p:nvSpPr>
        <p:spPr>
          <a:xfrm>
            <a:off x="3758040" y="3510000"/>
            <a:ext cx="50400" cy="14796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47" name="Shape 11"/>
          <p:cNvSpPr/>
          <p:nvPr/>
        </p:nvSpPr>
        <p:spPr>
          <a:xfrm>
            <a:off x="3808440" y="3657960"/>
            <a:ext cx="50040" cy="29664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48" name="Shape 12"/>
          <p:cNvSpPr/>
          <p:nvPr/>
        </p:nvSpPr>
        <p:spPr>
          <a:xfrm>
            <a:off x="3858480" y="3954600"/>
            <a:ext cx="50400" cy="26028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49" name="Shape 13"/>
          <p:cNvSpPr/>
          <p:nvPr/>
        </p:nvSpPr>
        <p:spPr>
          <a:xfrm>
            <a:off x="3908880" y="4214880"/>
            <a:ext cx="50400" cy="7524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30240" rIns="90000" bIns="30240" anchor="t" anchorCtr="1">
            <a:noAutofit/>
          </a:bodyPr>
          <a:lstStyle/>
          <a:p>
            <a:endParaRPr lang="it-IT" sz="1800" b="0" u="none" strike="noStrike">
              <a:solidFill>
                <a:srgbClr val="000000"/>
              </a:solidFill>
              <a:effectLst/>
              <a:uFillTx/>
              <a:latin typeface="Arial"/>
            </a:endParaRPr>
          </a:p>
        </p:txBody>
      </p:sp>
      <p:sp>
        <p:nvSpPr>
          <p:cNvPr id="550" name="Shape 14"/>
          <p:cNvSpPr/>
          <p:nvPr/>
        </p:nvSpPr>
        <p:spPr>
          <a:xfrm flipV="1">
            <a:off x="3959280" y="4149720"/>
            <a:ext cx="50040" cy="14040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51" name="Shape 15"/>
          <p:cNvSpPr/>
          <p:nvPr/>
        </p:nvSpPr>
        <p:spPr>
          <a:xfrm flipV="1">
            <a:off x="4009320" y="3893040"/>
            <a:ext cx="50400" cy="25668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52" name="Shape 16"/>
          <p:cNvSpPr/>
          <p:nvPr/>
        </p:nvSpPr>
        <p:spPr>
          <a:xfrm flipV="1">
            <a:off x="4059720" y="3678480"/>
            <a:ext cx="50400" cy="21456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53" name="Shape 17"/>
          <p:cNvSpPr/>
          <p:nvPr/>
        </p:nvSpPr>
        <p:spPr>
          <a:xfrm flipV="1">
            <a:off x="4110120" y="3628440"/>
            <a:ext cx="50400" cy="5004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5040" rIns="90000" bIns="5040" anchor="t" anchorCtr="1">
            <a:noAutofit/>
          </a:bodyPr>
          <a:lstStyle/>
          <a:p>
            <a:endParaRPr lang="it-IT" sz="1800" b="0" u="none" strike="noStrike">
              <a:solidFill>
                <a:srgbClr val="000000"/>
              </a:solidFill>
              <a:effectLst/>
              <a:uFillTx/>
              <a:latin typeface="Arial"/>
            </a:endParaRPr>
          </a:p>
        </p:txBody>
      </p:sp>
      <p:sp>
        <p:nvSpPr>
          <p:cNvPr id="554" name="Shape 18"/>
          <p:cNvSpPr/>
          <p:nvPr/>
        </p:nvSpPr>
        <p:spPr>
          <a:xfrm>
            <a:off x="4160520" y="3628440"/>
            <a:ext cx="50040" cy="13104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55" name="Shape 19"/>
          <p:cNvSpPr/>
          <p:nvPr/>
        </p:nvSpPr>
        <p:spPr>
          <a:xfrm>
            <a:off x="4210560" y="3759480"/>
            <a:ext cx="50400" cy="22140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56" name="Shape 20"/>
          <p:cNvSpPr/>
          <p:nvPr/>
        </p:nvSpPr>
        <p:spPr>
          <a:xfrm>
            <a:off x="4260960" y="3980880"/>
            <a:ext cx="50400" cy="17604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57" name="Shape 21"/>
          <p:cNvSpPr/>
          <p:nvPr/>
        </p:nvSpPr>
        <p:spPr>
          <a:xfrm>
            <a:off x="4311360" y="4156920"/>
            <a:ext cx="50040" cy="3060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14400" rIns="90000" bIns="-14400" anchor="t" anchorCtr="1">
            <a:noAutofit/>
          </a:bodyPr>
          <a:lstStyle/>
          <a:p>
            <a:endParaRPr lang="it-IT" sz="1800" b="0" u="none" strike="noStrike">
              <a:solidFill>
                <a:srgbClr val="000000"/>
              </a:solidFill>
              <a:effectLst/>
              <a:uFillTx/>
              <a:latin typeface="Arial"/>
            </a:endParaRPr>
          </a:p>
        </p:txBody>
      </p:sp>
      <p:sp>
        <p:nvSpPr>
          <p:cNvPr id="558" name="Shape 22"/>
          <p:cNvSpPr/>
          <p:nvPr/>
        </p:nvSpPr>
        <p:spPr>
          <a:xfrm flipV="1">
            <a:off x="4361400" y="4066200"/>
            <a:ext cx="50400" cy="12132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59" name="Shape 23"/>
          <p:cNvSpPr/>
          <p:nvPr/>
        </p:nvSpPr>
        <p:spPr>
          <a:xfrm flipV="1">
            <a:off x="4411800" y="3875760"/>
            <a:ext cx="50400" cy="19044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60" name="Shape 24"/>
          <p:cNvSpPr/>
          <p:nvPr/>
        </p:nvSpPr>
        <p:spPr>
          <a:xfrm flipV="1">
            <a:off x="4462200" y="3732840"/>
            <a:ext cx="50040" cy="14292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61" name="Shape 25"/>
          <p:cNvSpPr/>
          <p:nvPr/>
        </p:nvSpPr>
        <p:spPr>
          <a:xfrm flipV="1">
            <a:off x="4512240" y="3717000"/>
            <a:ext cx="50400" cy="1584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29160" rIns="90000" bIns="-29160" anchor="t" anchorCtr="1">
            <a:noAutofit/>
          </a:bodyPr>
          <a:lstStyle/>
          <a:p>
            <a:endParaRPr lang="it-IT" sz="1800" b="0" u="none" strike="noStrike">
              <a:solidFill>
                <a:srgbClr val="000000"/>
              </a:solidFill>
              <a:effectLst/>
              <a:uFillTx/>
              <a:latin typeface="Arial"/>
            </a:endParaRPr>
          </a:p>
        </p:txBody>
      </p:sp>
      <p:sp>
        <p:nvSpPr>
          <p:cNvPr id="562" name="Shape 26"/>
          <p:cNvSpPr/>
          <p:nvPr/>
        </p:nvSpPr>
        <p:spPr>
          <a:xfrm>
            <a:off x="4562640" y="3717000"/>
            <a:ext cx="50400" cy="11088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63" name="Shape 27"/>
          <p:cNvSpPr/>
          <p:nvPr/>
        </p:nvSpPr>
        <p:spPr>
          <a:xfrm>
            <a:off x="4613040" y="3827880"/>
            <a:ext cx="50400" cy="16308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64" name="Shape 28"/>
          <p:cNvSpPr/>
          <p:nvPr/>
        </p:nvSpPr>
        <p:spPr>
          <a:xfrm>
            <a:off x="4663440" y="3990960"/>
            <a:ext cx="50040" cy="11592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65" name="Shape 29"/>
          <p:cNvSpPr/>
          <p:nvPr/>
        </p:nvSpPr>
        <p:spPr>
          <a:xfrm>
            <a:off x="4713480" y="4106880"/>
            <a:ext cx="50400" cy="468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0320" rIns="90000" bIns="-40320" anchor="t" anchorCtr="1">
            <a:noAutofit/>
          </a:bodyPr>
          <a:lstStyle/>
          <a:p>
            <a:endParaRPr lang="it-IT" sz="1800" b="0" u="none" strike="noStrike">
              <a:solidFill>
                <a:srgbClr val="000000"/>
              </a:solidFill>
              <a:effectLst/>
              <a:uFillTx/>
              <a:latin typeface="Arial"/>
            </a:endParaRPr>
          </a:p>
        </p:txBody>
      </p:sp>
      <p:sp>
        <p:nvSpPr>
          <p:cNvPr id="566" name="Shape 30"/>
          <p:cNvSpPr/>
          <p:nvPr/>
        </p:nvSpPr>
        <p:spPr>
          <a:xfrm flipV="1">
            <a:off x="4763880" y="4010760"/>
            <a:ext cx="50400" cy="10080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67" name="Shape 31"/>
          <p:cNvSpPr/>
          <p:nvPr/>
        </p:nvSpPr>
        <p:spPr>
          <a:xfrm flipV="1">
            <a:off x="4814280" y="3871800"/>
            <a:ext cx="50040" cy="138960"/>
          </a:xfrm>
          <a:prstGeom prst="line">
            <a:avLst/>
          </a:prstGeom>
          <a:ln w="1905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68" name="Text 32"/>
          <p:cNvSpPr/>
          <p:nvPr/>
        </p:nvSpPr>
        <p:spPr>
          <a:xfrm>
            <a:off x="3429000" y="4297680"/>
            <a:ext cx="1279800" cy="456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100" b="1" u="none" strike="noStrike">
                <a:solidFill>
                  <a:srgbClr val="86B817"/>
                </a:solidFill>
                <a:effectLst/>
                <a:uFillTx/>
                <a:latin typeface="Aptos"/>
                <a:ea typeface="Aptos"/>
              </a:rPr>
              <a:t>0.5 s</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86B817"/>
                </a:solidFill>
                <a:effectLst/>
                <a:uFillTx/>
                <a:latin typeface="Aptos"/>
                <a:ea typeface="Aptos"/>
              </a:rPr>
              <a:t>vibration burst</a:t>
            </a:r>
            <a:endParaRPr lang="it-IT" sz="1100" b="0" u="none" strike="noStrike">
              <a:solidFill>
                <a:srgbClr val="000000"/>
              </a:solidFill>
              <a:effectLst/>
              <a:uFillTx/>
              <a:latin typeface="Arial"/>
            </a:endParaRPr>
          </a:p>
        </p:txBody>
      </p:sp>
      <p:sp>
        <p:nvSpPr>
          <p:cNvPr id="569" name="Shape 33"/>
          <p:cNvSpPr/>
          <p:nvPr/>
        </p:nvSpPr>
        <p:spPr>
          <a:xfrm flipV="1">
            <a:off x="6400800" y="3154680"/>
            <a:ext cx="2926080" cy="868680"/>
          </a:xfrm>
          <a:prstGeom prst="line">
            <a:avLst/>
          </a:prstGeom>
          <a:ln w="381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70" name="Text 34"/>
          <p:cNvSpPr/>
          <p:nvPr/>
        </p:nvSpPr>
        <p:spPr>
          <a:xfrm>
            <a:off x="7315200" y="4297680"/>
            <a:ext cx="1279800" cy="456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100" b="1" u="none" strike="noStrike">
                <a:solidFill>
                  <a:srgbClr val="F59E0B"/>
                </a:solidFill>
                <a:effectLst/>
                <a:uFillTx/>
                <a:latin typeface="Aptos"/>
                <a:ea typeface="Aptos"/>
              </a:rPr>
              <a:t>10 s</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F59E0B"/>
                </a:solidFill>
                <a:effectLst/>
                <a:uFillTx/>
                <a:latin typeface="Aptos"/>
                <a:ea typeface="Aptos"/>
              </a:rPr>
              <a:t>thermal drift</a:t>
            </a:r>
            <a:endParaRPr lang="it-IT" sz="1100" b="0" u="none" strike="noStrike">
              <a:solidFill>
                <a:srgbClr val="000000"/>
              </a:solidFill>
              <a:effectLst/>
              <a:uFillTx/>
              <a:latin typeface="Arial"/>
            </a:endParaRPr>
          </a:p>
        </p:txBody>
      </p:sp>
      <p:sp>
        <p:nvSpPr>
          <p:cNvPr id="571" name="Shape 35"/>
          <p:cNvSpPr/>
          <p:nvPr/>
        </p:nvSpPr>
        <p:spPr>
          <a:xfrm>
            <a:off x="1005840" y="1371600"/>
            <a:ext cx="1554120" cy="502560"/>
          </a:xfrm>
          <a:prstGeom prst="roundRect">
            <a:avLst>
              <a:gd name="adj" fmla="val 14545"/>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72" name="Text 36"/>
          <p:cNvSpPr/>
          <p:nvPr/>
        </p:nvSpPr>
        <p:spPr>
          <a:xfrm>
            <a:off x="1051560" y="1408320"/>
            <a:ext cx="146268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small kernels</a:t>
            </a:r>
            <a:endParaRPr lang="it-IT" sz="1200" b="0" u="none" strike="noStrike">
              <a:solidFill>
                <a:srgbClr val="000000"/>
              </a:solidFill>
              <a:effectLst/>
              <a:uFillTx/>
              <a:latin typeface="Arial"/>
            </a:endParaRPr>
          </a:p>
        </p:txBody>
      </p:sp>
      <p:sp>
        <p:nvSpPr>
          <p:cNvPr id="573" name="Shape 37"/>
          <p:cNvSpPr/>
          <p:nvPr/>
        </p:nvSpPr>
        <p:spPr>
          <a:xfrm>
            <a:off x="3566160" y="1371600"/>
            <a:ext cx="2011320" cy="502560"/>
          </a:xfrm>
          <a:prstGeom prst="roundRect">
            <a:avLst>
              <a:gd name="adj" fmla="val 14545"/>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74" name="Text 38"/>
          <p:cNvSpPr/>
          <p:nvPr/>
        </p:nvSpPr>
        <p:spPr>
          <a:xfrm>
            <a:off x="3611880" y="1408320"/>
            <a:ext cx="191988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medium receptive fields</a:t>
            </a:r>
            <a:endParaRPr lang="it-IT" sz="1200" b="0" u="none" strike="noStrike">
              <a:solidFill>
                <a:srgbClr val="000000"/>
              </a:solidFill>
              <a:effectLst/>
              <a:uFillTx/>
              <a:latin typeface="Arial"/>
            </a:endParaRPr>
          </a:p>
        </p:txBody>
      </p:sp>
      <p:sp>
        <p:nvSpPr>
          <p:cNvPr id="575" name="Shape 39"/>
          <p:cNvSpPr/>
          <p:nvPr/>
        </p:nvSpPr>
        <p:spPr>
          <a:xfrm>
            <a:off x="6949440" y="1371600"/>
            <a:ext cx="2011320" cy="502560"/>
          </a:xfrm>
          <a:prstGeom prst="roundRect">
            <a:avLst>
              <a:gd name="adj" fmla="val 14545"/>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76" name="Text 40"/>
          <p:cNvSpPr/>
          <p:nvPr/>
        </p:nvSpPr>
        <p:spPr>
          <a:xfrm>
            <a:off x="6995160" y="1408320"/>
            <a:ext cx="191988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deep / dilated context</a:t>
            </a:r>
            <a:endParaRPr lang="it-IT" sz="1200" b="0" u="none" strike="noStrike">
              <a:solidFill>
                <a:srgbClr val="000000"/>
              </a:solidFill>
              <a:effectLst/>
              <a:uFillTx/>
              <a:latin typeface="Arial"/>
            </a:endParaRPr>
          </a:p>
        </p:txBody>
      </p:sp>
      <p:sp>
        <p:nvSpPr>
          <p:cNvPr id="577" name="Shape 41"/>
          <p:cNvSpPr/>
          <p:nvPr/>
        </p:nvSpPr>
        <p:spPr>
          <a:xfrm>
            <a:off x="1783080" y="1874520"/>
            <a:ext cx="360" cy="1371600"/>
          </a:xfrm>
          <a:prstGeom prst="line">
            <a:avLst/>
          </a:prstGeom>
          <a:ln w="1905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78" name="Shape 42"/>
          <p:cNvSpPr/>
          <p:nvPr/>
        </p:nvSpPr>
        <p:spPr>
          <a:xfrm flipH="1">
            <a:off x="4251960" y="1874520"/>
            <a:ext cx="320040" cy="1463040"/>
          </a:xfrm>
          <a:prstGeom prst="line">
            <a:avLst/>
          </a:prstGeom>
          <a:ln w="1905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79" name="Shape 43"/>
          <p:cNvSpPr/>
          <p:nvPr/>
        </p:nvSpPr>
        <p:spPr>
          <a:xfrm>
            <a:off x="7955280" y="1874520"/>
            <a:ext cx="360" cy="1188720"/>
          </a:xfrm>
          <a:prstGeom prst="line">
            <a:avLst/>
          </a:prstGeom>
          <a:ln w="1905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80" name="PlaceHolder 1"/>
          <p:cNvSpPr>
            <a:spLocks noGrp="1"/>
          </p:cNvSpPr>
          <p:nvPr>
            <p:ph type="sldNum" idx="16"/>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FDD2EEBA-0132-4F6E-B5BF-B52C2C6CC7D9}" type="slidenum">
              <a:rPr lang="en-US" sz="1200" b="0" u="none" strike="noStrike">
                <a:solidFill>
                  <a:srgbClr val="64748B"/>
                </a:solidFill>
                <a:effectLst/>
                <a:uFillTx/>
                <a:latin typeface="Aptos"/>
              </a:rPr>
              <a:t>231</a:t>
            </a:fld>
            <a:endParaRPr lang="it-IT" sz="1200" b="0" u="none" strike="noStrike">
              <a:solidFill>
                <a:srgbClr val="000000"/>
              </a:solidFill>
              <a:effectLst/>
              <a:uFillTx/>
              <a:latin typeface="Times New Roman"/>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2CFF58C-C988-68A2-478A-74B1AA07BA2F}"/>
              </a:ext>
            </a:extLst>
          </p:cNvPr>
          <p:cNvSpPr>
            <a:spLocks noGrp="1"/>
          </p:cNvSpPr>
          <p:nvPr>
            <p:ph type="title"/>
          </p:nvPr>
        </p:nvSpPr>
        <p:spPr/>
        <p:txBody>
          <a:bodyPr/>
          <a:lstStyle/>
          <a:p>
            <a:r>
              <a:rPr lang="en-GB" dirty="0"/>
              <a:t>Different </a:t>
            </a:r>
            <a:r>
              <a:rPr lang="en-GB" b="1" dirty="0">
                <a:highlight>
                  <a:srgbClr val="FFFF00"/>
                </a:highlight>
              </a:rPr>
              <a:t>kernel sizes </a:t>
            </a:r>
            <a:r>
              <a:rPr lang="en-GB" dirty="0"/>
              <a:t>detect different temporal structures</a:t>
            </a:r>
          </a:p>
        </p:txBody>
      </p:sp>
      <p:sp>
        <p:nvSpPr>
          <p:cNvPr id="3" name="Segnaposto contenuto 2">
            <a:extLst>
              <a:ext uri="{FF2B5EF4-FFF2-40B4-BE49-F238E27FC236}">
                <a16:creationId xmlns:a16="http://schemas.microsoft.com/office/drawing/2014/main" id="{6F63EE50-48F5-B6C8-E5E0-CC325FC9D274}"/>
              </a:ext>
            </a:extLst>
          </p:cNvPr>
          <p:cNvSpPr>
            <a:spLocks noGrp="1"/>
          </p:cNvSpPr>
          <p:nvPr>
            <p:ph sz="half" idx="1"/>
          </p:nvPr>
        </p:nvSpPr>
        <p:spPr>
          <a:xfrm>
            <a:off x="677334" y="2160588"/>
            <a:ext cx="5418666" cy="4407851"/>
          </a:xfrm>
        </p:spPr>
        <p:txBody>
          <a:bodyPr>
            <a:normAutofit/>
          </a:bodyPr>
          <a:lstStyle/>
          <a:p>
            <a:r>
              <a:rPr lang="en-GB" b="1" dirty="0"/>
              <a:t>Small kernel</a:t>
            </a:r>
          </a:p>
          <a:p>
            <a:r>
              <a:rPr lang="en-GB" dirty="0"/>
              <a:t>Can capture:</a:t>
            </a:r>
          </a:p>
          <a:p>
            <a:pPr lvl="1"/>
            <a:r>
              <a:rPr lang="en-GB" dirty="0"/>
              <a:t>abrupt transitions; </a:t>
            </a:r>
          </a:p>
          <a:p>
            <a:pPr lvl="1"/>
            <a:r>
              <a:rPr lang="en-GB" dirty="0"/>
              <a:t>sharp peaks; </a:t>
            </a:r>
          </a:p>
          <a:p>
            <a:pPr lvl="1"/>
            <a:r>
              <a:rPr lang="en-GB" dirty="0"/>
              <a:t>local derivatives; </a:t>
            </a:r>
          </a:p>
          <a:p>
            <a:pPr lvl="1"/>
            <a:r>
              <a:rPr lang="en-GB" dirty="0"/>
              <a:t>high-frequency structure. </a:t>
            </a:r>
          </a:p>
          <a:p>
            <a:r>
              <a:rPr lang="en-GB" b="1" dirty="0"/>
              <a:t>Medium kernel</a:t>
            </a:r>
          </a:p>
          <a:p>
            <a:r>
              <a:rPr lang="en-GB" dirty="0"/>
              <a:t>Can capture:</a:t>
            </a:r>
          </a:p>
          <a:p>
            <a:pPr lvl="1"/>
            <a:r>
              <a:rPr lang="en-GB" dirty="0"/>
              <a:t>short motifs; </a:t>
            </a:r>
          </a:p>
          <a:p>
            <a:pPr lvl="1"/>
            <a:r>
              <a:rPr lang="en-GB" dirty="0"/>
              <a:t>local cycles; </a:t>
            </a:r>
          </a:p>
          <a:p>
            <a:pPr lvl="1"/>
            <a:r>
              <a:rPr lang="en-GB" dirty="0"/>
              <a:t>bursts. </a:t>
            </a:r>
          </a:p>
          <a:p>
            <a:endParaRPr lang="en-GB" dirty="0"/>
          </a:p>
        </p:txBody>
      </p:sp>
      <p:sp>
        <p:nvSpPr>
          <p:cNvPr id="4" name="Segnaposto contenuto 3">
            <a:extLst>
              <a:ext uri="{FF2B5EF4-FFF2-40B4-BE49-F238E27FC236}">
                <a16:creationId xmlns:a16="http://schemas.microsoft.com/office/drawing/2014/main" id="{61A52CD2-D3D9-7DEC-269A-D8707E158B04}"/>
              </a:ext>
            </a:extLst>
          </p:cNvPr>
          <p:cNvSpPr>
            <a:spLocks noGrp="1"/>
          </p:cNvSpPr>
          <p:nvPr>
            <p:ph sz="half" idx="2"/>
          </p:nvPr>
        </p:nvSpPr>
        <p:spPr>
          <a:xfrm>
            <a:off x="6553567" y="2160589"/>
            <a:ext cx="5440870" cy="4545011"/>
          </a:xfrm>
        </p:spPr>
        <p:txBody>
          <a:bodyPr>
            <a:normAutofit/>
          </a:bodyPr>
          <a:lstStyle/>
          <a:p>
            <a:r>
              <a:rPr lang="en-GB" b="1" dirty="0"/>
              <a:t>Large kernel</a:t>
            </a:r>
          </a:p>
          <a:p>
            <a:r>
              <a:rPr lang="en-GB" dirty="0"/>
              <a:t>Can capture:</a:t>
            </a:r>
          </a:p>
          <a:p>
            <a:pPr lvl="1"/>
            <a:r>
              <a:rPr lang="en-GB" dirty="0"/>
              <a:t>slower changes; </a:t>
            </a:r>
          </a:p>
          <a:p>
            <a:pPr lvl="1"/>
            <a:r>
              <a:rPr lang="en-GB" dirty="0"/>
              <a:t>broader temporal shapes; </a:t>
            </a:r>
          </a:p>
          <a:p>
            <a:pPr lvl="1"/>
            <a:r>
              <a:rPr lang="en-GB" dirty="0"/>
              <a:t>longer periodic patterns. </a:t>
            </a:r>
          </a:p>
          <a:p>
            <a:endParaRPr lang="en-GB" b="1" dirty="0"/>
          </a:p>
          <a:p>
            <a:r>
              <a:rPr lang="en-GB" b="1" dirty="0"/>
              <a:t>Problem</a:t>
            </a:r>
          </a:p>
          <a:p>
            <a:r>
              <a:rPr lang="en-GB" dirty="0"/>
              <a:t>Choosing only one kernel size imposes one preferred local temporal scale.</a:t>
            </a:r>
          </a:p>
          <a:p>
            <a:r>
              <a:rPr lang="en-GB" b="1" dirty="0"/>
              <a:t>Alternative</a:t>
            </a:r>
          </a:p>
          <a:p>
            <a:r>
              <a:rPr lang="en-GB" dirty="0"/>
              <a:t>Use several kernel sizes in parallel.</a:t>
            </a:r>
          </a:p>
          <a:p>
            <a:endParaRPr lang="en-GB" dirty="0"/>
          </a:p>
        </p:txBody>
      </p:sp>
    </p:spTree>
    <p:extLst>
      <p:ext uri="{BB962C8B-B14F-4D97-AF65-F5344CB8AC3E}">
        <p14:creationId xmlns:p14="http://schemas.microsoft.com/office/powerpoint/2010/main" val="3220761257"/>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DDDB6C1-496E-BD19-E8DF-B93DE9F7FA57}"/>
              </a:ext>
            </a:extLst>
          </p:cNvPr>
          <p:cNvSpPr>
            <a:spLocks noGrp="1"/>
          </p:cNvSpPr>
          <p:nvPr>
            <p:ph type="title"/>
          </p:nvPr>
        </p:nvSpPr>
        <p:spPr/>
        <p:txBody>
          <a:bodyPr/>
          <a:lstStyle/>
          <a:p>
            <a:r>
              <a:rPr lang="en-GB" dirty="0"/>
              <a:t>Parallel multiscale convolution</a:t>
            </a:r>
          </a:p>
        </p:txBody>
      </p:sp>
      <p:sp>
        <p:nvSpPr>
          <p:cNvPr id="3" name="Segnaposto contenuto 2">
            <a:extLst>
              <a:ext uri="{FF2B5EF4-FFF2-40B4-BE49-F238E27FC236}">
                <a16:creationId xmlns:a16="http://schemas.microsoft.com/office/drawing/2014/main" id="{F365CFE3-824C-E7BE-1D65-C3F917C142EC}"/>
              </a:ext>
            </a:extLst>
          </p:cNvPr>
          <p:cNvSpPr>
            <a:spLocks noGrp="1"/>
          </p:cNvSpPr>
          <p:nvPr>
            <p:ph sz="half" idx="1"/>
          </p:nvPr>
        </p:nvSpPr>
        <p:spPr>
          <a:xfrm>
            <a:off x="677334" y="2160589"/>
            <a:ext cx="8596668" cy="3880772"/>
          </a:xfrm>
        </p:spPr>
        <p:txBody>
          <a:bodyPr>
            <a:normAutofit fontScale="92500" lnSpcReduction="20000"/>
          </a:bodyPr>
          <a:lstStyle/>
          <a:p>
            <a:r>
              <a:rPr lang="en-GB" dirty="0"/>
              <a:t>One input sequence can be processed by several convolutional branches.</a:t>
            </a:r>
          </a:p>
          <a:p>
            <a:r>
              <a:rPr lang="en-GB" dirty="0"/>
              <a:t>                 ┌→ Conv K=3  ─┐</a:t>
            </a:r>
          </a:p>
          <a:p>
            <a:r>
              <a:rPr lang="en-GB" dirty="0"/>
              <a:t>input sequence ──→ Conv K=9  ─┼→ concatenate → next layer</a:t>
            </a:r>
          </a:p>
          <a:p>
            <a:r>
              <a:rPr lang="en-GB" dirty="0"/>
              <a:t>                 └→ Conv K=21 ─┘</a:t>
            </a:r>
          </a:p>
          <a:p>
            <a:r>
              <a:rPr lang="en-GB" b="1" dirty="0"/>
              <a:t>Each branch learns features at a different temporal scale</a:t>
            </a:r>
          </a:p>
          <a:p>
            <a:r>
              <a:rPr lang="en-GB" dirty="0"/>
              <a:t>Small kernel:</a:t>
            </a:r>
          </a:p>
          <a:p>
            <a:pPr lvl="1"/>
            <a:r>
              <a:rPr lang="en-GB" dirty="0"/>
              <a:t>local patterns. </a:t>
            </a:r>
          </a:p>
          <a:p>
            <a:r>
              <a:rPr lang="en-GB" dirty="0"/>
              <a:t>Medium kernel:</a:t>
            </a:r>
          </a:p>
          <a:p>
            <a:pPr lvl="1"/>
            <a:r>
              <a:rPr lang="en-GB" dirty="0"/>
              <a:t>intermediate motifs. </a:t>
            </a:r>
          </a:p>
          <a:p>
            <a:r>
              <a:rPr lang="en-GB" dirty="0"/>
              <a:t>Large kernel:</a:t>
            </a:r>
          </a:p>
          <a:p>
            <a:pPr lvl="1"/>
            <a:r>
              <a:rPr lang="en-GB" dirty="0"/>
              <a:t>broader context. </a:t>
            </a:r>
          </a:p>
          <a:p>
            <a:endParaRPr lang="en-GB" dirty="0"/>
          </a:p>
        </p:txBody>
      </p:sp>
      <p:sp>
        <p:nvSpPr>
          <p:cNvPr id="4" name="Segnaposto contenuto 3">
            <a:extLst>
              <a:ext uri="{FF2B5EF4-FFF2-40B4-BE49-F238E27FC236}">
                <a16:creationId xmlns:a16="http://schemas.microsoft.com/office/drawing/2014/main" id="{3343B72D-D304-A08B-AC6A-B8B535E5E3BA}"/>
              </a:ext>
            </a:extLst>
          </p:cNvPr>
          <p:cNvSpPr>
            <a:spLocks noGrp="1"/>
          </p:cNvSpPr>
          <p:nvPr>
            <p:ph sz="half" idx="2"/>
          </p:nvPr>
        </p:nvSpPr>
        <p:spPr>
          <a:xfrm>
            <a:off x="3901440" y="4927601"/>
            <a:ext cx="7818120" cy="1832291"/>
          </a:xfrm>
        </p:spPr>
        <p:txBody>
          <a:bodyPr>
            <a:normAutofit fontScale="92500" lnSpcReduction="20000"/>
          </a:bodyPr>
          <a:lstStyle/>
          <a:p>
            <a:r>
              <a:rPr lang="en-GB" b="1" dirty="0"/>
              <a:t>Output</a:t>
            </a:r>
          </a:p>
          <a:p>
            <a:r>
              <a:rPr lang="en-GB" dirty="0"/>
              <a:t>The resulting feature maps are combined, often by </a:t>
            </a:r>
            <a:r>
              <a:rPr lang="en-GB" b="1" dirty="0"/>
              <a:t>concatenating their channels.</a:t>
            </a:r>
          </a:p>
          <a:p>
            <a:pPr marL="0" indent="0">
              <a:buNone/>
            </a:pPr>
            <a:endParaRPr lang="en-GB" b="1" dirty="0"/>
          </a:p>
          <a:p>
            <a:r>
              <a:rPr lang="en-GB" b="1" dirty="0"/>
              <a:t>Multiscale convolution allows the model to learn which temporal scales are useful instead of forcing one kernel duration.</a:t>
            </a:r>
          </a:p>
          <a:p>
            <a:endParaRPr lang="en-GB" dirty="0"/>
          </a:p>
        </p:txBody>
      </p:sp>
    </p:spTree>
    <p:extLst>
      <p:ext uri="{BB962C8B-B14F-4D97-AF65-F5344CB8AC3E}">
        <p14:creationId xmlns:p14="http://schemas.microsoft.com/office/powerpoint/2010/main" val="393916068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1"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0F172A"/>
                </a:solidFill>
                <a:effectLst/>
                <a:uFillTx/>
                <a:latin typeface="Aptos Display"/>
                <a:ea typeface="Aptos Display"/>
              </a:rPr>
              <a:t>Parallel multiscale convolution</a:t>
            </a:r>
            <a:endParaRPr lang="it-IT" sz="3000" b="0" u="none" strike="noStrike">
              <a:solidFill>
                <a:srgbClr val="000000"/>
              </a:solidFill>
              <a:effectLst/>
              <a:uFillTx/>
              <a:latin typeface="Arial"/>
            </a:endParaRPr>
          </a:p>
        </p:txBody>
      </p:sp>
      <p:sp>
        <p:nvSpPr>
          <p:cNvPr id="582"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Different kernel sizes learn different temporal scales</a:t>
            </a:r>
            <a:endParaRPr lang="it-IT" sz="1500" b="0" u="none" strike="noStrike">
              <a:solidFill>
                <a:srgbClr val="000000"/>
              </a:solidFill>
              <a:effectLst/>
              <a:uFillTx/>
              <a:latin typeface="Arial"/>
            </a:endParaRPr>
          </a:p>
        </p:txBody>
      </p:sp>
      <p:sp>
        <p:nvSpPr>
          <p:cNvPr id="583" name="Shape 2"/>
          <p:cNvSpPr/>
          <p:nvPr/>
        </p:nvSpPr>
        <p:spPr>
          <a:xfrm>
            <a:off x="822960" y="2834640"/>
            <a:ext cx="1554120" cy="502560"/>
          </a:xfrm>
          <a:prstGeom prst="roundRect">
            <a:avLst>
              <a:gd name="adj" fmla="val 14545"/>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84" name="Text 3"/>
          <p:cNvSpPr/>
          <p:nvPr/>
        </p:nvSpPr>
        <p:spPr>
          <a:xfrm>
            <a:off x="868680" y="2871360"/>
            <a:ext cx="1462680" cy="429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input sequence</a:t>
            </a:r>
            <a:endParaRPr lang="it-IT" sz="1400" b="0" u="none" strike="noStrike">
              <a:solidFill>
                <a:srgbClr val="000000"/>
              </a:solidFill>
              <a:effectLst/>
              <a:uFillTx/>
              <a:latin typeface="Arial"/>
            </a:endParaRPr>
          </a:p>
        </p:txBody>
      </p:sp>
      <p:sp>
        <p:nvSpPr>
          <p:cNvPr id="585" name="Shape 4"/>
          <p:cNvSpPr/>
          <p:nvPr/>
        </p:nvSpPr>
        <p:spPr>
          <a:xfrm>
            <a:off x="3200400" y="1417320"/>
            <a:ext cx="1645560" cy="685440"/>
          </a:xfrm>
          <a:prstGeom prst="roundRect">
            <a:avLst>
              <a:gd name="adj" fmla="val 10667"/>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86" name="Text 5"/>
          <p:cNvSpPr/>
          <p:nvPr/>
        </p:nvSpPr>
        <p:spPr>
          <a:xfrm>
            <a:off x="3246120" y="1454040"/>
            <a:ext cx="155412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Conv K=3</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short patterns</a:t>
            </a:r>
            <a:endParaRPr lang="it-IT" sz="1200" b="0" u="none" strike="noStrike">
              <a:solidFill>
                <a:srgbClr val="000000"/>
              </a:solidFill>
              <a:effectLst/>
              <a:uFillTx/>
              <a:latin typeface="Arial"/>
            </a:endParaRPr>
          </a:p>
        </p:txBody>
      </p:sp>
      <p:sp>
        <p:nvSpPr>
          <p:cNvPr id="587" name="Shape 6"/>
          <p:cNvSpPr/>
          <p:nvPr/>
        </p:nvSpPr>
        <p:spPr>
          <a:xfrm flipV="1">
            <a:off x="2377440" y="1764720"/>
            <a:ext cx="822960" cy="1325880"/>
          </a:xfrm>
          <a:prstGeom prst="line">
            <a:avLst/>
          </a:prstGeom>
          <a:ln w="1524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88" name="Shape 7"/>
          <p:cNvSpPr/>
          <p:nvPr/>
        </p:nvSpPr>
        <p:spPr>
          <a:xfrm>
            <a:off x="3200400" y="2834640"/>
            <a:ext cx="1645560" cy="685440"/>
          </a:xfrm>
          <a:prstGeom prst="roundRect">
            <a:avLst>
              <a:gd name="adj" fmla="val 10667"/>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89" name="Text 8"/>
          <p:cNvSpPr/>
          <p:nvPr/>
        </p:nvSpPr>
        <p:spPr>
          <a:xfrm>
            <a:off x="3246120" y="2871360"/>
            <a:ext cx="155412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Conv K=9</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medium motifs</a:t>
            </a:r>
            <a:endParaRPr lang="it-IT" sz="1200" b="0" u="none" strike="noStrike">
              <a:solidFill>
                <a:srgbClr val="000000"/>
              </a:solidFill>
              <a:effectLst/>
              <a:uFillTx/>
              <a:latin typeface="Arial"/>
            </a:endParaRPr>
          </a:p>
        </p:txBody>
      </p:sp>
      <p:sp>
        <p:nvSpPr>
          <p:cNvPr id="590" name="Shape 9"/>
          <p:cNvSpPr/>
          <p:nvPr/>
        </p:nvSpPr>
        <p:spPr>
          <a:xfrm>
            <a:off x="2377440" y="3090600"/>
            <a:ext cx="822960" cy="91440"/>
          </a:xfrm>
          <a:prstGeom prst="line">
            <a:avLst/>
          </a:prstGeom>
          <a:ln w="1524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91" name="Shape 10"/>
          <p:cNvSpPr/>
          <p:nvPr/>
        </p:nvSpPr>
        <p:spPr>
          <a:xfrm>
            <a:off x="3200400" y="4251960"/>
            <a:ext cx="1645560" cy="685440"/>
          </a:xfrm>
          <a:prstGeom prst="roundRect">
            <a:avLst>
              <a:gd name="adj" fmla="val 10667"/>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92" name="Text 11"/>
          <p:cNvSpPr/>
          <p:nvPr/>
        </p:nvSpPr>
        <p:spPr>
          <a:xfrm>
            <a:off x="3246120" y="4288680"/>
            <a:ext cx="1554120" cy="612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Conv K=21</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broad context</a:t>
            </a:r>
            <a:endParaRPr lang="it-IT" sz="1200" b="0" u="none" strike="noStrike">
              <a:solidFill>
                <a:srgbClr val="000000"/>
              </a:solidFill>
              <a:effectLst/>
              <a:uFillTx/>
              <a:latin typeface="Arial"/>
            </a:endParaRPr>
          </a:p>
        </p:txBody>
      </p:sp>
      <p:sp>
        <p:nvSpPr>
          <p:cNvPr id="593" name="Shape 12"/>
          <p:cNvSpPr/>
          <p:nvPr/>
        </p:nvSpPr>
        <p:spPr>
          <a:xfrm>
            <a:off x="2377440" y="3090600"/>
            <a:ext cx="822960" cy="1508760"/>
          </a:xfrm>
          <a:prstGeom prst="line">
            <a:avLst/>
          </a:prstGeom>
          <a:ln w="1524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94" name="Shape 13"/>
          <p:cNvSpPr/>
          <p:nvPr/>
        </p:nvSpPr>
        <p:spPr>
          <a:xfrm>
            <a:off x="5852160" y="2834640"/>
            <a:ext cx="1554120" cy="639720"/>
          </a:xfrm>
          <a:prstGeom prst="roundRect">
            <a:avLst>
              <a:gd name="adj" fmla="val 11429"/>
            </a:avLst>
          </a:prstGeom>
          <a:solidFill>
            <a:srgbClr val="EDE9FE"/>
          </a:solidFill>
          <a:ln w="13970">
            <a:solidFill>
              <a:srgbClr val="7C3AE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595" name="Text 14"/>
          <p:cNvSpPr/>
          <p:nvPr/>
        </p:nvSpPr>
        <p:spPr>
          <a:xfrm>
            <a:off x="5897880" y="2871360"/>
            <a:ext cx="146268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concatenate</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channels</a:t>
            </a:r>
            <a:endParaRPr lang="it-IT" sz="1300" b="0" u="none" strike="noStrike">
              <a:solidFill>
                <a:srgbClr val="000000"/>
              </a:solidFill>
              <a:effectLst/>
              <a:uFillTx/>
              <a:latin typeface="Arial"/>
            </a:endParaRPr>
          </a:p>
        </p:txBody>
      </p:sp>
      <p:sp>
        <p:nvSpPr>
          <p:cNvPr id="596" name="Shape 15"/>
          <p:cNvSpPr/>
          <p:nvPr/>
        </p:nvSpPr>
        <p:spPr>
          <a:xfrm>
            <a:off x="4846320" y="1764720"/>
            <a:ext cx="1005840" cy="1389960"/>
          </a:xfrm>
          <a:prstGeom prst="line">
            <a:avLst/>
          </a:prstGeom>
          <a:ln w="1524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97" name="Shape 16"/>
          <p:cNvSpPr/>
          <p:nvPr/>
        </p:nvSpPr>
        <p:spPr>
          <a:xfrm flipV="1">
            <a:off x="4846320" y="3154680"/>
            <a:ext cx="1005840" cy="27360"/>
          </a:xfrm>
          <a:prstGeom prst="line">
            <a:avLst/>
          </a:prstGeom>
          <a:ln w="1524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17640" rIns="90000" bIns="-17640" anchor="t" anchorCtr="1">
            <a:noAutofit/>
          </a:bodyPr>
          <a:lstStyle/>
          <a:p>
            <a:endParaRPr lang="it-IT" sz="1800" b="0" u="none" strike="noStrike">
              <a:solidFill>
                <a:srgbClr val="000000"/>
              </a:solidFill>
              <a:effectLst/>
              <a:uFillTx/>
              <a:latin typeface="Arial"/>
            </a:endParaRPr>
          </a:p>
        </p:txBody>
      </p:sp>
      <p:sp>
        <p:nvSpPr>
          <p:cNvPr id="598" name="Shape 17"/>
          <p:cNvSpPr/>
          <p:nvPr/>
        </p:nvSpPr>
        <p:spPr>
          <a:xfrm flipV="1">
            <a:off x="4846320" y="3154680"/>
            <a:ext cx="1005840" cy="1444680"/>
          </a:xfrm>
          <a:prstGeom prst="line">
            <a:avLst/>
          </a:prstGeom>
          <a:ln w="1524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599" name="Shape 18"/>
          <p:cNvSpPr/>
          <p:nvPr/>
        </p:nvSpPr>
        <p:spPr>
          <a:xfrm>
            <a:off x="8321040" y="2834640"/>
            <a:ext cx="1737000" cy="639720"/>
          </a:xfrm>
          <a:prstGeom prst="roundRect">
            <a:avLst>
              <a:gd name="adj" fmla="val 11429"/>
            </a:avLst>
          </a:prstGeom>
          <a:solidFill>
            <a:srgbClr val="F1F5F9"/>
          </a:solidFill>
          <a:ln w="1397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00" name="Text 19"/>
          <p:cNvSpPr/>
          <p:nvPr/>
        </p:nvSpPr>
        <p:spPr>
          <a:xfrm>
            <a:off x="8366760" y="2871360"/>
            <a:ext cx="164556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300" b="1" u="none" strike="noStrike">
                <a:solidFill>
                  <a:srgbClr val="0F172A"/>
                </a:solidFill>
                <a:effectLst/>
                <a:uFillTx/>
                <a:latin typeface="Aptos"/>
                <a:ea typeface="Aptos"/>
              </a:rPr>
              <a:t>next layer /</a:t>
            </a:r>
            <a:endParaRPr lang="it-IT"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0F172A"/>
                </a:solidFill>
                <a:effectLst/>
                <a:uFillTx/>
                <a:latin typeface="Aptos"/>
                <a:ea typeface="Aptos"/>
              </a:rPr>
              <a:t>prediction head</a:t>
            </a:r>
            <a:endParaRPr lang="it-IT" sz="1300" b="0" u="none" strike="noStrike">
              <a:solidFill>
                <a:srgbClr val="000000"/>
              </a:solidFill>
              <a:effectLst/>
              <a:uFillTx/>
              <a:latin typeface="Arial"/>
            </a:endParaRPr>
          </a:p>
        </p:txBody>
      </p:sp>
      <p:sp>
        <p:nvSpPr>
          <p:cNvPr id="601" name="Shape 20"/>
          <p:cNvSpPr/>
          <p:nvPr/>
        </p:nvSpPr>
        <p:spPr>
          <a:xfrm>
            <a:off x="7406640" y="3154680"/>
            <a:ext cx="914400" cy="360"/>
          </a:xfrm>
          <a:prstGeom prst="line">
            <a:avLst/>
          </a:prstGeom>
          <a:ln w="1524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602" name="Text 21"/>
          <p:cNvSpPr/>
          <p:nvPr/>
        </p:nvSpPr>
        <p:spPr>
          <a:xfrm>
            <a:off x="1280160" y="5669280"/>
            <a:ext cx="8320680" cy="411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dirty="0">
                <a:solidFill>
                  <a:srgbClr val="0F172A"/>
                </a:solidFill>
                <a:effectLst/>
                <a:highlight>
                  <a:srgbClr val="FFFF00"/>
                </a:highlight>
                <a:uFillTx/>
                <a:latin typeface="Aptos"/>
                <a:ea typeface="Aptos"/>
              </a:rPr>
              <a:t>The model can learn which temporal scale is useful for the target.</a:t>
            </a:r>
            <a:endParaRPr lang="it-IT" sz="1500" b="0" u="none" strike="noStrike" dirty="0">
              <a:solidFill>
                <a:srgbClr val="000000"/>
              </a:solidFill>
              <a:effectLst/>
              <a:highlight>
                <a:srgbClr val="FFFF00"/>
              </a:highlight>
              <a:uFillTx/>
              <a:latin typeface="Arial"/>
            </a:endParaRPr>
          </a:p>
        </p:txBody>
      </p:sp>
      <p:sp>
        <p:nvSpPr>
          <p:cNvPr id="603" name="PlaceHolder 1"/>
          <p:cNvSpPr>
            <a:spLocks noGrp="1"/>
          </p:cNvSpPr>
          <p:nvPr>
            <p:ph type="sldNum" idx="17"/>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39DAFD1D-A260-4FC0-8C4B-A01D918F778F}" type="slidenum">
              <a:rPr lang="en-US" sz="1200" b="0" u="none" strike="noStrike">
                <a:solidFill>
                  <a:srgbClr val="64748B"/>
                </a:solidFill>
                <a:effectLst/>
                <a:uFillTx/>
                <a:latin typeface="Aptos"/>
              </a:rPr>
              <a:t>234</a:t>
            </a:fld>
            <a:endParaRPr lang="it-IT" sz="1200" b="0" u="none" strike="noStrike">
              <a:solidFill>
                <a:srgbClr val="000000"/>
              </a:solidFill>
              <a:effectLst/>
              <a:uFillTx/>
              <a:latin typeface="Times New Roman"/>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6F03E2B-808B-8CB5-1C06-D7243BF4E939}"/>
              </a:ext>
            </a:extLst>
          </p:cNvPr>
          <p:cNvSpPr>
            <a:spLocks noGrp="1"/>
          </p:cNvSpPr>
          <p:nvPr>
            <p:ph type="title"/>
          </p:nvPr>
        </p:nvSpPr>
        <p:spPr/>
        <p:txBody>
          <a:bodyPr/>
          <a:lstStyle/>
          <a:p>
            <a:r>
              <a:rPr lang="en-GB" dirty="0"/>
              <a:t>Multiscale representation is different from dilation</a:t>
            </a:r>
          </a:p>
        </p:txBody>
      </p:sp>
      <p:sp>
        <p:nvSpPr>
          <p:cNvPr id="3" name="Segnaposto contenuto 2">
            <a:extLst>
              <a:ext uri="{FF2B5EF4-FFF2-40B4-BE49-F238E27FC236}">
                <a16:creationId xmlns:a16="http://schemas.microsoft.com/office/drawing/2014/main" id="{CBB5C851-834B-A744-8402-EC5B0967AA6E}"/>
              </a:ext>
            </a:extLst>
          </p:cNvPr>
          <p:cNvSpPr>
            <a:spLocks noGrp="1"/>
          </p:cNvSpPr>
          <p:nvPr>
            <p:ph sz="half" idx="1"/>
          </p:nvPr>
        </p:nvSpPr>
        <p:spPr>
          <a:xfrm>
            <a:off x="677333" y="2160588"/>
            <a:ext cx="5921953" cy="4697412"/>
          </a:xfrm>
        </p:spPr>
        <p:txBody>
          <a:bodyPr>
            <a:normAutofit fontScale="85000" lnSpcReduction="20000"/>
          </a:bodyPr>
          <a:lstStyle/>
          <a:p>
            <a:r>
              <a:rPr lang="en-GB" dirty="0"/>
              <a:t>Both mechanisms increase temporal span, but they do so differently.</a:t>
            </a:r>
          </a:p>
          <a:p>
            <a:r>
              <a:rPr lang="en-GB" b="1" dirty="0"/>
              <a:t>Parallel kernel sizes</a:t>
            </a:r>
          </a:p>
          <a:p>
            <a:r>
              <a:rPr lang="en-GB" b="1" dirty="0"/>
              <a:t>Use dense observations over different local spans.</a:t>
            </a:r>
          </a:p>
          <a:p>
            <a:r>
              <a:rPr lang="en-GB" dirty="0"/>
              <a:t>Example:</a:t>
            </a:r>
          </a:p>
          <a:p>
            <a:pPr lvl="1"/>
            <a:r>
              <a:rPr lang="en-GB" dirty="0"/>
              <a:t>K = 3</a:t>
            </a:r>
          </a:p>
          <a:p>
            <a:pPr lvl="1"/>
            <a:r>
              <a:rPr lang="en-GB" dirty="0"/>
              <a:t>K = 9</a:t>
            </a:r>
          </a:p>
          <a:p>
            <a:pPr lvl="1"/>
            <a:r>
              <a:rPr lang="en-GB" dirty="0"/>
              <a:t>K = 21</a:t>
            </a:r>
          </a:p>
          <a:p>
            <a:endParaRPr lang="en-GB" b="1" dirty="0"/>
          </a:p>
          <a:p>
            <a:r>
              <a:rPr lang="en-GB" b="1" dirty="0"/>
              <a:t>Dilation</a:t>
            </a:r>
          </a:p>
          <a:p>
            <a:r>
              <a:rPr lang="en-GB" b="1" dirty="0"/>
              <a:t>Uses one small kernel with increasing gaps.</a:t>
            </a:r>
          </a:p>
          <a:p>
            <a:r>
              <a:rPr lang="en-GB" dirty="0"/>
              <a:t>Example:</a:t>
            </a:r>
          </a:p>
          <a:p>
            <a:pPr lvl="1"/>
            <a:r>
              <a:rPr lang="en-GB" dirty="0"/>
              <a:t>K = 3, D = 1</a:t>
            </a:r>
          </a:p>
          <a:p>
            <a:pPr lvl="1"/>
            <a:r>
              <a:rPr lang="en-GB" dirty="0"/>
              <a:t>K = 3, D = 4</a:t>
            </a:r>
          </a:p>
          <a:p>
            <a:pPr lvl="1"/>
            <a:r>
              <a:rPr lang="en-GB" dirty="0"/>
              <a:t>K = 3, D = 8</a:t>
            </a:r>
          </a:p>
          <a:p>
            <a:endParaRPr lang="en-GB" dirty="0"/>
          </a:p>
        </p:txBody>
      </p:sp>
      <p:sp>
        <p:nvSpPr>
          <p:cNvPr id="4" name="Segnaposto contenuto 3">
            <a:extLst>
              <a:ext uri="{FF2B5EF4-FFF2-40B4-BE49-F238E27FC236}">
                <a16:creationId xmlns:a16="http://schemas.microsoft.com/office/drawing/2014/main" id="{3A92D5BC-C372-3018-6AD0-E601F85C5111}"/>
              </a:ext>
            </a:extLst>
          </p:cNvPr>
          <p:cNvSpPr>
            <a:spLocks noGrp="1"/>
          </p:cNvSpPr>
          <p:nvPr>
            <p:ph sz="half" idx="2"/>
          </p:nvPr>
        </p:nvSpPr>
        <p:spPr>
          <a:xfrm>
            <a:off x="6599287" y="2141858"/>
            <a:ext cx="5349430" cy="4499291"/>
          </a:xfrm>
        </p:spPr>
        <p:txBody>
          <a:bodyPr>
            <a:normAutofit fontScale="85000" lnSpcReduction="20000"/>
          </a:bodyPr>
          <a:lstStyle/>
          <a:p>
            <a:r>
              <a:rPr lang="en-GB" b="1" dirty="0"/>
              <a:t>Difference</a:t>
            </a:r>
          </a:p>
          <a:p>
            <a:r>
              <a:rPr lang="en-GB" dirty="0"/>
              <a:t>Large kernel: </a:t>
            </a:r>
            <a:r>
              <a:rPr lang="en-GB" b="1" dirty="0"/>
              <a:t>densely samples its local interval. </a:t>
            </a:r>
          </a:p>
          <a:p>
            <a:r>
              <a:rPr lang="en-GB" dirty="0"/>
              <a:t>Large dilation: </a:t>
            </a:r>
            <a:r>
              <a:rPr lang="en-GB" b="1" dirty="0"/>
              <a:t>sparsely samples a larger interval. </a:t>
            </a:r>
          </a:p>
          <a:p>
            <a:r>
              <a:rPr lang="en-GB" b="1" dirty="0">
                <a:highlight>
                  <a:srgbClr val="FFFF00"/>
                </a:highlight>
              </a:rPr>
              <a:t>They can also be combined</a:t>
            </a:r>
          </a:p>
          <a:p>
            <a:r>
              <a:rPr lang="en-GB" dirty="0"/>
              <a:t>A model may use:</a:t>
            </a:r>
          </a:p>
          <a:p>
            <a:pPr lvl="1"/>
            <a:r>
              <a:rPr lang="en-GB" dirty="0"/>
              <a:t>several kernel sizes; </a:t>
            </a:r>
          </a:p>
          <a:p>
            <a:pPr lvl="1"/>
            <a:r>
              <a:rPr lang="en-GB" dirty="0"/>
              <a:t>dilation; </a:t>
            </a:r>
          </a:p>
          <a:p>
            <a:pPr lvl="1"/>
            <a:r>
              <a:rPr lang="en-GB" dirty="0"/>
              <a:t>depth; </a:t>
            </a:r>
          </a:p>
          <a:p>
            <a:r>
              <a:rPr lang="en-GB" b="1" dirty="0"/>
              <a:t>to obtain rich multiscale representations.</a:t>
            </a:r>
          </a:p>
          <a:p>
            <a:endParaRPr lang="en-GB" dirty="0"/>
          </a:p>
        </p:txBody>
      </p:sp>
    </p:spTree>
    <p:extLst>
      <p:ext uri="{BB962C8B-B14F-4D97-AF65-F5344CB8AC3E}">
        <p14:creationId xmlns:p14="http://schemas.microsoft.com/office/powerpoint/2010/main" val="1013271233"/>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0F172A"/>
                </a:solidFill>
                <a:effectLst/>
                <a:uFillTx/>
                <a:latin typeface="Aptos Display"/>
                <a:ea typeface="Aptos Display"/>
              </a:rPr>
              <a:t>Large kernel versus dilated kernel</a:t>
            </a:r>
            <a:endParaRPr lang="it-IT" sz="3000" b="0" u="none" strike="noStrike">
              <a:solidFill>
                <a:srgbClr val="000000"/>
              </a:solidFill>
              <a:effectLst/>
              <a:uFillTx/>
              <a:latin typeface="Arial"/>
            </a:endParaRPr>
          </a:p>
        </p:txBody>
      </p:sp>
      <p:sp>
        <p:nvSpPr>
          <p:cNvPr id="605"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Dense local span and sparse wide span are different</a:t>
            </a:r>
            <a:endParaRPr lang="it-IT" sz="1500" b="0" u="none" strike="noStrike">
              <a:solidFill>
                <a:srgbClr val="000000"/>
              </a:solidFill>
              <a:effectLst/>
              <a:uFillTx/>
              <a:latin typeface="Arial"/>
            </a:endParaRPr>
          </a:p>
        </p:txBody>
      </p:sp>
      <p:sp>
        <p:nvSpPr>
          <p:cNvPr id="606" name="Text 2"/>
          <p:cNvSpPr/>
          <p:nvPr/>
        </p:nvSpPr>
        <p:spPr>
          <a:xfrm>
            <a:off x="914400" y="1234440"/>
            <a:ext cx="292572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0F172A"/>
                </a:solidFill>
                <a:effectLst/>
                <a:uFillTx/>
                <a:latin typeface="Aptos"/>
                <a:ea typeface="Aptos"/>
              </a:rPr>
              <a:t>Large dense kernel (K=9)</a:t>
            </a:r>
            <a:endParaRPr lang="it-IT" sz="1500" b="0" u="none" strike="noStrike">
              <a:solidFill>
                <a:srgbClr val="000000"/>
              </a:solidFill>
              <a:effectLst/>
              <a:uFillTx/>
              <a:latin typeface="Arial"/>
            </a:endParaRPr>
          </a:p>
        </p:txBody>
      </p:sp>
      <p:sp>
        <p:nvSpPr>
          <p:cNvPr id="607" name="Shape 3"/>
          <p:cNvSpPr/>
          <p:nvPr/>
        </p:nvSpPr>
        <p:spPr>
          <a:xfrm>
            <a:off x="1005840" y="1828800"/>
            <a:ext cx="896112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608" name="Shape 4"/>
          <p:cNvSpPr/>
          <p:nvPr/>
        </p:nvSpPr>
        <p:spPr>
          <a:xfrm>
            <a:off x="96912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09" name="Shape 5"/>
          <p:cNvSpPr/>
          <p:nvPr/>
        </p:nvSpPr>
        <p:spPr>
          <a:xfrm>
            <a:off x="152928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0" name="Shape 6"/>
          <p:cNvSpPr/>
          <p:nvPr/>
        </p:nvSpPr>
        <p:spPr>
          <a:xfrm>
            <a:off x="208944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1" name="Shape 7"/>
          <p:cNvSpPr/>
          <p:nvPr/>
        </p:nvSpPr>
        <p:spPr>
          <a:xfrm>
            <a:off x="264960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2" name="Shape 8"/>
          <p:cNvSpPr/>
          <p:nvPr/>
        </p:nvSpPr>
        <p:spPr>
          <a:xfrm>
            <a:off x="320940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3" name="Shape 9"/>
          <p:cNvSpPr/>
          <p:nvPr/>
        </p:nvSpPr>
        <p:spPr>
          <a:xfrm>
            <a:off x="376956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4" name="Shape 10"/>
          <p:cNvSpPr/>
          <p:nvPr/>
        </p:nvSpPr>
        <p:spPr>
          <a:xfrm>
            <a:off x="432972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5" name="Shape 11"/>
          <p:cNvSpPr/>
          <p:nvPr/>
        </p:nvSpPr>
        <p:spPr>
          <a:xfrm>
            <a:off x="488988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6" name="Shape 12"/>
          <p:cNvSpPr/>
          <p:nvPr/>
        </p:nvSpPr>
        <p:spPr>
          <a:xfrm>
            <a:off x="544968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7" name="Shape 13"/>
          <p:cNvSpPr/>
          <p:nvPr/>
        </p:nvSpPr>
        <p:spPr>
          <a:xfrm>
            <a:off x="600984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8" name="Shape 14"/>
          <p:cNvSpPr/>
          <p:nvPr/>
        </p:nvSpPr>
        <p:spPr>
          <a:xfrm>
            <a:off x="657000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19" name="Shape 15"/>
          <p:cNvSpPr/>
          <p:nvPr/>
        </p:nvSpPr>
        <p:spPr>
          <a:xfrm>
            <a:off x="713016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20" name="Shape 16"/>
          <p:cNvSpPr/>
          <p:nvPr/>
        </p:nvSpPr>
        <p:spPr>
          <a:xfrm>
            <a:off x="768996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21" name="Shape 17"/>
          <p:cNvSpPr/>
          <p:nvPr/>
        </p:nvSpPr>
        <p:spPr>
          <a:xfrm>
            <a:off x="825012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22" name="Shape 18"/>
          <p:cNvSpPr/>
          <p:nvPr/>
        </p:nvSpPr>
        <p:spPr>
          <a:xfrm>
            <a:off x="881028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23" name="Shape 19"/>
          <p:cNvSpPr/>
          <p:nvPr/>
        </p:nvSpPr>
        <p:spPr>
          <a:xfrm>
            <a:off x="937044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24" name="Shape 20"/>
          <p:cNvSpPr/>
          <p:nvPr/>
        </p:nvSpPr>
        <p:spPr>
          <a:xfrm>
            <a:off x="9930240" y="179208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25" name="Shape 21"/>
          <p:cNvSpPr/>
          <p:nvPr/>
        </p:nvSpPr>
        <p:spPr>
          <a:xfrm>
            <a:off x="3173040" y="1755720"/>
            <a:ext cx="145800" cy="14580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26" name="Shape 22"/>
          <p:cNvSpPr/>
          <p:nvPr/>
        </p:nvSpPr>
        <p:spPr>
          <a:xfrm>
            <a:off x="3733200" y="1755720"/>
            <a:ext cx="145800" cy="14580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27" name="Shape 23"/>
          <p:cNvSpPr/>
          <p:nvPr/>
        </p:nvSpPr>
        <p:spPr>
          <a:xfrm>
            <a:off x="4293000" y="1755720"/>
            <a:ext cx="145800" cy="14580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28" name="Shape 24"/>
          <p:cNvSpPr/>
          <p:nvPr/>
        </p:nvSpPr>
        <p:spPr>
          <a:xfrm>
            <a:off x="4853160" y="1755720"/>
            <a:ext cx="145800" cy="14580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29" name="Shape 25"/>
          <p:cNvSpPr/>
          <p:nvPr/>
        </p:nvSpPr>
        <p:spPr>
          <a:xfrm>
            <a:off x="5413320" y="1755720"/>
            <a:ext cx="145800" cy="14580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30" name="Shape 26"/>
          <p:cNvSpPr/>
          <p:nvPr/>
        </p:nvSpPr>
        <p:spPr>
          <a:xfrm>
            <a:off x="5973480" y="1755720"/>
            <a:ext cx="145800" cy="14580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31" name="Shape 27"/>
          <p:cNvSpPr/>
          <p:nvPr/>
        </p:nvSpPr>
        <p:spPr>
          <a:xfrm>
            <a:off x="6533280" y="1755720"/>
            <a:ext cx="145800" cy="14580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32" name="Shape 28"/>
          <p:cNvSpPr/>
          <p:nvPr/>
        </p:nvSpPr>
        <p:spPr>
          <a:xfrm>
            <a:off x="7093440" y="1755720"/>
            <a:ext cx="145800" cy="14580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33" name="Shape 29"/>
          <p:cNvSpPr/>
          <p:nvPr/>
        </p:nvSpPr>
        <p:spPr>
          <a:xfrm>
            <a:off x="7653600" y="1755720"/>
            <a:ext cx="145800" cy="145800"/>
          </a:xfrm>
          <a:prstGeom prst="ellipse">
            <a:avLst/>
          </a:prstGeom>
          <a:solidFill>
            <a:srgbClr val="86B817"/>
          </a:solidFill>
          <a:ln w="1270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34" name="Text 30"/>
          <p:cNvSpPr/>
          <p:nvPr/>
        </p:nvSpPr>
        <p:spPr>
          <a:xfrm>
            <a:off x="3657600" y="2148840"/>
            <a:ext cx="36572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a:solidFill>
                  <a:srgbClr val="86B817"/>
                </a:solidFill>
                <a:effectLst/>
                <a:uFillTx/>
                <a:latin typeface="Aptos"/>
                <a:ea typeface="Aptos"/>
              </a:rPr>
              <a:t>uses all positions in the local interval</a:t>
            </a:r>
            <a:endParaRPr lang="it-IT" sz="1200" b="0" u="none" strike="noStrike">
              <a:solidFill>
                <a:srgbClr val="000000"/>
              </a:solidFill>
              <a:effectLst/>
              <a:uFillTx/>
              <a:latin typeface="Arial"/>
            </a:endParaRPr>
          </a:p>
        </p:txBody>
      </p:sp>
      <p:sp>
        <p:nvSpPr>
          <p:cNvPr id="635" name="Text 31"/>
          <p:cNvSpPr/>
          <p:nvPr/>
        </p:nvSpPr>
        <p:spPr>
          <a:xfrm>
            <a:off x="914400" y="3246120"/>
            <a:ext cx="32000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0F172A"/>
                </a:solidFill>
                <a:effectLst/>
                <a:uFillTx/>
                <a:latin typeface="Aptos"/>
                <a:ea typeface="Aptos"/>
              </a:rPr>
              <a:t>Dilated kernel (K=3, D=4)</a:t>
            </a:r>
            <a:endParaRPr lang="it-IT" sz="1500" b="0" u="none" strike="noStrike">
              <a:solidFill>
                <a:srgbClr val="000000"/>
              </a:solidFill>
              <a:effectLst/>
              <a:uFillTx/>
              <a:latin typeface="Arial"/>
            </a:endParaRPr>
          </a:p>
        </p:txBody>
      </p:sp>
      <p:sp>
        <p:nvSpPr>
          <p:cNvPr id="636" name="Shape 32"/>
          <p:cNvSpPr/>
          <p:nvPr/>
        </p:nvSpPr>
        <p:spPr>
          <a:xfrm>
            <a:off x="1005840" y="3840480"/>
            <a:ext cx="896112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637" name="Shape 33"/>
          <p:cNvSpPr/>
          <p:nvPr/>
        </p:nvSpPr>
        <p:spPr>
          <a:xfrm>
            <a:off x="96912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38" name="Shape 34"/>
          <p:cNvSpPr/>
          <p:nvPr/>
        </p:nvSpPr>
        <p:spPr>
          <a:xfrm>
            <a:off x="152928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39" name="Shape 35"/>
          <p:cNvSpPr/>
          <p:nvPr/>
        </p:nvSpPr>
        <p:spPr>
          <a:xfrm>
            <a:off x="208944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0" name="Shape 36"/>
          <p:cNvSpPr/>
          <p:nvPr/>
        </p:nvSpPr>
        <p:spPr>
          <a:xfrm>
            <a:off x="264960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1" name="Shape 37"/>
          <p:cNvSpPr/>
          <p:nvPr/>
        </p:nvSpPr>
        <p:spPr>
          <a:xfrm>
            <a:off x="320940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2" name="Shape 38"/>
          <p:cNvSpPr/>
          <p:nvPr/>
        </p:nvSpPr>
        <p:spPr>
          <a:xfrm>
            <a:off x="376956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3" name="Shape 39"/>
          <p:cNvSpPr/>
          <p:nvPr/>
        </p:nvSpPr>
        <p:spPr>
          <a:xfrm>
            <a:off x="432972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4" name="Shape 40"/>
          <p:cNvSpPr/>
          <p:nvPr/>
        </p:nvSpPr>
        <p:spPr>
          <a:xfrm>
            <a:off x="488988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5" name="Shape 41"/>
          <p:cNvSpPr/>
          <p:nvPr/>
        </p:nvSpPr>
        <p:spPr>
          <a:xfrm>
            <a:off x="544968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6" name="Shape 42"/>
          <p:cNvSpPr/>
          <p:nvPr/>
        </p:nvSpPr>
        <p:spPr>
          <a:xfrm>
            <a:off x="600984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7" name="Shape 43"/>
          <p:cNvSpPr/>
          <p:nvPr/>
        </p:nvSpPr>
        <p:spPr>
          <a:xfrm>
            <a:off x="657000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8" name="Shape 44"/>
          <p:cNvSpPr/>
          <p:nvPr/>
        </p:nvSpPr>
        <p:spPr>
          <a:xfrm>
            <a:off x="713016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49" name="Shape 45"/>
          <p:cNvSpPr/>
          <p:nvPr/>
        </p:nvSpPr>
        <p:spPr>
          <a:xfrm>
            <a:off x="768996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50" name="Shape 46"/>
          <p:cNvSpPr/>
          <p:nvPr/>
        </p:nvSpPr>
        <p:spPr>
          <a:xfrm>
            <a:off x="825012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51" name="Shape 47"/>
          <p:cNvSpPr/>
          <p:nvPr/>
        </p:nvSpPr>
        <p:spPr>
          <a:xfrm>
            <a:off x="881028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52" name="Shape 48"/>
          <p:cNvSpPr/>
          <p:nvPr/>
        </p:nvSpPr>
        <p:spPr>
          <a:xfrm>
            <a:off x="937044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53" name="Shape 49"/>
          <p:cNvSpPr/>
          <p:nvPr/>
        </p:nvSpPr>
        <p:spPr>
          <a:xfrm>
            <a:off x="9930240" y="3803760"/>
            <a:ext cx="72720" cy="72720"/>
          </a:xfrm>
          <a:prstGeom prst="ellipse">
            <a:avLst/>
          </a:prstGeom>
          <a:solidFill>
            <a:srgbClr val="475569"/>
          </a:solidFill>
          <a:ln w="12700">
            <a:solidFill>
              <a:srgbClr val="475569"/>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it-IT" sz="1800" b="0" u="none" strike="noStrike">
              <a:solidFill>
                <a:srgbClr val="FFFFFF"/>
              </a:solidFill>
              <a:effectLst/>
              <a:uFillTx/>
              <a:latin typeface="Arial"/>
            </a:endParaRPr>
          </a:p>
        </p:txBody>
      </p:sp>
      <p:sp>
        <p:nvSpPr>
          <p:cNvPr id="654" name="Shape 50"/>
          <p:cNvSpPr/>
          <p:nvPr/>
        </p:nvSpPr>
        <p:spPr>
          <a:xfrm>
            <a:off x="3163680" y="3758040"/>
            <a:ext cx="164160" cy="164160"/>
          </a:xfrm>
          <a:prstGeom prst="ellipse">
            <a:avLst/>
          </a:prstGeom>
          <a:solidFill>
            <a:srgbClr val="F59E0B"/>
          </a:solidFill>
          <a:ln w="127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55" name="Shape 51"/>
          <p:cNvSpPr/>
          <p:nvPr/>
        </p:nvSpPr>
        <p:spPr>
          <a:xfrm>
            <a:off x="5403960" y="3758040"/>
            <a:ext cx="164160" cy="164160"/>
          </a:xfrm>
          <a:prstGeom prst="ellipse">
            <a:avLst/>
          </a:prstGeom>
          <a:solidFill>
            <a:srgbClr val="F59E0B"/>
          </a:solidFill>
          <a:ln w="127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56" name="Shape 52"/>
          <p:cNvSpPr/>
          <p:nvPr/>
        </p:nvSpPr>
        <p:spPr>
          <a:xfrm>
            <a:off x="7644240" y="3758040"/>
            <a:ext cx="164160" cy="164160"/>
          </a:xfrm>
          <a:prstGeom prst="ellipse">
            <a:avLst/>
          </a:prstGeom>
          <a:solidFill>
            <a:srgbClr val="F59E0B"/>
          </a:solidFill>
          <a:ln w="127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57" name="Text 53"/>
          <p:cNvSpPr/>
          <p:nvPr/>
        </p:nvSpPr>
        <p:spPr>
          <a:xfrm>
            <a:off x="3657600" y="4160520"/>
            <a:ext cx="36572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a:solidFill>
                  <a:srgbClr val="F59E0B"/>
                </a:solidFill>
                <a:effectLst/>
                <a:uFillTx/>
                <a:latin typeface="Aptos"/>
                <a:ea typeface="Aptos"/>
              </a:rPr>
              <a:t>spans the same interval but samples sparsely</a:t>
            </a:r>
            <a:endParaRPr lang="it-IT" sz="1200" b="0" u="none" strike="noStrike">
              <a:solidFill>
                <a:srgbClr val="000000"/>
              </a:solidFill>
              <a:effectLst/>
              <a:uFillTx/>
              <a:latin typeface="Arial"/>
            </a:endParaRPr>
          </a:p>
        </p:txBody>
      </p:sp>
      <p:sp>
        <p:nvSpPr>
          <p:cNvPr id="658" name="Shape 54"/>
          <p:cNvSpPr/>
          <p:nvPr/>
        </p:nvSpPr>
        <p:spPr>
          <a:xfrm>
            <a:off x="1371600" y="5486400"/>
            <a:ext cx="2468520" cy="456840"/>
          </a:xfrm>
          <a:prstGeom prst="roundRect">
            <a:avLst>
              <a:gd name="adj" fmla="val 16000"/>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59" name="Text 55"/>
          <p:cNvSpPr/>
          <p:nvPr/>
        </p:nvSpPr>
        <p:spPr>
          <a:xfrm>
            <a:off x="1417320" y="5523120"/>
            <a:ext cx="237708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large kernel = dense coverage</a:t>
            </a:r>
            <a:endParaRPr lang="it-IT" sz="1200" b="0" u="none" strike="noStrike">
              <a:solidFill>
                <a:srgbClr val="000000"/>
              </a:solidFill>
              <a:effectLst/>
              <a:uFillTx/>
              <a:latin typeface="Arial"/>
            </a:endParaRPr>
          </a:p>
        </p:txBody>
      </p:sp>
      <p:sp>
        <p:nvSpPr>
          <p:cNvPr id="660" name="Shape 56"/>
          <p:cNvSpPr/>
          <p:nvPr/>
        </p:nvSpPr>
        <p:spPr>
          <a:xfrm>
            <a:off x="5760720" y="5486400"/>
            <a:ext cx="2742840" cy="456840"/>
          </a:xfrm>
          <a:prstGeom prst="roundRect">
            <a:avLst>
              <a:gd name="adj" fmla="val 16000"/>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61" name="Text 57"/>
          <p:cNvSpPr/>
          <p:nvPr/>
        </p:nvSpPr>
        <p:spPr>
          <a:xfrm>
            <a:off x="5806440" y="5523120"/>
            <a:ext cx="265140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dilation = sparse wider coverage</a:t>
            </a:r>
            <a:endParaRPr lang="it-IT" sz="1200" b="0" u="none" strike="noStrike">
              <a:solidFill>
                <a:srgbClr val="000000"/>
              </a:solidFill>
              <a:effectLst/>
              <a:uFillTx/>
              <a:latin typeface="Arial"/>
            </a:endParaRPr>
          </a:p>
        </p:txBody>
      </p:sp>
      <p:sp>
        <p:nvSpPr>
          <p:cNvPr id="662" name="PlaceHolder 1"/>
          <p:cNvSpPr>
            <a:spLocks noGrp="1"/>
          </p:cNvSpPr>
          <p:nvPr>
            <p:ph type="sldNum" idx="18"/>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4CE198B9-E620-4A79-A507-E4663E59E69A}" type="slidenum">
              <a:rPr lang="en-US" sz="1200" b="0" u="none" strike="noStrike">
                <a:solidFill>
                  <a:srgbClr val="64748B"/>
                </a:solidFill>
                <a:effectLst/>
                <a:uFillTx/>
                <a:latin typeface="Aptos"/>
              </a:rPr>
              <a:t>236</a:t>
            </a:fld>
            <a:endParaRPr lang="it-IT" sz="1200" b="0" u="none" strike="noStrike">
              <a:solidFill>
                <a:srgbClr val="000000"/>
              </a:solidFill>
              <a:effectLst/>
              <a:uFillTx/>
              <a:latin typeface="Times New Roman"/>
            </a:endParaRP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F3CC61D-1F67-D459-2272-96A6C3B39DD9}"/>
              </a:ext>
            </a:extLst>
          </p:cNvPr>
          <p:cNvSpPr>
            <a:spLocks noGrp="1"/>
          </p:cNvSpPr>
          <p:nvPr>
            <p:ph type="title"/>
          </p:nvPr>
        </p:nvSpPr>
        <p:spPr/>
        <p:txBody>
          <a:bodyPr/>
          <a:lstStyle/>
          <a:p>
            <a:r>
              <a:rPr lang="en-GB" dirty="0"/>
              <a:t>Inception-style temporal convolution</a:t>
            </a:r>
          </a:p>
        </p:txBody>
      </p:sp>
      <p:sp>
        <p:nvSpPr>
          <p:cNvPr id="3" name="Segnaposto contenuto 2">
            <a:extLst>
              <a:ext uri="{FF2B5EF4-FFF2-40B4-BE49-F238E27FC236}">
                <a16:creationId xmlns:a16="http://schemas.microsoft.com/office/drawing/2014/main" id="{EE6BD6DB-536A-BE1E-C3A1-5C1C3DD5392F}"/>
              </a:ext>
            </a:extLst>
          </p:cNvPr>
          <p:cNvSpPr>
            <a:spLocks noGrp="1"/>
          </p:cNvSpPr>
          <p:nvPr>
            <p:ph idx="1"/>
          </p:nvPr>
        </p:nvSpPr>
        <p:spPr/>
        <p:txBody>
          <a:bodyPr>
            <a:normAutofit fontScale="77500" lnSpcReduction="20000"/>
          </a:bodyPr>
          <a:lstStyle/>
          <a:p>
            <a:r>
              <a:rPr lang="en-GB" dirty="0"/>
              <a:t>Inception-style architectures apply several temporal transformations in parallel.</a:t>
            </a:r>
          </a:p>
          <a:p>
            <a:r>
              <a:rPr lang="en-GB" dirty="0">
                <a:highlight>
                  <a:srgbClr val="FFFF00"/>
                </a:highlight>
              </a:rPr>
              <a:t>Conceptually:</a:t>
            </a:r>
          </a:p>
          <a:p>
            <a:r>
              <a:rPr lang="en-GB" dirty="0"/>
              <a:t>                    ┌→ short convolution ─┐</a:t>
            </a:r>
          </a:p>
          <a:p>
            <a:r>
              <a:rPr lang="en-GB" dirty="0"/>
              <a:t>input ──────────────┼→ medium convolution ├→ concatenate</a:t>
            </a:r>
          </a:p>
          <a:p>
            <a:r>
              <a:rPr lang="en-GB" dirty="0"/>
              <a:t>                    ├→ long convolution ──┤</a:t>
            </a:r>
          </a:p>
          <a:p>
            <a:r>
              <a:rPr lang="en-GB" dirty="0"/>
              <a:t>                    └→ alternative branch ┘</a:t>
            </a:r>
          </a:p>
          <a:p>
            <a:r>
              <a:rPr lang="en-GB" dirty="0"/>
              <a:t>The combined representation contains information from several temporal scales.</a:t>
            </a:r>
          </a:p>
          <a:p>
            <a:r>
              <a:rPr lang="en-GB" b="1" dirty="0"/>
              <a:t>Why is this useful?</a:t>
            </a:r>
          </a:p>
          <a:p>
            <a:r>
              <a:rPr lang="en-GB" dirty="0">
                <a:highlight>
                  <a:srgbClr val="FFFF00"/>
                </a:highlight>
              </a:rPr>
              <a:t>The relevant scale may vary:</a:t>
            </a:r>
          </a:p>
          <a:p>
            <a:pPr lvl="1"/>
            <a:r>
              <a:rPr lang="en-GB" dirty="0"/>
              <a:t>across classes; </a:t>
            </a:r>
          </a:p>
          <a:p>
            <a:pPr lvl="1"/>
            <a:r>
              <a:rPr lang="en-GB" dirty="0"/>
              <a:t>across entities; </a:t>
            </a:r>
          </a:p>
          <a:p>
            <a:pPr lvl="1"/>
            <a:r>
              <a:rPr lang="en-GB" dirty="0"/>
              <a:t>across operating regimes. </a:t>
            </a:r>
          </a:p>
          <a:p>
            <a:r>
              <a:rPr lang="en-GB" dirty="0">
                <a:highlight>
                  <a:srgbClr val="FFFF00"/>
                </a:highlight>
              </a:rPr>
              <a:t>The network can learn which branches become useful for the final target.</a:t>
            </a:r>
          </a:p>
          <a:p>
            <a:endParaRPr lang="en-GB" dirty="0"/>
          </a:p>
        </p:txBody>
      </p:sp>
    </p:spTree>
    <p:extLst>
      <p:ext uri="{BB962C8B-B14F-4D97-AF65-F5344CB8AC3E}">
        <p14:creationId xmlns:p14="http://schemas.microsoft.com/office/powerpoint/2010/main" val="14138681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dirty="0">
                <a:solidFill>
                  <a:srgbClr val="0F172A"/>
                </a:solidFill>
                <a:effectLst/>
                <a:uFillTx/>
                <a:latin typeface="Aptos Display"/>
                <a:ea typeface="Aptos Display"/>
              </a:rPr>
              <a:t>Inception-style temporal module</a:t>
            </a:r>
            <a:endParaRPr lang="it-IT" sz="3000" b="0" u="none" strike="noStrike" dirty="0">
              <a:solidFill>
                <a:srgbClr val="000000"/>
              </a:solidFill>
              <a:effectLst/>
              <a:uFillTx/>
              <a:latin typeface="Arial"/>
            </a:endParaRPr>
          </a:p>
        </p:txBody>
      </p:sp>
      <p:sp>
        <p:nvSpPr>
          <p:cNvPr id="664"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Parallel branches plus residual paths</a:t>
            </a:r>
            <a:endParaRPr lang="it-IT" sz="1500" b="0" u="none" strike="noStrike">
              <a:solidFill>
                <a:srgbClr val="000000"/>
              </a:solidFill>
              <a:effectLst/>
              <a:uFillTx/>
              <a:latin typeface="Arial"/>
            </a:endParaRPr>
          </a:p>
        </p:txBody>
      </p:sp>
      <p:sp>
        <p:nvSpPr>
          <p:cNvPr id="665" name="Shape 2"/>
          <p:cNvSpPr/>
          <p:nvPr/>
        </p:nvSpPr>
        <p:spPr>
          <a:xfrm>
            <a:off x="731520" y="2880360"/>
            <a:ext cx="1096920" cy="456840"/>
          </a:xfrm>
          <a:prstGeom prst="roundRect">
            <a:avLst>
              <a:gd name="adj" fmla="val 16000"/>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66" name="Text 3"/>
          <p:cNvSpPr/>
          <p:nvPr/>
        </p:nvSpPr>
        <p:spPr>
          <a:xfrm>
            <a:off x="777240" y="2917080"/>
            <a:ext cx="100548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input</a:t>
            </a:r>
            <a:endParaRPr lang="it-IT" sz="1400" b="0" u="none" strike="noStrike">
              <a:solidFill>
                <a:srgbClr val="000000"/>
              </a:solidFill>
              <a:effectLst/>
              <a:uFillTx/>
              <a:latin typeface="Arial"/>
            </a:endParaRPr>
          </a:p>
        </p:txBody>
      </p:sp>
      <p:sp>
        <p:nvSpPr>
          <p:cNvPr id="667" name="Shape 4"/>
          <p:cNvSpPr/>
          <p:nvPr/>
        </p:nvSpPr>
        <p:spPr>
          <a:xfrm>
            <a:off x="2743200" y="1371600"/>
            <a:ext cx="1462680" cy="594000"/>
          </a:xfrm>
          <a:prstGeom prst="roundRect">
            <a:avLst>
              <a:gd name="adj" fmla="val 12308"/>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68" name="Text 5"/>
          <p:cNvSpPr/>
          <p:nvPr/>
        </p:nvSpPr>
        <p:spPr>
          <a:xfrm>
            <a:off x="2788920" y="1408320"/>
            <a:ext cx="137124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100" b="1" u="none" strike="noStrike">
                <a:solidFill>
                  <a:srgbClr val="0F172A"/>
                </a:solidFill>
                <a:effectLst/>
                <a:uFillTx/>
                <a:latin typeface="Aptos"/>
                <a:ea typeface="Aptos"/>
              </a:rPr>
              <a:t>short conv</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0F172A"/>
                </a:solidFill>
                <a:effectLst/>
                <a:uFillTx/>
                <a:latin typeface="Aptos"/>
                <a:ea typeface="Aptos"/>
              </a:rPr>
              <a:t>K=3</a:t>
            </a:r>
            <a:endParaRPr lang="it-IT" sz="1100" b="0" u="none" strike="noStrike">
              <a:solidFill>
                <a:srgbClr val="000000"/>
              </a:solidFill>
              <a:effectLst/>
              <a:uFillTx/>
              <a:latin typeface="Arial"/>
            </a:endParaRPr>
          </a:p>
        </p:txBody>
      </p:sp>
      <p:sp>
        <p:nvSpPr>
          <p:cNvPr id="669" name="Shape 6"/>
          <p:cNvSpPr/>
          <p:nvPr/>
        </p:nvSpPr>
        <p:spPr>
          <a:xfrm flipV="1">
            <a:off x="1828800" y="1673280"/>
            <a:ext cx="914400" cy="1435680"/>
          </a:xfrm>
          <a:prstGeom prst="line">
            <a:avLst/>
          </a:prstGeom>
          <a:ln w="1397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70" name="Shape 7"/>
          <p:cNvSpPr/>
          <p:nvPr/>
        </p:nvSpPr>
        <p:spPr>
          <a:xfrm>
            <a:off x="2743200" y="2423160"/>
            <a:ext cx="1462680" cy="594000"/>
          </a:xfrm>
          <a:prstGeom prst="roundRect">
            <a:avLst>
              <a:gd name="adj" fmla="val 12308"/>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71" name="Text 8"/>
          <p:cNvSpPr/>
          <p:nvPr/>
        </p:nvSpPr>
        <p:spPr>
          <a:xfrm>
            <a:off x="2788920" y="2459880"/>
            <a:ext cx="137124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100" b="1" u="none" strike="noStrike">
                <a:solidFill>
                  <a:srgbClr val="0F172A"/>
                </a:solidFill>
                <a:effectLst/>
                <a:uFillTx/>
                <a:latin typeface="Aptos"/>
                <a:ea typeface="Aptos"/>
              </a:rPr>
              <a:t>medium conv</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0F172A"/>
                </a:solidFill>
                <a:effectLst/>
                <a:uFillTx/>
                <a:latin typeface="Aptos"/>
                <a:ea typeface="Aptos"/>
              </a:rPr>
              <a:t>K=11</a:t>
            </a:r>
            <a:endParaRPr lang="it-IT" sz="1100" b="0" u="none" strike="noStrike">
              <a:solidFill>
                <a:srgbClr val="000000"/>
              </a:solidFill>
              <a:effectLst/>
              <a:uFillTx/>
              <a:latin typeface="Arial"/>
            </a:endParaRPr>
          </a:p>
        </p:txBody>
      </p:sp>
      <p:sp>
        <p:nvSpPr>
          <p:cNvPr id="672" name="Shape 9"/>
          <p:cNvSpPr/>
          <p:nvPr/>
        </p:nvSpPr>
        <p:spPr>
          <a:xfrm flipV="1">
            <a:off x="1828800" y="2724840"/>
            <a:ext cx="914400" cy="384120"/>
          </a:xfrm>
          <a:prstGeom prst="line">
            <a:avLst/>
          </a:prstGeom>
          <a:ln w="1397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73" name="Shape 10"/>
          <p:cNvSpPr/>
          <p:nvPr/>
        </p:nvSpPr>
        <p:spPr>
          <a:xfrm>
            <a:off x="2743200" y="3474720"/>
            <a:ext cx="1462680" cy="594000"/>
          </a:xfrm>
          <a:prstGeom prst="roundRect">
            <a:avLst>
              <a:gd name="adj" fmla="val 12308"/>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74" name="Text 11"/>
          <p:cNvSpPr/>
          <p:nvPr/>
        </p:nvSpPr>
        <p:spPr>
          <a:xfrm>
            <a:off x="2788920" y="3511440"/>
            <a:ext cx="137124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100" b="1" u="none" strike="noStrike">
                <a:solidFill>
                  <a:srgbClr val="0F172A"/>
                </a:solidFill>
                <a:effectLst/>
                <a:uFillTx/>
                <a:latin typeface="Aptos"/>
                <a:ea typeface="Aptos"/>
              </a:rPr>
              <a:t>long conv</a:t>
            </a:r>
            <a:endParaRPr lang="it-IT" sz="1100" b="0" u="none" strike="noStrike">
              <a:solidFill>
                <a:srgbClr val="000000"/>
              </a:solidFill>
              <a:effectLst/>
              <a:uFillTx/>
              <a:latin typeface="Arial"/>
            </a:endParaRPr>
          </a:p>
          <a:p>
            <a:pPr algn="ctr" defTabSz="914400">
              <a:lnSpc>
                <a:spcPct val="100000"/>
              </a:lnSpc>
              <a:tabLst>
                <a:tab pos="0" algn="l"/>
              </a:tabLst>
            </a:pPr>
            <a:r>
              <a:rPr lang="en-US" sz="1100" b="1" u="none" strike="noStrike">
                <a:solidFill>
                  <a:srgbClr val="0F172A"/>
                </a:solidFill>
                <a:effectLst/>
                <a:uFillTx/>
                <a:latin typeface="Aptos"/>
                <a:ea typeface="Aptos"/>
              </a:rPr>
              <a:t>K=31</a:t>
            </a:r>
            <a:endParaRPr lang="it-IT" sz="1100" b="0" u="none" strike="noStrike">
              <a:solidFill>
                <a:srgbClr val="000000"/>
              </a:solidFill>
              <a:effectLst/>
              <a:uFillTx/>
              <a:latin typeface="Arial"/>
            </a:endParaRPr>
          </a:p>
        </p:txBody>
      </p:sp>
      <p:sp>
        <p:nvSpPr>
          <p:cNvPr id="675" name="Shape 12"/>
          <p:cNvSpPr/>
          <p:nvPr/>
        </p:nvSpPr>
        <p:spPr>
          <a:xfrm>
            <a:off x="1828800" y="3108960"/>
            <a:ext cx="914400" cy="667440"/>
          </a:xfrm>
          <a:prstGeom prst="line">
            <a:avLst/>
          </a:prstGeom>
          <a:ln w="1397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76" name="Shape 13"/>
          <p:cNvSpPr/>
          <p:nvPr/>
        </p:nvSpPr>
        <p:spPr>
          <a:xfrm>
            <a:off x="2743200" y="4526280"/>
            <a:ext cx="1462680" cy="594000"/>
          </a:xfrm>
          <a:prstGeom prst="roundRect">
            <a:avLst>
              <a:gd name="adj" fmla="val 12308"/>
            </a:avLst>
          </a:prstGeom>
          <a:solidFill>
            <a:srgbClr val="EDE9FE"/>
          </a:solidFill>
          <a:ln w="13970">
            <a:solidFill>
              <a:srgbClr val="7C3AE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77" name="Text 14"/>
          <p:cNvSpPr/>
          <p:nvPr/>
        </p:nvSpPr>
        <p:spPr>
          <a:xfrm>
            <a:off x="2788920" y="4563000"/>
            <a:ext cx="137124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92500" lnSpcReduction="10000"/>
          </a:bodyPr>
          <a:lstStyle/>
          <a:p>
            <a:pPr algn="ctr" defTabSz="914400">
              <a:lnSpc>
                <a:spcPct val="100000"/>
              </a:lnSpc>
              <a:tabLst>
                <a:tab pos="0" algn="l"/>
              </a:tabLst>
            </a:pPr>
            <a:r>
              <a:rPr lang="en-US" sz="1100" b="1" u="none" strike="noStrike" dirty="0">
                <a:solidFill>
                  <a:srgbClr val="0F172A"/>
                </a:solidFill>
                <a:effectLst/>
                <a:uFillTx/>
                <a:latin typeface="Aptos"/>
                <a:ea typeface="Aptos"/>
              </a:rPr>
              <a:t>alternative</a:t>
            </a:r>
            <a:endParaRPr lang="it-IT" sz="1100" b="0" u="none" strike="noStrike" dirty="0">
              <a:solidFill>
                <a:srgbClr val="000000"/>
              </a:solidFill>
              <a:effectLst/>
              <a:uFillTx/>
              <a:latin typeface="Arial"/>
            </a:endParaRPr>
          </a:p>
          <a:p>
            <a:pPr algn="ctr" defTabSz="914400">
              <a:lnSpc>
                <a:spcPct val="100000"/>
              </a:lnSpc>
              <a:tabLst>
                <a:tab pos="0" algn="l"/>
              </a:tabLst>
            </a:pPr>
            <a:r>
              <a:rPr lang="en-US" sz="1100" b="1" u="none" strike="noStrike" dirty="0">
                <a:solidFill>
                  <a:srgbClr val="0F172A"/>
                </a:solidFill>
                <a:effectLst/>
                <a:uFillTx/>
                <a:latin typeface="Aptos"/>
                <a:ea typeface="Aptos"/>
              </a:rPr>
              <a:t>branch</a:t>
            </a:r>
            <a:endParaRPr lang="it-IT" sz="1100" b="0" u="none" strike="noStrike" dirty="0">
              <a:solidFill>
                <a:srgbClr val="000000"/>
              </a:solidFill>
              <a:effectLst/>
              <a:uFillTx/>
              <a:latin typeface="Arial"/>
            </a:endParaRPr>
          </a:p>
          <a:p>
            <a:pPr algn="ctr" defTabSz="914400">
              <a:lnSpc>
                <a:spcPct val="100000"/>
              </a:lnSpc>
              <a:tabLst>
                <a:tab pos="0" algn="l"/>
              </a:tabLst>
            </a:pPr>
            <a:r>
              <a:rPr lang="en-US" sz="1100" b="1" u="none" strike="noStrike" dirty="0">
                <a:solidFill>
                  <a:srgbClr val="0F172A"/>
                </a:solidFill>
                <a:effectLst/>
                <a:uFillTx/>
                <a:latin typeface="Aptos"/>
                <a:ea typeface="Aptos"/>
              </a:rPr>
              <a:t>pool -&gt; 1×1</a:t>
            </a:r>
            <a:endParaRPr lang="it-IT" sz="1100" b="0" u="none" strike="noStrike" dirty="0">
              <a:solidFill>
                <a:srgbClr val="000000"/>
              </a:solidFill>
              <a:effectLst/>
              <a:uFillTx/>
              <a:latin typeface="Arial"/>
            </a:endParaRPr>
          </a:p>
        </p:txBody>
      </p:sp>
      <p:sp>
        <p:nvSpPr>
          <p:cNvPr id="678" name="Shape 15"/>
          <p:cNvSpPr/>
          <p:nvPr/>
        </p:nvSpPr>
        <p:spPr>
          <a:xfrm>
            <a:off x="1828800" y="3108960"/>
            <a:ext cx="914400" cy="1719000"/>
          </a:xfrm>
          <a:prstGeom prst="line">
            <a:avLst/>
          </a:prstGeom>
          <a:ln w="13970">
            <a:solidFill>
              <a:srgbClr val="7C3AED"/>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79" name="Shape 16"/>
          <p:cNvSpPr/>
          <p:nvPr/>
        </p:nvSpPr>
        <p:spPr>
          <a:xfrm>
            <a:off x="5212080" y="2834640"/>
            <a:ext cx="1371240" cy="594000"/>
          </a:xfrm>
          <a:prstGeom prst="roundRect">
            <a:avLst>
              <a:gd name="adj" fmla="val 12308"/>
            </a:avLst>
          </a:prstGeom>
          <a:solidFill>
            <a:srgbClr val="F1F5F9"/>
          </a:solidFill>
          <a:ln w="1397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80" name="Text 17"/>
          <p:cNvSpPr/>
          <p:nvPr/>
        </p:nvSpPr>
        <p:spPr>
          <a:xfrm>
            <a:off x="5257800" y="2871360"/>
            <a:ext cx="127980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concatenate</a:t>
            </a:r>
            <a:endParaRPr lang="it-IT" sz="1200" b="0" u="none" strike="noStrike">
              <a:solidFill>
                <a:srgbClr val="000000"/>
              </a:solidFill>
              <a:effectLst/>
              <a:uFillTx/>
              <a:latin typeface="Arial"/>
            </a:endParaRPr>
          </a:p>
        </p:txBody>
      </p:sp>
      <p:sp>
        <p:nvSpPr>
          <p:cNvPr id="681" name="Shape 18"/>
          <p:cNvSpPr/>
          <p:nvPr/>
        </p:nvSpPr>
        <p:spPr>
          <a:xfrm>
            <a:off x="4206240" y="1673280"/>
            <a:ext cx="1005840" cy="1463040"/>
          </a:xfrm>
          <a:prstGeom prst="line">
            <a:avLst/>
          </a:prstGeom>
          <a:ln w="1397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82" name="Shape 19"/>
          <p:cNvSpPr/>
          <p:nvPr/>
        </p:nvSpPr>
        <p:spPr>
          <a:xfrm>
            <a:off x="4206240" y="2724840"/>
            <a:ext cx="1005840" cy="411480"/>
          </a:xfrm>
          <a:prstGeom prst="line">
            <a:avLst/>
          </a:prstGeom>
          <a:ln w="1397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83" name="Shape 20"/>
          <p:cNvSpPr/>
          <p:nvPr/>
        </p:nvSpPr>
        <p:spPr>
          <a:xfrm flipV="1">
            <a:off x="4206240" y="3136320"/>
            <a:ext cx="1005840" cy="640080"/>
          </a:xfrm>
          <a:prstGeom prst="line">
            <a:avLst/>
          </a:prstGeom>
          <a:ln w="1397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84" name="Shape 21"/>
          <p:cNvSpPr/>
          <p:nvPr/>
        </p:nvSpPr>
        <p:spPr>
          <a:xfrm flipV="1">
            <a:off x="4206240" y="3136320"/>
            <a:ext cx="1005840" cy="1691640"/>
          </a:xfrm>
          <a:prstGeom prst="line">
            <a:avLst/>
          </a:prstGeom>
          <a:ln w="13970">
            <a:solidFill>
              <a:srgbClr val="7C3AED"/>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85" name="Shape 22"/>
          <p:cNvSpPr/>
          <p:nvPr/>
        </p:nvSpPr>
        <p:spPr>
          <a:xfrm>
            <a:off x="7589520" y="2834640"/>
            <a:ext cx="1554120" cy="594000"/>
          </a:xfrm>
          <a:prstGeom prst="roundRect">
            <a:avLst>
              <a:gd name="adj" fmla="val 12308"/>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86" name="Text 23"/>
          <p:cNvSpPr/>
          <p:nvPr/>
        </p:nvSpPr>
        <p:spPr>
          <a:xfrm>
            <a:off x="7635240" y="2871360"/>
            <a:ext cx="1462680" cy="520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residual +</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activation</a:t>
            </a:r>
            <a:endParaRPr lang="it-IT" sz="1200" b="0" u="none" strike="noStrike">
              <a:solidFill>
                <a:srgbClr val="000000"/>
              </a:solidFill>
              <a:effectLst/>
              <a:uFillTx/>
              <a:latin typeface="Arial"/>
            </a:endParaRPr>
          </a:p>
        </p:txBody>
      </p:sp>
      <p:sp>
        <p:nvSpPr>
          <p:cNvPr id="687" name="Shape 24"/>
          <p:cNvSpPr/>
          <p:nvPr/>
        </p:nvSpPr>
        <p:spPr>
          <a:xfrm>
            <a:off x="6583680" y="3136320"/>
            <a:ext cx="1005840" cy="360"/>
          </a:xfrm>
          <a:prstGeom prst="line">
            <a:avLst/>
          </a:prstGeom>
          <a:ln w="1524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688" name="Shape 25"/>
          <p:cNvSpPr/>
          <p:nvPr/>
        </p:nvSpPr>
        <p:spPr>
          <a:xfrm>
            <a:off x="1828800" y="3108960"/>
            <a:ext cx="360" cy="2377440"/>
          </a:xfrm>
          <a:prstGeom prst="line">
            <a:avLst/>
          </a:prstGeom>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89" name="Shape 26"/>
          <p:cNvSpPr/>
          <p:nvPr/>
        </p:nvSpPr>
        <p:spPr>
          <a:xfrm>
            <a:off x="1828800" y="5486400"/>
            <a:ext cx="6537960" cy="360"/>
          </a:xfrm>
          <a:prstGeom prst="line">
            <a:avLst/>
          </a:prstGeom>
          <a:ln w="13970">
            <a:solidFill>
              <a:srgbClr val="F59E0B"/>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690" name="Shape 27"/>
          <p:cNvSpPr/>
          <p:nvPr/>
        </p:nvSpPr>
        <p:spPr>
          <a:xfrm flipV="1">
            <a:off x="8366760" y="3429000"/>
            <a:ext cx="360" cy="2057400"/>
          </a:xfrm>
          <a:prstGeom prst="line">
            <a:avLst/>
          </a:prstGeom>
          <a:ln w="1397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it-IT" sz="1800" b="0" u="none" strike="noStrike">
              <a:solidFill>
                <a:srgbClr val="000000"/>
              </a:solidFill>
              <a:effectLst/>
              <a:uFillTx/>
              <a:latin typeface="Arial"/>
            </a:endParaRPr>
          </a:p>
        </p:txBody>
      </p:sp>
      <p:sp>
        <p:nvSpPr>
          <p:cNvPr id="691" name="Text 28"/>
          <p:cNvSpPr/>
          <p:nvPr/>
        </p:nvSpPr>
        <p:spPr>
          <a:xfrm>
            <a:off x="-734470" y="6172740"/>
            <a:ext cx="8137800" cy="365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InceptionTime uses this multiscale idea for time-series classification.</a:t>
            </a:r>
            <a:endParaRPr lang="it-IT" sz="1400" b="0" u="none" strike="noStrike">
              <a:solidFill>
                <a:srgbClr val="000000"/>
              </a:solidFill>
              <a:effectLst/>
              <a:uFillTx/>
              <a:latin typeface="Arial"/>
            </a:endParaRPr>
          </a:p>
        </p:txBody>
      </p:sp>
      <p:sp>
        <p:nvSpPr>
          <p:cNvPr id="692" name="PlaceHolder 1"/>
          <p:cNvSpPr>
            <a:spLocks noGrp="1"/>
          </p:cNvSpPr>
          <p:nvPr>
            <p:ph type="sldNum" idx="19"/>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0C726D7F-5924-4C53-B459-DCC679D3CF53}" type="slidenum">
              <a:rPr lang="en-US" sz="1200" b="0" u="none" strike="noStrike">
                <a:solidFill>
                  <a:srgbClr val="64748B"/>
                </a:solidFill>
                <a:effectLst/>
                <a:uFillTx/>
                <a:latin typeface="Aptos"/>
              </a:rPr>
              <a:t>238</a:t>
            </a:fld>
            <a:endParaRPr lang="it-IT" sz="1200" b="0" u="none" strike="noStrike">
              <a:solidFill>
                <a:srgbClr val="000000"/>
              </a:solidFill>
              <a:effectLst/>
              <a:uFillTx/>
              <a:latin typeface="Times New Roman"/>
            </a:endParaRPr>
          </a:p>
        </p:txBody>
      </p:sp>
      <p:sp>
        <p:nvSpPr>
          <p:cNvPr id="3" name="CasellaDiTesto 2">
            <a:extLst>
              <a:ext uri="{FF2B5EF4-FFF2-40B4-BE49-F238E27FC236}">
                <a16:creationId xmlns:a16="http://schemas.microsoft.com/office/drawing/2014/main" id="{5E46DDEE-8722-7E69-7DE9-EE09C77FB6DD}"/>
              </a:ext>
            </a:extLst>
          </p:cNvPr>
          <p:cNvSpPr txBox="1"/>
          <p:nvPr/>
        </p:nvSpPr>
        <p:spPr>
          <a:xfrm>
            <a:off x="6544785" y="4449027"/>
            <a:ext cx="5472029" cy="1508105"/>
          </a:xfrm>
          <a:prstGeom prst="rect">
            <a:avLst/>
          </a:prstGeom>
          <a:noFill/>
        </p:spPr>
        <p:txBody>
          <a:bodyPr wrap="square">
            <a:spAutoFit/>
          </a:bodyPr>
          <a:lstStyle/>
          <a:p>
            <a:r>
              <a:rPr lang="en-GB" dirty="0"/>
              <a:t>x→pooling→Conv1D(k=1)</a:t>
            </a:r>
          </a:p>
          <a:p>
            <a:endParaRPr lang="en-GB" dirty="0"/>
          </a:p>
          <a:p>
            <a:pPr lvl="0"/>
            <a:r>
              <a:rPr lang="en-GB" sz="1400" b="1" dirty="0"/>
              <a:t>pooling:</a:t>
            </a:r>
            <a:r>
              <a:rPr lang="en-GB" sz="1400" dirty="0"/>
              <a:t> aggregates over nearby time positions; </a:t>
            </a:r>
          </a:p>
          <a:p>
            <a:pPr lvl="0"/>
            <a:r>
              <a:rPr lang="en-GB" sz="1400" b="1" dirty="0"/>
              <a:t>Conv1D k=1:</a:t>
            </a:r>
            <a:r>
              <a:rPr lang="en-GB" sz="1400" dirty="0"/>
              <a:t> transforms/mixes channels and often controls the number of output channels before concatenation with the other Inception branches.</a:t>
            </a:r>
          </a:p>
        </p:txBody>
      </p:sp>
      <p:cxnSp>
        <p:nvCxnSpPr>
          <p:cNvPr id="5" name="Connettore 2 4">
            <a:extLst>
              <a:ext uri="{FF2B5EF4-FFF2-40B4-BE49-F238E27FC236}">
                <a16:creationId xmlns:a16="http://schemas.microsoft.com/office/drawing/2014/main" id="{21613829-72BA-1107-C89D-02E992D5D65C}"/>
              </a:ext>
            </a:extLst>
          </p:cNvPr>
          <p:cNvCxnSpPr/>
          <p:nvPr/>
        </p:nvCxnSpPr>
        <p:spPr>
          <a:xfrm flipV="1">
            <a:off x="4350774" y="4823280"/>
            <a:ext cx="2186826" cy="1469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5E35639-031C-CB1F-E887-9F1B296C47F7}"/>
              </a:ext>
            </a:extLst>
          </p:cNvPr>
          <p:cNvSpPr>
            <a:spLocks noGrp="1"/>
          </p:cNvSpPr>
          <p:nvPr>
            <p:ph type="title"/>
          </p:nvPr>
        </p:nvSpPr>
        <p:spPr/>
        <p:txBody>
          <a:bodyPr/>
          <a:lstStyle/>
          <a:p>
            <a:r>
              <a:rPr lang="en-GB" dirty="0" err="1"/>
              <a:t>InceptionTime</a:t>
            </a:r>
            <a:endParaRPr lang="en-GB" dirty="0"/>
          </a:p>
        </p:txBody>
      </p:sp>
      <p:sp>
        <p:nvSpPr>
          <p:cNvPr id="3" name="Segnaposto contenuto 2">
            <a:extLst>
              <a:ext uri="{FF2B5EF4-FFF2-40B4-BE49-F238E27FC236}">
                <a16:creationId xmlns:a16="http://schemas.microsoft.com/office/drawing/2014/main" id="{D8A31AD5-70A4-B6E5-94AF-5E0292300616}"/>
              </a:ext>
            </a:extLst>
          </p:cNvPr>
          <p:cNvSpPr>
            <a:spLocks noGrp="1"/>
          </p:cNvSpPr>
          <p:nvPr>
            <p:ph idx="1"/>
          </p:nvPr>
        </p:nvSpPr>
        <p:spPr/>
        <p:txBody>
          <a:bodyPr>
            <a:normAutofit fontScale="92500" lnSpcReduction="20000"/>
          </a:bodyPr>
          <a:lstStyle/>
          <a:p>
            <a:r>
              <a:rPr lang="en-GB" b="1" dirty="0" err="1"/>
              <a:t>InceptionTime</a:t>
            </a:r>
            <a:r>
              <a:rPr lang="en-GB" dirty="0"/>
              <a:t> is an influential convolutional architecture for time-series classification.</a:t>
            </a:r>
          </a:p>
          <a:p>
            <a:r>
              <a:rPr lang="en-GB" dirty="0"/>
              <a:t>Its main ideas include:</a:t>
            </a:r>
          </a:p>
          <a:p>
            <a:pPr lvl="1"/>
            <a:r>
              <a:rPr lang="en-GB" dirty="0"/>
              <a:t>multiple Conv1D kernel sizes in parallel; </a:t>
            </a:r>
          </a:p>
          <a:p>
            <a:pPr lvl="1"/>
            <a:r>
              <a:rPr lang="en-GB" b="1" dirty="0"/>
              <a:t>multiscale feature extraction; </a:t>
            </a:r>
          </a:p>
          <a:p>
            <a:pPr lvl="1"/>
            <a:r>
              <a:rPr lang="en-GB" b="1" dirty="0"/>
              <a:t>deep stacks </a:t>
            </a:r>
            <a:r>
              <a:rPr lang="en-GB" dirty="0"/>
              <a:t>of Inception-style modules; </a:t>
            </a:r>
          </a:p>
          <a:p>
            <a:pPr lvl="1"/>
            <a:r>
              <a:rPr lang="en-GB" dirty="0"/>
              <a:t>residual connections. </a:t>
            </a:r>
          </a:p>
          <a:p>
            <a:r>
              <a:rPr lang="en-GB" b="1" dirty="0"/>
              <a:t>Conceptual objective</a:t>
            </a:r>
          </a:p>
          <a:p>
            <a:pPr lvl="1"/>
            <a:r>
              <a:rPr lang="en-GB" dirty="0"/>
              <a:t>Learn temporal patterns at several scales </a:t>
            </a:r>
            <a:r>
              <a:rPr lang="en-GB" b="1" dirty="0"/>
              <a:t>without manually selecting one fixed feature duration.</a:t>
            </a:r>
          </a:p>
          <a:p>
            <a:endParaRPr lang="en-GB" dirty="0"/>
          </a:p>
          <a:p>
            <a:r>
              <a:rPr lang="en-GB" b="1" dirty="0"/>
              <a:t>Temporal CNNs can be organized into multibranch structures that explicitly learn patterns at several temporal scales.</a:t>
            </a:r>
          </a:p>
          <a:p>
            <a:endParaRPr lang="en-GB" dirty="0"/>
          </a:p>
        </p:txBody>
      </p:sp>
    </p:spTree>
    <p:extLst>
      <p:ext uri="{BB962C8B-B14F-4D97-AF65-F5344CB8AC3E}">
        <p14:creationId xmlns:p14="http://schemas.microsoft.com/office/powerpoint/2010/main" val="218013981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E75A99E-C10A-4A94-4B80-9CCF00FF3159}"/>
              </a:ext>
            </a:extLst>
          </p:cNvPr>
          <p:cNvSpPr>
            <a:spLocks noGrp="1"/>
          </p:cNvSpPr>
          <p:nvPr>
            <p:ph type="title"/>
          </p:nvPr>
        </p:nvSpPr>
        <p:spPr/>
        <p:txBody>
          <a:bodyPr/>
          <a:lstStyle/>
          <a:p>
            <a:r>
              <a:rPr lang="en-GB" dirty="0">
                <a:highlight>
                  <a:srgbClr val="FFFF00"/>
                </a:highlight>
              </a:rPr>
              <a:t>Example:</a:t>
            </a:r>
            <a:r>
              <a:rPr lang="en-GB" dirty="0"/>
              <a:t> multiscale machine monitoring</a:t>
            </a:r>
          </a:p>
        </p:txBody>
      </p:sp>
      <p:sp>
        <p:nvSpPr>
          <p:cNvPr id="3" name="Segnaposto contenuto 2">
            <a:extLst>
              <a:ext uri="{FF2B5EF4-FFF2-40B4-BE49-F238E27FC236}">
                <a16:creationId xmlns:a16="http://schemas.microsoft.com/office/drawing/2014/main" id="{24E2E8F6-ABDF-19E8-C6F6-F533BCA75CD0}"/>
              </a:ext>
            </a:extLst>
          </p:cNvPr>
          <p:cNvSpPr>
            <a:spLocks noGrp="1"/>
          </p:cNvSpPr>
          <p:nvPr>
            <p:ph sz="half" idx="1"/>
          </p:nvPr>
        </p:nvSpPr>
        <p:spPr>
          <a:xfrm>
            <a:off x="677334" y="2160588"/>
            <a:ext cx="6077427" cy="4697411"/>
          </a:xfrm>
        </p:spPr>
        <p:txBody>
          <a:bodyPr>
            <a:normAutofit fontScale="92500" lnSpcReduction="10000"/>
          </a:bodyPr>
          <a:lstStyle/>
          <a:p>
            <a:r>
              <a:rPr lang="en-GB" dirty="0"/>
              <a:t>Suppose a machine signal contains:</a:t>
            </a:r>
          </a:p>
          <a:p>
            <a:r>
              <a:rPr lang="en-GB" b="1" dirty="0"/>
              <a:t>Very short phenomenon</a:t>
            </a:r>
          </a:p>
          <a:p>
            <a:pPr lvl="1"/>
            <a:r>
              <a:rPr lang="en-GB" dirty="0"/>
              <a:t>A sharp impact lasting: 20 ms</a:t>
            </a:r>
          </a:p>
          <a:p>
            <a:r>
              <a:rPr lang="en-GB" b="1" dirty="0"/>
              <a:t>Medium phenomenon</a:t>
            </a:r>
          </a:p>
          <a:p>
            <a:pPr lvl="1"/>
            <a:r>
              <a:rPr lang="en-GB" dirty="0"/>
              <a:t>A vibration burst lasting: 0.5 s</a:t>
            </a:r>
          </a:p>
          <a:p>
            <a:r>
              <a:rPr lang="en-GB" b="1" dirty="0"/>
              <a:t>Long phenomenon</a:t>
            </a:r>
          </a:p>
          <a:p>
            <a:pPr lvl="1"/>
            <a:r>
              <a:rPr lang="en-GB" dirty="0"/>
              <a:t>A thermal change lasting: 10 s</a:t>
            </a:r>
          </a:p>
          <a:p>
            <a:endParaRPr lang="en-GB" dirty="0"/>
          </a:p>
          <a:p>
            <a:r>
              <a:rPr lang="en-GB" dirty="0"/>
              <a:t>At sampling rate: 100 Hz</a:t>
            </a:r>
          </a:p>
          <a:p>
            <a:r>
              <a:rPr lang="en-GB" dirty="0"/>
              <a:t>these correspond roughly to:</a:t>
            </a:r>
          </a:p>
          <a:p>
            <a:pPr lvl="1"/>
            <a:r>
              <a:rPr lang="en-GB" dirty="0"/>
              <a:t>2 frames</a:t>
            </a:r>
          </a:p>
          <a:p>
            <a:pPr lvl="1"/>
            <a:r>
              <a:rPr lang="en-GB" dirty="0"/>
              <a:t>50 frames</a:t>
            </a:r>
          </a:p>
          <a:p>
            <a:pPr lvl="1"/>
            <a:r>
              <a:rPr lang="en-GB" dirty="0"/>
              <a:t>1000 frames</a:t>
            </a:r>
          </a:p>
          <a:p>
            <a:endParaRPr lang="en-GB" dirty="0"/>
          </a:p>
        </p:txBody>
      </p:sp>
      <p:sp>
        <p:nvSpPr>
          <p:cNvPr id="4" name="Segnaposto contenuto 3">
            <a:extLst>
              <a:ext uri="{FF2B5EF4-FFF2-40B4-BE49-F238E27FC236}">
                <a16:creationId xmlns:a16="http://schemas.microsoft.com/office/drawing/2014/main" id="{3D8DAA93-216E-DABB-7527-6F0193FC360C}"/>
              </a:ext>
            </a:extLst>
          </p:cNvPr>
          <p:cNvSpPr>
            <a:spLocks noGrp="1"/>
          </p:cNvSpPr>
          <p:nvPr>
            <p:ph sz="half" idx="2"/>
          </p:nvPr>
        </p:nvSpPr>
        <p:spPr>
          <a:xfrm>
            <a:off x="5678130" y="2160589"/>
            <a:ext cx="6209070" cy="4446688"/>
          </a:xfrm>
        </p:spPr>
        <p:txBody>
          <a:bodyPr>
            <a:normAutofit fontScale="92500" lnSpcReduction="10000"/>
          </a:bodyPr>
          <a:lstStyle/>
          <a:p>
            <a:r>
              <a:rPr lang="en-GB" dirty="0"/>
              <a:t>A single small kernel may not represent all three directly.</a:t>
            </a:r>
          </a:p>
          <a:p>
            <a:r>
              <a:rPr lang="en-GB" dirty="0"/>
              <a:t>A multiscale network can combine:</a:t>
            </a:r>
          </a:p>
          <a:p>
            <a:pPr lvl="1"/>
            <a:r>
              <a:rPr lang="en-GB" dirty="0"/>
              <a:t>small kernels for impulses; </a:t>
            </a:r>
          </a:p>
          <a:p>
            <a:pPr lvl="1"/>
            <a:r>
              <a:rPr lang="en-GB" dirty="0"/>
              <a:t>medium receptive fields for vibration; </a:t>
            </a:r>
          </a:p>
          <a:p>
            <a:pPr lvl="1"/>
            <a:r>
              <a:rPr lang="en-GB" dirty="0"/>
              <a:t>deeper/dilated paths for slow context. </a:t>
            </a:r>
          </a:p>
          <a:p>
            <a:pPr marL="0" indent="0">
              <a:buNone/>
            </a:pPr>
            <a:endParaRPr lang="en-GB" b="1" dirty="0"/>
          </a:p>
          <a:p>
            <a:r>
              <a:rPr lang="en-GB" b="1" dirty="0">
                <a:highlight>
                  <a:srgbClr val="FFFF00"/>
                </a:highlight>
              </a:rPr>
              <a:t>Architectural time scales should be related to physical time scales in the process.</a:t>
            </a:r>
          </a:p>
          <a:p>
            <a:endParaRPr lang="en-GB" dirty="0"/>
          </a:p>
        </p:txBody>
      </p:sp>
    </p:spTree>
    <p:extLst>
      <p:ext uri="{BB962C8B-B14F-4D97-AF65-F5344CB8AC3E}">
        <p14:creationId xmlns:p14="http://schemas.microsoft.com/office/powerpoint/2010/main" val="217497133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C171DC7-D139-8332-1673-35CD6A314BE3}"/>
              </a:ext>
            </a:extLst>
          </p:cNvPr>
          <p:cNvSpPr>
            <a:spLocks noGrp="1"/>
          </p:cNvSpPr>
          <p:nvPr>
            <p:ph type="title"/>
          </p:nvPr>
        </p:nvSpPr>
        <p:spPr/>
        <p:txBody>
          <a:bodyPr/>
          <a:lstStyle/>
          <a:p>
            <a:r>
              <a:rPr lang="en-GB" dirty="0"/>
              <a:t>Multiscale models reduce, but do not remove, </a:t>
            </a:r>
            <a:r>
              <a:rPr lang="en-GB" dirty="0">
                <a:highlight>
                  <a:srgbClr val="FFFF00"/>
                </a:highlight>
              </a:rPr>
              <a:t>design assumptions</a:t>
            </a:r>
          </a:p>
        </p:txBody>
      </p:sp>
      <p:sp>
        <p:nvSpPr>
          <p:cNvPr id="3" name="Segnaposto contenuto 2">
            <a:extLst>
              <a:ext uri="{FF2B5EF4-FFF2-40B4-BE49-F238E27FC236}">
                <a16:creationId xmlns:a16="http://schemas.microsoft.com/office/drawing/2014/main" id="{B540595C-D055-B4BD-D8CB-1D6309458807}"/>
              </a:ext>
            </a:extLst>
          </p:cNvPr>
          <p:cNvSpPr>
            <a:spLocks noGrp="1"/>
          </p:cNvSpPr>
          <p:nvPr>
            <p:ph idx="1"/>
          </p:nvPr>
        </p:nvSpPr>
        <p:spPr>
          <a:xfrm>
            <a:off x="677333" y="2160589"/>
            <a:ext cx="9484305" cy="4358198"/>
          </a:xfrm>
        </p:spPr>
        <p:txBody>
          <a:bodyPr>
            <a:normAutofit fontScale="85000" lnSpcReduction="20000"/>
          </a:bodyPr>
          <a:lstStyle/>
          <a:p>
            <a:r>
              <a:rPr lang="en-GB" dirty="0"/>
              <a:t>Using multiple scales avoids committing to only one kernel duration.</a:t>
            </a:r>
          </a:p>
          <a:p>
            <a:r>
              <a:rPr lang="en-GB" dirty="0"/>
              <a:t>However, </a:t>
            </a:r>
            <a:r>
              <a:rPr lang="en-GB" b="1" dirty="0"/>
              <a:t>the engineer still chooses:</a:t>
            </a:r>
          </a:p>
          <a:p>
            <a:pPr lvl="1"/>
            <a:r>
              <a:rPr lang="en-GB" dirty="0"/>
              <a:t>which kernel sizes; </a:t>
            </a:r>
          </a:p>
          <a:p>
            <a:pPr lvl="1"/>
            <a:r>
              <a:rPr lang="en-GB" dirty="0"/>
              <a:t>how many branches; </a:t>
            </a:r>
          </a:p>
          <a:p>
            <a:pPr lvl="1"/>
            <a:r>
              <a:rPr lang="en-GB" dirty="0"/>
              <a:t>network depth; </a:t>
            </a:r>
          </a:p>
          <a:p>
            <a:pPr lvl="1"/>
            <a:r>
              <a:rPr lang="en-GB" dirty="0"/>
              <a:t>dilation; </a:t>
            </a:r>
          </a:p>
          <a:p>
            <a:pPr lvl="1"/>
            <a:r>
              <a:rPr lang="en-GB" dirty="0"/>
              <a:t>number of filters; </a:t>
            </a:r>
          </a:p>
          <a:p>
            <a:pPr lvl="1"/>
            <a:r>
              <a:rPr lang="en-GB" dirty="0" err="1"/>
              <a:t>downsampling</a:t>
            </a:r>
            <a:r>
              <a:rPr lang="en-GB" dirty="0"/>
              <a:t> strategy. </a:t>
            </a:r>
          </a:p>
          <a:p>
            <a:r>
              <a:rPr lang="en-GB" b="1" dirty="0"/>
              <a:t>Therefore</a:t>
            </a:r>
          </a:p>
          <a:p>
            <a:r>
              <a:rPr lang="en-GB" dirty="0"/>
              <a:t>Multiscale CNNs do not eliminate architecture design.</a:t>
            </a:r>
          </a:p>
          <a:p>
            <a:r>
              <a:rPr lang="en-GB" dirty="0"/>
              <a:t>They broaden the range of temporal patterns the model can represent.</a:t>
            </a:r>
          </a:p>
          <a:p>
            <a:endParaRPr lang="en-GB" dirty="0"/>
          </a:p>
          <a:p>
            <a:r>
              <a:rPr lang="en-GB" b="1" dirty="0"/>
              <a:t>Use domain knowledge to define reasonable ranges, then use validation to determine whether the additional complexity improves performance.</a:t>
            </a:r>
          </a:p>
          <a:p>
            <a:endParaRPr lang="en-GB" dirty="0"/>
          </a:p>
        </p:txBody>
      </p:sp>
    </p:spTree>
    <p:extLst>
      <p:ext uri="{BB962C8B-B14F-4D97-AF65-F5344CB8AC3E}">
        <p14:creationId xmlns:p14="http://schemas.microsoft.com/office/powerpoint/2010/main" val="321024257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2CAAE89-678F-04C9-434B-13E703732CCF}"/>
              </a:ext>
            </a:extLst>
          </p:cNvPr>
          <p:cNvSpPr>
            <a:spLocks noGrp="1"/>
          </p:cNvSpPr>
          <p:nvPr>
            <p:ph type="title"/>
          </p:nvPr>
        </p:nvSpPr>
        <p:spPr/>
        <p:txBody>
          <a:bodyPr/>
          <a:lstStyle/>
          <a:p>
            <a:r>
              <a:rPr lang="en-GB" dirty="0"/>
              <a:t>From handcrafted scales to learned scales</a:t>
            </a:r>
          </a:p>
        </p:txBody>
      </p:sp>
      <p:sp>
        <p:nvSpPr>
          <p:cNvPr id="3" name="Segnaposto contenuto 2">
            <a:extLst>
              <a:ext uri="{FF2B5EF4-FFF2-40B4-BE49-F238E27FC236}">
                <a16:creationId xmlns:a16="http://schemas.microsoft.com/office/drawing/2014/main" id="{4A510C7E-07D0-1AA6-2761-67BA7F4C5B67}"/>
              </a:ext>
            </a:extLst>
          </p:cNvPr>
          <p:cNvSpPr>
            <a:spLocks noGrp="1"/>
          </p:cNvSpPr>
          <p:nvPr>
            <p:ph idx="1"/>
          </p:nvPr>
        </p:nvSpPr>
        <p:spPr>
          <a:xfrm>
            <a:off x="677334" y="2160589"/>
            <a:ext cx="9528550" cy="4328701"/>
          </a:xfrm>
        </p:spPr>
        <p:txBody>
          <a:bodyPr>
            <a:normAutofit fontScale="70000" lnSpcReduction="20000"/>
          </a:bodyPr>
          <a:lstStyle/>
          <a:p>
            <a:r>
              <a:rPr lang="en-GB" dirty="0">
                <a:highlight>
                  <a:srgbClr val="FFFF00"/>
                </a:highlight>
              </a:rPr>
              <a:t>Lecture 3 used manually defined temporal scales:</a:t>
            </a:r>
          </a:p>
          <a:p>
            <a:pPr lvl="1"/>
            <a:r>
              <a:rPr lang="en-GB" dirty="0"/>
              <a:t>mean over 10 samples</a:t>
            </a:r>
          </a:p>
          <a:p>
            <a:pPr lvl="1"/>
            <a:r>
              <a:rPr lang="en-GB" dirty="0"/>
              <a:t>mean over 50 samples</a:t>
            </a:r>
          </a:p>
          <a:p>
            <a:pPr lvl="1"/>
            <a:r>
              <a:rPr lang="en-GB" dirty="0"/>
              <a:t>mean over 200 samples</a:t>
            </a:r>
          </a:p>
          <a:p>
            <a:endParaRPr lang="en-GB" dirty="0"/>
          </a:p>
          <a:p>
            <a:r>
              <a:rPr lang="en-GB" dirty="0">
                <a:highlight>
                  <a:srgbClr val="FFFF00"/>
                </a:highlight>
              </a:rPr>
              <a:t>Multiscale CNNs also operate at several temporal scales, but the representation is learned.</a:t>
            </a:r>
          </a:p>
          <a:p>
            <a:r>
              <a:rPr lang="en-GB" b="1" dirty="0"/>
              <a:t>Feature-engineering approach</a:t>
            </a:r>
          </a:p>
          <a:p>
            <a:pPr lvl="1"/>
            <a:r>
              <a:rPr lang="en-GB" dirty="0"/>
              <a:t>choose window scales</a:t>
            </a:r>
          </a:p>
          <a:p>
            <a:pPr lvl="1"/>
            <a:r>
              <a:rPr lang="en-GB" dirty="0"/>
              <a:t>      ↓</a:t>
            </a:r>
          </a:p>
          <a:p>
            <a:pPr lvl="1"/>
            <a:r>
              <a:rPr lang="en-GB" dirty="0"/>
              <a:t>calculate predefined statistics</a:t>
            </a:r>
          </a:p>
          <a:p>
            <a:r>
              <a:rPr lang="en-GB" b="1" dirty="0"/>
              <a:t>Multiscale CNN approach</a:t>
            </a:r>
          </a:p>
          <a:p>
            <a:pPr lvl="1"/>
            <a:r>
              <a:rPr lang="en-GB" dirty="0"/>
              <a:t>choose architectural scales</a:t>
            </a:r>
          </a:p>
          <a:p>
            <a:pPr lvl="1"/>
            <a:r>
              <a:rPr lang="en-GB" dirty="0"/>
              <a:t>      ↓</a:t>
            </a:r>
          </a:p>
          <a:p>
            <a:pPr lvl="1"/>
            <a:r>
              <a:rPr lang="en-GB" dirty="0"/>
              <a:t>learn filters from data</a:t>
            </a:r>
          </a:p>
          <a:p>
            <a:pPr marL="0" indent="0">
              <a:buNone/>
            </a:pPr>
            <a:endParaRPr lang="en-GB" b="1" dirty="0"/>
          </a:p>
          <a:p>
            <a:r>
              <a:rPr lang="en-GB" b="1" dirty="0"/>
              <a:t>The scale still enters the model design, but the pattern within that scale does not need to be specified manually.</a:t>
            </a:r>
          </a:p>
          <a:p>
            <a:endParaRPr lang="en-GB" dirty="0"/>
          </a:p>
        </p:txBody>
      </p:sp>
    </p:spTree>
    <p:extLst>
      <p:ext uri="{BB962C8B-B14F-4D97-AF65-F5344CB8AC3E}">
        <p14:creationId xmlns:p14="http://schemas.microsoft.com/office/powerpoint/2010/main" val="2685610392"/>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3"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dirty="0">
                <a:solidFill>
                  <a:srgbClr val="0F172A"/>
                </a:solidFill>
                <a:effectLst/>
                <a:highlight>
                  <a:srgbClr val="FFFF00"/>
                </a:highlight>
                <a:uFillTx/>
                <a:latin typeface="Aptos Display"/>
                <a:ea typeface="Aptos Display"/>
              </a:rPr>
              <a:t>Handcrafted scales versus learned scales</a:t>
            </a:r>
            <a:endParaRPr lang="it-IT" sz="3000" b="0" u="none" strike="noStrike" dirty="0">
              <a:solidFill>
                <a:srgbClr val="000000"/>
              </a:solidFill>
              <a:effectLst/>
              <a:highlight>
                <a:srgbClr val="FFFF00"/>
              </a:highlight>
              <a:uFillTx/>
              <a:latin typeface="Arial"/>
            </a:endParaRPr>
          </a:p>
        </p:txBody>
      </p:sp>
      <p:sp>
        <p:nvSpPr>
          <p:cNvPr id="694"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475569"/>
                </a:solidFill>
                <a:effectLst/>
                <a:uFillTx/>
                <a:latin typeface="Aptos"/>
                <a:ea typeface="Aptos"/>
              </a:rPr>
              <a:t>Both use multiple temporal scales, but representation differs</a:t>
            </a:r>
            <a:endParaRPr lang="it-IT" sz="1500" b="0" u="none" strike="noStrike">
              <a:solidFill>
                <a:srgbClr val="000000"/>
              </a:solidFill>
              <a:effectLst/>
              <a:uFillTx/>
              <a:latin typeface="Arial"/>
            </a:endParaRPr>
          </a:p>
        </p:txBody>
      </p:sp>
      <p:sp>
        <p:nvSpPr>
          <p:cNvPr id="695" name="Text 2"/>
          <p:cNvSpPr/>
          <p:nvPr/>
        </p:nvSpPr>
        <p:spPr>
          <a:xfrm>
            <a:off x="1097280" y="1143000"/>
            <a:ext cx="32000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0F172A"/>
                </a:solidFill>
                <a:effectLst/>
                <a:uFillTx/>
                <a:latin typeface="Aptos"/>
                <a:ea typeface="Aptos"/>
              </a:rPr>
              <a:t>Feature engineering</a:t>
            </a:r>
            <a:endParaRPr lang="it-IT" sz="1600" b="0" u="none" strike="noStrike">
              <a:solidFill>
                <a:srgbClr val="000000"/>
              </a:solidFill>
              <a:effectLst/>
              <a:uFillTx/>
              <a:latin typeface="Arial"/>
            </a:endParaRPr>
          </a:p>
        </p:txBody>
      </p:sp>
      <p:sp>
        <p:nvSpPr>
          <p:cNvPr id="696" name="Shape 3"/>
          <p:cNvSpPr/>
          <p:nvPr/>
        </p:nvSpPr>
        <p:spPr>
          <a:xfrm>
            <a:off x="914400" y="1920240"/>
            <a:ext cx="1462680" cy="456840"/>
          </a:xfrm>
          <a:prstGeom prst="roundRect">
            <a:avLst>
              <a:gd name="adj" fmla="val 16000"/>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97" name="Text 4"/>
          <p:cNvSpPr/>
          <p:nvPr/>
        </p:nvSpPr>
        <p:spPr>
          <a:xfrm>
            <a:off x="960120" y="1956960"/>
            <a:ext cx="137124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raw sequence</a:t>
            </a:r>
            <a:endParaRPr lang="it-IT" sz="1400" b="0" u="none" strike="noStrike">
              <a:solidFill>
                <a:srgbClr val="000000"/>
              </a:solidFill>
              <a:effectLst/>
              <a:uFillTx/>
              <a:latin typeface="Arial"/>
            </a:endParaRPr>
          </a:p>
        </p:txBody>
      </p:sp>
      <p:sp>
        <p:nvSpPr>
          <p:cNvPr id="698" name="Shape 5"/>
          <p:cNvSpPr/>
          <p:nvPr/>
        </p:nvSpPr>
        <p:spPr>
          <a:xfrm>
            <a:off x="3108960" y="1691640"/>
            <a:ext cx="1828440" cy="914040"/>
          </a:xfrm>
          <a:prstGeom prst="roundRect">
            <a:avLst>
              <a:gd name="adj" fmla="val 8000"/>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699" name="Text 6"/>
          <p:cNvSpPr/>
          <p:nvPr/>
        </p:nvSpPr>
        <p:spPr>
          <a:xfrm>
            <a:off x="3154680" y="1728360"/>
            <a:ext cx="1737000" cy="840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mean over 10</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mean over 50</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mean over 200</a:t>
            </a:r>
            <a:endParaRPr lang="it-IT" sz="1200" b="0" u="none" strike="noStrike">
              <a:solidFill>
                <a:srgbClr val="000000"/>
              </a:solidFill>
              <a:effectLst/>
              <a:uFillTx/>
              <a:latin typeface="Arial"/>
            </a:endParaRPr>
          </a:p>
        </p:txBody>
      </p:sp>
      <p:sp>
        <p:nvSpPr>
          <p:cNvPr id="700" name="Shape 7"/>
          <p:cNvSpPr/>
          <p:nvPr/>
        </p:nvSpPr>
        <p:spPr>
          <a:xfrm>
            <a:off x="5577840" y="1920240"/>
            <a:ext cx="1371240" cy="456840"/>
          </a:xfrm>
          <a:prstGeom prst="roundRect">
            <a:avLst>
              <a:gd name="adj" fmla="val 16000"/>
            </a:avLst>
          </a:prstGeom>
          <a:solidFill>
            <a:srgbClr val="F1F5F9"/>
          </a:solidFill>
          <a:ln w="1397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01" name="Text 8"/>
          <p:cNvSpPr/>
          <p:nvPr/>
        </p:nvSpPr>
        <p:spPr>
          <a:xfrm>
            <a:off x="5623560" y="1956960"/>
            <a:ext cx="127980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92500" lnSpcReduction="19999"/>
          </a:bodyPr>
          <a:lstStyle/>
          <a:p>
            <a:pPr algn="ctr" defTabSz="914400">
              <a:lnSpc>
                <a:spcPct val="100000"/>
              </a:lnSpc>
              <a:tabLst>
                <a:tab pos="0" algn="l"/>
              </a:tabLst>
            </a:pPr>
            <a:r>
              <a:rPr lang="en-US" sz="1200" b="1" u="none" strike="noStrike">
                <a:solidFill>
                  <a:srgbClr val="0F172A"/>
                </a:solidFill>
                <a:effectLst/>
                <a:uFillTx/>
                <a:latin typeface="Aptos"/>
                <a:ea typeface="Aptos"/>
              </a:rPr>
              <a:t>fixed feature</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vector</a:t>
            </a:r>
            <a:endParaRPr lang="it-IT" sz="1200" b="0" u="none" strike="noStrike">
              <a:solidFill>
                <a:srgbClr val="000000"/>
              </a:solidFill>
              <a:effectLst/>
              <a:uFillTx/>
              <a:latin typeface="Arial"/>
            </a:endParaRPr>
          </a:p>
        </p:txBody>
      </p:sp>
      <p:sp>
        <p:nvSpPr>
          <p:cNvPr id="702" name="Shape 9"/>
          <p:cNvSpPr/>
          <p:nvPr/>
        </p:nvSpPr>
        <p:spPr>
          <a:xfrm>
            <a:off x="2377440" y="2148840"/>
            <a:ext cx="73152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03" name="Shape 10"/>
          <p:cNvSpPr/>
          <p:nvPr/>
        </p:nvSpPr>
        <p:spPr>
          <a:xfrm>
            <a:off x="4937760" y="2148840"/>
            <a:ext cx="64008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04" name="Text 11"/>
          <p:cNvSpPr/>
          <p:nvPr/>
        </p:nvSpPr>
        <p:spPr>
          <a:xfrm>
            <a:off x="1920240" y="2880540"/>
            <a:ext cx="420588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dirty="0">
                <a:solidFill>
                  <a:srgbClr val="475569"/>
                </a:solidFill>
                <a:effectLst/>
                <a:uFillTx/>
                <a:latin typeface="Aptos"/>
                <a:ea typeface="Aptos"/>
              </a:rPr>
              <a:t>predefined statistics at chosen scales</a:t>
            </a:r>
            <a:endParaRPr lang="it-IT" sz="1200" b="0" u="none" strike="noStrike" dirty="0">
              <a:solidFill>
                <a:srgbClr val="000000"/>
              </a:solidFill>
              <a:effectLst/>
              <a:uFillTx/>
              <a:latin typeface="Arial"/>
            </a:endParaRPr>
          </a:p>
        </p:txBody>
      </p:sp>
      <p:sp>
        <p:nvSpPr>
          <p:cNvPr id="705" name="Text 12"/>
          <p:cNvSpPr/>
          <p:nvPr/>
        </p:nvSpPr>
        <p:spPr>
          <a:xfrm>
            <a:off x="1097280" y="3840480"/>
            <a:ext cx="320004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0F172A"/>
                </a:solidFill>
                <a:effectLst/>
                <a:uFillTx/>
                <a:latin typeface="Aptos"/>
                <a:ea typeface="Aptos"/>
              </a:rPr>
              <a:t>Multiscale CNN</a:t>
            </a:r>
            <a:endParaRPr lang="it-IT" sz="1600" b="0" u="none" strike="noStrike">
              <a:solidFill>
                <a:srgbClr val="000000"/>
              </a:solidFill>
              <a:effectLst/>
              <a:uFillTx/>
              <a:latin typeface="Arial"/>
            </a:endParaRPr>
          </a:p>
        </p:txBody>
      </p:sp>
      <p:sp>
        <p:nvSpPr>
          <p:cNvPr id="706" name="Shape 13"/>
          <p:cNvSpPr/>
          <p:nvPr/>
        </p:nvSpPr>
        <p:spPr>
          <a:xfrm>
            <a:off x="914400" y="4617720"/>
            <a:ext cx="1462680" cy="456840"/>
          </a:xfrm>
          <a:prstGeom prst="roundRect">
            <a:avLst>
              <a:gd name="adj" fmla="val 16000"/>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07" name="Text 14"/>
          <p:cNvSpPr/>
          <p:nvPr/>
        </p:nvSpPr>
        <p:spPr>
          <a:xfrm>
            <a:off x="960120" y="4654440"/>
            <a:ext cx="137124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400" b="1" u="none" strike="noStrike">
                <a:solidFill>
                  <a:srgbClr val="0F172A"/>
                </a:solidFill>
                <a:effectLst/>
                <a:uFillTx/>
                <a:latin typeface="Aptos"/>
                <a:ea typeface="Aptos"/>
              </a:rPr>
              <a:t>raw sequence</a:t>
            </a:r>
            <a:endParaRPr lang="it-IT" sz="1400" b="0" u="none" strike="noStrike">
              <a:solidFill>
                <a:srgbClr val="000000"/>
              </a:solidFill>
              <a:effectLst/>
              <a:uFillTx/>
              <a:latin typeface="Arial"/>
            </a:endParaRPr>
          </a:p>
        </p:txBody>
      </p:sp>
      <p:sp>
        <p:nvSpPr>
          <p:cNvPr id="708" name="Shape 15"/>
          <p:cNvSpPr/>
          <p:nvPr/>
        </p:nvSpPr>
        <p:spPr>
          <a:xfrm>
            <a:off x="3108960" y="4407480"/>
            <a:ext cx="1828440" cy="914040"/>
          </a:xfrm>
          <a:prstGeom prst="roundRect">
            <a:avLst>
              <a:gd name="adj" fmla="val 8000"/>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09" name="Text 16"/>
          <p:cNvSpPr/>
          <p:nvPr/>
        </p:nvSpPr>
        <p:spPr>
          <a:xfrm>
            <a:off x="3154680" y="4443840"/>
            <a:ext cx="1737000" cy="840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K=3</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K=9</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K=21</a:t>
            </a:r>
            <a:endParaRPr lang="it-IT" sz="1200" b="0" u="none" strike="noStrike">
              <a:solidFill>
                <a:srgbClr val="000000"/>
              </a:solidFill>
              <a:effectLst/>
              <a:uFillTx/>
              <a:latin typeface="Arial"/>
            </a:endParaRPr>
          </a:p>
        </p:txBody>
      </p:sp>
      <p:sp>
        <p:nvSpPr>
          <p:cNvPr id="710" name="Shape 17"/>
          <p:cNvSpPr/>
          <p:nvPr/>
        </p:nvSpPr>
        <p:spPr>
          <a:xfrm>
            <a:off x="5577840" y="4617720"/>
            <a:ext cx="1371240" cy="456840"/>
          </a:xfrm>
          <a:prstGeom prst="roundRect">
            <a:avLst>
              <a:gd name="adj" fmla="val 16000"/>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11" name="Text 18"/>
          <p:cNvSpPr/>
          <p:nvPr/>
        </p:nvSpPr>
        <p:spPr>
          <a:xfrm>
            <a:off x="5623560" y="4654440"/>
            <a:ext cx="1279800" cy="38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fontScale="92500" lnSpcReduction="19999"/>
          </a:bodyPr>
          <a:lstStyle/>
          <a:p>
            <a:pPr algn="ctr" defTabSz="914400">
              <a:lnSpc>
                <a:spcPct val="100000"/>
              </a:lnSpc>
              <a:tabLst>
                <a:tab pos="0" algn="l"/>
              </a:tabLst>
            </a:pPr>
            <a:r>
              <a:rPr lang="en-US" sz="1200" b="1" u="none" strike="noStrike">
                <a:solidFill>
                  <a:srgbClr val="0F172A"/>
                </a:solidFill>
                <a:effectLst/>
                <a:uFillTx/>
                <a:latin typeface="Aptos"/>
                <a:ea typeface="Aptos"/>
              </a:rPr>
              <a:t>learned feature</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maps</a:t>
            </a:r>
            <a:endParaRPr lang="it-IT" sz="1200" b="0" u="none" strike="noStrike">
              <a:solidFill>
                <a:srgbClr val="000000"/>
              </a:solidFill>
              <a:effectLst/>
              <a:uFillTx/>
              <a:latin typeface="Arial"/>
            </a:endParaRPr>
          </a:p>
        </p:txBody>
      </p:sp>
      <p:sp>
        <p:nvSpPr>
          <p:cNvPr id="712" name="Shape 19"/>
          <p:cNvSpPr/>
          <p:nvPr/>
        </p:nvSpPr>
        <p:spPr>
          <a:xfrm>
            <a:off x="2377440" y="4846320"/>
            <a:ext cx="73152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13" name="Shape 20"/>
          <p:cNvSpPr/>
          <p:nvPr/>
        </p:nvSpPr>
        <p:spPr>
          <a:xfrm>
            <a:off x="4937760" y="4846320"/>
            <a:ext cx="640080" cy="360"/>
          </a:xfrm>
          <a:prstGeom prst="line">
            <a:avLst/>
          </a:prstGeom>
          <a:ln w="1905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14" name="Text 21"/>
          <p:cNvSpPr/>
          <p:nvPr/>
        </p:nvSpPr>
        <p:spPr>
          <a:xfrm>
            <a:off x="1965960" y="5669280"/>
            <a:ext cx="420588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0" u="none" strike="noStrike">
                <a:solidFill>
                  <a:srgbClr val="475569"/>
                </a:solidFill>
                <a:effectLst/>
                <a:uFillTx/>
                <a:latin typeface="Aptos"/>
                <a:ea typeface="Aptos"/>
              </a:rPr>
              <a:t>learned filters at architectural scales</a:t>
            </a:r>
            <a:endParaRPr lang="it-IT" sz="1200" b="0" u="none" strike="noStrike">
              <a:solidFill>
                <a:srgbClr val="000000"/>
              </a:solidFill>
              <a:effectLst/>
              <a:uFillTx/>
              <a:latin typeface="Arial"/>
            </a:endParaRPr>
          </a:p>
        </p:txBody>
      </p:sp>
      <p:sp>
        <p:nvSpPr>
          <p:cNvPr id="715" name="PlaceHolder 1"/>
          <p:cNvSpPr>
            <a:spLocks noGrp="1"/>
          </p:cNvSpPr>
          <p:nvPr>
            <p:ph type="sldNum" idx="20"/>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FCEF97F6-7F8C-4C58-81B1-7804090DAD8C}" type="slidenum">
              <a:rPr lang="en-US" sz="1200" b="0" u="none" strike="noStrike">
                <a:solidFill>
                  <a:srgbClr val="64748B"/>
                </a:solidFill>
                <a:effectLst/>
                <a:uFillTx/>
                <a:latin typeface="Aptos"/>
              </a:rPr>
              <a:t>243</a:t>
            </a:fld>
            <a:endParaRPr lang="it-IT" sz="1200" b="0" u="none" strike="noStrike">
              <a:solidFill>
                <a:srgbClr val="000000"/>
              </a:solidFill>
              <a:effectLst/>
              <a:uFillTx/>
              <a:latin typeface="Times New Roman"/>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FA795F9-2222-667F-2D53-99C59748A714}"/>
              </a:ext>
            </a:extLst>
          </p:cNvPr>
          <p:cNvSpPr>
            <a:spLocks noGrp="1"/>
          </p:cNvSpPr>
          <p:nvPr>
            <p:ph type="title"/>
          </p:nvPr>
        </p:nvSpPr>
        <p:spPr/>
        <p:txBody>
          <a:bodyPr/>
          <a:lstStyle/>
          <a:p>
            <a:r>
              <a:rPr lang="en-GB" dirty="0"/>
              <a:t>Where multiscale CNNs fit in the model hierarchy</a:t>
            </a:r>
          </a:p>
        </p:txBody>
      </p:sp>
      <p:sp>
        <p:nvSpPr>
          <p:cNvPr id="3" name="Segnaposto contenuto 2">
            <a:extLst>
              <a:ext uri="{FF2B5EF4-FFF2-40B4-BE49-F238E27FC236}">
                <a16:creationId xmlns:a16="http://schemas.microsoft.com/office/drawing/2014/main" id="{89C9ADC2-F3D4-C97B-A67B-D88D46607E15}"/>
              </a:ext>
            </a:extLst>
          </p:cNvPr>
          <p:cNvSpPr>
            <a:spLocks noGrp="1"/>
          </p:cNvSpPr>
          <p:nvPr>
            <p:ph sz="half" idx="1"/>
          </p:nvPr>
        </p:nvSpPr>
        <p:spPr>
          <a:xfrm>
            <a:off x="677334" y="2160589"/>
            <a:ext cx="5083386" cy="4529770"/>
          </a:xfrm>
        </p:spPr>
        <p:txBody>
          <a:bodyPr>
            <a:normAutofit/>
          </a:bodyPr>
          <a:lstStyle/>
          <a:p>
            <a:r>
              <a:rPr lang="en-GB" dirty="0"/>
              <a:t>The progression so far is:</a:t>
            </a:r>
          </a:p>
          <a:p>
            <a:r>
              <a:rPr lang="en-GB" dirty="0"/>
              <a:t>handcrafted temporal features</a:t>
            </a:r>
          </a:p>
          <a:p>
            <a:r>
              <a:rPr lang="en-GB" dirty="0"/>
              <a:t>        ↓</a:t>
            </a:r>
          </a:p>
          <a:p>
            <a:r>
              <a:rPr lang="en-GB" dirty="0"/>
              <a:t>standard Conv1D</a:t>
            </a:r>
          </a:p>
          <a:p>
            <a:r>
              <a:rPr lang="en-GB" dirty="0"/>
              <a:t>        ↓</a:t>
            </a:r>
          </a:p>
          <a:p>
            <a:r>
              <a:rPr lang="en-GB" dirty="0"/>
              <a:t>deep receptive fields</a:t>
            </a:r>
          </a:p>
          <a:p>
            <a:r>
              <a:rPr lang="en-GB" dirty="0"/>
              <a:t>        ↓</a:t>
            </a:r>
          </a:p>
          <a:p>
            <a:r>
              <a:rPr lang="en-GB" dirty="0"/>
              <a:t>dilated TCN</a:t>
            </a:r>
          </a:p>
          <a:p>
            <a:r>
              <a:rPr lang="en-GB" dirty="0"/>
              <a:t>        ↓</a:t>
            </a:r>
          </a:p>
          <a:p>
            <a:r>
              <a:rPr lang="en-GB" dirty="0"/>
              <a:t>multiscale temporal CNN</a:t>
            </a:r>
          </a:p>
          <a:p>
            <a:endParaRPr lang="en-GB" dirty="0"/>
          </a:p>
        </p:txBody>
      </p:sp>
      <p:sp>
        <p:nvSpPr>
          <p:cNvPr id="4" name="Segnaposto contenuto 3">
            <a:extLst>
              <a:ext uri="{FF2B5EF4-FFF2-40B4-BE49-F238E27FC236}">
                <a16:creationId xmlns:a16="http://schemas.microsoft.com/office/drawing/2014/main" id="{6658EEFD-4E5A-E359-0AF6-2DA7AE45179D}"/>
              </a:ext>
            </a:extLst>
          </p:cNvPr>
          <p:cNvSpPr>
            <a:spLocks noGrp="1"/>
          </p:cNvSpPr>
          <p:nvPr>
            <p:ph sz="half" idx="2"/>
          </p:nvPr>
        </p:nvSpPr>
        <p:spPr>
          <a:xfrm>
            <a:off x="5958650" y="2160589"/>
            <a:ext cx="5989510" cy="4529771"/>
          </a:xfrm>
        </p:spPr>
        <p:txBody>
          <a:bodyPr/>
          <a:lstStyle/>
          <a:p>
            <a:r>
              <a:rPr lang="en-GB" dirty="0"/>
              <a:t>Each step increases flexibility in how temporal structure is represented.</a:t>
            </a:r>
          </a:p>
          <a:p>
            <a:r>
              <a:rPr lang="en-GB" b="1" dirty="0"/>
              <a:t>But greater flexibility also increases</a:t>
            </a:r>
          </a:p>
          <a:p>
            <a:pPr lvl="1"/>
            <a:r>
              <a:rPr lang="en-GB" dirty="0"/>
              <a:t>computational cost; </a:t>
            </a:r>
          </a:p>
          <a:p>
            <a:pPr lvl="1"/>
            <a:r>
              <a:rPr lang="en-GB" dirty="0"/>
              <a:t>model-selection complexity; </a:t>
            </a:r>
          </a:p>
          <a:p>
            <a:pPr lvl="1"/>
            <a:r>
              <a:rPr lang="en-GB" dirty="0"/>
              <a:t>data requirements; </a:t>
            </a:r>
          </a:p>
          <a:p>
            <a:pPr lvl="1"/>
            <a:r>
              <a:rPr lang="en-GB" dirty="0"/>
              <a:t>debugging difficulty.</a:t>
            </a:r>
          </a:p>
          <a:p>
            <a:endParaRPr lang="en-GB" dirty="0"/>
          </a:p>
        </p:txBody>
      </p:sp>
    </p:spTree>
    <p:extLst>
      <p:ext uri="{BB962C8B-B14F-4D97-AF65-F5344CB8AC3E}">
        <p14:creationId xmlns:p14="http://schemas.microsoft.com/office/powerpoint/2010/main" val="923409667"/>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 name="Text 0"/>
          <p:cNvSpPr/>
          <p:nvPr/>
        </p:nvSpPr>
        <p:spPr>
          <a:xfrm>
            <a:off x="502920" y="320040"/>
            <a:ext cx="98751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dirty="0">
                <a:solidFill>
                  <a:srgbClr val="0F172A"/>
                </a:solidFill>
                <a:effectLst/>
                <a:uFillTx/>
                <a:latin typeface="Aptos Display"/>
                <a:ea typeface="Aptos Display"/>
              </a:rPr>
              <a:t>Where multiscale CNNs fit</a:t>
            </a:r>
            <a:r>
              <a:rPr lang="en-US" sz="3000" b="1" dirty="0">
                <a:solidFill>
                  <a:srgbClr val="0F172A"/>
                </a:solidFill>
                <a:latin typeface="Aptos Display"/>
                <a:ea typeface="Aptos Display"/>
              </a:rPr>
              <a:t> in the model hierarchy</a:t>
            </a:r>
            <a:endParaRPr lang="it-IT" sz="3000" b="0" u="none" strike="noStrike" dirty="0">
              <a:solidFill>
                <a:srgbClr val="000000"/>
              </a:solidFill>
              <a:effectLst/>
              <a:uFillTx/>
              <a:latin typeface="Arial"/>
            </a:endParaRPr>
          </a:p>
        </p:txBody>
      </p:sp>
      <p:sp>
        <p:nvSpPr>
          <p:cNvPr id="717" name="Text 1"/>
          <p:cNvSpPr/>
          <p:nvPr/>
        </p:nvSpPr>
        <p:spPr>
          <a:xfrm>
            <a:off x="530280" y="804600"/>
            <a:ext cx="95094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dirty="0">
                <a:solidFill>
                  <a:srgbClr val="475569"/>
                </a:solidFill>
                <a:effectLst/>
                <a:uFillTx/>
                <a:latin typeface="Aptos"/>
                <a:ea typeface="Aptos"/>
              </a:rPr>
              <a:t>A model hierarchy for temporal representation</a:t>
            </a:r>
            <a:endParaRPr lang="it-IT" sz="1500" b="0" u="none" strike="noStrike" dirty="0">
              <a:solidFill>
                <a:srgbClr val="000000"/>
              </a:solidFill>
              <a:effectLst/>
              <a:uFillTx/>
              <a:latin typeface="Arial"/>
            </a:endParaRPr>
          </a:p>
        </p:txBody>
      </p:sp>
      <p:sp>
        <p:nvSpPr>
          <p:cNvPr id="718" name="Shape 2"/>
          <p:cNvSpPr/>
          <p:nvPr/>
        </p:nvSpPr>
        <p:spPr>
          <a:xfrm>
            <a:off x="914400" y="2743200"/>
            <a:ext cx="1325520" cy="639720"/>
          </a:xfrm>
          <a:prstGeom prst="roundRect">
            <a:avLst>
              <a:gd name="adj" fmla="val 11429"/>
            </a:avLst>
          </a:prstGeom>
          <a:solidFill>
            <a:srgbClr val="FEF3C7"/>
          </a:solidFill>
          <a:ln w="1397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19" name="Text 3"/>
          <p:cNvSpPr/>
          <p:nvPr/>
        </p:nvSpPr>
        <p:spPr>
          <a:xfrm>
            <a:off x="960120" y="2779920"/>
            <a:ext cx="123408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handcrafted</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features</a:t>
            </a:r>
            <a:endParaRPr lang="it-IT" sz="1200" b="0" u="none" strike="noStrike">
              <a:solidFill>
                <a:srgbClr val="000000"/>
              </a:solidFill>
              <a:effectLst/>
              <a:uFillTx/>
              <a:latin typeface="Arial"/>
            </a:endParaRPr>
          </a:p>
        </p:txBody>
      </p:sp>
      <p:sp>
        <p:nvSpPr>
          <p:cNvPr id="720" name="Shape 4"/>
          <p:cNvSpPr/>
          <p:nvPr/>
        </p:nvSpPr>
        <p:spPr>
          <a:xfrm>
            <a:off x="2240280" y="3063240"/>
            <a:ext cx="685800" cy="360"/>
          </a:xfrm>
          <a:prstGeom prst="line">
            <a:avLst/>
          </a:prstGeom>
          <a:ln w="1397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21" name="Shape 5"/>
          <p:cNvSpPr/>
          <p:nvPr/>
        </p:nvSpPr>
        <p:spPr>
          <a:xfrm>
            <a:off x="2926080" y="2743200"/>
            <a:ext cx="1325520" cy="639720"/>
          </a:xfrm>
          <a:prstGeom prst="roundRect">
            <a:avLst>
              <a:gd name="adj" fmla="val 11429"/>
            </a:avLst>
          </a:prstGeom>
          <a:solidFill>
            <a:srgbClr val="DBEAFE"/>
          </a:solidFill>
          <a:ln w="1397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22" name="Text 6"/>
          <p:cNvSpPr/>
          <p:nvPr/>
        </p:nvSpPr>
        <p:spPr>
          <a:xfrm>
            <a:off x="2971800" y="2779920"/>
            <a:ext cx="123408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standard</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Conv1D</a:t>
            </a:r>
            <a:endParaRPr lang="it-IT" sz="1200" b="0" u="none" strike="noStrike">
              <a:solidFill>
                <a:srgbClr val="000000"/>
              </a:solidFill>
              <a:effectLst/>
              <a:uFillTx/>
              <a:latin typeface="Arial"/>
            </a:endParaRPr>
          </a:p>
        </p:txBody>
      </p:sp>
      <p:sp>
        <p:nvSpPr>
          <p:cNvPr id="723" name="Shape 7"/>
          <p:cNvSpPr/>
          <p:nvPr/>
        </p:nvSpPr>
        <p:spPr>
          <a:xfrm>
            <a:off x="4251960" y="3063240"/>
            <a:ext cx="685800" cy="360"/>
          </a:xfrm>
          <a:prstGeom prst="line">
            <a:avLst/>
          </a:prstGeom>
          <a:ln w="1397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24" name="Shape 8"/>
          <p:cNvSpPr/>
          <p:nvPr/>
        </p:nvSpPr>
        <p:spPr>
          <a:xfrm>
            <a:off x="4937760" y="2743200"/>
            <a:ext cx="1325520" cy="639720"/>
          </a:xfrm>
          <a:prstGeom prst="roundRect">
            <a:avLst>
              <a:gd name="adj" fmla="val 11429"/>
            </a:avLst>
          </a:prstGeom>
          <a:solidFill>
            <a:srgbClr val="ECFCCB"/>
          </a:solidFill>
          <a:ln w="13970">
            <a:solidFill>
              <a:srgbClr val="86B81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25" name="Text 9"/>
          <p:cNvSpPr/>
          <p:nvPr/>
        </p:nvSpPr>
        <p:spPr>
          <a:xfrm>
            <a:off x="4983480" y="2779920"/>
            <a:ext cx="123408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deep receptive</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fields</a:t>
            </a:r>
            <a:endParaRPr lang="it-IT" sz="1200" b="0" u="none" strike="noStrike">
              <a:solidFill>
                <a:srgbClr val="000000"/>
              </a:solidFill>
              <a:effectLst/>
              <a:uFillTx/>
              <a:latin typeface="Arial"/>
            </a:endParaRPr>
          </a:p>
        </p:txBody>
      </p:sp>
      <p:sp>
        <p:nvSpPr>
          <p:cNvPr id="726" name="Shape 10"/>
          <p:cNvSpPr/>
          <p:nvPr/>
        </p:nvSpPr>
        <p:spPr>
          <a:xfrm>
            <a:off x="6263640" y="3063240"/>
            <a:ext cx="685800" cy="360"/>
          </a:xfrm>
          <a:prstGeom prst="line">
            <a:avLst/>
          </a:prstGeom>
          <a:ln w="1397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27" name="Shape 11"/>
          <p:cNvSpPr/>
          <p:nvPr/>
        </p:nvSpPr>
        <p:spPr>
          <a:xfrm>
            <a:off x="6949440" y="2743200"/>
            <a:ext cx="1325520" cy="639720"/>
          </a:xfrm>
          <a:prstGeom prst="roundRect">
            <a:avLst>
              <a:gd name="adj" fmla="val 11429"/>
            </a:avLst>
          </a:prstGeom>
          <a:solidFill>
            <a:srgbClr val="EDE9FE"/>
          </a:solidFill>
          <a:ln w="13970">
            <a:solidFill>
              <a:srgbClr val="7C3AE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28" name="Text 12"/>
          <p:cNvSpPr/>
          <p:nvPr/>
        </p:nvSpPr>
        <p:spPr>
          <a:xfrm>
            <a:off x="6995160" y="2779920"/>
            <a:ext cx="123408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dilated</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TCN</a:t>
            </a:r>
            <a:endParaRPr lang="it-IT" sz="1200" b="0" u="none" strike="noStrike">
              <a:solidFill>
                <a:srgbClr val="000000"/>
              </a:solidFill>
              <a:effectLst/>
              <a:uFillTx/>
              <a:latin typeface="Arial"/>
            </a:endParaRPr>
          </a:p>
        </p:txBody>
      </p:sp>
      <p:sp>
        <p:nvSpPr>
          <p:cNvPr id="729" name="Shape 13"/>
          <p:cNvSpPr/>
          <p:nvPr/>
        </p:nvSpPr>
        <p:spPr>
          <a:xfrm>
            <a:off x="8275320" y="3063240"/>
            <a:ext cx="685800" cy="360"/>
          </a:xfrm>
          <a:prstGeom prst="line">
            <a:avLst/>
          </a:prstGeom>
          <a:ln w="13970">
            <a:solidFill>
              <a:srgbClr val="475569"/>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30" name="Shape 14"/>
          <p:cNvSpPr/>
          <p:nvPr/>
        </p:nvSpPr>
        <p:spPr>
          <a:xfrm>
            <a:off x="8961120" y="2743200"/>
            <a:ext cx="1325520" cy="639720"/>
          </a:xfrm>
          <a:prstGeom prst="roundRect">
            <a:avLst>
              <a:gd name="adj" fmla="val 11429"/>
            </a:avLst>
          </a:prstGeom>
          <a:solidFill>
            <a:srgbClr val="CCFBF1"/>
          </a:solidFill>
          <a:ln w="13970">
            <a:solidFill>
              <a:srgbClr val="0F766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u="none" strike="noStrike">
              <a:solidFill>
                <a:srgbClr val="000000"/>
              </a:solidFill>
              <a:effectLst/>
              <a:uFillTx/>
              <a:latin typeface="Arial"/>
            </a:endParaRPr>
          </a:p>
        </p:txBody>
      </p:sp>
      <p:sp>
        <p:nvSpPr>
          <p:cNvPr id="731" name="Text 15"/>
          <p:cNvSpPr/>
          <p:nvPr/>
        </p:nvSpPr>
        <p:spPr>
          <a:xfrm>
            <a:off x="9006840" y="2779920"/>
            <a:ext cx="123408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algn="ctr" defTabSz="914400">
              <a:lnSpc>
                <a:spcPct val="100000"/>
              </a:lnSpc>
              <a:tabLst>
                <a:tab pos="0" algn="l"/>
              </a:tabLst>
            </a:pPr>
            <a:r>
              <a:rPr lang="en-US" sz="1200" b="1" u="none" strike="noStrike">
                <a:solidFill>
                  <a:srgbClr val="0F172A"/>
                </a:solidFill>
                <a:effectLst/>
                <a:uFillTx/>
                <a:latin typeface="Aptos"/>
                <a:ea typeface="Aptos"/>
              </a:rPr>
              <a:t>multiscale</a:t>
            </a:r>
            <a:endParaRPr lang="it-IT"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0F172A"/>
                </a:solidFill>
                <a:effectLst/>
                <a:uFillTx/>
                <a:latin typeface="Aptos"/>
                <a:ea typeface="Aptos"/>
              </a:rPr>
              <a:t>CNN</a:t>
            </a:r>
            <a:endParaRPr lang="it-IT" sz="1200" b="0" u="none" strike="noStrike">
              <a:solidFill>
                <a:srgbClr val="000000"/>
              </a:solidFill>
              <a:effectLst/>
              <a:uFillTx/>
              <a:latin typeface="Arial"/>
            </a:endParaRPr>
          </a:p>
        </p:txBody>
      </p:sp>
      <p:sp>
        <p:nvSpPr>
          <p:cNvPr id="732" name="Text 16"/>
          <p:cNvSpPr/>
          <p:nvPr/>
        </p:nvSpPr>
        <p:spPr>
          <a:xfrm>
            <a:off x="3291840" y="3794760"/>
            <a:ext cx="4663080" cy="273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dirty="0">
                <a:solidFill>
                  <a:srgbClr val="0F172A"/>
                </a:solidFill>
                <a:effectLst/>
                <a:highlight>
                  <a:srgbClr val="FFFF00"/>
                </a:highlight>
                <a:uFillTx/>
                <a:latin typeface="Aptos"/>
                <a:ea typeface="Aptos"/>
              </a:rPr>
              <a:t>more flexible learned temporal representations</a:t>
            </a:r>
            <a:endParaRPr lang="it-IT" sz="1400" b="0" u="none" strike="noStrike" dirty="0">
              <a:solidFill>
                <a:srgbClr val="000000"/>
              </a:solidFill>
              <a:effectLst/>
              <a:highlight>
                <a:srgbClr val="FFFF00"/>
              </a:highlight>
              <a:uFillTx/>
              <a:latin typeface="Arial"/>
            </a:endParaRPr>
          </a:p>
        </p:txBody>
      </p:sp>
      <p:sp>
        <p:nvSpPr>
          <p:cNvPr id="733" name="Shape 17"/>
          <p:cNvSpPr/>
          <p:nvPr/>
        </p:nvSpPr>
        <p:spPr>
          <a:xfrm>
            <a:off x="2011680" y="3657600"/>
            <a:ext cx="7680960" cy="360"/>
          </a:xfrm>
          <a:prstGeom prst="line">
            <a:avLst/>
          </a:prstGeom>
          <a:ln w="15240">
            <a:solidFill>
              <a:srgbClr val="86B817"/>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34" name="Shape 18"/>
          <p:cNvSpPr/>
          <p:nvPr/>
        </p:nvSpPr>
        <p:spPr>
          <a:xfrm>
            <a:off x="9692640" y="3657600"/>
            <a:ext cx="274320" cy="360"/>
          </a:xfrm>
          <a:prstGeom prst="line">
            <a:avLst/>
          </a:prstGeom>
          <a:ln w="15240">
            <a:solidFill>
              <a:srgbClr val="86B817"/>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it-IT" sz="1800" b="0" u="none" strike="noStrike">
              <a:solidFill>
                <a:srgbClr val="000000"/>
              </a:solidFill>
              <a:effectLst/>
              <a:uFillTx/>
              <a:latin typeface="Arial"/>
            </a:endParaRPr>
          </a:p>
        </p:txBody>
      </p:sp>
      <p:sp>
        <p:nvSpPr>
          <p:cNvPr id="737" name="PlaceHolder 1"/>
          <p:cNvSpPr>
            <a:spLocks noGrp="1"/>
          </p:cNvSpPr>
          <p:nvPr>
            <p:ph type="sldNum" idx="21"/>
          </p:nvPr>
        </p:nvSpPr>
        <p:spPr>
          <a:xfrm>
            <a:off x="10652760" y="6492240"/>
            <a:ext cx="799560" cy="299520"/>
          </a:xfrm>
          <a:prstGeom prst="rect">
            <a:avLst/>
          </a:prstGeom>
          <a:noFill/>
          <a:ln w="0">
            <a:noFill/>
          </a:ln>
        </p:spPr>
        <p:txBody>
          <a:bodyPr lIns="90000" tIns="45000" rIns="90000" bIns="45000" anchor="t">
            <a:noAutofit/>
          </a:bodyPr>
          <a:lstStyle>
            <a:lvl1pPr indent="0" defTabSz="914400">
              <a:lnSpc>
                <a:spcPct val="100000"/>
              </a:lnSpc>
              <a:buNone/>
              <a:defRPr lang="en-US" sz="1200" b="0" u="none" strike="noStrike">
                <a:solidFill>
                  <a:srgbClr val="64748B"/>
                </a:solidFill>
                <a:effectLst/>
                <a:uFillTx/>
                <a:latin typeface="Aptos"/>
              </a:defRPr>
            </a:lvl1pPr>
          </a:lstStyle>
          <a:p>
            <a:pPr indent="0" defTabSz="914400">
              <a:lnSpc>
                <a:spcPct val="100000"/>
              </a:lnSpc>
              <a:buNone/>
            </a:pPr>
            <a:fld id="{D68CF39A-DF01-4294-8D7D-FC1C464B518B}" type="slidenum">
              <a:rPr lang="en-US" sz="1200" b="0" u="none" strike="noStrike">
                <a:solidFill>
                  <a:srgbClr val="64748B"/>
                </a:solidFill>
                <a:effectLst/>
                <a:uFillTx/>
                <a:latin typeface="Aptos"/>
              </a:rPr>
              <a:t>245</a:t>
            </a:fld>
            <a:endParaRPr lang="it-IT" sz="1200" b="0" u="none" strike="noStrike">
              <a:solidFill>
                <a:srgbClr val="000000"/>
              </a:solidFill>
              <a:effectLst/>
              <a:uFillTx/>
              <a:latin typeface="Times New Roman"/>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76452A1-2838-180C-BC0D-4E34C82C5E81}"/>
              </a:ext>
            </a:extLst>
          </p:cNvPr>
          <p:cNvSpPr>
            <a:spLocks noGrp="1"/>
          </p:cNvSpPr>
          <p:nvPr>
            <p:ph type="title"/>
          </p:nvPr>
        </p:nvSpPr>
        <p:spPr/>
        <p:txBody>
          <a:bodyPr/>
          <a:lstStyle/>
          <a:p>
            <a:r>
              <a:rPr lang="it-IT" dirty="0"/>
              <a:t>Code </a:t>
            </a:r>
            <a:r>
              <a:rPr lang="it-IT" dirty="0" err="1"/>
              <a:t>examples</a:t>
            </a:r>
            <a:endParaRPr lang="en-GB" dirty="0"/>
          </a:p>
        </p:txBody>
      </p:sp>
      <p:sp>
        <p:nvSpPr>
          <p:cNvPr id="3" name="Segnaposto testo 2">
            <a:extLst>
              <a:ext uri="{FF2B5EF4-FFF2-40B4-BE49-F238E27FC236}">
                <a16:creationId xmlns:a16="http://schemas.microsoft.com/office/drawing/2014/main" id="{3CC44DFF-1530-CCF2-60DA-7169BAA4D3C5}"/>
              </a:ext>
            </a:extLst>
          </p:cNvPr>
          <p:cNvSpPr>
            <a:spLocks noGrp="1"/>
          </p:cNvSpPr>
          <p:nvPr>
            <p:ph type="body"/>
          </p:nvPr>
        </p:nvSpPr>
        <p:spPr>
          <a:xfrm>
            <a:off x="609480" y="3429000"/>
            <a:ext cx="10972440" cy="1144800"/>
          </a:xfrm>
        </p:spPr>
        <p:txBody>
          <a:bodyPr/>
          <a:lstStyle/>
          <a:p>
            <a:pPr marL="571500" indent="-571500">
              <a:buFont typeface="Arial" panose="020B0604020202020204" pitchFamily="34" charset="0"/>
              <a:buChar char="•"/>
            </a:pPr>
            <a:r>
              <a:rPr lang="it-IT" sz="2400" dirty="0">
                <a:solidFill>
                  <a:schemeClr val="tx1"/>
                </a:solidFill>
              </a:rPr>
              <a:t>Same </a:t>
            </a:r>
            <a:r>
              <a:rPr lang="it-IT" sz="2400" dirty="0" err="1">
                <a:solidFill>
                  <a:schemeClr val="tx1"/>
                </a:solidFill>
              </a:rPr>
              <a:t>as</a:t>
            </a:r>
            <a:r>
              <a:rPr lang="it-IT" sz="2400" dirty="0">
                <a:solidFill>
                  <a:schemeClr val="tx1"/>
                </a:solidFill>
              </a:rPr>
              <a:t> </a:t>
            </a:r>
            <a:r>
              <a:rPr lang="it-IT" sz="2400" dirty="0" err="1">
                <a:solidFill>
                  <a:schemeClr val="tx1"/>
                </a:solidFill>
              </a:rPr>
              <a:t>we</a:t>
            </a:r>
            <a:r>
              <a:rPr lang="it-IT" sz="2400" dirty="0">
                <a:solidFill>
                  <a:schemeClr val="tx1"/>
                </a:solidFill>
              </a:rPr>
              <a:t> </a:t>
            </a:r>
            <a:r>
              <a:rPr lang="it-IT" sz="2400" dirty="0" err="1">
                <a:solidFill>
                  <a:schemeClr val="tx1"/>
                </a:solidFill>
              </a:rPr>
              <a:t>did</a:t>
            </a:r>
            <a:r>
              <a:rPr lang="it-IT" sz="2400" dirty="0">
                <a:solidFill>
                  <a:schemeClr val="tx1"/>
                </a:solidFill>
              </a:rPr>
              <a:t> for </a:t>
            </a:r>
            <a:r>
              <a:rPr lang="it-IT" sz="2400" dirty="0" err="1">
                <a:solidFill>
                  <a:schemeClr val="tx1"/>
                </a:solidFill>
              </a:rPr>
              <a:t>RNNs</a:t>
            </a:r>
            <a:r>
              <a:rPr lang="it-IT" sz="2400" dirty="0">
                <a:solidFill>
                  <a:schemeClr val="tx1"/>
                </a:solidFill>
              </a:rPr>
              <a:t>:</a:t>
            </a:r>
          </a:p>
          <a:p>
            <a:pPr marL="571500" indent="-571500">
              <a:buFont typeface="Arial" panose="020B0604020202020204" pitchFamily="34" charset="0"/>
              <a:buChar char="•"/>
            </a:pPr>
            <a:r>
              <a:rPr lang="en-GB" sz="2400" dirty="0">
                <a:solidFill>
                  <a:schemeClr val="tx1"/>
                </a:solidFill>
              </a:rPr>
              <a:t>Dense(1) → Dense(10) → full temporal output [N,L,10]</a:t>
            </a:r>
          </a:p>
          <a:p>
            <a:pPr marL="571500" indent="-571500">
              <a:buFont typeface="Arial" panose="020B0604020202020204" pitchFamily="34" charset="0"/>
              <a:buChar char="•"/>
            </a:pPr>
            <a:r>
              <a:rPr lang="en-GB" sz="2400" dirty="0">
                <a:solidFill>
                  <a:schemeClr val="tx1"/>
                </a:solidFill>
              </a:rPr>
              <a:t>Predict next value -&gt; </a:t>
            </a:r>
            <a:r>
              <a:rPr lang="en-GB" sz="2400" dirty="0" err="1">
                <a:solidFill>
                  <a:schemeClr val="tx1"/>
                </a:solidFill>
              </a:rPr>
              <a:t>prodict</a:t>
            </a:r>
            <a:r>
              <a:rPr lang="en-GB" sz="2400" dirty="0">
                <a:solidFill>
                  <a:schemeClr val="tx1"/>
                </a:solidFill>
              </a:rPr>
              <a:t> next 10 values -&gt; predict next 10 values at each time step</a:t>
            </a:r>
          </a:p>
          <a:p>
            <a:pPr marL="571500" indent="-571500">
              <a:buFont typeface="Arial" panose="020B0604020202020204" pitchFamily="34" charset="0"/>
              <a:buChar char="•"/>
            </a:pPr>
            <a:endParaRPr lang="en-GB" sz="2400" dirty="0">
              <a:solidFill>
                <a:schemeClr val="tx1"/>
              </a:solidFill>
            </a:endParaRPr>
          </a:p>
          <a:p>
            <a:pPr marL="571500" indent="-571500">
              <a:buFont typeface="Arial" panose="020B0604020202020204" pitchFamily="34" charset="0"/>
              <a:buChar char="•"/>
            </a:pPr>
            <a:r>
              <a:rPr lang="en-GB" sz="2400" dirty="0">
                <a:solidFill>
                  <a:schemeClr val="tx1"/>
                </a:solidFill>
              </a:rPr>
              <a:t>Standard 1DCNN</a:t>
            </a:r>
          </a:p>
          <a:p>
            <a:pPr marL="571500" indent="-571500">
              <a:buFont typeface="Arial" panose="020B0604020202020204" pitchFamily="34" charset="0"/>
              <a:buChar char="•"/>
            </a:pPr>
            <a:r>
              <a:rPr lang="en-GB" sz="2400" dirty="0">
                <a:solidFill>
                  <a:schemeClr val="tx1"/>
                </a:solidFill>
              </a:rPr>
              <a:t>TCN</a:t>
            </a:r>
          </a:p>
          <a:p>
            <a:pPr marL="571500" indent="-571500">
              <a:buFont typeface="Arial" panose="020B0604020202020204" pitchFamily="34" charset="0"/>
              <a:buChar char="•"/>
            </a:pPr>
            <a:r>
              <a:rPr lang="en-GB" sz="2400" dirty="0" err="1">
                <a:solidFill>
                  <a:schemeClr val="tx1"/>
                </a:solidFill>
              </a:rPr>
              <a:t>Wavenet</a:t>
            </a:r>
            <a:endParaRPr lang="en-GB" sz="2400" dirty="0">
              <a:solidFill>
                <a:schemeClr val="tx1"/>
              </a:solidFill>
            </a:endParaRPr>
          </a:p>
          <a:p>
            <a:pPr marL="571500" indent="-571500">
              <a:buFont typeface="Arial" panose="020B0604020202020204" pitchFamily="34" charset="0"/>
              <a:buChar char="•"/>
            </a:pPr>
            <a:r>
              <a:rPr lang="en-GB" sz="2400" dirty="0">
                <a:solidFill>
                  <a:schemeClr val="tx1"/>
                </a:solidFill>
              </a:rPr>
              <a:t>Multiscale CNN</a:t>
            </a:r>
          </a:p>
        </p:txBody>
      </p:sp>
      <p:sp>
        <p:nvSpPr>
          <p:cNvPr id="5" name="CasellaDiTesto 4">
            <a:extLst>
              <a:ext uri="{FF2B5EF4-FFF2-40B4-BE49-F238E27FC236}">
                <a16:creationId xmlns:a16="http://schemas.microsoft.com/office/drawing/2014/main" id="{DB60B8A5-EB5B-95E9-86CE-F261B51BB642}"/>
              </a:ext>
            </a:extLst>
          </p:cNvPr>
          <p:cNvSpPr txBox="1"/>
          <p:nvPr/>
        </p:nvSpPr>
        <p:spPr>
          <a:xfrm>
            <a:off x="5026891" y="5419949"/>
            <a:ext cx="6100618" cy="646331"/>
          </a:xfrm>
          <a:prstGeom prst="rect">
            <a:avLst/>
          </a:prstGeom>
          <a:noFill/>
        </p:spPr>
        <p:txBody>
          <a:bodyPr wrap="square">
            <a:spAutoFit/>
          </a:bodyPr>
          <a:lstStyle/>
          <a:p>
            <a:r>
              <a:rPr lang="en-GB" dirty="0"/>
              <a:t># Input shape: [N, 50, 1]</a:t>
            </a:r>
            <a:br>
              <a:rPr lang="en-GB" dirty="0"/>
            </a:br>
            <a:r>
              <a:rPr lang="en-GB" dirty="0"/>
              <a:t>inputs = </a:t>
            </a:r>
            <a:r>
              <a:rPr lang="en-GB" dirty="0" err="1"/>
              <a:t>keras.Input</a:t>
            </a:r>
            <a:r>
              <a:rPr lang="en-GB" dirty="0"/>
              <a:t>(shape=(50, 1))</a:t>
            </a:r>
          </a:p>
        </p:txBody>
      </p:sp>
    </p:spTree>
    <p:extLst>
      <p:ext uri="{BB962C8B-B14F-4D97-AF65-F5344CB8AC3E}">
        <p14:creationId xmlns:p14="http://schemas.microsoft.com/office/powerpoint/2010/main" val="4261206315"/>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7924950-47D9-7E76-D5EF-B79DC05DB68E}"/>
              </a:ext>
            </a:extLst>
          </p:cNvPr>
          <p:cNvSpPr>
            <a:spLocks noGrp="1"/>
          </p:cNvSpPr>
          <p:nvPr>
            <p:ph type="title"/>
          </p:nvPr>
        </p:nvSpPr>
        <p:spPr/>
        <p:txBody>
          <a:bodyPr/>
          <a:lstStyle/>
          <a:p>
            <a:r>
              <a:rPr lang="it-IT" dirty="0"/>
              <a:t>1D CNN</a:t>
            </a:r>
            <a:endParaRPr lang="en-GB" dirty="0"/>
          </a:p>
        </p:txBody>
      </p:sp>
    </p:spTree>
    <p:extLst>
      <p:ext uri="{BB962C8B-B14F-4D97-AF65-F5344CB8AC3E}">
        <p14:creationId xmlns:p14="http://schemas.microsoft.com/office/powerpoint/2010/main" val="383451964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7F0CE48-AB51-B014-9A95-720D9D59644A}"/>
              </a:ext>
            </a:extLst>
          </p:cNvPr>
          <p:cNvSpPr>
            <a:spLocks noGrp="1"/>
          </p:cNvSpPr>
          <p:nvPr>
            <p:ph type="title"/>
          </p:nvPr>
        </p:nvSpPr>
        <p:spPr/>
        <p:txBody>
          <a:bodyPr/>
          <a:lstStyle/>
          <a:p>
            <a:r>
              <a:rPr lang="it-IT" dirty="0"/>
              <a:t>1D CNN, 1 output</a:t>
            </a:r>
            <a:endParaRPr lang="en-GB" dirty="0"/>
          </a:p>
        </p:txBody>
      </p:sp>
      <p:sp>
        <p:nvSpPr>
          <p:cNvPr id="3" name="Segnaposto testo 2">
            <a:extLst>
              <a:ext uri="{FF2B5EF4-FFF2-40B4-BE49-F238E27FC236}">
                <a16:creationId xmlns:a16="http://schemas.microsoft.com/office/drawing/2014/main" id="{F18FF9F5-C7EB-8AD8-A9A1-5F93FF997331}"/>
              </a:ext>
            </a:extLst>
          </p:cNvPr>
          <p:cNvSpPr>
            <a:spLocks noGrp="1"/>
          </p:cNvSpPr>
          <p:nvPr>
            <p:ph type="body"/>
          </p:nvPr>
        </p:nvSpPr>
        <p:spPr>
          <a:xfrm>
            <a:off x="609480" y="1604520"/>
            <a:ext cx="11176120" cy="3977280"/>
          </a:xfrm>
        </p:spPr>
        <p:txBody>
          <a:bodyPr/>
          <a:lstStyle/>
          <a:p>
            <a:r>
              <a:rPr lang="en-GB" sz="1600" dirty="0">
                <a:solidFill>
                  <a:schemeClr val="tx2"/>
                </a:solidFill>
              </a:rPr>
              <a:t>model = </a:t>
            </a:r>
            <a:r>
              <a:rPr lang="en-GB" sz="1600" dirty="0" err="1">
                <a:solidFill>
                  <a:schemeClr val="tx2"/>
                </a:solidFill>
              </a:rPr>
              <a:t>keras.Sequential</a:t>
            </a:r>
            <a:r>
              <a:rPr lang="en-GB" sz="1600" dirty="0">
                <a:solidFill>
                  <a:schemeClr val="tx2"/>
                </a:solidFill>
              </a:rPr>
              <a:t>([    </a:t>
            </a:r>
          </a:p>
          <a:p>
            <a:pPr lvl="4"/>
            <a:r>
              <a:rPr lang="en-GB" sz="1600" dirty="0"/>
              <a:t>       keras.layers.Conv1D(32, 5, activation="</a:t>
            </a:r>
            <a:r>
              <a:rPr lang="en-GB" sz="1600" dirty="0" err="1"/>
              <a:t>relu</a:t>
            </a:r>
            <a:r>
              <a:rPr lang="en-GB" sz="1600" dirty="0"/>
              <a:t>", padding="same", </a:t>
            </a:r>
            <a:r>
              <a:rPr lang="en-GB" sz="1600" dirty="0" err="1"/>
              <a:t>input_shape</a:t>
            </a:r>
            <a:r>
              <a:rPr lang="en-GB" sz="1600" dirty="0"/>
              <a:t>=(50, 1)),    </a:t>
            </a:r>
          </a:p>
          <a:p>
            <a:pPr lvl="4"/>
            <a:r>
              <a:rPr lang="en-GB" sz="1600" dirty="0"/>
              <a:t>       keras.layers.Conv1D(32, 5, activation="</a:t>
            </a:r>
            <a:r>
              <a:rPr lang="en-GB" sz="1600" dirty="0" err="1"/>
              <a:t>relu</a:t>
            </a:r>
            <a:r>
              <a:rPr lang="en-GB" sz="1600" dirty="0"/>
              <a:t>", padding="same"),    </a:t>
            </a:r>
          </a:p>
          <a:p>
            <a:pPr lvl="4"/>
            <a:r>
              <a:rPr lang="en-GB" sz="1600" dirty="0"/>
              <a:t>       keras.layers.GlobalAveragePooling1D(),    # convert the temporal feature map into one sequence representation</a:t>
            </a:r>
          </a:p>
          <a:p>
            <a:pPr lvl="4"/>
            <a:r>
              <a:rPr lang="en-GB" sz="1600" dirty="0"/>
              <a:t>       </a:t>
            </a:r>
            <a:r>
              <a:rPr lang="en-GB" sz="1600" dirty="0" err="1"/>
              <a:t>keras.layers.Dense</a:t>
            </a:r>
            <a:r>
              <a:rPr lang="en-GB" sz="1600" dirty="0"/>
              <a:t>(1)])</a:t>
            </a:r>
          </a:p>
        </p:txBody>
      </p:sp>
      <p:sp>
        <p:nvSpPr>
          <p:cNvPr id="5" name="CasellaDiTesto 4">
            <a:extLst>
              <a:ext uri="{FF2B5EF4-FFF2-40B4-BE49-F238E27FC236}">
                <a16:creationId xmlns:a16="http://schemas.microsoft.com/office/drawing/2014/main" id="{169DD700-9BF4-A6BE-BAF8-D2F5E1976E64}"/>
              </a:ext>
            </a:extLst>
          </p:cNvPr>
          <p:cNvSpPr txBox="1"/>
          <p:nvPr/>
        </p:nvSpPr>
        <p:spPr>
          <a:xfrm>
            <a:off x="8906163" y="4108416"/>
            <a:ext cx="1817255" cy="1754326"/>
          </a:xfrm>
          <a:prstGeom prst="rect">
            <a:avLst/>
          </a:prstGeom>
          <a:noFill/>
        </p:spPr>
        <p:txBody>
          <a:bodyPr wrap="square">
            <a:spAutoFit/>
          </a:bodyPr>
          <a:lstStyle/>
          <a:p>
            <a:pPr rtl="0">
              <a:buNone/>
            </a:pPr>
            <a:r>
              <a:rPr lang="en-GB" dirty="0">
                <a:latin typeface="+mn-lt"/>
              </a:rPr>
              <a:t>Shapes:</a:t>
            </a:r>
          </a:p>
          <a:p>
            <a:pPr rtl="0">
              <a:buNone/>
            </a:pPr>
            <a:r>
              <a:rPr lang="en-GB" dirty="0">
                <a:latin typeface="+mn-lt"/>
              </a:rPr>
              <a:t>[N,50,1]</a:t>
            </a:r>
          </a:p>
          <a:p>
            <a:pPr rtl="0">
              <a:buNone/>
            </a:pPr>
            <a:r>
              <a:rPr lang="en-GB" dirty="0">
                <a:latin typeface="+mn-lt"/>
              </a:rPr>
              <a:t>→ [N,50,32]</a:t>
            </a:r>
          </a:p>
          <a:p>
            <a:pPr rtl="0">
              <a:buNone/>
            </a:pPr>
            <a:r>
              <a:rPr lang="en-GB" dirty="0">
                <a:latin typeface="+mn-lt"/>
              </a:rPr>
              <a:t>→ [N,50,32]</a:t>
            </a:r>
          </a:p>
          <a:p>
            <a:pPr rtl="0">
              <a:buNone/>
            </a:pPr>
            <a:r>
              <a:rPr lang="en-GB" dirty="0">
                <a:latin typeface="+mn-lt"/>
              </a:rPr>
              <a:t>→ [N,32]</a:t>
            </a:r>
          </a:p>
          <a:p>
            <a:pPr rtl="0">
              <a:buNone/>
            </a:pPr>
            <a:r>
              <a:rPr lang="en-GB" dirty="0">
                <a:latin typeface="+mn-lt"/>
              </a:rPr>
              <a:t>→ [N,1]</a:t>
            </a:r>
            <a:endParaRPr lang="en-GB" dirty="0">
              <a:latin typeface="Courier New" panose="02070309020205020404" pitchFamily="49" charset="0"/>
            </a:endParaRPr>
          </a:p>
        </p:txBody>
      </p:sp>
    </p:spTree>
    <p:extLst>
      <p:ext uri="{BB962C8B-B14F-4D97-AF65-F5344CB8AC3E}">
        <p14:creationId xmlns:p14="http://schemas.microsoft.com/office/powerpoint/2010/main" val="235829639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D325EAE-2768-8AFB-719C-8504BFFD6D24}"/>
              </a:ext>
            </a:extLst>
          </p:cNvPr>
          <p:cNvSpPr>
            <a:spLocks noGrp="1"/>
          </p:cNvSpPr>
          <p:nvPr>
            <p:ph type="title"/>
          </p:nvPr>
        </p:nvSpPr>
        <p:spPr/>
        <p:txBody>
          <a:bodyPr/>
          <a:lstStyle/>
          <a:p>
            <a:r>
              <a:rPr lang="it-IT" dirty="0"/>
              <a:t>1D CNN, 10 output</a:t>
            </a:r>
            <a:endParaRPr lang="en-GB" dirty="0"/>
          </a:p>
        </p:txBody>
      </p:sp>
      <p:sp>
        <p:nvSpPr>
          <p:cNvPr id="3" name="Segnaposto testo 2">
            <a:extLst>
              <a:ext uri="{FF2B5EF4-FFF2-40B4-BE49-F238E27FC236}">
                <a16:creationId xmlns:a16="http://schemas.microsoft.com/office/drawing/2014/main" id="{F2CE7079-F708-4335-9D85-171C45C18085}"/>
              </a:ext>
            </a:extLst>
          </p:cNvPr>
          <p:cNvSpPr>
            <a:spLocks noGrp="1"/>
          </p:cNvSpPr>
          <p:nvPr>
            <p:ph type="body"/>
          </p:nvPr>
        </p:nvSpPr>
        <p:spPr>
          <a:xfrm>
            <a:off x="397044" y="2185527"/>
            <a:ext cx="10972440" cy="1144800"/>
          </a:xfrm>
        </p:spPr>
        <p:txBody>
          <a:bodyPr/>
          <a:lstStyle/>
          <a:p>
            <a:r>
              <a:rPr lang="en-GB" sz="2400" dirty="0" err="1">
                <a:solidFill>
                  <a:schemeClr val="tx1"/>
                </a:solidFill>
              </a:rPr>
              <a:t>keras.layers.Dense</a:t>
            </a:r>
            <a:r>
              <a:rPr lang="en-GB" sz="2400" dirty="0">
                <a:solidFill>
                  <a:schemeClr val="tx1"/>
                </a:solidFill>
              </a:rPr>
              <a:t>(1) becomes: </a:t>
            </a:r>
            <a:r>
              <a:rPr lang="en-GB" sz="2400" dirty="0" err="1">
                <a:solidFill>
                  <a:schemeClr val="tx1"/>
                </a:solidFill>
              </a:rPr>
              <a:t>keras.layers.Dense</a:t>
            </a:r>
            <a:r>
              <a:rPr lang="en-GB" sz="2400" dirty="0">
                <a:solidFill>
                  <a:schemeClr val="tx1"/>
                </a:solidFill>
              </a:rPr>
              <a:t>(10)</a:t>
            </a:r>
          </a:p>
          <a:p>
            <a:endParaRPr lang="en-GB" sz="2400" dirty="0">
              <a:solidFill>
                <a:schemeClr val="tx1"/>
              </a:solidFill>
            </a:endParaRPr>
          </a:p>
          <a:p>
            <a:r>
              <a:rPr lang="en-GB" sz="2400" dirty="0">
                <a:solidFill>
                  <a:schemeClr val="tx1"/>
                </a:solidFill>
              </a:rPr>
              <a:t>Last shapes: [N,32] → [N,10]</a:t>
            </a:r>
          </a:p>
          <a:p>
            <a:endParaRPr lang="en-GB" dirty="0"/>
          </a:p>
        </p:txBody>
      </p:sp>
    </p:spTree>
    <p:extLst>
      <p:ext uri="{BB962C8B-B14F-4D97-AF65-F5344CB8AC3E}">
        <p14:creationId xmlns:p14="http://schemas.microsoft.com/office/powerpoint/2010/main" val="220522528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19CC542-2BCA-06EE-5979-CEBE2D351E85}"/>
              </a:ext>
            </a:extLst>
          </p:cNvPr>
          <p:cNvSpPr>
            <a:spLocks noGrp="1"/>
          </p:cNvSpPr>
          <p:nvPr>
            <p:ph type="title"/>
          </p:nvPr>
        </p:nvSpPr>
        <p:spPr/>
        <p:txBody>
          <a:bodyPr/>
          <a:lstStyle/>
          <a:p>
            <a:r>
              <a:rPr lang="it-IT" dirty="0"/>
              <a:t>1D CNN, </a:t>
            </a:r>
            <a:r>
              <a:rPr lang="en-GB" dirty="0"/>
              <a:t>Output at every time step</a:t>
            </a:r>
          </a:p>
        </p:txBody>
      </p:sp>
      <p:sp>
        <p:nvSpPr>
          <p:cNvPr id="3" name="Segnaposto testo 2">
            <a:extLst>
              <a:ext uri="{FF2B5EF4-FFF2-40B4-BE49-F238E27FC236}">
                <a16:creationId xmlns:a16="http://schemas.microsoft.com/office/drawing/2014/main" id="{04C675D9-8AE6-0316-2618-B33459BA96CA}"/>
              </a:ext>
            </a:extLst>
          </p:cNvPr>
          <p:cNvSpPr>
            <a:spLocks noGrp="1"/>
          </p:cNvSpPr>
          <p:nvPr>
            <p:ph type="body"/>
          </p:nvPr>
        </p:nvSpPr>
        <p:spPr>
          <a:xfrm>
            <a:off x="701843" y="2056350"/>
            <a:ext cx="10972440" cy="1144800"/>
          </a:xfrm>
        </p:spPr>
        <p:txBody>
          <a:bodyPr/>
          <a:lstStyle/>
          <a:p>
            <a:r>
              <a:rPr lang="it-IT" sz="1800" dirty="0">
                <a:solidFill>
                  <a:schemeClr val="tx1"/>
                </a:solidFill>
              </a:rPr>
              <a:t>Remove global pooling</a:t>
            </a:r>
          </a:p>
          <a:p>
            <a:endParaRPr lang="it-IT" sz="1800" dirty="0">
              <a:solidFill>
                <a:schemeClr val="tx1"/>
              </a:solidFill>
            </a:endParaRPr>
          </a:p>
          <a:p>
            <a:r>
              <a:rPr lang="en-GB" sz="1800" dirty="0">
                <a:solidFill>
                  <a:schemeClr val="tx1"/>
                </a:solidFill>
              </a:rPr>
              <a:t>model = </a:t>
            </a:r>
            <a:r>
              <a:rPr lang="en-GB" sz="1800" dirty="0" err="1">
                <a:solidFill>
                  <a:schemeClr val="tx1"/>
                </a:solidFill>
              </a:rPr>
              <a:t>keras.Sequential</a:t>
            </a:r>
            <a:r>
              <a:rPr lang="en-GB" sz="1800" dirty="0">
                <a:solidFill>
                  <a:schemeClr val="tx1"/>
                </a:solidFill>
              </a:rPr>
              <a:t>([    </a:t>
            </a:r>
          </a:p>
          <a:p>
            <a:pPr lvl="2"/>
            <a:r>
              <a:rPr lang="en-GB" kern="1200" dirty="0">
                <a:solidFill>
                  <a:schemeClr val="tx1"/>
                </a:solidFill>
                <a:latin typeface="+mj-lt"/>
                <a:ea typeface="+mj-ea"/>
                <a:cs typeface="+mj-cs"/>
              </a:rPr>
              <a:t>       keras.layers.Conv1D(32, 5, activation="</a:t>
            </a:r>
            <a:r>
              <a:rPr lang="en-GB" kern="1200" dirty="0" err="1">
                <a:solidFill>
                  <a:schemeClr val="tx1"/>
                </a:solidFill>
                <a:latin typeface="+mj-lt"/>
                <a:ea typeface="+mj-ea"/>
                <a:cs typeface="+mj-cs"/>
              </a:rPr>
              <a:t>relu</a:t>
            </a:r>
            <a:r>
              <a:rPr lang="en-GB" kern="1200" dirty="0">
                <a:solidFill>
                  <a:schemeClr val="tx1"/>
                </a:solidFill>
                <a:latin typeface="+mj-lt"/>
                <a:ea typeface="+mj-ea"/>
                <a:cs typeface="+mj-cs"/>
              </a:rPr>
              <a:t>",    padding="same",    </a:t>
            </a:r>
            <a:r>
              <a:rPr lang="en-GB" kern="1200" dirty="0" err="1">
                <a:solidFill>
                  <a:schemeClr val="tx1"/>
                </a:solidFill>
                <a:latin typeface="+mj-lt"/>
                <a:ea typeface="+mj-ea"/>
                <a:cs typeface="+mj-cs"/>
              </a:rPr>
              <a:t>input_shape</a:t>
            </a:r>
            <a:r>
              <a:rPr lang="en-GB" kern="1200" dirty="0">
                <a:solidFill>
                  <a:schemeClr val="tx1"/>
                </a:solidFill>
                <a:latin typeface="+mj-lt"/>
                <a:ea typeface="+mj-ea"/>
                <a:cs typeface="+mj-cs"/>
              </a:rPr>
              <a:t>=(50, 1)),    </a:t>
            </a:r>
          </a:p>
          <a:p>
            <a:pPr lvl="2"/>
            <a:r>
              <a:rPr lang="en-GB" kern="1200" dirty="0">
                <a:solidFill>
                  <a:schemeClr val="tx1"/>
                </a:solidFill>
                <a:latin typeface="+mj-lt"/>
                <a:ea typeface="+mj-ea"/>
                <a:cs typeface="+mj-cs"/>
              </a:rPr>
              <a:t>       keras.layers.Conv1D(32, 5, activation="</a:t>
            </a:r>
            <a:r>
              <a:rPr lang="en-GB" kern="1200" dirty="0" err="1">
                <a:solidFill>
                  <a:schemeClr val="tx1"/>
                </a:solidFill>
                <a:latin typeface="+mj-lt"/>
                <a:ea typeface="+mj-ea"/>
                <a:cs typeface="+mj-cs"/>
              </a:rPr>
              <a:t>relu</a:t>
            </a:r>
            <a:r>
              <a:rPr lang="en-GB" kern="1200" dirty="0">
                <a:solidFill>
                  <a:schemeClr val="tx1"/>
                </a:solidFill>
                <a:latin typeface="+mj-lt"/>
                <a:ea typeface="+mj-ea"/>
                <a:cs typeface="+mj-cs"/>
              </a:rPr>
              <a:t>",    padding="same"),    </a:t>
            </a:r>
          </a:p>
          <a:p>
            <a:pPr lvl="2"/>
            <a:r>
              <a:rPr lang="en-GB" kern="1200" dirty="0">
                <a:solidFill>
                  <a:schemeClr val="tx1"/>
                </a:solidFill>
                <a:latin typeface="+mj-lt"/>
                <a:ea typeface="+mj-ea"/>
                <a:cs typeface="+mj-cs"/>
              </a:rPr>
              <a:t>       </a:t>
            </a:r>
            <a:r>
              <a:rPr lang="en-GB" kern="1200" dirty="0" err="1">
                <a:solidFill>
                  <a:schemeClr val="tx1"/>
                </a:solidFill>
                <a:latin typeface="+mj-lt"/>
                <a:ea typeface="+mj-ea"/>
                <a:cs typeface="+mj-cs"/>
              </a:rPr>
              <a:t>keras.layers.Dense</a:t>
            </a:r>
            <a:r>
              <a:rPr lang="en-GB" kern="1200" dirty="0">
                <a:solidFill>
                  <a:schemeClr val="tx1"/>
                </a:solidFill>
                <a:latin typeface="+mj-lt"/>
                <a:ea typeface="+mj-ea"/>
                <a:cs typeface="+mj-cs"/>
              </a:rPr>
              <a:t>(10)])</a:t>
            </a:r>
          </a:p>
        </p:txBody>
      </p:sp>
      <p:sp>
        <p:nvSpPr>
          <p:cNvPr id="5" name="CasellaDiTesto 4">
            <a:extLst>
              <a:ext uri="{FF2B5EF4-FFF2-40B4-BE49-F238E27FC236}">
                <a16:creationId xmlns:a16="http://schemas.microsoft.com/office/drawing/2014/main" id="{81D57E70-79F1-19E5-C05C-AFF6D41444EF}"/>
              </a:ext>
            </a:extLst>
          </p:cNvPr>
          <p:cNvSpPr txBox="1"/>
          <p:nvPr/>
        </p:nvSpPr>
        <p:spPr>
          <a:xfrm>
            <a:off x="8702964" y="5638861"/>
            <a:ext cx="3415145" cy="646331"/>
          </a:xfrm>
          <a:prstGeom prst="rect">
            <a:avLst/>
          </a:prstGeom>
          <a:noFill/>
        </p:spPr>
        <p:txBody>
          <a:bodyPr wrap="square">
            <a:spAutoFit/>
          </a:bodyPr>
          <a:lstStyle/>
          <a:p>
            <a:pPr rtl="0">
              <a:buNone/>
            </a:pPr>
            <a:r>
              <a:rPr lang="en-GB" dirty="0">
                <a:latin typeface="+mn-lt"/>
              </a:rPr>
              <a:t>Shape of target and output: [N,50,10]</a:t>
            </a:r>
            <a:endParaRPr lang="en-GB" dirty="0">
              <a:latin typeface="Courier New" panose="02070309020205020404" pitchFamily="49" charset="0"/>
            </a:endParaRPr>
          </a:p>
        </p:txBody>
      </p:sp>
      <p:sp>
        <p:nvSpPr>
          <p:cNvPr id="7" name="CasellaDiTesto 6">
            <a:extLst>
              <a:ext uri="{FF2B5EF4-FFF2-40B4-BE49-F238E27FC236}">
                <a16:creationId xmlns:a16="http://schemas.microsoft.com/office/drawing/2014/main" id="{F8958C4A-F5E7-3D12-B225-D9B926CDA9AC}"/>
              </a:ext>
            </a:extLst>
          </p:cNvPr>
          <p:cNvSpPr txBox="1"/>
          <p:nvPr/>
        </p:nvSpPr>
        <p:spPr>
          <a:xfrm>
            <a:off x="5414818" y="3810154"/>
            <a:ext cx="5761182" cy="523220"/>
          </a:xfrm>
          <a:prstGeom prst="rect">
            <a:avLst/>
          </a:prstGeom>
          <a:noFill/>
        </p:spPr>
        <p:txBody>
          <a:bodyPr wrap="square">
            <a:spAutoFit/>
          </a:bodyPr>
          <a:lstStyle/>
          <a:p>
            <a:pPr>
              <a:buNone/>
            </a:pPr>
            <a:r>
              <a:rPr lang="en-GB" sz="1400" dirty="0"/>
              <a:t>With </a:t>
            </a:r>
            <a:r>
              <a:rPr lang="en-GB" sz="1400" dirty="0">
                <a:latin typeface="+mn-lt"/>
              </a:rPr>
              <a:t>padding="same"</a:t>
            </a:r>
            <a:r>
              <a:rPr lang="en-GB" sz="1400" dirty="0"/>
              <a:t> and </a:t>
            </a:r>
            <a:r>
              <a:rPr lang="en-GB" sz="1400" dirty="0">
                <a:latin typeface="+mn-lt"/>
              </a:rPr>
              <a:t>strides=1</a:t>
            </a:r>
            <a:r>
              <a:rPr lang="en-GB" sz="1400" dirty="0"/>
              <a:t>, the temporal length is preserved:</a:t>
            </a:r>
          </a:p>
          <a:p>
            <a:pPr>
              <a:buNone/>
            </a:pPr>
            <a:r>
              <a:rPr lang="en-GB" sz="1400" dirty="0">
                <a:latin typeface="+mn-lt"/>
              </a:rPr>
              <a:t>[N, 50, C] → [N, 50, 32]</a:t>
            </a:r>
            <a:endParaRPr lang="en-GB" sz="1400" dirty="0"/>
          </a:p>
        </p:txBody>
      </p:sp>
    </p:spTree>
    <p:extLst>
      <p:ext uri="{BB962C8B-B14F-4D97-AF65-F5344CB8AC3E}">
        <p14:creationId xmlns:p14="http://schemas.microsoft.com/office/powerpoint/2010/main" val="208515438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8E1C21B-D114-56B8-A1F6-9247651D3A5A}"/>
              </a:ext>
            </a:extLst>
          </p:cNvPr>
          <p:cNvSpPr>
            <a:spLocks noGrp="1"/>
          </p:cNvSpPr>
          <p:nvPr>
            <p:ph type="title"/>
          </p:nvPr>
        </p:nvSpPr>
        <p:spPr/>
        <p:txBody>
          <a:bodyPr/>
          <a:lstStyle/>
          <a:p>
            <a:r>
              <a:rPr lang="it-IT" dirty="0"/>
              <a:t>TCN</a:t>
            </a:r>
            <a:endParaRPr lang="en-GB" dirty="0"/>
          </a:p>
        </p:txBody>
      </p:sp>
    </p:spTree>
    <p:extLst>
      <p:ext uri="{BB962C8B-B14F-4D97-AF65-F5344CB8AC3E}">
        <p14:creationId xmlns:p14="http://schemas.microsoft.com/office/powerpoint/2010/main" val="251687409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8C3F8DE-26B3-24F3-3F2E-DC6C55AED2B3}"/>
              </a:ext>
            </a:extLst>
          </p:cNvPr>
          <p:cNvSpPr>
            <a:spLocks noGrp="1"/>
          </p:cNvSpPr>
          <p:nvPr>
            <p:ph type="title"/>
          </p:nvPr>
        </p:nvSpPr>
        <p:spPr/>
        <p:txBody>
          <a:bodyPr/>
          <a:lstStyle/>
          <a:p>
            <a:r>
              <a:rPr lang="it-IT" dirty="0"/>
              <a:t>TCN </a:t>
            </a:r>
            <a:r>
              <a:rPr lang="it-IT" dirty="0" err="1"/>
              <a:t>block</a:t>
            </a:r>
            <a:endParaRPr lang="en-GB" dirty="0"/>
          </a:p>
        </p:txBody>
      </p:sp>
      <p:sp>
        <p:nvSpPr>
          <p:cNvPr id="3" name="Segnaposto testo 2">
            <a:extLst>
              <a:ext uri="{FF2B5EF4-FFF2-40B4-BE49-F238E27FC236}">
                <a16:creationId xmlns:a16="http://schemas.microsoft.com/office/drawing/2014/main" id="{A563CD2D-8E3B-17BB-BBA0-8CB848846248}"/>
              </a:ext>
            </a:extLst>
          </p:cNvPr>
          <p:cNvSpPr>
            <a:spLocks noGrp="1"/>
          </p:cNvSpPr>
          <p:nvPr>
            <p:ph type="body"/>
          </p:nvPr>
        </p:nvSpPr>
        <p:spPr>
          <a:xfrm>
            <a:off x="535589" y="2066185"/>
            <a:ext cx="10972440" cy="1144800"/>
          </a:xfrm>
        </p:spPr>
        <p:txBody>
          <a:bodyPr/>
          <a:lstStyle/>
          <a:p>
            <a:r>
              <a:rPr lang="en-GB" sz="1800" dirty="0">
                <a:solidFill>
                  <a:schemeClr val="tx2"/>
                </a:solidFill>
              </a:rPr>
              <a:t>def </a:t>
            </a:r>
            <a:r>
              <a:rPr lang="en-GB" sz="1800" dirty="0" err="1">
                <a:solidFill>
                  <a:schemeClr val="tx2"/>
                </a:solidFill>
              </a:rPr>
              <a:t>tcn_block</a:t>
            </a:r>
            <a:r>
              <a:rPr lang="en-GB" sz="1800" dirty="0">
                <a:solidFill>
                  <a:schemeClr val="tx2"/>
                </a:solidFill>
              </a:rPr>
              <a:t>(x, filters, dilation):    </a:t>
            </a:r>
          </a:p>
          <a:p>
            <a:pPr lvl="2"/>
            <a:r>
              <a:rPr lang="en-GB" dirty="0"/>
              <a:t>   z = keras.layers.Conv1D(filters, 3, padding="causal", </a:t>
            </a:r>
            <a:r>
              <a:rPr lang="en-GB" dirty="0" err="1"/>
              <a:t>dilation_rate</a:t>
            </a:r>
            <a:r>
              <a:rPr lang="en-GB" dirty="0"/>
              <a:t>=dilation, activation="</a:t>
            </a:r>
            <a:r>
              <a:rPr lang="en-GB" dirty="0" err="1"/>
              <a:t>relu</a:t>
            </a:r>
            <a:r>
              <a:rPr lang="en-GB" dirty="0"/>
              <a:t>")(x)    </a:t>
            </a:r>
          </a:p>
          <a:p>
            <a:pPr lvl="2"/>
            <a:r>
              <a:rPr lang="en-GB" dirty="0"/>
              <a:t>   z = keras.layers.Conv1D(filters, 3, padding="causal",  </a:t>
            </a:r>
            <a:r>
              <a:rPr lang="en-GB" dirty="0" err="1"/>
              <a:t>dilation_rate</a:t>
            </a:r>
            <a:r>
              <a:rPr lang="en-GB" dirty="0"/>
              <a:t>=dilation, activation="</a:t>
            </a:r>
            <a:r>
              <a:rPr lang="en-GB" dirty="0" err="1"/>
              <a:t>relu</a:t>
            </a:r>
            <a:r>
              <a:rPr lang="en-GB" dirty="0"/>
              <a:t>")(z)    </a:t>
            </a:r>
          </a:p>
          <a:p>
            <a:pPr lvl="2"/>
            <a:r>
              <a:rPr lang="en-GB" dirty="0"/>
              <a:t>   if </a:t>
            </a:r>
            <a:r>
              <a:rPr lang="en-GB" dirty="0" err="1"/>
              <a:t>x.shape</a:t>
            </a:r>
            <a:r>
              <a:rPr lang="en-GB" dirty="0"/>
              <a:t>[-1] != filters: </a:t>
            </a:r>
          </a:p>
          <a:p>
            <a:pPr lvl="3"/>
            <a:r>
              <a:rPr lang="en-GB" dirty="0"/>
              <a:t>        x = keras.layers.Conv1D(filters, 1)(x)    </a:t>
            </a:r>
          </a:p>
          <a:p>
            <a:pPr lvl="2"/>
            <a:r>
              <a:rPr lang="en-GB" dirty="0"/>
              <a:t>   return </a:t>
            </a:r>
            <a:r>
              <a:rPr lang="en-GB" dirty="0" err="1"/>
              <a:t>keras.layers.Add</a:t>
            </a:r>
            <a:r>
              <a:rPr lang="en-GB" dirty="0"/>
              <a:t>()([x, z])</a:t>
            </a:r>
          </a:p>
        </p:txBody>
      </p:sp>
      <p:sp>
        <p:nvSpPr>
          <p:cNvPr id="5" name="CasellaDiTesto 4">
            <a:extLst>
              <a:ext uri="{FF2B5EF4-FFF2-40B4-BE49-F238E27FC236}">
                <a16:creationId xmlns:a16="http://schemas.microsoft.com/office/drawing/2014/main" id="{653A3D85-E6F9-DEDB-83FA-E84F4069EAC8}"/>
              </a:ext>
            </a:extLst>
          </p:cNvPr>
          <p:cNvSpPr txBox="1"/>
          <p:nvPr/>
        </p:nvSpPr>
        <p:spPr>
          <a:xfrm>
            <a:off x="4112490" y="4791815"/>
            <a:ext cx="6100618" cy="1754326"/>
          </a:xfrm>
          <a:prstGeom prst="rect">
            <a:avLst/>
          </a:prstGeom>
          <a:noFill/>
        </p:spPr>
        <p:txBody>
          <a:bodyPr wrap="square">
            <a:spAutoFit/>
          </a:bodyPr>
          <a:lstStyle/>
          <a:p>
            <a:r>
              <a:rPr lang="en-GB" b="1" dirty="0"/>
              <a:t>Build the temporal representation:</a:t>
            </a:r>
          </a:p>
          <a:p>
            <a:endParaRPr lang="en-GB" dirty="0"/>
          </a:p>
          <a:p>
            <a:r>
              <a:rPr lang="en-GB" dirty="0"/>
              <a:t>inputs = </a:t>
            </a:r>
            <a:r>
              <a:rPr lang="en-GB" dirty="0" err="1"/>
              <a:t>keras.Input</a:t>
            </a:r>
            <a:r>
              <a:rPr lang="en-GB" dirty="0"/>
              <a:t>(shape=(50, 1))</a:t>
            </a:r>
          </a:p>
          <a:p>
            <a:r>
              <a:rPr lang="en-GB" dirty="0"/>
              <a:t>x = keras.layers.Conv1D(32, 1)(inputs)</a:t>
            </a:r>
          </a:p>
          <a:p>
            <a:r>
              <a:rPr lang="en-GB" dirty="0"/>
              <a:t>for d in [1, 2, 4, 8]:</a:t>
            </a:r>
          </a:p>
          <a:p>
            <a:r>
              <a:rPr lang="en-GB" dirty="0"/>
              <a:t>	x = </a:t>
            </a:r>
            <a:r>
              <a:rPr lang="en-GB" dirty="0" err="1"/>
              <a:t>tcn_block</a:t>
            </a:r>
            <a:r>
              <a:rPr lang="en-GB" dirty="0"/>
              <a:t>(x, 32, d)</a:t>
            </a:r>
          </a:p>
        </p:txBody>
      </p:sp>
      <p:sp>
        <p:nvSpPr>
          <p:cNvPr id="4" name="CasellaDiTesto 3">
            <a:extLst>
              <a:ext uri="{FF2B5EF4-FFF2-40B4-BE49-F238E27FC236}">
                <a16:creationId xmlns:a16="http://schemas.microsoft.com/office/drawing/2014/main" id="{2A2965DC-57BD-B01C-3874-52B5960D8242}"/>
              </a:ext>
            </a:extLst>
          </p:cNvPr>
          <p:cNvSpPr txBox="1"/>
          <p:nvPr/>
        </p:nvSpPr>
        <p:spPr>
          <a:xfrm>
            <a:off x="6095700" y="3486059"/>
            <a:ext cx="1958109" cy="523220"/>
          </a:xfrm>
          <a:prstGeom prst="rect">
            <a:avLst/>
          </a:prstGeom>
          <a:noFill/>
        </p:spPr>
        <p:txBody>
          <a:bodyPr wrap="square" rtlCol="0">
            <a:spAutoFit/>
          </a:bodyPr>
          <a:lstStyle/>
          <a:p>
            <a:r>
              <a:rPr lang="it-IT" sz="1400" dirty="0" err="1"/>
              <a:t>Adjust</a:t>
            </a:r>
            <a:r>
              <a:rPr lang="it-IT" sz="1400" dirty="0"/>
              <a:t> the feature </a:t>
            </a:r>
            <a:r>
              <a:rPr lang="it-IT" sz="1400" dirty="0" err="1"/>
              <a:t>map</a:t>
            </a:r>
            <a:r>
              <a:rPr lang="it-IT" sz="1400" dirty="0"/>
              <a:t> size, </a:t>
            </a:r>
            <a:r>
              <a:rPr lang="it-IT" sz="1400" dirty="0" err="1"/>
              <a:t>if</a:t>
            </a:r>
            <a:r>
              <a:rPr lang="it-IT" sz="1400" dirty="0"/>
              <a:t> </a:t>
            </a:r>
            <a:r>
              <a:rPr lang="it-IT" sz="1400" dirty="0" err="1"/>
              <a:t>needed</a:t>
            </a:r>
            <a:endParaRPr lang="en-GB" sz="1400" dirty="0"/>
          </a:p>
        </p:txBody>
      </p:sp>
      <p:cxnSp>
        <p:nvCxnSpPr>
          <p:cNvPr id="7" name="Connettore 2 6">
            <a:extLst>
              <a:ext uri="{FF2B5EF4-FFF2-40B4-BE49-F238E27FC236}">
                <a16:creationId xmlns:a16="http://schemas.microsoft.com/office/drawing/2014/main" id="{6492F7BA-1D68-5488-2713-3992B1665105}"/>
              </a:ext>
            </a:extLst>
          </p:cNvPr>
          <p:cNvCxnSpPr/>
          <p:nvPr/>
        </p:nvCxnSpPr>
        <p:spPr>
          <a:xfrm flipH="1" flipV="1">
            <a:off x="4276436" y="3210985"/>
            <a:ext cx="1819264" cy="5389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CasellaDiTesto 5">
            <a:extLst>
              <a:ext uri="{FF2B5EF4-FFF2-40B4-BE49-F238E27FC236}">
                <a16:creationId xmlns:a16="http://schemas.microsoft.com/office/drawing/2014/main" id="{0B5D9E64-C81C-5E09-47B6-ED85974F670B}"/>
              </a:ext>
            </a:extLst>
          </p:cNvPr>
          <p:cNvSpPr txBox="1"/>
          <p:nvPr/>
        </p:nvSpPr>
        <p:spPr>
          <a:xfrm>
            <a:off x="8515927" y="591127"/>
            <a:ext cx="2152073" cy="369332"/>
          </a:xfrm>
          <a:prstGeom prst="rect">
            <a:avLst/>
          </a:prstGeom>
          <a:noFill/>
        </p:spPr>
        <p:txBody>
          <a:bodyPr wrap="square" rtlCol="0">
            <a:spAutoFit/>
          </a:bodyPr>
          <a:lstStyle/>
          <a:p>
            <a:r>
              <a:rPr lang="it-IT" dirty="0" err="1"/>
              <a:t>Functional</a:t>
            </a:r>
            <a:r>
              <a:rPr lang="it-IT" dirty="0"/>
              <a:t> API</a:t>
            </a:r>
            <a:endParaRPr lang="en-GB" dirty="0"/>
          </a:p>
        </p:txBody>
      </p:sp>
      <p:cxnSp>
        <p:nvCxnSpPr>
          <p:cNvPr id="9" name="Connettore 2 8">
            <a:extLst>
              <a:ext uri="{FF2B5EF4-FFF2-40B4-BE49-F238E27FC236}">
                <a16:creationId xmlns:a16="http://schemas.microsoft.com/office/drawing/2014/main" id="{9F540F58-FBD2-C082-A1BC-F9B1AE0345A8}"/>
              </a:ext>
            </a:extLst>
          </p:cNvPr>
          <p:cNvCxnSpPr/>
          <p:nvPr/>
        </p:nvCxnSpPr>
        <p:spPr>
          <a:xfrm>
            <a:off x="9208655" y="960459"/>
            <a:ext cx="1004453" cy="11731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4712969"/>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DC58067-9226-11A9-2ABC-218E79768B49}"/>
              </a:ext>
            </a:extLst>
          </p:cNvPr>
          <p:cNvSpPr>
            <a:spLocks noGrp="1"/>
          </p:cNvSpPr>
          <p:nvPr>
            <p:ph type="title"/>
          </p:nvPr>
        </p:nvSpPr>
        <p:spPr/>
        <p:txBody>
          <a:bodyPr/>
          <a:lstStyle/>
          <a:p>
            <a:r>
              <a:rPr lang="it-IT" dirty="0"/>
              <a:t>One-step forecasting</a:t>
            </a:r>
            <a:endParaRPr lang="en-GB" dirty="0"/>
          </a:p>
        </p:txBody>
      </p:sp>
      <p:sp>
        <p:nvSpPr>
          <p:cNvPr id="3" name="Segnaposto testo 2">
            <a:extLst>
              <a:ext uri="{FF2B5EF4-FFF2-40B4-BE49-F238E27FC236}">
                <a16:creationId xmlns:a16="http://schemas.microsoft.com/office/drawing/2014/main" id="{249D02CC-6CDE-D377-2497-2C1742D7879C}"/>
              </a:ext>
            </a:extLst>
          </p:cNvPr>
          <p:cNvSpPr>
            <a:spLocks noGrp="1"/>
          </p:cNvSpPr>
          <p:nvPr>
            <p:ph type="body"/>
          </p:nvPr>
        </p:nvSpPr>
        <p:spPr>
          <a:xfrm>
            <a:off x="609480" y="2056218"/>
            <a:ext cx="10972440" cy="1144800"/>
          </a:xfrm>
        </p:spPr>
        <p:txBody>
          <a:bodyPr/>
          <a:lstStyle/>
          <a:p>
            <a:r>
              <a:rPr lang="en-GB" sz="1800" dirty="0">
                <a:solidFill>
                  <a:schemeClr val="tx1"/>
                </a:solidFill>
                <a:latin typeface="+mn-lt"/>
                <a:ea typeface="+mn-ea"/>
                <a:cs typeface="+mn-cs"/>
              </a:rPr>
              <a:t>h = </a:t>
            </a:r>
            <a:r>
              <a:rPr lang="en-GB" sz="1800" dirty="0" err="1">
                <a:solidFill>
                  <a:schemeClr val="tx1"/>
                </a:solidFill>
                <a:latin typeface="+mn-lt"/>
                <a:ea typeface="+mn-ea"/>
                <a:cs typeface="+mn-cs"/>
              </a:rPr>
              <a:t>keras.layers.Lambda</a:t>
            </a:r>
            <a:r>
              <a:rPr lang="en-GB" sz="1800" dirty="0">
                <a:solidFill>
                  <a:schemeClr val="tx1"/>
                </a:solidFill>
                <a:latin typeface="+mn-lt"/>
                <a:ea typeface="+mn-ea"/>
                <a:cs typeface="+mn-cs"/>
              </a:rPr>
              <a:t>(lambda z: z[:, -1, :])(x)</a:t>
            </a:r>
          </a:p>
          <a:p>
            <a:r>
              <a:rPr lang="en-GB" sz="1800" dirty="0">
                <a:solidFill>
                  <a:schemeClr val="tx1"/>
                </a:solidFill>
                <a:latin typeface="+mn-lt"/>
                <a:ea typeface="+mn-ea"/>
                <a:cs typeface="+mn-cs"/>
              </a:rPr>
              <a:t>outputs = </a:t>
            </a:r>
            <a:r>
              <a:rPr lang="en-GB" sz="1800" dirty="0" err="1">
                <a:solidFill>
                  <a:schemeClr val="tx1"/>
                </a:solidFill>
                <a:latin typeface="+mn-lt"/>
                <a:ea typeface="+mn-ea"/>
                <a:cs typeface="+mn-cs"/>
              </a:rPr>
              <a:t>keras.layers.Dense</a:t>
            </a:r>
            <a:r>
              <a:rPr lang="en-GB" sz="1800" dirty="0">
                <a:solidFill>
                  <a:schemeClr val="tx1"/>
                </a:solidFill>
                <a:latin typeface="+mn-lt"/>
                <a:ea typeface="+mn-ea"/>
                <a:cs typeface="+mn-cs"/>
              </a:rPr>
              <a:t>(1)(h)</a:t>
            </a:r>
          </a:p>
          <a:p>
            <a:r>
              <a:rPr lang="en-GB" sz="1800" dirty="0">
                <a:solidFill>
                  <a:schemeClr val="tx1"/>
                </a:solidFill>
                <a:latin typeface="+mn-lt"/>
                <a:ea typeface="+mn-ea"/>
                <a:cs typeface="+mn-cs"/>
              </a:rPr>
              <a:t>model = </a:t>
            </a:r>
            <a:r>
              <a:rPr lang="en-GB" sz="1800" dirty="0" err="1">
                <a:solidFill>
                  <a:schemeClr val="tx1"/>
                </a:solidFill>
                <a:latin typeface="+mn-lt"/>
                <a:ea typeface="+mn-ea"/>
                <a:cs typeface="+mn-cs"/>
              </a:rPr>
              <a:t>keras.Model</a:t>
            </a:r>
            <a:r>
              <a:rPr lang="en-GB" sz="1800" dirty="0">
                <a:solidFill>
                  <a:schemeClr val="tx1"/>
                </a:solidFill>
                <a:latin typeface="+mn-lt"/>
                <a:ea typeface="+mn-ea"/>
                <a:cs typeface="+mn-cs"/>
              </a:rPr>
              <a:t>(inputs, outputs)</a:t>
            </a:r>
          </a:p>
        </p:txBody>
      </p:sp>
      <p:sp>
        <p:nvSpPr>
          <p:cNvPr id="5" name="CasellaDiTesto 4">
            <a:extLst>
              <a:ext uri="{FF2B5EF4-FFF2-40B4-BE49-F238E27FC236}">
                <a16:creationId xmlns:a16="http://schemas.microsoft.com/office/drawing/2014/main" id="{74E97428-E34A-4851-BE08-26A6B88D3ADB}"/>
              </a:ext>
            </a:extLst>
          </p:cNvPr>
          <p:cNvSpPr txBox="1"/>
          <p:nvPr/>
        </p:nvSpPr>
        <p:spPr>
          <a:xfrm>
            <a:off x="8935702" y="4571495"/>
            <a:ext cx="2258771" cy="1754326"/>
          </a:xfrm>
          <a:prstGeom prst="rect">
            <a:avLst/>
          </a:prstGeom>
          <a:noFill/>
        </p:spPr>
        <p:txBody>
          <a:bodyPr wrap="square">
            <a:spAutoFit/>
          </a:bodyPr>
          <a:lstStyle/>
          <a:p>
            <a:pPr rtl="0">
              <a:buNone/>
            </a:pPr>
            <a:r>
              <a:rPr lang="en-GB" dirty="0">
                <a:latin typeface="+mn-lt"/>
              </a:rPr>
              <a:t>[N,50,1]</a:t>
            </a:r>
          </a:p>
          <a:p>
            <a:pPr rtl="0">
              <a:buNone/>
            </a:pPr>
            <a:r>
              <a:rPr lang="en-GB" dirty="0">
                <a:latin typeface="+mn-lt"/>
              </a:rPr>
              <a:t>→ TCN</a:t>
            </a:r>
          </a:p>
          <a:p>
            <a:pPr rtl="0">
              <a:buNone/>
            </a:pPr>
            <a:r>
              <a:rPr lang="en-GB" dirty="0">
                <a:latin typeface="+mn-lt"/>
              </a:rPr>
              <a:t>→ [N,50,32]</a:t>
            </a:r>
          </a:p>
          <a:p>
            <a:pPr rtl="0">
              <a:buNone/>
            </a:pPr>
            <a:r>
              <a:rPr lang="en-GB" dirty="0">
                <a:latin typeface="+mn-lt"/>
              </a:rPr>
              <a:t>→ last position</a:t>
            </a:r>
          </a:p>
          <a:p>
            <a:pPr rtl="0">
              <a:buNone/>
            </a:pPr>
            <a:r>
              <a:rPr lang="en-GB" dirty="0">
                <a:latin typeface="+mn-lt"/>
              </a:rPr>
              <a:t>→ [N,32]</a:t>
            </a:r>
          </a:p>
          <a:p>
            <a:pPr rtl="0">
              <a:buNone/>
            </a:pPr>
            <a:r>
              <a:rPr lang="en-GB" dirty="0">
                <a:latin typeface="+mn-lt"/>
              </a:rPr>
              <a:t>→ [N,1]</a:t>
            </a:r>
            <a:endParaRPr lang="en-GB" dirty="0">
              <a:latin typeface="Courier New" panose="02070309020205020404" pitchFamily="49" charset="0"/>
            </a:endParaRPr>
          </a:p>
        </p:txBody>
      </p:sp>
      <p:cxnSp>
        <p:nvCxnSpPr>
          <p:cNvPr id="6" name="Connettore 2 5">
            <a:extLst>
              <a:ext uri="{FF2B5EF4-FFF2-40B4-BE49-F238E27FC236}">
                <a16:creationId xmlns:a16="http://schemas.microsoft.com/office/drawing/2014/main" id="{EADEB41E-7149-5861-F80B-D9DE3F3EFFA5}"/>
              </a:ext>
            </a:extLst>
          </p:cNvPr>
          <p:cNvCxnSpPr>
            <a:cxnSpLocks/>
          </p:cNvCxnSpPr>
          <p:nvPr/>
        </p:nvCxnSpPr>
        <p:spPr>
          <a:xfrm flipH="1" flipV="1">
            <a:off x="4837365" y="2565901"/>
            <a:ext cx="1258335" cy="5537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CasellaDiTesto 3">
            <a:extLst>
              <a:ext uri="{FF2B5EF4-FFF2-40B4-BE49-F238E27FC236}">
                <a16:creationId xmlns:a16="http://schemas.microsoft.com/office/drawing/2014/main" id="{51587AA5-CB67-3821-B246-0AFC261D0165}"/>
              </a:ext>
            </a:extLst>
          </p:cNvPr>
          <p:cNvSpPr txBox="1"/>
          <p:nvPr/>
        </p:nvSpPr>
        <p:spPr>
          <a:xfrm>
            <a:off x="5638559" y="1125709"/>
            <a:ext cx="2770909" cy="369332"/>
          </a:xfrm>
          <a:prstGeom prst="rect">
            <a:avLst/>
          </a:prstGeom>
          <a:noFill/>
        </p:spPr>
        <p:txBody>
          <a:bodyPr wrap="square" rtlCol="0">
            <a:spAutoFit/>
          </a:bodyPr>
          <a:lstStyle/>
          <a:p>
            <a:r>
              <a:rPr lang="it-IT" dirty="0"/>
              <a:t>A custom </a:t>
            </a:r>
            <a:r>
              <a:rPr lang="it-IT" dirty="0" err="1"/>
              <a:t>function</a:t>
            </a:r>
            <a:r>
              <a:rPr lang="it-IT" dirty="0"/>
              <a:t> </a:t>
            </a:r>
            <a:r>
              <a:rPr lang="it-IT" dirty="0" err="1"/>
              <a:t>block</a:t>
            </a:r>
            <a:endParaRPr lang="en-GB" dirty="0"/>
          </a:p>
        </p:txBody>
      </p:sp>
      <p:cxnSp>
        <p:nvCxnSpPr>
          <p:cNvPr id="8" name="Connettore 2 7">
            <a:extLst>
              <a:ext uri="{FF2B5EF4-FFF2-40B4-BE49-F238E27FC236}">
                <a16:creationId xmlns:a16="http://schemas.microsoft.com/office/drawing/2014/main" id="{6EE0C086-E6B8-64FF-9B39-0D1D627C503E}"/>
              </a:ext>
            </a:extLst>
          </p:cNvPr>
          <p:cNvCxnSpPr>
            <a:cxnSpLocks/>
          </p:cNvCxnSpPr>
          <p:nvPr/>
        </p:nvCxnSpPr>
        <p:spPr>
          <a:xfrm flipH="1">
            <a:off x="2992582" y="1486932"/>
            <a:ext cx="2244436" cy="7667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Connettore 2 10">
            <a:extLst>
              <a:ext uri="{FF2B5EF4-FFF2-40B4-BE49-F238E27FC236}">
                <a16:creationId xmlns:a16="http://schemas.microsoft.com/office/drawing/2014/main" id="{A59FD172-F49C-2E1A-3FD3-BE784BEAEA7C}"/>
              </a:ext>
            </a:extLst>
          </p:cNvPr>
          <p:cNvCxnSpPr>
            <a:cxnSpLocks/>
          </p:cNvCxnSpPr>
          <p:nvPr/>
        </p:nvCxnSpPr>
        <p:spPr>
          <a:xfrm flipH="1" flipV="1">
            <a:off x="1099127" y="3038764"/>
            <a:ext cx="683491" cy="1108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CasellaDiTesto 13">
            <a:extLst>
              <a:ext uri="{FF2B5EF4-FFF2-40B4-BE49-F238E27FC236}">
                <a16:creationId xmlns:a16="http://schemas.microsoft.com/office/drawing/2014/main" id="{D1D6D8E7-5EB6-94DD-F7BD-30FE6C94E914}"/>
              </a:ext>
            </a:extLst>
          </p:cNvPr>
          <p:cNvSpPr txBox="1"/>
          <p:nvPr/>
        </p:nvSpPr>
        <p:spPr>
          <a:xfrm>
            <a:off x="1782618" y="3915927"/>
            <a:ext cx="2198255" cy="646331"/>
          </a:xfrm>
          <a:prstGeom prst="rect">
            <a:avLst/>
          </a:prstGeom>
          <a:noFill/>
        </p:spPr>
        <p:txBody>
          <a:bodyPr wrap="square" rtlCol="0">
            <a:spAutoFit/>
          </a:bodyPr>
          <a:lstStyle/>
          <a:p>
            <a:r>
              <a:rPr lang="it-IT" dirty="0" err="1"/>
              <a:t>Now</a:t>
            </a:r>
            <a:r>
              <a:rPr lang="it-IT" dirty="0"/>
              <a:t> </a:t>
            </a:r>
            <a:r>
              <a:rPr lang="it-IT" dirty="0" err="1"/>
              <a:t>you</a:t>
            </a:r>
            <a:r>
              <a:rPr lang="it-IT" dirty="0"/>
              <a:t> can compile and </a:t>
            </a:r>
            <a:r>
              <a:rPr lang="it-IT" dirty="0" err="1"/>
              <a:t>fit</a:t>
            </a:r>
            <a:endParaRPr lang="en-GB" dirty="0"/>
          </a:p>
        </p:txBody>
      </p:sp>
      <p:sp>
        <p:nvSpPr>
          <p:cNvPr id="16" name="CasellaDiTesto 15">
            <a:extLst>
              <a:ext uri="{FF2B5EF4-FFF2-40B4-BE49-F238E27FC236}">
                <a16:creationId xmlns:a16="http://schemas.microsoft.com/office/drawing/2014/main" id="{BE7179C6-E11D-3579-3780-AFBE756AA59C}"/>
              </a:ext>
            </a:extLst>
          </p:cNvPr>
          <p:cNvSpPr txBox="1"/>
          <p:nvPr/>
        </p:nvSpPr>
        <p:spPr>
          <a:xfrm>
            <a:off x="6095700" y="2915506"/>
            <a:ext cx="1699491" cy="923330"/>
          </a:xfrm>
          <a:prstGeom prst="rect">
            <a:avLst/>
          </a:prstGeom>
          <a:noFill/>
        </p:spPr>
        <p:txBody>
          <a:bodyPr wrap="square" rtlCol="0">
            <a:spAutoFit/>
          </a:bodyPr>
          <a:lstStyle/>
          <a:p>
            <a:r>
              <a:rPr lang="it-IT" dirty="0"/>
              <a:t>Last </a:t>
            </a:r>
            <a:r>
              <a:rPr lang="it-IT" dirty="0" err="1"/>
              <a:t>temporal</a:t>
            </a:r>
            <a:r>
              <a:rPr lang="it-IT" dirty="0"/>
              <a:t> </a:t>
            </a:r>
            <a:r>
              <a:rPr lang="it-IT" dirty="0" err="1"/>
              <a:t>representation</a:t>
            </a:r>
            <a:r>
              <a:rPr lang="it-IT" dirty="0"/>
              <a:t> (last position)</a:t>
            </a:r>
            <a:endParaRPr lang="en-GB" dirty="0"/>
          </a:p>
        </p:txBody>
      </p:sp>
    </p:spTree>
    <p:extLst>
      <p:ext uri="{BB962C8B-B14F-4D97-AF65-F5344CB8AC3E}">
        <p14:creationId xmlns:p14="http://schemas.microsoft.com/office/powerpoint/2010/main" val="1109391815"/>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7E29142-43B0-7348-5182-B24703F3C43A}"/>
              </a:ext>
            </a:extLst>
          </p:cNvPr>
          <p:cNvSpPr>
            <a:spLocks noGrp="1"/>
          </p:cNvSpPr>
          <p:nvPr>
            <p:ph type="title"/>
          </p:nvPr>
        </p:nvSpPr>
        <p:spPr/>
        <p:txBody>
          <a:bodyPr/>
          <a:lstStyle/>
          <a:p>
            <a:endParaRPr lang="en-GB" dirty="0"/>
          </a:p>
        </p:txBody>
      </p:sp>
      <p:sp>
        <p:nvSpPr>
          <p:cNvPr id="3" name="Segnaposto testo 2">
            <a:extLst>
              <a:ext uri="{FF2B5EF4-FFF2-40B4-BE49-F238E27FC236}">
                <a16:creationId xmlns:a16="http://schemas.microsoft.com/office/drawing/2014/main" id="{4E61AD67-98E9-6478-EC02-C8FDA3A15E11}"/>
              </a:ext>
            </a:extLst>
          </p:cNvPr>
          <p:cNvSpPr>
            <a:spLocks noGrp="1"/>
          </p:cNvSpPr>
          <p:nvPr>
            <p:ph type="body"/>
          </p:nvPr>
        </p:nvSpPr>
        <p:spPr>
          <a:xfrm>
            <a:off x="609480" y="1962418"/>
            <a:ext cx="10972440" cy="2933164"/>
          </a:xfrm>
        </p:spPr>
        <p:txBody>
          <a:bodyPr/>
          <a:lstStyle/>
          <a:p>
            <a:r>
              <a:rPr lang="en-GB" sz="1800" b="1" dirty="0">
                <a:solidFill>
                  <a:schemeClr val="tx1"/>
                </a:solidFill>
                <a:latin typeface="+mn-lt"/>
                <a:ea typeface="+mn-ea"/>
                <a:cs typeface="+mn-cs"/>
              </a:rPr>
              <a:t>Direct 10-step forecast</a:t>
            </a:r>
            <a:endParaRPr lang="it-IT" sz="1800" b="1" dirty="0">
              <a:solidFill>
                <a:schemeClr val="tx1"/>
              </a:solidFill>
              <a:latin typeface="+mn-lt"/>
              <a:ea typeface="+mn-ea"/>
              <a:cs typeface="+mn-cs"/>
            </a:endParaRPr>
          </a:p>
          <a:p>
            <a:r>
              <a:rPr lang="it-IT" sz="1800" dirty="0" err="1">
                <a:solidFill>
                  <a:schemeClr val="tx1"/>
                </a:solidFill>
                <a:latin typeface="+mn-lt"/>
                <a:ea typeface="+mn-ea"/>
                <a:cs typeface="+mn-cs"/>
              </a:rPr>
              <a:t>Only</a:t>
            </a:r>
            <a:r>
              <a:rPr lang="it-IT" sz="1800" dirty="0">
                <a:solidFill>
                  <a:schemeClr val="tx1"/>
                </a:solidFill>
                <a:latin typeface="+mn-lt"/>
                <a:ea typeface="+mn-ea"/>
                <a:cs typeface="+mn-cs"/>
              </a:rPr>
              <a:t> </a:t>
            </a:r>
            <a:r>
              <a:rPr lang="it-IT" sz="1800" dirty="0" err="1">
                <a:solidFill>
                  <a:schemeClr val="tx1"/>
                </a:solidFill>
                <a:latin typeface="+mn-lt"/>
                <a:ea typeface="+mn-ea"/>
                <a:cs typeface="+mn-cs"/>
              </a:rPr>
              <a:t>change</a:t>
            </a:r>
            <a:r>
              <a:rPr lang="it-IT" sz="1800" dirty="0">
                <a:solidFill>
                  <a:schemeClr val="tx1"/>
                </a:solidFill>
                <a:latin typeface="+mn-lt"/>
                <a:ea typeface="+mn-ea"/>
                <a:cs typeface="+mn-cs"/>
              </a:rPr>
              <a:t>: outputs = </a:t>
            </a:r>
            <a:r>
              <a:rPr lang="it-IT" sz="1800" dirty="0" err="1">
                <a:solidFill>
                  <a:schemeClr val="tx1"/>
                </a:solidFill>
                <a:latin typeface="+mn-lt"/>
                <a:ea typeface="+mn-ea"/>
                <a:cs typeface="+mn-cs"/>
              </a:rPr>
              <a:t>keras.layers.Dense</a:t>
            </a:r>
            <a:r>
              <a:rPr lang="it-IT" sz="1800" dirty="0">
                <a:solidFill>
                  <a:schemeClr val="tx1"/>
                </a:solidFill>
                <a:latin typeface="+mn-lt"/>
                <a:ea typeface="+mn-ea"/>
                <a:cs typeface="+mn-cs"/>
              </a:rPr>
              <a:t>(10)</a:t>
            </a:r>
            <a:r>
              <a:rPr lang="it-IT" sz="1800" b="1" dirty="0">
                <a:solidFill>
                  <a:schemeClr val="tx1"/>
                </a:solidFill>
                <a:latin typeface="+mn-lt"/>
                <a:ea typeface="+mn-ea"/>
                <a:cs typeface="+mn-cs"/>
              </a:rPr>
              <a:t>(h)</a:t>
            </a:r>
          </a:p>
          <a:p>
            <a:r>
              <a:rPr lang="it-IT" sz="1800" dirty="0" err="1">
                <a:solidFill>
                  <a:schemeClr val="tx1"/>
                </a:solidFill>
                <a:latin typeface="+mn-lt"/>
                <a:ea typeface="+mn-ea"/>
                <a:cs typeface="+mn-cs"/>
              </a:rPr>
              <a:t>Result</a:t>
            </a:r>
            <a:r>
              <a:rPr lang="it-IT" sz="1800" dirty="0">
                <a:solidFill>
                  <a:schemeClr val="tx1"/>
                </a:solidFill>
                <a:latin typeface="+mn-lt"/>
                <a:ea typeface="+mn-ea"/>
                <a:cs typeface="+mn-cs"/>
              </a:rPr>
              <a:t>: </a:t>
            </a:r>
            <a:r>
              <a:rPr lang="en-GB" sz="1800" dirty="0">
                <a:solidFill>
                  <a:schemeClr val="tx1"/>
                </a:solidFill>
                <a:latin typeface="+mn-lt"/>
                <a:ea typeface="+mn-ea"/>
                <a:cs typeface="+mn-cs"/>
              </a:rPr>
              <a:t>[N,10]</a:t>
            </a:r>
          </a:p>
          <a:p>
            <a:endParaRPr lang="en-GB" sz="1800" dirty="0">
              <a:solidFill>
                <a:schemeClr val="tx1"/>
              </a:solidFill>
              <a:latin typeface="+mn-lt"/>
              <a:ea typeface="+mn-ea"/>
              <a:cs typeface="+mn-cs"/>
            </a:endParaRPr>
          </a:p>
          <a:p>
            <a:r>
              <a:rPr lang="en-GB" sz="1800" b="1" dirty="0">
                <a:solidFill>
                  <a:schemeClr val="tx1"/>
                </a:solidFill>
                <a:latin typeface="+mn-lt"/>
                <a:ea typeface="+mn-ea"/>
                <a:cs typeface="+mn-cs"/>
              </a:rPr>
              <a:t>Output at every time step:</a:t>
            </a:r>
          </a:p>
          <a:p>
            <a:r>
              <a:rPr lang="en-GB" sz="1800" dirty="0">
                <a:solidFill>
                  <a:schemeClr val="tx1"/>
                </a:solidFill>
                <a:latin typeface="+mn-lt"/>
                <a:ea typeface="+mn-ea"/>
                <a:cs typeface="+mn-cs"/>
              </a:rPr>
              <a:t>outputs = </a:t>
            </a:r>
            <a:r>
              <a:rPr lang="en-GB" sz="1800" dirty="0" err="1">
                <a:solidFill>
                  <a:schemeClr val="tx1"/>
                </a:solidFill>
                <a:latin typeface="+mn-lt"/>
                <a:ea typeface="+mn-ea"/>
                <a:cs typeface="+mn-cs"/>
              </a:rPr>
              <a:t>keras.layers.Dense</a:t>
            </a:r>
            <a:r>
              <a:rPr lang="en-GB" sz="1800" dirty="0">
                <a:solidFill>
                  <a:schemeClr val="tx1"/>
                </a:solidFill>
                <a:latin typeface="+mn-lt"/>
                <a:ea typeface="+mn-ea"/>
                <a:cs typeface="+mn-cs"/>
              </a:rPr>
              <a:t>(10)</a:t>
            </a:r>
            <a:r>
              <a:rPr lang="en-GB" sz="1800" b="1" dirty="0">
                <a:solidFill>
                  <a:schemeClr val="tx1"/>
                </a:solidFill>
                <a:latin typeface="+mn-lt"/>
                <a:ea typeface="+mn-ea"/>
                <a:cs typeface="+mn-cs"/>
              </a:rPr>
              <a:t>(x)</a:t>
            </a:r>
          </a:p>
          <a:p>
            <a:r>
              <a:rPr lang="en-GB" sz="1800" dirty="0">
                <a:solidFill>
                  <a:schemeClr val="tx1"/>
                </a:solidFill>
                <a:latin typeface="+mn-lt"/>
                <a:ea typeface="+mn-ea"/>
                <a:cs typeface="+mn-cs"/>
              </a:rPr>
              <a:t>model = </a:t>
            </a:r>
            <a:r>
              <a:rPr lang="en-GB" sz="1800" dirty="0" err="1">
                <a:solidFill>
                  <a:schemeClr val="tx1"/>
                </a:solidFill>
                <a:latin typeface="+mn-lt"/>
                <a:ea typeface="+mn-ea"/>
                <a:cs typeface="+mn-cs"/>
              </a:rPr>
              <a:t>keras.Model</a:t>
            </a:r>
            <a:r>
              <a:rPr lang="en-GB" sz="1800" dirty="0">
                <a:solidFill>
                  <a:schemeClr val="tx1"/>
                </a:solidFill>
                <a:latin typeface="+mn-lt"/>
                <a:ea typeface="+mn-ea"/>
                <a:cs typeface="+mn-cs"/>
              </a:rPr>
              <a:t>(inputs, outputs)</a:t>
            </a:r>
          </a:p>
          <a:p>
            <a:r>
              <a:rPr lang="en-GB" sz="1800" dirty="0">
                <a:solidFill>
                  <a:schemeClr val="tx1"/>
                </a:solidFill>
                <a:latin typeface="+mn-lt"/>
                <a:ea typeface="+mn-ea"/>
                <a:cs typeface="+mn-cs"/>
              </a:rPr>
              <a:t>Result: [N,50,10]</a:t>
            </a:r>
          </a:p>
          <a:p>
            <a:endParaRPr lang="en-GB" dirty="0"/>
          </a:p>
        </p:txBody>
      </p:sp>
    </p:spTree>
    <p:extLst>
      <p:ext uri="{BB962C8B-B14F-4D97-AF65-F5344CB8AC3E}">
        <p14:creationId xmlns:p14="http://schemas.microsoft.com/office/powerpoint/2010/main" val="1961789823"/>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F0383F8-BDBA-D014-3590-86636E0144D0}"/>
              </a:ext>
            </a:extLst>
          </p:cNvPr>
          <p:cNvSpPr>
            <a:spLocks noGrp="1"/>
          </p:cNvSpPr>
          <p:nvPr>
            <p:ph type="title"/>
          </p:nvPr>
        </p:nvSpPr>
        <p:spPr/>
        <p:txBody>
          <a:bodyPr/>
          <a:lstStyle/>
          <a:p>
            <a:r>
              <a:rPr lang="it-IT" dirty="0" err="1"/>
              <a:t>Wavenet</a:t>
            </a:r>
            <a:endParaRPr lang="en-GB" dirty="0"/>
          </a:p>
        </p:txBody>
      </p:sp>
    </p:spTree>
    <p:extLst>
      <p:ext uri="{BB962C8B-B14F-4D97-AF65-F5344CB8AC3E}">
        <p14:creationId xmlns:p14="http://schemas.microsoft.com/office/powerpoint/2010/main" val="135755366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69DEEF4-BF5C-0101-7265-569138AFA735}"/>
              </a:ext>
            </a:extLst>
          </p:cNvPr>
          <p:cNvSpPr>
            <a:spLocks noGrp="1"/>
          </p:cNvSpPr>
          <p:nvPr>
            <p:ph type="title"/>
          </p:nvPr>
        </p:nvSpPr>
        <p:spPr/>
        <p:txBody>
          <a:bodyPr/>
          <a:lstStyle/>
          <a:p>
            <a:r>
              <a:rPr lang="en-GB" dirty="0"/>
              <a:t>Define one gated </a:t>
            </a:r>
            <a:r>
              <a:rPr lang="en-GB" dirty="0" err="1"/>
              <a:t>WaveNet</a:t>
            </a:r>
            <a:r>
              <a:rPr lang="en-GB" dirty="0"/>
              <a:t> residual block:</a:t>
            </a:r>
          </a:p>
        </p:txBody>
      </p:sp>
      <p:sp>
        <p:nvSpPr>
          <p:cNvPr id="3" name="Segnaposto testo 2">
            <a:extLst>
              <a:ext uri="{FF2B5EF4-FFF2-40B4-BE49-F238E27FC236}">
                <a16:creationId xmlns:a16="http://schemas.microsoft.com/office/drawing/2014/main" id="{E36A698D-5EAF-3ABD-2524-89675592BF55}"/>
              </a:ext>
            </a:extLst>
          </p:cNvPr>
          <p:cNvSpPr>
            <a:spLocks noGrp="1"/>
          </p:cNvSpPr>
          <p:nvPr>
            <p:ph type="body"/>
          </p:nvPr>
        </p:nvSpPr>
        <p:spPr>
          <a:xfrm>
            <a:off x="609480" y="2434909"/>
            <a:ext cx="10972440" cy="1144800"/>
          </a:xfrm>
        </p:spPr>
        <p:txBody>
          <a:bodyPr/>
          <a:lstStyle/>
          <a:p>
            <a:r>
              <a:rPr lang="en-GB" sz="1800" dirty="0">
                <a:solidFill>
                  <a:schemeClr val="tx2"/>
                </a:solidFill>
              </a:rPr>
              <a:t>def </a:t>
            </a:r>
            <a:r>
              <a:rPr lang="en-GB" sz="1800" dirty="0" err="1">
                <a:solidFill>
                  <a:schemeClr val="tx2"/>
                </a:solidFill>
              </a:rPr>
              <a:t>wavenet_block</a:t>
            </a:r>
            <a:r>
              <a:rPr lang="en-GB" sz="1800" dirty="0">
                <a:solidFill>
                  <a:schemeClr val="tx2"/>
                </a:solidFill>
              </a:rPr>
              <a:t>(x, filters, dilation):    </a:t>
            </a:r>
          </a:p>
          <a:p>
            <a:pPr lvl="1"/>
            <a:r>
              <a:rPr lang="en-GB" dirty="0"/>
              <a:t>   a = keras.layers.Conv1D(filters, 2, padding="causal",  </a:t>
            </a:r>
            <a:r>
              <a:rPr lang="en-GB" dirty="0" err="1"/>
              <a:t>dilation_rate</a:t>
            </a:r>
            <a:r>
              <a:rPr lang="en-GB" dirty="0"/>
              <a:t>=dilation)(x)    </a:t>
            </a:r>
          </a:p>
          <a:p>
            <a:pPr lvl="1"/>
            <a:r>
              <a:rPr lang="en-GB" dirty="0"/>
              <a:t>   b = keras.layers.Conv1D(filters, 2, padding="causal", </a:t>
            </a:r>
            <a:r>
              <a:rPr lang="en-GB" dirty="0" err="1"/>
              <a:t>dilation_rate</a:t>
            </a:r>
            <a:r>
              <a:rPr lang="en-GB" dirty="0"/>
              <a:t>=dilation)(x)    </a:t>
            </a:r>
          </a:p>
          <a:p>
            <a:pPr lvl="1"/>
            <a:r>
              <a:rPr lang="en-GB" dirty="0"/>
              <a:t>   z = </a:t>
            </a:r>
            <a:r>
              <a:rPr lang="en-GB" dirty="0" err="1"/>
              <a:t>keras.layers.Multiply</a:t>
            </a:r>
            <a:r>
              <a:rPr lang="en-GB" dirty="0"/>
              <a:t>()([</a:t>
            </a:r>
            <a:r>
              <a:rPr lang="en-GB" dirty="0" err="1"/>
              <a:t>keras.layers.Activation</a:t>
            </a:r>
            <a:r>
              <a:rPr lang="en-GB" dirty="0"/>
              <a:t>("tanh")(a), </a:t>
            </a:r>
            <a:r>
              <a:rPr lang="en-GB" dirty="0" err="1"/>
              <a:t>keras.layers.Activation</a:t>
            </a:r>
            <a:r>
              <a:rPr lang="en-GB" dirty="0"/>
              <a:t>("sigmoid")(b)])    </a:t>
            </a:r>
          </a:p>
          <a:p>
            <a:pPr lvl="1"/>
            <a:r>
              <a:rPr lang="en-GB" dirty="0"/>
              <a:t>   r = keras.layers.Conv1D(filters, 1)(z)    </a:t>
            </a:r>
          </a:p>
          <a:p>
            <a:pPr lvl="1"/>
            <a:r>
              <a:rPr lang="en-GB" dirty="0"/>
              <a:t>   s = keras.layers.Conv1D(filters, 1)(z)</a:t>
            </a:r>
          </a:p>
          <a:p>
            <a:pPr lvl="1"/>
            <a:r>
              <a:rPr lang="en-GB" dirty="0"/>
              <a:t>   </a:t>
            </a:r>
            <a:r>
              <a:rPr lang="en-GB" dirty="0" err="1"/>
              <a:t>x_next</a:t>
            </a:r>
            <a:r>
              <a:rPr lang="en-GB" dirty="0"/>
              <a:t> = </a:t>
            </a:r>
            <a:r>
              <a:rPr lang="en-GB" dirty="0" err="1"/>
              <a:t>keras.layers.Add</a:t>
            </a:r>
            <a:r>
              <a:rPr lang="en-GB" dirty="0"/>
              <a:t>()([x, r])    </a:t>
            </a:r>
          </a:p>
          <a:p>
            <a:pPr lvl="1"/>
            <a:r>
              <a:rPr lang="en-GB" dirty="0"/>
              <a:t>   return </a:t>
            </a:r>
            <a:r>
              <a:rPr lang="en-GB" dirty="0" err="1"/>
              <a:t>x_next</a:t>
            </a:r>
            <a:r>
              <a:rPr lang="en-GB" dirty="0"/>
              <a:t>, s</a:t>
            </a:r>
          </a:p>
        </p:txBody>
      </p:sp>
      <p:cxnSp>
        <p:nvCxnSpPr>
          <p:cNvPr id="5" name="Connettore 2 4">
            <a:extLst>
              <a:ext uri="{FF2B5EF4-FFF2-40B4-BE49-F238E27FC236}">
                <a16:creationId xmlns:a16="http://schemas.microsoft.com/office/drawing/2014/main" id="{719FB324-6ECD-4AB4-2629-EC9473C05D45}"/>
              </a:ext>
            </a:extLst>
          </p:cNvPr>
          <p:cNvCxnSpPr/>
          <p:nvPr/>
        </p:nvCxnSpPr>
        <p:spPr>
          <a:xfrm flipH="1" flipV="1">
            <a:off x="4775200" y="3297382"/>
            <a:ext cx="2327564" cy="1330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CasellaDiTesto 5">
            <a:extLst>
              <a:ext uri="{FF2B5EF4-FFF2-40B4-BE49-F238E27FC236}">
                <a16:creationId xmlns:a16="http://schemas.microsoft.com/office/drawing/2014/main" id="{761D20FB-C976-B59B-AFA0-8AF6A7B5DDDF}"/>
              </a:ext>
            </a:extLst>
          </p:cNvPr>
          <p:cNvSpPr txBox="1"/>
          <p:nvPr/>
        </p:nvSpPr>
        <p:spPr>
          <a:xfrm>
            <a:off x="6982690" y="3996053"/>
            <a:ext cx="2549237" cy="1200329"/>
          </a:xfrm>
          <a:prstGeom prst="rect">
            <a:avLst/>
          </a:prstGeom>
          <a:noFill/>
        </p:spPr>
        <p:txBody>
          <a:bodyPr wrap="square" rtlCol="0">
            <a:spAutoFit/>
          </a:bodyPr>
          <a:lstStyle/>
          <a:p>
            <a:r>
              <a:rPr lang="it-IT" dirty="0"/>
              <a:t>Here </a:t>
            </a:r>
            <a:r>
              <a:rPr lang="it-IT" dirty="0" err="1"/>
              <a:t>we</a:t>
            </a:r>
            <a:r>
              <a:rPr lang="it-IT" dirty="0"/>
              <a:t> </a:t>
            </a:r>
            <a:r>
              <a:rPr lang="it-IT" dirty="0" err="1"/>
              <a:t>have</a:t>
            </a:r>
            <a:r>
              <a:rPr lang="it-IT" dirty="0"/>
              <a:t> </a:t>
            </a:r>
            <a:r>
              <a:rPr lang="it-IT" dirty="0" err="1"/>
              <a:t>two</a:t>
            </a:r>
            <a:r>
              <a:rPr lang="it-IT" dirty="0"/>
              <a:t> Conv1D.</a:t>
            </a:r>
          </a:p>
          <a:p>
            <a:r>
              <a:rPr lang="it-IT" dirty="0"/>
              <a:t>In the picture, just one</a:t>
            </a:r>
            <a:endParaRPr lang="en-GB" dirty="0"/>
          </a:p>
        </p:txBody>
      </p:sp>
      <p:pic>
        <p:nvPicPr>
          <p:cNvPr id="8" name="Segnaposto contenuto 8" descr="../_images/wavenet.png">
            <a:extLst>
              <a:ext uri="{FF2B5EF4-FFF2-40B4-BE49-F238E27FC236}">
                <a16:creationId xmlns:a16="http://schemas.microsoft.com/office/drawing/2014/main" id="{771E9F0E-4C19-95D8-C666-24ADC0A20742}"/>
              </a:ext>
            </a:extLst>
          </p:cNvPr>
          <p:cNvPicPr>
            <a:picLocks noChangeAspect="1"/>
          </p:cNvPicPr>
          <p:nvPr/>
        </p:nvPicPr>
        <p:blipFill>
          <a:blip r:embed="rId2"/>
          <a:stretch>
            <a:fillRect/>
          </a:stretch>
        </p:blipFill>
        <p:spPr>
          <a:xfrm>
            <a:off x="2437368" y="4699079"/>
            <a:ext cx="4065032" cy="2158921"/>
          </a:xfrm>
          <a:prstGeom prst="rect">
            <a:avLst/>
          </a:prstGeom>
        </p:spPr>
      </p:pic>
    </p:spTree>
    <p:extLst>
      <p:ext uri="{BB962C8B-B14F-4D97-AF65-F5344CB8AC3E}">
        <p14:creationId xmlns:p14="http://schemas.microsoft.com/office/powerpoint/2010/main" val="1024975017"/>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374A384-83D2-5074-CB8F-7E5ADBB0F9D7}"/>
              </a:ext>
            </a:extLst>
          </p:cNvPr>
          <p:cNvSpPr>
            <a:spLocks noGrp="1"/>
          </p:cNvSpPr>
          <p:nvPr>
            <p:ph type="title"/>
          </p:nvPr>
        </p:nvSpPr>
        <p:spPr/>
        <p:txBody>
          <a:bodyPr/>
          <a:lstStyle/>
          <a:p>
            <a:r>
              <a:rPr lang="it-IT" dirty="0"/>
              <a:t>Then </a:t>
            </a:r>
            <a:r>
              <a:rPr lang="it-IT" dirty="0" err="1"/>
              <a:t>stack</a:t>
            </a:r>
            <a:r>
              <a:rPr lang="it-IT" dirty="0"/>
              <a:t> </a:t>
            </a:r>
            <a:r>
              <a:rPr lang="it-IT" dirty="0" err="1"/>
              <a:t>blocks</a:t>
            </a:r>
            <a:endParaRPr lang="en-GB" dirty="0"/>
          </a:p>
        </p:txBody>
      </p:sp>
      <p:sp>
        <p:nvSpPr>
          <p:cNvPr id="3" name="Segnaposto testo 2">
            <a:extLst>
              <a:ext uri="{FF2B5EF4-FFF2-40B4-BE49-F238E27FC236}">
                <a16:creationId xmlns:a16="http://schemas.microsoft.com/office/drawing/2014/main" id="{4C18EA21-F98C-AA9B-828A-B25F928450E7}"/>
              </a:ext>
            </a:extLst>
          </p:cNvPr>
          <p:cNvSpPr>
            <a:spLocks noGrp="1"/>
          </p:cNvSpPr>
          <p:nvPr>
            <p:ph type="body"/>
          </p:nvPr>
        </p:nvSpPr>
        <p:spPr>
          <a:xfrm>
            <a:off x="609480" y="3275418"/>
            <a:ext cx="10972440" cy="1144800"/>
          </a:xfrm>
        </p:spPr>
        <p:txBody>
          <a:bodyPr/>
          <a:lstStyle/>
          <a:p>
            <a:r>
              <a:rPr lang="en-GB" sz="2000" dirty="0">
                <a:solidFill>
                  <a:schemeClr val="tx2"/>
                </a:solidFill>
              </a:rPr>
              <a:t>inputs = </a:t>
            </a:r>
            <a:r>
              <a:rPr lang="en-GB" sz="2000" dirty="0" err="1">
                <a:solidFill>
                  <a:schemeClr val="tx2"/>
                </a:solidFill>
              </a:rPr>
              <a:t>keras.Input</a:t>
            </a:r>
            <a:r>
              <a:rPr lang="en-GB" sz="2000" dirty="0">
                <a:solidFill>
                  <a:schemeClr val="tx2"/>
                </a:solidFill>
              </a:rPr>
              <a:t>(shape=(50, 1))</a:t>
            </a:r>
          </a:p>
          <a:p>
            <a:r>
              <a:rPr lang="en-GB" sz="2000" dirty="0">
                <a:solidFill>
                  <a:schemeClr val="tx2"/>
                </a:solidFill>
              </a:rPr>
              <a:t>x = keras.layers.Conv1D(32, 1)(inputs)</a:t>
            </a:r>
          </a:p>
          <a:p>
            <a:r>
              <a:rPr lang="en-GB" sz="2000" dirty="0">
                <a:solidFill>
                  <a:schemeClr val="tx2"/>
                </a:solidFill>
              </a:rPr>
              <a:t>skips = []</a:t>
            </a:r>
          </a:p>
          <a:p>
            <a:r>
              <a:rPr lang="en-GB" sz="2000" dirty="0">
                <a:solidFill>
                  <a:schemeClr val="tx2"/>
                </a:solidFill>
              </a:rPr>
              <a:t>for d in [1, 2, 4, 8, 16]:    </a:t>
            </a:r>
          </a:p>
          <a:p>
            <a:pPr lvl="2"/>
            <a:r>
              <a:rPr lang="en-GB" sz="2000" dirty="0"/>
              <a:t>    x, s = </a:t>
            </a:r>
            <a:r>
              <a:rPr lang="en-GB" sz="2000" dirty="0" err="1"/>
              <a:t>wavenet_block</a:t>
            </a:r>
            <a:r>
              <a:rPr lang="en-GB" sz="2000" dirty="0"/>
              <a:t>(x, 32, d)    </a:t>
            </a:r>
          </a:p>
          <a:p>
            <a:pPr lvl="2"/>
            <a:r>
              <a:rPr lang="en-GB" sz="2000" dirty="0"/>
              <a:t>    </a:t>
            </a:r>
            <a:r>
              <a:rPr lang="en-GB" sz="2000" dirty="0" err="1"/>
              <a:t>skips.append</a:t>
            </a:r>
            <a:r>
              <a:rPr lang="en-GB" sz="2000" dirty="0"/>
              <a:t>(s)</a:t>
            </a:r>
          </a:p>
          <a:p>
            <a:r>
              <a:rPr lang="en-GB" sz="2000" dirty="0">
                <a:solidFill>
                  <a:schemeClr val="tx2"/>
                </a:solidFill>
              </a:rPr>
              <a:t>x = </a:t>
            </a:r>
            <a:r>
              <a:rPr lang="en-GB" sz="2000" dirty="0" err="1">
                <a:solidFill>
                  <a:schemeClr val="tx2"/>
                </a:solidFill>
              </a:rPr>
              <a:t>keras.layers.Add</a:t>
            </a:r>
            <a:r>
              <a:rPr lang="en-GB" sz="2000" dirty="0">
                <a:solidFill>
                  <a:schemeClr val="tx2"/>
                </a:solidFill>
              </a:rPr>
              <a:t>()(skips)</a:t>
            </a:r>
          </a:p>
          <a:p>
            <a:r>
              <a:rPr lang="en-GB" sz="2000" dirty="0">
                <a:solidFill>
                  <a:schemeClr val="tx2"/>
                </a:solidFill>
              </a:rPr>
              <a:t>x = </a:t>
            </a:r>
            <a:r>
              <a:rPr lang="en-GB" sz="2000" dirty="0" err="1">
                <a:solidFill>
                  <a:schemeClr val="tx2"/>
                </a:solidFill>
              </a:rPr>
              <a:t>keras.layers.Activation</a:t>
            </a:r>
            <a:r>
              <a:rPr lang="en-GB" sz="2000" dirty="0">
                <a:solidFill>
                  <a:schemeClr val="tx2"/>
                </a:solidFill>
              </a:rPr>
              <a:t>("</a:t>
            </a:r>
            <a:r>
              <a:rPr lang="en-GB" sz="2000" dirty="0" err="1">
                <a:solidFill>
                  <a:schemeClr val="tx2"/>
                </a:solidFill>
              </a:rPr>
              <a:t>relu</a:t>
            </a:r>
            <a:r>
              <a:rPr lang="en-GB" sz="2000" dirty="0">
                <a:solidFill>
                  <a:schemeClr val="tx2"/>
                </a:solidFill>
              </a:rPr>
              <a:t>")(x)</a:t>
            </a:r>
          </a:p>
          <a:p>
            <a:r>
              <a:rPr lang="en-GB" sz="2000" dirty="0">
                <a:solidFill>
                  <a:schemeClr val="tx2"/>
                </a:solidFill>
              </a:rPr>
              <a:t>x = keras.layers.Conv1D(32, 1, activation="</a:t>
            </a:r>
            <a:r>
              <a:rPr lang="en-GB" sz="2000" dirty="0" err="1">
                <a:solidFill>
                  <a:schemeClr val="tx2"/>
                </a:solidFill>
              </a:rPr>
              <a:t>relu</a:t>
            </a:r>
            <a:r>
              <a:rPr lang="en-GB" sz="2000" dirty="0">
                <a:solidFill>
                  <a:schemeClr val="tx2"/>
                </a:solidFill>
              </a:rPr>
              <a:t>")(x)</a:t>
            </a:r>
          </a:p>
        </p:txBody>
      </p:sp>
    </p:spTree>
    <p:extLst>
      <p:ext uri="{BB962C8B-B14F-4D97-AF65-F5344CB8AC3E}">
        <p14:creationId xmlns:p14="http://schemas.microsoft.com/office/powerpoint/2010/main" val="94553326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FA2D2A3-ACBD-8E1F-6F96-057162990124}"/>
              </a:ext>
            </a:extLst>
          </p:cNvPr>
          <p:cNvSpPr>
            <a:spLocks noGrp="1"/>
          </p:cNvSpPr>
          <p:nvPr>
            <p:ph type="title"/>
          </p:nvPr>
        </p:nvSpPr>
        <p:spPr/>
        <p:txBody>
          <a:bodyPr/>
          <a:lstStyle/>
          <a:p>
            <a:endParaRPr lang="en-GB"/>
          </a:p>
        </p:txBody>
      </p:sp>
      <p:sp>
        <p:nvSpPr>
          <p:cNvPr id="3" name="Segnaposto testo 2">
            <a:extLst>
              <a:ext uri="{FF2B5EF4-FFF2-40B4-BE49-F238E27FC236}">
                <a16:creationId xmlns:a16="http://schemas.microsoft.com/office/drawing/2014/main" id="{8980EC0D-8C90-4072-1E2C-6594991B0BA4}"/>
              </a:ext>
            </a:extLst>
          </p:cNvPr>
          <p:cNvSpPr>
            <a:spLocks noGrp="1"/>
          </p:cNvSpPr>
          <p:nvPr>
            <p:ph type="body"/>
          </p:nvPr>
        </p:nvSpPr>
        <p:spPr>
          <a:xfrm>
            <a:off x="609480" y="3829600"/>
            <a:ext cx="10972440" cy="1144800"/>
          </a:xfrm>
        </p:spPr>
        <p:txBody>
          <a:bodyPr/>
          <a:lstStyle/>
          <a:p>
            <a:r>
              <a:rPr lang="it-IT" sz="2000" b="1" dirty="0">
                <a:solidFill>
                  <a:schemeClr val="tx1"/>
                </a:solidFill>
              </a:rPr>
              <a:t>One-step forecast</a:t>
            </a:r>
          </a:p>
          <a:p>
            <a:r>
              <a:rPr lang="en-GB" sz="2000" dirty="0">
                <a:solidFill>
                  <a:schemeClr val="tx1"/>
                </a:solidFill>
              </a:rPr>
              <a:t>h = </a:t>
            </a:r>
            <a:r>
              <a:rPr lang="en-GB" sz="2000" dirty="0" err="1">
                <a:solidFill>
                  <a:schemeClr val="tx1"/>
                </a:solidFill>
              </a:rPr>
              <a:t>keras.layers.Lambda</a:t>
            </a:r>
            <a:r>
              <a:rPr lang="en-GB" sz="2000" dirty="0">
                <a:solidFill>
                  <a:schemeClr val="tx1"/>
                </a:solidFill>
              </a:rPr>
              <a:t>(lambda z: z[:, -1, :])(x)</a:t>
            </a:r>
          </a:p>
          <a:p>
            <a:r>
              <a:rPr lang="en-GB" sz="2000" dirty="0">
                <a:solidFill>
                  <a:schemeClr val="tx1"/>
                </a:solidFill>
              </a:rPr>
              <a:t>outputs = </a:t>
            </a:r>
            <a:r>
              <a:rPr lang="en-GB" sz="2000" dirty="0" err="1">
                <a:solidFill>
                  <a:schemeClr val="tx1"/>
                </a:solidFill>
              </a:rPr>
              <a:t>keras.layers.Dense</a:t>
            </a:r>
            <a:r>
              <a:rPr lang="en-GB" sz="2000" dirty="0">
                <a:solidFill>
                  <a:schemeClr val="tx1"/>
                </a:solidFill>
              </a:rPr>
              <a:t>(1)(h)</a:t>
            </a:r>
          </a:p>
          <a:p>
            <a:r>
              <a:rPr lang="en-GB" sz="2000" dirty="0">
                <a:solidFill>
                  <a:schemeClr val="tx1"/>
                </a:solidFill>
              </a:rPr>
              <a:t>model = </a:t>
            </a:r>
            <a:r>
              <a:rPr lang="en-GB" sz="2000" dirty="0" err="1">
                <a:solidFill>
                  <a:schemeClr val="tx1"/>
                </a:solidFill>
              </a:rPr>
              <a:t>keras.Model</a:t>
            </a:r>
            <a:r>
              <a:rPr lang="en-GB" sz="2000" dirty="0">
                <a:solidFill>
                  <a:schemeClr val="tx1"/>
                </a:solidFill>
              </a:rPr>
              <a:t>(inputs, outputs)</a:t>
            </a:r>
          </a:p>
          <a:p>
            <a:endParaRPr lang="en-GB" sz="2000" dirty="0">
              <a:solidFill>
                <a:schemeClr val="tx1"/>
              </a:solidFill>
            </a:endParaRPr>
          </a:p>
          <a:p>
            <a:r>
              <a:rPr lang="en-GB" sz="2000" b="1" dirty="0">
                <a:solidFill>
                  <a:schemeClr val="tx1"/>
                </a:solidFill>
              </a:rPr>
              <a:t>Direct 10-step forecast</a:t>
            </a:r>
          </a:p>
          <a:p>
            <a:r>
              <a:rPr lang="en-GB" sz="2000" dirty="0">
                <a:solidFill>
                  <a:schemeClr val="tx1"/>
                </a:solidFill>
              </a:rPr>
              <a:t>h = </a:t>
            </a:r>
            <a:r>
              <a:rPr lang="en-GB" sz="2000" dirty="0" err="1">
                <a:solidFill>
                  <a:schemeClr val="tx1"/>
                </a:solidFill>
              </a:rPr>
              <a:t>keras.layers.Lambda</a:t>
            </a:r>
            <a:r>
              <a:rPr lang="en-GB" sz="2000" dirty="0">
                <a:solidFill>
                  <a:schemeClr val="tx1"/>
                </a:solidFill>
              </a:rPr>
              <a:t>(lambda z: z[:, -1, :])(x)</a:t>
            </a:r>
          </a:p>
          <a:p>
            <a:r>
              <a:rPr lang="en-GB" sz="2000" dirty="0">
                <a:solidFill>
                  <a:schemeClr val="tx1"/>
                </a:solidFill>
              </a:rPr>
              <a:t>outputs = </a:t>
            </a:r>
            <a:r>
              <a:rPr lang="en-GB" sz="2000" dirty="0" err="1">
                <a:solidFill>
                  <a:schemeClr val="tx1"/>
                </a:solidFill>
              </a:rPr>
              <a:t>keras.layers.Dense</a:t>
            </a:r>
            <a:r>
              <a:rPr lang="en-GB" sz="2000" b="1" dirty="0">
                <a:solidFill>
                  <a:schemeClr val="tx1"/>
                </a:solidFill>
              </a:rPr>
              <a:t>(10)(</a:t>
            </a:r>
            <a:r>
              <a:rPr lang="en-GB" sz="2000" dirty="0">
                <a:solidFill>
                  <a:schemeClr val="tx1"/>
                </a:solidFill>
              </a:rPr>
              <a:t>h)</a:t>
            </a:r>
          </a:p>
          <a:p>
            <a:r>
              <a:rPr lang="en-GB" sz="2000" dirty="0">
                <a:solidFill>
                  <a:schemeClr val="tx1"/>
                </a:solidFill>
              </a:rPr>
              <a:t>Result: [N,10]</a:t>
            </a:r>
          </a:p>
          <a:p>
            <a:endParaRPr lang="en-GB" dirty="0"/>
          </a:p>
        </p:txBody>
      </p:sp>
      <p:sp>
        <p:nvSpPr>
          <p:cNvPr id="4" name="CasellaDiTesto 3">
            <a:extLst>
              <a:ext uri="{FF2B5EF4-FFF2-40B4-BE49-F238E27FC236}">
                <a16:creationId xmlns:a16="http://schemas.microsoft.com/office/drawing/2014/main" id="{AC97AE01-DCA7-5C54-4098-8C4A8ED49EE1}"/>
              </a:ext>
            </a:extLst>
          </p:cNvPr>
          <p:cNvSpPr txBox="1"/>
          <p:nvPr/>
        </p:nvSpPr>
        <p:spPr>
          <a:xfrm>
            <a:off x="7001164" y="3660323"/>
            <a:ext cx="1616363" cy="338554"/>
          </a:xfrm>
          <a:prstGeom prst="rect">
            <a:avLst/>
          </a:prstGeom>
          <a:noFill/>
        </p:spPr>
        <p:txBody>
          <a:bodyPr wrap="square" rtlCol="0">
            <a:spAutoFit/>
          </a:bodyPr>
          <a:lstStyle/>
          <a:p>
            <a:r>
              <a:rPr lang="it-IT" sz="1600" dirty="0"/>
              <a:t>Last step</a:t>
            </a:r>
            <a:endParaRPr lang="en-GB" sz="1600" dirty="0"/>
          </a:p>
        </p:txBody>
      </p:sp>
      <p:cxnSp>
        <p:nvCxnSpPr>
          <p:cNvPr id="6" name="Connettore 2 5">
            <a:extLst>
              <a:ext uri="{FF2B5EF4-FFF2-40B4-BE49-F238E27FC236}">
                <a16:creationId xmlns:a16="http://schemas.microsoft.com/office/drawing/2014/main" id="{832CB24D-D9AD-2EA9-3B9A-BF68D2E88312}"/>
              </a:ext>
            </a:extLst>
          </p:cNvPr>
          <p:cNvCxnSpPr/>
          <p:nvPr/>
        </p:nvCxnSpPr>
        <p:spPr>
          <a:xfrm flipH="1" flipV="1">
            <a:off x="5338618" y="3429000"/>
            <a:ext cx="1459346" cy="400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Connettore 2 6">
            <a:extLst>
              <a:ext uri="{FF2B5EF4-FFF2-40B4-BE49-F238E27FC236}">
                <a16:creationId xmlns:a16="http://schemas.microsoft.com/office/drawing/2014/main" id="{89A6CA6B-D874-7B96-70BE-C143BB5A9D9C}"/>
              </a:ext>
            </a:extLst>
          </p:cNvPr>
          <p:cNvCxnSpPr>
            <a:cxnSpLocks/>
          </p:cNvCxnSpPr>
          <p:nvPr/>
        </p:nvCxnSpPr>
        <p:spPr>
          <a:xfrm flipH="1">
            <a:off x="5440218" y="3906982"/>
            <a:ext cx="1431637" cy="6650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9680836"/>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C31BDA-DC6A-A0F3-B2B1-2AE7AD5BF1AA}"/>
              </a:ext>
            </a:extLst>
          </p:cNvPr>
          <p:cNvSpPr>
            <a:spLocks noGrp="1"/>
          </p:cNvSpPr>
          <p:nvPr>
            <p:ph type="title"/>
          </p:nvPr>
        </p:nvSpPr>
        <p:spPr/>
        <p:txBody>
          <a:bodyPr/>
          <a:lstStyle/>
          <a:p>
            <a:endParaRPr lang="en-GB"/>
          </a:p>
        </p:txBody>
      </p:sp>
      <p:sp>
        <p:nvSpPr>
          <p:cNvPr id="3" name="Segnaposto testo 2">
            <a:extLst>
              <a:ext uri="{FF2B5EF4-FFF2-40B4-BE49-F238E27FC236}">
                <a16:creationId xmlns:a16="http://schemas.microsoft.com/office/drawing/2014/main" id="{1B96623F-CC67-5BE7-8857-76C8DEC34183}"/>
              </a:ext>
            </a:extLst>
          </p:cNvPr>
          <p:cNvSpPr>
            <a:spLocks noGrp="1"/>
          </p:cNvSpPr>
          <p:nvPr>
            <p:ph type="body"/>
          </p:nvPr>
        </p:nvSpPr>
        <p:spPr>
          <a:xfrm>
            <a:off x="609480" y="2817091"/>
            <a:ext cx="10972440" cy="2752436"/>
          </a:xfrm>
        </p:spPr>
        <p:txBody>
          <a:bodyPr/>
          <a:lstStyle/>
          <a:p>
            <a:r>
              <a:rPr lang="en-GB" sz="2000" b="1" dirty="0">
                <a:solidFill>
                  <a:schemeClr val="tx1"/>
                </a:solidFill>
              </a:rPr>
              <a:t>Output at every time step</a:t>
            </a:r>
          </a:p>
          <a:p>
            <a:r>
              <a:rPr lang="en-GB" sz="2000" dirty="0">
                <a:solidFill>
                  <a:schemeClr val="tx1"/>
                </a:solidFill>
              </a:rPr>
              <a:t>outputs = keras.layers.Conv1D(10, 1)</a:t>
            </a:r>
            <a:r>
              <a:rPr lang="en-GB" sz="2000" b="1" dirty="0">
                <a:solidFill>
                  <a:schemeClr val="tx1"/>
                </a:solidFill>
              </a:rPr>
              <a:t>(x)</a:t>
            </a:r>
          </a:p>
          <a:p>
            <a:r>
              <a:rPr lang="en-GB" sz="2000" dirty="0">
                <a:solidFill>
                  <a:schemeClr val="tx1"/>
                </a:solidFill>
              </a:rPr>
              <a:t>model = </a:t>
            </a:r>
            <a:r>
              <a:rPr lang="en-GB" sz="2000" dirty="0" err="1">
                <a:solidFill>
                  <a:schemeClr val="tx1"/>
                </a:solidFill>
              </a:rPr>
              <a:t>keras.Model</a:t>
            </a:r>
            <a:r>
              <a:rPr lang="en-GB" sz="2000" dirty="0">
                <a:solidFill>
                  <a:schemeClr val="tx1"/>
                </a:solidFill>
              </a:rPr>
              <a:t>(inputs, outputs)</a:t>
            </a:r>
          </a:p>
          <a:p>
            <a:endParaRPr lang="en-GB" sz="2000" dirty="0">
              <a:solidFill>
                <a:schemeClr val="tx1"/>
              </a:solidFill>
            </a:endParaRPr>
          </a:p>
          <a:p>
            <a:r>
              <a:rPr lang="en-GB" sz="2000" dirty="0">
                <a:solidFill>
                  <a:schemeClr val="tx1"/>
                </a:solidFill>
              </a:rPr>
              <a:t>Result: [N,50,10]</a:t>
            </a:r>
          </a:p>
          <a:p>
            <a:r>
              <a:rPr lang="en-GB" sz="2000" dirty="0">
                <a:solidFill>
                  <a:schemeClr val="tx1"/>
                </a:solidFill>
              </a:rPr>
              <a:t>This last kernel-size-1 Conv1D is essentially a shared Dense(10) at every temporal position.</a:t>
            </a:r>
          </a:p>
        </p:txBody>
      </p:sp>
    </p:spTree>
    <p:extLst>
      <p:ext uri="{BB962C8B-B14F-4D97-AF65-F5344CB8AC3E}">
        <p14:creationId xmlns:p14="http://schemas.microsoft.com/office/powerpoint/2010/main" val="4084312211"/>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9E0B595-449D-13A9-4090-3E4C11388413}"/>
              </a:ext>
            </a:extLst>
          </p:cNvPr>
          <p:cNvSpPr>
            <a:spLocks noGrp="1"/>
          </p:cNvSpPr>
          <p:nvPr>
            <p:ph type="title"/>
          </p:nvPr>
        </p:nvSpPr>
        <p:spPr/>
        <p:txBody>
          <a:bodyPr/>
          <a:lstStyle/>
          <a:p>
            <a:r>
              <a:rPr lang="it-IT" dirty="0" err="1"/>
              <a:t>Multiscale</a:t>
            </a:r>
            <a:r>
              <a:rPr lang="it-IT" dirty="0"/>
              <a:t> TCN</a:t>
            </a:r>
            <a:endParaRPr lang="en-GB" dirty="0"/>
          </a:p>
        </p:txBody>
      </p:sp>
      <p:sp>
        <p:nvSpPr>
          <p:cNvPr id="4" name="Segnaposto contenuto 3">
            <a:extLst>
              <a:ext uri="{FF2B5EF4-FFF2-40B4-BE49-F238E27FC236}">
                <a16:creationId xmlns:a16="http://schemas.microsoft.com/office/drawing/2014/main" id="{8141988D-EB25-C863-58D9-5523C6AFA80C}"/>
              </a:ext>
            </a:extLst>
          </p:cNvPr>
          <p:cNvSpPr>
            <a:spLocks noGrp="1"/>
          </p:cNvSpPr>
          <p:nvPr>
            <p:ph idx="1"/>
          </p:nvPr>
        </p:nvSpPr>
        <p:spPr/>
        <p:txBody>
          <a:bodyPr/>
          <a:lstStyle/>
          <a:p>
            <a:r>
              <a:rPr lang="en-GB" dirty="0"/>
              <a:t>Here the same input is processed using several temporal kernel sizes in parallel.</a:t>
            </a:r>
          </a:p>
          <a:p>
            <a:endParaRPr lang="en-GB" dirty="0"/>
          </a:p>
        </p:txBody>
      </p:sp>
    </p:spTree>
    <p:extLst>
      <p:ext uri="{BB962C8B-B14F-4D97-AF65-F5344CB8AC3E}">
        <p14:creationId xmlns:p14="http://schemas.microsoft.com/office/powerpoint/2010/main" val="344513399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28222F5-2A6C-37E9-3123-E6C4A7C3C96F}"/>
              </a:ext>
            </a:extLst>
          </p:cNvPr>
          <p:cNvSpPr>
            <a:spLocks noGrp="1"/>
          </p:cNvSpPr>
          <p:nvPr>
            <p:ph type="title"/>
          </p:nvPr>
        </p:nvSpPr>
        <p:spPr/>
        <p:txBody>
          <a:bodyPr/>
          <a:lstStyle/>
          <a:p>
            <a:endParaRPr lang="en-GB"/>
          </a:p>
        </p:txBody>
      </p:sp>
      <p:sp>
        <p:nvSpPr>
          <p:cNvPr id="3" name="Segnaposto testo 2">
            <a:extLst>
              <a:ext uri="{FF2B5EF4-FFF2-40B4-BE49-F238E27FC236}">
                <a16:creationId xmlns:a16="http://schemas.microsoft.com/office/drawing/2014/main" id="{21F598C3-E406-2BCA-2CFC-1A3E0442E023}"/>
              </a:ext>
            </a:extLst>
          </p:cNvPr>
          <p:cNvSpPr>
            <a:spLocks noGrp="1"/>
          </p:cNvSpPr>
          <p:nvPr>
            <p:ph type="body"/>
          </p:nvPr>
        </p:nvSpPr>
        <p:spPr>
          <a:xfrm>
            <a:off x="701844" y="1963854"/>
            <a:ext cx="10972440" cy="2192509"/>
          </a:xfrm>
        </p:spPr>
        <p:txBody>
          <a:bodyPr/>
          <a:lstStyle/>
          <a:p>
            <a:r>
              <a:rPr lang="en-GB" sz="1800" dirty="0">
                <a:solidFill>
                  <a:schemeClr val="tx1"/>
                </a:solidFill>
                <a:latin typeface="+mn-lt"/>
                <a:ea typeface="+mn-ea"/>
                <a:cs typeface="+mn-cs"/>
              </a:rPr>
              <a:t>inputs = </a:t>
            </a:r>
            <a:r>
              <a:rPr lang="en-GB" sz="1800" dirty="0" err="1">
                <a:solidFill>
                  <a:schemeClr val="tx1"/>
                </a:solidFill>
                <a:latin typeface="+mn-lt"/>
                <a:ea typeface="+mn-ea"/>
                <a:cs typeface="+mn-cs"/>
              </a:rPr>
              <a:t>keras.Input</a:t>
            </a:r>
            <a:r>
              <a:rPr lang="en-GB" sz="1800" dirty="0">
                <a:solidFill>
                  <a:schemeClr val="tx1"/>
                </a:solidFill>
                <a:latin typeface="+mn-lt"/>
                <a:ea typeface="+mn-ea"/>
                <a:cs typeface="+mn-cs"/>
              </a:rPr>
              <a:t>(shape=(50, 1))</a:t>
            </a:r>
          </a:p>
          <a:p>
            <a:r>
              <a:rPr lang="en-GB" sz="1800" dirty="0">
                <a:solidFill>
                  <a:schemeClr val="tx1"/>
                </a:solidFill>
                <a:latin typeface="+mn-lt"/>
                <a:ea typeface="+mn-ea"/>
                <a:cs typeface="+mn-cs"/>
              </a:rPr>
              <a:t>short = keras.layers.Conv1D(32, 3, </a:t>
            </a:r>
            <a:r>
              <a:rPr lang="en-GB" sz="1800" b="1" dirty="0">
                <a:solidFill>
                  <a:schemeClr val="tx1"/>
                </a:solidFill>
                <a:latin typeface="+mn-lt"/>
                <a:ea typeface="+mn-ea"/>
                <a:cs typeface="+mn-cs"/>
              </a:rPr>
              <a:t>padding="same", </a:t>
            </a:r>
            <a:r>
              <a:rPr lang="en-GB" sz="1800" dirty="0">
                <a:solidFill>
                  <a:schemeClr val="tx1"/>
                </a:solidFill>
                <a:latin typeface="+mn-lt"/>
                <a:ea typeface="+mn-ea"/>
                <a:cs typeface="+mn-cs"/>
              </a:rPr>
              <a:t>activation="</a:t>
            </a:r>
            <a:r>
              <a:rPr lang="en-GB" sz="1800" dirty="0" err="1">
                <a:solidFill>
                  <a:schemeClr val="tx1"/>
                </a:solidFill>
                <a:latin typeface="+mn-lt"/>
                <a:ea typeface="+mn-ea"/>
                <a:cs typeface="+mn-cs"/>
              </a:rPr>
              <a:t>relu</a:t>
            </a:r>
            <a:r>
              <a:rPr lang="en-GB" sz="1800" dirty="0">
                <a:solidFill>
                  <a:schemeClr val="tx1"/>
                </a:solidFill>
                <a:latin typeface="+mn-lt"/>
                <a:ea typeface="+mn-ea"/>
                <a:cs typeface="+mn-cs"/>
              </a:rPr>
              <a:t>")(inputs)</a:t>
            </a:r>
          </a:p>
          <a:p>
            <a:r>
              <a:rPr lang="en-GB" sz="1800" dirty="0">
                <a:solidFill>
                  <a:schemeClr val="tx1"/>
                </a:solidFill>
                <a:latin typeface="+mn-lt"/>
                <a:ea typeface="+mn-ea"/>
                <a:cs typeface="+mn-cs"/>
              </a:rPr>
              <a:t>medium = keras.layers.Conv1D(32, 9, padding="same", activation="</a:t>
            </a:r>
            <a:r>
              <a:rPr lang="en-GB" sz="1800" dirty="0" err="1">
                <a:solidFill>
                  <a:schemeClr val="tx1"/>
                </a:solidFill>
                <a:latin typeface="+mn-lt"/>
                <a:ea typeface="+mn-ea"/>
                <a:cs typeface="+mn-cs"/>
              </a:rPr>
              <a:t>relu</a:t>
            </a:r>
            <a:r>
              <a:rPr lang="en-GB" sz="1800" dirty="0">
                <a:solidFill>
                  <a:schemeClr val="tx1"/>
                </a:solidFill>
                <a:latin typeface="+mn-lt"/>
                <a:ea typeface="+mn-ea"/>
                <a:cs typeface="+mn-cs"/>
              </a:rPr>
              <a:t>")(inputs)</a:t>
            </a:r>
          </a:p>
          <a:p>
            <a:r>
              <a:rPr lang="en-GB" sz="1800" dirty="0">
                <a:solidFill>
                  <a:schemeClr val="tx1"/>
                </a:solidFill>
                <a:latin typeface="+mn-lt"/>
                <a:ea typeface="+mn-ea"/>
                <a:cs typeface="+mn-cs"/>
              </a:rPr>
              <a:t>long = keras.layers.Conv1D(32, 21, padding="same", activation="</a:t>
            </a:r>
            <a:r>
              <a:rPr lang="en-GB" sz="1800" dirty="0" err="1">
                <a:solidFill>
                  <a:schemeClr val="tx1"/>
                </a:solidFill>
                <a:latin typeface="+mn-lt"/>
                <a:ea typeface="+mn-ea"/>
                <a:cs typeface="+mn-cs"/>
              </a:rPr>
              <a:t>relu</a:t>
            </a:r>
            <a:r>
              <a:rPr lang="en-GB" sz="1800" dirty="0">
                <a:solidFill>
                  <a:schemeClr val="tx1"/>
                </a:solidFill>
                <a:latin typeface="+mn-lt"/>
                <a:ea typeface="+mn-ea"/>
                <a:cs typeface="+mn-cs"/>
              </a:rPr>
              <a:t>")(inputs)</a:t>
            </a:r>
          </a:p>
          <a:p>
            <a:r>
              <a:rPr lang="en-GB" sz="1800" dirty="0">
                <a:solidFill>
                  <a:schemeClr val="tx1"/>
                </a:solidFill>
                <a:latin typeface="+mn-lt"/>
                <a:ea typeface="+mn-ea"/>
                <a:cs typeface="+mn-cs"/>
              </a:rPr>
              <a:t>x = </a:t>
            </a:r>
            <a:r>
              <a:rPr lang="en-GB" sz="1800" dirty="0" err="1">
                <a:solidFill>
                  <a:schemeClr val="tx1"/>
                </a:solidFill>
                <a:latin typeface="+mn-lt"/>
                <a:ea typeface="+mn-ea"/>
                <a:cs typeface="+mn-cs"/>
              </a:rPr>
              <a:t>keras.layers.Concatenate</a:t>
            </a:r>
            <a:r>
              <a:rPr lang="en-GB" sz="1800" dirty="0">
                <a:solidFill>
                  <a:schemeClr val="tx1"/>
                </a:solidFill>
                <a:latin typeface="+mn-lt"/>
                <a:ea typeface="+mn-ea"/>
                <a:cs typeface="+mn-cs"/>
              </a:rPr>
              <a:t>()([short, medium, long])</a:t>
            </a:r>
          </a:p>
        </p:txBody>
      </p:sp>
      <p:sp>
        <p:nvSpPr>
          <p:cNvPr id="5" name="CasellaDiTesto 4">
            <a:extLst>
              <a:ext uri="{FF2B5EF4-FFF2-40B4-BE49-F238E27FC236}">
                <a16:creationId xmlns:a16="http://schemas.microsoft.com/office/drawing/2014/main" id="{24C5A5FC-0FBC-AA94-67AA-FE66522B1617}"/>
              </a:ext>
            </a:extLst>
          </p:cNvPr>
          <p:cNvSpPr txBox="1"/>
          <p:nvPr/>
        </p:nvSpPr>
        <p:spPr>
          <a:xfrm>
            <a:off x="5970829" y="4041247"/>
            <a:ext cx="2277243" cy="2031325"/>
          </a:xfrm>
          <a:prstGeom prst="rect">
            <a:avLst/>
          </a:prstGeom>
          <a:noFill/>
        </p:spPr>
        <p:txBody>
          <a:bodyPr wrap="square">
            <a:spAutoFit/>
          </a:bodyPr>
          <a:lstStyle/>
          <a:p>
            <a:pPr rtl="0">
              <a:buNone/>
            </a:pPr>
            <a:r>
              <a:rPr lang="en-GB" dirty="0">
                <a:latin typeface="+mn-lt"/>
              </a:rPr>
              <a:t>[N,50,1]</a:t>
            </a:r>
          </a:p>
          <a:p>
            <a:pPr rtl="0">
              <a:buNone/>
            </a:pPr>
            <a:r>
              <a:rPr lang="en-GB" dirty="0">
                <a:latin typeface="+mn-lt"/>
              </a:rPr>
              <a:t>      ↓</a:t>
            </a:r>
          </a:p>
          <a:p>
            <a:pPr rtl="0">
              <a:buNone/>
            </a:pPr>
            <a:r>
              <a:rPr lang="en-GB" dirty="0">
                <a:latin typeface="+mn-lt"/>
              </a:rPr>
              <a:t>K=3   K=9   K=21</a:t>
            </a:r>
          </a:p>
          <a:p>
            <a:pPr rtl="0">
              <a:buNone/>
            </a:pPr>
            <a:r>
              <a:rPr lang="en-GB" dirty="0">
                <a:latin typeface="+mn-lt"/>
              </a:rPr>
              <a:t>  \    |    /</a:t>
            </a:r>
          </a:p>
          <a:p>
            <a:pPr rtl="0">
              <a:buNone/>
            </a:pPr>
            <a:r>
              <a:rPr lang="en-GB" dirty="0">
                <a:latin typeface="+mn-lt"/>
              </a:rPr>
              <a:t> concatenate</a:t>
            </a:r>
          </a:p>
          <a:p>
            <a:pPr rtl="0">
              <a:buNone/>
            </a:pPr>
            <a:r>
              <a:rPr lang="en-GB" dirty="0">
                <a:latin typeface="+mn-lt"/>
              </a:rPr>
              <a:t>      ↓</a:t>
            </a:r>
          </a:p>
          <a:p>
            <a:pPr rtl="0">
              <a:buNone/>
            </a:pPr>
            <a:r>
              <a:rPr lang="en-GB" dirty="0">
                <a:latin typeface="+mn-lt"/>
              </a:rPr>
              <a:t>[N,50,96]</a:t>
            </a:r>
            <a:endParaRPr lang="en-GB" dirty="0">
              <a:latin typeface="Courier New" panose="02070309020205020404" pitchFamily="49" charset="0"/>
            </a:endParaRPr>
          </a:p>
        </p:txBody>
      </p:sp>
      <p:sp>
        <p:nvSpPr>
          <p:cNvPr id="6" name="CasellaDiTesto 5">
            <a:extLst>
              <a:ext uri="{FF2B5EF4-FFF2-40B4-BE49-F238E27FC236}">
                <a16:creationId xmlns:a16="http://schemas.microsoft.com/office/drawing/2014/main" id="{15FB6678-A492-C79C-0BBE-F943D1BFF3D0}"/>
              </a:ext>
            </a:extLst>
          </p:cNvPr>
          <p:cNvSpPr txBox="1"/>
          <p:nvPr/>
        </p:nvSpPr>
        <p:spPr>
          <a:xfrm>
            <a:off x="7832436" y="1640688"/>
            <a:ext cx="4052453" cy="830997"/>
          </a:xfrm>
          <a:prstGeom prst="rect">
            <a:avLst/>
          </a:prstGeom>
          <a:noFill/>
        </p:spPr>
        <p:txBody>
          <a:bodyPr wrap="square">
            <a:spAutoFit/>
          </a:bodyPr>
          <a:lstStyle/>
          <a:p>
            <a:r>
              <a:rPr lang="en-GB" sz="1600" b="1" dirty="0">
                <a:solidFill>
                  <a:schemeClr val="tx1"/>
                </a:solidFill>
                <a:latin typeface="+mn-lt"/>
                <a:ea typeface="+mn-ea"/>
                <a:cs typeface="+mn-cs"/>
              </a:rPr>
              <a:t>For causal forecasting/online prediction, change the multiscale branches to padding="causal" </a:t>
            </a:r>
            <a:endParaRPr lang="en-GB" sz="1600" b="1" dirty="0"/>
          </a:p>
        </p:txBody>
      </p:sp>
      <p:cxnSp>
        <p:nvCxnSpPr>
          <p:cNvPr id="8" name="Connettore 2 7">
            <a:extLst>
              <a:ext uri="{FF2B5EF4-FFF2-40B4-BE49-F238E27FC236}">
                <a16:creationId xmlns:a16="http://schemas.microsoft.com/office/drawing/2014/main" id="{2775D0AA-8EDC-342D-368F-7E297B67EE6C}"/>
              </a:ext>
            </a:extLst>
          </p:cNvPr>
          <p:cNvCxnSpPr/>
          <p:nvPr/>
        </p:nvCxnSpPr>
        <p:spPr>
          <a:xfrm flipH="1">
            <a:off x="5495636" y="1963854"/>
            <a:ext cx="2179782" cy="613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375500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A70B04F-D249-99FE-AC61-8F9B167F701D}"/>
              </a:ext>
            </a:extLst>
          </p:cNvPr>
          <p:cNvSpPr>
            <a:spLocks noGrp="1"/>
          </p:cNvSpPr>
          <p:nvPr>
            <p:ph type="title"/>
          </p:nvPr>
        </p:nvSpPr>
        <p:spPr/>
        <p:txBody>
          <a:bodyPr/>
          <a:lstStyle/>
          <a:p>
            <a:endParaRPr lang="en-GB"/>
          </a:p>
        </p:txBody>
      </p:sp>
      <p:sp>
        <p:nvSpPr>
          <p:cNvPr id="3" name="Segnaposto testo 2">
            <a:extLst>
              <a:ext uri="{FF2B5EF4-FFF2-40B4-BE49-F238E27FC236}">
                <a16:creationId xmlns:a16="http://schemas.microsoft.com/office/drawing/2014/main" id="{53ACAD87-D849-F22C-7128-09DE7CFE70D5}"/>
              </a:ext>
            </a:extLst>
          </p:cNvPr>
          <p:cNvSpPr>
            <a:spLocks noGrp="1"/>
          </p:cNvSpPr>
          <p:nvPr>
            <p:ph type="body"/>
          </p:nvPr>
        </p:nvSpPr>
        <p:spPr>
          <a:xfrm>
            <a:off x="692608" y="1939636"/>
            <a:ext cx="10972440" cy="3413455"/>
          </a:xfrm>
        </p:spPr>
        <p:txBody>
          <a:bodyPr/>
          <a:lstStyle/>
          <a:p>
            <a:r>
              <a:rPr lang="it-IT" sz="1800" b="1" dirty="0">
                <a:solidFill>
                  <a:schemeClr val="tx1"/>
                </a:solidFill>
                <a:latin typeface="+mn-lt"/>
                <a:ea typeface="+mn-ea"/>
                <a:cs typeface="+mn-cs"/>
              </a:rPr>
              <a:t>One-</a:t>
            </a:r>
            <a:r>
              <a:rPr lang="it-IT" sz="1800" b="1" dirty="0" err="1">
                <a:solidFill>
                  <a:schemeClr val="tx1"/>
                </a:solidFill>
                <a:latin typeface="+mn-lt"/>
                <a:ea typeface="+mn-ea"/>
                <a:cs typeface="+mn-cs"/>
              </a:rPr>
              <a:t>sequence</a:t>
            </a:r>
            <a:r>
              <a:rPr lang="it-IT" sz="1800" b="1" dirty="0">
                <a:solidFill>
                  <a:schemeClr val="tx1"/>
                </a:solidFill>
                <a:latin typeface="+mn-lt"/>
                <a:ea typeface="+mn-ea"/>
                <a:cs typeface="+mn-cs"/>
              </a:rPr>
              <a:t> output</a:t>
            </a:r>
          </a:p>
          <a:p>
            <a:r>
              <a:rPr lang="en-GB" sz="1800" dirty="0">
                <a:solidFill>
                  <a:schemeClr val="tx1"/>
                </a:solidFill>
                <a:latin typeface="+mn-lt"/>
                <a:ea typeface="+mn-ea"/>
                <a:cs typeface="+mn-cs"/>
              </a:rPr>
              <a:t>h = keras.layers.GlobalAveragePooling1D()(x)</a:t>
            </a:r>
          </a:p>
          <a:p>
            <a:r>
              <a:rPr lang="en-GB" sz="1800" dirty="0">
                <a:solidFill>
                  <a:schemeClr val="tx1"/>
                </a:solidFill>
                <a:latin typeface="+mn-lt"/>
                <a:ea typeface="+mn-ea"/>
                <a:cs typeface="+mn-cs"/>
              </a:rPr>
              <a:t>outputs = </a:t>
            </a:r>
            <a:r>
              <a:rPr lang="en-GB" sz="1800" dirty="0" err="1">
                <a:solidFill>
                  <a:schemeClr val="tx1"/>
                </a:solidFill>
                <a:latin typeface="+mn-lt"/>
                <a:ea typeface="+mn-ea"/>
                <a:cs typeface="+mn-cs"/>
              </a:rPr>
              <a:t>keras.layers.Dense</a:t>
            </a:r>
            <a:r>
              <a:rPr lang="en-GB" sz="1800" dirty="0">
                <a:solidFill>
                  <a:schemeClr val="tx1"/>
                </a:solidFill>
                <a:latin typeface="+mn-lt"/>
                <a:ea typeface="+mn-ea"/>
                <a:cs typeface="+mn-cs"/>
              </a:rPr>
              <a:t>(1)(h)</a:t>
            </a:r>
          </a:p>
          <a:p>
            <a:r>
              <a:rPr lang="en-GB" sz="1800" dirty="0">
                <a:solidFill>
                  <a:schemeClr val="tx1"/>
                </a:solidFill>
                <a:latin typeface="+mn-lt"/>
                <a:ea typeface="+mn-ea"/>
                <a:cs typeface="+mn-cs"/>
              </a:rPr>
              <a:t>model = </a:t>
            </a:r>
            <a:r>
              <a:rPr lang="en-GB" sz="1800" dirty="0" err="1">
                <a:solidFill>
                  <a:schemeClr val="tx1"/>
                </a:solidFill>
                <a:latin typeface="+mn-lt"/>
                <a:ea typeface="+mn-ea"/>
                <a:cs typeface="+mn-cs"/>
              </a:rPr>
              <a:t>keras.Model</a:t>
            </a:r>
            <a:r>
              <a:rPr lang="en-GB" sz="1800" dirty="0">
                <a:solidFill>
                  <a:schemeClr val="tx1"/>
                </a:solidFill>
                <a:latin typeface="+mn-lt"/>
                <a:ea typeface="+mn-ea"/>
                <a:cs typeface="+mn-cs"/>
              </a:rPr>
              <a:t>(inputs, outputs)</a:t>
            </a:r>
          </a:p>
          <a:p>
            <a:endParaRPr lang="en-GB" sz="1800" dirty="0">
              <a:solidFill>
                <a:schemeClr val="tx1"/>
              </a:solidFill>
              <a:latin typeface="+mn-lt"/>
              <a:ea typeface="+mn-ea"/>
              <a:cs typeface="+mn-cs"/>
            </a:endParaRPr>
          </a:p>
          <a:p>
            <a:r>
              <a:rPr lang="en-GB" sz="1800" b="1" dirty="0">
                <a:solidFill>
                  <a:schemeClr val="tx1"/>
                </a:solidFill>
                <a:latin typeface="+mn-lt"/>
                <a:ea typeface="+mn-ea"/>
                <a:cs typeface="+mn-cs"/>
              </a:rPr>
              <a:t>Direct 10-step forecast</a:t>
            </a:r>
          </a:p>
          <a:p>
            <a:r>
              <a:rPr lang="en-GB" sz="1800" dirty="0">
                <a:solidFill>
                  <a:schemeClr val="tx1"/>
                </a:solidFill>
                <a:latin typeface="+mn-lt"/>
                <a:ea typeface="+mn-ea"/>
                <a:cs typeface="+mn-cs"/>
              </a:rPr>
              <a:t>h = keras.layers.GlobalAveragePooling1D()(x)</a:t>
            </a:r>
          </a:p>
          <a:p>
            <a:r>
              <a:rPr lang="en-GB" sz="1800" dirty="0">
                <a:solidFill>
                  <a:schemeClr val="tx1"/>
                </a:solidFill>
                <a:latin typeface="+mn-lt"/>
                <a:ea typeface="+mn-ea"/>
                <a:cs typeface="+mn-cs"/>
              </a:rPr>
              <a:t>outputs = </a:t>
            </a:r>
            <a:r>
              <a:rPr lang="en-GB" sz="1800" dirty="0" err="1">
                <a:solidFill>
                  <a:schemeClr val="tx1"/>
                </a:solidFill>
                <a:latin typeface="+mn-lt"/>
                <a:ea typeface="+mn-ea"/>
                <a:cs typeface="+mn-cs"/>
              </a:rPr>
              <a:t>keras.layers.Dense</a:t>
            </a:r>
            <a:r>
              <a:rPr lang="en-GB" sz="1800" dirty="0">
                <a:solidFill>
                  <a:schemeClr val="tx1"/>
                </a:solidFill>
                <a:latin typeface="+mn-lt"/>
                <a:ea typeface="+mn-ea"/>
                <a:cs typeface="+mn-cs"/>
              </a:rPr>
              <a:t>(10)(h) # result: [N, 10]</a:t>
            </a:r>
          </a:p>
          <a:p>
            <a:endParaRPr lang="en-GB" sz="1800" dirty="0">
              <a:solidFill>
                <a:schemeClr val="tx1"/>
              </a:solidFill>
              <a:latin typeface="+mn-lt"/>
              <a:ea typeface="+mn-ea"/>
              <a:cs typeface="+mn-cs"/>
            </a:endParaRPr>
          </a:p>
          <a:p>
            <a:endParaRPr lang="en-GB" dirty="0"/>
          </a:p>
          <a:p>
            <a:endParaRPr lang="en-GB" dirty="0"/>
          </a:p>
        </p:txBody>
      </p:sp>
      <p:sp>
        <p:nvSpPr>
          <p:cNvPr id="5" name="CasellaDiTesto 4">
            <a:extLst>
              <a:ext uri="{FF2B5EF4-FFF2-40B4-BE49-F238E27FC236}">
                <a16:creationId xmlns:a16="http://schemas.microsoft.com/office/drawing/2014/main" id="{E4ECDA9C-8E6F-3C3A-FCAE-728AC75F070D}"/>
              </a:ext>
            </a:extLst>
          </p:cNvPr>
          <p:cNvSpPr txBox="1"/>
          <p:nvPr/>
        </p:nvSpPr>
        <p:spPr>
          <a:xfrm>
            <a:off x="5481302" y="2505670"/>
            <a:ext cx="6100618" cy="923330"/>
          </a:xfrm>
          <a:prstGeom prst="rect">
            <a:avLst/>
          </a:prstGeom>
          <a:noFill/>
        </p:spPr>
        <p:txBody>
          <a:bodyPr wrap="square">
            <a:spAutoFit/>
          </a:bodyPr>
          <a:lstStyle/>
          <a:p>
            <a:r>
              <a:rPr lang="en-GB" sz="1800" dirty="0">
                <a:solidFill>
                  <a:schemeClr val="tx1"/>
                </a:solidFill>
                <a:latin typeface="+mn-lt"/>
                <a:ea typeface="+mn-ea"/>
                <a:cs typeface="+mn-cs"/>
              </a:rPr>
              <a:t>for sequence-to-vector forecasting, use the last temporal representation rather than global pooling:</a:t>
            </a:r>
          </a:p>
          <a:p>
            <a:r>
              <a:rPr lang="en-GB" sz="1800" dirty="0">
                <a:solidFill>
                  <a:schemeClr val="tx1"/>
                </a:solidFill>
                <a:latin typeface="+mn-lt"/>
                <a:ea typeface="+mn-ea"/>
                <a:cs typeface="+mn-cs"/>
              </a:rPr>
              <a:t>h = </a:t>
            </a:r>
            <a:r>
              <a:rPr lang="en-GB" sz="1800" dirty="0" err="1">
                <a:solidFill>
                  <a:schemeClr val="tx1"/>
                </a:solidFill>
                <a:latin typeface="+mn-lt"/>
                <a:ea typeface="+mn-ea"/>
                <a:cs typeface="+mn-cs"/>
              </a:rPr>
              <a:t>keras.layers.Lambda</a:t>
            </a:r>
            <a:r>
              <a:rPr lang="en-GB" sz="1800" dirty="0">
                <a:solidFill>
                  <a:schemeClr val="tx1"/>
                </a:solidFill>
                <a:latin typeface="+mn-lt"/>
                <a:ea typeface="+mn-ea"/>
                <a:cs typeface="+mn-cs"/>
              </a:rPr>
              <a:t>(lambda z: z[:, -1, :])(x)</a:t>
            </a:r>
          </a:p>
        </p:txBody>
      </p:sp>
      <p:cxnSp>
        <p:nvCxnSpPr>
          <p:cNvPr id="7" name="Connettore 2 6">
            <a:extLst>
              <a:ext uri="{FF2B5EF4-FFF2-40B4-BE49-F238E27FC236}">
                <a16:creationId xmlns:a16="http://schemas.microsoft.com/office/drawing/2014/main" id="{C7A171B5-D44D-4BFE-7E4A-654B484CF325}"/>
              </a:ext>
            </a:extLst>
          </p:cNvPr>
          <p:cNvCxnSpPr>
            <a:cxnSpLocks/>
          </p:cNvCxnSpPr>
          <p:nvPr/>
        </p:nvCxnSpPr>
        <p:spPr>
          <a:xfrm flipH="1" flipV="1">
            <a:off x="4525818" y="2401455"/>
            <a:ext cx="872356" cy="3602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ttore 2 8">
            <a:extLst>
              <a:ext uri="{FF2B5EF4-FFF2-40B4-BE49-F238E27FC236}">
                <a16:creationId xmlns:a16="http://schemas.microsoft.com/office/drawing/2014/main" id="{6681A1F3-3E65-0A8E-670A-5ABEC21A41B5}"/>
              </a:ext>
            </a:extLst>
          </p:cNvPr>
          <p:cNvCxnSpPr>
            <a:cxnSpLocks/>
          </p:cNvCxnSpPr>
          <p:nvPr/>
        </p:nvCxnSpPr>
        <p:spPr>
          <a:xfrm flipH="1">
            <a:off x="4525818" y="2967335"/>
            <a:ext cx="955484" cy="4616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CasellaDiTesto 12">
            <a:extLst>
              <a:ext uri="{FF2B5EF4-FFF2-40B4-BE49-F238E27FC236}">
                <a16:creationId xmlns:a16="http://schemas.microsoft.com/office/drawing/2014/main" id="{C6F79937-8330-2C36-F8BA-81D5A311A88D}"/>
              </a:ext>
            </a:extLst>
          </p:cNvPr>
          <p:cNvSpPr txBox="1"/>
          <p:nvPr/>
        </p:nvSpPr>
        <p:spPr>
          <a:xfrm>
            <a:off x="6991927" y="3533369"/>
            <a:ext cx="5133110" cy="1077218"/>
          </a:xfrm>
          <a:prstGeom prst="rect">
            <a:avLst/>
          </a:prstGeom>
          <a:noFill/>
        </p:spPr>
        <p:txBody>
          <a:bodyPr wrap="square">
            <a:spAutoFit/>
          </a:bodyPr>
          <a:lstStyle/>
          <a:p>
            <a:r>
              <a:rPr lang="en-GB" sz="1600" b="1"/>
              <a:t>Short rule</a:t>
            </a:r>
            <a:endParaRPr lang="en-GB" sz="1600" b="1" dirty="0"/>
          </a:p>
          <a:p>
            <a:r>
              <a:rPr lang="en-GB" sz="1600" b="1" dirty="0"/>
              <a:t>Global pooling → whole-window prediction.</a:t>
            </a:r>
            <a:br>
              <a:rPr lang="en-GB" sz="1600" dirty="0"/>
            </a:br>
            <a:r>
              <a:rPr lang="en-GB" sz="1600" b="1" dirty="0"/>
              <a:t>Last temporal representation → prediction anchored at the end of a causal history window.</a:t>
            </a:r>
            <a:endParaRPr lang="en-GB" sz="1600" dirty="0"/>
          </a:p>
        </p:txBody>
      </p:sp>
    </p:spTree>
    <p:extLst>
      <p:ext uri="{BB962C8B-B14F-4D97-AF65-F5344CB8AC3E}">
        <p14:creationId xmlns:p14="http://schemas.microsoft.com/office/powerpoint/2010/main" val="149136298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E844366-CF7F-A8A4-19DE-947903C12AA7}"/>
              </a:ext>
            </a:extLst>
          </p:cNvPr>
          <p:cNvSpPr>
            <a:spLocks noGrp="1"/>
          </p:cNvSpPr>
          <p:nvPr>
            <p:ph type="title"/>
          </p:nvPr>
        </p:nvSpPr>
        <p:spPr/>
        <p:txBody>
          <a:bodyPr/>
          <a:lstStyle/>
          <a:p>
            <a:endParaRPr lang="en-GB"/>
          </a:p>
        </p:txBody>
      </p:sp>
      <p:sp>
        <p:nvSpPr>
          <p:cNvPr id="3" name="Segnaposto testo 2">
            <a:extLst>
              <a:ext uri="{FF2B5EF4-FFF2-40B4-BE49-F238E27FC236}">
                <a16:creationId xmlns:a16="http://schemas.microsoft.com/office/drawing/2014/main" id="{CE99A18F-721C-FF0F-7155-7489EEA75A24}"/>
              </a:ext>
            </a:extLst>
          </p:cNvPr>
          <p:cNvSpPr>
            <a:spLocks noGrp="1"/>
          </p:cNvSpPr>
          <p:nvPr>
            <p:ph type="body"/>
          </p:nvPr>
        </p:nvSpPr>
        <p:spPr>
          <a:xfrm>
            <a:off x="692607" y="2299855"/>
            <a:ext cx="10972440" cy="2831563"/>
          </a:xfrm>
        </p:spPr>
        <p:txBody>
          <a:bodyPr/>
          <a:lstStyle/>
          <a:p>
            <a:r>
              <a:rPr lang="it-IT" sz="1800" b="1" dirty="0">
                <a:solidFill>
                  <a:schemeClr val="tx1"/>
                </a:solidFill>
                <a:latin typeface="+mn-lt"/>
                <a:ea typeface="+mn-ea"/>
                <a:cs typeface="+mn-cs"/>
              </a:rPr>
              <a:t>Output </a:t>
            </a:r>
            <a:r>
              <a:rPr lang="it-IT" sz="1800" b="1" dirty="0" err="1">
                <a:solidFill>
                  <a:schemeClr val="tx1"/>
                </a:solidFill>
                <a:latin typeface="+mn-lt"/>
                <a:ea typeface="+mn-ea"/>
                <a:cs typeface="+mn-cs"/>
              </a:rPr>
              <a:t>at</a:t>
            </a:r>
            <a:r>
              <a:rPr lang="it-IT" sz="1800" b="1" dirty="0">
                <a:solidFill>
                  <a:schemeClr val="tx1"/>
                </a:solidFill>
                <a:latin typeface="+mn-lt"/>
                <a:ea typeface="+mn-ea"/>
                <a:cs typeface="+mn-cs"/>
              </a:rPr>
              <a:t> </a:t>
            </a:r>
            <a:r>
              <a:rPr lang="it-IT" sz="1800" b="1" dirty="0" err="1">
                <a:solidFill>
                  <a:schemeClr val="tx1"/>
                </a:solidFill>
                <a:latin typeface="+mn-lt"/>
                <a:ea typeface="+mn-ea"/>
                <a:cs typeface="+mn-cs"/>
              </a:rPr>
              <a:t>every</a:t>
            </a:r>
            <a:r>
              <a:rPr lang="it-IT" sz="1800" b="1" dirty="0">
                <a:solidFill>
                  <a:schemeClr val="tx1"/>
                </a:solidFill>
                <a:latin typeface="+mn-lt"/>
                <a:ea typeface="+mn-ea"/>
                <a:cs typeface="+mn-cs"/>
              </a:rPr>
              <a:t> time step</a:t>
            </a:r>
          </a:p>
          <a:p>
            <a:r>
              <a:rPr lang="en-GB" sz="1800" dirty="0">
                <a:solidFill>
                  <a:schemeClr val="tx1"/>
                </a:solidFill>
                <a:latin typeface="+mn-lt"/>
                <a:ea typeface="+mn-ea"/>
                <a:cs typeface="+mn-cs"/>
              </a:rPr>
              <a:t>outputs = </a:t>
            </a:r>
            <a:r>
              <a:rPr lang="en-GB" sz="1800" dirty="0" err="1">
                <a:solidFill>
                  <a:schemeClr val="tx1"/>
                </a:solidFill>
                <a:latin typeface="+mn-lt"/>
                <a:ea typeface="+mn-ea"/>
                <a:cs typeface="+mn-cs"/>
              </a:rPr>
              <a:t>keras.layers.Dense</a:t>
            </a:r>
            <a:r>
              <a:rPr lang="en-GB" sz="1800" dirty="0">
                <a:solidFill>
                  <a:schemeClr val="tx1"/>
                </a:solidFill>
                <a:latin typeface="+mn-lt"/>
                <a:ea typeface="+mn-ea"/>
                <a:cs typeface="+mn-cs"/>
              </a:rPr>
              <a:t>(10)(x) # Global pooling removed</a:t>
            </a:r>
          </a:p>
          <a:p>
            <a:r>
              <a:rPr lang="en-GB" sz="1800" dirty="0">
                <a:solidFill>
                  <a:schemeClr val="tx1"/>
                </a:solidFill>
                <a:latin typeface="+mn-lt"/>
                <a:ea typeface="+mn-ea"/>
                <a:cs typeface="+mn-cs"/>
              </a:rPr>
              <a:t>model = </a:t>
            </a:r>
            <a:r>
              <a:rPr lang="en-GB" sz="1800" dirty="0" err="1">
                <a:solidFill>
                  <a:schemeClr val="tx1"/>
                </a:solidFill>
                <a:latin typeface="+mn-lt"/>
                <a:ea typeface="+mn-ea"/>
                <a:cs typeface="+mn-cs"/>
              </a:rPr>
              <a:t>keras.Model</a:t>
            </a:r>
            <a:r>
              <a:rPr lang="en-GB" sz="1800" dirty="0">
                <a:solidFill>
                  <a:schemeClr val="tx1"/>
                </a:solidFill>
                <a:latin typeface="+mn-lt"/>
                <a:ea typeface="+mn-ea"/>
                <a:cs typeface="+mn-cs"/>
              </a:rPr>
              <a:t>(inputs, outputs) # Result: [N,50,10]</a:t>
            </a:r>
          </a:p>
          <a:p>
            <a:endParaRPr lang="en-GB" dirty="0"/>
          </a:p>
        </p:txBody>
      </p:sp>
    </p:spTree>
    <p:extLst>
      <p:ext uri="{BB962C8B-B14F-4D97-AF65-F5344CB8AC3E}">
        <p14:creationId xmlns:p14="http://schemas.microsoft.com/office/powerpoint/2010/main" val="1785187284"/>
      </p:ext>
    </p:extLst>
  </p:cSld>
  <p:clrMapOvr>
    <a:masterClrMapping/>
  </p:clrMapOvr>
</p:sld>
</file>

<file path=ppt/theme/theme1.xml><?xml version="1.0" encoding="utf-8"?>
<a:theme xmlns:a="http://schemas.openxmlformats.org/drawingml/2006/main" name="Sfaccettatura">
  <a:themeElements>
    <a:clrScheme name="Sfaccettatura">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Sfaccettatura">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faccettatura">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F3E9F6E86B7C604A98B057BB5A096283" ma:contentTypeVersion="19" ma:contentTypeDescription="Creare un nuovo documento." ma:contentTypeScope="" ma:versionID="a32ade6d56d020b8f7b84c7dcd3e6b3a">
  <xsd:schema xmlns:xsd="http://www.w3.org/2001/XMLSchema" xmlns:xs="http://www.w3.org/2001/XMLSchema" xmlns:p="http://schemas.microsoft.com/office/2006/metadata/properties" xmlns:ns3="7949844e-fa96-4cd0-a00f-b5d87aa5cd71" xmlns:ns4="d01a723d-c8fc-4203-85fd-0d3215b6b83f" targetNamespace="http://schemas.microsoft.com/office/2006/metadata/properties" ma:root="true" ma:fieldsID="f36f9c4ae6238d8d5f91acc3498597f2" ns3:_="" ns4:_="">
    <xsd:import namespace="7949844e-fa96-4cd0-a00f-b5d87aa5cd71"/>
    <xsd:import namespace="d01a723d-c8fc-4203-85fd-0d3215b6b83f"/>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GenerationTime" minOccurs="0"/>
                <xsd:element ref="ns4:MediaServiceEventHashCode" minOccurs="0"/>
                <xsd:element ref="ns4:MediaServiceAutoKeyPoints" minOccurs="0"/>
                <xsd:element ref="ns4:MediaServiceKeyPoints" minOccurs="0"/>
                <xsd:element ref="ns4:MediaServiceOCR" minOccurs="0"/>
                <xsd:element ref="ns4:MediaServiceDateTaken" minOccurs="0"/>
                <xsd:element ref="ns4:MediaLengthInSeconds" minOccurs="0"/>
                <xsd:element ref="ns4:MediaServiceLocation" minOccurs="0"/>
                <xsd:element ref="ns4:_activity" minOccurs="0"/>
                <xsd:element ref="ns4:MediaServiceObjectDetectorVersions" minOccurs="0"/>
                <xsd:element ref="ns4:MediaServiceSystemTags" minOccurs="0"/>
                <xsd:element ref="ns4:MediaServiceSearchProperties" minOccurs="0"/>
                <xsd:element ref="ns4: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949844e-fa96-4cd0-a00f-b5d87aa5cd71" elementFormDefault="qualified">
    <xsd:import namespace="http://schemas.microsoft.com/office/2006/documentManagement/types"/>
    <xsd:import namespace="http://schemas.microsoft.com/office/infopath/2007/PartnerControls"/>
    <xsd:element name="SharedWithUsers" ma:index="8" nillable="true" ma:displayName="Condivis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ondiviso con dettagli" ma:internalName="SharedWithDetails" ma:readOnly="true">
      <xsd:simpleType>
        <xsd:restriction base="dms:Note">
          <xsd:maxLength value="255"/>
        </xsd:restriction>
      </xsd:simpleType>
    </xsd:element>
    <xsd:element name="SharingHintHash" ma:index="10" nillable="true" ma:displayName="Hash suggerimento condivisione"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01a723d-c8fc-4203-85fd-0d3215b6b83f"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descriptio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Location" ma:index="21" nillable="true" ma:displayName="Location" ma:indexed="true"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d01a723d-c8fc-4203-85fd-0d3215b6b83f" xsi:nil="true"/>
  </documentManagement>
</p:properties>
</file>

<file path=customXml/itemProps1.xml><?xml version="1.0" encoding="utf-8"?>
<ds:datastoreItem xmlns:ds="http://schemas.openxmlformats.org/officeDocument/2006/customXml" ds:itemID="{E8A0064F-42C1-4FF2-B6E6-C17D092867B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949844e-fa96-4cd0-a00f-b5d87aa5cd71"/>
    <ds:schemaRef ds:uri="d01a723d-c8fc-4203-85fd-0d3215b6b83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2E962F4-821A-4C97-A7C1-0379C558FE85}">
  <ds:schemaRefs>
    <ds:schemaRef ds:uri="http://schemas.microsoft.com/sharepoint/v3/contenttype/forms"/>
  </ds:schemaRefs>
</ds:datastoreItem>
</file>

<file path=customXml/itemProps3.xml><?xml version="1.0" encoding="utf-8"?>
<ds:datastoreItem xmlns:ds="http://schemas.openxmlformats.org/officeDocument/2006/customXml" ds:itemID="{28843C4B-079F-45AC-A14F-F3236D4797F1}">
  <ds:schemaRefs>
    <ds:schemaRef ds:uri="http://purl.org/dc/elements/1.1/"/>
    <ds:schemaRef ds:uri="http://purl.org/dc/dcmitype/"/>
    <ds:schemaRef ds:uri="http://schemas.microsoft.com/office/2006/documentManagement/types"/>
    <ds:schemaRef ds:uri="http://schemas.openxmlformats.org/package/2006/metadata/core-properties"/>
    <ds:schemaRef ds:uri="http://schemas.microsoft.com/office/infopath/2007/PartnerControls"/>
    <ds:schemaRef ds:uri="d01a723d-c8fc-4203-85fd-0d3215b6b83f"/>
    <ds:schemaRef ds:uri="http://schemas.microsoft.com/office/2006/metadata/properties"/>
    <ds:schemaRef ds:uri="7949844e-fa96-4cd0-a00f-b5d87aa5cd71"/>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Sfaccettatura</Template>
  <TotalTime>13870</TotalTime>
  <Words>21875</Words>
  <Application>Microsoft Office PowerPoint</Application>
  <PresentationFormat>Widescreen</PresentationFormat>
  <Paragraphs>3983</Paragraphs>
  <Slides>263</Slides>
  <Notes>79</Notes>
  <HiddenSlides>3</HiddenSlides>
  <MMClips>0</MMClips>
  <ScaleCrop>false</ScaleCrop>
  <HeadingPairs>
    <vt:vector size="6" baseType="variant">
      <vt:variant>
        <vt:lpstr>Caratteri utilizzati</vt:lpstr>
      </vt:variant>
      <vt:variant>
        <vt:i4>10</vt:i4>
      </vt:variant>
      <vt:variant>
        <vt:lpstr>Tema</vt:lpstr>
      </vt:variant>
      <vt:variant>
        <vt:i4>1</vt:i4>
      </vt:variant>
      <vt:variant>
        <vt:lpstr>Titoli diapositive</vt:lpstr>
      </vt:variant>
      <vt:variant>
        <vt:i4>263</vt:i4>
      </vt:variant>
    </vt:vector>
  </HeadingPairs>
  <TitlesOfParts>
    <vt:vector size="274" baseType="lpstr">
      <vt:lpstr>Aptos</vt:lpstr>
      <vt:lpstr>Aptos Display</vt:lpstr>
      <vt:lpstr>Aptos Mono</vt:lpstr>
      <vt:lpstr>Arial</vt:lpstr>
      <vt:lpstr>Courier New</vt:lpstr>
      <vt:lpstr>Symbol</vt:lpstr>
      <vt:lpstr>Times New Roman</vt:lpstr>
      <vt:lpstr>Trebuchet MS</vt:lpstr>
      <vt:lpstr>Wingdings</vt:lpstr>
      <vt:lpstr>Wingdings 3</vt:lpstr>
      <vt:lpstr>Sfaccettatura</vt:lpstr>
      <vt:lpstr>Convolutional neural networks</vt:lpstr>
      <vt:lpstr>Outline of the lecture</vt:lpstr>
      <vt:lpstr>A different way to process temporal information</vt:lpstr>
      <vt:lpstr>Presentazione standard di PowerPoint</vt:lpstr>
      <vt:lpstr>Temporal patterns often appear locally</vt:lpstr>
      <vt:lpstr>Presentazione standard di PowerPoint</vt:lpstr>
      <vt:lpstr>From local region to learned activation</vt:lpstr>
      <vt:lpstr>From local region to learned activation</vt:lpstr>
      <vt:lpstr>Presentazione standard di PowerPoint</vt:lpstr>
      <vt:lpstr>Temporal convolution produces a feature map</vt:lpstr>
      <vt:lpstr>Presentazione standard di PowerPoint</vt:lpstr>
      <vt:lpstr>Recurrence and convolution represent time differently</vt:lpstr>
      <vt:lpstr>Presentazione standard di PowerPoint</vt:lpstr>
      <vt:lpstr>Block 5.B — One-Dimensional Temporal Convolution</vt:lpstr>
      <vt:lpstr>Input representation for Conv1D</vt:lpstr>
      <vt:lpstr>Presentazione standard di PowerPoint</vt:lpstr>
      <vt:lpstr>What is a temporal kernel?</vt:lpstr>
      <vt:lpstr>What is a temporal kernel?</vt:lpstr>
      <vt:lpstr>Presentazione standard di PowerPoint</vt:lpstr>
      <vt:lpstr>The convolution operation</vt:lpstr>
      <vt:lpstr>The convolution operation</vt:lpstr>
      <vt:lpstr>A numerical example with one channel</vt:lpstr>
      <vt:lpstr>Presentazione standard di PowerPoint</vt:lpstr>
      <vt:lpstr>Multiple filters learn different temporal patterns</vt:lpstr>
      <vt:lpstr>Presentazione standard di PowerPoint</vt:lpstr>
      <vt:lpstr>Conv1D output shape</vt:lpstr>
      <vt:lpstr>Conv1D output shape</vt:lpstr>
      <vt:lpstr>Presentazione standard di PowerPoint</vt:lpstr>
      <vt:lpstr>Kernel size determines local temporal context</vt:lpstr>
      <vt:lpstr>Kernel size determines local temporal context</vt:lpstr>
      <vt:lpstr>Presentazione standard di PowerPoint</vt:lpstr>
      <vt:lpstr>Small and large kernels make different assumptions</vt:lpstr>
      <vt:lpstr>Small and large kernels make different assumptions</vt:lpstr>
      <vt:lpstr>Nonlinearity after convolution</vt:lpstr>
      <vt:lpstr>Stacking temporal convolutions</vt:lpstr>
      <vt:lpstr>Presentazione standard di PowerPoint</vt:lpstr>
      <vt:lpstr>Conv1D does not inherently mean causal</vt:lpstr>
      <vt:lpstr>Presentazione standard di PowerPoint</vt:lpstr>
      <vt:lpstr>What does a Conv1D layer learn?</vt:lpstr>
      <vt:lpstr>Block 5.C — Kernel Size, Stride and Padding</vt:lpstr>
      <vt:lpstr>Conv1D changes temporal length</vt:lpstr>
      <vt:lpstr>Conv1D changes temporal length</vt:lpstr>
      <vt:lpstr>Presentazione standard di PowerPoint</vt:lpstr>
      <vt:lpstr>Kernel size determines the local temporal support</vt:lpstr>
      <vt:lpstr>Presentazione standard di PowerPoint</vt:lpstr>
      <vt:lpstr>Stride controls how far the kernel moves</vt:lpstr>
      <vt:lpstr>Stride controls how far the kernel moves</vt:lpstr>
      <vt:lpstr>Presentazione standard di PowerPoint</vt:lpstr>
      <vt:lpstr>Valid convolution</vt:lpstr>
      <vt:lpstr>Valid convolution</vt:lpstr>
      <vt:lpstr>Presentazione standard di PowerPoint</vt:lpstr>
      <vt:lpstr>Same padding</vt:lpstr>
      <vt:lpstr>Same padding</vt:lpstr>
      <vt:lpstr>Presentazione standard di PowerPoint</vt:lpstr>
      <vt:lpstr>Padding determines what the network sees at sequence boundaries</vt:lpstr>
      <vt:lpstr>Padding determines what the network sees at sequence boundaries</vt:lpstr>
      <vt:lpstr>Presentazione standard di PowerPoint</vt:lpstr>
      <vt:lpstr>Output length with stride</vt:lpstr>
      <vt:lpstr>Output length with stride</vt:lpstr>
      <vt:lpstr>Presentazione standard di PowerPoint</vt:lpstr>
      <vt:lpstr>Temporal resolution and (for sequence labeling) target alignment</vt:lpstr>
      <vt:lpstr>Presentazione standard di PowerPoint</vt:lpstr>
      <vt:lpstr>Kernel size controls local context; stride controls output spacing.</vt:lpstr>
      <vt:lpstr>Presentazione standard di PowerPoint</vt:lpstr>
      <vt:lpstr>Choosing padding depends on the task</vt:lpstr>
      <vt:lpstr>Transition to the next block</vt:lpstr>
      <vt:lpstr>Block 5.D — Temporal Pooling and Downsampling</vt:lpstr>
      <vt:lpstr>Why reduce temporal resolution?</vt:lpstr>
      <vt:lpstr>Presentazione standard di PowerPoint</vt:lpstr>
      <vt:lpstr>Pooling summarizes neighboring activations</vt:lpstr>
      <vt:lpstr>Pooling summarizes neighboring activations</vt:lpstr>
      <vt:lpstr>Max pooling</vt:lpstr>
      <vt:lpstr>Presentazione standard di PowerPoint</vt:lpstr>
      <vt:lpstr>Average pooling</vt:lpstr>
      <vt:lpstr>Average pooling</vt:lpstr>
      <vt:lpstr>Presentazione standard di PowerPoint</vt:lpstr>
      <vt:lpstr>Pool size and pooling stride</vt:lpstr>
      <vt:lpstr>Pool size and pooling stride</vt:lpstr>
      <vt:lpstr>Presentazione standard di PowerPoint</vt:lpstr>
      <vt:lpstr>Downsampling (through pooling) increases the temporal scale of later layers</vt:lpstr>
      <vt:lpstr>Downsampling increases the temporal scale of later layers</vt:lpstr>
      <vt:lpstr>Presentazione standard di PowerPoint</vt:lpstr>
      <vt:lpstr>Pooling provides some (limited) shift tolerance</vt:lpstr>
      <vt:lpstr>Pooling provides limited shift tolerance</vt:lpstr>
      <vt:lpstr>Presentazione standard di PowerPoint</vt:lpstr>
      <vt:lpstr>Pooling can be harmful when exact timing matters</vt:lpstr>
      <vt:lpstr>Presentazione standard di PowerPoint</vt:lpstr>
      <vt:lpstr>Global average pooling</vt:lpstr>
      <vt:lpstr>Global max pooling</vt:lpstr>
      <vt:lpstr>Presentazione standard di PowerPoint</vt:lpstr>
      <vt:lpstr>CNN sequence classification with global pooling</vt:lpstr>
      <vt:lpstr>CNN sequence classification with global pooling</vt:lpstr>
      <vt:lpstr>Presentazione standard di PowerPoint</vt:lpstr>
      <vt:lpstr>Strided convolution or pooling?</vt:lpstr>
      <vt:lpstr>Strided convolution or pooling?</vt:lpstr>
      <vt:lpstr>Presentazione standard di PowerPoint</vt:lpstr>
      <vt:lpstr>Downsampling changes information and computation</vt:lpstr>
      <vt:lpstr>Introducing the receptive field</vt:lpstr>
      <vt:lpstr>Presentazione standard di PowerPoint</vt:lpstr>
      <vt:lpstr>Block 5.E — Receptive Field</vt:lpstr>
      <vt:lpstr>What is the receptive field?</vt:lpstr>
      <vt:lpstr>What is the receptive field?</vt:lpstr>
      <vt:lpstr>Presentazione standard di PowerPoint</vt:lpstr>
      <vt:lpstr>Receptive field grows with depth</vt:lpstr>
      <vt:lpstr>Receptive field grows with depth</vt:lpstr>
      <vt:lpstr>Example: three convolutional layers</vt:lpstr>
      <vt:lpstr>Presentazione standard di PowerPoint</vt:lpstr>
      <vt:lpstr>Receptive field is different from kernel size</vt:lpstr>
      <vt:lpstr>Presentazione standard di PowerPoint</vt:lpstr>
      <vt:lpstr>Receptive field must match the temporal dependency</vt:lpstr>
      <vt:lpstr>Receptive field must match the temporal dependency</vt:lpstr>
      <vt:lpstr>Physical interpretation of the receptive field</vt:lpstr>
      <vt:lpstr>Presentazione standard di PowerPoint</vt:lpstr>
      <vt:lpstr>Stride changes receptive-field growth</vt:lpstr>
      <vt:lpstr>Stride changes receptive-field growth</vt:lpstr>
      <vt:lpstr>Presentazione standard di PowerPoint</vt:lpstr>
      <vt:lpstr>Pooling also increases effective context</vt:lpstr>
      <vt:lpstr>Several ways to increase receptive field</vt:lpstr>
      <vt:lpstr>Presentazione standard di PowerPoint</vt:lpstr>
      <vt:lpstr>Receptive field and classification</vt:lpstr>
      <vt:lpstr>Receptive field and classification</vt:lpstr>
      <vt:lpstr>Receptive field and sequence labelling</vt:lpstr>
      <vt:lpstr>Receptive field and sequence labelling</vt:lpstr>
      <vt:lpstr>Receptive field is an architectural constraint</vt:lpstr>
      <vt:lpstr>Transition </vt:lpstr>
      <vt:lpstr>Block 5.F — Causal Convolution</vt:lpstr>
      <vt:lpstr>A temporal convolution can accidentally use the future</vt:lpstr>
      <vt:lpstr>Non-causal convolution</vt:lpstr>
      <vt:lpstr>Presentazione standard di PowerPoint</vt:lpstr>
      <vt:lpstr>Causal convolution</vt:lpstr>
      <vt:lpstr>Presentazione standard di PowerPoint</vt:lpstr>
      <vt:lpstr>Causal padding preserves temporal length</vt:lpstr>
      <vt:lpstr>Presentazione standard di PowerPoint</vt:lpstr>
      <vt:lpstr>Same padding and causal padding are not the same</vt:lpstr>
      <vt:lpstr>Presentazione standard di PowerPoint</vt:lpstr>
      <vt:lpstr>Causality creates directional receptive fields</vt:lpstr>
      <vt:lpstr>Presentazione standard di PowerPoint</vt:lpstr>
      <vt:lpstr>Causal convolution for forecasting</vt:lpstr>
      <vt:lpstr>Presentazione standard di PowerPoint</vt:lpstr>
      <vt:lpstr>Causal convolution for online sequence labelling</vt:lpstr>
      <vt:lpstr>Architectural causality is not enough</vt:lpstr>
      <vt:lpstr>Presentazione standard di PowerPoint</vt:lpstr>
      <vt:lpstr>Presentazione standard di PowerPoint</vt:lpstr>
      <vt:lpstr>Causal receptive field (and time-window size, for seq-to-vector models) and latency</vt:lpstr>
      <vt:lpstr>Causal convolution still needs an efficient way to obtain long context</vt:lpstr>
      <vt:lpstr>Block 5.G — Dilated Convolution </vt:lpstr>
      <vt:lpstr>Increasing receptive field without large kernels</vt:lpstr>
      <vt:lpstr>Presentazione standard di PowerPoint</vt:lpstr>
      <vt:lpstr>Standard convolution</vt:lpstr>
      <vt:lpstr>Dilation introduces gaps between kernel positions</vt:lpstr>
      <vt:lpstr>Presentazione standard di PowerPoint</vt:lpstr>
      <vt:lpstr>Larger dilation gives larger temporal span</vt:lpstr>
      <vt:lpstr>Effective kernel span</vt:lpstr>
      <vt:lpstr>Presentazione standard di PowerPoint</vt:lpstr>
      <vt:lpstr>Stacking dilated convolutions</vt:lpstr>
      <vt:lpstr>Stacking dilated convolutions</vt:lpstr>
      <vt:lpstr>Example of receptive-field growth with dilation</vt:lpstr>
      <vt:lpstr>Presentazione standard di PowerPoint</vt:lpstr>
      <vt:lpstr>Physical meaning/interpretation of dilation</vt:lpstr>
      <vt:lpstr>Dilation preserves temporal resolution</vt:lpstr>
      <vt:lpstr>Presentazione standard di PowerPoint</vt:lpstr>
      <vt:lpstr>Dilation creates sparse temporal sampling</vt:lpstr>
      <vt:lpstr>Dilation creates sparse temporal sampling</vt:lpstr>
      <vt:lpstr>Presentazione standard di PowerPoint</vt:lpstr>
      <vt:lpstr>Dilation does not automatically imply causality</vt:lpstr>
      <vt:lpstr>Presentazione standard di PowerPoint</vt:lpstr>
      <vt:lpstr>Why dilation is important for long sequences</vt:lpstr>
      <vt:lpstr>Why dilation is important for long sequences</vt:lpstr>
      <vt:lpstr>Transition </vt:lpstr>
      <vt:lpstr>Block 5.H — Temporal Convolutional Networks</vt:lpstr>
      <vt:lpstr>What is a Temporal Convolutional Network (TCN)?</vt:lpstr>
      <vt:lpstr>TCNs use explicit historical (i.e., causal) receptive fields</vt:lpstr>
      <vt:lpstr>What is a Temporal Convolutional Network?</vt:lpstr>
      <vt:lpstr>Presentazione standard di PowerPoint</vt:lpstr>
      <vt:lpstr>Presentazione standard di PowerPoint</vt:lpstr>
      <vt:lpstr>Why residual connections?</vt:lpstr>
      <vt:lpstr>Channel dimensions inside a residual block</vt:lpstr>
      <vt:lpstr>Presentazione standard di PowerPoint</vt:lpstr>
      <vt:lpstr>Dilation schedule in a TCN</vt:lpstr>
      <vt:lpstr>TCN computation can be parallelized across time</vt:lpstr>
      <vt:lpstr>TCN computation can be parallelized across time</vt:lpstr>
      <vt:lpstr>Presentazione standard di PowerPoint</vt:lpstr>
      <vt:lpstr>TCN memory is represented differently from RNN memory</vt:lpstr>
      <vt:lpstr>RNN memory versus TCN receptive field</vt:lpstr>
      <vt:lpstr>Presentazione standard di PowerPoint</vt:lpstr>
      <vt:lpstr>TCN for sequence labelling</vt:lpstr>
      <vt:lpstr>TCN for forecasting</vt:lpstr>
      <vt:lpstr>TCN for sequence classification</vt:lpstr>
      <vt:lpstr>Presentazione standard di PowerPoint</vt:lpstr>
      <vt:lpstr>TCN versus a standard temporal CNN </vt:lpstr>
      <vt:lpstr>Strengths of TCNs</vt:lpstr>
      <vt:lpstr>Strengths of TCNs</vt:lpstr>
      <vt:lpstr>Limitations of TCNs</vt:lpstr>
      <vt:lpstr>From TCN to WaveNet </vt:lpstr>
      <vt:lpstr>WaveNet architecture</vt:lpstr>
      <vt:lpstr>WaveNet</vt:lpstr>
      <vt:lpstr>Simplified Wavenet</vt:lpstr>
      <vt:lpstr>Block 5.I — WaveNet as an Influential Temporal Architecture</vt:lpstr>
      <vt:lpstr>Presentazione standard di PowerPoint</vt:lpstr>
      <vt:lpstr>WaveNet: why it matters beyond audio</vt:lpstr>
      <vt:lpstr>Presentazione standard di PowerPoint</vt:lpstr>
      <vt:lpstr>Exponentially increasing dilation</vt:lpstr>
      <vt:lpstr>Presentazione standard di PowerPoint</vt:lpstr>
      <vt:lpstr>WaveNet is causal</vt:lpstr>
      <vt:lpstr>Presentazione standard di PowerPoint</vt:lpstr>
      <vt:lpstr>Residual and skip connections</vt:lpstr>
      <vt:lpstr>Presentazione standard di PowerPoint</vt:lpstr>
      <vt:lpstr>Gated activation inside WaveNet blocks</vt:lpstr>
      <vt:lpstr>Presentazione standard di PowerPoint</vt:lpstr>
      <vt:lpstr>Gated activation inside a WaveNet block</vt:lpstr>
      <vt:lpstr>What WaveNet contributes conceptually</vt:lpstr>
      <vt:lpstr>Presentazione standard di PowerPoint</vt:lpstr>
      <vt:lpstr>WaveNet is an architectural reference, not the endpoint</vt:lpstr>
      <vt:lpstr>Block 5.J — Temporal CNNs for Different Prediction Tasks</vt:lpstr>
      <vt:lpstr>Presentazione standard di PowerPoint</vt:lpstr>
      <vt:lpstr>Why pooling works well for classification</vt:lpstr>
      <vt:lpstr>Presentazione standard di PowerPoint</vt:lpstr>
      <vt:lpstr>Regression from a temporal sequence</vt:lpstr>
      <vt:lpstr>Sequence labelling requires temporal resolution</vt:lpstr>
      <vt:lpstr>Presentazione standard di PowerPoint</vt:lpstr>
      <vt:lpstr>Online versus offline sequence labelling</vt:lpstr>
      <vt:lpstr>One-step forecasting with a temporal CNN</vt:lpstr>
      <vt:lpstr>Direct multi-horizon forecasting</vt:lpstr>
      <vt:lpstr>Presentazione standard di PowerPoint</vt:lpstr>
      <vt:lpstr>Temporal CNNs can combine several input channels</vt:lpstr>
      <vt:lpstr>Presentazione standard di PowerPoint</vt:lpstr>
      <vt:lpstr>Choosing the architecture from the task (wrap-up)</vt:lpstr>
      <vt:lpstr>Convolutional output structure and tensor shapes</vt:lpstr>
      <vt:lpstr>Block 5.K — Multiscale Temporal Patterns</vt:lpstr>
      <vt:lpstr>Real temporal patterns occur at different scales</vt:lpstr>
      <vt:lpstr>Presentazione standard di PowerPoint</vt:lpstr>
      <vt:lpstr>Different kernel sizes detect different temporal structures</vt:lpstr>
      <vt:lpstr>Parallel multiscale convolution</vt:lpstr>
      <vt:lpstr>Presentazione standard di PowerPoint</vt:lpstr>
      <vt:lpstr>Multiscale representation is different from dilation</vt:lpstr>
      <vt:lpstr>Presentazione standard di PowerPoint</vt:lpstr>
      <vt:lpstr>Inception-style temporal convolution</vt:lpstr>
      <vt:lpstr>Presentazione standard di PowerPoint</vt:lpstr>
      <vt:lpstr>InceptionTime</vt:lpstr>
      <vt:lpstr>Example: multiscale machine monitoring</vt:lpstr>
      <vt:lpstr>Multiscale models reduce, but do not remove, design assumptions</vt:lpstr>
      <vt:lpstr>From handcrafted scales to learned scales</vt:lpstr>
      <vt:lpstr>Presentazione standard di PowerPoint</vt:lpstr>
      <vt:lpstr>Where multiscale CNNs fit in the model hierarchy</vt:lpstr>
      <vt:lpstr>Presentazione standard di PowerPoint</vt:lpstr>
      <vt:lpstr>Code examples</vt:lpstr>
      <vt:lpstr>1D CNN</vt:lpstr>
      <vt:lpstr>1D CNN, 1 output</vt:lpstr>
      <vt:lpstr>1D CNN, 10 output</vt:lpstr>
      <vt:lpstr>1D CNN, Output at every time step</vt:lpstr>
      <vt:lpstr>TCN</vt:lpstr>
      <vt:lpstr>TCN block</vt:lpstr>
      <vt:lpstr>One-step forecasting</vt:lpstr>
      <vt:lpstr>Presentazione standard di PowerPoint</vt:lpstr>
      <vt:lpstr>Wavenet</vt:lpstr>
      <vt:lpstr>Define one gated WaveNet residual block:</vt:lpstr>
      <vt:lpstr>Then stack blocks</vt:lpstr>
      <vt:lpstr>Presentazione standard di PowerPoint</vt:lpstr>
      <vt:lpstr>Presentazione standard di PowerPoint</vt:lpstr>
      <vt:lpstr>Multiscale TCN</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Francesco Bellotti</dc:creator>
  <cp:lastModifiedBy>Francesco Bellotti</cp:lastModifiedBy>
  <cp:revision>1</cp:revision>
  <cp:lastPrinted>2026-10-06T07:39:39Z</cp:lastPrinted>
  <dcterms:created xsi:type="dcterms:W3CDTF">2026-08-16T22:18:58Z</dcterms:created>
  <dcterms:modified xsi:type="dcterms:W3CDTF">2026-10-12T19:28:09Z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0x010100F3E9F6E86B7C604A98B057BB5A096283</vt:lpwstr>
  </property>
</Properties>
</file>