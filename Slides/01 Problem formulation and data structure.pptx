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41" r:id="rId16"/>
    <p:sldId id="270" r:id="rId17"/>
    <p:sldId id="271" r:id="rId18"/>
    <p:sldId id="273" r:id="rId19"/>
    <p:sldId id="274" r:id="rId20"/>
    <p:sldId id="272" r:id="rId21"/>
    <p:sldId id="278" r:id="rId22"/>
    <p:sldId id="277" r:id="rId23"/>
    <p:sldId id="275" r:id="rId24"/>
    <p:sldId id="276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90" r:id="rId35"/>
    <p:sldId id="288" r:id="rId36"/>
    <p:sldId id="289" r:id="rId37"/>
    <p:sldId id="291" r:id="rId38"/>
    <p:sldId id="292" r:id="rId39"/>
    <p:sldId id="293" r:id="rId40"/>
    <p:sldId id="294" r:id="rId41"/>
    <p:sldId id="295" r:id="rId42"/>
    <p:sldId id="299" r:id="rId43"/>
    <p:sldId id="296" r:id="rId44"/>
    <p:sldId id="300" r:id="rId45"/>
    <p:sldId id="297" r:id="rId46"/>
    <p:sldId id="298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3" r:id="rId57"/>
    <p:sldId id="311" r:id="rId58"/>
    <p:sldId id="312" r:id="rId59"/>
    <p:sldId id="314" r:id="rId60"/>
    <p:sldId id="315" r:id="rId61"/>
    <p:sldId id="316" r:id="rId62"/>
    <p:sldId id="317" r:id="rId63"/>
    <p:sldId id="319" r:id="rId64"/>
    <p:sldId id="318" r:id="rId65"/>
    <p:sldId id="320" r:id="rId66"/>
    <p:sldId id="321" r:id="rId67"/>
    <p:sldId id="322" r:id="rId68"/>
    <p:sldId id="325" r:id="rId69"/>
    <p:sldId id="323" r:id="rId70"/>
    <p:sldId id="324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5" r:id="rId79"/>
    <p:sldId id="333" r:id="rId80"/>
    <p:sldId id="334" r:id="rId81"/>
    <p:sldId id="336" r:id="rId82"/>
    <p:sldId id="337" r:id="rId83"/>
    <p:sldId id="338" r:id="rId84"/>
    <p:sldId id="339" r:id="rId85"/>
    <p:sldId id="340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C9E3C9-CE40-441C-9234-385BDD6E5312}" v="4" dt="2026-09-24T16:00:32.2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76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custSel addSld delSld modSld sldOrd">
      <pc:chgData name="Francesco Bellotti" userId="f453232b-f87d-4756-9d8b-c09bc835cc42" providerId="ADAL" clId="{C7FEA3FA-4936-41E1-B7FA-CA082069F7F7}" dt="2026-09-24T16:01:01.838" v="3344" actId="113"/>
      <pc:docMkLst>
        <pc:docMk/>
      </pc:docMkLst>
      <pc:sldChg chg="modSp new mod">
        <pc:chgData name="Francesco Bellotti" userId="f453232b-f87d-4756-9d8b-c09bc835cc42" providerId="ADAL" clId="{C7FEA3FA-4936-41E1-B7FA-CA082069F7F7}" dt="2026-09-24T09:48:49.254" v="3153" actId="20577"/>
        <pc:sldMkLst>
          <pc:docMk/>
          <pc:sldMk cId="386787198" sldId="259"/>
        </pc:sldMkLst>
        <pc:spChg chg="mod">
          <ac:chgData name="Francesco Bellotti" userId="f453232b-f87d-4756-9d8b-c09bc835cc42" providerId="ADAL" clId="{C7FEA3FA-4936-41E1-B7FA-CA082069F7F7}" dt="2026-09-24T09:48:49.254" v="3153" actId="20577"/>
          <ac:spMkLst>
            <pc:docMk/>
            <pc:sldMk cId="386787198" sldId="259"/>
            <ac:spMk id="3" creationId="{A1FDF7A0-6911-11A6-3B14-E487EBBC7FE2}"/>
          </ac:spMkLst>
        </pc:spChg>
      </pc:sldChg>
      <pc:sldChg chg="modSp mod">
        <pc:chgData name="Francesco Bellotti" userId="f453232b-f87d-4756-9d8b-c09bc835cc42" providerId="ADAL" clId="{C7FEA3FA-4936-41E1-B7FA-CA082069F7F7}" dt="2026-09-24T10:07:22.466" v="3156" actId="13926"/>
        <pc:sldMkLst>
          <pc:docMk/>
          <pc:sldMk cId="4113470057" sldId="263"/>
        </pc:sldMkLst>
        <pc:spChg chg="mod">
          <ac:chgData name="Francesco Bellotti" userId="f453232b-f87d-4756-9d8b-c09bc835cc42" providerId="ADAL" clId="{C7FEA3FA-4936-41E1-B7FA-CA082069F7F7}" dt="2026-09-24T10:07:22.466" v="3156" actId="13926"/>
          <ac:spMkLst>
            <pc:docMk/>
            <pc:sldMk cId="4113470057" sldId="263"/>
            <ac:spMk id="6" creationId="{B42FDDE8-A55B-6A29-DD33-8B0FAB46435E}"/>
          </ac:spMkLst>
        </pc:spChg>
      </pc:sldChg>
      <pc:sldChg chg="modSp mod">
        <pc:chgData name="Francesco Bellotti" userId="f453232b-f87d-4756-9d8b-c09bc835cc42" providerId="ADAL" clId="{C7FEA3FA-4936-41E1-B7FA-CA082069F7F7}" dt="2026-09-24T10:13:14.246" v="3184" actId="20577"/>
        <pc:sldMkLst>
          <pc:docMk/>
          <pc:sldMk cId="361200592" sldId="264"/>
        </pc:sldMkLst>
        <pc:spChg chg="mod">
          <ac:chgData name="Francesco Bellotti" userId="f453232b-f87d-4756-9d8b-c09bc835cc42" providerId="ADAL" clId="{C7FEA3FA-4936-41E1-B7FA-CA082069F7F7}" dt="2026-09-24T10:13:14.246" v="3184" actId="20577"/>
          <ac:spMkLst>
            <pc:docMk/>
            <pc:sldMk cId="361200592" sldId="264"/>
            <ac:spMk id="2" creationId="{7677A5BA-CF02-4AB8-3A8D-1E95AB8B689E}"/>
          </ac:spMkLst>
        </pc:spChg>
      </pc:sldChg>
      <pc:sldChg chg="modSp mod">
        <pc:chgData name="Francesco Bellotti" userId="f453232b-f87d-4756-9d8b-c09bc835cc42" providerId="ADAL" clId="{C7FEA3FA-4936-41E1-B7FA-CA082069F7F7}" dt="2026-09-24T10:22:53.676" v="3185" actId="13926"/>
        <pc:sldMkLst>
          <pc:docMk/>
          <pc:sldMk cId="626085606" sldId="265"/>
        </pc:sldMkLst>
        <pc:spChg chg="mod">
          <ac:chgData name="Francesco Bellotti" userId="f453232b-f87d-4756-9d8b-c09bc835cc42" providerId="ADAL" clId="{C7FEA3FA-4936-41E1-B7FA-CA082069F7F7}" dt="2026-09-24T10:22:53.676" v="3185" actId="13926"/>
          <ac:spMkLst>
            <pc:docMk/>
            <pc:sldMk cId="626085606" sldId="265"/>
            <ac:spMk id="3" creationId="{F36DA478-6BB0-2F60-1EFE-CAB5FBE03AA5}"/>
          </ac:spMkLst>
        </pc:spChg>
      </pc:sldChg>
      <pc:sldChg chg="modSp mod">
        <pc:chgData name="Francesco Bellotti" userId="f453232b-f87d-4756-9d8b-c09bc835cc42" providerId="ADAL" clId="{C7FEA3FA-4936-41E1-B7FA-CA082069F7F7}" dt="2026-09-24T16:00:36.772" v="3343" actId="20577"/>
        <pc:sldMkLst>
          <pc:docMk/>
          <pc:sldMk cId="3717365788" sldId="268"/>
        </pc:sldMkLst>
        <pc:spChg chg="mod">
          <ac:chgData name="Francesco Bellotti" userId="f453232b-f87d-4756-9d8b-c09bc835cc42" providerId="ADAL" clId="{C7FEA3FA-4936-41E1-B7FA-CA082069F7F7}" dt="2026-09-24T16:00:36.772" v="3343" actId="20577"/>
          <ac:spMkLst>
            <pc:docMk/>
            <pc:sldMk cId="3717365788" sldId="268"/>
            <ac:spMk id="108" creationId="{ACCED767-A2F5-5D1F-53E3-45E447141434}"/>
          </ac:spMkLst>
        </pc:spChg>
        <pc:spChg chg="mod">
          <ac:chgData name="Francesco Bellotti" userId="f453232b-f87d-4756-9d8b-c09bc835cc42" providerId="ADAL" clId="{C7FEA3FA-4936-41E1-B7FA-CA082069F7F7}" dt="2026-09-24T16:00:34.368" v="3342" actId="20577"/>
          <ac:spMkLst>
            <pc:docMk/>
            <pc:sldMk cId="3717365788" sldId="268"/>
            <ac:spMk id="114" creationId="{11EF11B5-0F40-6D0C-6C44-7BCF5BBD7D82}"/>
          </ac:spMkLst>
        </pc:spChg>
      </pc:sldChg>
      <pc:sldChg chg="modSp mod">
        <pc:chgData name="Francesco Bellotti" userId="f453232b-f87d-4756-9d8b-c09bc835cc42" providerId="ADAL" clId="{C7FEA3FA-4936-41E1-B7FA-CA082069F7F7}" dt="2026-09-24T16:01:01.838" v="3344" actId="113"/>
        <pc:sldMkLst>
          <pc:docMk/>
          <pc:sldMk cId="561235503" sldId="269"/>
        </pc:sldMkLst>
        <pc:spChg chg="mod">
          <ac:chgData name="Francesco Bellotti" userId="f453232b-f87d-4756-9d8b-c09bc835cc42" providerId="ADAL" clId="{C7FEA3FA-4936-41E1-B7FA-CA082069F7F7}" dt="2026-09-24T16:01:01.838" v="3344" actId="113"/>
          <ac:spMkLst>
            <pc:docMk/>
            <pc:sldMk cId="561235503" sldId="269"/>
            <ac:spMk id="6" creationId="{957E4833-5A7A-1A1C-A9E4-3C172894BD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09-24T15:59:14.270" v="3301" actId="478"/>
        <pc:sldMkLst>
          <pc:docMk/>
          <pc:sldMk cId="0" sldId="270"/>
        </pc:sldMkLst>
        <pc:spChg chg="mod">
          <ac:chgData name="Francesco Bellotti" userId="f453232b-f87d-4756-9d8b-c09bc835cc42" providerId="ADAL" clId="{C7FEA3FA-4936-41E1-B7FA-CA082069F7F7}" dt="2026-09-24T15:58:28.131" v="3276" actId="1076"/>
          <ac:spMkLst>
            <pc:docMk/>
            <pc:sldMk cId="0" sldId="270"/>
            <ac:spMk id="32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9-24T15:59:14.270" v="3301" actId="478"/>
          <ac:spMkLst>
            <pc:docMk/>
            <pc:sldMk cId="0" sldId="270"/>
            <ac:spMk id="33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9-24T15:57:34.528" v="3240" actId="478"/>
          <ac:spMkLst>
            <pc:docMk/>
            <pc:sldMk cId="0" sldId="270"/>
            <ac:spMk id="40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9-24T15:57:37.722" v="3241" actId="478"/>
          <ac:spMkLst>
            <pc:docMk/>
            <pc:sldMk cId="0" sldId="270"/>
            <ac:spMk id="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4T15:57:01.970" v="3239" actId="113"/>
          <ac:spMkLst>
            <pc:docMk/>
            <pc:sldMk cId="0" sldId="270"/>
            <ac:spMk id="64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9-24T15:59:09.120" v="3300" actId="404"/>
          <ac:spMkLst>
            <pc:docMk/>
            <pc:sldMk cId="0" sldId="270"/>
            <ac:spMk id="67" creationId="{F538CD98-60B2-7CBC-B290-0BD5F69D1A99}"/>
          </ac:spMkLst>
        </pc:spChg>
      </pc:sldChg>
      <pc:sldChg chg="modSp mod">
        <pc:chgData name="Francesco Bellotti" userId="f453232b-f87d-4756-9d8b-c09bc835cc42" providerId="ADAL" clId="{C7FEA3FA-4936-41E1-B7FA-CA082069F7F7}" dt="2026-09-24T15:53:48.197" v="3206" actId="13926"/>
        <pc:sldMkLst>
          <pc:docMk/>
          <pc:sldMk cId="0" sldId="277"/>
        </pc:sldMkLst>
        <pc:spChg chg="mod">
          <ac:chgData name="Francesco Bellotti" userId="f453232b-f87d-4756-9d8b-c09bc835cc42" providerId="ADAL" clId="{C7FEA3FA-4936-41E1-B7FA-CA082069F7F7}" dt="2026-09-24T15:52:36.892" v="3186" actId="13926"/>
          <ac:spMkLst>
            <pc:docMk/>
            <pc:sldMk cId="0" sldId="277"/>
            <ac:spMk id="9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4T15:53:19.623" v="3205" actId="27636"/>
          <ac:spMkLst>
            <pc:docMk/>
            <pc:sldMk cId="0" sldId="277"/>
            <ac:spMk id="9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9-24T15:53:48.197" v="3206" actId="13926"/>
          <ac:spMkLst>
            <pc:docMk/>
            <pc:sldMk cId="0" sldId="277"/>
            <ac:spMk id="122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9-24T15:56:48.724" v="3238" actId="20577"/>
        <pc:sldMkLst>
          <pc:docMk/>
          <pc:sldMk cId="3102145625" sldId="341"/>
        </pc:sldMkLst>
        <pc:spChg chg="mod">
          <ac:chgData name="Francesco Bellotti" userId="f453232b-f87d-4756-9d8b-c09bc835cc42" providerId="ADAL" clId="{C7FEA3FA-4936-41E1-B7FA-CA082069F7F7}" dt="2026-09-24T15:56:38.416" v="3225" actId="20577"/>
          <ac:spMkLst>
            <pc:docMk/>
            <pc:sldMk cId="3102145625" sldId="341"/>
            <ac:spMk id="2" creationId="{F7FD8102-A311-6B73-498C-B688FBA2BFAA}"/>
          </ac:spMkLst>
        </pc:spChg>
        <pc:spChg chg="mod">
          <ac:chgData name="Francesco Bellotti" userId="f453232b-f87d-4756-9d8b-c09bc835cc42" providerId="ADAL" clId="{C7FEA3FA-4936-41E1-B7FA-CA082069F7F7}" dt="2026-09-24T15:56:48.724" v="3238" actId="20577"/>
          <ac:spMkLst>
            <pc:docMk/>
            <pc:sldMk cId="3102145625" sldId="341"/>
            <ac:spMk id="3" creationId="{B61B37F0-2A7C-B288-2F49-8E1EE31465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665645-159F-425F-BC52-B09B60F69E48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CB5C18-58A7-4972-B898-D043C8D8F7F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491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00B6C0-5DD2-4684-B481-BD85B5830F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89FE9FB3-6774-24A1-F7A9-F2F4E46971EF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DD8C12C9-BB77-4547-839B-A121F0AE2065}" type="slidenum">
              <a:rPr lang="it-IT" altLang="en-US"/>
              <a:pPr/>
              <a:t>47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8FD3D581-8A02-DDA4-32ED-DB7D97B839CB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429CCD14-FA2B-AEF2-E154-CEECFF97722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35ADB45A-0CAB-2B62-FB52-16F1722BE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04208F8C-03B9-42E6-AB34-7CE8A7A0D874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47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FE84D4E2-4D2D-9AD8-2578-04F707AB5B17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2154227E-F4F6-44D2-AA9A-5F5FD03D44C3}" type="slidenum">
              <a:rPr lang="it-IT" altLang="en-US"/>
              <a:pPr/>
              <a:t>77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A9C50C34-E001-C3E8-7814-94E42C5B4FA5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Rectangle 2">
            <a:extLst>
              <a:ext uri="{FF2B5EF4-FFF2-40B4-BE49-F238E27FC236}">
                <a16:creationId xmlns:a16="http://schemas.microsoft.com/office/drawing/2014/main" id="{997C9EBF-FDBE-4108-BEB8-9ABA2FE2459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6516A7C6-8CCF-D8C6-B3F5-B67449B3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481BB41C-FF32-4F8D-AD87-FC83DF2E9EAE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77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4634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3636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283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216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5021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7749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0729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3485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6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6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66284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127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702955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36404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6282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16710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031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74188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442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45D5A7-FBCA-41A4-B31B-D60E9EED2193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182D186-1119-4D7E-9961-214E3054653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59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5C8BA7-69BB-C682-6427-3BD6334463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Time </a:t>
            </a:r>
            <a:r>
              <a:rPr lang="it-IT" dirty="0" err="1"/>
              <a:t>series</a:t>
            </a:r>
            <a:r>
              <a:rPr lang="it-IT" dirty="0"/>
              <a:t> processing</a:t>
            </a:r>
            <a:br>
              <a:rPr lang="it-IT" dirty="0"/>
            </a:b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 and data </a:t>
            </a:r>
            <a:r>
              <a:rPr lang="it-IT" dirty="0" err="1"/>
              <a:t>structures</a:t>
            </a:r>
            <a:endParaRPr lang="en-GB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66A9C83-4912-58E3-E4A6-5A2F0CAD85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DC6258-C91C-FB9D-90E4-B543989B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9963BD-A93E-97A2-0320-874D47D54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lphaUcPeriod"/>
            </a:pPr>
            <a:r>
              <a:rPr lang="it-IT" dirty="0" err="1"/>
              <a:t>Introduction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it-IT" dirty="0" err="1"/>
              <a:t>Temporal</a:t>
            </a:r>
            <a:r>
              <a:rPr lang="it-IT" dirty="0"/>
              <a:t> data </a:t>
            </a:r>
            <a:r>
              <a:rPr lang="it-IT" dirty="0" err="1"/>
              <a:t>types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types</a:t>
            </a:r>
            <a:endParaRPr lang="it-IT" dirty="0"/>
          </a:p>
          <a:p>
            <a:pPr>
              <a:buFont typeface="+mj-lt"/>
              <a:buAutoNum type="alphaUcPeriod"/>
            </a:pPr>
            <a:r>
              <a:rPr lang="en-GB" dirty="0"/>
              <a:t>From Temporal Recordings to Supervised-Learning Samples </a:t>
            </a:r>
          </a:p>
          <a:p>
            <a:pPr>
              <a:buFont typeface="+mj-lt"/>
              <a:buAutoNum type="alphaUcPeriod"/>
            </a:pPr>
            <a:r>
              <a:rPr lang="it-IT" dirty="0" err="1"/>
              <a:t>Closure</a:t>
            </a:r>
            <a:r>
              <a:rPr lang="it-IT" dirty="0"/>
              <a:t> and </a:t>
            </a:r>
            <a:r>
              <a:rPr lang="it-IT" dirty="0" err="1"/>
              <a:t>questions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671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43ED2D-4CBA-1537-84DE-EDAE78E7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A. </a:t>
            </a:r>
            <a:r>
              <a:rPr lang="it-IT" dirty="0" err="1"/>
              <a:t>Introduction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B675CD-56D3-BCE2-A48F-A00760163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0135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386BFD-FA8A-9787-313B-7FFCB4B55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Time-Series Processing: from temporal data to decisions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FDF7A0-6911-11A6-3B14-E487EBBC7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time series is an ordered sequence of observations: </a:t>
            </a:r>
            <a:r>
              <a:rPr lang="en-GB" b="1" dirty="0"/>
              <a:t>x₁, x₂, …, </a:t>
            </a:r>
            <a:r>
              <a:rPr lang="en-GB" b="1" dirty="0" err="1"/>
              <a:t>x</a:t>
            </a:r>
            <a:r>
              <a:rPr lang="en-GB" b="1" baseline="-25000" dirty="0" err="1"/>
              <a:t>T</a:t>
            </a:r>
            <a:endParaRPr lang="en-GB" baseline="-25000" dirty="0"/>
          </a:p>
          <a:p>
            <a:r>
              <a:rPr lang="en-GB" dirty="0"/>
              <a:t>At each time step, the observation may contain:</a:t>
            </a:r>
          </a:p>
          <a:p>
            <a:pPr lvl="1"/>
            <a:r>
              <a:rPr lang="en-GB" dirty="0"/>
              <a:t>one value: </a:t>
            </a:r>
            <a:r>
              <a:rPr lang="en-GB" b="1" dirty="0"/>
              <a:t>xₜ ∈ ℝ</a:t>
            </a:r>
            <a:endParaRPr lang="en-GB" dirty="0"/>
          </a:p>
          <a:p>
            <a:pPr lvl="1"/>
            <a:r>
              <a:rPr lang="en-GB" dirty="0"/>
              <a:t>multiple variables: </a:t>
            </a:r>
            <a:r>
              <a:rPr lang="en-GB" b="1" dirty="0"/>
              <a:t>xₜ ∈ ℝᵈ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T</a:t>
            </a:r>
            <a:r>
              <a:rPr lang="en-GB" dirty="0"/>
              <a:t> = sequence length;</a:t>
            </a:r>
          </a:p>
          <a:p>
            <a:pPr lvl="1"/>
            <a:r>
              <a:rPr lang="en-GB" b="1" dirty="0"/>
              <a:t>d</a:t>
            </a:r>
            <a:r>
              <a:rPr lang="en-GB" dirty="0"/>
              <a:t> = number of input variables or channels.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78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0AD6F8-B71B-DA39-D3DE-31ECA6820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time-series data differ from tabular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29CA59-56DF-F924-8F2C-27543FE76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a time series, the current observation generally depends on previous observations: </a:t>
            </a:r>
            <a:r>
              <a:rPr lang="en-GB" b="1" dirty="0"/>
              <a:t>xₜ depends on xₜ₋₁, xₜ₋₂, …</a:t>
            </a:r>
            <a:endParaRPr lang="en-GB" dirty="0"/>
          </a:p>
          <a:p>
            <a:r>
              <a:rPr lang="en-GB" dirty="0"/>
              <a:t>Equivalently: </a:t>
            </a:r>
            <a:r>
              <a:rPr lang="en-GB" b="1" dirty="0"/>
              <a:t>P(xₜ | past observations) ≠ P(xₜ)</a:t>
            </a:r>
            <a:endParaRPr lang="en-GB" dirty="0"/>
          </a:p>
          <a:p>
            <a:r>
              <a:rPr lang="en-GB" dirty="0"/>
              <a:t>This means that observations cannot generally be treated as independent or freely shuffled.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402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1FB707-7173-4EEC-5707-8B477F349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prediction-time perspective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DF8B72-0C97-72A2-544F-BC1CA6434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prediction produced at time </a:t>
            </a:r>
            <a:r>
              <a:rPr lang="en-GB" b="1" dirty="0"/>
              <a:t>t</a:t>
            </a:r>
            <a:r>
              <a:rPr lang="en-GB" dirty="0"/>
              <a:t> must use only information available up to time </a:t>
            </a:r>
            <a:r>
              <a:rPr lang="en-GB" b="1" dirty="0"/>
              <a:t>t</a:t>
            </a:r>
            <a:r>
              <a:rPr lang="en-GB" dirty="0"/>
              <a:t>: </a:t>
            </a:r>
            <a:r>
              <a:rPr lang="en-GB" b="1" dirty="0"/>
              <a:t>ŷₜ₊ₕ = f(information available up to time t)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t</a:t>
            </a:r>
            <a:r>
              <a:rPr lang="en-GB" dirty="0"/>
              <a:t> = prediction time;</a:t>
            </a:r>
          </a:p>
          <a:p>
            <a:pPr lvl="1"/>
            <a:r>
              <a:rPr lang="en-GB" b="1" dirty="0"/>
              <a:t>h</a:t>
            </a:r>
            <a:r>
              <a:rPr lang="en-GB" dirty="0"/>
              <a:t> = prediction horizon;</a:t>
            </a:r>
          </a:p>
          <a:p>
            <a:pPr lvl="1"/>
            <a:r>
              <a:rPr lang="en-GB" b="1" dirty="0"/>
              <a:t>ŷₜ₊ₕ</a:t>
            </a:r>
            <a:r>
              <a:rPr lang="en-GB" dirty="0"/>
              <a:t> = prediction for time </a:t>
            </a:r>
            <a:r>
              <a:rPr lang="en-GB" b="1" dirty="0"/>
              <a:t>t + h</a:t>
            </a:r>
            <a:r>
              <a:rPr lang="en-GB" dirty="0"/>
              <a:t>.</a:t>
            </a:r>
          </a:p>
          <a:p>
            <a:r>
              <a:rPr lang="en-GB" dirty="0"/>
              <a:t>Using a window of length </a:t>
            </a:r>
            <a:r>
              <a:rPr lang="en-GB" b="1" dirty="0"/>
              <a:t>L</a:t>
            </a:r>
            <a:r>
              <a:rPr lang="en-GB" dirty="0"/>
              <a:t>:</a:t>
            </a:r>
          </a:p>
          <a:p>
            <a:r>
              <a:rPr lang="en-GB" b="1" dirty="0"/>
              <a:t>Input: xₜ₋</a:t>
            </a:r>
            <a:r>
              <a:rPr lang="en-GB" b="1" baseline="-25000" dirty="0"/>
              <a:t>L+1</a:t>
            </a:r>
            <a:r>
              <a:rPr lang="en-GB" b="1" dirty="0"/>
              <a:t>, …, xₜ</a:t>
            </a:r>
            <a:r>
              <a:rPr lang="en-GB" b="1" baseline="-25000" dirty="0"/>
              <a:t>-1</a:t>
            </a:r>
            <a:r>
              <a:rPr lang="en-GB" b="1" dirty="0"/>
              <a:t>, xₜ</a:t>
            </a:r>
            <a:endParaRPr lang="en-GB" dirty="0"/>
          </a:p>
          <a:p>
            <a:r>
              <a:rPr lang="en-GB" b="1" dirty="0"/>
              <a:t>Output: ŷₜ₊ₕ</a:t>
            </a:r>
            <a:endParaRPr lang="en-GB" dirty="0"/>
          </a:p>
          <a:p>
            <a:r>
              <a:rPr lang="en-GB" dirty="0"/>
              <a:t>The model must not use future observations such as: </a:t>
            </a:r>
            <a:r>
              <a:rPr lang="en-GB" b="1" dirty="0"/>
              <a:t>xₜ</a:t>
            </a:r>
            <a:r>
              <a:rPr lang="en-GB" b="1" baseline="-25000" dirty="0"/>
              <a:t>+1</a:t>
            </a:r>
            <a:r>
              <a:rPr lang="en-GB" b="1" dirty="0"/>
              <a:t>, xₜ</a:t>
            </a:r>
            <a:r>
              <a:rPr lang="en-GB" b="1" baseline="-25000" dirty="0"/>
              <a:t>+2</a:t>
            </a:r>
            <a:r>
              <a:rPr lang="en-GB" b="1" dirty="0"/>
              <a:t>, …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3598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1CD314-6AD5-1A2B-2EC1-8E3D7094E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Similar data can support different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B496F1-0801-FE24-A576-70E92DC90A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Forecasting</a:t>
            </a:r>
          </a:p>
          <a:p>
            <a:pPr lvl="1"/>
            <a:r>
              <a:rPr lang="en-GB" b="1" dirty="0"/>
              <a:t>Past window → future values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 </a:t>
            </a:r>
            <a:r>
              <a:rPr lang="en-GB" b="1" dirty="0"/>
              <a:t>→ x̂ₜ₊</a:t>
            </a:r>
            <a:r>
              <a:rPr lang="en-GB" b="1" baseline="-25000" dirty="0"/>
              <a:t>1:t+h</a:t>
            </a:r>
            <a:endParaRPr lang="en-GB" baseline="-25000" dirty="0"/>
          </a:p>
          <a:p>
            <a:r>
              <a:rPr lang="en-GB" b="1" dirty="0"/>
              <a:t>Window-level regression</a:t>
            </a:r>
          </a:p>
          <a:p>
            <a:pPr lvl="1"/>
            <a:r>
              <a:rPr lang="en-GB" b="1" dirty="0"/>
              <a:t>Past window → continuous value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</a:t>
            </a:r>
            <a:r>
              <a:rPr lang="en-GB" b="1" dirty="0"/>
              <a:t> → ŷₜ</a:t>
            </a:r>
            <a:endParaRPr lang="en-GB" dirty="0"/>
          </a:p>
          <a:p>
            <a:pPr lvl="1"/>
            <a:r>
              <a:rPr lang="en-GB" dirty="0"/>
              <a:t>Example: efficiency, product quality or remaining useful life.</a:t>
            </a:r>
          </a:p>
          <a:p>
            <a:r>
              <a:rPr lang="en-GB" b="1" dirty="0"/>
              <a:t>Window-level classification</a:t>
            </a:r>
          </a:p>
          <a:p>
            <a:pPr lvl="1"/>
            <a:r>
              <a:rPr lang="en-GB" b="1" dirty="0"/>
              <a:t>Past window → class</a:t>
            </a:r>
            <a:endParaRPr lang="en-GB" dirty="0"/>
          </a:p>
          <a:p>
            <a:pPr lvl="1"/>
            <a:r>
              <a:rPr lang="en-GB" b="1" dirty="0"/>
              <a:t>xₜ₋ₗ₊</a:t>
            </a:r>
            <a:r>
              <a:rPr lang="en-GB" b="1" baseline="-25000" dirty="0"/>
              <a:t>1:t</a:t>
            </a:r>
            <a:r>
              <a:rPr lang="en-GB" b="1" dirty="0"/>
              <a:t>→ ĉₜ</a:t>
            </a:r>
            <a:endParaRPr lang="en-GB" dirty="0"/>
          </a:p>
          <a:p>
            <a:pPr lvl="1"/>
            <a:r>
              <a:rPr lang="en-GB" dirty="0"/>
              <a:t>Example: normal, overload or fault.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E17AE0A-E213-F14C-C952-FDA790D186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Sequence labelling</a:t>
            </a:r>
          </a:p>
          <a:p>
            <a:pPr lvl="1"/>
            <a:r>
              <a:rPr lang="en-GB" b="1" dirty="0"/>
              <a:t>Input sequence → sequence of labels</a:t>
            </a:r>
            <a:endParaRPr lang="en-GB" dirty="0"/>
          </a:p>
          <a:p>
            <a:pPr lvl="1"/>
            <a:r>
              <a:rPr lang="en-GB" b="1" dirty="0"/>
              <a:t>x</a:t>
            </a:r>
            <a:r>
              <a:rPr lang="en-GB" b="1" baseline="-25000" dirty="0"/>
              <a:t>1:t</a:t>
            </a:r>
            <a:r>
              <a:rPr lang="en-GB" b="1" dirty="0"/>
              <a:t>→ ĉ</a:t>
            </a:r>
            <a:r>
              <a:rPr lang="en-GB" b="1" baseline="-25000" dirty="0"/>
              <a:t>1:t</a:t>
            </a:r>
            <a:endParaRPr lang="en-GB" dirty="0"/>
          </a:p>
          <a:p>
            <a:pPr lvl="1"/>
            <a:r>
              <a:rPr lang="en-GB" dirty="0"/>
              <a:t>Example: operating state at every time step.</a:t>
            </a:r>
          </a:p>
          <a:p>
            <a:r>
              <a:rPr lang="en-GB" b="1" dirty="0"/>
              <a:t>Early warning</a:t>
            </a:r>
          </a:p>
          <a:p>
            <a:pPr lvl="1"/>
            <a:r>
              <a:rPr lang="en-GB" b="1" dirty="0"/>
              <a:t>Observations up to t → probability of a future event</a:t>
            </a:r>
            <a:endParaRPr lang="en-GB" dirty="0"/>
          </a:p>
          <a:p>
            <a:pPr lvl="1"/>
            <a:r>
              <a:rPr lang="en-GB" b="1" dirty="0"/>
              <a:t>x</a:t>
            </a:r>
            <a:r>
              <a:rPr lang="en-GB" b="1" baseline="-25000" dirty="0"/>
              <a:t>1:t</a:t>
            </a:r>
            <a:r>
              <a:rPr lang="en-GB" b="1" dirty="0"/>
              <a:t> → P(event within the next h steps)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1670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5373F44B-48B4-7ED3-76EF-4900B4E70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recordings to machine-learning samples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42FDDE8-A55B-6A29-DD33-8B0FAB464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long recording: </a:t>
            </a:r>
            <a:r>
              <a:rPr lang="en-GB" b="1" dirty="0"/>
              <a:t>x₁, x₂, …, xₜ </a:t>
            </a:r>
            <a:r>
              <a:rPr lang="en-GB" dirty="0">
                <a:highlight>
                  <a:srgbClr val="FFFF00"/>
                </a:highlight>
              </a:rPr>
              <a:t>can be divided into windows of length </a:t>
            </a:r>
            <a:r>
              <a:rPr lang="en-GB" b="1" dirty="0">
                <a:highlight>
                  <a:srgbClr val="FFFF00"/>
                </a:highlight>
              </a:rPr>
              <a:t>L</a:t>
            </a:r>
            <a:r>
              <a:rPr lang="en-GB" dirty="0"/>
              <a:t>.</a:t>
            </a:r>
          </a:p>
          <a:p>
            <a:r>
              <a:rPr lang="en-GB" dirty="0"/>
              <a:t>Window </a:t>
            </a:r>
            <a:r>
              <a:rPr lang="en-GB" b="1" dirty="0"/>
              <a:t>i</a:t>
            </a:r>
            <a:r>
              <a:rPr lang="en-GB" dirty="0"/>
              <a:t>: </a:t>
            </a:r>
            <a:r>
              <a:rPr lang="en-GB" b="1" dirty="0"/>
              <a:t>X⁽ⁱ⁾ = [xₛᵢ, x</a:t>
            </a:r>
            <a:r>
              <a:rPr lang="en-GB" b="1" baseline="-25000" dirty="0"/>
              <a:t>si+1</a:t>
            </a:r>
            <a:r>
              <a:rPr lang="en-GB" b="1" dirty="0"/>
              <a:t>, …, x</a:t>
            </a:r>
            <a:r>
              <a:rPr lang="en-GB" b="1" baseline="-25000" dirty="0"/>
              <a:t>si+L-1</a:t>
            </a:r>
            <a:r>
              <a:rPr lang="en-GB" b="1" dirty="0"/>
              <a:t>] </a:t>
            </a:r>
            <a:r>
              <a:rPr lang="en-GB" dirty="0"/>
              <a:t>where </a:t>
            </a:r>
            <a:r>
              <a:rPr lang="en-GB" b="1" dirty="0">
                <a:highlight>
                  <a:srgbClr val="FFFF00"/>
                </a:highlight>
              </a:rPr>
              <a:t>sᵢ</a:t>
            </a:r>
            <a:r>
              <a:rPr lang="en-GB" dirty="0">
                <a:highlight>
                  <a:srgbClr val="FFFF00"/>
                </a:highlight>
              </a:rPr>
              <a:t> is the starting position </a:t>
            </a:r>
            <a:r>
              <a:rPr lang="en-GB" dirty="0"/>
              <a:t>of the window.</a:t>
            </a:r>
          </a:p>
          <a:p>
            <a:r>
              <a:rPr lang="en-GB" dirty="0"/>
              <a:t>If the </a:t>
            </a:r>
            <a:r>
              <a:rPr lang="en-GB" dirty="0">
                <a:highlight>
                  <a:srgbClr val="FFFF00"/>
                </a:highlight>
              </a:rPr>
              <a:t>stride is </a:t>
            </a:r>
            <a:r>
              <a:rPr lang="en-GB" b="1" dirty="0">
                <a:highlight>
                  <a:srgbClr val="FFFF00"/>
                </a:highlight>
              </a:rPr>
              <a:t>S</a:t>
            </a:r>
            <a:r>
              <a:rPr lang="en-GB" dirty="0"/>
              <a:t>: </a:t>
            </a:r>
            <a:r>
              <a:rPr lang="en-GB" b="1" dirty="0"/>
              <a:t>sᵢ₊₁ = sᵢ + S</a:t>
            </a:r>
            <a:endParaRPr lang="en-GB" dirty="0"/>
          </a:p>
          <a:p>
            <a:r>
              <a:rPr lang="en-GB" dirty="0"/>
              <a:t>If </a:t>
            </a:r>
            <a:r>
              <a:rPr lang="en-GB" b="1" dirty="0"/>
              <a:t>S &lt; L</a:t>
            </a:r>
            <a:r>
              <a:rPr lang="en-GB" dirty="0"/>
              <a:t>, consecutive windows overlap.</a:t>
            </a:r>
          </a:p>
          <a:p>
            <a:r>
              <a:rPr lang="en-GB" dirty="0"/>
              <a:t>A dataset of multivariate windows is represented as: </a:t>
            </a:r>
            <a:r>
              <a:rPr lang="en-GB" b="1" dirty="0"/>
              <a:t>X shape = [N, L, d]</a:t>
            </a:r>
            <a:endParaRPr lang="en-GB" dirty="0"/>
          </a:p>
          <a:p>
            <a:r>
              <a:rPr lang="en-GB" dirty="0"/>
              <a:t>where:</a:t>
            </a:r>
          </a:p>
          <a:p>
            <a:pPr lvl="1"/>
            <a:r>
              <a:rPr lang="en-GB" b="1" dirty="0"/>
              <a:t>N</a:t>
            </a:r>
            <a:r>
              <a:rPr lang="en-GB" dirty="0"/>
              <a:t> = number of windows;</a:t>
            </a:r>
          </a:p>
          <a:p>
            <a:pPr lvl="1"/>
            <a:r>
              <a:rPr lang="en-GB" b="1" dirty="0"/>
              <a:t>L</a:t>
            </a:r>
            <a:r>
              <a:rPr lang="en-GB" dirty="0"/>
              <a:t> = number of time steps per window;</a:t>
            </a:r>
          </a:p>
          <a:p>
            <a:pPr lvl="1"/>
            <a:r>
              <a:rPr lang="en-GB" b="1" dirty="0"/>
              <a:t>d</a:t>
            </a:r>
            <a:r>
              <a:rPr lang="en-GB" dirty="0"/>
              <a:t> = number of variables or channels.</a:t>
            </a:r>
          </a:p>
          <a:p>
            <a:pPr lvl="2"/>
            <a:r>
              <a:rPr lang="en-GB" dirty="0"/>
              <a:t>temperature, pressure and humidity -&gt; to predict weather</a:t>
            </a:r>
          </a:p>
          <a:p>
            <a:pPr lvl="2"/>
            <a:r>
              <a:rPr lang="en-GB" dirty="0"/>
              <a:t>acceleration along three axes -&gt; to classify movement</a:t>
            </a:r>
          </a:p>
          <a:p>
            <a:pPr lvl="2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3470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77A5BA-CF02-4AB8-3A8D-1E95AB8B6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central role of baselines (for predicting next value)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0E6444-670E-3895-A5BD-C51209A4C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Last-value baseline</a:t>
            </a:r>
          </a:p>
          <a:p>
            <a:r>
              <a:rPr lang="en-GB" dirty="0"/>
              <a:t>The future value is assumed equal to the latest observed value: </a:t>
            </a:r>
            <a:r>
              <a:rPr lang="en-GB" b="1" dirty="0"/>
              <a:t>ŷₜ₊ₕ = yₜ</a:t>
            </a:r>
            <a:endParaRPr lang="en-GB" dirty="0"/>
          </a:p>
          <a:p>
            <a:r>
              <a:rPr lang="en-GB" b="1" dirty="0"/>
              <a:t>Seasonal-naïve baseline</a:t>
            </a:r>
          </a:p>
          <a:p>
            <a:r>
              <a:rPr lang="en-GB" dirty="0"/>
              <a:t>The future value is assumed equal to the value observed one seasonal period earlier: </a:t>
            </a:r>
            <a:r>
              <a:rPr lang="en-GB" b="1" dirty="0"/>
              <a:t>ŷₜ₊ₕ = yₜ₊ₕ₋ₘ, </a:t>
            </a:r>
            <a:r>
              <a:rPr lang="en-GB" dirty="0"/>
              <a:t>where </a:t>
            </a:r>
            <a:r>
              <a:rPr lang="en-GB" b="1" dirty="0"/>
              <a:t>m</a:t>
            </a:r>
            <a:r>
              <a:rPr lang="en-GB" dirty="0"/>
              <a:t> is the seasonal period.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b="1" dirty="0"/>
              <a:t>m = 7</a:t>
            </a:r>
            <a:r>
              <a:rPr lang="en-GB" dirty="0"/>
              <a:t> for daily data with weekly seasonality;</a:t>
            </a:r>
          </a:p>
          <a:p>
            <a:pPr lvl="1"/>
            <a:r>
              <a:rPr lang="en-GB" b="1" dirty="0"/>
              <a:t>m = 24</a:t>
            </a:r>
            <a:r>
              <a:rPr lang="en-GB" dirty="0"/>
              <a:t> for hourly data with daily seasonality;</a:t>
            </a:r>
          </a:p>
          <a:p>
            <a:pPr lvl="1"/>
            <a:r>
              <a:rPr lang="en-GB" b="1" dirty="0"/>
              <a:t>m = 12</a:t>
            </a:r>
            <a:r>
              <a:rPr lang="en-GB" dirty="0"/>
              <a:t> for monthly data with annual seasonality.</a:t>
            </a:r>
          </a:p>
          <a:p>
            <a:r>
              <a:rPr lang="en-GB" b="1" dirty="0"/>
              <a:t>Linear autoregressive baseline</a:t>
            </a:r>
          </a:p>
          <a:p>
            <a:r>
              <a:rPr lang="en-GB" dirty="0"/>
              <a:t>The prediction is a weighted combination of recent values: </a:t>
            </a:r>
            <a:r>
              <a:rPr lang="en-GB" b="1" dirty="0"/>
              <a:t>ŷₜ₊ₕ = b + </a:t>
            </a:r>
            <a:r>
              <a:rPr lang="en-GB" b="1" dirty="0" err="1"/>
              <a:t>w₀y</a:t>
            </a:r>
            <a:r>
              <a:rPr lang="en-GB" b="1" dirty="0"/>
              <a:t>ₜ + </a:t>
            </a:r>
            <a:r>
              <a:rPr lang="en-GB" b="1" dirty="0" err="1"/>
              <a:t>w₁y</a:t>
            </a:r>
            <a:r>
              <a:rPr lang="en-GB" b="1" dirty="0"/>
              <a:t>ₜ₋₁ + … + wₗ₋₁yₜ₋ₗ₊₁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200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48303E-9362-DC52-BD04-56926EDB8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</a:t>
            </a:r>
            <a:r>
              <a:rPr lang="en-GB" dirty="0" err="1"/>
              <a:t>ime</a:t>
            </a:r>
            <a:r>
              <a:rPr lang="en-GB" dirty="0"/>
              <a:t> series data split is critical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6DA478-6BB0-2F60-1EFE-CAB5FBE03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two windows:</a:t>
            </a:r>
          </a:p>
          <a:p>
            <a:pPr lvl="1"/>
            <a:r>
              <a:rPr lang="en-GB" b="1" dirty="0"/>
              <a:t>Window 1: [x₁, x₂, …, x₁₀₀]</a:t>
            </a:r>
            <a:endParaRPr lang="en-GB" dirty="0"/>
          </a:p>
          <a:p>
            <a:pPr lvl="1"/>
            <a:r>
              <a:rPr lang="en-GB" b="1" dirty="0"/>
              <a:t>Window 2: [x₂, x₃, …, x₁₀₁]</a:t>
            </a:r>
            <a:endParaRPr lang="en-GB" dirty="0"/>
          </a:p>
          <a:p>
            <a:r>
              <a:rPr lang="en-GB" dirty="0"/>
              <a:t>They share: </a:t>
            </a:r>
            <a:r>
              <a:rPr lang="en-GB" b="1" dirty="0"/>
              <a:t>99 observations out of 100</a:t>
            </a:r>
            <a:endParaRPr lang="en-GB" dirty="0"/>
          </a:p>
          <a:p>
            <a:r>
              <a:rPr lang="en-GB" dirty="0"/>
              <a:t>Therefore, if one window is used for training and the other for testing, the test sample is almost identical to a training sample.</a:t>
            </a:r>
          </a:p>
          <a:p>
            <a:r>
              <a:rPr lang="en-GB" dirty="0">
                <a:highlight>
                  <a:srgbClr val="FFFF00"/>
                </a:highlight>
              </a:rPr>
              <a:t>The correct principle is:</a:t>
            </a:r>
          </a:p>
          <a:p>
            <a:pPr lvl="1"/>
            <a:r>
              <a:rPr lang="en-GB" b="1" dirty="0"/>
              <a:t>Split recordings, entities or time intervals first.</a:t>
            </a:r>
            <a:endParaRPr lang="en-GB" dirty="0"/>
          </a:p>
          <a:p>
            <a:pPr lvl="1"/>
            <a:r>
              <a:rPr lang="en-GB" b="1" dirty="0"/>
              <a:t>Generate windows afterwards, separately within each partition.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6085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6DF4F0-624D-6519-C138-DD117BE08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B. </a:t>
            </a:r>
            <a:r>
              <a:rPr lang="en-GB" dirty="0"/>
              <a:t>Types of time-series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820E4D-604C-3454-7A1F-4F37044A0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564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A1D449-7FB4-2DD7-8695-9C4EAC84E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196240" cy="1320800"/>
          </a:xfrm>
        </p:spPr>
        <p:txBody>
          <a:bodyPr>
            <a:normAutofit/>
          </a:bodyPr>
          <a:lstStyle/>
          <a:p>
            <a:r>
              <a:rPr lang="en-GB" dirty="0"/>
              <a:t>Univariate and multivariate time series</a:t>
            </a:r>
            <a:br>
              <a:rPr lang="en-GB" dirty="0"/>
            </a:br>
            <a:r>
              <a:rPr lang="en-GB" sz="2000" dirty="0"/>
              <a:t>A time series associates one or more observed variables with each time step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7AB3A-1544-364F-32B2-22DAB5BB4A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Univariate time series</a:t>
            </a:r>
          </a:p>
          <a:p>
            <a:r>
              <a:rPr lang="en-GB" dirty="0"/>
              <a:t>At each time step, only one variable is observed: </a:t>
            </a:r>
            <a:r>
              <a:rPr lang="en-GB" b="1" dirty="0"/>
              <a:t>x₁, x₂, …, xₜ</a:t>
            </a:r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daily sales of one product;</a:t>
            </a:r>
          </a:p>
          <a:p>
            <a:pPr lvl="1"/>
            <a:r>
              <a:rPr lang="en-GB" dirty="0"/>
              <a:t>hourly energy consumption;</a:t>
            </a:r>
          </a:p>
          <a:p>
            <a:pPr lvl="1"/>
            <a:r>
              <a:rPr lang="en-GB" dirty="0"/>
              <a:t>temperature measured by one sensor;</a:t>
            </a:r>
          </a:p>
          <a:p>
            <a:pPr lvl="1"/>
            <a:r>
              <a:rPr lang="en-GB" dirty="0"/>
              <a:t>vibration amplitude;</a:t>
            </a:r>
          </a:p>
          <a:p>
            <a:pPr lvl="1"/>
            <a:r>
              <a:rPr lang="en-GB" dirty="0"/>
              <a:t>number of website visits.</a:t>
            </a:r>
          </a:p>
          <a:p>
            <a:r>
              <a:rPr lang="en-GB" dirty="0"/>
              <a:t>The input can be represented as:</a:t>
            </a:r>
          </a:p>
          <a:p>
            <a:pPr lvl="1"/>
            <a:r>
              <a:rPr lang="en-GB" b="1" dirty="0"/>
              <a:t>X shape = [time steps, 1]</a:t>
            </a:r>
            <a:endParaRPr lang="en-GB" dirty="0"/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57F8BDA-80DC-7193-20B7-4F1ED9F27F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Multivariate time series</a:t>
            </a:r>
          </a:p>
          <a:p>
            <a:r>
              <a:rPr lang="en-GB" dirty="0"/>
              <a:t>At each time step, a vector of variables is observed: </a:t>
            </a:r>
            <a:r>
              <a:rPr lang="en-GB" b="1" dirty="0"/>
              <a:t>xₜ = [x</a:t>
            </a:r>
            <a:r>
              <a:rPr lang="en-GB" b="1" baseline="-25000" dirty="0"/>
              <a:t>t,1</a:t>
            </a:r>
            <a:r>
              <a:rPr lang="en-GB" b="1" dirty="0"/>
              <a:t>, x</a:t>
            </a:r>
            <a:r>
              <a:rPr lang="en-GB" b="1" baseline="-25000" dirty="0"/>
              <a:t>t,2</a:t>
            </a:r>
            <a:r>
              <a:rPr lang="en-GB" b="1" dirty="0"/>
              <a:t>, …, </a:t>
            </a:r>
            <a:r>
              <a:rPr lang="en-GB" b="1" dirty="0" err="1"/>
              <a:t>x</a:t>
            </a:r>
            <a:r>
              <a:rPr lang="en-GB" b="1" baseline="-25000" dirty="0" err="1"/>
              <a:t>t,d</a:t>
            </a:r>
            <a:r>
              <a:rPr lang="en-GB" b="1" dirty="0"/>
              <a:t>]</a:t>
            </a:r>
            <a:endParaRPr lang="en-GB" dirty="0"/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temperature, pressure and humidity;</a:t>
            </a:r>
          </a:p>
          <a:p>
            <a:pPr lvl="1"/>
            <a:r>
              <a:rPr lang="en-GB" dirty="0"/>
              <a:t>acceleration along three axes;</a:t>
            </a:r>
          </a:p>
          <a:p>
            <a:pPr lvl="1"/>
            <a:r>
              <a:rPr lang="en-GB" dirty="0"/>
              <a:t>sales, price and advertising expenditure;</a:t>
            </a:r>
          </a:p>
          <a:p>
            <a:pPr lvl="1"/>
            <a:r>
              <a:rPr lang="en-GB" dirty="0"/>
              <a:t>voltage, current and rotational speed;</a:t>
            </a:r>
          </a:p>
          <a:p>
            <a:pPr lvl="1"/>
            <a:r>
              <a:rPr lang="en-GB" dirty="0"/>
              <a:t>multiple sensors on the same machine.</a:t>
            </a:r>
          </a:p>
          <a:p>
            <a:r>
              <a:rPr lang="en-GB" dirty="0"/>
              <a:t>The input can be represented as:</a:t>
            </a:r>
          </a:p>
          <a:p>
            <a:pPr lvl="1"/>
            <a:r>
              <a:rPr lang="en-GB" b="1" dirty="0"/>
              <a:t>X shape = [time steps, features]</a:t>
            </a:r>
            <a:endParaRPr lang="en-GB" dirty="0"/>
          </a:p>
          <a:p>
            <a:r>
              <a:rPr lang="en-GB" dirty="0"/>
              <a:t>For a batch of samples:</a:t>
            </a:r>
          </a:p>
          <a:p>
            <a:pPr lvl="1"/>
            <a:r>
              <a:rPr lang="en-GB" b="1" dirty="0"/>
              <a:t>X shape = [samples, time steps, features]</a:t>
            </a:r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DBAD47F-72F3-257D-DB4A-56C1ED8013A9}"/>
              </a:ext>
            </a:extLst>
          </p:cNvPr>
          <p:cNvSpPr txBox="1"/>
          <p:nvPr/>
        </p:nvSpPr>
        <p:spPr>
          <a:xfrm>
            <a:off x="588521" y="5703838"/>
            <a:ext cx="10926145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N.B.</a:t>
            </a:r>
          </a:p>
          <a:p>
            <a:r>
              <a:rPr lang="en-GB" sz="1400" dirty="0"/>
              <a:t>In a multivariate time series, the variables may interact:</a:t>
            </a:r>
          </a:p>
          <a:p>
            <a:r>
              <a:rPr lang="en-GB" sz="1400" dirty="0"/>
              <a:t>at the same time step; with different temporal delays; through common external factors; through physical or operational constraints</a:t>
            </a:r>
          </a:p>
        </p:txBody>
      </p:sp>
    </p:spTree>
    <p:extLst>
      <p:ext uri="{BB962C8B-B14F-4D97-AF65-F5344CB8AC3E}">
        <p14:creationId xmlns:p14="http://schemas.microsoft.com/office/powerpoint/2010/main" val="3996523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CDF4D159-3F2F-4847-BCC2-E9FE8800DE55}"/>
              </a:ext>
            </a:extLst>
          </p:cNvPr>
          <p:cNvSpPr/>
          <p:nvPr/>
        </p:nvSpPr>
        <p:spPr>
          <a:xfrm>
            <a:off x="658368" y="38404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222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Multivariate time-series prediction</a:t>
            </a:r>
            <a:endParaRPr lang="en-US" sz="31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C648B17E-69B2-03E2-C4F2-0F059475CDAC}"/>
              </a:ext>
            </a:extLst>
          </p:cNvPr>
          <p:cNvSpPr/>
          <p:nvPr/>
        </p:nvSpPr>
        <p:spPr>
          <a:xfrm>
            <a:off x="676656" y="96926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utile: one variable over time vs. several aligned variables over the same time axis</a:t>
            </a:r>
            <a:endParaRPr lang="en-US" sz="145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6A10EE4-4D57-D83F-642D-951DDB73AC8D}"/>
              </a:ext>
            </a:extLst>
          </p:cNvPr>
          <p:cNvSpPr/>
          <p:nvPr/>
        </p:nvSpPr>
        <p:spPr>
          <a:xfrm>
            <a:off x="822960" y="16184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A6F9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Univariate</a:t>
            </a:r>
            <a:endParaRPr lang="en-US" sz="2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9A18002-14AC-B47B-E160-A1DFDEFE6016}"/>
              </a:ext>
            </a:extLst>
          </p:cNvPr>
          <p:cNvSpPr/>
          <p:nvPr/>
        </p:nvSpPr>
        <p:spPr>
          <a:xfrm>
            <a:off x="822960" y="19568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observed variable x over time</a:t>
            </a:r>
            <a:endParaRPr lang="en-US" sz="125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9B745131-7553-8B12-36BD-5BC4FD3D1815}"/>
              </a:ext>
            </a:extLst>
          </p:cNvPr>
          <p:cNvSpPr/>
          <p:nvPr/>
        </p:nvSpPr>
        <p:spPr>
          <a:xfrm>
            <a:off x="3337560" y="165506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5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F3BBCF59-14F7-899A-2DCC-2CFABBBCCF83}"/>
              </a:ext>
            </a:extLst>
          </p:cNvPr>
          <p:cNvSpPr/>
          <p:nvPr/>
        </p:nvSpPr>
        <p:spPr>
          <a:xfrm>
            <a:off x="3310128" y="1993392"/>
            <a:ext cx="7159752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F21F1AD6-AAC8-18EF-46F7-4D4FDA31C583}"/>
              </a:ext>
            </a:extLst>
          </p:cNvPr>
          <p:cNvSpPr/>
          <p:nvPr/>
        </p:nvSpPr>
        <p:spPr>
          <a:xfrm>
            <a:off x="35570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x₁</a:t>
            </a:r>
            <a:endParaRPr lang="en-US" sz="132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265E33B4-6173-430A-9A72-6D4E3CFB15A2}"/>
              </a:ext>
            </a:extLst>
          </p:cNvPr>
          <p:cNvSpPr/>
          <p:nvPr/>
        </p:nvSpPr>
        <p:spPr>
          <a:xfrm>
            <a:off x="49286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x₂</a:t>
            </a:r>
            <a:endParaRPr lang="en-US" sz="132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389B2498-E355-3F89-A290-53EB53A5CBB1}"/>
              </a:ext>
            </a:extLst>
          </p:cNvPr>
          <p:cNvSpPr/>
          <p:nvPr/>
        </p:nvSpPr>
        <p:spPr>
          <a:xfrm>
            <a:off x="63002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x₃</a:t>
            </a:r>
            <a:endParaRPr lang="en-US" sz="132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DB196115-8EDA-8939-B265-1C01F88C15CD}"/>
              </a:ext>
            </a:extLst>
          </p:cNvPr>
          <p:cNvSpPr/>
          <p:nvPr/>
        </p:nvSpPr>
        <p:spPr>
          <a:xfrm>
            <a:off x="76718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x₄</a:t>
            </a:r>
            <a:endParaRPr lang="en-US" sz="132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98EA021E-01B5-8FEF-AD33-840FC0EA3F08}"/>
              </a:ext>
            </a:extLst>
          </p:cNvPr>
          <p:cNvSpPr/>
          <p:nvPr/>
        </p:nvSpPr>
        <p:spPr>
          <a:xfrm>
            <a:off x="9043416" y="187452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x₅</a:t>
            </a:r>
            <a:endParaRPr lang="en-US" sz="1320" dirty="0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767F5577-3E98-E7C2-224F-24AAA4E2FDC8}"/>
              </a:ext>
            </a:extLst>
          </p:cNvPr>
          <p:cNvSpPr/>
          <p:nvPr/>
        </p:nvSpPr>
        <p:spPr>
          <a:xfrm>
            <a:off x="38313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9BB8EA6A-8F99-0AA2-9578-7C903739E245}"/>
              </a:ext>
            </a:extLst>
          </p:cNvPr>
          <p:cNvSpPr/>
          <p:nvPr/>
        </p:nvSpPr>
        <p:spPr>
          <a:xfrm>
            <a:off x="52029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3DEA0047-4807-B0CD-F576-28D70AB9037D}"/>
              </a:ext>
            </a:extLst>
          </p:cNvPr>
          <p:cNvSpPr/>
          <p:nvPr/>
        </p:nvSpPr>
        <p:spPr>
          <a:xfrm>
            <a:off x="65745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14">
            <a:extLst>
              <a:ext uri="{FF2B5EF4-FFF2-40B4-BE49-F238E27FC236}">
                <a16:creationId xmlns:a16="http://schemas.microsoft.com/office/drawing/2014/main" id="{6F69EBAA-432D-E094-4E13-942C3F586D86}"/>
              </a:ext>
            </a:extLst>
          </p:cNvPr>
          <p:cNvSpPr/>
          <p:nvPr/>
        </p:nvSpPr>
        <p:spPr>
          <a:xfrm>
            <a:off x="7946136" y="2395728"/>
            <a:ext cx="1115568" cy="0"/>
          </a:xfrm>
          <a:prstGeom prst="line">
            <a:avLst/>
          </a:prstGeom>
          <a:noFill/>
          <a:ln w="29210">
            <a:solidFill>
              <a:srgbClr val="2A6F9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13318430-EF90-B3E3-8BC2-29059397DB05}"/>
              </a:ext>
            </a:extLst>
          </p:cNvPr>
          <p:cNvSpPr/>
          <p:nvPr/>
        </p:nvSpPr>
        <p:spPr>
          <a:xfrm>
            <a:off x="35981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7AD2CBCD-FD34-4E28-28C6-A618C040F4A0}"/>
              </a:ext>
            </a:extLst>
          </p:cNvPr>
          <p:cNvSpPr/>
          <p:nvPr/>
        </p:nvSpPr>
        <p:spPr>
          <a:xfrm>
            <a:off x="49697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7FA6AE51-8D58-0E72-8554-AC29D7B271D7}"/>
              </a:ext>
            </a:extLst>
          </p:cNvPr>
          <p:cNvSpPr/>
          <p:nvPr/>
        </p:nvSpPr>
        <p:spPr>
          <a:xfrm>
            <a:off x="63413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C464F205-9326-5860-B2D6-5BA82D5941D0}"/>
              </a:ext>
            </a:extLst>
          </p:cNvPr>
          <p:cNvSpPr/>
          <p:nvPr/>
        </p:nvSpPr>
        <p:spPr>
          <a:xfrm>
            <a:off x="77129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3DC44785-6BC5-7150-380F-D8E09A4B431B}"/>
              </a:ext>
            </a:extLst>
          </p:cNvPr>
          <p:cNvSpPr/>
          <p:nvPr/>
        </p:nvSpPr>
        <p:spPr>
          <a:xfrm>
            <a:off x="9084564" y="2290572"/>
            <a:ext cx="210312" cy="210312"/>
          </a:xfrm>
          <a:prstGeom prst="ellipse">
            <a:avLst/>
          </a:prstGeom>
          <a:solidFill>
            <a:srgbClr val="2A6F9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107E94F5-32D0-05CE-A76D-3415012C84B6}"/>
              </a:ext>
            </a:extLst>
          </p:cNvPr>
          <p:cNvSpPr/>
          <p:nvPr/>
        </p:nvSpPr>
        <p:spPr>
          <a:xfrm>
            <a:off x="3749040" y="26791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</a:t>
            </a:r>
            <a:endParaRPr lang="en-US" sz="1150" dirty="0"/>
          </a:p>
        </p:txBody>
      </p:sp>
      <p:sp>
        <p:nvSpPr>
          <p:cNvPr id="48" name="Shape 21">
            <a:extLst>
              <a:ext uri="{FF2B5EF4-FFF2-40B4-BE49-F238E27FC236}">
                <a16:creationId xmlns:a16="http://schemas.microsoft.com/office/drawing/2014/main" id="{154861D1-CEFD-A2EA-224E-E3C5CF14B82E}"/>
              </a:ext>
            </a:extLst>
          </p:cNvPr>
          <p:cNvSpPr/>
          <p:nvPr/>
        </p:nvSpPr>
        <p:spPr>
          <a:xfrm>
            <a:off x="3639312" y="2651760"/>
            <a:ext cx="5445252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B0AA50E4-08A3-D827-1C12-F3DD66BE6DEE}"/>
              </a:ext>
            </a:extLst>
          </p:cNvPr>
          <p:cNvSpPr/>
          <p:nvPr/>
        </p:nvSpPr>
        <p:spPr>
          <a:xfrm>
            <a:off x="822960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46A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Multivariate</a:t>
            </a:r>
            <a:endParaRPr lang="en-US" sz="20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C1B0CAC6-C005-1CDD-1A09-430851360E43}"/>
              </a:ext>
            </a:extLst>
          </p:cNvPr>
          <p:cNvSpPr/>
          <p:nvPr/>
        </p:nvSpPr>
        <p:spPr>
          <a:xfrm>
            <a:off x="822960" y="40142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variables measured at the same time instants</a:t>
            </a:r>
            <a:endParaRPr lang="en-US" sz="125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D2A4AF94-9D19-9DEC-FBAF-52420288ABCE}"/>
              </a:ext>
            </a:extLst>
          </p:cNvPr>
          <p:cNvSpPr/>
          <p:nvPr/>
        </p:nvSpPr>
        <p:spPr>
          <a:xfrm>
            <a:off x="3867912" y="371246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50" dirty="0"/>
          </a:p>
        </p:txBody>
      </p:sp>
      <p:sp>
        <p:nvSpPr>
          <p:cNvPr id="56" name="Shape 25">
            <a:extLst>
              <a:ext uri="{FF2B5EF4-FFF2-40B4-BE49-F238E27FC236}">
                <a16:creationId xmlns:a16="http://schemas.microsoft.com/office/drawing/2014/main" id="{80238F4B-2E5D-F0E6-1CB8-97FA6DF950C0}"/>
              </a:ext>
            </a:extLst>
          </p:cNvPr>
          <p:cNvSpPr/>
          <p:nvPr/>
        </p:nvSpPr>
        <p:spPr>
          <a:xfrm>
            <a:off x="3840480" y="4050792"/>
            <a:ext cx="662940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26">
            <a:extLst>
              <a:ext uri="{FF2B5EF4-FFF2-40B4-BE49-F238E27FC236}">
                <a16:creationId xmlns:a16="http://schemas.microsoft.com/office/drawing/2014/main" id="{FABFFDBC-33D2-DA8F-D706-627B747E2E94}"/>
              </a:ext>
            </a:extLst>
          </p:cNvPr>
          <p:cNvSpPr/>
          <p:nvPr/>
        </p:nvSpPr>
        <p:spPr>
          <a:xfrm>
            <a:off x="460857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t₁</a:t>
            </a:r>
            <a:endParaRPr lang="en-US" sz="1320" dirty="0"/>
          </a:p>
        </p:txBody>
      </p:sp>
      <p:sp>
        <p:nvSpPr>
          <p:cNvPr id="60" name="Shape 27">
            <a:extLst>
              <a:ext uri="{FF2B5EF4-FFF2-40B4-BE49-F238E27FC236}">
                <a16:creationId xmlns:a16="http://schemas.microsoft.com/office/drawing/2014/main" id="{D686F943-8C57-CACA-9488-8DB97E37BAFD}"/>
              </a:ext>
            </a:extLst>
          </p:cNvPr>
          <p:cNvSpPr/>
          <p:nvPr/>
        </p:nvSpPr>
        <p:spPr>
          <a:xfrm>
            <a:off x="475488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28">
            <a:extLst>
              <a:ext uri="{FF2B5EF4-FFF2-40B4-BE49-F238E27FC236}">
                <a16:creationId xmlns:a16="http://schemas.microsoft.com/office/drawing/2014/main" id="{D880976C-A544-4980-02E1-0A10E2B0BA8C}"/>
              </a:ext>
            </a:extLst>
          </p:cNvPr>
          <p:cNvSpPr/>
          <p:nvPr/>
        </p:nvSpPr>
        <p:spPr>
          <a:xfrm>
            <a:off x="675741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t₂</a:t>
            </a:r>
            <a:endParaRPr lang="en-US" sz="1320" dirty="0"/>
          </a:p>
        </p:txBody>
      </p:sp>
      <p:sp>
        <p:nvSpPr>
          <p:cNvPr id="64" name="Shape 29">
            <a:extLst>
              <a:ext uri="{FF2B5EF4-FFF2-40B4-BE49-F238E27FC236}">
                <a16:creationId xmlns:a16="http://schemas.microsoft.com/office/drawing/2014/main" id="{B8460F09-4B27-49B2-202B-A4EC6F9095C2}"/>
              </a:ext>
            </a:extLst>
          </p:cNvPr>
          <p:cNvSpPr/>
          <p:nvPr/>
        </p:nvSpPr>
        <p:spPr>
          <a:xfrm>
            <a:off x="690372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30">
            <a:extLst>
              <a:ext uri="{FF2B5EF4-FFF2-40B4-BE49-F238E27FC236}">
                <a16:creationId xmlns:a16="http://schemas.microsoft.com/office/drawing/2014/main" id="{56FAA6D1-900A-C94E-204F-C0150526EAF5}"/>
              </a:ext>
            </a:extLst>
          </p:cNvPr>
          <p:cNvSpPr/>
          <p:nvPr/>
        </p:nvSpPr>
        <p:spPr>
          <a:xfrm>
            <a:off x="8906256" y="391363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t₃</a:t>
            </a:r>
            <a:endParaRPr lang="en-US" sz="132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8B9399BD-25BF-C599-166E-DC1ED5742884}"/>
              </a:ext>
            </a:extLst>
          </p:cNvPr>
          <p:cNvSpPr/>
          <p:nvPr/>
        </p:nvSpPr>
        <p:spPr>
          <a:xfrm>
            <a:off x="9052560" y="4251960"/>
            <a:ext cx="0" cy="1545336"/>
          </a:xfrm>
          <a:prstGeom prst="line">
            <a:avLst/>
          </a:prstGeom>
          <a:noFill/>
          <a:ln w="12700">
            <a:solidFill>
              <a:srgbClr val="D7EAF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32">
            <a:extLst>
              <a:ext uri="{FF2B5EF4-FFF2-40B4-BE49-F238E27FC236}">
                <a16:creationId xmlns:a16="http://schemas.microsoft.com/office/drawing/2014/main" id="{22E1E081-C30B-CD33-3606-8EDFFC7DE54E}"/>
              </a:ext>
            </a:extLst>
          </p:cNvPr>
          <p:cNvSpPr/>
          <p:nvPr/>
        </p:nvSpPr>
        <p:spPr>
          <a:xfrm>
            <a:off x="1371600" y="437997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320" dirty="0"/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AC193F8B-3AA8-5ED9-BE88-BB8478743DE1}"/>
              </a:ext>
            </a:extLst>
          </p:cNvPr>
          <p:cNvSpPr/>
          <p:nvPr/>
        </p:nvSpPr>
        <p:spPr>
          <a:xfrm>
            <a:off x="4882896" y="4498848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34">
            <a:extLst>
              <a:ext uri="{FF2B5EF4-FFF2-40B4-BE49-F238E27FC236}">
                <a16:creationId xmlns:a16="http://schemas.microsoft.com/office/drawing/2014/main" id="{79A8B357-591B-CEA6-139C-5B4881F59703}"/>
              </a:ext>
            </a:extLst>
          </p:cNvPr>
          <p:cNvSpPr/>
          <p:nvPr/>
        </p:nvSpPr>
        <p:spPr>
          <a:xfrm>
            <a:off x="7031736" y="4498848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35">
            <a:extLst>
              <a:ext uri="{FF2B5EF4-FFF2-40B4-BE49-F238E27FC236}">
                <a16:creationId xmlns:a16="http://schemas.microsoft.com/office/drawing/2014/main" id="{15CBA591-9491-58FE-569F-C30653926718}"/>
              </a:ext>
            </a:extLst>
          </p:cNvPr>
          <p:cNvSpPr/>
          <p:nvPr/>
        </p:nvSpPr>
        <p:spPr>
          <a:xfrm>
            <a:off x="464972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36">
            <a:extLst>
              <a:ext uri="{FF2B5EF4-FFF2-40B4-BE49-F238E27FC236}">
                <a16:creationId xmlns:a16="http://schemas.microsoft.com/office/drawing/2014/main" id="{654B5AC5-78AA-D650-73ED-A19604660350}"/>
              </a:ext>
            </a:extLst>
          </p:cNvPr>
          <p:cNvSpPr/>
          <p:nvPr/>
        </p:nvSpPr>
        <p:spPr>
          <a:xfrm>
            <a:off x="679856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37">
            <a:extLst>
              <a:ext uri="{FF2B5EF4-FFF2-40B4-BE49-F238E27FC236}">
                <a16:creationId xmlns:a16="http://schemas.microsoft.com/office/drawing/2014/main" id="{18BDAD19-E735-8BEF-D1AF-4C3F91317F0A}"/>
              </a:ext>
            </a:extLst>
          </p:cNvPr>
          <p:cNvSpPr/>
          <p:nvPr/>
        </p:nvSpPr>
        <p:spPr>
          <a:xfrm>
            <a:off x="8947404" y="4393692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38">
            <a:extLst>
              <a:ext uri="{FF2B5EF4-FFF2-40B4-BE49-F238E27FC236}">
                <a16:creationId xmlns:a16="http://schemas.microsoft.com/office/drawing/2014/main" id="{AA5C69A5-4CCC-6198-9BFC-86F9315F4EF8}"/>
              </a:ext>
            </a:extLst>
          </p:cNvPr>
          <p:cNvSpPr/>
          <p:nvPr/>
        </p:nvSpPr>
        <p:spPr>
          <a:xfrm>
            <a:off x="1371600" y="494690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320" dirty="0"/>
          </a:p>
        </p:txBody>
      </p:sp>
      <p:sp>
        <p:nvSpPr>
          <p:cNvPr id="84" name="Shape 39">
            <a:extLst>
              <a:ext uri="{FF2B5EF4-FFF2-40B4-BE49-F238E27FC236}">
                <a16:creationId xmlns:a16="http://schemas.microsoft.com/office/drawing/2014/main" id="{46502BFC-80D9-4009-E0AC-ABAB5252E75F}"/>
              </a:ext>
            </a:extLst>
          </p:cNvPr>
          <p:cNvSpPr/>
          <p:nvPr/>
        </p:nvSpPr>
        <p:spPr>
          <a:xfrm>
            <a:off x="4882896" y="5065776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40">
            <a:extLst>
              <a:ext uri="{FF2B5EF4-FFF2-40B4-BE49-F238E27FC236}">
                <a16:creationId xmlns:a16="http://schemas.microsoft.com/office/drawing/2014/main" id="{034295A8-CB82-B82E-EC9D-B7DD4D3F2AC3}"/>
              </a:ext>
            </a:extLst>
          </p:cNvPr>
          <p:cNvSpPr/>
          <p:nvPr/>
        </p:nvSpPr>
        <p:spPr>
          <a:xfrm>
            <a:off x="7031736" y="5065776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41">
            <a:extLst>
              <a:ext uri="{FF2B5EF4-FFF2-40B4-BE49-F238E27FC236}">
                <a16:creationId xmlns:a16="http://schemas.microsoft.com/office/drawing/2014/main" id="{0E82C87B-E05F-76B9-F14A-4BD990E04E27}"/>
              </a:ext>
            </a:extLst>
          </p:cNvPr>
          <p:cNvSpPr/>
          <p:nvPr/>
        </p:nvSpPr>
        <p:spPr>
          <a:xfrm>
            <a:off x="464972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42">
            <a:extLst>
              <a:ext uri="{FF2B5EF4-FFF2-40B4-BE49-F238E27FC236}">
                <a16:creationId xmlns:a16="http://schemas.microsoft.com/office/drawing/2014/main" id="{9EE5A349-5B9D-F65E-0345-A6133F55370F}"/>
              </a:ext>
            </a:extLst>
          </p:cNvPr>
          <p:cNvSpPr/>
          <p:nvPr/>
        </p:nvSpPr>
        <p:spPr>
          <a:xfrm>
            <a:off x="679856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43">
            <a:extLst>
              <a:ext uri="{FF2B5EF4-FFF2-40B4-BE49-F238E27FC236}">
                <a16:creationId xmlns:a16="http://schemas.microsoft.com/office/drawing/2014/main" id="{1F814205-361F-241F-98C3-B59114014091}"/>
              </a:ext>
            </a:extLst>
          </p:cNvPr>
          <p:cNvSpPr/>
          <p:nvPr/>
        </p:nvSpPr>
        <p:spPr>
          <a:xfrm>
            <a:off x="8947404" y="4960620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Text 44">
            <a:extLst>
              <a:ext uri="{FF2B5EF4-FFF2-40B4-BE49-F238E27FC236}">
                <a16:creationId xmlns:a16="http://schemas.microsoft.com/office/drawing/2014/main" id="{F6D2DD0A-6CBD-B1B4-1FE6-1E66D54541B4}"/>
              </a:ext>
            </a:extLst>
          </p:cNvPr>
          <p:cNvSpPr/>
          <p:nvPr/>
        </p:nvSpPr>
        <p:spPr>
          <a:xfrm>
            <a:off x="1371600" y="55138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320" dirty="0"/>
          </a:p>
        </p:txBody>
      </p:sp>
      <p:sp>
        <p:nvSpPr>
          <p:cNvPr id="96" name="Shape 45">
            <a:extLst>
              <a:ext uri="{FF2B5EF4-FFF2-40B4-BE49-F238E27FC236}">
                <a16:creationId xmlns:a16="http://schemas.microsoft.com/office/drawing/2014/main" id="{F4502FE2-0202-3035-ED64-96285E71F376}"/>
              </a:ext>
            </a:extLst>
          </p:cNvPr>
          <p:cNvSpPr/>
          <p:nvPr/>
        </p:nvSpPr>
        <p:spPr>
          <a:xfrm>
            <a:off x="4882896" y="5632704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46">
            <a:extLst>
              <a:ext uri="{FF2B5EF4-FFF2-40B4-BE49-F238E27FC236}">
                <a16:creationId xmlns:a16="http://schemas.microsoft.com/office/drawing/2014/main" id="{839A7E74-0A28-EDF3-8421-B2B751427514}"/>
              </a:ext>
            </a:extLst>
          </p:cNvPr>
          <p:cNvSpPr/>
          <p:nvPr/>
        </p:nvSpPr>
        <p:spPr>
          <a:xfrm>
            <a:off x="7031736" y="5632704"/>
            <a:ext cx="1892808" cy="0"/>
          </a:xfrm>
          <a:prstGeom prst="line">
            <a:avLst/>
          </a:prstGeom>
          <a:noFill/>
          <a:ln w="29210">
            <a:solidFill>
              <a:srgbClr val="D46A6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47">
            <a:extLst>
              <a:ext uri="{FF2B5EF4-FFF2-40B4-BE49-F238E27FC236}">
                <a16:creationId xmlns:a16="http://schemas.microsoft.com/office/drawing/2014/main" id="{3972215B-D2A8-2C06-19BB-88ACEEF0B35A}"/>
              </a:ext>
            </a:extLst>
          </p:cNvPr>
          <p:cNvSpPr/>
          <p:nvPr/>
        </p:nvSpPr>
        <p:spPr>
          <a:xfrm>
            <a:off x="464972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48">
            <a:extLst>
              <a:ext uri="{FF2B5EF4-FFF2-40B4-BE49-F238E27FC236}">
                <a16:creationId xmlns:a16="http://schemas.microsoft.com/office/drawing/2014/main" id="{0BCE0C4D-7055-8D05-6F09-8DEDFF39885B}"/>
              </a:ext>
            </a:extLst>
          </p:cNvPr>
          <p:cNvSpPr/>
          <p:nvPr/>
        </p:nvSpPr>
        <p:spPr>
          <a:xfrm>
            <a:off x="679856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49">
            <a:extLst>
              <a:ext uri="{FF2B5EF4-FFF2-40B4-BE49-F238E27FC236}">
                <a16:creationId xmlns:a16="http://schemas.microsoft.com/office/drawing/2014/main" id="{2C3A08AE-1B5F-A959-94A8-9C44053CFDB9}"/>
              </a:ext>
            </a:extLst>
          </p:cNvPr>
          <p:cNvSpPr/>
          <p:nvPr/>
        </p:nvSpPr>
        <p:spPr>
          <a:xfrm>
            <a:off x="8947404" y="5527548"/>
            <a:ext cx="210312" cy="210312"/>
          </a:xfrm>
          <a:prstGeom prst="ellipse">
            <a:avLst/>
          </a:prstGeom>
          <a:solidFill>
            <a:srgbClr val="D46A6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50">
            <a:extLst>
              <a:ext uri="{FF2B5EF4-FFF2-40B4-BE49-F238E27FC236}">
                <a16:creationId xmlns:a16="http://schemas.microsoft.com/office/drawing/2014/main" id="{DE695B0F-0DCC-34B2-BAEB-3275555315FE}"/>
              </a:ext>
            </a:extLst>
          </p:cNvPr>
          <p:cNvSpPr/>
          <p:nvPr/>
        </p:nvSpPr>
        <p:spPr>
          <a:xfrm>
            <a:off x="9646920" y="5065776"/>
            <a:ext cx="1078992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8" name="Text 51">
            <a:extLst>
              <a:ext uri="{FF2B5EF4-FFF2-40B4-BE49-F238E27FC236}">
                <a16:creationId xmlns:a16="http://schemas.microsoft.com/office/drawing/2014/main" id="{ACCED767-A2F5-5D1F-53E3-45E447141434}"/>
              </a:ext>
            </a:extLst>
          </p:cNvPr>
          <p:cNvSpPr/>
          <p:nvPr/>
        </p:nvSpPr>
        <p:spPr>
          <a:xfrm>
            <a:off x="10835640" y="478231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240" dirty="0">
                <a:solidFill>
                  <a:srgbClr val="222222"/>
                </a:solidFill>
                <a:latin typeface="Aptos" pitchFamily="34" charset="0"/>
              </a:rPr>
              <a:t>Predict/ estimate a target</a:t>
            </a:r>
          </a:p>
        </p:txBody>
      </p:sp>
      <p:sp>
        <p:nvSpPr>
          <p:cNvPr id="110" name="Text 52">
            <a:extLst>
              <a:ext uri="{FF2B5EF4-FFF2-40B4-BE49-F238E27FC236}">
                <a16:creationId xmlns:a16="http://schemas.microsoft.com/office/drawing/2014/main" id="{B58D5B92-6D58-89F6-BA22-0EE4A7492AD9}"/>
              </a:ext>
            </a:extLst>
          </p:cNvPr>
          <p:cNvSpPr/>
          <p:nvPr/>
        </p:nvSpPr>
        <p:spPr>
          <a:xfrm>
            <a:off x="676656" y="643737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multivariate prediction, the input at each time step is a vector, e.g. [temperature, pressure, flow rate], not a single scalar.</a:t>
            </a:r>
            <a:endParaRPr lang="en-US" sz="1250" dirty="0"/>
          </a:p>
        </p:txBody>
      </p:sp>
      <p:sp>
        <p:nvSpPr>
          <p:cNvPr id="112" name="Shape 50">
            <a:extLst>
              <a:ext uri="{FF2B5EF4-FFF2-40B4-BE49-F238E27FC236}">
                <a16:creationId xmlns:a16="http://schemas.microsoft.com/office/drawing/2014/main" id="{692F910D-3186-5149-E9C4-DA86235E3934}"/>
              </a:ext>
            </a:extLst>
          </p:cNvPr>
          <p:cNvSpPr/>
          <p:nvPr/>
        </p:nvSpPr>
        <p:spPr>
          <a:xfrm>
            <a:off x="9537192" y="2679193"/>
            <a:ext cx="1078992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4" name="Text 51">
            <a:extLst>
              <a:ext uri="{FF2B5EF4-FFF2-40B4-BE49-F238E27FC236}">
                <a16:creationId xmlns:a16="http://schemas.microsoft.com/office/drawing/2014/main" id="{11EF11B5-0F40-6D0C-6C44-7BCF5BBD7D82}"/>
              </a:ext>
            </a:extLst>
          </p:cNvPr>
          <p:cNvSpPr/>
          <p:nvPr/>
        </p:nvSpPr>
        <p:spPr>
          <a:xfrm>
            <a:off x="10725912" y="2395729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222222"/>
                </a:solidFill>
                <a:latin typeface="Aptos" pitchFamily="34" charset="0"/>
              </a:rPr>
              <a:t>Predict/ estimate a target</a:t>
            </a:r>
          </a:p>
        </p:txBody>
      </p:sp>
    </p:spTree>
    <p:extLst>
      <p:ext uri="{BB962C8B-B14F-4D97-AF65-F5344CB8AC3E}">
        <p14:creationId xmlns:p14="http://schemas.microsoft.com/office/powerpoint/2010/main" val="371736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B3441F96-C0FE-9397-764C-CD7BECD03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Channels, variables and features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57E4833-5A7A-1A1C-A9E4-3C172894B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terms </a:t>
            </a:r>
            <a:r>
              <a:rPr lang="en-GB" b="1" dirty="0"/>
              <a:t>variable</a:t>
            </a:r>
            <a:r>
              <a:rPr lang="en-GB" dirty="0"/>
              <a:t>, </a:t>
            </a:r>
            <a:r>
              <a:rPr lang="en-GB" b="1" dirty="0"/>
              <a:t>feature</a:t>
            </a:r>
            <a:r>
              <a:rPr lang="en-GB" dirty="0"/>
              <a:t> and </a:t>
            </a:r>
            <a:r>
              <a:rPr lang="en-GB" b="1" dirty="0"/>
              <a:t>channel</a:t>
            </a:r>
            <a:r>
              <a:rPr lang="en-GB" dirty="0"/>
              <a:t> are often used with slightly different meanings.</a:t>
            </a:r>
          </a:p>
          <a:p>
            <a:r>
              <a:rPr lang="en-GB" b="1" dirty="0"/>
              <a:t>Variable: a</a:t>
            </a:r>
            <a:r>
              <a:rPr lang="en-GB" dirty="0"/>
              <a:t> quantity observed over time.</a:t>
            </a:r>
          </a:p>
          <a:p>
            <a:pPr lvl="1"/>
            <a:r>
              <a:rPr lang="en-GB" dirty="0"/>
              <a:t>Examples: temperature; pressure; sales; acceleration.</a:t>
            </a:r>
          </a:p>
          <a:p>
            <a:r>
              <a:rPr lang="en-GB" b="1" dirty="0"/>
              <a:t>Channel: </a:t>
            </a:r>
            <a:r>
              <a:rPr lang="en-GB" dirty="0"/>
              <a:t>a measurement stream, often associated with: one sensor; one spatial axis; one acquisition location; one frequency band.</a:t>
            </a:r>
          </a:p>
          <a:p>
            <a:pPr lvl="1"/>
            <a:r>
              <a:rPr lang="en-GB" b="1" dirty="0"/>
              <a:t>Examples:</a:t>
            </a:r>
            <a:r>
              <a:rPr lang="en-GB" dirty="0"/>
              <a:t> x-, y- and z-axis acceleration; vibration measured at three machine locations; red, infrared and thermal measurements.</a:t>
            </a:r>
          </a:p>
          <a:p>
            <a:r>
              <a:rPr lang="en-GB" b="1" dirty="0"/>
              <a:t>Feature: a</a:t>
            </a:r>
            <a:r>
              <a:rPr lang="en-GB" dirty="0"/>
              <a:t> model input that may be: </a:t>
            </a:r>
          </a:p>
          <a:p>
            <a:pPr lvl="1"/>
            <a:r>
              <a:rPr lang="en-GB" dirty="0"/>
              <a:t>directly measured; derived from one or more measurements; static; time-varying.</a:t>
            </a:r>
          </a:p>
          <a:p>
            <a:pPr lvl="1"/>
            <a:r>
              <a:rPr lang="en-GB" dirty="0"/>
              <a:t>Examples: raw temperature; temperature difference; seven-day moving average; day of the week; machine type.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12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FD8102-A311-6B73-498C-B688FBA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Derived features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1B37F0-2A7C-B288-2F49-8E1EE3146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Suppose that temperature </a:t>
            </a:r>
            <a:r>
              <a:rPr lang="en-GB" b="1" dirty="0"/>
              <a:t>Tₜ</a:t>
            </a:r>
            <a:r>
              <a:rPr lang="en-GB" dirty="0"/>
              <a:t> is measured directly. Possible derived features include:</a:t>
            </a:r>
          </a:p>
          <a:p>
            <a:pPr lvl="1"/>
            <a:r>
              <a:rPr lang="en-GB" b="1" dirty="0"/>
              <a:t>difference:</a:t>
            </a:r>
            <a:r>
              <a:rPr lang="en-GB" dirty="0"/>
              <a:t> Tₜ − Tₜ₋₁</a:t>
            </a:r>
          </a:p>
          <a:p>
            <a:pPr lvl="1"/>
            <a:r>
              <a:rPr lang="en-GB" b="1" dirty="0"/>
              <a:t>rolling mean:</a:t>
            </a:r>
            <a:r>
              <a:rPr lang="en-GB" dirty="0"/>
              <a:t> average of the last L values</a:t>
            </a:r>
          </a:p>
          <a:p>
            <a:pPr lvl="1"/>
            <a:r>
              <a:rPr lang="en-GB" b="1" dirty="0"/>
              <a:t>rolling variability:</a:t>
            </a:r>
            <a:r>
              <a:rPr lang="en-GB" dirty="0"/>
              <a:t> standard deviation of the last L values</a:t>
            </a:r>
          </a:p>
          <a:p>
            <a:pPr lvl="1"/>
            <a:r>
              <a:rPr lang="en-GB" b="1" dirty="0"/>
              <a:t>local slope:</a:t>
            </a:r>
            <a:r>
              <a:rPr lang="en-GB" dirty="0"/>
              <a:t> estimated change over a recent interval</a:t>
            </a:r>
          </a:p>
          <a:p>
            <a:r>
              <a:rPr lang="en-GB" dirty="0"/>
              <a:t>Of course, derived features must use only information available at prediction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2145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4476" y="2121408"/>
            <a:ext cx="0" cy="466344"/>
          </a:xfrm>
          <a:prstGeom prst="line">
            <a:avLst/>
          </a:prstGeom>
          <a:noFill/>
          <a:ln w="25400">
            <a:solidFill>
              <a:srgbClr val="5B667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094476" y="4087368"/>
            <a:ext cx="0" cy="466344"/>
          </a:xfrm>
          <a:prstGeom prst="line">
            <a:avLst/>
          </a:prstGeom>
          <a:noFill/>
          <a:ln w="25400">
            <a:solidFill>
              <a:srgbClr val="5B667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85800" y="310896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Time-series prediction: from raw channels to model features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3000" y="80467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timestamp contains multiple measured variables; transformations turn them into supervised-learning inputs.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51560" y="1298448"/>
            <a:ext cx="10085832" cy="822960"/>
          </a:xfrm>
          <a:prstGeom prst="roundRect">
            <a:avLst>
              <a:gd name="adj" fmla="val 8889"/>
            </a:avLst>
          </a:prstGeom>
          <a:solidFill>
            <a:srgbClr val="E8F1FB"/>
          </a:solidFill>
          <a:ln w="15875">
            <a:solidFill>
              <a:srgbClr val="A7BDD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89888" y="1426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channels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682496"/>
            <a:ext cx="2770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temperature, pressure, flow (of a gas inlet)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60520" y="1335024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276088" y="1389888"/>
            <a:ext cx="4325112" cy="0"/>
          </a:xfrm>
          <a:prstGeom prst="line">
            <a:avLst/>
          </a:prstGeom>
          <a:noFill/>
          <a:ln w="228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221224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300216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379208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58200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537192" y="1339596"/>
            <a:ext cx="100584" cy="100584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160520" y="1554480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76088" y="1609344"/>
            <a:ext cx="4325112" cy="0"/>
          </a:xfrm>
          <a:prstGeom prst="line">
            <a:avLst/>
          </a:prstGeom>
          <a:noFill/>
          <a:ln w="2286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221224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300216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79208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458200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9537192" y="1559052"/>
            <a:ext cx="100584" cy="100584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160520" y="1773936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276088" y="1828800"/>
            <a:ext cx="4325112" cy="0"/>
          </a:xfrm>
          <a:prstGeom prst="line">
            <a:avLst/>
          </a:prstGeom>
          <a:noFill/>
          <a:ln w="2286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221224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300216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379208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458200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537192" y="1778508"/>
            <a:ext cx="100584" cy="100584"/>
          </a:xfrm>
          <a:prstGeom prst="ellipse">
            <a:avLst/>
          </a:prstGeom>
          <a:solidFill>
            <a:srgbClr val="009E8E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33545" y="1883664"/>
            <a:ext cx="535228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 →     t-4                                t-3                                  t-2                                   t-1                                   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51560" y="2587752"/>
            <a:ext cx="10085832" cy="1499616"/>
          </a:xfrm>
          <a:prstGeom prst="roundRect">
            <a:avLst>
              <a:gd name="adj" fmla="val 4878"/>
            </a:avLst>
          </a:prstGeom>
          <a:solidFill>
            <a:srgbClr val="E7F6F4"/>
          </a:solidFill>
          <a:ln w="15875">
            <a:solidFill>
              <a:srgbClr val="96CBC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428232" y="355193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Derived features through </a:t>
            </a:r>
            <a:r>
              <a:rPr lang="en-US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emporal transformations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26280" y="2779776"/>
            <a:ext cx="1078992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251960" y="3200400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x(t), x(t-1), x(t-2), …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5989320" y="2779776"/>
            <a:ext cx="141732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differences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07608" y="32004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x(t) − x(t-1)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7818120" y="2779776"/>
            <a:ext cx="1993392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C9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statistics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598664" y="3200400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mean, min, max over last k steps</a:t>
            </a:r>
            <a:endParaRPr lang="en-US" sz="1220" dirty="0"/>
          </a:p>
        </p:txBody>
      </p:sp>
      <p:sp>
        <p:nvSpPr>
          <p:cNvPr id="42" name="Shape 40"/>
          <p:cNvSpPr/>
          <p:nvPr/>
        </p:nvSpPr>
        <p:spPr>
          <a:xfrm>
            <a:off x="1051560" y="4553712"/>
            <a:ext cx="10085832" cy="1298448"/>
          </a:xfrm>
          <a:prstGeom prst="roundRect">
            <a:avLst>
              <a:gd name="adj" fmla="val 5634"/>
            </a:avLst>
          </a:prstGeom>
          <a:solidFill>
            <a:srgbClr val="EEF7EA"/>
          </a:solidFill>
          <a:ln w="15875">
            <a:solidFill>
              <a:srgbClr val="A8C99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1389888" y="47365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4C9A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features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89888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row per prediction time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794760" y="4754880"/>
            <a:ext cx="658368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4453128" y="4754880"/>
            <a:ext cx="1024128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temp(t)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5477256" y="4754880"/>
            <a:ext cx="10058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temp(t-1)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6483096" y="4754880"/>
            <a:ext cx="10058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pressure(t)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7488936" y="4754880"/>
            <a:ext cx="109728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Δflow(t)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8586216" y="4754880"/>
            <a:ext cx="1234440" cy="274320"/>
          </a:xfrm>
          <a:prstGeom prst="rect">
            <a:avLst/>
          </a:prstGeom>
          <a:solidFill>
            <a:srgbClr val="DDEDD6"/>
          </a:solidFill>
          <a:ln w="8890">
            <a:solidFill>
              <a:srgbClr val="A8C99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flow(t-2:t)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3794760" y="5029200"/>
            <a:ext cx="65836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960" dirty="0"/>
          </a:p>
        </p:txBody>
      </p:sp>
      <p:sp>
        <p:nvSpPr>
          <p:cNvPr id="52" name="Text 50"/>
          <p:cNvSpPr/>
          <p:nvPr/>
        </p:nvSpPr>
        <p:spPr>
          <a:xfrm>
            <a:off x="4453128" y="5029200"/>
            <a:ext cx="102412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5477256" y="502920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21.9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6483096" y="502920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1.04</a:t>
            </a:r>
            <a:endParaRPr lang="en-US" sz="960" dirty="0"/>
          </a:p>
        </p:txBody>
      </p:sp>
      <p:sp>
        <p:nvSpPr>
          <p:cNvPr id="55" name="Text 53"/>
          <p:cNvSpPr/>
          <p:nvPr/>
        </p:nvSpPr>
        <p:spPr>
          <a:xfrm>
            <a:off x="7488936" y="5029200"/>
            <a:ext cx="10972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586216" y="5029200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6.8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3794760" y="5303520"/>
            <a:ext cx="65836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4453128" y="5303520"/>
            <a:ext cx="1024128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22.4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477256" y="530352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</a:t>
            </a:r>
            <a:endParaRPr lang="en-US" sz="960" dirty="0"/>
          </a:p>
        </p:txBody>
      </p:sp>
      <p:sp>
        <p:nvSpPr>
          <p:cNvPr id="60" name="Text 58"/>
          <p:cNvSpPr/>
          <p:nvPr/>
        </p:nvSpPr>
        <p:spPr>
          <a:xfrm>
            <a:off x="6483096" y="5303520"/>
            <a:ext cx="10058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1.05</a:t>
            </a:r>
            <a:endParaRPr lang="en-US" sz="960" dirty="0"/>
          </a:p>
        </p:txBody>
      </p:sp>
      <p:sp>
        <p:nvSpPr>
          <p:cNvPr id="61" name="Text 59"/>
          <p:cNvSpPr/>
          <p:nvPr/>
        </p:nvSpPr>
        <p:spPr>
          <a:xfrm>
            <a:off x="7488936" y="5303520"/>
            <a:ext cx="109728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</a:t>
            </a:r>
            <a:endParaRPr lang="en-US" sz="960" dirty="0"/>
          </a:p>
        </p:txBody>
      </p:sp>
      <p:sp>
        <p:nvSpPr>
          <p:cNvPr id="62" name="Text 60"/>
          <p:cNvSpPr/>
          <p:nvPr/>
        </p:nvSpPr>
        <p:spPr>
          <a:xfrm>
            <a:off x="8586216" y="5303520"/>
            <a:ext cx="1234440" cy="274320"/>
          </a:xfrm>
          <a:prstGeom prst="rect">
            <a:avLst/>
          </a:prstGeom>
          <a:solidFill>
            <a:srgbClr val="FFFFFF"/>
          </a:solidFill>
          <a:ln w="7620">
            <a:solidFill>
              <a:srgbClr val="CAD7C3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6.9</a:t>
            </a:r>
            <a:endParaRPr lang="en-US" sz="960" dirty="0"/>
          </a:p>
        </p:txBody>
      </p:sp>
      <p:sp>
        <p:nvSpPr>
          <p:cNvPr id="63" name="Text 61"/>
          <p:cNvSpPr/>
          <p:nvPr/>
        </p:nvSpPr>
        <p:spPr>
          <a:xfrm>
            <a:off x="3547872" y="5641848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example: predict y(t+1) from channels observed up to t</a:t>
            </a:r>
            <a:endParaRPr lang="en-US" sz="1220" dirty="0"/>
          </a:p>
        </p:txBody>
      </p:sp>
      <p:sp>
        <p:nvSpPr>
          <p:cNvPr id="64" name="Text 62"/>
          <p:cNvSpPr/>
          <p:nvPr/>
        </p:nvSpPr>
        <p:spPr>
          <a:xfrm>
            <a:off x="914400" y="6327648"/>
            <a:ext cx="10360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 time series are converted into a feature vector that can combine variables and their recent temporal context.</a:t>
            </a:r>
            <a:endParaRPr lang="en-US" sz="1150" b="1" dirty="0"/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AF45EA77-A17A-9D21-EF20-4656D5C39C84}"/>
              </a:ext>
            </a:extLst>
          </p:cNvPr>
          <p:cNvSpPr txBox="1"/>
          <p:nvPr/>
        </p:nvSpPr>
        <p:spPr>
          <a:xfrm>
            <a:off x="9737095" y="2112264"/>
            <a:ext cx="22402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e.g., </a:t>
            </a:r>
            <a:r>
              <a:rPr lang="it-IT" sz="1100" dirty="0" err="1"/>
              <a:t>predict</a:t>
            </a:r>
            <a:r>
              <a:rPr lang="it-IT" sz="1100" dirty="0"/>
              <a:t> future gas pressure</a:t>
            </a:r>
            <a:endParaRPr lang="en-GB" sz="1100" dirty="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538CD98-60B2-7CBC-B290-0BD5F69D1A99}"/>
              </a:ext>
            </a:extLst>
          </p:cNvPr>
          <p:cNvSpPr/>
          <p:nvPr/>
        </p:nvSpPr>
        <p:spPr>
          <a:xfrm>
            <a:off x="4685792" y="3547872"/>
            <a:ext cx="87545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features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972C6B-F0D8-D8CC-16E8-E3064D75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 long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60A3D8-C608-71D4-D486-146DCF911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In some applications, the dataset consists of one continuous time series: </a:t>
            </a:r>
            <a:r>
              <a:rPr lang="en-GB" b="1" dirty="0"/>
              <a:t>x₁, x₂, …, xₜ</a:t>
            </a:r>
            <a:endParaRPr lang="en-GB" dirty="0"/>
          </a:p>
          <a:p>
            <a:r>
              <a:rPr lang="en-GB" dirty="0"/>
              <a:t>Examples: total national electricity demand; daily revenue of a company; production output of one plant; traffic measured at one location; environmental monitoring at one station.</a:t>
            </a:r>
          </a:p>
          <a:p>
            <a:r>
              <a:rPr lang="en-GB" dirty="0"/>
              <a:t>The series is usually divided into temporally ordered intervals:</a:t>
            </a:r>
          </a:p>
          <a:p>
            <a:r>
              <a:rPr lang="en-GB" dirty="0"/>
              <a:t>past                                  future</a:t>
            </a:r>
          </a:p>
          <a:p>
            <a:r>
              <a:rPr lang="en-GB" dirty="0"/>
              <a:t>|--------- training ---------|-- validation --|-- test --|</a:t>
            </a:r>
          </a:p>
          <a:p>
            <a:r>
              <a:rPr lang="en-GB" b="1" dirty="0"/>
              <a:t>Main characteristics</a:t>
            </a:r>
          </a:p>
          <a:p>
            <a:pPr lvl="1"/>
            <a:r>
              <a:rPr lang="en-GB" dirty="0"/>
              <a:t>observations belong to the same temporal process;</a:t>
            </a:r>
          </a:p>
          <a:p>
            <a:pPr lvl="1"/>
            <a:r>
              <a:rPr lang="en-GB" dirty="0"/>
              <a:t>neighbouring samples are strongly dependent;</a:t>
            </a:r>
          </a:p>
          <a:p>
            <a:pPr lvl="1"/>
            <a:r>
              <a:rPr lang="en-GB" dirty="0"/>
              <a:t>future periods may differ from earlier periods;</a:t>
            </a:r>
          </a:p>
          <a:p>
            <a:pPr lvl="1"/>
            <a:r>
              <a:rPr lang="en-GB" dirty="0"/>
              <a:t>random shuffling is generally inappropriate;</a:t>
            </a:r>
          </a:p>
          <a:p>
            <a:pPr lvl="1"/>
            <a:r>
              <a:rPr lang="en-GB" dirty="0"/>
              <a:t>evaluation must simulate prediction on future data.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3932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B555C6-D1F0-964E-11E6-0755CDCD9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One long time </a:t>
            </a:r>
            <a:r>
              <a:rPr lang="it-IT" dirty="0" err="1"/>
              <a:t>series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E8302D-0BC3-9125-2702-99A9189F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From the series to training samples</a:t>
            </a:r>
          </a:p>
          <a:p>
            <a:r>
              <a:rPr lang="en-GB" dirty="0"/>
              <a:t>A long series can be converted into input–target pairs.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Input:  x₁, x₂, x₃, x₄   → Target: x₅</a:t>
            </a:r>
          </a:p>
          <a:p>
            <a:pPr lvl="1"/>
            <a:r>
              <a:rPr lang="en-GB" dirty="0"/>
              <a:t>Input:  x₂, x₃, x₄, x₅   → Target: x₆</a:t>
            </a:r>
          </a:p>
          <a:p>
            <a:pPr lvl="1"/>
            <a:r>
              <a:rPr lang="en-GB" dirty="0"/>
              <a:t>Input:  x₃, x₄, x₅, x₆   → Target: x₇</a:t>
            </a:r>
          </a:p>
          <a:p>
            <a:r>
              <a:rPr lang="en-GB" dirty="0"/>
              <a:t>These samples are not independent: consecutive windows share most of their observations.</a:t>
            </a:r>
          </a:p>
          <a:p>
            <a:r>
              <a:rPr lang="en-GB" b="1" dirty="0"/>
              <a:t>Main modelling question</a:t>
            </a:r>
          </a:p>
          <a:p>
            <a:r>
              <a:rPr lang="en-GB" dirty="0"/>
              <a:t>The model is normally expected to generalize to:</a:t>
            </a:r>
          </a:p>
          <a:p>
            <a:pPr lvl="1"/>
            <a:r>
              <a:rPr lang="en-GB" dirty="0"/>
              <a:t>later periods of the same process.</a:t>
            </a:r>
          </a:p>
          <a:p>
            <a:pPr lvl="1"/>
            <a:r>
              <a:rPr lang="en-GB" dirty="0"/>
              <a:t>It is not necessarily being tested on a new machine, site or customer.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87410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927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A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Time-series split: windows are generated separately in each interval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34440" y="804672"/>
            <a:ext cx="9738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training window may cross into validation; no validation window may cross into test.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13232" y="2194560"/>
            <a:ext cx="10954512" cy="0"/>
          </a:xfrm>
          <a:prstGeom prst="line">
            <a:avLst/>
          </a:prstGeom>
          <a:noFill/>
          <a:ln w="38100">
            <a:solidFill>
              <a:srgbClr val="D4DBE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1356848" y="20391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" y="1865376"/>
            <a:ext cx="4709160" cy="658368"/>
          </a:xfrm>
          <a:prstGeom prst="rect">
            <a:avLst/>
          </a:prstGeom>
          <a:solidFill>
            <a:srgbClr val="E8F1FB"/>
          </a:solidFill>
          <a:ln w="1524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669280" y="1865376"/>
            <a:ext cx="2423160" cy="658368"/>
          </a:xfrm>
          <a:prstGeom prst="rect">
            <a:avLst/>
          </a:prstGeom>
          <a:solidFill>
            <a:srgbClr val="E7F6F4"/>
          </a:solidFill>
          <a:ln w="1524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092440" y="1865376"/>
            <a:ext cx="2880360" cy="658368"/>
          </a:xfrm>
          <a:prstGeom prst="rect">
            <a:avLst/>
          </a:prstGeom>
          <a:solidFill>
            <a:srgbClr val="FFF4E3"/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188720" y="202082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interval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model parameters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815584" y="2020824"/>
            <a:ext cx="2130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interval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897880" y="22860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model / tune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57032" y="2020824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9C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interval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366760" y="22860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unbiased estimate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6012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66928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09244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972800" y="1664208"/>
            <a:ext cx="0" cy="1170432"/>
          </a:xfrm>
          <a:prstGeom prst="line">
            <a:avLst/>
          </a:prstGeom>
          <a:noFill/>
          <a:ln w="1270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3232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0600" y="12710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/ validation boundary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87768" y="127101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/ test boundary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25912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70432" y="2843784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6FB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windows generated inside training only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334951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847886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156097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669032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77243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490178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8389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311323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4619534" y="3182112"/>
            <a:ext cx="485938" cy="256032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132469" y="3259836"/>
            <a:ext cx="12148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815584" y="2843784"/>
            <a:ext cx="2093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09E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validation only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992138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362236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637374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07473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282611" y="3182112"/>
            <a:ext cx="350619" cy="256032"/>
          </a:xfrm>
          <a:prstGeom prst="rect">
            <a:avLst/>
          </a:prstGeom>
          <a:solidFill>
            <a:srgbClr val="E7F6F4"/>
          </a:solidFill>
          <a:ln w="12700">
            <a:solidFill>
              <a:srgbClr val="009E8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652709" y="3259836"/>
            <a:ext cx="87655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275320" y="2843784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39C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test only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480901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918877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9244478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682454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008055" y="3182112"/>
            <a:ext cx="414925" cy="256032"/>
          </a:xfrm>
          <a:prstGeom prst="rect">
            <a:avLst/>
          </a:prstGeom>
          <a:solidFill>
            <a:srgbClr val="FFF4E3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46031" y="3259836"/>
            <a:ext cx="103731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637276" y="2944368"/>
            <a:ext cx="64008" cy="84124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669280" y="2953512"/>
            <a:ext cx="0" cy="804672"/>
          </a:xfrm>
          <a:prstGeom prst="line">
            <a:avLst/>
          </a:prstGeom>
          <a:noFill/>
          <a:ln w="1778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8060436" y="2944368"/>
            <a:ext cx="64008" cy="841248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8092440" y="2953512"/>
            <a:ext cx="0" cy="804672"/>
          </a:xfrm>
          <a:prstGeom prst="line">
            <a:avLst/>
          </a:prstGeom>
          <a:noFill/>
          <a:ln w="17780">
            <a:solidFill>
              <a:srgbClr val="7A879A"/>
            </a:solidFill>
            <a:prstDash val="solid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051560" y="4590288"/>
            <a:ext cx="10085832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3970">
            <a:solidFill>
              <a:srgbClr val="D5DD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1417320" y="47548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window is one supervised example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4892040" y="4754880"/>
            <a:ext cx="658368" cy="228600"/>
          </a:xfrm>
          <a:prstGeom prst="rect">
            <a:avLst/>
          </a:prstGeom>
          <a:solidFill>
            <a:srgbClr val="E8F1FB"/>
          </a:solidFill>
          <a:ln w="12700">
            <a:solidFill>
              <a:srgbClr val="2E6F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5660136" y="4754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history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6931152" y="4818888"/>
            <a:ext cx="164592" cy="1005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7214616" y="475488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target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1417320" y="5138928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use the last k observations to predict the next value; repeat this procedure separately for training, validation and test.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914400" y="6181344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splits or cross-boundary windows leak future information and overestimate performance.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FAB6C8-90B8-578F-2314-AF5F9BB1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independent or semi-independent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AB3A64-8601-BF62-2E25-8A61BC822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Many datasets contain a collection of separate sequences: </a:t>
            </a:r>
            <a:r>
              <a:rPr lang="en-GB" b="1" dirty="0"/>
              <a:t>X⁽¹⁾, X⁽²⁾, …, X⁽ᴺ⁾</a:t>
            </a:r>
            <a:endParaRPr lang="en-GB" dirty="0"/>
          </a:p>
          <a:p>
            <a:r>
              <a:rPr lang="en-GB" dirty="0"/>
              <a:t>Each sequence may correspond to: one machine cycle; one trip; one customer session; one patient recording; one production batch; one experiment; one marketing campaign.</a:t>
            </a:r>
          </a:p>
          <a:p>
            <a:r>
              <a:rPr lang="en-GB" dirty="0"/>
              <a:t>The sequences may have the same or different lengths.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Machine cycle 1:  x₁, x₂, …, x₅₀</a:t>
            </a:r>
          </a:p>
          <a:p>
            <a:pPr lvl="1"/>
            <a:r>
              <a:rPr lang="en-GB" dirty="0"/>
              <a:t>Machine cycle 2:  x₁, x₂, …, x₆₄</a:t>
            </a:r>
          </a:p>
          <a:p>
            <a:pPr lvl="1"/>
            <a:r>
              <a:rPr lang="en-GB" dirty="0"/>
              <a:t>Machine cycle 3:  x₁, x₂, …, x₄₇</a:t>
            </a:r>
          </a:p>
          <a:p>
            <a:r>
              <a:rPr lang="en-GB" b="1" dirty="0"/>
              <a:t>Possible statistical units</a:t>
            </a:r>
          </a:p>
          <a:p>
            <a:r>
              <a:rPr lang="en-GB" dirty="0"/>
              <a:t>A sample may be: the complete sequence; a fixed-length segment extracted from the sequence; the sequence prefix observed before an event; one cycle summarized by temporal features.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42DABF-1600-CF49-E629-75CB9977D5CF}"/>
              </a:ext>
            </a:extLst>
          </p:cNvPr>
          <p:cNvSpPr txBox="1"/>
          <p:nvPr/>
        </p:nvSpPr>
        <p:spPr>
          <a:xfrm>
            <a:off x="8546123" y="3429000"/>
            <a:ext cx="33733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 machine cycle is one complete execution of a repeated industrial operation.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8C6A10F-3355-3DD1-52EA-A1F654FC3D9F}"/>
              </a:ext>
            </a:extLst>
          </p:cNvPr>
          <p:cNvCxnSpPr>
            <a:cxnSpLocks/>
          </p:cNvCxnSpPr>
          <p:nvPr/>
        </p:nvCxnSpPr>
        <p:spPr>
          <a:xfrm flipH="1" flipV="1">
            <a:off x="6283569" y="2696308"/>
            <a:ext cx="2145323" cy="879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8808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ED7A26-0383-1B24-464A-86850DCAD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independent or semi-independent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1E101A-BC39-F5E3-A810-0AC71D0E0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Generalization objectives</a:t>
            </a:r>
          </a:p>
          <a:p>
            <a:r>
              <a:rPr lang="en-GB" dirty="0"/>
              <a:t>The split must reflect the intended use.</a:t>
            </a:r>
          </a:p>
          <a:p>
            <a:r>
              <a:rPr lang="en-GB" b="1" dirty="0"/>
              <a:t>New sequences from known entities</a:t>
            </a:r>
          </a:p>
          <a:p>
            <a:r>
              <a:rPr lang="en-GB" dirty="0"/>
              <a:t>Example: later cycles from the same machines; later sessions from the same customers.</a:t>
            </a:r>
          </a:p>
          <a:p>
            <a:r>
              <a:rPr lang="en-GB" b="1" dirty="0"/>
              <a:t>New entities</a:t>
            </a:r>
          </a:p>
          <a:p>
            <a:r>
              <a:rPr lang="en-GB" dirty="0"/>
              <a:t>Example: machines not seen during training; new users; new patients; new production lines.</a:t>
            </a:r>
          </a:p>
          <a:p>
            <a:r>
              <a:rPr lang="en-GB" dirty="0"/>
              <a:t>These are more difficult and operationally different evaluation settings.</a:t>
            </a:r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A random split of windows may allow windows from the same original sequence to appear in both training and test sets.</a:t>
            </a:r>
          </a:p>
          <a:p>
            <a:r>
              <a:rPr lang="en-GB" dirty="0"/>
              <a:t>The model may then recognize sequence-specific characteristics rather than general patterns.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8731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74980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Time-series splitting with repeated cycles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29768" y="566928"/>
            <a:ext cx="106070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split can be made by sample/cycle or by entity. The choice changes what the test set really measures.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13842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088136"/>
            <a:ext cx="2331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organised by machine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7560" y="1115568"/>
            <a:ext cx="43891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contains full cycles from the same physical unit.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11680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185416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4268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7940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9161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41528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057400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7912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041648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00500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42417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84784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271516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913632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24144" y="149047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897880" y="175601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856732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280404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704076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127748" y="172401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769864" y="150876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" y="205740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11680" y="199339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185416" y="225893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144268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567940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991612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415284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057400" y="201168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67912" y="199339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041648" y="225893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000500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424172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4847844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5271516" y="222693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3913632" y="201168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5800" y="2560320"/>
            <a:ext cx="1143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011680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185416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144268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567940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299161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41528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2057400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1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867912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4041648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4000500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442417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484784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5271516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3913632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724144" y="2496312"/>
            <a:ext cx="16002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897880" y="2761854"/>
            <a:ext cx="1252728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5856732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280404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6704076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7127748" y="2729850"/>
            <a:ext cx="64008" cy="64008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5769864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3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183880" y="2542032"/>
            <a:ext cx="7132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411480" y="3310128"/>
            <a:ext cx="5504688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6291072" y="3310128"/>
            <a:ext cx="5504688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640080" y="3474720"/>
            <a:ext cx="283464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1: split by cycle</a:t>
            </a:r>
            <a:endParaRPr lang="en-US" sz="1550" dirty="0"/>
          </a:p>
        </p:txBody>
      </p:sp>
      <p:sp>
        <p:nvSpPr>
          <p:cNvPr id="70" name="Text 68"/>
          <p:cNvSpPr/>
          <p:nvPr/>
        </p:nvSpPr>
        <p:spPr>
          <a:xfrm>
            <a:off x="640080" y="3749040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machines can appear in all splits.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4389120" y="3538728"/>
            <a:ext cx="4572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882896" y="35387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312664" y="3538728"/>
            <a:ext cx="42062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471416" y="3758184"/>
            <a:ext cx="201168" cy="91440"/>
          </a:xfrm>
          <a:prstGeom prst="rect">
            <a:avLst/>
          </a:prstGeom>
          <a:solidFill>
            <a:srgbClr val="D9FBE8"/>
          </a:solidFill>
          <a:ln w="1016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4965192" y="3758184"/>
            <a:ext cx="201168" cy="91440"/>
          </a:xfrm>
          <a:prstGeom prst="rect">
            <a:avLst/>
          </a:prstGeom>
          <a:solidFill>
            <a:srgbClr val="FEF3C7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5404104" y="3758184"/>
            <a:ext cx="201168" cy="91440"/>
          </a:xfrm>
          <a:prstGeom prst="rect">
            <a:avLst/>
          </a:prstGeom>
          <a:solidFill>
            <a:srgbClr val="DBEAFE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704088" y="4270248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664208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1709928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834640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2880360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005072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4050792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704088" y="4754880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1664208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1709928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834640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6"/>
          <p:cNvSpPr/>
          <p:nvPr/>
        </p:nvSpPr>
        <p:spPr>
          <a:xfrm>
            <a:off x="2880360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704088" y="5239512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1664208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9"/>
          <p:cNvSpPr/>
          <p:nvPr/>
        </p:nvSpPr>
        <p:spPr>
          <a:xfrm>
            <a:off x="1709928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2834640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Text 91"/>
          <p:cNvSpPr/>
          <p:nvPr/>
        </p:nvSpPr>
        <p:spPr>
          <a:xfrm>
            <a:off x="2880360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005072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3"/>
          <p:cNvSpPr/>
          <p:nvPr/>
        </p:nvSpPr>
        <p:spPr>
          <a:xfrm>
            <a:off x="4050792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749808" y="5806440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Best for: future cycles of known machines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97" name="Text 95"/>
          <p:cNvSpPr/>
          <p:nvPr/>
        </p:nvSpPr>
        <p:spPr>
          <a:xfrm>
            <a:off x="749808" y="6044184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06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</a:t>
            </a:r>
            <a:r>
              <a:rPr lang="en-US" sz="10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optimistic if there are machine-specific patterns (they leak across the split.)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6519672" y="3474720"/>
            <a:ext cx="292608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2: split by machine</a:t>
            </a:r>
            <a:endParaRPr lang="en-US" sz="1550" dirty="0"/>
          </a:p>
        </p:txBody>
      </p:sp>
      <p:sp>
        <p:nvSpPr>
          <p:cNvPr id="99" name="Text 97"/>
          <p:cNvSpPr/>
          <p:nvPr/>
        </p:nvSpPr>
        <p:spPr>
          <a:xfrm>
            <a:off x="6519672" y="3749040"/>
            <a:ext cx="30175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cycles of one machine stay together.</a:t>
            </a:r>
            <a:endParaRPr lang="en-US" sz="1080" dirty="0"/>
          </a:p>
        </p:txBody>
      </p:sp>
      <p:sp>
        <p:nvSpPr>
          <p:cNvPr id="100" name="Text 98"/>
          <p:cNvSpPr/>
          <p:nvPr/>
        </p:nvSpPr>
        <p:spPr>
          <a:xfrm>
            <a:off x="10424160" y="3474720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= train</a:t>
            </a:r>
            <a:endParaRPr lang="en-US" sz="940" dirty="0"/>
          </a:p>
        </p:txBody>
      </p:sp>
      <p:sp>
        <p:nvSpPr>
          <p:cNvPr id="101" name="Text 99"/>
          <p:cNvSpPr/>
          <p:nvPr/>
        </p:nvSpPr>
        <p:spPr>
          <a:xfrm>
            <a:off x="10424160" y="3694176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val</a:t>
            </a:r>
            <a:endParaRPr lang="en-US" sz="940" dirty="0"/>
          </a:p>
        </p:txBody>
      </p:sp>
      <p:sp>
        <p:nvSpPr>
          <p:cNvPr id="102" name="Text 100"/>
          <p:cNvSpPr/>
          <p:nvPr/>
        </p:nvSpPr>
        <p:spPr>
          <a:xfrm>
            <a:off x="10424160" y="3913632"/>
            <a:ext cx="1170432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= test</a:t>
            </a:r>
            <a:endParaRPr lang="en-US" sz="940" dirty="0"/>
          </a:p>
        </p:txBody>
      </p:sp>
      <p:sp>
        <p:nvSpPr>
          <p:cNvPr id="103" name="Text 101"/>
          <p:cNvSpPr/>
          <p:nvPr/>
        </p:nvSpPr>
        <p:spPr>
          <a:xfrm>
            <a:off x="6583680" y="4270248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7543800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Text 103"/>
          <p:cNvSpPr/>
          <p:nvPr/>
        </p:nvSpPr>
        <p:spPr>
          <a:xfrm>
            <a:off x="7589520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8714232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Text 105"/>
          <p:cNvSpPr/>
          <p:nvPr/>
        </p:nvSpPr>
        <p:spPr>
          <a:xfrm>
            <a:off x="8759952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9884664" y="420624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9FBE8"/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Text 107"/>
          <p:cNvSpPr/>
          <p:nvPr/>
        </p:nvSpPr>
        <p:spPr>
          <a:xfrm>
            <a:off x="9930384" y="4270248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6583680" y="4754880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543800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Text 110"/>
          <p:cNvSpPr/>
          <p:nvPr/>
        </p:nvSpPr>
        <p:spPr>
          <a:xfrm>
            <a:off x="7589520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8714232" y="469087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Text 112"/>
          <p:cNvSpPr/>
          <p:nvPr/>
        </p:nvSpPr>
        <p:spPr>
          <a:xfrm>
            <a:off x="8759952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6583680" y="5239512"/>
            <a:ext cx="8412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543800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Text 115"/>
          <p:cNvSpPr/>
          <p:nvPr/>
        </p:nvSpPr>
        <p:spPr>
          <a:xfrm>
            <a:off x="7589520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850" dirty="0"/>
          </a:p>
        </p:txBody>
      </p:sp>
      <p:sp>
        <p:nvSpPr>
          <p:cNvPr id="118" name="Shape 116"/>
          <p:cNvSpPr/>
          <p:nvPr/>
        </p:nvSpPr>
        <p:spPr>
          <a:xfrm>
            <a:off x="8714232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Text 117"/>
          <p:cNvSpPr/>
          <p:nvPr/>
        </p:nvSpPr>
        <p:spPr>
          <a:xfrm>
            <a:off x="8759952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9884664" y="517550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Text 119"/>
          <p:cNvSpPr/>
          <p:nvPr/>
        </p:nvSpPr>
        <p:spPr>
          <a:xfrm>
            <a:off x="9930384" y="5239512"/>
            <a:ext cx="9144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6629400" y="5806440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Best for: generalisation to unseen machines</a:t>
            </a:r>
            <a:endParaRPr lang="en-US" sz="1100" dirty="0">
              <a:highlight>
                <a:srgbClr val="FFFF00"/>
              </a:highlight>
            </a:endParaRPr>
          </a:p>
        </p:txBody>
      </p:sp>
      <p:sp>
        <p:nvSpPr>
          <p:cNvPr id="123" name="Text 121"/>
          <p:cNvSpPr/>
          <p:nvPr/>
        </p:nvSpPr>
        <p:spPr>
          <a:xfrm>
            <a:off x="6629400" y="6044184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Stricter test: the model cannot memorize entity-specific signatures.</a:t>
            </a:r>
            <a:endParaRPr lang="en-US" sz="10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E1174B-0386-0800-6F37-D63D919D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Panel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BC6CEF-0E0B-0A49-117B-B39610649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panel dataset contains many related time series observed over a common or partially common time axis.</a:t>
            </a:r>
          </a:p>
          <a:p>
            <a:r>
              <a:rPr lang="en-GB" dirty="0"/>
              <a:t>Examples: </a:t>
            </a:r>
          </a:p>
          <a:p>
            <a:pPr lvl="1"/>
            <a:r>
              <a:rPr lang="en-GB" dirty="0"/>
              <a:t>sales for multiple products and stores;</a:t>
            </a:r>
          </a:p>
          <a:p>
            <a:pPr lvl="1"/>
            <a:r>
              <a:rPr lang="en-GB" dirty="0"/>
              <a:t>energy consumption for multiple buildings;</a:t>
            </a:r>
          </a:p>
          <a:p>
            <a:pPr lvl="1"/>
            <a:r>
              <a:rPr lang="en-GB" dirty="0"/>
              <a:t>sensor data from a fleet of machines;</a:t>
            </a:r>
          </a:p>
          <a:p>
            <a:pPr lvl="1"/>
            <a:r>
              <a:rPr lang="en-GB" dirty="0"/>
              <a:t>demand from multiple geographical regions;</a:t>
            </a:r>
          </a:p>
          <a:p>
            <a:pPr lvl="1"/>
            <a:r>
              <a:rPr lang="en-GB" dirty="0"/>
              <a:t>activity of multiple customers.</a:t>
            </a:r>
          </a:p>
          <a:p>
            <a:r>
              <a:rPr lang="en-GB" dirty="0"/>
              <a:t>Each observation is associated with:</a:t>
            </a:r>
          </a:p>
          <a:p>
            <a:pPr lvl="1"/>
            <a:r>
              <a:rPr lang="en-GB" dirty="0"/>
              <a:t>an entity;</a:t>
            </a:r>
          </a:p>
          <a:p>
            <a:pPr lvl="1"/>
            <a:r>
              <a:rPr lang="en-GB" dirty="0"/>
              <a:t>a time step;</a:t>
            </a:r>
          </a:p>
          <a:p>
            <a:pPr lvl="1"/>
            <a:r>
              <a:rPr lang="en-GB" dirty="0"/>
              <a:t>one or more measured variables.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903D03-2387-88C6-70F8-2B958802C79C}"/>
              </a:ext>
            </a:extLst>
          </p:cNvPr>
          <p:cNvSpPr txBox="1"/>
          <p:nvPr/>
        </p:nvSpPr>
        <p:spPr>
          <a:xfrm>
            <a:off x="6096000" y="3841317"/>
            <a:ext cx="6098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Example:</a:t>
            </a:r>
          </a:p>
          <a:p>
            <a:r>
              <a:rPr lang="en-GB" sz="1800" dirty="0"/>
              <a:t>Entity        Time        Sales        Price        Promotion</a:t>
            </a:r>
          </a:p>
          <a:p>
            <a:r>
              <a:rPr lang="en-GB" sz="1800" dirty="0"/>
              <a:t>Product A     Day 1       120          8.50         0</a:t>
            </a:r>
          </a:p>
          <a:p>
            <a:r>
              <a:rPr lang="en-GB" sz="1800" dirty="0"/>
              <a:t>Product A     Day 2       132          8.50         1</a:t>
            </a:r>
          </a:p>
          <a:p>
            <a:r>
              <a:rPr lang="en-GB" sz="1800" dirty="0"/>
              <a:t>Product B     Day 1        75          5.20         0</a:t>
            </a:r>
          </a:p>
          <a:p>
            <a:r>
              <a:rPr lang="en-GB" sz="1800" dirty="0"/>
              <a:t>Product B     Day 2        79          5.20         0</a:t>
            </a:r>
          </a:p>
        </p:txBody>
      </p:sp>
    </p:spTree>
    <p:extLst>
      <p:ext uri="{BB962C8B-B14F-4D97-AF65-F5344CB8AC3E}">
        <p14:creationId xmlns:p14="http://schemas.microsoft.com/office/powerpoint/2010/main" val="92635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2D03F4-EA81-889F-C17D-3DFA663E8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Panel time </a:t>
            </a:r>
            <a:r>
              <a:rPr lang="it-IT" dirty="0" err="1"/>
              <a:t>series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7629BF-C4F8-151E-31A7-CDCE15812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Local models</a:t>
            </a:r>
          </a:p>
          <a:p>
            <a:r>
              <a:rPr lang="en-GB" dirty="0"/>
              <a:t>A separate model is trained for each entity.</a:t>
            </a:r>
          </a:p>
          <a:p>
            <a:r>
              <a:rPr lang="en-GB" dirty="0"/>
              <a:t>Advantages: entity-specific behaviour; simple interpretation.</a:t>
            </a:r>
          </a:p>
          <a:p>
            <a:r>
              <a:rPr lang="en-GB" dirty="0"/>
              <a:t>Limitations: little data for each entity; high maintenance cost; no sharing of information.</a:t>
            </a:r>
          </a:p>
          <a:p>
            <a:r>
              <a:rPr lang="en-GB" b="1" dirty="0"/>
              <a:t>Global models</a:t>
            </a:r>
          </a:p>
          <a:p>
            <a:r>
              <a:rPr lang="en-GB" dirty="0"/>
              <a:t>One model is trained across multiple entities.</a:t>
            </a:r>
          </a:p>
          <a:p>
            <a:r>
              <a:rPr lang="en-GB" dirty="0"/>
              <a:t>The model can learn: patterns shared across entities; the effect of static characteristics; differences between entities; responses to common external variables.</a:t>
            </a:r>
          </a:p>
          <a:p>
            <a:r>
              <a:rPr lang="en-GB" b="1" dirty="0"/>
              <a:t>Entity information</a:t>
            </a:r>
          </a:p>
          <a:p>
            <a:r>
              <a:rPr lang="en-GB" dirty="0"/>
              <a:t>A global model may receive: product category; machine type; site identifier; customer segment; learned entity embedding.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642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Panel time series: unequal coverage across entities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94360" y="8046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is one entity. Observed intervals can start later, end earlier, or contain gaps.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110185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901952" y="15819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</a:rPr>
              <a:t>time →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98064" y="1728216"/>
            <a:ext cx="8028432" cy="0"/>
          </a:xfrm>
          <a:prstGeom prst="line">
            <a:avLst/>
          </a:prstGeom>
          <a:noFill/>
          <a:ln w="15875">
            <a:solidFill>
              <a:srgbClr val="17203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2608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69748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Jan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79392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050792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32704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04104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86016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757416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Jul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339328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110728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Sep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69264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46404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Nov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52760" y="1664208"/>
            <a:ext cx="0" cy="137160"/>
          </a:xfrm>
          <a:prstGeom prst="line">
            <a:avLst/>
          </a:prstGeom>
          <a:noFill/>
          <a:ln w="10160">
            <a:solidFill>
              <a:srgbClr val="17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0424160" y="199339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Jan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" y="1865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79392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632704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986016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339328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69264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652760" y="2194560"/>
            <a:ext cx="0" cy="2724912"/>
          </a:xfrm>
          <a:prstGeom prst="line">
            <a:avLst/>
          </a:prstGeom>
          <a:noFill/>
          <a:ln w="5715">
            <a:solidFill>
              <a:srgbClr val="CBD5E1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96112" y="23591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83880" y="2468880"/>
            <a:ext cx="246888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907792" y="2468880"/>
            <a:ext cx="5138928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852928" y="2414016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7991856" y="2414016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896112" y="303580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07792" y="3145536"/>
            <a:ext cx="1115568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8458200" y="3145536"/>
            <a:ext cx="41148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160520" y="3145536"/>
            <a:ext cx="416052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10565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826617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006840" y="3145536"/>
            <a:ext cx="1645920" cy="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95197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0597896" y="3090672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96112" y="371246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3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68112" y="3822192"/>
            <a:ext cx="429768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372600" y="3822192"/>
            <a:ext cx="128016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907792" y="3822192"/>
            <a:ext cx="2441448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852928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294376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6053328" y="3822192"/>
            <a:ext cx="3182112" cy="0"/>
          </a:xfrm>
          <a:prstGeom prst="line">
            <a:avLst/>
          </a:prstGeom>
          <a:noFill/>
          <a:ln w="7620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998464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9180576" y="3767328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896112" y="43891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entity 4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907792" y="4498848"/>
            <a:ext cx="237744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0287000" y="4498848"/>
            <a:ext cx="365760" cy="0"/>
          </a:xfrm>
          <a:prstGeom prst="line">
            <a:avLst/>
          </a:prstGeom>
          <a:noFill/>
          <a:ln w="38100">
            <a:solidFill>
              <a:srgbClr val="CBD5E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5440680" y="4498848"/>
            <a:ext cx="4709160" cy="0"/>
          </a:xfrm>
          <a:prstGeom prst="line">
            <a:avLst/>
          </a:prstGeom>
          <a:noFill/>
          <a:ln w="7620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5385816" y="4443984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0094976" y="4443984"/>
            <a:ext cx="109728" cy="10972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944368" y="5321808"/>
            <a:ext cx="54864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3611880" y="51937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observed samples available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080760" y="5321808"/>
            <a:ext cx="54864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6748272" y="5193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not observed / outside coverage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13232" y="5989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033"/>
                </a:solidFill>
              </a:rPr>
              <a:t>Implication: split and window generation must respect entity-specific time coverage.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F008B1-B14E-C6C8-4844-AFBF9F49F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Hierarchical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FBF81-2775-210C-77E9-F167AE914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Some time series are connected by aggregation constraints.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Total sales</a:t>
            </a:r>
          </a:p>
          <a:p>
            <a:r>
              <a:rPr lang="en-GB" dirty="0"/>
              <a:t>   ├── Region North</a:t>
            </a:r>
          </a:p>
          <a:p>
            <a:r>
              <a:rPr lang="en-GB" dirty="0"/>
              <a:t>   │      ├── Store 1</a:t>
            </a:r>
          </a:p>
          <a:p>
            <a:r>
              <a:rPr lang="en-GB" dirty="0"/>
              <a:t>   │      └── Store 2</a:t>
            </a:r>
          </a:p>
          <a:p>
            <a:r>
              <a:rPr lang="en-GB" dirty="0"/>
              <a:t>   └── Region South</a:t>
            </a:r>
          </a:p>
          <a:p>
            <a:r>
              <a:rPr lang="en-GB" dirty="0"/>
              <a:t>          ├── Store 3</a:t>
            </a:r>
          </a:p>
          <a:p>
            <a:r>
              <a:rPr lang="en-GB" dirty="0"/>
              <a:t>          └── Store 4</a:t>
            </a:r>
          </a:p>
          <a:p>
            <a:r>
              <a:rPr lang="en-GB" dirty="0"/>
              <a:t>At each time step it must be verified that:</a:t>
            </a:r>
          </a:p>
          <a:p>
            <a:r>
              <a:rPr lang="en-GB" b="1" dirty="0"/>
              <a:t>Total sales = sum of regional sales </a:t>
            </a:r>
            <a:r>
              <a:rPr lang="en-GB" dirty="0"/>
              <a:t>and: </a:t>
            </a:r>
            <a:r>
              <a:rPr lang="en-GB" b="1" dirty="0"/>
              <a:t>Regional sales = sum of store sales</a:t>
            </a:r>
            <a:endParaRPr lang="en-GB" dirty="0"/>
          </a:p>
          <a:p>
            <a:r>
              <a:rPr lang="en-GB" b="1" dirty="0"/>
              <a:t>Independent forecasts may be incoherent</a:t>
            </a:r>
          </a:p>
          <a:p>
            <a:pPr lvl="1"/>
            <a:r>
              <a:rPr lang="en-GB" dirty="0"/>
              <a:t>Suppose that the models predict: Store 1: 100; Store 2: 120; North region: 250</a:t>
            </a:r>
          </a:p>
          <a:p>
            <a:pPr lvl="1"/>
            <a:r>
              <a:rPr lang="en-GB" dirty="0"/>
              <a:t>The forecasts are inconsistent because: </a:t>
            </a:r>
            <a:r>
              <a:rPr lang="en-GB" b="1" dirty="0"/>
              <a:t>100 + 120 ≠ 250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24247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3BCAE4-CF0F-5D71-0846-9299EE3B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Hierarchical</a:t>
            </a:r>
            <a:r>
              <a:rPr lang="it-IT" dirty="0"/>
              <a:t> time </a:t>
            </a:r>
            <a:r>
              <a:rPr lang="it-IT" dirty="0" err="1"/>
              <a:t>series</a:t>
            </a:r>
            <a:r>
              <a:rPr lang="it-IT" dirty="0"/>
              <a:t> - </a:t>
            </a:r>
            <a:r>
              <a:rPr lang="en-GB" b="1" dirty="0"/>
              <a:t>Forecast reconciliation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6BAE129-4CD6-5060-1828-A075E2D68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hierarchical forecasting system may:</a:t>
            </a:r>
          </a:p>
          <a:p>
            <a:pPr lvl="1"/>
            <a:r>
              <a:rPr lang="en-GB" dirty="0"/>
              <a:t>forecast each series independently;</a:t>
            </a:r>
          </a:p>
          <a:p>
            <a:pPr lvl="1"/>
            <a:r>
              <a:rPr lang="en-GB" dirty="0"/>
              <a:t>adjust forecasts to satisfy aggregation constraints.</a:t>
            </a:r>
          </a:p>
          <a:p>
            <a:pPr lvl="1"/>
            <a:r>
              <a:rPr lang="en-GB" dirty="0"/>
              <a:t>Possible strategies include:</a:t>
            </a:r>
          </a:p>
          <a:p>
            <a:pPr lvl="2"/>
            <a:r>
              <a:rPr lang="en-GB" dirty="0"/>
              <a:t>bottom-up forecasting;</a:t>
            </a:r>
          </a:p>
          <a:p>
            <a:pPr lvl="2"/>
            <a:r>
              <a:rPr lang="en-GB" dirty="0"/>
              <a:t>top-down forecasting;</a:t>
            </a:r>
          </a:p>
          <a:p>
            <a:pPr lvl="2"/>
            <a:r>
              <a:rPr lang="en-GB" dirty="0"/>
              <a:t>middle-out forecasting;</a:t>
            </a:r>
          </a:p>
          <a:p>
            <a:pPr lvl="2"/>
            <a:r>
              <a:rPr lang="en-GB" dirty="0"/>
              <a:t>statistical reconciliation.</a:t>
            </a:r>
          </a:p>
          <a:p>
            <a:r>
              <a:rPr lang="en-GB" b="1" dirty="0"/>
              <a:t>Engineering relevance</a:t>
            </a:r>
          </a:p>
          <a:p>
            <a:pPr lvl="1"/>
            <a:r>
              <a:rPr lang="en-GB" dirty="0"/>
              <a:t>Hierarchical structures appear in: product portfolios; geographical demand; industrial fleets; energy networks; organizational reporting.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93357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320040"/>
            <a:ext cx="6583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32238"/>
                </a:solidFill>
                <a:effectLst/>
                <a:uFillTx/>
                <a:latin typeface="Aptos Display"/>
                <a:ea typeface="Aptos Display"/>
              </a:rPr>
              <a:t>Hierarchical forecasting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12720" y="758880"/>
            <a:ext cx="8686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A5568"/>
                </a:solidFill>
                <a:effectLst/>
                <a:uFillTx/>
                <a:latin typeface="Aptos"/>
                <a:ea typeface="Aptos"/>
              </a:rPr>
              <a:t>Forecasts at higher levels should be consistent with the sum of lower-level forecasts.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 flipH="1">
            <a:off x="1485720" y="1737360"/>
            <a:ext cx="1211760" cy="74952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2697480" y="1737360"/>
            <a:ext cx="1211400" cy="74952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 flipH="1">
            <a:off x="662760" y="2962440"/>
            <a:ext cx="82296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1485720" y="2962440"/>
            <a:ext cx="61272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 flipH="1">
            <a:off x="3332880" y="2962440"/>
            <a:ext cx="57600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08880" y="2962440"/>
            <a:ext cx="841320" cy="740880"/>
          </a:xfrm>
          <a:prstGeom prst="line">
            <a:avLst/>
          </a:prstGeom>
          <a:ln w="17780">
            <a:solidFill>
              <a:srgbClr val="6B72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1874520" y="1234440"/>
            <a:ext cx="1645560" cy="502560"/>
          </a:xfrm>
          <a:prstGeom prst="roundRect">
            <a:avLst>
              <a:gd name="adj" fmla="val 14545"/>
            </a:avLst>
          </a:prstGeom>
          <a:solidFill>
            <a:srgbClr val="1F3A5F"/>
          </a:solidFill>
          <a:ln w="15240">
            <a:solidFill>
              <a:srgbClr val="1F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1920240" y="1280160"/>
            <a:ext cx="1554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company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685800" y="2487240"/>
            <a:ext cx="1599840" cy="475200"/>
          </a:xfrm>
          <a:prstGeom prst="roundRect">
            <a:avLst>
              <a:gd name="adj" fmla="val 15385"/>
            </a:avLst>
          </a:prstGeom>
          <a:solidFill>
            <a:srgbClr val="3C6997"/>
          </a:solidFill>
          <a:ln w="15240">
            <a:solidFill>
              <a:srgbClr val="3C699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731520" y="2532960"/>
            <a:ext cx="1508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division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3108960" y="2487240"/>
            <a:ext cx="1599840" cy="475200"/>
          </a:xfrm>
          <a:prstGeom prst="roundRect">
            <a:avLst>
              <a:gd name="adj" fmla="val 15385"/>
            </a:avLst>
          </a:prstGeom>
          <a:solidFill>
            <a:srgbClr val="3C6997"/>
          </a:solidFill>
          <a:ln w="15240">
            <a:solidFill>
              <a:srgbClr val="3C699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3154680" y="2532960"/>
            <a:ext cx="1508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division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13716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18288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157284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161856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280728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285300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224600" y="3703320"/>
            <a:ext cx="1051200" cy="438480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15240">
            <a:solidFill>
              <a:srgbClr val="8EA9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4270320" y="3749040"/>
            <a:ext cx="959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site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1600200" y="461772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4A5568"/>
                </a:solidFill>
                <a:effectLst/>
                <a:uFillTx/>
                <a:latin typeface="Aptos"/>
                <a:ea typeface="Aptos"/>
              </a:rPr>
              <a:t>Hierarchy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5989320" y="1389960"/>
            <a:ext cx="5348880" cy="406872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3970">
            <a:solidFill>
              <a:srgbClr val="D1D9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6355080" y="1783080"/>
            <a:ext cx="44802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Aggregation constraint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355080" y="2423160"/>
            <a:ext cx="4617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32238"/>
                </a:solidFill>
                <a:effectLst/>
                <a:uFillTx/>
                <a:latin typeface="Aptos Display"/>
                <a:ea typeface="Aptos Display"/>
              </a:rPr>
              <a:t>parent forecast = ∑ child forecasts</a:t>
            </a:r>
            <a:endParaRPr lang="it-IT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6355080" y="3337560"/>
            <a:ext cx="914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Example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6355080" y="3730680"/>
            <a:ext cx="4663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company forecast = division 1 + division 2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3B53"/>
                </a:solidFill>
                <a:effectLst/>
                <a:uFillTx/>
                <a:latin typeface="Aptos"/>
                <a:ea typeface="Aptos"/>
              </a:rPr>
              <a:t>division forecast = site 1 + site 2</a:t>
            </a:r>
            <a:endParaRPr lang="it-IT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5440680" y="1463040"/>
            <a:ext cx="360" cy="3931920"/>
          </a:xfrm>
          <a:prstGeom prst="line">
            <a:avLst/>
          </a:prstGeom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sldNum" idx="5"/>
          </p:nvPr>
        </p:nvSpPr>
        <p:spPr>
          <a:xfrm>
            <a:off x="11475720" y="653796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A8B0BD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43C7CC0-FDE5-4A2E-B4D5-170821C1E50F}" type="slidenum">
              <a:rPr lang="en-US" sz="1200" b="0" u="none" strike="noStrike">
                <a:solidFill>
                  <a:srgbClr val="A8B0BD"/>
                </a:solidFill>
                <a:effectLst/>
                <a:uFillTx/>
                <a:latin typeface="Aptos"/>
              </a:rPr>
              <a:t>28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E91BD0-AA68-4C8F-5A6D-B44223A0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 and irregular sampling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6DBA24B-6100-1B6B-7D99-E260DF060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regularly sampled series has a constant interval between consecutive observations.</a:t>
            </a:r>
          </a:p>
          <a:p>
            <a:r>
              <a:rPr lang="en-GB" dirty="0"/>
              <a:t>Examples: one measurement every second; hourly consumption; daily sales; monthly production.</a:t>
            </a:r>
          </a:p>
          <a:p>
            <a:r>
              <a:rPr lang="en-GB" dirty="0"/>
              <a:t>t₁   t₂   t₃   t₄   t₅</a:t>
            </a:r>
          </a:p>
          <a:p>
            <a:r>
              <a:rPr lang="en-GB" dirty="0"/>
              <a:t> |----|----|----|----|</a:t>
            </a:r>
          </a:p>
          <a:p>
            <a:r>
              <a:rPr lang="en-GB" dirty="0"/>
              <a:t>An irregularly sampled series has variable intervals:</a:t>
            </a:r>
          </a:p>
          <a:p>
            <a:r>
              <a:rPr lang="en-GB" dirty="0"/>
              <a:t>t₁  t₂       t₃  t₄          t₅</a:t>
            </a:r>
          </a:p>
          <a:p>
            <a:r>
              <a:rPr lang="en-GB" dirty="0"/>
              <a:t> |---|--------|---|-----------|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maintenance events;</a:t>
            </a:r>
          </a:p>
          <a:p>
            <a:pPr lvl="1"/>
            <a:r>
              <a:rPr lang="en-GB" dirty="0"/>
              <a:t>medical examinations;</a:t>
            </a:r>
          </a:p>
          <a:p>
            <a:pPr lvl="1"/>
            <a:r>
              <a:rPr lang="en-GB" dirty="0"/>
              <a:t>customer transactions;</a:t>
            </a:r>
          </a:p>
          <a:p>
            <a:pPr lvl="1"/>
            <a:r>
              <a:rPr lang="en-GB" dirty="0"/>
              <a:t>fault reports;</a:t>
            </a:r>
          </a:p>
          <a:p>
            <a:pPr lvl="1"/>
            <a:r>
              <a:rPr lang="en-GB" dirty="0"/>
              <a:t>manually triggered measurements.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37262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63E8EA-694D-926A-27E5-4793D12A3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Irregular</a:t>
            </a:r>
            <a:r>
              <a:rPr lang="it-IT" dirty="0"/>
              <a:t> sampling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FC93A4-FF21-0349-CAF4-9469A76D5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same change may have a different interpretation depending on elapsed time.</a:t>
            </a:r>
          </a:p>
          <a:p>
            <a:pPr lvl="1"/>
            <a:r>
              <a:rPr lang="en-GB" dirty="0"/>
              <a:t>Example: value changes from 10 to 15</a:t>
            </a:r>
          </a:p>
          <a:p>
            <a:pPr lvl="1"/>
            <a:r>
              <a:rPr lang="en-GB" dirty="0"/>
              <a:t>This change is different if it occurs: in one second; in one hour; in one month.</a:t>
            </a:r>
          </a:p>
          <a:p>
            <a:r>
              <a:rPr lang="en-GB" b="1" dirty="0"/>
              <a:t>Common approaches:</a:t>
            </a:r>
          </a:p>
          <a:p>
            <a:r>
              <a:rPr lang="en-GB" b="1" dirty="0"/>
              <a:t>Resampling to a regular grid</a:t>
            </a:r>
          </a:p>
          <a:p>
            <a:pPr lvl="1"/>
            <a:r>
              <a:rPr lang="en-GB" dirty="0"/>
              <a:t>aggregation; interpolation; forward filling; missing-value indicators.</a:t>
            </a:r>
          </a:p>
          <a:p>
            <a:r>
              <a:rPr lang="en-GB" b="1" dirty="0"/>
              <a:t>Explicitly modelling elapsed time</a:t>
            </a:r>
          </a:p>
          <a:p>
            <a:pPr lvl="1"/>
            <a:r>
              <a:rPr lang="en-GB" dirty="0"/>
              <a:t>Add features such as: time since the previous observation; time since the last valid measurement; age of each variable (time since the last valid measurement of each variable); absolute or relative timestamp; time of day, day of week, month, or season</a:t>
            </a:r>
          </a:p>
          <a:p>
            <a:r>
              <a:rPr lang="en-GB" b="1" dirty="0"/>
              <a:t>Event-based modelling</a:t>
            </a:r>
          </a:p>
          <a:p>
            <a:pPr lvl="1"/>
            <a:r>
              <a:rPr lang="en-GB" dirty="0"/>
              <a:t>Treat the data as a sequence of timestamped events rather than as a fixed-rate signal.</a:t>
            </a:r>
          </a:p>
          <a:p>
            <a:r>
              <a:rPr lang="en-GB" b="1" dirty="0"/>
              <a:t>Caution</a:t>
            </a:r>
          </a:p>
          <a:p>
            <a:pPr lvl="1"/>
            <a:r>
              <a:rPr lang="en-GB" dirty="0"/>
              <a:t>Interpolation can introduce artificial smoothness and may use future information if it is performed incorrectly.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06447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31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Equally spaced vs irregularly spaced time series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932688"/>
            <a:ext cx="9875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number of observations; different time intervals between consecutive samples.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10012680" y="1298448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543032" y="1426464"/>
            <a:ext cx="685800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15087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F6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equally spaced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4114800"/>
            <a:ext cx="158191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irregularly spaced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3464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64058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4652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8252460" y="2542032"/>
            <a:ext cx="180594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5234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7004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5828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47598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6422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28192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7016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08786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976104" y="2459736"/>
            <a:ext cx="164592" cy="164592"/>
          </a:xfrm>
          <a:prstGeom prst="ellipse">
            <a:avLst/>
          </a:prstGeom>
          <a:solidFill>
            <a:srgbClr val="2F6BFF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893808" y="2798064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378440" y="2386584"/>
            <a:ext cx="12344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Δt constant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834640" y="4315968"/>
            <a:ext cx="6019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436620" y="4315968"/>
            <a:ext cx="240792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844540" y="4315968"/>
            <a:ext cx="6019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446520" y="4315968"/>
            <a:ext cx="3611880" cy="0"/>
          </a:xfrm>
          <a:prstGeom prst="line">
            <a:avLst/>
          </a:prstGeom>
          <a:noFill/>
          <a:ln w="33020">
            <a:solidFill>
              <a:srgbClr val="E6EA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75234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67004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35432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27202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76224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67994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6422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28192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976104" y="4233672"/>
            <a:ext cx="164592" cy="164592"/>
          </a:xfrm>
          <a:prstGeom prst="ellipse">
            <a:avLst/>
          </a:prstGeom>
          <a:solidFill>
            <a:srgbClr val="E8833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9893808" y="4572000"/>
            <a:ext cx="32918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618488" y="5020056"/>
            <a:ext cx="411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C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Δt: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02590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2880360" y="4791456"/>
            <a:ext cx="5105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53085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482340" y="4791456"/>
            <a:ext cx="231648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603580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890260" y="4791456"/>
            <a:ext cx="5105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8142732" y="5029200"/>
            <a:ext cx="21945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8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92240" y="4791456"/>
            <a:ext cx="3520440" cy="0"/>
          </a:xfrm>
          <a:prstGeom prst="line">
            <a:avLst/>
          </a:prstGeom>
          <a:noFill/>
          <a:ln w="15240">
            <a:solidFill>
              <a:srgbClr val="E6EA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685800" y="5989320"/>
            <a:ext cx="10835640" cy="384048"/>
          </a:xfrm>
          <a:prstGeom prst="roundRect">
            <a:avLst>
              <a:gd name="adj" fmla="val 23810"/>
            </a:avLst>
          </a:prstGeom>
          <a:solidFill>
            <a:srgbClr val="F3F6FA"/>
          </a:solidFill>
          <a:ln w="12700">
            <a:solidFill>
              <a:srgbClr val="F3F6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914400" y="6053328"/>
            <a:ext cx="10332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irregular sampling, the elapsed time Δt can be an explicit input feature, not just an implicit index step.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B236B-B168-7690-F960-2B1E8EFB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Static, observed and future-known covariates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EB05F5-65C7-76CA-D104-F1C3A03AC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300501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Time-series models often use variables in addition to the main target history.</a:t>
            </a:r>
          </a:p>
          <a:p>
            <a:r>
              <a:rPr lang="en-GB" dirty="0"/>
              <a:t>Covariates are auxiliary variables used as model inputs because they may help explain or predict the target.</a:t>
            </a:r>
          </a:p>
          <a:p>
            <a:endParaRPr lang="en-GB" dirty="0"/>
          </a:p>
          <a:p>
            <a:r>
              <a:rPr lang="en-GB" dirty="0"/>
              <a:t>We can have a taxonomy of , according to their availability at prediction time.</a:t>
            </a:r>
          </a:p>
          <a:p>
            <a:r>
              <a:rPr lang="en-GB" b="1" dirty="0"/>
              <a:t>Static covariates</a:t>
            </a:r>
          </a:p>
          <a:p>
            <a:pPr lvl="1"/>
            <a:r>
              <a:rPr lang="en-GB" dirty="0"/>
              <a:t>They do not change during a sequence or change very rarely.</a:t>
            </a:r>
          </a:p>
          <a:p>
            <a:pPr lvl="1"/>
            <a:r>
              <a:rPr lang="en-GB" dirty="0"/>
              <a:t>Examples: machine type; product category; store location; customer segment; rated power.</a:t>
            </a:r>
          </a:p>
          <a:p>
            <a:pPr lvl="1"/>
            <a:r>
              <a:rPr lang="en-GB" dirty="0"/>
              <a:t>Notation: static information → s</a:t>
            </a:r>
          </a:p>
          <a:p>
            <a:r>
              <a:rPr lang="en-GB" b="1" dirty="0"/>
              <a:t>Past-observed dynamic covariates</a:t>
            </a:r>
          </a:p>
          <a:p>
            <a:pPr lvl="1"/>
            <a:r>
              <a:rPr lang="en-GB" dirty="0"/>
              <a:t>They vary over time but are only known up to the current instant.</a:t>
            </a:r>
          </a:p>
          <a:p>
            <a:pPr lvl="1"/>
            <a:r>
              <a:rPr lang="en-GB" dirty="0"/>
              <a:t>Examples: measured temperature; past price; sensor readings; customer activity; past weather.</a:t>
            </a:r>
          </a:p>
          <a:p>
            <a:pPr lvl="1"/>
            <a:r>
              <a:rPr lang="en-GB" dirty="0"/>
              <a:t>At prediction time </a:t>
            </a:r>
            <a:r>
              <a:rPr lang="en-GB" b="1" dirty="0"/>
              <a:t>t</a:t>
            </a:r>
            <a:r>
              <a:rPr lang="en-GB" dirty="0"/>
              <a:t>, only values up to </a:t>
            </a:r>
            <a:r>
              <a:rPr lang="en-GB" b="1" dirty="0"/>
              <a:t>t</a:t>
            </a:r>
            <a:r>
              <a:rPr lang="en-GB" dirty="0"/>
              <a:t> are available.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44110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52C68E-8E69-D728-300A-88E2BB859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Static, observed and future-known covariates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DD2EBF-1980-F87B-57BA-3095DB5BA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b="1" dirty="0"/>
              <a:t>Future-known covariates</a:t>
            </a:r>
          </a:p>
          <a:p>
            <a:r>
              <a:rPr lang="en-GB" dirty="0"/>
              <a:t>Their future values are available when the forecast is produced.</a:t>
            </a:r>
          </a:p>
          <a:p>
            <a:r>
              <a:rPr lang="en-GB" dirty="0"/>
              <a:t>Examples: day of the week; holidays; planned promotions; scheduled maintenance; contractual price; production plan.</a:t>
            </a:r>
          </a:p>
          <a:p>
            <a:r>
              <a:rPr lang="en-GB" dirty="0"/>
              <a:t>These can be used over the entire prediction horizon.</a:t>
            </a:r>
          </a:p>
          <a:p>
            <a:r>
              <a:rPr lang="en-GB" b="1" dirty="0"/>
              <a:t>Unknown future covariates</a:t>
            </a:r>
          </a:p>
          <a:p>
            <a:r>
              <a:rPr lang="en-GB" dirty="0"/>
              <a:t>They may influence the target but are not known in advance.</a:t>
            </a:r>
          </a:p>
          <a:p>
            <a:r>
              <a:rPr lang="en-GB" dirty="0"/>
              <a:t>Examples: future failures; unplanned demand shocks; future weather, unless separately forecast; competitor actions; unexpected process disturbances.</a:t>
            </a:r>
          </a:p>
          <a:p>
            <a:r>
              <a:rPr lang="en-GB" dirty="0"/>
              <a:t>They cannot be used directly during real inference.</a:t>
            </a:r>
          </a:p>
          <a:p>
            <a:r>
              <a:rPr lang="en-GB" b="1" dirty="0"/>
              <a:t>Example: demand forecasting</a:t>
            </a:r>
          </a:p>
          <a:p>
            <a:r>
              <a:rPr lang="en-GB" dirty="0"/>
              <a:t>Past sales                    known</a:t>
            </a:r>
          </a:p>
          <a:p>
            <a:r>
              <a:rPr lang="en-GB" dirty="0"/>
              <a:t>Past prices                   known</a:t>
            </a:r>
          </a:p>
          <a:p>
            <a:r>
              <a:rPr lang="en-GB" dirty="0"/>
              <a:t>Future calendar               known</a:t>
            </a:r>
          </a:p>
          <a:p>
            <a:r>
              <a:rPr lang="en-GB" dirty="0"/>
              <a:t>Future planned promotion      known</a:t>
            </a:r>
          </a:p>
          <a:p>
            <a:r>
              <a:rPr lang="en-GB" dirty="0"/>
              <a:t>Future actual temperature     unknown</a:t>
            </a:r>
          </a:p>
          <a:p>
            <a:r>
              <a:rPr lang="en-GB" dirty="0"/>
              <a:t>Future realized demand        target</a:t>
            </a:r>
          </a:p>
          <a:p>
            <a:endParaRPr lang="en-GB" b="1" dirty="0"/>
          </a:p>
          <a:p>
            <a:r>
              <a:rPr lang="en-GB" b="1" dirty="0"/>
              <a:t>A feature is valid only if its value is available at the moment when the prediction must be generated.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556096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time separates what is observed, known, and still unknown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using sales, weather, promotions, and calendar information to forecast future sales.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926080" y="1207008"/>
            <a:ext cx="3328416" cy="256032"/>
          </a:xfrm>
          <a:prstGeom prst="rect">
            <a:avLst/>
          </a:prstGeom>
          <a:solidFill>
            <a:srgbClr val="EAF4FF"/>
          </a:solidFill>
          <a:ln>
            <a:solidFill>
              <a:srgbClr val="EAF4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629400" y="1207008"/>
            <a:ext cx="4846320" cy="256032"/>
          </a:xfrm>
          <a:prstGeom prst="rect">
            <a:avLst/>
          </a:prstGeom>
          <a:solidFill>
            <a:srgbClr val="FFF8E1"/>
          </a:solidFill>
          <a:ln>
            <a:solidFill>
              <a:srgbClr val="FFF8E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6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664208"/>
            <a:ext cx="8549640" cy="0"/>
          </a:xfrm>
          <a:prstGeom prst="line">
            <a:avLst/>
          </a:prstGeom>
          <a:noFill/>
          <a:ln w="15240">
            <a:solidFill>
              <a:srgbClr val="CFD8D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400800" y="1033272"/>
            <a:ext cx="0" cy="4133088"/>
          </a:xfrm>
          <a:prstGeom prst="line">
            <a:avLst/>
          </a:prstGeom>
          <a:noFill/>
          <a:ln w="2159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rot="10800000">
            <a:off x="6300216" y="5084064"/>
            <a:ext cx="201168" cy="164592"/>
          </a:xfrm>
          <a:prstGeom prst="triangle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925312" y="5358384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7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3747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88366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880360" y="206654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26080" y="184708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sales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184708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FFF3E0"/>
          </a:solidFill>
          <a:ln w="1778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739128" y="196596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F6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sales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270662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880360" y="288950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926080" y="267004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017520" y="278892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temperature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267004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F5F5F5"/>
          </a:solidFill>
          <a:ln w="17780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739128" y="278892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757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 temperature  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352958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880360" y="371246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926080" y="349300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017520" y="361188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promotions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0" y="349300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E8F5E9"/>
          </a:solidFill>
          <a:ln w="1778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739128" y="361188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promotions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13232" y="435254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880360" y="4535424"/>
            <a:ext cx="8595360" cy="0"/>
          </a:xfrm>
          <a:prstGeom prst="line">
            <a:avLst/>
          </a:prstGeom>
          <a:noFill/>
          <a:ln w="762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926080" y="4315968"/>
            <a:ext cx="3246120" cy="438912"/>
          </a:xfrm>
          <a:prstGeom prst="roundRect">
            <a:avLst>
              <a:gd name="adj" fmla="val 33333"/>
            </a:avLst>
          </a:prstGeom>
          <a:solidFill>
            <a:srgbClr val="E3F2FD"/>
          </a:solidFill>
          <a:ln w="1778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017520" y="4434840"/>
            <a:ext cx="3063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976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629400" y="4315968"/>
            <a:ext cx="4800600" cy="438912"/>
          </a:xfrm>
          <a:prstGeom prst="roundRect">
            <a:avLst>
              <a:gd name="adj" fmla="val 33333"/>
            </a:avLst>
          </a:prstGeom>
          <a:solidFill>
            <a:srgbClr val="E8F5E9"/>
          </a:solidFill>
          <a:ln w="1778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739128" y="4434840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13232" y="61447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Style: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32588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E3F2FD"/>
          </a:solidFill>
          <a:ln w="1524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984248" y="61356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past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401568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E8F5E9"/>
          </a:solidFill>
          <a:ln w="1524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059936" y="613562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future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39496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F5F5F5"/>
          </a:solidFill>
          <a:ln w="15240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053328" y="613562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 future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43800" y="6144768"/>
            <a:ext cx="566928" cy="201168"/>
          </a:xfrm>
          <a:prstGeom prst="roundRect">
            <a:avLst>
              <a:gd name="adj" fmla="val 27273"/>
            </a:avLst>
          </a:prstGeom>
          <a:solidFill>
            <a:srgbClr val="FFF3E0"/>
          </a:solidFill>
          <a:ln w="1524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202168" y="613562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target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1337A1-187A-30DE-9DFB-EE191BBAC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Variable-length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7AE232-18DE-5BA2-664B-CCF2D25E7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Sequences may have different durations.</a:t>
            </a:r>
          </a:p>
          <a:p>
            <a:r>
              <a:rPr lang="en-GB" dirty="0"/>
              <a:t>Examples: machine cycles of different length; customer sessions; journeys; manufacturing batches; time until failure; medical recordings.</a:t>
            </a:r>
          </a:p>
          <a:p>
            <a:r>
              <a:rPr lang="en-GB" dirty="0"/>
              <a:t>Sequence 1:  ● ● ● ● ● ● ●</a:t>
            </a:r>
          </a:p>
          <a:p>
            <a:r>
              <a:rPr lang="en-GB" dirty="0"/>
              <a:t>Sequence 2:  ● ● ●</a:t>
            </a:r>
          </a:p>
          <a:p>
            <a:r>
              <a:rPr lang="en-GB" dirty="0"/>
              <a:t>Sequence 3:  ● ● ● ● ●</a:t>
            </a:r>
          </a:p>
          <a:p>
            <a:endParaRPr lang="en-GB" b="1" dirty="0"/>
          </a:p>
          <a:p>
            <a:r>
              <a:rPr lang="en-GB" b="1" dirty="0"/>
              <a:t>Main options</a:t>
            </a:r>
          </a:p>
          <a:p>
            <a:r>
              <a:rPr lang="en-GB" b="1" dirty="0"/>
              <a:t>Fixed-length windows (several)</a:t>
            </a:r>
          </a:p>
          <a:p>
            <a:r>
              <a:rPr lang="en-GB" dirty="0"/>
              <a:t>Extract windows with the same number of time steps.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easy batching;</a:t>
            </a:r>
          </a:p>
          <a:p>
            <a:pPr lvl="1"/>
            <a:r>
              <a:rPr lang="en-GB" dirty="0"/>
              <a:t>compatible with most architectures;</a:t>
            </a:r>
          </a:p>
          <a:p>
            <a:pPr lvl="1"/>
            <a:r>
              <a:rPr lang="en-GB" dirty="0"/>
              <a:t>controlled input size.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truncate relevant information;</a:t>
            </a:r>
          </a:p>
          <a:p>
            <a:pPr lvl="1"/>
            <a:r>
              <a:rPr lang="en-GB" dirty="0"/>
              <a:t>may split meaningful events.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85456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1C3D1C-3419-8DD3-1C2E-4C804A31B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Variable-length sequences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386B87A-C1AE-FE69-02C1-10B32AB952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r>
                  <a:rPr lang="en-GB" b="1" dirty="0"/>
                  <a:t>Padding</a:t>
                </a:r>
              </a:p>
              <a:p>
                <a:r>
                  <a:rPr lang="en-GB" dirty="0"/>
                  <a:t>Short sequences are extended to a common length with artificial values.</a:t>
                </a:r>
              </a:p>
              <a:p>
                <a:r>
                  <a:rPr lang="en-GB" dirty="0"/>
                  <a:t>A mask indicates which time steps are valid.</a:t>
                </a:r>
              </a:p>
              <a:p>
                <a:pPr lvl="1"/>
                <a:r>
                  <a:rPr lang="en-GB" dirty="0"/>
                  <a:t>Sequence 1:  x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endParaRPr lang="en-GB" dirty="0"/>
              </a:p>
              <a:p>
                <a:pPr lvl="1"/>
                <a:r>
                  <a:rPr lang="en-GB" dirty="0"/>
                  <a:t>Sequence 2:  x </a:t>
                </a:r>
                <a:r>
                  <a:rPr lang="en-GB" dirty="0" err="1"/>
                  <a:t>x</a:t>
                </a:r>
                <a:r>
                  <a:rPr lang="en-GB" dirty="0"/>
                  <a:t> </a:t>
                </a:r>
                <a:r>
                  <a:rPr lang="en-GB" dirty="0" err="1"/>
                  <a:t>x</a:t>
                </a:r>
                <a:r>
                  <a:rPr lang="en-GB" dirty="0"/>
                  <a:t> P </a:t>
                </a:r>
                <a:r>
                  <a:rPr lang="en-GB" dirty="0" err="1"/>
                  <a:t>P</a:t>
                </a:r>
                <a:endParaRPr lang="en-GB" dirty="0"/>
              </a:p>
              <a:p>
                <a:pPr lvl="1"/>
                <a:r>
                  <a:rPr lang="en-GB" dirty="0"/>
                  <a:t>Mask 2:      1 1 1 0 0</a:t>
                </a:r>
              </a:p>
              <a:p>
                <a:r>
                  <a:rPr lang="en-GB" b="1" dirty="0"/>
                  <a:t>Truncation (only one window)</a:t>
                </a:r>
              </a:p>
              <a:p>
                <a:r>
                  <a:rPr lang="en-GB" dirty="0"/>
                  <a:t>Long sequences are shortened.</a:t>
                </a:r>
              </a:p>
              <a:p>
                <a:pPr lvl="1"/>
                <a:r>
                  <a:rPr lang="en-GB" dirty="0"/>
                  <a:t>keep the first part;</a:t>
                </a:r>
              </a:p>
              <a:p>
                <a:pPr lvl="1"/>
                <a:r>
                  <a:rPr lang="en-GB" dirty="0"/>
                  <a:t>keep the latest part;</a:t>
                </a:r>
              </a:p>
              <a:p>
                <a:pPr lvl="1"/>
                <a:r>
                  <a:rPr lang="en-GB" dirty="0"/>
                  <a:t>select a relevant interval;</a:t>
                </a:r>
              </a:p>
              <a:p>
                <a:pPr lvl="1"/>
                <a:r>
                  <a:rPr lang="en-GB" dirty="0"/>
                  <a:t>sample multiple windows.</a:t>
                </a:r>
              </a:p>
              <a:p>
                <a:r>
                  <a:rPr lang="en-GB" b="1" dirty="0"/>
                  <a:t>Length-aware aggregation</a:t>
                </a:r>
              </a:p>
              <a:p>
                <a:r>
                  <a:rPr lang="en-GB" dirty="0"/>
                  <a:t>Use a model that produces one representation for sequences of arbitrary length, for example through:</a:t>
                </a:r>
              </a:p>
              <a:p>
                <a:pPr lvl="1"/>
                <a:r>
                  <a:rPr lang="en-GB" dirty="0"/>
                  <a:t>final state/output of a recurrent NN;</a:t>
                </a:r>
              </a:p>
              <a:p>
                <a:pPr lvl="1"/>
                <a:r>
                  <a:rPr lang="en-GB" dirty="0"/>
                  <a:t>global average pooling; Average each representation dimension across the valid time steps: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hr m:val="∑"/>
                        <m:grow m:val="on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 where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dirty="0"/>
                  <a:t>is the actual sequence length, excluding padding. One fixed-size vector per sequence</a:t>
                </a:r>
              </a:p>
              <a:p>
                <a:pPr lvl="1"/>
                <a:r>
                  <a:rPr lang="en-GB" dirty="0"/>
                  <a:t>attention pooling.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386B87A-C1AE-FE69-02C1-10B32AB952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73967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10642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Padding and masking: from unequal sequences to one batch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3504" y="804672"/>
            <a:ext cx="108813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batch has a common length; the mask tells the model which positions are real observations.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85800" y="1188720"/>
            <a:ext cx="44805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sequences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37960" y="1188720"/>
            <a:ext cx="49377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Equal-size batch tensor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505456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136392"/>
            <a:ext cx="5029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901952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n=5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94760" y="2532888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434840" y="3163824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n=4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1051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5059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9067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3075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70832" y="1874520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1051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45059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90672" y="2505456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81051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5059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30752" y="3136392"/>
            <a:ext cx="530352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09928" y="3730752"/>
            <a:ext cx="3246120" cy="237744"/>
          </a:xfrm>
          <a:prstGeom prst="bracePair">
            <a:avLst/>
          </a:prstGeom>
          <a:solidFill>
            <a:srgbClr val="F8FAFC">
              <a:alpha val="0"/>
            </a:srgbClr>
          </a:solidFill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591056" y="3986784"/>
            <a:ext cx="3474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ragged: different numbers of valid time steps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504688" y="2395728"/>
            <a:ext cx="749808" cy="502920"/>
          </a:xfrm>
          <a:prstGeom prst="rightArrow">
            <a:avLst/>
          </a:prstGeom>
          <a:solidFill>
            <a:srgbClr val="1B8A5A"/>
          </a:solidFill>
          <a:ln w="12700">
            <a:solidFill>
              <a:srgbClr val="1B8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047488" y="2962656"/>
            <a:ext cx="12801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 to max length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1664208"/>
            <a:ext cx="65836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6092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00100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64108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8116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921240" y="1664208"/>
            <a:ext cx="56692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37960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6537960" y="25054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6537960" y="2962656"/>
            <a:ext cx="65836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36092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00100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4108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28116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21240" y="20482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36092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00100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641080" y="25054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281160" y="25054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921240" y="25054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36092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00100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64108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281160" y="2962656"/>
            <a:ext cx="566928" cy="329184"/>
          </a:xfrm>
          <a:prstGeom prst="roundRect">
            <a:avLst/>
          </a:prstGeom>
          <a:solidFill>
            <a:srgbClr val="D8ECF7"/>
          </a:solidFill>
          <a:ln w="13970">
            <a:solidFill>
              <a:srgbClr val="2C7FB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9921240" y="2962656"/>
            <a:ext cx="566928" cy="329184"/>
          </a:xfrm>
          <a:prstGeom prst="roundRect">
            <a:avLst/>
          </a:prstGeom>
          <a:solidFill>
            <a:srgbClr val="F3E2B6"/>
          </a:solidFill>
          <a:ln w="13970">
            <a:solidFill>
              <a:srgbClr val="C9970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A4F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634472" y="2542032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length = 5</a:t>
            </a:r>
            <a:endParaRPr lang="en-US" sz="1120" dirty="0"/>
          </a:p>
        </p:txBody>
      </p:sp>
      <p:sp>
        <p:nvSpPr>
          <p:cNvPr id="53" name="Text 51"/>
          <p:cNvSpPr/>
          <p:nvPr/>
        </p:nvSpPr>
        <p:spPr>
          <a:xfrm>
            <a:off x="6537960" y="3968496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mask</a:t>
            </a:r>
            <a:endParaRPr lang="en-US" sz="1450" dirty="0"/>
          </a:p>
        </p:txBody>
      </p:sp>
      <p:sp>
        <p:nvSpPr>
          <p:cNvPr id="54" name="Text 52"/>
          <p:cNvSpPr/>
          <p:nvPr/>
        </p:nvSpPr>
        <p:spPr>
          <a:xfrm>
            <a:off x="6537960" y="4297680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537960" y="4654296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537960" y="5010912"/>
            <a:ext cx="65836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736092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00100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864108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928116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921240" y="4297680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736092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800100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8641080" y="4654296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9281160" y="4654296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9921240" y="4654296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736092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800100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69" name="Text 67"/>
          <p:cNvSpPr/>
          <p:nvPr/>
        </p:nvSpPr>
        <p:spPr>
          <a:xfrm>
            <a:off x="864108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9281160" y="5010912"/>
            <a:ext cx="566928" cy="274320"/>
          </a:xfrm>
          <a:prstGeom prst="roundRect">
            <a:avLst/>
          </a:prstGeom>
          <a:solidFill>
            <a:srgbClr val="DFF3EA"/>
          </a:solidFill>
          <a:ln w="10160">
            <a:solidFill>
              <a:srgbClr val="1B8A5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9921240" y="5010912"/>
            <a:ext cx="566928" cy="274320"/>
          </a:xfrm>
          <a:prstGeom prst="roundRect">
            <a:avLst/>
          </a:prstGeom>
          <a:solidFill>
            <a:srgbClr val="E2E8F0"/>
          </a:solidFill>
          <a:ln w="10160">
            <a:solidFill>
              <a:srgbClr val="CBD5E1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10698480" y="4325112"/>
            <a:ext cx="1234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1B8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= valid observation</a:t>
            </a:r>
            <a:endParaRPr lang="en-US" sz="1030" dirty="0"/>
          </a:p>
        </p:txBody>
      </p:sp>
      <p:sp>
        <p:nvSpPr>
          <p:cNvPr id="73" name="Text 71"/>
          <p:cNvSpPr/>
          <p:nvPr/>
        </p:nvSpPr>
        <p:spPr>
          <a:xfrm>
            <a:off x="10698480" y="4690872"/>
            <a:ext cx="1234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= padded position</a:t>
            </a:r>
            <a:endParaRPr lang="en-US" sz="1030" dirty="0"/>
          </a:p>
        </p:txBody>
      </p:sp>
      <p:sp>
        <p:nvSpPr>
          <p:cNvPr id="74" name="Text 72"/>
          <p:cNvSpPr/>
          <p:nvPr/>
        </p:nvSpPr>
        <p:spPr>
          <a:xfrm>
            <a:off x="1051560" y="5879592"/>
            <a:ext cx="10149840" cy="384048"/>
          </a:xfrm>
          <a:prstGeom prst="rect">
            <a:avLst/>
          </a:prstGeom>
          <a:solidFill>
            <a:srgbClr val="EEF6FB"/>
          </a:solidFill>
          <a:ln w="10160">
            <a:solidFill>
              <a:srgbClr val="C5DDEC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3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training/inference, padded values are present in the tensor but ignored by the model or by the loss.</a:t>
            </a:r>
            <a:endParaRPr lang="en-US" sz="1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0CBC49-8EFD-67C1-6C08-3C41A2A2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C- </a:t>
            </a:r>
            <a:r>
              <a:rPr lang="en-GB" dirty="0"/>
              <a:t>Types of time-series problems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981CDD-518A-0E24-1EDE-D82987156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06795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5ABB45-504C-8A7C-AC30-62DA8EC1A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temporal data to prediction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78C769-CA98-D3DA-213D-A7CC6DFD4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time series can be used to produce different types of output.</a:t>
            </a:r>
          </a:p>
          <a:p>
            <a:r>
              <a:rPr lang="en-GB" dirty="0"/>
              <a:t>Given a sequence of observations available up to time t: [x[1], x[2], …, x[t]]</a:t>
            </a:r>
          </a:p>
          <a:p>
            <a:r>
              <a:rPr lang="en-GB" dirty="0"/>
              <a:t>the model may produce: one future value; multiple future values; one continuous value associated with the input window;</a:t>
            </a:r>
          </a:p>
          <a:p>
            <a:r>
              <a:rPr lang="en-GB" dirty="0"/>
              <a:t>one class label; a sequence of values or labels; the probability of a future event; an estimate of missing values.</a:t>
            </a:r>
          </a:p>
          <a:p>
            <a:r>
              <a:rPr lang="en-GB" dirty="0"/>
              <a:t>The main families of time-series tasks are:</a:t>
            </a:r>
          </a:p>
          <a:p>
            <a:pPr lvl="1"/>
            <a:r>
              <a:rPr lang="en-GB" dirty="0"/>
              <a:t>forecasting;</a:t>
            </a:r>
          </a:p>
          <a:p>
            <a:pPr lvl="1"/>
            <a:r>
              <a:rPr lang="en-GB" dirty="0"/>
              <a:t>regression from a sequence;</a:t>
            </a:r>
          </a:p>
          <a:p>
            <a:pPr lvl="1"/>
            <a:r>
              <a:rPr lang="en-GB" dirty="0"/>
              <a:t>time-series classification;</a:t>
            </a:r>
          </a:p>
          <a:p>
            <a:pPr lvl="1"/>
            <a:r>
              <a:rPr lang="en-GB" dirty="0"/>
              <a:t>sequence labelling;</a:t>
            </a:r>
          </a:p>
          <a:p>
            <a:pPr lvl="1"/>
            <a:r>
              <a:rPr lang="en-GB" dirty="0"/>
              <a:t>event detection and early warning;</a:t>
            </a:r>
          </a:p>
          <a:p>
            <a:pPr lvl="1"/>
            <a:r>
              <a:rPr lang="en-GB" dirty="0"/>
              <a:t>anomaly detection;</a:t>
            </a:r>
          </a:p>
          <a:p>
            <a:pPr lvl="1"/>
            <a:r>
              <a:rPr lang="en-GB" dirty="0"/>
              <a:t>imputation.</a:t>
            </a:r>
          </a:p>
          <a:p>
            <a:endParaRPr lang="en-GB" b="1" dirty="0"/>
          </a:p>
          <a:p>
            <a:r>
              <a:rPr lang="en-GB" dirty="0"/>
              <a:t>The problem is defined by the available information and the required output.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31896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48F1B29E-7F20-BB36-ADF4-CC99F573B0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5126" y="1210235"/>
            <a:ext cx="9244667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3800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753A6A-FFA3-D79C-206A-FD15A4B07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Forecasting: predicting future values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D756D0-7044-FEB2-9B9F-BA7760432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In forecasting, the target is a variable observed after the prediction time.</a:t>
            </a:r>
          </a:p>
          <a:p>
            <a:r>
              <a:rPr lang="en-GB" b="1" dirty="0"/>
              <a:t>One-step forecasting</a:t>
            </a:r>
          </a:p>
          <a:p>
            <a:pPr lvl="1"/>
            <a:r>
              <a:rPr lang="en-GB" dirty="0"/>
              <a:t>The model uses a window of L observations to predict the next value.</a:t>
            </a:r>
          </a:p>
          <a:p>
            <a:pPr lvl="1"/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pPr lvl="1"/>
            <a:r>
              <a:rPr lang="en-GB" b="1" dirty="0"/>
              <a:t>Output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pPr lvl="1"/>
            <a:r>
              <a:rPr lang="en-GB" dirty="0"/>
              <a:t>Examples: demand in the next hour; temperature at the next sampling instant; production on the following day.</a:t>
            </a:r>
          </a:p>
          <a:p>
            <a:r>
              <a:rPr lang="en-GB" b="1" dirty="0"/>
              <a:t>h-step-ahead forecasting</a:t>
            </a:r>
          </a:p>
          <a:p>
            <a:pPr lvl="1"/>
            <a:r>
              <a:rPr lang="en-GB" dirty="0"/>
              <a:t>The model predicts a value h steps into the future.</a:t>
            </a:r>
          </a:p>
          <a:p>
            <a:pPr lvl="1"/>
            <a:r>
              <a:rPr lang="en-GB" b="1" dirty="0"/>
              <a:t>Input: </a:t>
            </a:r>
            <a:r>
              <a:rPr lang="en-GB" dirty="0"/>
              <a:t>[x[t−L+1], …, x[t]]</a:t>
            </a:r>
          </a:p>
          <a:p>
            <a:pPr lvl="1"/>
            <a:r>
              <a:rPr lang="en-GB" b="1" dirty="0"/>
              <a:t>Output: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The prediction horizon h may represent: seconds; hours; days; production cycles; future events.</a:t>
            </a:r>
          </a:p>
          <a:p>
            <a:r>
              <a:rPr lang="en-GB" b="1" dirty="0"/>
              <a:t>Multivariate forecasting</a:t>
            </a:r>
          </a:p>
          <a:p>
            <a:pPr lvl="1"/>
            <a:r>
              <a:rPr lang="en-GB" dirty="0"/>
              <a:t>If the target contains q variables, the output is a vector.</a:t>
            </a:r>
          </a:p>
          <a:p>
            <a:pPr lvl="1"/>
            <a:r>
              <a:rPr lang="en-GB" b="1" dirty="0"/>
              <a:t>Output shape </a:t>
            </a:r>
            <a:r>
              <a:rPr lang="en-GB" dirty="0"/>
              <a:t>[q]</a:t>
            </a:r>
          </a:p>
          <a:p>
            <a:pPr lvl="1"/>
            <a:r>
              <a:rPr lang="en-GB" dirty="0"/>
              <a:t>Example: [future temperature, future pressure, future energy consumption]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5301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Past window and future target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04088" y="93268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observations end at prediction time t; the target is predicted h steps ahead.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49808" y="1600200"/>
            <a:ext cx="106984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508760" y="1938528"/>
            <a:ext cx="6080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680960" y="1938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920240" y="3429000"/>
            <a:ext cx="5257800" cy="0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178040" y="3429000"/>
            <a:ext cx="2651760" cy="0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829800" y="3429000"/>
            <a:ext cx="82296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920240" y="3044952"/>
            <a:ext cx="0" cy="768096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41732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178040" y="3044952"/>
            <a:ext cx="0" cy="768096"/>
          </a:xfrm>
          <a:prstGeom prst="line">
            <a:avLst/>
          </a:prstGeom>
          <a:noFill/>
          <a:ln w="381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67512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29800" y="3044952"/>
            <a:ext cx="0" cy="768096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326880" y="3995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78040" y="2240280"/>
            <a:ext cx="0" cy="2514600"/>
          </a:xfrm>
          <a:prstGeom prst="line">
            <a:avLst/>
          </a:prstGeom>
          <a:noFill/>
          <a:ln w="2032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537960" y="482803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11680" y="4434840"/>
            <a:ext cx="5074920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543300" y="4114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342632" y="2761488"/>
            <a:ext cx="2322576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836408" y="2450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horizon 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710928" y="3310128"/>
            <a:ext cx="237744" cy="237744"/>
          </a:xfrm>
          <a:prstGeom prst="ellipse">
            <a:avLst/>
          </a:prstGeom>
          <a:solidFill>
            <a:srgbClr val="EA580C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326880" y="2770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286000" y="28346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680960" y="3685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to be predicted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691640" y="601675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values from t−L+1 … t as input to predict the value at t+h.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7243D5-AB96-42A4-07CA-F80A3675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FAB5CE-FB65-01B0-BEF0-7FEA01219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dirty="0"/>
              <a:t>Often, the objective is not to predict a single future value, but an entire future sequence. For a prediction horizon of length H:</a:t>
            </a:r>
          </a:p>
          <a:p>
            <a:r>
              <a:rPr lang="en-GB" b="1" dirty="0"/>
              <a:t>Input: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Output: </a:t>
            </a:r>
            <a:r>
              <a:rPr lang="en-GB" dirty="0"/>
              <a:t>[</a:t>
            </a:r>
            <a:r>
              <a:rPr lang="en-GB" dirty="0" err="1"/>
              <a:t>x_hat</a:t>
            </a:r>
            <a:r>
              <a:rPr lang="en-GB" dirty="0"/>
              <a:t>[t+1], </a:t>
            </a:r>
            <a:r>
              <a:rPr lang="en-GB" dirty="0" err="1"/>
              <a:t>x_hat</a:t>
            </a:r>
            <a:r>
              <a:rPr lang="en-GB" dirty="0"/>
              <a:t>[t+2], …,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Examples </a:t>
            </a:r>
            <a:r>
              <a:rPr lang="en-GB" dirty="0"/>
              <a:t>demand over the next 24 hours; temperature over the next seven days; consumption over the next ten intervals; future vehicle trajectory; pressure evolution during the next production cycle.</a:t>
            </a:r>
          </a:p>
          <a:p>
            <a:r>
              <a:rPr lang="en-GB" b="1" dirty="0"/>
              <a:t>Error by forecast horizon</a:t>
            </a:r>
          </a:p>
          <a:p>
            <a:r>
              <a:rPr lang="en-GB" dirty="0"/>
              <a:t>Prediction difficulty generally increases with the forecast distance. It is therefore useful to evaluate:</a:t>
            </a:r>
          </a:p>
          <a:p>
            <a:pPr lvl="1"/>
            <a:r>
              <a:rPr lang="en-GB" dirty="0"/>
              <a:t>error at horizon 1</a:t>
            </a:r>
          </a:p>
          <a:p>
            <a:pPr lvl="1"/>
            <a:r>
              <a:rPr lang="en-GB" dirty="0"/>
              <a:t>error at horizon 2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error at horizon H</a:t>
            </a:r>
          </a:p>
          <a:p>
            <a:r>
              <a:rPr lang="en-GB" dirty="0"/>
              <a:t>A single average metric may hide substantial differences between short- and long-horizon performance.</a:t>
            </a:r>
          </a:p>
          <a:p>
            <a:r>
              <a:rPr lang="en-GB" b="1" dirty="0"/>
              <a:t>Output shapes</a:t>
            </a:r>
          </a:p>
          <a:p>
            <a:r>
              <a:rPr lang="en-GB" dirty="0"/>
              <a:t>For a batch of N samples: Output shape = [N, H]</a:t>
            </a:r>
          </a:p>
          <a:p>
            <a:r>
              <a:rPr lang="en-GB" dirty="0"/>
              <a:t>For multivariate forecasting: Output shape = [N, H, q] where:</a:t>
            </a:r>
          </a:p>
          <a:p>
            <a:pPr lvl="1"/>
            <a:r>
              <a:rPr lang="en-GB" dirty="0"/>
              <a:t>N = number of samples;</a:t>
            </a:r>
          </a:p>
          <a:p>
            <a:pPr lvl="1"/>
            <a:r>
              <a:rPr lang="en-GB" dirty="0"/>
              <a:t>H = number of forecast horizons;</a:t>
            </a:r>
          </a:p>
          <a:p>
            <a:pPr lvl="1"/>
            <a:r>
              <a:rPr lang="en-GB" dirty="0"/>
              <a:t>q = number of target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4568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lemento grafico 2">
            <a:extLst>
              <a:ext uri="{FF2B5EF4-FFF2-40B4-BE49-F238E27FC236}">
                <a16:creationId xmlns:a16="http://schemas.microsoft.com/office/drawing/2014/main" id="{898F07B3-9C5D-6CBC-A67D-8266BA0B22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2450" y="404812"/>
            <a:ext cx="11087100" cy="604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1032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435FC5-EA60-E644-FA88-A6BF4DD24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Recursive, direct and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F2744B-8D7C-335A-E3D1-18A0CFE98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Different strategies can be used to produce multi-step forecasts.</a:t>
            </a:r>
          </a:p>
          <a:p>
            <a:r>
              <a:rPr lang="en-GB" b="1" dirty="0"/>
              <a:t>Recursive forecasting</a:t>
            </a:r>
          </a:p>
          <a:p>
            <a:r>
              <a:rPr lang="en-GB" dirty="0"/>
              <a:t>A one-step model is trained:</a:t>
            </a:r>
          </a:p>
          <a:p>
            <a:r>
              <a:rPr lang="en-GB" dirty="0"/>
              <a:t>[x[t−L+1], …, x[t]] →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r>
              <a:rPr lang="en-GB" dirty="0"/>
              <a:t>The prediction is then reused as an input:</a:t>
            </a:r>
          </a:p>
          <a:p>
            <a:pPr lvl="1"/>
            <a:r>
              <a:rPr lang="en-GB" dirty="0"/>
              <a:t>predict </a:t>
            </a:r>
            <a:r>
              <a:rPr lang="en-GB" dirty="0" err="1"/>
              <a:t>x_hat</a:t>
            </a:r>
            <a:r>
              <a:rPr lang="en-GB" dirty="0"/>
              <a:t>[t+1]</a:t>
            </a:r>
          </a:p>
          <a:p>
            <a:pPr lvl="1"/>
            <a:r>
              <a:rPr lang="en-GB" dirty="0"/>
              <a:t>append </a:t>
            </a:r>
            <a:r>
              <a:rPr lang="en-GB" dirty="0" err="1"/>
              <a:t>x_hat</a:t>
            </a:r>
            <a:r>
              <a:rPr lang="en-GB" dirty="0"/>
              <a:t>[t+1] to the input</a:t>
            </a:r>
          </a:p>
          <a:p>
            <a:pPr lvl="1"/>
            <a:r>
              <a:rPr lang="en-GB" dirty="0"/>
              <a:t>predict </a:t>
            </a:r>
            <a:r>
              <a:rPr lang="en-GB" dirty="0" err="1"/>
              <a:t>x_hat</a:t>
            </a:r>
            <a:r>
              <a:rPr lang="en-GB" dirty="0"/>
              <a:t>[t+2]</a:t>
            </a:r>
          </a:p>
          <a:p>
            <a:pPr lvl="1"/>
            <a:r>
              <a:rPr lang="en-GB" dirty="0"/>
              <a:t>append </a:t>
            </a:r>
            <a:r>
              <a:rPr lang="en-GB" dirty="0" err="1"/>
              <a:t>x_hat</a:t>
            </a:r>
            <a:r>
              <a:rPr lang="en-GB" dirty="0"/>
              <a:t>[t+2] to the input</a:t>
            </a:r>
          </a:p>
          <a:p>
            <a:pPr lvl="1"/>
            <a:r>
              <a:rPr lang="en-GB" dirty="0"/>
              <a:t>repeat</a:t>
            </a:r>
          </a:p>
          <a:p>
            <a:r>
              <a:rPr lang="en-GB" b="1" dirty="0"/>
              <a:t>Advantage</a:t>
            </a:r>
          </a:p>
          <a:p>
            <a:pPr lvl="1"/>
            <a:r>
              <a:rPr lang="en-GB" dirty="0"/>
              <a:t>only one model is required.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prediction errors accumulate;</a:t>
            </a:r>
          </a:p>
          <a:p>
            <a:pPr lvl="1"/>
            <a:r>
              <a:rPr lang="en-GB" dirty="0"/>
              <a:t>during inference, the model receives predicted values instead of true observations.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58438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C65B6-1CF0-8294-0020-E495A3F0D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2125FF-4F29-4BF5-29EE-F091F8E47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Recursive, direct and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FD4127-9831-C9A1-3C01-E6A0AC9C8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Direct forecasting</a:t>
            </a:r>
          </a:p>
          <a:p>
            <a:r>
              <a:rPr lang="en-GB" dirty="0"/>
              <a:t>A different model is trained for each horizon:</a:t>
            </a:r>
          </a:p>
          <a:p>
            <a:pPr lvl="1"/>
            <a:r>
              <a:rPr lang="en-GB" dirty="0"/>
              <a:t>model 1 → </a:t>
            </a:r>
            <a:r>
              <a:rPr lang="en-GB" dirty="0" err="1"/>
              <a:t>x_hat</a:t>
            </a:r>
            <a:r>
              <a:rPr lang="en-GB" dirty="0"/>
              <a:t>[t+1]; model 2 → </a:t>
            </a:r>
            <a:r>
              <a:rPr lang="en-GB" dirty="0" err="1"/>
              <a:t>x_hat</a:t>
            </a:r>
            <a:r>
              <a:rPr lang="en-GB" dirty="0"/>
              <a:t>[t+2]; model H →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r>
              <a:rPr lang="en-GB" b="1" dirty="0"/>
              <a:t>Advantage </a:t>
            </a:r>
            <a:r>
              <a:rPr lang="en-GB" dirty="0"/>
              <a:t>no recursive propagation of prediction errors.</a:t>
            </a:r>
          </a:p>
          <a:p>
            <a:r>
              <a:rPr lang="en-GB" b="1" dirty="0"/>
              <a:t>Limitations </a:t>
            </a:r>
            <a:r>
              <a:rPr lang="en-GB" dirty="0"/>
              <a:t>several models must be trained and maintained; forecasts for different horizons may be mutually inconsistent.</a:t>
            </a:r>
          </a:p>
          <a:p>
            <a:endParaRPr lang="en-GB" b="1" dirty="0"/>
          </a:p>
          <a:p>
            <a:r>
              <a:rPr lang="en-GB" b="1" dirty="0"/>
              <a:t>Multi-output forecasting</a:t>
            </a:r>
          </a:p>
          <a:p>
            <a:r>
              <a:rPr lang="en-GB" dirty="0"/>
              <a:t>A single model simultaneously predicts all horizons: [x[t−L+1], …, x[t]] → [</a:t>
            </a:r>
            <a:r>
              <a:rPr lang="en-GB" dirty="0" err="1"/>
              <a:t>x_hat</a:t>
            </a:r>
            <a:r>
              <a:rPr lang="en-GB" dirty="0"/>
              <a:t>[t+1], …, </a:t>
            </a:r>
            <a:r>
              <a:rPr lang="en-GB" dirty="0" err="1"/>
              <a:t>x_hat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Advantage: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The model predicts all future horizons jointly. It can therefore learn relationships among the future values, such as trends, smoothness, and correlations between nearby horizons.</a:t>
            </a:r>
          </a:p>
          <a:p>
            <a:r>
              <a:rPr lang="en-GB" b="1" dirty="0"/>
              <a:t>Limitations: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The model must produce a vector or sequence of future values rather than a single prediction, making the output layer more complex.</a:t>
            </a:r>
          </a:p>
          <a:p>
            <a:pPr lvl="1"/>
            <a:r>
              <a:rPr lang="en-GB" dirty="0"/>
              <a:t>Errors at different horizons may have different scales and importance. The loss function must therefore combine them appropriately, for example by averaging them or assigning horizon-specific weights.</a:t>
            </a:r>
          </a:p>
          <a:p>
            <a:pPr lvl="1"/>
            <a:r>
              <a:rPr lang="en-GB" dirty="0"/>
              <a:t>As the forecast horizon increases, distant predictions may dominate the loss or receive insufficient attention, depending on the chosen weighting..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13355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DF47E808-15D8-0DA0-5BF6-2974972236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228600"/>
            <a:ext cx="9418637" cy="411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800" b="1">
                <a:solidFill>
                  <a:srgbClr val="172033"/>
                </a:solidFill>
                <a:latin typeface="Aptos Display" panose="020B0004020202020204" pitchFamily="34" charset="0"/>
              </a:rPr>
              <a:t>Three strategies for multi-step prediction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62F6862F-023C-9B4D-5FB5-D0623178C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225" y="666750"/>
            <a:ext cx="9326563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07084"/>
                </a:solidFill>
                <a:latin typeface="Aptos" panose="020B0004020202020204" pitchFamily="34" charset="0"/>
              </a:rPr>
              <a:t>Same input window, different ways to produce future horizons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4F13E212-CE9A-6424-5B0D-ED0E8BBEB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69563" y="311150"/>
            <a:ext cx="1508125" cy="347663"/>
          </a:xfrm>
          <a:prstGeom prst="rect">
            <a:avLst/>
          </a:prstGeom>
          <a:solidFill>
            <a:srgbClr val="FEF1DC"/>
          </a:solidFill>
          <a:ln w="9525" cap="flat">
            <a:solidFill>
              <a:srgbClr val="FEF1DC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t+1 ... t+H</a:t>
            </a:r>
          </a:p>
        </p:txBody>
      </p:sp>
      <p:sp>
        <p:nvSpPr>
          <p:cNvPr id="3076" name="AutoShape 4">
            <a:extLst>
              <a:ext uri="{FF2B5EF4-FFF2-40B4-BE49-F238E27FC236}">
                <a16:creationId xmlns:a16="http://schemas.microsoft.com/office/drawing/2014/main" id="{31E8F2D0-296A-2E63-E7AC-6851B9940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3" y="1143000"/>
            <a:ext cx="3519487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4F0B4B3-7A20-57E9-2DA7-D1CADD5525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Recursive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E14D94B0-81A5-9B53-2CE1-D988A9E9FB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A one-step model is reused; each prediction becomes part of the next input.</a:t>
            </a:r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6778CDCA-3BA8-D217-B28C-A22A403D4077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363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0" name="Oval 8">
            <a:extLst>
              <a:ext uri="{FF2B5EF4-FFF2-40B4-BE49-F238E27FC236}">
                <a16:creationId xmlns:a16="http://schemas.microsoft.com/office/drawing/2014/main" id="{C3D5EFCB-BC60-BB1C-2C6A-AADB11ECD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1" name="Oval 9">
            <a:extLst>
              <a:ext uri="{FF2B5EF4-FFF2-40B4-BE49-F238E27FC236}">
                <a16:creationId xmlns:a16="http://schemas.microsoft.com/office/drawing/2014/main" id="{5095AE97-3C1E-5D6A-5771-BBF9A4189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5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2" name="Oval 10">
            <a:extLst>
              <a:ext uri="{FF2B5EF4-FFF2-40B4-BE49-F238E27FC236}">
                <a16:creationId xmlns:a16="http://schemas.microsoft.com/office/drawing/2014/main" id="{82256034-D9E1-2BF3-4E1F-B97205B5B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67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03B99B91-AEE5-5E71-CEE0-159C7C53E9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8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9A2A5529-EFAC-731A-2040-454925F49E2F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9475" y="2185988"/>
            <a:ext cx="1588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5" name="Oval 13">
            <a:extLst>
              <a:ext uri="{FF2B5EF4-FFF2-40B4-BE49-F238E27FC236}">
                <a16:creationId xmlns:a16="http://schemas.microsoft.com/office/drawing/2014/main" id="{649317D9-4B9E-2F75-9EAF-5FA0F49E2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6A8A01A7-B22B-5ACB-B845-5604E22AD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92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7" name="Oval 15">
            <a:extLst>
              <a:ext uri="{FF2B5EF4-FFF2-40B4-BE49-F238E27FC236}">
                <a16:creationId xmlns:a16="http://schemas.microsoft.com/office/drawing/2014/main" id="{B395279C-EF4F-957A-6BC4-084B1B09D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8" name="Rectangle 16">
            <a:extLst>
              <a:ext uri="{FF2B5EF4-FFF2-40B4-BE49-F238E27FC236}">
                <a16:creationId xmlns:a16="http://schemas.microsoft.com/office/drawing/2014/main" id="{973C6C1C-F7EC-C29B-347A-ACCD4C4F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413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089" name="Rectangle 17">
            <a:extLst>
              <a:ext uri="{FF2B5EF4-FFF2-40B4-BE49-F238E27FC236}">
                <a16:creationId xmlns:a16="http://schemas.microsoft.com/office/drawing/2014/main" id="{EB28E3A3-51C1-51E5-5EF1-AAF3C136F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8075" y="2057400"/>
            <a:ext cx="109696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6EDE7284-F92F-A0A2-CFF2-3E1825FE8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4388" y="2505075"/>
            <a:ext cx="16351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F155046F-6C4A-5FF0-FBB4-97919ADDA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763" y="3200400"/>
            <a:ext cx="822325" cy="5302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9CD4A45D-3587-FCD9-2B3D-49E0E3BBD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32004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3" name="Rectangle 21">
            <a:extLst>
              <a:ext uri="{FF2B5EF4-FFF2-40B4-BE49-F238E27FC236}">
                <a16:creationId xmlns:a16="http://schemas.microsoft.com/office/drawing/2014/main" id="{918DEA26-6A16-9DB2-EA0C-A31C72F40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32004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094" name="Rectangle 22">
            <a:extLst>
              <a:ext uri="{FF2B5EF4-FFF2-40B4-BE49-F238E27FC236}">
                <a16:creationId xmlns:a16="http://schemas.microsoft.com/office/drawing/2014/main" id="{D624F9ED-078B-D1FA-9F08-56DC86A69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41148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5" name="Rectangle 23">
            <a:extLst>
              <a:ext uri="{FF2B5EF4-FFF2-40B4-BE49-F238E27FC236}">
                <a16:creationId xmlns:a16="http://schemas.microsoft.com/office/drawing/2014/main" id="{6998DAB5-ACD3-C16D-E420-B1A7D888A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41148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096" name="Rectangle 24">
            <a:extLst>
              <a:ext uri="{FF2B5EF4-FFF2-40B4-BE49-F238E27FC236}">
                <a16:creationId xmlns:a16="http://schemas.microsoft.com/office/drawing/2014/main" id="{687D33DD-7BF2-57C3-ECE9-6B23F8B5A3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3225" y="5029200"/>
            <a:ext cx="776288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same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097" name="Rectangle 25">
            <a:extLst>
              <a:ext uri="{FF2B5EF4-FFF2-40B4-BE49-F238E27FC236}">
                <a16:creationId xmlns:a16="http://schemas.microsoft.com/office/drawing/2014/main" id="{1C3C37AE-AF68-FE60-2A48-F0AD620D7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0175" y="50292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C60A2C1A-C6E7-C2A3-D999-61AF903D8A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63675" y="3465513"/>
            <a:ext cx="209550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9" name="Line 27">
            <a:extLst>
              <a:ext uri="{FF2B5EF4-FFF2-40B4-BE49-F238E27FC236}">
                <a16:creationId xmlns:a16="http://schemas.microsoft.com/office/drawing/2014/main" id="{63E2D970-9B1F-107B-7423-F73AF0EA6B2D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34655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0" name="Line 28">
            <a:extLst>
              <a:ext uri="{FF2B5EF4-FFF2-40B4-BE49-F238E27FC236}">
                <a16:creationId xmlns:a16="http://schemas.microsoft.com/office/drawing/2014/main" id="{2F34E405-15CF-F1AF-6B8A-007FDA4A237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16163" y="3730625"/>
            <a:ext cx="749300" cy="384175"/>
          </a:xfrm>
          <a:prstGeom prst="line">
            <a:avLst/>
          </a:prstGeom>
          <a:noFill/>
          <a:ln w="12600" cap="flat">
            <a:solidFill>
              <a:srgbClr val="D9770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1" name="Line 29">
            <a:extLst>
              <a:ext uri="{FF2B5EF4-FFF2-40B4-BE49-F238E27FC236}">
                <a16:creationId xmlns:a16="http://schemas.microsoft.com/office/drawing/2014/main" id="{0810730F-31B7-DB4F-4814-69BB8DC434E3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43799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2" name="Line 30">
            <a:extLst>
              <a:ext uri="{FF2B5EF4-FFF2-40B4-BE49-F238E27FC236}">
                <a16:creationId xmlns:a16="http://schemas.microsoft.com/office/drawing/2014/main" id="{C6706046-F19F-AB76-CAB2-7B760B389F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16163" y="4645025"/>
            <a:ext cx="749300" cy="384175"/>
          </a:xfrm>
          <a:prstGeom prst="line">
            <a:avLst/>
          </a:prstGeom>
          <a:noFill/>
          <a:ln w="12600" cap="flat">
            <a:solidFill>
              <a:srgbClr val="D9770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CA0F60D7-09D4-A23D-24F5-E18B90E63835}"/>
              </a:ext>
            </a:extLst>
          </p:cNvPr>
          <p:cNvSpPr>
            <a:spLocks noChangeShapeType="1"/>
          </p:cNvSpPr>
          <p:nvPr/>
        </p:nvSpPr>
        <p:spPr bwMode="auto">
          <a:xfrm>
            <a:off x="2451100" y="5294313"/>
            <a:ext cx="219075" cy="1587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4" name="Rectangle 32">
            <a:extLst>
              <a:ext uri="{FF2B5EF4-FFF2-40B4-BE49-F238E27FC236}">
                <a16:creationId xmlns:a16="http://schemas.microsoft.com/office/drawing/2014/main" id="{2CC9D8C9-B1E2-6AF9-9687-0BC80B084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0" y="5989638"/>
            <a:ext cx="3008313" cy="236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Risk: errors can accumulate over the horizon.</a:t>
            </a:r>
          </a:p>
        </p:txBody>
      </p:sp>
      <p:sp>
        <p:nvSpPr>
          <p:cNvPr id="3105" name="AutoShape 33">
            <a:extLst>
              <a:ext uri="{FF2B5EF4-FFF2-40B4-BE49-F238E27FC236}">
                <a16:creationId xmlns:a16="http://schemas.microsoft.com/office/drawing/2014/main" id="{024B12C2-91BF-C4DC-570E-2FF4DA643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143000"/>
            <a:ext cx="3519488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6" name="Rectangle 34">
            <a:extLst>
              <a:ext uri="{FF2B5EF4-FFF2-40B4-BE49-F238E27FC236}">
                <a16:creationId xmlns:a16="http://schemas.microsoft.com/office/drawing/2014/main" id="{19D1403A-1A11-0FBA-6ED1-22155DBD6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Direct</a:t>
            </a:r>
          </a:p>
        </p:txBody>
      </p:sp>
      <p:sp>
        <p:nvSpPr>
          <p:cNvPr id="3107" name="Rectangle 35">
            <a:extLst>
              <a:ext uri="{FF2B5EF4-FFF2-40B4-BE49-F238E27FC236}">
                <a16:creationId xmlns:a16="http://schemas.microsoft.com/office/drawing/2014/main" id="{4EDAA503-7B85-DB1A-34E6-C109526FE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Train a separate model for each horizon. All models see the same past window.</a:t>
            </a:r>
          </a:p>
        </p:txBody>
      </p:sp>
      <p:sp>
        <p:nvSpPr>
          <p:cNvPr id="3108" name="Line 36">
            <a:extLst>
              <a:ext uri="{FF2B5EF4-FFF2-40B4-BE49-F238E27FC236}">
                <a16:creationId xmlns:a16="http://schemas.microsoft.com/office/drawing/2014/main" id="{0DD81B22-0BDE-34BF-6A6D-71E08DCE7F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800600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9" name="Oval 37">
            <a:extLst>
              <a:ext uri="{FF2B5EF4-FFF2-40B4-BE49-F238E27FC236}">
                <a16:creationId xmlns:a16="http://schemas.microsoft.com/office/drawing/2014/main" id="{7E6420AB-64B0-F0C2-781E-BEE9B7DDF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663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0" name="Oval 38">
            <a:extLst>
              <a:ext uri="{FF2B5EF4-FFF2-40B4-BE49-F238E27FC236}">
                <a16:creationId xmlns:a16="http://schemas.microsoft.com/office/drawing/2014/main" id="{2776901B-B9FF-AF97-7B6A-934FA01B5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778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1" name="Oval 39">
            <a:extLst>
              <a:ext uri="{FF2B5EF4-FFF2-40B4-BE49-F238E27FC236}">
                <a16:creationId xmlns:a16="http://schemas.microsoft.com/office/drawing/2014/main" id="{7BC253BC-2878-A3F1-D1E5-80D2AC3CD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735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2" name="Oval 40">
            <a:extLst>
              <a:ext uri="{FF2B5EF4-FFF2-40B4-BE49-F238E27FC236}">
                <a16:creationId xmlns:a16="http://schemas.microsoft.com/office/drawing/2014/main" id="{003417AA-4848-8FEC-E3D9-93DDE7B30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8500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3" name="Line 41">
            <a:extLst>
              <a:ext uri="{FF2B5EF4-FFF2-40B4-BE49-F238E27FC236}">
                <a16:creationId xmlns:a16="http://schemas.microsoft.com/office/drawing/2014/main" id="{3A6B8C22-CFA1-F6E5-1C84-95BF1917BEC0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0125" y="2185988"/>
            <a:ext cx="1588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14" name="Oval 42">
            <a:extLst>
              <a:ext uri="{FF2B5EF4-FFF2-40B4-BE49-F238E27FC236}">
                <a16:creationId xmlns:a16="http://schemas.microsoft.com/office/drawing/2014/main" id="{B77D2B33-7957-2EF0-D880-EB88F22F4F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77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5" name="Oval 43">
            <a:extLst>
              <a:ext uri="{FF2B5EF4-FFF2-40B4-BE49-F238E27FC236}">
                <a16:creationId xmlns:a16="http://schemas.microsoft.com/office/drawing/2014/main" id="{45E0F159-E08E-5FC4-C62E-D212D47FD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14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6" name="Oval 44">
            <a:extLst>
              <a:ext uri="{FF2B5EF4-FFF2-40B4-BE49-F238E27FC236}">
                <a16:creationId xmlns:a16="http://schemas.microsoft.com/office/drawing/2014/main" id="{D5B849DC-FA47-D138-627A-13463FE85C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5188" y="2368550"/>
            <a:ext cx="90487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7" name="Rectangle 45">
            <a:extLst>
              <a:ext uri="{FF2B5EF4-FFF2-40B4-BE49-F238E27FC236}">
                <a16:creationId xmlns:a16="http://schemas.microsoft.com/office/drawing/2014/main" id="{9B12F9B6-6CF5-0E10-EC8B-9D76F52D3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9650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118" name="Rectangle 46">
            <a:extLst>
              <a:ext uri="{FF2B5EF4-FFF2-40B4-BE49-F238E27FC236}">
                <a16:creationId xmlns:a16="http://schemas.microsoft.com/office/drawing/2014/main" id="{2E7852C2-FB1B-5C61-C7B0-3BFC8164B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8725" y="2057400"/>
            <a:ext cx="109696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119" name="Rectangle 47">
            <a:extLst>
              <a:ext uri="{FF2B5EF4-FFF2-40B4-BE49-F238E27FC236}">
                <a16:creationId xmlns:a16="http://schemas.microsoft.com/office/drawing/2014/main" id="{D3AE343D-A337-03EC-AED1-0662E001D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6625" y="2505075"/>
            <a:ext cx="163513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120" name="Rectangle 48">
            <a:extLst>
              <a:ext uri="{FF2B5EF4-FFF2-40B4-BE49-F238E27FC236}">
                <a16:creationId xmlns:a16="http://schemas.microsoft.com/office/drawing/2014/main" id="{8357BE4D-B47B-9C39-6039-013912C5E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4068763"/>
            <a:ext cx="868363" cy="5937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121" name="Rectangle 49">
            <a:extLst>
              <a:ext uri="{FF2B5EF4-FFF2-40B4-BE49-F238E27FC236}">
                <a16:creationId xmlns:a16="http://schemas.microsoft.com/office/drawing/2014/main" id="{0434CC78-D4F4-CC39-8B41-BC22976AD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3200400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h=1</a:t>
            </a:r>
          </a:p>
        </p:txBody>
      </p:sp>
      <p:sp>
        <p:nvSpPr>
          <p:cNvPr id="3122" name="Rectangle 50">
            <a:extLst>
              <a:ext uri="{FF2B5EF4-FFF2-40B4-BE49-F238E27FC236}">
                <a16:creationId xmlns:a16="http://schemas.microsoft.com/office/drawing/2014/main" id="{32FC3D84-F168-FCC9-4E61-3B662D2D2C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3200400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123" name="Line 51">
            <a:extLst>
              <a:ext uri="{FF2B5EF4-FFF2-40B4-BE49-F238E27FC236}">
                <a16:creationId xmlns:a16="http://schemas.microsoft.com/office/drawing/2014/main" id="{BAD229BF-6000-3CB2-DE81-EF7974D009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40363" y="3467100"/>
            <a:ext cx="320675" cy="895350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4" name="Line 52">
            <a:extLst>
              <a:ext uri="{FF2B5EF4-FFF2-40B4-BE49-F238E27FC236}">
                <a16:creationId xmlns:a16="http://schemas.microsoft.com/office/drawing/2014/main" id="{BA662E41-5E72-F5F8-79F5-955E424B3D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3465513"/>
            <a:ext cx="228600" cy="1587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5" name="Rectangle 53">
            <a:extLst>
              <a:ext uri="{FF2B5EF4-FFF2-40B4-BE49-F238E27FC236}">
                <a16:creationId xmlns:a16="http://schemas.microsoft.com/office/drawing/2014/main" id="{CA9D59F0-0D4E-5FF1-789D-D88FA06A2E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4068763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h=2</a:t>
            </a:r>
          </a:p>
        </p:txBody>
      </p:sp>
      <p:sp>
        <p:nvSpPr>
          <p:cNvPr id="3126" name="Rectangle 54">
            <a:extLst>
              <a:ext uri="{FF2B5EF4-FFF2-40B4-BE49-F238E27FC236}">
                <a16:creationId xmlns:a16="http://schemas.microsoft.com/office/drawing/2014/main" id="{99771122-669E-D58E-5EAA-465DC250A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4068763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127" name="Line 55">
            <a:extLst>
              <a:ext uri="{FF2B5EF4-FFF2-40B4-BE49-F238E27FC236}">
                <a16:creationId xmlns:a16="http://schemas.microsoft.com/office/drawing/2014/main" id="{7E0CA801-8A74-E0DC-80B5-EFA4EEA0F3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40363" y="4335463"/>
            <a:ext cx="320675" cy="26987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8" name="Line 56">
            <a:extLst>
              <a:ext uri="{FF2B5EF4-FFF2-40B4-BE49-F238E27FC236}">
                <a16:creationId xmlns:a16="http://schemas.microsoft.com/office/drawing/2014/main" id="{F4846052-93FE-0F0C-5605-B8C53402A8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4333875"/>
            <a:ext cx="228600" cy="1588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29" name="Rectangle 57">
            <a:extLst>
              <a:ext uri="{FF2B5EF4-FFF2-40B4-BE49-F238E27FC236}">
                <a16:creationId xmlns:a16="http://schemas.microsoft.com/office/drawing/2014/main" id="{36292028-CB1F-3662-36C5-61E3E0745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1038" y="4937125"/>
            <a:ext cx="776287" cy="5302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26816A"/>
                </a:solidFill>
                <a:latin typeface="Aptos" panose="020B0004020202020204" pitchFamily="34" charset="0"/>
              </a:rPr>
              <a:t>h=3</a:t>
            </a:r>
          </a:p>
        </p:txBody>
      </p:sp>
      <p:sp>
        <p:nvSpPr>
          <p:cNvPr id="3130" name="Rectangle 58">
            <a:extLst>
              <a:ext uri="{FF2B5EF4-FFF2-40B4-BE49-F238E27FC236}">
                <a16:creationId xmlns:a16="http://schemas.microsoft.com/office/drawing/2014/main" id="{115772BE-C002-0C1F-D885-05FD89571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925" y="4937125"/>
            <a:ext cx="776288" cy="53022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131" name="Line 59">
            <a:extLst>
              <a:ext uri="{FF2B5EF4-FFF2-40B4-BE49-F238E27FC236}">
                <a16:creationId xmlns:a16="http://schemas.microsoft.com/office/drawing/2014/main" id="{AB382208-970D-18ED-680B-C4EB561B3F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0363" y="4360863"/>
            <a:ext cx="320675" cy="841375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2" name="Line 60">
            <a:extLst>
              <a:ext uri="{FF2B5EF4-FFF2-40B4-BE49-F238E27FC236}">
                <a16:creationId xmlns:a16="http://schemas.microsoft.com/office/drawing/2014/main" id="{77BB44A0-A22B-9B4D-CF15-62A9AC643BA8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7325" y="5202238"/>
            <a:ext cx="228600" cy="1587"/>
          </a:xfrm>
          <a:prstGeom prst="line">
            <a:avLst/>
          </a:prstGeom>
          <a:noFill/>
          <a:ln w="1404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3" name="Rectangle 61">
            <a:extLst>
              <a:ext uri="{FF2B5EF4-FFF2-40B4-BE49-F238E27FC236}">
                <a16:creationId xmlns:a16="http://schemas.microsoft.com/office/drawing/2014/main" id="{0D965434-43DD-C3D6-46FE-B3F021FDE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98988" y="5989638"/>
            <a:ext cx="3008312" cy="236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Benefit: no feedback of previous forecast errors.</a:t>
            </a:r>
          </a:p>
        </p:txBody>
      </p:sp>
      <p:sp>
        <p:nvSpPr>
          <p:cNvPr id="3134" name="AutoShape 62">
            <a:extLst>
              <a:ext uri="{FF2B5EF4-FFF2-40B4-BE49-F238E27FC236}">
                <a16:creationId xmlns:a16="http://schemas.microsoft.com/office/drawing/2014/main" id="{9A62852E-D2C1-4E39-8EC9-81D337F6E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5638" y="1143000"/>
            <a:ext cx="3519487" cy="5348288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600" cap="flat">
            <a:solidFill>
              <a:srgbClr val="D7DEE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5" name="Rectangle 63">
            <a:extLst>
              <a:ext uri="{FF2B5EF4-FFF2-40B4-BE49-F238E27FC236}">
                <a16:creationId xmlns:a16="http://schemas.microsoft.com/office/drawing/2014/main" id="{6E05C6A1-A830-1230-0F94-FD0970407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0" y="1298575"/>
            <a:ext cx="3117850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b="1">
                <a:solidFill>
                  <a:srgbClr val="172033"/>
                </a:solidFill>
                <a:latin typeface="Aptos" panose="020B0004020202020204" pitchFamily="34" charset="0"/>
              </a:rPr>
              <a:t>Multi-output</a:t>
            </a:r>
          </a:p>
        </p:txBody>
      </p:sp>
      <p:sp>
        <p:nvSpPr>
          <p:cNvPr id="3136" name="Rectangle 64">
            <a:extLst>
              <a:ext uri="{FF2B5EF4-FFF2-40B4-BE49-F238E27FC236}">
                <a16:creationId xmlns:a16="http://schemas.microsoft.com/office/drawing/2014/main" id="{219EBB3A-1C9B-439D-7DE9-E8CD2A42A2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0" y="1627188"/>
            <a:ext cx="3117850" cy="38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100">
                <a:solidFill>
                  <a:srgbClr val="607084"/>
                </a:solidFill>
                <a:latin typeface="Aptos" panose="020B0004020202020204" pitchFamily="34" charset="0"/>
              </a:rPr>
              <a:t>One model predicts the whole future vector in a single forward pass.</a:t>
            </a:r>
          </a:p>
        </p:txBody>
      </p:sp>
      <p:sp>
        <p:nvSpPr>
          <p:cNvPr id="3137" name="Line 65">
            <a:extLst>
              <a:ext uri="{FF2B5EF4-FFF2-40B4-BE49-F238E27FC236}">
                <a16:creationId xmlns:a16="http://schemas.microsoft.com/office/drawing/2014/main" id="{AB1EF423-052C-7DD4-F68F-F0D7D06F4527}"/>
              </a:ext>
            </a:extLst>
          </p:cNvPr>
          <p:cNvSpPr>
            <a:spLocks noChangeShapeType="1"/>
          </p:cNvSpPr>
          <p:nvPr/>
        </p:nvSpPr>
        <p:spPr bwMode="auto">
          <a:xfrm>
            <a:off x="8732838" y="2414588"/>
            <a:ext cx="2606675" cy="1587"/>
          </a:xfrm>
          <a:prstGeom prst="line">
            <a:avLst/>
          </a:prstGeom>
          <a:noFill/>
          <a:ln w="15120" cap="flat">
            <a:solidFill>
              <a:srgbClr val="B7C4D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38" name="Oval 66">
            <a:extLst>
              <a:ext uri="{FF2B5EF4-FFF2-40B4-BE49-F238E27FC236}">
                <a16:creationId xmlns:a16="http://schemas.microsoft.com/office/drawing/2014/main" id="{FB6DF666-D4DB-3B6F-F64E-0985AEE23F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8875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9" name="Oval 67">
            <a:extLst>
              <a:ext uri="{FF2B5EF4-FFF2-40B4-BE49-F238E27FC236}">
                <a16:creationId xmlns:a16="http://schemas.microsoft.com/office/drawing/2014/main" id="{180B91ED-C433-160F-AD3C-96F56F0B6A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0025" y="2368550"/>
            <a:ext cx="90488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0" name="Oval 68">
            <a:extLst>
              <a:ext uri="{FF2B5EF4-FFF2-40B4-BE49-F238E27FC236}">
                <a16:creationId xmlns:a16="http://schemas.microsoft.com/office/drawing/2014/main" id="{774CDAD6-4A04-D289-8F3F-DDE7CFBD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9958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1" name="Oval 69">
            <a:extLst>
              <a:ext uri="{FF2B5EF4-FFF2-40B4-BE49-F238E27FC236}">
                <a16:creationId xmlns:a16="http://schemas.microsoft.com/office/drawing/2014/main" id="{E62B648B-B9C9-5ED2-9C0B-975F6ACAB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0738" y="2368550"/>
            <a:ext cx="90487" cy="90488"/>
          </a:xfrm>
          <a:prstGeom prst="ellipse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2" name="Line 70">
            <a:extLst>
              <a:ext uri="{FF2B5EF4-FFF2-40B4-BE49-F238E27FC236}">
                <a16:creationId xmlns:a16="http://schemas.microsoft.com/office/drawing/2014/main" id="{8CEE7BF4-4C84-2144-ED6B-DB668860C368}"/>
              </a:ext>
            </a:extLst>
          </p:cNvPr>
          <p:cNvSpPr>
            <a:spLocks noChangeShapeType="1"/>
          </p:cNvSpPr>
          <p:nvPr/>
        </p:nvSpPr>
        <p:spPr bwMode="auto">
          <a:xfrm>
            <a:off x="10012363" y="2185988"/>
            <a:ext cx="1587" cy="476250"/>
          </a:xfrm>
          <a:prstGeom prst="line">
            <a:avLst/>
          </a:prstGeom>
          <a:noFill/>
          <a:ln w="14040" cap="flat">
            <a:solidFill>
              <a:srgbClr val="334155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43" name="Oval 71">
            <a:extLst>
              <a:ext uri="{FF2B5EF4-FFF2-40B4-BE49-F238E27FC236}">
                <a16:creationId xmlns:a16="http://schemas.microsoft.com/office/drawing/2014/main" id="{4B263F92-E588-FA01-9511-370DC7D5C6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0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4" name="Oval 72">
            <a:extLst>
              <a:ext uri="{FF2B5EF4-FFF2-40B4-BE49-F238E27FC236}">
                <a16:creationId xmlns:a16="http://schemas.microsoft.com/office/drawing/2014/main" id="{EC14D19D-1855-B9CC-26F6-732DB053C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537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5" name="Oval 73">
            <a:extLst>
              <a:ext uri="{FF2B5EF4-FFF2-40B4-BE49-F238E27FC236}">
                <a16:creationId xmlns:a16="http://schemas.microsoft.com/office/drawing/2014/main" id="{616EDB4B-5E07-4E6F-D5B5-DF977DFA3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47425" y="2368550"/>
            <a:ext cx="90488" cy="90488"/>
          </a:xfrm>
          <a:prstGeom prst="ellipse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6" name="Rectangle 74">
            <a:extLst>
              <a:ext uri="{FF2B5EF4-FFF2-40B4-BE49-F238E27FC236}">
                <a16:creationId xmlns:a16="http://schemas.microsoft.com/office/drawing/2014/main" id="{3EFE958C-DC07-2B88-9BEB-18395A0A2E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0300" y="2057400"/>
            <a:ext cx="914400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255C99"/>
                </a:solidFill>
                <a:latin typeface="Aptos" panose="020B0004020202020204" pitchFamily="34" charset="0"/>
              </a:rPr>
              <a:t>past input</a:t>
            </a:r>
          </a:p>
        </p:txBody>
      </p:sp>
      <p:sp>
        <p:nvSpPr>
          <p:cNvPr id="3147" name="Rectangle 75">
            <a:extLst>
              <a:ext uri="{FF2B5EF4-FFF2-40B4-BE49-F238E27FC236}">
                <a16:creationId xmlns:a16="http://schemas.microsoft.com/office/drawing/2014/main" id="{6350ACE9-3B44-AF25-8A29-8220F2D575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40963" y="2057400"/>
            <a:ext cx="109696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D97706"/>
                </a:solidFill>
                <a:latin typeface="Aptos" panose="020B0004020202020204" pitchFamily="34" charset="0"/>
              </a:rPr>
              <a:t>future outputs</a:t>
            </a:r>
          </a:p>
        </p:txBody>
      </p:sp>
      <p:sp>
        <p:nvSpPr>
          <p:cNvPr id="3148" name="Rectangle 76">
            <a:extLst>
              <a:ext uri="{FF2B5EF4-FFF2-40B4-BE49-F238E27FC236}">
                <a16:creationId xmlns:a16="http://schemas.microsoft.com/office/drawing/2014/main" id="{82D3479B-AD24-2BA4-FB96-603BE5F6C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8863" y="2505075"/>
            <a:ext cx="163512" cy="16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900">
                <a:solidFill>
                  <a:srgbClr val="172033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149" name="Rectangle 77">
            <a:extLst>
              <a:ext uri="{FF2B5EF4-FFF2-40B4-BE49-F238E27FC236}">
                <a16:creationId xmlns:a16="http://schemas.microsoft.com/office/drawing/2014/main" id="{2DF23F84-55BC-06F7-DC1C-EE7ED07F3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4238" y="3932238"/>
            <a:ext cx="868362" cy="593725"/>
          </a:xfrm>
          <a:prstGeom prst="rect">
            <a:avLst/>
          </a:prstGeom>
          <a:solidFill>
            <a:srgbClr val="DDEBFA"/>
          </a:solidFill>
          <a:ln w="1404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past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55C99"/>
                </a:solidFill>
                <a:latin typeface="Aptos" panose="020B0004020202020204" pitchFamily="34" charset="0"/>
              </a:rPr>
              <a:t>window</a:t>
            </a:r>
          </a:p>
        </p:txBody>
      </p:sp>
      <p:sp>
        <p:nvSpPr>
          <p:cNvPr id="3150" name="Rectangle 78">
            <a:extLst>
              <a:ext uri="{FF2B5EF4-FFF2-40B4-BE49-F238E27FC236}">
                <a16:creationId xmlns:a16="http://schemas.microsoft.com/office/drawing/2014/main" id="{8727F434-C69A-1058-FC0D-62C73CE5EA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20263" y="3932238"/>
            <a:ext cx="822325" cy="593725"/>
          </a:xfrm>
          <a:prstGeom prst="rect">
            <a:avLst/>
          </a:prstGeom>
          <a:solidFill>
            <a:srgbClr val="DFF4EF"/>
          </a:solidFill>
          <a:ln w="1404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6816A"/>
                </a:solidFill>
                <a:latin typeface="Aptos" panose="020B0004020202020204" pitchFamily="34" charset="0"/>
              </a:rPr>
              <a:t>one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26816A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151" name="Rectangle 79">
            <a:extLst>
              <a:ext uri="{FF2B5EF4-FFF2-40B4-BE49-F238E27FC236}">
                <a16:creationId xmlns:a16="http://schemas.microsoft.com/office/drawing/2014/main" id="{B26E83F1-915B-A326-16EC-FF690A084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3630613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y(t+1)</a:t>
            </a:r>
          </a:p>
        </p:txBody>
      </p:sp>
      <p:sp>
        <p:nvSpPr>
          <p:cNvPr id="3152" name="Rectangle 80">
            <a:extLst>
              <a:ext uri="{FF2B5EF4-FFF2-40B4-BE49-F238E27FC236}">
                <a16:creationId xmlns:a16="http://schemas.microsoft.com/office/drawing/2014/main" id="{F2FDB7D1-CDB9-22AA-1519-962E2D23F9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4041775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y(t+2)</a:t>
            </a:r>
          </a:p>
        </p:txBody>
      </p:sp>
      <p:sp>
        <p:nvSpPr>
          <p:cNvPr id="3153" name="Rectangle 81">
            <a:extLst>
              <a:ext uri="{FF2B5EF4-FFF2-40B4-BE49-F238E27FC236}">
                <a16:creationId xmlns:a16="http://schemas.microsoft.com/office/drawing/2014/main" id="{C647443F-E659-E72E-3B16-79D677F1C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7225" y="4452938"/>
            <a:ext cx="776288" cy="384175"/>
          </a:xfrm>
          <a:prstGeom prst="rect">
            <a:avLst/>
          </a:prstGeom>
          <a:solidFill>
            <a:srgbClr val="FEF1DC"/>
          </a:solidFill>
          <a:ln w="1404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720" tIns="720" rIns="720" bIns="72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100" b="1">
                <a:solidFill>
                  <a:srgbClr val="D97706"/>
                </a:solidFill>
                <a:latin typeface="Aptos" panose="020B0004020202020204" pitchFamily="34" charset="0"/>
              </a:rPr>
              <a:t>y(t+3)</a:t>
            </a:r>
          </a:p>
        </p:txBody>
      </p:sp>
      <p:sp>
        <p:nvSpPr>
          <p:cNvPr id="3154" name="Line 82">
            <a:extLst>
              <a:ext uri="{FF2B5EF4-FFF2-40B4-BE49-F238E27FC236}">
                <a16:creationId xmlns:a16="http://schemas.microsoft.com/office/drawing/2014/main" id="{AF25F858-4CB9-E2AF-E443-9E43F6F07792}"/>
              </a:ext>
            </a:extLst>
          </p:cNvPr>
          <p:cNvSpPr>
            <a:spLocks noChangeShapeType="1"/>
          </p:cNvSpPr>
          <p:nvPr/>
        </p:nvSpPr>
        <p:spPr bwMode="auto">
          <a:xfrm>
            <a:off x="9372600" y="4229100"/>
            <a:ext cx="347663" cy="1588"/>
          </a:xfrm>
          <a:prstGeom prst="line">
            <a:avLst/>
          </a:prstGeom>
          <a:noFill/>
          <a:ln w="1512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5" name="Line 83">
            <a:extLst>
              <a:ext uri="{FF2B5EF4-FFF2-40B4-BE49-F238E27FC236}">
                <a16:creationId xmlns:a16="http://schemas.microsoft.com/office/drawing/2014/main" id="{1EEF7F96-7959-EC93-8771-D7EC0E3174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542588" y="3824288"/>
            <a:ext cx="274637" cy="406400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6" name="Line 84">
            <a:extLst>
              <a:ext uri="{FF2B5EF4-FFF2-40B4-BE49-F238E27FC236}">
                <a16:creationId xmlns:a16="http://schemas.microsoft.com/office/drawing/2014/main" id="{C83832BE-E1DB-0190-3E5F-75B29B8A48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42588" y="4229100"/>
            <a:ext cx="274637" cy="4763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7" name="Line 85">
            <a:extLst>
              <a:ext uri="{FF2B5EF4-FFF2-40B4-BE49-F238E27FC236}">
                <a16:creationId xmlns:a16="http://schemas.microsoft.com/office/drawing/2014/main" id="{AEF26CAA-E735-7095-6010-19A181946F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42588" y="4229100"/>
            <a:ext cx="274637" cy="415925"/>
          </a:xfrm>
          <a:prstGeom prst="line">
            <a:avLst/>
          </a:prstGeom>
          <a:noFill/>
          <a:ln w="12600" cap="flat">
            <a:solidFill>
              <a:srgbClr val="607084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8" name="Rectangle 86">
            <a:extLst>
              <a:ext uri="{FF2B5EF4-FFF2-40B4-BE49-F238E27FC236}">
                <a16:creationId xmlns:a16="http://schemas.microsoft.com/office/drawing/2014/main" id="{48B1712C-C15E-C786-7032-CF7E294DF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31225" y="5989638"/>
            <a:ext cx="3008313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i="1">
                <a:solidFill>
                  <a:srgbClr val="607084"/>
                </a:solidFill>
                <a:latin typeface="Aptos" panose="020B0004020202020204" pitchFamily="34" charset="0"/>
              </a:rPr>
              <a:t>Benefit: the model can learn dependencies among future steps.</a:t>
            </a:r>
          </a:p>
        </p:txBody>
      </p:sp>
      <p:sp>
        <p:nvSpPr>
          <p:cNvPr id="3159" name="Rectangle 87">
            <a:extLst>
              <a:ext uri="{FF2B5EF4-FFF2-40B4-BE49-F238E27FC236}">
                <a16:creationId xmlns:a16="http://schemas.microsoft.com/office/drawing/2014/main" id="{665B65D2-951E-AC26-112B-F565788CC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6565900"/>
            <a:ext cx="119062" cy="119063"/>
          </a:xfrm>
          <a:prstGeom prst="rect">
            <a:avLst/>
          </a:prstGeom>
          <a:solidFill>
            <a:srgbClr val="255C99"/>
          </a:solidFill>
          <a:ln w="12600" cap="flat">
            <a:solidFill>
              <a:srgbClr val="255C99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0" name="Rectangle 88">
            <a:extLst>
              <a:ext uri="{FF2B5EF4-FFF2-40B4-BE49-F238E27FC236}">
                <a16:creationId xmlns:a16="http://schemas.microsoft.com/office/drawing/2014/main" id="{E72CCA76-4C71-70A5-473D-ECFAE185F1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0" y="6510338"/>
            <a:ext cx="914400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observed/input</a:t>
            </a:r>
          </a:p>
        </p:txBody>
      </p:sp>
      <p:sp>
        <p:nvSpPr>
          <p:cNvPr id="3161" name="Rectangle 89">
            <a:extLst>
              <a:ext uri="{FF2B5EF4-FFF2-40B4-BE49-F238E27FC236}">
                <a16:creationId xmlns:a16="http://schemas.microsoft.com/office/drawing/2014/main" id="{CE4C0F8C-FAF6-80D9-78FB-195B7E7CC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6565900"/>
            <a:ext cx="119062" cy="119063"/>
          </a:xfrm>
          <a:prstGeom prst="rect">
            <a:avLst/>
          </a:prstGeom>
          <a:solidFill>
            <a:srgbClr val="26816A"/>
          </a:solidFill>
          <a:ln w="12600" cap="flat">
            <a:solidFill>
              <a:srgbClr val="26816A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2" name="Rectangle 90">
            <a:extLst>
              <a:ext uri="{FF2B5EF4-FFF2-40B4-BE49-F238E27FC236}">
                <a16:creationId xmlns:a16="http://schemas.microsoft.com/office/drawing/2014/main" id="{A6A605B6-0183-4A06-F112-5F1E470A6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9750" y="6510338"/>
            <a:ext cx="503238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model</a:t>
            </a:r>
          </a:p>
        </p:txBody>
      </p:sp>
      <p:sp>
        <p:nvSpPr>
          <p:cNvPr id="3163" name="Rectangle 91">
            <a:extLst>
              <a:ext uri="{FF2B5EF4-FFF2-40B4-BE49-F238E27FC236}">
                <a16:creationId xmlns:a16="http://schemas.microsoft.com/office/drawing/2014/main" id="{CDBE8A4D-6472-56E4-4CC3-908F9D4503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6565900"/>
            <a:ext cx="119063" cy="119063"/>
          </a:xfrm>
          <a:prstGeom prst="rect">
            <a:avLst/>
          </a:prstGeom>
          <a:solidFill>
            <a:srgbClr val="D97706"/>
          </a:solidFill>
          <a:ln w="12600" cap="flat">
            <a:solidFill>
              <a:srgbClr val="D9770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4" name="Rectangle 92">
            <a:extLst>
              <a:ext uri="{FF2B5EF4-FFF2-40B4-BE49-F238E27FC236}">
                <a16:creationId xmlns:a16="http://schemas.microsoft.com/office/drawing/2014/main" id="{367ADC1E-3E10-DDED-D87A-2F1B437F3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7625" y="6510338"/>
            <a:ext cx="914400" cy="20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607084"/>
                </a:solidFill>
                <a:latin typeface="Aptos" panose="020B0004020202020204" pitchFamily="34" charset="0"/>
              </a:rPr>
              <a:t>forecast output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744E2B-F873-3E1C-D107-5A8DF7766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from a time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653EE9-BE1D-B81E-214F-A0D9BA9BD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Not all time-series problems require forecasting future values of the same signal.</a:t>
            </a:r>
          </a:p>
          <a:p>
            <a:r>
              <a:rPr lang="en-GB" dirty="0"/>
              <a:t>In window-level regression, a temporal window is mapped to a continuous value.</a:t>
            </a:r>
          </a:p>
          <a:p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The target y[t] may be different from the input variables.</a:t>
            </a:r>
          </a:p>
          <a:p>
            <a:r>
              <a:rPr lang="en-GB" b="1" dirty="0"/>
              <a:t>Industrial examples: </a:t>
            </a:r>
            <a:r>
              <a:rPr lang="en-GB" dirty="0"/>
              <a:t>product quality; component wear (degradation); process efficiency; remaining useful life; concentration of a substance that is not directly measured; mechanical load; total cycle energy consumption.</a:t>
            </a:r>
          </a:p>
          <a:p>
            <a:r>
              <a:rPr lang="en-GB" b="1" dirty="0"/>
              <a:t>Business examples: </a:t>
            </a:r>
            <a:r>
              <a:rPr lang="en-GB" dirty="0"/>
              <a:t>expected response to a campaign; expected customer value; continuous churn-risk score; demand associated with a campaign; predicted time until the next customer action.</a:t>
            </a:r>
          </a:p>
          <a:p>
            <a:endParaRPr lang="en-GB" b="1" dirty="0"/>
          </a:p>
          <a:p>
            <a:r>
              <a:rPr lang="en-GB" b="1" dirty="0"/>
              <a:t>Window-to-one regression</a:t>
            </a:r>
          </a:p>
          <a:p>
            <a:r>
              <a:rPr lang="en-GB" dirty="0"/>
              <a:t>One temporal window produces one continuous value.</a:t>
            </a:r>
          </a:p>
          <a:p>
            <a:r>
              <a:rPr lang="en-GB" b="1" dirty="0"/>
              <a:t>Input shape: </a:t>
            </a:r>
            <a:r>
              <a:rPr lang="en-GB" dirty="0"/>
              <a:t>[L, d]</a:t>
            </a:r>
          </a:p>
          <a:p>
            <a:r>
              <a:rPr lang="en-GB" b="1" dirty="0"/>
              <a:t>Output shape: </a:t>
            </a:r>
            <a:r>
              <a:rPr lang="en-GB" dirty="0"/>
              <a:t>[1]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11541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128E78-AC5C-252F-2C27-455AAEBA1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from a time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1F582F-BE30-5686-7427-DD690C5A81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Window-to-vector regression</a:t>
            </a:r>
          </a:p>
          <a:p>
            <a:r>
              <a:rPr lang="en-GB" dirty="0"/>
              <a:t>One temporal window produces several continuous values.</a:t>
            </a:r>
          </a:p>
          <a:p>
            <a:r>
              <a:rPr lang="en-GB" b="1" dirty="0"/>
              <a:t>Output: </a:t>
            </a:r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…, </a:t>
            </a:r>
            <a:r>
              <a:rPr lang="en-GB" dirty="0" err="1"/>
              <a:t>y_hat</a:t>
            </a:r>
            <a:r>
              <a:rPr lang="en-GB" dirty="0"/>
              <a:t>[q]]</a:t>
            </a:r>
          </a:p>
          <a:p>
            <a:pPr lvl="1"/>
            <a:r>
              <a:rPr lang="en-GB" dirty="0"/>
              <a:t>Example: [estimated quality, estimated energy consumption, estimated cycle duration]</a:t>
            </a:r>
          </a:p>
          <a:p>
            <a:r>
              <a:rPr lang="en-GB" b="1" dirty="0"/>
              <a:t>Modelling decision</a:t>
            </a:r>
          </a:p>
          <a:p>
            <a:r>
              <a:rPr lang="en-GB" dirty="0"/>
              <a:t>The target must be associated with a clearly defined time or interval:</a:t>
            </a:r>
          </a:p>
          <a:p>
            <a:pPr lvl="1"/>
            <a:r>
              <a:rPr lang="en-GB" dirty="0"/>
              <a:t>the end of the window;</a:t>
            </a:r>
          </a:p>
          <a:p>
            <a:pPr lvl="1"/>
            <a:r>
              <a:rPr lang="en-GB" dirty="0"/>
              <a:t>the centre of the window;</a:t>
            </a:r>
          </a:p>
          <a:p>
            <a:pPr lvl="1"/>
            <a:r>
              <a:rPr lang="en-GB" dirty="0"/>
              <a:t>a future interval;</a:t>
            </a:r>
          </a:p>
          <a:p>
            <a:pPr lvl="1"/>
            <a:r>
              <a:rPr lang="en-GB" dirty="0"/>
              <a:t>the entire production cycle.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1091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 temporal window → estimated product quality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21208" y="8595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synchronized process variables over the past window are transformed into one quality estimate.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64465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32688" y="16276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multivariate temporal window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46120" y="19568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2185416"/>
            <a:ext cx="41605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551176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68980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86784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04588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22392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40196" y="230428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24128" y="256946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78608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848356" y="2673274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296412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566160" y="2666954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014216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283964" y="2651153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732020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001768" y="2660633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449824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719572" y="2641672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167628" y="2542032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437376" y="2632192"/>
            <a:ext cx="100584" cy="100584"/>
          </a:xfrm>
          <a:prstGeom prst="ellipse">
            <a:avLst/>
          </a:prstGeom>
          <a:solidFill>
            <a:srgbClr val="DC262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" y="31912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578608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848356" y="3351949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296412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566160" y="3332988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014216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283964" y="3310867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732020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001768" y="3317187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449824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719572" y="3298226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167628" y="3163824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437376" y="3276105"/>
            <a:ext cx="100584" cy="100584"/>
          </a:xfrm>
          <a:prstGeom prst="ellipse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024128" y="381304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rate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78608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848356" y="3891577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3296412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3566160" y="3904217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4014216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4283964" y="392317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732020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001768" y="3929499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449824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5719572" y="391685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6167628" y="3785616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6437376" y="3910538"/>
            <a:ext cx="100584" cy="100584"/>
          </a:xfrm>
          <a:prstGeom prst="ellipse">
            <a:avLst/>
          </a:prstGeom>
          <a:solidFill>
            <a:srgbClr val="16A34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1024128" y="443484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 current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578608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2848356" y="4570252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3296412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3566160" y="4563931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4014216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4283964" y="4551291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4732020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5001768" y="4535490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5449824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5719572" y="4516529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6167628" y="4407408"/>
            <a:ext cx="640080" cy="438912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6437376" y="4503888"/>
            <a:ext cx="100584" cy="100584"/>
          </a:xfrm>
          <a:prstGeom prst="ellipse">
            <a:avLst/>
          </a:prstGeom>
          <a:solidFill>
            <a:srgbClr val="7C3AED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2578608" y="5376672"/>
            <a:ext cx="4233672" cy="0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2578608" y="5257800"/>
            <a:ext cx="0" cy="237744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6812280" y="5257800"/>
            <a:ext cx="0" cy="237744"/>
          </a:xfrm>
          <a:prstGeom prst="line">
            <a:avLst/>
          </a:prstGeom>
          <a:noFill/>
          <a:ln w="158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8"/>
          <p:cNvSpPr/>
          <p:nvPr/>
        </p:nvSpPr>
        <p:spPr>
          <a:xfrm>
            <a:off x="3886200" y="549554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of length L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87552" y="5989320"/>
            <a:ext cx="5806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GB" sz="1200" dirty="0"/>
              <a:t>The model learns temporal patterns and interactions among multiple process variables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7342632" y="2880360"/>
            <a:ext cx="960120" cy="640080"/>
          </a:xfrm>
          <a:prstGeom prst="rightArrow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7351776" y="35478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8549640" y="1609344"/>
            <a:ext cx="2971800" cy="406908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8869680" y="18470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2000" dirty="0"/>
          </a:p>
        </p:txBody>
      </p:sp>
      <p:sp>
        <p:nvSpPr>
          <p:cNvPr id="76" name="Text 74"/>
          <p:cNvSpPr/>
          <p:nvPr/>
        </p:nvSpPr>
        <p:spPr>
          <a:xfrm>
            <a:off x="8833104" y="219456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product quality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9308592" y="2724912"/>
            <a:ext cx="1444752" cy="1444752"/>
          </a:xfrm>
          <a:prstGeom prst="ellipse">
            <a:avLst/>
          </a:prstGeom>
          <a:solidFill>
            <a:srgbClr val="ECFDF5"/>
          </a:solidFill>
          <a:ln w="1397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9528048" y="2816352"/>
            <a:ext cx="1024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q̂</a:t>
            </a:r>
            <a:endParaRPr lang="en-US" sz="3400" dirty="0"/>
          </a:p>
        </p:txBody>
      </p:sp>
      <p:sp>
        <p:nvSpPr>
          <p:cNvPr id="79" name="Text 77"/>
          <p:cNvSpPr/>
          <p:nvPr/>
        </p:nvSpPr>
        <p:spPr>
          <a:xfrm>
            <a:off x="9601200" y="341985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942832" y="4434840"/>
            <a:ext cx="2176272" cy="585216"/>
          </a:xfrm>
          <a:prstGeom prst="roundRect">
            <a:avLst>
              <a:gd name="adj" fmla="val 187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9116568" y="45628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score</a:t>
            </a:r>
            <a:endParaRPr lang="en-US" sz="1350" dirty="0"/>
          </a:p>
        </p:txBody>
      </p:sp>
      <p:sp>
        <p:nvSpPr>
          <p:cNvPr id="82" name="Text 80"/>
          <p:cNvSpPr/>
          <p:nvPr/>
        </p:nvSpPr>
        <p:spPr>
          <a:xfrm>
            <a:off x="685800" y="6236208"/>
            <a:ext cx="10927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r>
              <a:rPr lang="en-GB" sz="1400" b="1" dirty="0"/>
              <a:t>Example:</a:t>
            </a:r>
            <a:r>
              <a:rPr lang="en-GB" sz="1400" dirty="0"/>
              <a:t> sensor measurements collected throughout a production cycle → predicted final quality score or probability that the product passes inspection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6399DB-5F58-E369-244A-DEC789022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of windows and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730DEF4-6EE8-422B-EDF9-81BF46439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In time-series classification, the target is discrete.</a:t>
            </a:r>
          </a:p>
          <a:p>
            <a:r>
              <a:rPr lang="en-GB" b="1" dirty="0"/>
              <a:t>Window classification</a:t>
            </a:r>
          </a:p>
          <a:p>
            <a:r>
              <a:rPr lang="en-GB" dirty="0"/>
              <a:t>A fixed-length temporal window is assigned to a class.</a:t>
            </a:r>
          </a:p>
          <a:p>
            <a:r>
              <a:rPr lang="en-GB" b="1" dirty="0"/>
              <a:t>Input </a:t>
            </a:r>
            <a:r>
              <a:rPr lang="en-GB" dirty="0"/>
              <a:t>[x[t−L+1],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class_hat</a:t>
            </a:r>
            <a:r>
              <a:rPr lang="en-GB" dirty="0"/>
              <a:t>[t]</a:t>
            </a:r>
          </a:p>
          <a:p>
            <a:r>
              <a:rPr lang="en-GB" dirty="0"/>
              <a:t>Examples: normal operation; overload; incipient fault; severe fault.</a:t>
            </a:r>
          </a:p>
          <a:p>
            <a:r>
              <a:rPr lang="en-GB" b="1" dirty="0"/>
              <a:t>Whole-sequence classification</a:t>
            </a:r>
          </a:p>
          <a:p>
            <a:r>
              <a:rPr lang="en-GB" dirty="0"/>
              <a:t>An entire sequence is assigned to one class.</a:t>
            </a:r>
          </a:p>
          <a:p>
            <a:r>
              <a:rPr lang="en-GB" b="1" dirty="0"/>
              <a:t>Input </a:t>
            </a:r>
            <a:r>
              <a:rPr lang="en-GB" dirty="0"/>
              <a:t>[x[1], …, x[T]]</a:t>
            </a:r>
          </a:p>
          <a:p>
            <a:r>
              <a:rPr lang="en-GB" b="1" dirty="0"/>
              <a:t>Output </a:t>
            </a:r>
            <a:r>
              <a:rPr lang="en-GB" dirty="0" err="1"/>
              <a:t>class_hat</a:t>
            </a:r>
            <a:endParaRPr lang="en-GB" dirty="0"/>
          </a:p>
          <a:p>
            <a:r>
              <a:rPr lang="en-GB" dirty="0"/>
              <a:t>Examples: classification of a production cycle; classification of a journey; activity recognition; fault-type identification; classification of a customer session or campaign.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39843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B60165-55B0-950B-8F81-E969C0D5E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of windows and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9F6E73-AC73-4670-850F-7B9457A21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Binary classification</a:t>
            </a:r>
          </a:p>
          <a:p>
            <a:pPr lvl="1"/>
            <a:r>
              <a:rPr lang="en-GB" dirty="0"/>
              <a:t>normal / abnormal</a:t>
            </a:r>
          </a:p>
          <a:p>
            <a:pPr lvl="1"/>
            <a:r>
              <a:rPr lang="en-GB" dirty="0"/>
              <a:t>churn / no churn</a:t>
            </a:r>
          </a:p>
          <a:p>
            <a:pPr lvl="1"/>
            <a:r>
              <a:rPr lang="en-GB" dirty="0"/>
              <a:t>fault / no fault</a:t>
            </a:r>
          </a:p>
          <a:p>
            <a:r>
              <a:rPr lang="en-GB" b="1" dirty="0"/>
              <a:t>Multiclass classification</a:t>
            </a:r>
          </a:p>
          <a:p>
            <a:pPr lvl="1"/>
            <a:r>
              <a:rPr lang="en-GB" dirty="0"/>
              <a:t>Normal; bearing fault; misalignment; imbalance</a:t>
            </a:r>
            <a:endParaRPr lang="en-GB" b="1" dirty="0"/>
          </a:p>
          <a:p>
            <a:r>
              <a:rPr lang="en-GB" b="1" dirty="0"/>
              <a:t>Multilabel classification</a:t>
            </a:r>
          </a:p>
          <a:p>
            <a:r>
              <a:rPr lang="en-GB" dirty="0"/>
              <a:t>A sequence may have several labels simultaneously.</a:t>
            </a:r>
          </a:p>
          <a:p>
            <a:pPr lvl="1"/>
            <a:r>
              <a:rPr lang="en-GB" dirty="0"/>
              <a:t>high load = yes</a:t>
            </a:r>
          </a:p>
          <a:p>
            <a:pPr lvl="1"/>
            <a:r>
              <a:rPr lang="en-GB" dirty="0"/>
              <a:t>overheating = yes</a:t>
            </a:r>
          </a:p>
          <a:p>
            <a:pPr lvl="1"/>
            <a:r>
              <a:rPr lang="en-GB" dirty="0"/>
              <a:t>vibration anomaly = no</a:t>
            </a:r>
          </a:p>
          <a:p>
            <a:endParaRPr lang="en-GB" b="1" dirty="0"/>
          </a:p>
          <a:p>
            <a:r>
              <a:rPr lang="en-GB" b="1" dirty="0"/>
              <a:t>Classifier output</a:t>
            </a:r>
          </a:p>
          <a:p>
            <a:r>
              <a:rPr lang="en-GB" dirty="0"/>
              <a:t>A classifier usually produces probabilities: [P(class 1), P(class 2), …, P(class K)]</a:t>
            </a:r>
          </a:p>
          <a:p>
            <a:r>
              <a:rPr lang="en-GB" dirty="0"/>
              <a:t>The final class depends on the decision rule or threshold.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83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Window-level prediction from temporal patterns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59536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</a:rPr>
              <a:t>A temporal window is treated as one input example and mapped to one output label.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1572768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●──●──●──●──●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72200" y="185623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60920" y="1755648"/>
            <a:ext cx="2971800" cy="658368"/>
          </a:xfrm>
          <a:prstGeom prst="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normal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●──●─▲─●──●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172200" y="3255264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60920" y="3154680"/>
            <a:ext cx="2971800" cy="658368"/>
          </a:xfrm>
          <a:prstGeom prst="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transient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4370832"/>
            <a:ext cx="4892040" cy="1060704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C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●─▲─●─▼─▲─●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172200" y="4654296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60920" y="4553712"/>
            <a:ext cx="2971800" cy="658368"/>
          </a:xfrm>
          <a:prstGeom prst="rect">
            <a:avLst/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</a:rPr>
              <a:t>fault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59893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4748B"/>
                </a:solidFill>
              </a:rPr>
              <a:t>The output can be a process state, event class, anomaly flag, or operating regime.</a:t>
            </a:r>
            <a:endParaRPr lang="en-US" sz="13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0A9856-F2EE-DDED-F175-91ED52D27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9C7664-3812-6CAE-09B0-4A66B1ECB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 sequence labelling, the model produces one target for each time step.</a:t>
            </a:r>
          </a:p>
          <a:p>
            <a:r>
              <a:rPr lang="en-GB" b="1" dirty="0"/>
              <a:t>Input </a:t>
            </a:r>
            <a:r>
              <a:rPr lang="en-GB" dirty="0"/>
              <a:t>[x[1], x[2], …, x[T]]</a:t>
            </a:r>
          </a:p>
          <a:p>
            <a:r>
              <a:rPr lang="en-GB" b="1" dirty="0"/>
              <a:t>Output </a:t>
            </a:r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…, </a:t>
            </a:r>
            <a:r>
              <a:rPr lang="en-GB" dirty="0" err="1"/>
              <a:t>y_hat</a:t>
            </a:r>
            <a:r>
              <a:rPr lang="en-GB" dirty="0"/>
              <a:t>[T]]</a:t>
            </a:r>
          </a:p>
          <a:p>
            <a:r>
              <a:rPr lang="en-GB" dirty="0"/>
              <a:t>The output may be:</a:t>
            </a:r>
          </a:p>
          <a:p>
            <a:pPr lvl="1"/>
            <a:r>
              <a:rPr lang="en-GB" dirty="0"/>
              <a:t>a class at each time step; </a:t>
            </a:r>
          </a:p>
          <a:p>
            <a:pPr lvl="1"/>
            <a:r>
              <a:rPr lang="en-GB" dirty="0"/>
              <a:t>a continuous value at each time step; </a:t>
            </a:r>
          </a:p>
          <a:p>
            <a:pPr lvl="1"/>
            <a:r>
              <a:rPr lang="en-GB" dirty="0"/>
              <a:t>an event probability at each time step. </a:t>
            </a:r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operating phase of a production process; </a:t>
            </a:r>
          </a:p>
          <a:p>
            <a:pPr lvl="1"/>
            <a:r>
              <a:rPr lang="en-GB" dirty="0"/>
              <a:t>activity performed by a person; </a:t>
            </a:r>
          </a:p>
          <a:p>
            <a:pPr lvl="1"/>
            <a:r>
              <a:rPr lang="en-GB" dirty="0"/>
              <a:t>normal or abnormal condition at every instant; </a:t>
            </a:r>
          </a:p>
          <a:p>
            <a:pPr lvl="1"/>
            <a:r>
              <a:rPr lang="en-GB" dirty="0"/>
              <a:t>estimated force or load at every time step; </a:t>
            </a:r>
          </a:p>
          <a:p>
            <a:pPr lvl="1"/>
            <a:r>
              <a:rPr lang="en-GB" dirty="0"/>
              <a:t>temporal localisation of an event.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59129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ED0E-A8E5-1D8E-024B-ABF911E9A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7F3070-783D-D38B-6C1F-87B878AE5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6E768D-2860-1A06-582A-18A3497FE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8"/>
            <a:ext cx="9167057" cy="4347215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Causal sequence labelling</a:t>
            </a:r>
          </a:p>
          <a:p>
            <a:r>
              <a:rPr lang="en-GB" dirty="0"/>
              <a:t>The output at time t uses only observations available up to t: [x[1], …, x[t]] →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This is appropriate for:</a:t>
            </a:r>
          </a:p>
          <a:p>
            <a:pPr lvl="1"/>
            <a:r>
              <a:rPr lang="en-GB" dirty="0"/>
              <a:t>real-time monitoring; </a:t>
            </a:r>
          </a:p>
          <a:p>
            <a:pPr lvl="1"/>
            <a:r>
              <a:rPr lang="en-GB" dirty="0"/>
              <a:t>online alarms; </a:t>
            </a:r>
          </a:p>
          <a:p>
            <a:pPr lvl="1"/>
            <a:r>
              <a:rPr lang="en-GB" dirty="0"/>
              <a:t>control systems. </a:t>
            </a:r>
          </a:p>
          <a:p>
            <a:endParaRPr lang="en-GB" b="1" dirty="0"/>
          </a:p>
          <a:p>
            <a:r>
              <a:rPr lang="en-GB" b="1" dirty="0"/>
              <a:t>Non-causal sequence labelling</a:t>
            </a:r>
          </a:p>
          <a:p>
            <a:r>
              <a:rPr lang="en-GB" dirty="0"/>
              <a:t>The output at time t may use the entire recorded sequence: [x[1], …, x[T]] →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This is appropriate for:</a:t>
            </a:r>
          </a:p>
          <a:p>
            <a:pPr lvl="1"/>
            <a:r>
              <a:rPr lang="en-GB" dirty="0"/>
              <a:t>offline segmentation; </a:t>
            </a:r>
          </a:p>
          <a:p>
            <a:pPr lvl="1"/>
            <a:r>
              <a:rPr lang="en-GB" dirty="0"/>
              <a:t>retrospective analysis; </a:t>
            </a:r>
          </a:p>
          <a:p>
            <a:pPr lvl="1"/>
            <a:r>
              <a:rPr lang="en-GB" dirty="0"/>
              <a:t>annotation of completed recordings. </a:t>
            </a:r>
          </a:p>
          <a:p>
            <a:endParaRPr lang="en-GB" b="1" dirty="0"/>
          </a:p>
          <a:p>
            <a:r>
              <a:rPr lang="en-GB" b="1" dirty="0"/>
              <a:t>Key distinction</a:t>
            </a:r>
          </a:p>
          <a:p>
            <a:r>
              <a:rPr lang="en-GB" dirty="0"/>
              <a:t>A non-causal method may use observations occurring after the time being labelled. It may therefore perform well offline while being unusable in real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2280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labelling: output at each time step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12648" y="768096"/>
            <a:ext cx="10972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temporal input can be used in a causal or non-causal way, depending on which context is available.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207008"/>
            <a:ext cx="110185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353312"/>
            <a:ext cx="4114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sequence and aligned labels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737360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377440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47872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18304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88736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9168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1737360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1397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2313432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77440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47872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18304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88736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59168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0" y="2313432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3970">
            <a:solidFill>
              <a:srgbClr val="94A3B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2889504"/>
            <a:ext cx="109728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Time: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377440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47872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18304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888736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59168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0" y="2889504"/>
            <a:ext cx="749808" cy="402336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127248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297680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468112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638544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808976" y="1938528"/>
            <a:ext cx="420624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739128" y="1627632"/>
            <a:ext cx="0" cy="1600200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94360" y="3703320"/>
            <a:ext cx="5349240" cy="2468880"/>
          </a:xfrm>
          <a:prstGeom prst="roundRect">
            <a:avLst>
              <a:gd name="adj" fmla="val 5185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63640" y="3703320"/>
            <a:ext cx="5349240" cy="2468880"/>
          </a:xfrm>
          <a:prstGeom prst="roundRect">
            <a:avLst>
              <a:gd name="adj" fmla="val 5185"/>
            </a:avLst>
          </a:prstGeom>
          <a:solidFill>
            <a:srgbClr val="F3E8FF"/>
          </a:solidFill>
          <a:ln w="12700">
            <a:solidFill>
              <a:srgbClr val="E9D5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6868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84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68680" y="4215384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present -&gt; current output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53796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9333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Non-causal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537960" y="4215384"/>
            <a:ext cx="4297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future -&gt; current output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435608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673352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148840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386584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62072" y="5052060"/>
            <a:ext cx="182880" cy="0"/>
          </a:xfrm>
          <a:prstGeom prst="line">
            <a:avLst/>
          </a:prstGeom>
          <a:noFill/>
          <a:ln w="1524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099816" y="4892040"/>
            <a:ext cx="4572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11880" y="5052060"/>
            <a:ext cx="914400" cy="0"/>
          </a:xfrm>
          <a:prstGeom prst="line">
            <a:avLst/>
          </a:prstGeom>
          <a:noFill/>
          <a:ln w="20320">
            <a:solidFill>
              <a:srgbClr val="0284C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617720" y="4873752"/>
            <a:ext cx="822960" cy="356616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y4 = B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68680" y="5577840"/>
            <a:ext cx="4572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online prediction, where future samples are not yet available.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537960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940296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114032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516368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690104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092440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8266176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668512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8842248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AE8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244584" y="5052060"/>
            <a:ext cx="128016" cy="0"/>
          </a:xfrm>
          <a:prstGeom prst="line">
            <a:avLst/>
          </a:prstGeom>
          <a:noFill/>
          <a:ln w="1397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9418320" y="4892040"/>
            <a:ext cx="384048" cy="320040"/>
          </a:xfrm>
          <a:prstGeom prst="roundRect">
            <a:avLst>
              <a:gd name="adj" fmla="val 22857"/>
            </a:avLst>
          </a:prstGeom>
          <a:solidFill>
            <a:srgbClr val="FAE8FF"/>
          </a:solidFill>
          <a:ln w="1270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857232" y="5052060"/>
            <a:ext cx="521208" cy="0"/>
          </a:xfrm>
          <a:prstGeom prst="line">
            <a:avLst/>
          </a:prstGeom>
          <a:noFill/>
          <a:ln w="20320">
            <a:solidFill>
              <a:srgbClr val="9333E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10469880" y="4873752"/>
            <a:ext cx="822960" cy="356616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5240">
            <a:solidFill>
              <a:srgbClr val="9333EA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y4 = B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537960" y="5577840"/>
            <a:ext cx="4572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offline labelling, smoothing, or segmentation after the full sequence is known.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183880" y="5952744"/>
            <a:ext cx="201168" cy="118872"/>
          </a:xfrm>
          <a:prstGeom prst="roundRect">
            <a:avLst>
              <a:gd name="adj" fmla="val 15385"/>
            </a:avLst>
          </a:prstGeom>
          <a:solidFill>
            <a:srgbClr val="FAE8FF"/>
          </a:solidFill>
          <a:ln w="762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8458200" y="5888736"/>
            <a:ext cx="27432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context used for the label at time 4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18CF41-4C0E-7040-911A-8A801C49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 detection and early warning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FF74E7-F8CA-434A-322B-54282E56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Some problems concern the occurrence of an event rather than the value or class of every individual window.</a:t>
            </a:r>
          </a:p>
          <a:p>
            <a:r>
              <a:rPr lang="en-GB" b="1" dirty="0"/>
              <a:t>Event detection</a:t>
            </a:r>
          </a:p>
          <a:p>
            <a:r>
              <a:rPr lang="en-GB" dirty="0"/>
              <a:t>Determine whether an event is occurring at the current time:</a:t>
            </a:r>
          </a:p>
          <a:p>
            <a:r>
              <a:rPr lang="en-GB" dirty="0"/>
              <a:t>recent temporal history → P(event occurring now)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machine fault; </a:t>
            </a:r>
          </a:p>
          <a:p>
            <a:pPr lvl="1"/>
            <a:r>
              <a:rPr lang="en-GB" dirty="0"/>
              <a:t>process instability; </a:t>
            </a:r>
          </a:p>
          <a:p>
            <a:pPr lvl="1"/>
            <a:r>
              <a:rPr lang="en-GB" dirty="0"/>
              <a:t>threshold violation; </a:t>
            </a:r>
          </a:p>
          <a:p>
            <a:pPr lvl="1"/>
            <a:r>
              <a:rPr lang="en-GB" dirty="0"/>
              <a:t>customer abandonment event. </a:t>
            </a:r>
          </a:p>
          <a:p>
            <a:r>
              <a:rPr lang="en-GB" b="1" dirty="0"/>
              <a:t>Event forecasting</a:t>
            </a:r>
          </a:p>
          <a:p>
            <a:r>
              <a:rPr lang="en-GB" dirty="0"/>
              <a:t>Estimate whether an event will occur within a future interval:</a:t>
            </a:r>
          </a:p>
          <a:p>
            <a:r>
              <a:rPr lang="en-GB" dirty="0"/>
              <a:t>recent temporal history → P(event within the next H steps)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11905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24E6-4D71-BC80-AFF3-4F28E970D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ACD974-88D1-B7CC-F548-EAC8B7BAD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 detection and early warning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316550-4D0F-9897-5B08-AA3C60738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Time-to-event estimation</a:t>
            </a:r>
          </a:p>
          <a:p>
            <a:pPr lvl="1"/>
            <a:r>
              <a:rPr lang="en-GB" dirty="0"/>
              <a:t>Estimate the remaining time before the event:</a:t>
            </a:r>
          </a:p>
          <a:p>
            <a:pPr lvl="1"/>
            <a:r>
              <a:rPr lang="en-GB" dirty="0"/>
              <a:t>recent temporal history → estimated time to event</a:t>
            </a:r>
          </a:p>
          <a:p>
            <a:r>
              <a:rPr lang="en-GB" b="1" dirty="0"/>
              <a:t>Early warning</a:t>
            </a:r>
          </a:p>
          <a:p>
            <a:r>
              <a:rPr lang="en-GB" dirty="0"/>
              <a:t>An alarm is useful only if it is generated early enough to support an action.</a:t>
            </a:r>
          </a:p>
          <a:p>
            <a:r>
              <a:rPr lang="en-GB" dirty="0"/>
              <a:t>Relevant quantities include:</a:t>
            </a:r>
          </a:p>
          <a:p>
            <a:pPr lvl="1"/>
            <a:r>
              <a:rPr lang="en-GB" b="1" dirty="0"/>
              <a:t>detection rate</a:t>
            </a:r>
            <a:r>
              <a:rPr lang="en-GB" dirty="0"/>
              <a:t>: fraction of events detected; </a:t>
            </a:r>
          </a:p>
          <a:p>
            <a:pPr lvl="1"/>
            <a:r>
              <a:rPr lang="en-GB" b="1" dirty="0"/>
              <a:t>missed-event rate</a:t>
            </a:r>
            <a:r>
              <a:rPr lang="en-GB" dirty="0"/>
              <a:t>: fraction of events not detected; </a:t>
            </a:r>
          </a:p>
          <a:p>
            <a:pPr lvl="1"/>
            <a:r>
              <a:rPr lang="en-GB" b="1" dirty="0"/>
              <a:t>false-alarm rate</a:t>
            </a:r>
            <a:r>
              <a:rPr lang="en-GB" dirty="0"/>
              <a:t>: alarms not associated with an event; </a:t>
            </a:r>
          </a:p>
          <a:p>
            <a:pPr lvl="1"/>
            <a:r>
              <a:rPr lang="en-GB" b="1" dirty="0"/>
              <a:t>detection delay</a:t>
            </a:r>
            <a:r>
              <a:rPr lang="en-GB" dirty="0"/>
              <a:t>: time between event onset and alarm; </a:t>
            </a:r>
          </a:p>
          <a:p>
            <a:pPr lvl="1"/>
            <a:r>
              <a:rPr lang="en-GB" b="1" dirty="0"/>
              <a:t>anticipation time</a:t>
            </a:r>
            <a:r>
              <a:rPr lang="en-GB" dirty="0"/>
              <a:t>: time between alarm and future event.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51037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prediction: classification accuracy is not enough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7955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useful alarm must identify the event class and leave enough time to act.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1560" y="1856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22392" y="18562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alarm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0" y="1856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2798064"/>
            <a:ext cx="4956048" cy="0"/>
          </a:xfrm>
          <a:prstGeom prst="line">
            <a:avLst/>
          </a:prstGeom>
          <a:noFill/>
          <a:ln w="635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062472" y="2798064"/>
            <a:ext cx="3648456" cy="0"/>
          </a:xfrm>
          <a:prstGeom prst="line">
            <a:avLst/>
          </a:prstGeom>
          <a:noFill/>
          <a:ln w="6350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857232" y="2798064"/>
            <a:ext cx="1325880" cy="0"/>
          </a:xfrm>
          <a:prstGeom prst="line">
            <a:avLst/>
          </a:prstGeom>
          <a:noFill/>
          <a:ln w="6350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989320" y="2212848"/>
            <a:ext cx="0" cy="1143000"/>
          </a:xfrm>
          <a:prstGeom prst="line">
            <a:avLst/>
          </a:prstGeom>
          <a:noFill/>
          <a:ln w="3048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784080" y="2212848"/>
            <a:ext cx="0" cy="1143000"/>
          </a:xfrm>
          <a:prstGeom prst="line">
            <a:avLst/>
          </a:prstGeom>
          <a:noFill/>
          <a:ln w="30480">
            <a:solidFill>
              <a:srgbClr val="DC262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884164" y="2692908"/>
            <a:ext cx="210312" cy="210312"/>
          </a:xfrm>
          <a:prstGeom prst="ellipse">
            <a:avLst/>
          </a:prstGeom>
          <a:solidFill>
            <a:srgbClr val="F59E0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678924" y="2692908"/>
            <a:ext cx="210312" cy="210312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303520" y="34381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alarm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0" y="34381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62472" y="3913632"/>
            <a:ext cx="3648456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835140" y="40782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anticipation 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43525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event time - alarm time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3904488"/>
            <a:ext cx="3246120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anticipation time</a:t>
            </a:r>
            <a:endParaRPr lang="en-US" sz="1550" dirty="0"/>
          </a:p>
          <a:p>
            <a:pPr marL="0" indent="0" algn="l">
              <a:buNone/>
            </a:pPr>
            <a:r>
              <a:rPr lang="en-US" sz="15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means useful/manageable warning.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04088" y="52303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ordinary accuracy can mislead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4088" y="5532120"/>
            <a:ext cx="52578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alarm predicted after the event may still have the correct class label, but it is operationally useless.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537960" y="5623560"/>
            <a:ext cx="4206240" cy="0"/>
          </a:xfrm>
          <a:prstGeom prst="line">
            <a:avLst/>
          </a:prstGeom>
          <a:noFill/>
          <a:ln w="279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458200" y="5358384"/>
            <a:ext cx="0" cy="493776"/>
          </a:xfrm>
          <a:prstGeom prst="line">
            <a:avLst/>
          </a:prstGeom>
          <a:noFill/>
          <a:ln w="21590">
            <a:solidFill>
              <a:srgbClr val="DC262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9738360" y="5358384"/>
            <a:ext cx="0" cy="493776"/>
          </a:xfrm>
          <a:prstGeom prst="line">
            <a:avLst/>
          </a:prstGeom>
          <a:noFill/>
          <a:ln w="21590">
            <a:solidFill>
              <a:srgbClr val="F59E0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394192" y="5559552"/>
            <a:ext cx="128016" cy="128016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674352" y="5559552"/>
            <a:ext cx="128016" cy="128016"/>
          </a:xfrm>
          <a:prstGeom prst="ellipse">
            <a:avLst/>
          </a:prstGeom>
          <a:solidFill>
            <a:srgbClr val="F59E0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138160" y="50109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35440" y="50109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alarm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60920" y="598017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label, no warning time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" y="6446520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timing-aware metrics: anticipation time, missed events, false alarms, and alarm precision before the event.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CCF43A-3D8A-FB8D-C0B0-3F5227C54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fully defines a time-series task?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25EC84-1175-3879-22D7-3DD149A43B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A time-series problem is not completely defined by saying “forecasting,” “regression” or “classification.”</a:t>
            </a:r>
          </a:p>
          <a:p>
            <a:r>
              <a:rPr lang="en-GB" dirty="0"/>
              <a:t>At least six elements must be specified.</a:t>
            </a:r>
          </a:p>
          <a:p>
            <a:r>
              <a:rPr lang="en-GB" b="1" dirty="0"/>
              <a:t>1. Prediction time </a:t>
            </a:r>
            <a:r>
              <a:rPr lang="en-GB" dirty="0"/>
              <a:t>When must the output be generated?</a:t>
            </a:r>
          </a:p>
          <a:p>
            <a:r>
              <a:rPr lang="en-GB" b="1" dirty="0"/>
              <a:t>2. Available information </a:t>
            </a:r>
            <a:r>
              <a:rPr lang="en-GB" dirty="0"/>
              <a:t>Which measurements and covariates are available at that moment?</a:t>
            </a:r>
          </a:p>
          <a:p>
            <a:r>
              <a:rPr lang="en-GB" b="1" dirty="0"/>
              <a:t>3. Input unit </a:t>
            </a:r>
            <a:r>
              <a:rPr lang="en-GB" dirty="0"/>
              <a:t>What is presented to the model?</a:t>
            </a:r>
          </a:p>
          <a:p>
            <a:pPr lvl="1"/>
            <a:r>
              <a:rPr lang="en-GB" dirty="0"/>
              <a:t>a recent temporal window; a complete cycle; an entire recording; all observations collected so far.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AABDC-CEE7-828A-916B-0472716580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4. Target</a:t>
            </a:r>
          </a:p>
          <a:p>
            <a:r>
              <a:rPr lang="en-GB" dirty="0"/>
              <a:t>What must be predicted?</a:t>
            </a:r>
          </a:p>
          <a:p>
            <a:pPr lvl="1"/>
            <a:r>
              <a:rPr lang="en-GB" dirty="0"/>
              <a:t>one future value; a future trajectory; a continuous quantity; a class; one label per time step; an event probability. </a:t>
            </a:r>
            <a:endParaRPr lang="en-GB" b="1" dirty="0"/>
          </a:p>
          <a:p>
            <a:r>
              <a:rPr lang="en-GB" b="1" dirty="0"/>
              <a:t>5. Prediction horizon</a:t>
            </a:r>
          </a:p>
          <a:p>
            <a:r>
              <a:rPr lang="en-GB" dirty="0"/>
              <a:t>How far into the future is the target located?</a:t>
            </a:r>
          </a:p>
          <a:p>
            <a:r>
              <a:rPr lang="en-GB" b="1" dirty="0"/>
              <a:t>6. Evaluation unit</a:t>
            </a:r>
          </a:p>
          <a:p>
            <a:r>
              <a:rPr lang="en-GB" dirty="0"/>
              <a:t>At which level is performance measured?</a:t>
            </a:r>
          </a:p>
          <a:p>
            <a:pPr lvl="1"/>
            <a:r>
              <a:rPr lang="en-GB" dirty="0"/>
              <a:t>time step; window; cycle; event; machine; customer; site.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9CE29A-99C4-EAEC-B3B4-1B57B1E669B9}"/>
              </a:ext>
            </a:extLst>
          </p:cNvPr>
          <p:cNvSpPr txBox="1"/>
          <p:nvPr/>
        </p:nvSpPr>
        <p:spPr>
          <a:xfrm>
            <a:off x="930502" y="6165782"/>
            <a:ext cx="8745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task must be defined before selecting the data representation or model.</a:t>
            </a:r>
          </a:p>
        </p:txBody>
      </p:sp>
    </p:spTree>
    <p:extLst>
      <p:ext uri="{BB962C8B-B14F-4D97-AF65-F5344CB8AC3E}">
        <p14:creationId xmlns:p14="http://schemas.microsoft.com/office/powerpoint/2010/main" val="10263206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2CC8481-9075-B579-1DD5-9E1E38C42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D- </a:t>
            </a:r>
            <a:r>
              <a:rPr lang="en-GB" dirty="0"/>
              <a:t>From Temporal Recordings to Supervised-Learning Samples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ABDF98AB-8F8E-78F2-1821-BDF52D1E8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786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464160C-B708-345F-0FE0-66AFA722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Recording, sequence, window and sample – not synonyms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D513DF-0392-75D5-80C7-526D5E2411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Recording</a:t>
            </a:r>
          </a:p>
          <a:p>
            <a:r>
              <a:rPr lang="en-GB" dirty="0"/>
              <a:t>A continuous or complete set of observations acquired from a source.</a:t>
            </a:r>
          </a:p>
          <a:p>
            <a:pPr lvl="1"/>
            <a:r>
              <a:rPr lang="en-GB" dirty="0"/>
              <a:t>Example: eight hours of sensor measurements from one machine. </a:t>
            </a:r>
          </a:p>
          <a:p>
            <a:endParaRPr lang="en-GB" b="1" dirty="0"/>
          </a:p>
          <a:p>
            <a:r>
              <a:rPr lang="en-GB" b="1" dirty="0"/>
              <a:t>Sequence</a:t>
            </a:r>
          </a:p>
          <a:p>
            <a:r>
              <a:rPr lang="en-GB" dirty="0"/>
              <a:t>An ordered set of observations considered as one temporal object.</a:t>
            </a:r>
          </a:p>
          <a:p>
            <a:r>
              <a:rPr lang="en-GB" dirty="0"/>
              <a:t>A sequence may correspond to:</a:t>
            </a:r>
          </a:p>
          <a:p>
            <a:pPr lvl="1"/>
            <a:r>
              <a:rPr lang="en-GB" dirty="0"/>
              <a:t>the complete recording; </a:t>
            </a:r>
          </a:p>
          <a:p>
            <a:pPr lvl="1"/>
            <a:r>
              <a:rPr lang="en-GB" dirty="0"/>
              <a:t>one production cycle; </a:t>
            </a:r>
          </a:p>
          <a:p>
            <a:pPr lvl="1"/>
            <a:r>
              <a:rPr lang="en-GB" dirty="0"/>
              <a:t>one customer session; </a:t>
            </a:r>
          </a:p>
          <a:p>
            <a:pPr lvl="1"/>
            <a:r>
              <a:rPr lang="en-GB" dirty="0"/>
              <a:t>one trip; </a:t>
            </a:r>
          </a:p>
          <a:p>
            <a:pPr lvl="1"/>
            <a:r>
              <a:rPr lang="en-GB" dirty="0"/>
              <a:t>one experiment. </a:t>
            </a:r>
          </a:p>
          <a:p>
            <a:endParaRPr lang="en-GB" dirty="0"/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3AF6F2DB-4E45-E6B7-6A88-A212BEA8006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Window</a:t>
            </a:r>
          </a:p>
          <a:p>
            <a:r>
              <a:rPr lang="en-GB" dirty="0"/>
              <a:t>A selected interval extracted from a longer sequence.</a:t>
            </a:r>
          </a:p>
          <a:p>
            <a:r>
              <a:rPr lang="en-GB" dirty="0"/>
              <a:t>Example: [x[s], x[s+1], …, x[s+L−1]]</a:t>
            </a:r>
          </a:p>
          <a:p>
            <a:r>
              <a:rPr lang="en-GB" dirty="0"/>
              <a:t>where: s = starting position; L = window length.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97539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4B41C-EAE8-2604-DDB0-D4AEB7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EE8E4583-A475-FC24-9681-83B8B167E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Recording, sequence, window and sample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F4D1A91-6D7C-1F7C-3330-A548663B6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30163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Machine-learning sample</a:t>
            </a:r>
          </a:p>
          <a:p>
            <a:r>
              <a:rPr lang="en-GB" dirty="0"/>
              <a:t>One input–target pair used for training or evaluation.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Input:  observations from time s to time s+L−1</a:t>
            </a:r>
          </a:p>
          <a:p>
            <a:r>
              <a:rPr lang="en-GB" dirty="0"/>
              <a:t>Target: value, class or future sequence associated with that input</a:t>
            </a:r>
          </a:p>
          <a:p>
            <a:endParaRPr lang="en-GB" b="1" dirty="0"/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One recording may generate:</a:t>
            </a:r>
          </a:p>
          <a:p>
            <a:pPr lvl="1"/>
            <a:r>
              <a:rPr lang="en-GB" dirty="0"/>
              <a:t>one sample; </a:t>
            </a:r>
          </a:p>
          <a:p>
            <a:pPr lvl="1"/>
            <a:r>
              <a:rPr lang="en-GB" dirty="0"/>
              <a:t>several independent sequences; </a:t>
            </a:r>
          </a:p>
          <a:p>
            <a:pPr lvl="1"/>
            <a:r>
              <a:rPr lang="en-GB" dirty="0"/>
              <a:t>hundreds of overlapping windows.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47133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long recording to sequences and windows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9808" y="8412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recording can be split into meaningful sequences; shorter windows are then extracted only within a sequence.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0" y="1627632"/>
            <a:ext cx="8138160" cy="256032"/>
          </a:xfrm>
          <a:prstGeom prst="roundRect">
            <a:avLst>
              <a:gd name="adj" fmla="val 17857"/>
            </a:avLst>
          </a:prstGeom>
          <a:solidFill>
            <a:srgbClr val="274C77"/>
          </a:solidFill>
          <a:ln w="12700">
            <a:solidFill>
              <a:srgbClr val="274C7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raw signal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0" y="2907792"/>
            <a:ext cx="2331720" cy="256032"/>
          </a:xfrm>
          <a:prstGeom prst="roundRect">
            <a:avLst>
              <a:gd name="adj" fmla="val 1785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5623560" y="2907792"/>
            <a:ext cx="2011680" cy="256032"/>
          </a:xfrm>
          <a:prstGeom prst="roundRect">
            <a:avLst>
              <a:gd name="adj" fmla="val 17857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75320" y="2907792"/>
            <a:ext cx="2286000" cy="256032"/>
          </a:xfrm>
          <a:prstGeom prst="roundRect">
            <a:avLst>
              <a:gd name="adj" fmla="val 17857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4320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32186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25146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gaps or unused parts may separate sequences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251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within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263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sequence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743200" y="420624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218688" y="457200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694176" y="4937760"/>
            <a:ext cx="1508760" cy="182880"/>
          </a:xfrm>
          <a:prstGeom prst="roundRect">
            <a:avLst>
              <a:gd name="adj" fmla="val 25000"/>
            </a:avLst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389120" y="41605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64608" y="45262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40096" y="48920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0" y="3886200"/>
            <a:ext cx="23317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743200" y="36758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07D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from sequence 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80644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83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should not cross sequence boundaries.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E72EDE-6384-E6E1-67A2-9F0949FA8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Constructing samples from one long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3FE33A-39A4-2334-43A1-27C1EB590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Consider one time series: x[1], x[2], …, x[T]</a:t>
            </a:r>
          </a:p>
          <a:p>
            <a:r>
              <a:rPr lang="en-GB" dirty="0"/>
              <a:t>A fixed-length window of L observations can be moved along the series.</a:t>
            </a:r>
          </a:p>
          <a:p>
            <a:r>
              <a:rPr lang="en-GB" dirty="0"/>
              <a:t>For one-step forecasting:</a:t>
            </a:r>
          </a:p>
          <a:p>
            <a:r>
              <a:rPr lang="en-GB" dirty="0"/>
              <a:t>Sample 1</a:t>
            </a:r>
          </a:p>
          <a:p>
            <a:r>
              <a:rPr lang="en-GB" dirty="0"/>
              <a:t>Input:  [x[1], x[2], x[3], x[4]]; Target: x[5]</a:t>
            </a:r>
          </a:p>
          <a:p>
            <a:r>
              <a:rPr lang="en-GB" dirty="0"/>
              <a:t>Sample 2</a:t>
            </a:r>
          </a:p>
          <a:p>
            <a:r>
              <a:rPr lang="en-GB" dirty="0"/>
              <a:t>Input:  [x[2], x[3], x[4], x[5]]; Target: x[6]</a:t>
            </a:r>
          </a:p>
          <a:p>
            <a:r>
              <a:rPr lang="en-GB" dirty="0"/>
              <a:t>Sample 3</a:t>
            </a:r>
          </a:p>
          <a:p>
            <a:r>
              <a:rPr lang="en-GB" dirty="0"/>
              <a:t>Input:  [x[3], x[4], x[5], x[6]]; Target: x[7]</a:t>
            </a:r>
          </a:p>
          <a:p>
            <a:endParaRPr lang="en-GB" dirty="0"/>
          </a:p>
          <a:p>
            <a:r>
              <a:rPr lang="en-GB" dirty="0"/>
              <a:t>The process transforms one long recording into multiple supervised-learning samples.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B7D9C40-C424-CD4F-BDE8-89252B7237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Number of samples</a:t>
            </a:r>
          </a:p>
          <a:p>
            <a:r>
              <a:rPr lang="en-GB" dirty="0"/>
              <a:t>For:</a:t>
            </a:r>
          </a:p>
          <a:p>
            <a:pPr lvl="1"/>
            <a:r>
              <a:rPr lang="en-GB" dirty="0"/>
              <a:t>series length T; </a:t>
            </a:r>
          </a:p>
          <a:p>
            <a:pPr lvl="1"/>
            <a:r>
              <a:rPr lang="en-GB" dirty="0"/>
              <a:t>input-window length L; </a:t>
            </a:r>
          </a:p>
          <a:p>
            <a:pPr lvl="1"/>
            <a:r>
              <a:rPr lang="en-GB" dirty="0"/>
              <a:t>one-step target; </a:t>
            </a:r>
          </a:p>
          <a:p>
            <a:pPr lvl="1"/>
            <a:r>
              <a:rPr lang="en-GB" dirty="0"/>
              <a:t>stride equal to one; </a:t>
            </a:r>
          </a:p>
          <a:p>
            <a:r>
              <a:rPr lang="en-GB" dirty="0"/>
              <a:t>the number of possible samples is: T − L</a:t>
            </a:r>
          </a:p>
          <a:p>
            <a:r>
              <a:rPr lang="en-GB" dirty="0"/>
              <a:t>For a future horizon of H steps: number of samples = T − L − H + 1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253E7A2-761A-FC7A-9405-64C64780AC46}"/>
              </a:ext>
            </a:extLst>
          </p:cNvPr>
          <p:cNvSpPr txBox="1"/>
          <p:nvPr/>
        </p:nvSpPr>
        <p:spPr>
          <a:xfrm>
            <a:off x="6221816" y="5039808"/>
            <a:ext cx="466054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N.B. </a:t>
            </a:r>
            <a:r>
              <a:rPr lang="en-GB" sz="1800" dirty="0"/>
              <a:t>The generated samples are usually not independent. </a:t>
            </a:r>
            <a:br>
              <a:rPr lang="en-GB" sz="1800" dirty="0"/>
            </a:br>
            <a:r>
              <a:rPr lang="en-GB" sz="1800" dirty="0"/>
              <a:t>Adjacent windows may contain almost the same observations.</a:t>
            </a:r>
          </a:p>
        </p:txBody>
      </p:sp>
    </p:spTree>
    <p:extLst>
      <p:ext uri="{BB962C8B-B14F-4D97-AF65-F5344CB8AC3E}">
        <p14:creationId xmlns:p14="http://schemas.microsoft.com/office/powerpoint/2010/main" val="7013582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windows for one-step-ahead prediction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1106424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 series is converted into supervised examples: input window → next target.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94360" y="1389888"/>
            <a:ext cx="11018520" cy="4919472"/>
          </a:xfrm>
          <a:prstGeom prst="roundRect">
            <a:avLst>
              <a:gd name="adj" fmla="val 29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828800" y="2057400"/>
            <a:ext cx="67208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66420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2432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8444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4456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50468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6480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2492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x7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85048" y="1892808"/>
            <a:ext cx="329184" cy="329184"/>
          </a:xfrm>
          <a:prstGeom prst="ellipse">
            <a:avLst/>
          </a:prstGeom>
          <a:solidFill>
            <a:srgbClr val="FFFFFF"/>
          </a:solidFill>
          <a:ln w="14605">
            <a:solidFill>
              <a:srgbClr val="64748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x8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0" y="1911096"/>
            <a:ext cx="7315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3232" y="3127248"/>
            <a:ext cx="868680" cy="420624"/>
          </a:xfrm>
          <a:prstGeom prst="roundRect">
            <a:avLst>
              <a:gd name="adj" fmla="val 17391"/>
            </a:avLst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828800" y="3337560"/>
            <a:ext cx="38404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66420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2432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58444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44568" y="3172968"/>
            <a:ext cx="329184" cy="329184"/>
          </a:xfrm>
          <a:prstGeom prst="ellipse">
            <a:avLst/>
          </a:prstGeom>
          <a:solidFill>
            <a:srgbClr val="DBEAFE"/>
          </a:solidFill>
          <a:ln w="14605">
            <a:solidFill>
              <a:srgbClr val="2563EB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04688" y="3172968"/>
            <a:ext cx="329184" cy="329184"/>
          </a:xfrm>
          <a:prstGeom prst="ellipse">
            <a:avLst/>
          </a:prstGeom>
          <a:solidFill>
            <a:srgbClr val="FEE2E2"/>
          </a:solidFill>
          <a:ln w="14605">
            <a:solidFill>
              <a:srgbClr val="DC2626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81328" y="3721608"/>
            <a:ext cx="3575304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481328" y="3575304"/>
            <a:ext cx="0" cy="146304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56632" y="3575304"/>
            <a:ext cx="0" cy="146304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481328" y="3803904"/>
            <a:ext cx="35753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983480" y="3337560"/>
            <a:ext cx="41148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349240" y="3867912"/>
            <a:ext cx="640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681728"/>
            <a:ext cx="868680" cy="420624"/>
          </a:xfrm>
          <a:prstGeom prst="roundRect">
            <a:avLst>
              <a:gd name="adj" fmla="val 17391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88920" y="4892040"/>
            <a:ext cx="38404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62432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58444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4456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504688" y="4727448"/>
            <a:ext cx="329184" cy="329184"/>
          </a:xfrm>
          <a:prstGeom prst="ellipse">
            <a:avLst/>
          </a:prstGeom>
          <a:solidFill>
            <a:srgbClr val="DCFCE7"/>
          </a:solidFill>
          <a:ln w="14605">
            <a:solidFill>
              <a:srgbClr val="16A34A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64808" y="4727448"/>
            <a:ext cx="329184" cy="329184"/>
          </a:xfrm>
          <a:prstGeom prst="ellipse">
            <a:avLst/>
          </a:prstGeom>
          <a:solidFill>
            <a:srgbClr val="FEE2E2"/>
          </a:solidFill>
          <a:ln w="14605">
            <a:solidFill>
              <a:srgbClr val="DC2626"/>
            </a:solidFill>
          </a:ln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2441448" y="5276088"/>
            <a:ext cx="3575304" cy="0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441448" y="5129784"/>
            <a:ext cx="0" cy="146304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016752" y="5129784"/>
            <a:ext cx="0" cy="146304"/>
          </a:xfrm>
          <a:prstGeom prst="line">
            <a:avLst/>
          </a:prstGeom>
          <a:noFill/>
          <a:ln w="2921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441448" y="5358384"/>
            <a:ext cx="35753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shifted input window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43600" y="4892040"/>
            <a:ext cx="41148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309360" y="5422392"/>
            <a:ext cx="640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464040" y="2743200"/>
            <a:ext cx="1783080" cy="2331720"/>
          </a:xfrm>
          <a:prstGeom prst="roundRect">
            <a:avLst>
              <a:gd name="adj" fmla="val 6154"/>
            </a:avLst>
          </a:prstGeom>
          <a:solidFill>
            <a:srgbClr val="FEF3C7">
              <a:alpha val="90000"/>
            </a:srgbClr>
          </a:solidFill>
          <a:ln w="1397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9646920" y="2907792"/>
            <a:ext cx="1417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2400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 target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646920" y="3410712"/>
            <a:ext cx="14173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320" dirty="0">
                <a:solidFill>
                  <a:srgbClr val="7835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training sample uses L past observations to predict the next value.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9646920" y="4407408"/>
            <a:ext cx="14173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160" dirty="0">
                <a:solidFill>
                  <a:srgbClr val="7835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Extends to multivariate inputs and multi-step targets.</a:t>
            </a:r>
            <a:endParaRPr lang="en-US" sz="116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DE292F-7B9B-971B-DB7D-DE6B7A8D1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window and target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E3E15E-733B-3FDC-DB20-94CE7C3C0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target must be aligned explicitly with the input window.</a:t>
            </a:r>
          </a:p>
          <a:p>
            <a:r>
              <a:rPr lang="en-GB" dirty="0"/>
              <a:t>Suppose the input window ends at time t.</a:t>
            </a:r>
          </a:p>
          <a:p>
            <a:r>
              <a:rPr lang="en-GB" b="1" dirty="0"/>
              <a:t>Current-state estimation</a:t>
            </a:r>
          </a:p>
          <a:p>
            <a:r>
              <a:rPr lang="en-GB" dirty="0"/>
              <a:t>Input:  [x[t−L+1], …, x[t]] Target: y[t]</a:t>
            </a:r>
          </a:p>
          <a:p>
            <a:r>
              <a:rPr lang="en-GB" dirty="0"/>
              <a:t>Example: estimate current product quality from the most recent measurements. </a:t>
            </a:r>
          </a:p>
          <a:p>
            <a:r>
              <a:rPr lang="en-GB" b="1" dirty="0"/>
              <a:t>One-step forecasting</a:t>
            </a:r>
          </a:p>
          <a:p>
            <a:r>
              <a:rPr lang="en-GB" dirty="0"/>
              <a:t>Input:  [x[t−L+1], …, x[t]] Target: y[t+1]</a:t>
            </a:r>
          </a:p>
          <a:p>
            <a:r>
              <a:rPr lang="en-GB" b="1" dirty="0"/>
              <a:t>h-step-ahead forecasting</a:t>
            </a:r>
          </a:p>
          <a:p>
            <a:r>
              <a:rPr lang="en-GB" dirty="0"/>
              <a:t>Input:  [x[t−L+1], …, x[t]] Target: y[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  <a:p>
            <a:r>
              <a:rPr lang="en-GB" b="1" dirty="0"/>
              <a:t>Multi-horizon forecasting</a:t>
            </a:r>
          </a:p>
          <a:p>
            <a:r>
              <a:rPr lang="en-GB" dirty="0"/>
              <a:t>Input:  [x[t−L+1], …, x[t]] Target: [y[t+1], …, y[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Future-event classification</a:t>
            </a:r>
          </a:p>
          <a:p>
            <a:r>
              <a:rPr lang="en-GB" dirty="0"/>
              <a:t>Input:  [x[t−L+1], …, x[t]] Target: 1 if an event occurs between t+1 and </a:t>
            </a:r>
            <a:r>
              <a:rPr lang="en-GB" dirty="0" err="1"/>
              <a:t>t+H</a:t>
            </a:r>
            <a:r>
              <a:rPr lang="en-GB" dirty="0"/>
              <a:t>; 0 otherwise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147DF1C-27DF-925F-9C3D-7E7CEF829BD3}"/>
              </a:ext>
            </a:extLst>
          </p:cNvPr>
          <p:cNvSpPr txBox="1"/>
          <p:nvPr/>
        </p:nvSpPr>
        <p:spPr>
          <a:xfrm>
            <a:off x="8834966" y="5071222"/>
            <a:ext cx="29743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same input windows can produce different datasets depending on how the target is aligned.</a:t>
            </a:r>
          </a:p>
        </p:txBody>
      </p:sp>
    </p:spTree>
    <p:extLst>
      <p:ext uri="{BB962C8B-B14F-4D97-AF65-F5344CB8AC3E}">
        <p14:creationId xmlns:p14="http://schemas.microsoft.com/office/powerpoint/2010/main" val="21795003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8356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Multi-step forecasting: input window and future target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13232" y="841248"/>
            <a:ext cx="99669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 up to time t are used to predict the next H future values.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1764792"/>
            <a:ext cx="18745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230368" y="1764792"/>
            <a:ext cx="14173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time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900416" y="1764792"/>
            <a:ext cx="123444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261872" y="3063240"/>
            <a:ext cx="4727448" cy="0"/>
          </a:xfrm>
          <a:prstGeom prst="line">
            <a:avLst/>
          </a:prstGeom>
          <a:noFill/>
          <a:ln w="43180">
            <a:solidFill>
              <a:srgbClr val="2563E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989320" y="3063240"/>
            <a:ext cx="4617720" cy="0"/>
          </a:xfrm>
          <a:prstGeom prst="line">
            <a:avLst/>
          </a:prstGeom>
          <a:noFill/>
          <a:ln w="43180">
            <a:solidFill>
              <a:srgbClr val="EA580C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261872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50392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t−L+1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98932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57784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90372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49224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607040" y="2898648"/>
            <a:ext cx="0" cy="329184"/>
          </a:xfrm>
          <a:prstGeom prst="line">
            <a:avLst/>
          </a:prstGeom>
          <a:noFill/>
          <a:ln w="1460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195560" y="3319272"/>
            <a:ext cx="822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89320" y="2084832"/>
            <a:ext cx="0" cy="2340864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1158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86994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49174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140964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9018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411980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033772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710428" y="301294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84702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80714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76726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68166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550347" y="3006547"/>
            <a:ext cx="113386" cy="11338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261872" y="4617720"/>
            <a:ext cx="4727448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903720" y="4617720"/>
            <a:ext cx="3703320" cy="0"/>
          </a:xfrm>
          <a:prstGeom prst="line">
            <a:avLst/>
          </a:prstGeom>
          <a:noFill/>
          <a:ln w="27940">
            <a:solidFill>
              <a:srgbClr val="EA580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273552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366760" y="4800600"/>
            <a:ext cx="868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72768" y="5532120"/>
            <a:ext cx="9052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847088" y="5687568"/>
            <a:ext cx="8485632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window:  xₜ₋ₗ₊₁ … xₜ   →   Forecast target:  yₜ₊₁ … yₜ₊ₕ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4187952" y="6419088"/>
            <a:ext cx="3840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input length; H = forecast horizon</a:t>
            </a:r>
            <a:endParaRPr lang="en-US" sz="12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69F9FC-5F54-7E3C-CC4D-27B976511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CDB92E-D09F-81AE-76DA-C42F6661D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 short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fewer input values; 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better temporal localisation; </a:t>
            </a:r>
          </a:p>
          <a:p>
            <a:pPr lvl="1"/>
            <a:r>
              <a:rPr lang="en-GB" dirty="0"/>
              <a:t>more training samples from a fixed recording.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not contain a complete temporal pattern; </a:t>
            </a:r>
          </a:p>
          <a:p>
            <a:pPr lvl="1"/>
            <a:r>
              <a:rPr lang="en-GB" dirty="0"/>
              <a:t>may miss slow dependencies; </a:t>
            </a:r>
          </a:p>
          <a:p>
            <a:pPr lvl="1"/>
            <a:r>
              <a:rPr lang="en-GB" dirty="0"/>
              <a:t>may be highly sensitive to noise. 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493A52A-B127-1E85-7964-90180966C39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 long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captures longer-term evolution; </a:t>
            </a:r>
          </a:p>
          <a:p>
            <a:pPr lvl="1"/>
            <a:r>
              <a:rPr lang="en-GB" dirty="0"/>
              <a:t>may contain complete cycles or transients; </a:t>
            </a:r>
          </a:p>
          <a:p>
            <a:pPr lvl="1"/>
            <a:r>
              <a:rPr lang="en-GB" dirty="0"/>
              <a:t>provides broader context.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includes more irrelevant information; </a:t>
            </a:r>
          </a:p>
          <a:p>
            <a:pPr lvl="1"/>
            <a:r>
              <a:rPr lang="en-GB" dirty="0"/>
              <a:t>increases memory and computation; </a:t>
            </a:r>
          </a:p>
          <a:p>
            <a:pPr lvl="1"/>
            <a:r>
              <a:rPr lang="en-GB" dirty="0"/>
              <a:t>may reduce the number of available samples; </a:t>
            </a:r>
          </a:p>
          <a:p>
            <a:pPr lvl="1"/>
            <a:r>
              <a:rPr lang="en-GB" dirty="0"/>
              <a:t>may make the learning problem more difficult.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D83C00F-FEA8-1CF1-5F29-3F1ADD8A09C8}"/>
              </a:ext>
            </a:extLst>
          </p:cNvPr>
          <p:cNvSpPr txBox="1"/>
          <p:nvPr/>
        </p:nvSpPr>
        <p:spPr>
          <a:xfrm>
            <a:off x="3528060" y="1399163"/>
            <a:ext cx="63576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input-window length L determines how much temporal context is available to the model.</a:t>
            </a:r>
          </a:p>
        </p:txBody>
      </p:sp>
    </p:spTree>
    <p:extLst>
      <p:ext uri="{BB962C8B-B14F-4D97-AF65-F5344CB8AC3E}">
        <p14:creationId xmlns:p14="http://schemas.microsoft.com/office/powerpoint/2010/main" val="283883496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4FED-07B8-643F-4AEA-65C67C96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3A9C39-B448-9B79-C05C-38C623069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6A019E-ADF9-82FC-A609-7E8CCCC5E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Window length should reflect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expected duration of relevant phenomena; </a:t>
            </a:r>
          </a:p>
          <a:p>
            <a:pPr lvl="1"/>
            <a:r>
              <a:rPr lang="en-GB" dirty="0"/>
              <a:t>process cycle length; </a:t>
            </a:r>
          </a:p>
          <a:p>
            <a:pPr lvl="1"/>
            <a:r>
              <a:rPr lang="en-GB" dirty="0"/>
              <a:t>prediction horizon; </a:t>
            </a:r>
          </a:p>
          <a:p>
            <a:pPr lvl="1"/>
            <a:r>
              <a:rPr lang="en-GB" dirty="0"/>
              <a:t>operational latency requirements.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With sampling at 100 Hz:</a:t>
            </a:r>
          </a:p>
          <a:p>
            <a:pPr lvl="1"/>
            <a:r>
              <a:rPr lang="en-GB" dirty="0"/>
              <a:t>L = 100 represents one second; </a:t>
            </a:r>
          </a:p>
          <a:p>
            <a:pPr lvl="1"/>
            <a:r>
              <a:rPr lang="en-GB" dirty="0"/>
              <a:t>L = 1,000 represents ten seconds. </a:t>
            </a:r>
          </a:p>
          <a:p>
            <a:pPr lvl="1"/>
            <a:r>
              <a:rPr lang="en-GB" dirty="0"/>
              <a:t>Therefore, a window length has no physical meaning unless the sampling interval is also specified.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8284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7E991-C0F4-FFD9-05D1-970633B71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input-window length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38FD1A9B-4AAA-04E7-F168-E3DA298CA8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1155" y="2160588"/>
            <a:ext cx="8269728" cy="3881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7032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85B076-6F0A-51AE-C1E7-669484D7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and overlapping windows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713783-A33D-A4DC-C289-70C13CC51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The stride S is the number of time steps by which the window moves.</a:t>
            </a:r>
          </a:p>
          <a:p>
            <a:pPr lvl="1"/>
            <a:r>
              <a:rPr lang="en-GB" dirty="0"/>
              <a:t>next window start = current window start + S</a:t>
            </a:r>
          </a:p>
          <a:p>
            <a:r>
              <a:rPr lang="en-GB" b="1" dirty="0"/>
              <a:t>Non-overlapping windows</a:t>
            </a:r>
          </a:p>
          <a:p>
            <a:r>
              <a:rPr lang="en-GB" dirty="0"/>
              <a:t>If: S = L consecutive windows do not overlap.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lower redundancy; </a:t>
            </a:r>
          </a:p>
          <a:p>
            <a:pPr lvl="1"/>
            <a:r>
              <a:rPr lang="en-GB" dirty="0"/>
              <a:t>fewer samples; </a:t>
            </a:r>
          </a:p>
          <a:p>
            <a:pPr lvl="1"/>
            <a:r>
              <a:rPr lang="en-GB" dirty="0"/>
              <a:t>simpler interpretation. </a:t>
            </a:r>
          </a:p>
          <a:p>
            <a:r>
              <a:rPr lang="en-GB" b="1" dirty="0"/>
              <a:t>Overlapping windows</a:t>
            </a:r>
          </a:p>
          <a:p>
            <a:r>
              <a:rPr lang="en-GB" dirty="0"/>
              <a:t>If: S &lt; L consecutive windows share observations.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window length L = 100; </a:t>
            </a:r>
          </a:p>
          <a:p>
            <a:pPr lvl="1"/>
            <a:r>
              <a:rPr lang="en-GB" dirty="0"/>
              <a:t>stride S = 10; </a:t>
            </a:r>
          </a:p>
          <a:p>
            <a:pPr lvl="1"/>
            <a:r>
              <a:rPr lang="en-GB" dirty="0"/>
              <a:t>consecutive windows overlap by 90 observations.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61954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46D802-A755-0743-9ECE-DE197ECB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and overlapping windows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8296C0-B7F5-AA37-3F21-4F701C666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Benefits of overlap</a:t>
            </a:r>
          </a:p>
          <a:p>
            <a:pPr lvl="1"/>
            <a:r>
              <a:rPr lang="en-GB" dirty="0"/>
              <a:t>more training samples; </a:t>
            </a:r>
          </a:p>
          <a:p>
            <a:pPr lvl="1"/>
            <a:r>
              <a:rPr lang="en-GB" dirty="0"/>
              <a:t>finer temporal localisation; </a:t>
            </a:r>
          </a:p>
          <a:p>
            <a:pPr lvl="1"/>
            <a:r>
              <a:rPr lang="en-GB" dirty="0"/>
              <a:t>reduced risk of missing short events near window boundaries. </a:t>
            </a:r>
          </a:p>
          <a:p>
            <a:r>
              <a:rPr lang="en-GB" b="1" dirty="0"/>
              <a:t>Risks of overlap</a:t>
            </a:r>
          </a:p>
          <a:p>
            <a:pPr lvl="1"/>
            <a:r>
              <a:rPr lang="en-GB" dirty="0"/>
              <a:t>strong dependence among samples; </a:t>
            </a:r>
          </a:p>
          <a:p>
            <a:pPr lvl="1"/>
            <a:r>
              <a:rPr lang="en-GB" dirty="0"/>
              <a:t>duplicated information; </a:t>
            </a:r>
          </a:p>
          <a:p>
            <a:pPr lvl="1"/>
            <a:r>
              <a:rPr lang="en-GB" dirty="0"/>
              <a:t>inflated apparent dataset size; </a:t>
            </a:r>
          </a:p>
          <a:p>
            <a:pPr lvl="1"/>
            <a:r>
              <a:rPr lang="en-GB" dirty="0"/>
              <a:t>severe leakage if windows are randomly split across training and test sets. </a:t>
            </a:r>
          </a:p>
          <a:p>
            <a:r>
              <a:rPr lang="en-GB" b="1" dirty="0"/>
              <a:t>Approximate overlap fraction</a:t>
            </a:r>
          </a:p>
          <a:p>
            <a:pPr lvl="1"/>
            <a:r>
              <a:rPr lang="en-GB" dirty="0"/>
              <a:t>overlap fraction = (L − S) / L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L = 100, S = 10</a:t>
            </a:r>
          </a:p>
          <a:p>
            <a:pPr lvl="1"/>
            <a:r>
              <a:rPr lang="en-GB" dirty="0"/>
              <a:t>overlap fraction = 90 / 100 = 0.90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4785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Sliding windows: length L and displacement 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77824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fixed-size window is moved forward by a constant displacement between consecutive starts.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25880" y="145389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time →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31720" y="1572768"/>
            <a:ext cx="864108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3317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489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5661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1833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8006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4178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0350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6522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2694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8867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50392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12114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73836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35558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972800" y="1517904"/>
            <a:ext cx="0" cy="109728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85800" y="2423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1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880360" y="2331720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044952" y="2450592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563EB"/>
                </a:solidFill>
              </a:rPr>
              <a:t>input window 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80360" y="2258568"/>
            <a:ext cx="0" cy="585216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766560" y="2258568"/>
            <a:ext cx="0" cy="585216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85800" y="31821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2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611880" y="3090672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FEF3C7"/>
          </a:solidFill>
          <a:ln w="177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776472" y="3209544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input window 2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611880" y="3017520"/>
            <a:ext cx="0" cy="585216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7498080" y="3017520"/>
            <a:ext cx="0" cy="585216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85800" y="39410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</a:rPr>
              <a:t>Window 3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343400" y="3849624"/>
            <a:ext cx="3886200" cy="438912"/>
          </a:xfrm>
          <a:prstGeom prst="roundRect">
            <a:avLst>
              <a:gd name="adj" fmla="val 14583"/>
            </a:avLst>
          </a:prstGeom>
          <a:solidFill>
            <a:srgbClr val="D1FAE5"/>
          </a:solidFill>
          <a:ln w="1778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507992" y="3968496"/>
            <a:ext cx="3557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input window 3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343400" y="3776472"/>
            <a:ext cx="0" cy="585216"/>
          </a:xfrm>
          <a:prstGeom prst="line">
            <a:avLst/>
          </a:prstGeom>
          <a:noFill/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8229600" y="3776472"/>
            <a:ext cx="0" cy="585216"/>
          </a:xfrm>
          <a:prstGeom prst="line">
            <a:avLst/>
          </a:prstGeom>
          <a:noFill/>
          <a:ln w="1524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880360" y="2084832"/>
            <a:ext cx="38862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909060" y="1755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</a:rPr>
              <a:t>L = window length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880360" y="4709160"/>
            <a:ext cx="731520" cy="0"/>
          </a:xfrm>
          <a:prstGeom prst="line">
            <a:avLst/>
          </a:prstGeom>
          <a:noFill/>
          <a:ln w="21590">
            <a:solidFill>
              <a:srgbClr val="F59E0B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3136392" y="4818888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977640" y="497433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S = displacement between consecutive window starts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880360" y="2816352"/>
            <a:ext cx="0" cy="185623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3611880" y="3575304"/>
            <a:ext cx="0" cy="10972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51560" y="5623560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325880" y="5769864"/>
            <a:ext cx="9464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</a:rPr>
              <a:t>Smaller S ⇒ more overlap and more training examples. Larger S ⇒ less overlap and fewer examples.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9FF025-11AD-C982-1804-A38F8CAE0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Representing the resulting dataset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5289F0-506B-C81E-46B6-3A77E4AB3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Input data</a:t>
            </a:r>
          </a:p>
          <a:p>
            <a:r>
              <a:rPr lang="en-GB" dirty="0"/>
              <a:t>X shape = [N, 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N = number of samples; </a:t>
            </a:r>
          </a:p>
          <a:p>
            <a:pPr lvl="1"/>
            <a:r>
              <a:rPr lang="en-GB" dirty="0"/>
              <a:t>L = number of time steps in each sample; </a:t>
            </a:r>
          </a:p>
          <a:p>
            <a:pPr lvl="1"/>
            <a:r>
              <a:rPr lang="en-GB" dirty="0"/>
              <a:t>d = number of variables measured at each time step. 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N = 5,000 windows</a:t>
            </a:r>
          </a:p>
          <a:p>
            <a:pPr lvl="1"/>
            <a:r>
              <a:rPr lang="en-GB" dirty="0"/>
              <a:t>L = 120 time steps</a:t>
            </a:r>
          </a:p>
          <a:p>
            <a:pPr lvl="1"/>
            <a:r>
              <a:rPr lang="en-GB" dirty="0"/>
              <a:t>d = 8 sensor variables</a:t>
            </a:r>
          </a:p>
          <a:p>
            <a:pPr lvl="1"/>
            <a:r>
              <a:rPr lang="en-GB" dirty="0"/>
              <a:t>X shape = [5000, 120, 8]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7AAC41F-DD1E-DF34-0FDE-D24F418AEAE7}"/>
              </a:ext>
            </a:extLst>
          </p:cNvPr>
          <p:cNvSpPr txBox="1"/>
          <p:nvPr/>
        </p:nvSpPr>
        <p:spPr>
          <a:xfrm>
            <a:off x="1926047" y="1399163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After window generation, the temporal inputs are commonly stored in a three-dimensional array.</a:t>
            </a:r>
          </a:p>
        </p:txBody>
      </p:sp>
    </p:spTree>
    <p:extLst>
      <p:ext uri="{BB962C8B-B14F-4D97-AF65-F5344CB8AC3E}">
        <p14:creationId xmlns:p14="http://schemas.microsoft.com/office/powerpoint/2010/main" val="120542751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B893-4E67-9A5C-8368-3CE1EC0DE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0617F-C055-8084-FFA2-3F1EAA222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Representing the resulting dataset - Possible target structures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D9CF2-EBBE-8005-B4B9-040D7C290D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Scalar regression</a:t>
            </a:r>
          </a:p>
          <a:p>
            <a:pPr lvl="1"/>
            <a:r>
              <a:rPr lang="en-GB" dirty="0"/>
              <a:t>Y shape = [N, 1]</a:t>
            </a:r>
            <a:endParaRPr lang="en-GB" b="1" dirty="0"/>
          </a:p>
          <a:p>
            <a:r>
              <a:rPr lang="en-GB" b="1" dirty="0"/>
              <a:t>Regression with q target variables</a:t>
            </a:r>
          </a:p>
          <a:p>
            <a:pPr lvl="1"/>
            <a:r>
              <a:rPr lang="en-GB" dirty="0"/>
              <a:t>Y shape = [N, q]</a:t>
            </a:r>
          </a:p>
          <a:p>
            <a:r>
              <a:rPr lang="en-GB" b="1" dirty="0"/>
              <a:t>Classification with K classes</a:t>
            </a:r>
          </a:p>
          <a:p>
            <a:pPr lvl="1"/>
            <a:r>
              <a:rPr lang="en-GB" dirty="0"/>
              <a:t>Labels may be stored as: Y shape = [N] using integer class indices, or:</a:t>
            </a:r>
          </a:p>
          <a:p>
            <a:pPr lvl="1"/>
            <a:r>
              <a:rPr lang="en-GB" dirty="0"/>
              <a:t>Y shape = [N, K] using one-hot or probability vectors.</a:t>
            </a:r>
          </a:p>
          <a:p>
            <a:r>
              <a:rPr lang="en-GB" b="1" dirty="0"/>
              <a:t>Multi-horizon forecasting</a:t>
            </a:r>
          </a:p>
          <a:p>
            <a:pPr lvl="1"/>
            <a:r>
              <a:rPr lang="en-GB" dirty="0"/>
              <a:t>Y shape = [N, H] for one target variable, or:</a:t>
            </a:r>
          </a:p>
          <a:p>
            <a:pPr lvl="1"/>
            <a:r>
              <a:rPr lang="en-GB" dirty="0"/>
              <a:t>Y shape = [N, H, q] for q target variables.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857FC4-D440-CB52-F0E3-147E4BCA23F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Y shape = [N, L, K]</a:t>
            </a:r>
          </a:p>
          <a:p>
            <a:pPr lvl="1"/>
            <a:r>
              <a:rPr lang="en-GB" dirty="0"/>
              <a:t>when a distribution over K classes is required at every time step.</a:t>
            </a:r>
          </a:p>
          <a:p>
            <a:r>
              <a:rPr lang="en-GB" b="1" dirty="0"/>
              <a:t>Alternative representations</a:t>
            </a:r>
          </a:p>
          <a:p>
            <a:pPr lvl="1"/>
            <a:r>
              <a:rPr lang="en-GB" dirty="0"/>
              <a:t>The same temporal window may also be transformed into: a flat vector of length L × d; </a:t>
            </a:r>
          </a:p>
          <a:p>
            <a:pPr lvl="1"/>
            <a:r>
              <a:rPr lang="en-GB" dirty="0"/>
              <a:t>a vector of engineered statistical or spectral features; </a:t>
            </a:r>
          </a:p>
          <a:p>
            <a:pPr lvl="1"/>
            <a:r>
              <a:rPr lang="en-GB" dirty="0"/>
              <a:t>separate temporal and static inputs. </a:t>
            </a:r>
          </a:p>
          <a:p>
            <a:r>
              <a:rPr lang="en-GB" dirty="0"/>
              <a:t>These alternatives will be introduced when discussing traditional baselines and model families.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32392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9F9604B1-41BA-765D-AF64-2B7A37A70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320675"/>
            <a:ext cx="6948487" cy="50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3200" b="1">
                <a:solidFill>
                  <a:srgbClr val="1F2937"/>
                </a:solidFill>
                <a:latin typeface="Aptos" panose="020B0004020202020204" pitchFamily="34" charset="0"/>
              </a:rPr>
              <a:t>Temporal input tensor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DB844409-2C6D-E6CE-CADA-201B7A0E3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225" y="895350"/>
            <a:ext cx="7680325" cy="319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700">
                <a:solidFill>
                  <a:srgbClr val="6B7280"/>
                </a:solidFill>
                <a:latin typeface="Aptos" panose="020B0004020202020204" pitchFamily="34" charset="0"/>
              </a:rPr>
              <a:t>A batch is a stack of N temporal samples; each sample is an L × d matrix.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5D00CAC0-53F1-80EF-2FF9-CD95F172D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127952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6641448F-1F4E-4160-0735-027782916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8513" y="159067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6480507-F2EB-5504-7577-1E3D4B1C0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590675"/>
            <a:ext cx="3794125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81319FE-2EE3-8533-7420-88473FE4B4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901825"/>
            <a:ext cx="3794125" cy="2057400"/>
          </a:xfrm>
          <a:prstGeom prst="rect">
            <a:avLst/>
          </a:prstGeom>
          <a:solidFill>
            <a:srgbClr val="DBEAFE"/>
          </a:solidFill>
          <a:ln w="17640" cap="flat">
            <a:solidFill>
              <a:srgbClr val="2563E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79" name="Line 7">
            <a:extLst>
              <a:ext uri="{FF2B5EF4-FFF2-40B4-BE49-F238E27FC236}">
                <a16:creationId xmlns:a16="http://schemas.microsoft.com/office/drawing/2014/main" id="{115293E4-D31D-6486-1EB9-E3DA0CA5CB62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241617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0" name="Line 8">
            <a:extLst>
              <a:ext uri="{FF2B5EF4-FFF2-40B4-BE49-F238E27FC236}">
                <a16:creationId xmlns:a16="http://schemas.microsoft.com/office/drawing/2014/main" id="{FD1576D2-9E17-BB31-18FD-4C1EE9BD97FB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293052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1" name="Line 9">
            <a:extLst>
              <a:ext uri="{FF2B5EF4-FFF2-40B4-BE49-F238E27FC236}">
                <a16:creationId xmlns:a16="http://schemas.microsoft.com/office/drawing/2014/main" id="{8FD06388-22DE-63ED-0889-C08D1DD875E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2263" y="3444875"/>
            <a:ext cx="3794125" cy="1588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DBE843DD-BC39-983A-DBBA-FB267EDEF74E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F5FD9D8E-8102-9098-1BA2-1179787DA67D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1500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E2F11FD1-FE62-724D-AFE9-293F78E3735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10325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5" name="Line 13">
            <a:extLst>
              <a:ext uri="{FF2B5EF4-FFF2-40B4-BE49-F238E27FC236}">
                <a16:creationId xmlns:a16="http://schemas.microsoft.com/office/drawing/2014/main" id="{910EDF9E-B1F3-4C37-6537-4F107308B9D9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9150" y="1901825"/>
            <a:ext cx="1588" cy="2057400"/>
          </a:xfrm>
          <a:prstGeom prst="line">
            <a:avLst/>
          </a:prstGeom>
          <a:noFill/>
          <a:ln w="1008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6" name="Line 14">
            <a:extLst>
              <a:ext uri="{FF2B5EF4-FFF2-40B4-BE49-F238E27FC236}">
                <a16:creationId xmlns:a16="http://schemas.microsoft.com/office/drawing/2014/main" id="{0E576CA2-B8D0-8117-7167-F677B38AEF0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2263" y="1592263"/>
            <a:ext cx="439737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7" name="Line 15">
            <a:extLst>
              <a:ext uri="{FF2B5EF4-FFF2-40B4-BE49-F238E27FC236}">
                <a16:creationId xmlns:a16="http://schemas.microsoft.com/office/drawing/2014/main" id="{D5110FAF-6C7A-21C5-8F2D-B72AD39B6C1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27975" y="1592263"/>
            <a:ext cx="439738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8" name="Line 16">
            <a:extLst>
              <a:ext uri="{FF2B5EF4-FFF2-40B4-BE49-F238E27FC236}">
                <a16:creationId xmlns:a16="http://schemas.microsoft.com/office/drawing/2014/main" id="{589BB78B-9AD8-CDF1-6335-61DF51CD83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2263" y="3649663"/>
            <a:ext cx="439737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9" name="Line 17">
            <a:extLst>
              <a:ext uri="{FF2B5EF4-FFF2-40B4-BE49-F238E27FC236}">
                <a16:creationId xmlns:a16="http://schemas.microsoft.com/office/drawing/2014/main" id="{72441DEF-3037-9AAA-3AD6-486BE0D02D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27975" y="3649663"/>
            <a:ext cx="439738" cy="311150"/>
          </a:xfrm>
          <a:prstGeom prst="line">
            <a:avLst/>
          </a:prstGeom>
          <a:noFill/>
          <a:ln w="1152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5197CAF5-F983-D451-9D3A-EAC9F2789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3388" y="1974850"/>
            <a:ext cx="3575050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300" b="1">
                <a:solidFill>
                  <a:srgbClr val="2563EB"/>
                </a:solidFill>
                <a:latin typeface="Aptos" panose="020B0004020202020204" pitchFamily="34" charset="0"/>
              </a:rPr>
              <a:t>sample i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C8D684EC-F4FC-4DB7-D5FA-96A16511B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0025" y="1206500"/>
            <a:ext cx="1096963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B7280"/>
                </a:solidFill>
                <a:latin typeface="Aptos" panose="020B0004020202020204" pitchFamily="34" charset="0"/>
              </a:rPr>
              <a:t>sample 1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06465B6A-BAA1-7476-C097-9C09A45D1F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9363" y="1517650"/>
            <a:ext cx="109696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>
                <a:solidFill>
                  <a:srgbClr val="6B7280"/>
                </a:solidFill>
                <a:latin typeface="Aptos" panose="020B0004020202020204" pitchFamily="34" charset="0"/>
              </a:rPr>
              <a:t>sample 2</a:t>
            </a:r>
          </a:p>
        </p:txBody>
      </p:sp>
      <p:sp>
        <p:nvSpPr>
          <p:cNvPr id="3093" name="Rectangle 21">
            <a:extLst>
              <a:ext uri="{FF2B5EF4-FFF2-40B4-BE49-F238E27FC236}">
                <a16:creationId xmlns:a16="http://schemas.microsoft.com/office/drawing/2014/main" id="{F7C42DE5-B18F-5443-4494-512DE79B92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05850" y="1855788"/>
            <a:ext cx="1096963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300" b="1">
                <a:solidFill>
                  <a:srgbClr val="2563EB"/>
                </a:solidFill>
                <a:latin typeface="Aptos" panose="020B0004020202020204" pitchFamily="34" charset="0"/>
              </a:rPr>
              <a:t>sample N</a:t>
            </a:r>
          </a:p>
        </p:txBody>
      </p:sp>
      <p:sp>
        <p:nvSpPr>
          <p:cNvPr id="3094" name="Line 22">
            <a:extLst>
              <a:ext uri="{FF2B5EF4-FFF2-40B4-BE49-F238E27FC236}">
                <a16:creationId xmlns:a16="http://schemas.microsoft.com/office/drawing/2014/main" id="{755ED72B-AED3-D7C9-109B-2CCF53B242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059238" y="4279900"/>
            <a:ext cx="4279900" cy="1588"/>
          </a:xfrm>
          <a:prstGeom prst="line">
            <a:avLst/>
          </a:prstGeom>
          <a:noFill/>
          <a:ln w="23040" cap="flat">
            <a:solidFill>
              <a:srgbClr val="37415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5" name="Rectangle 23">
            <a:extLst>
              <a:ext uri="{FF2B5EF4-FFF2-40B4-BE49-F238E27FC236}">
                <a16:creationId xmlns:a16="http://schemas.microsoft.com/office/drawing/2014/main" id="{E0E1749F-D30A-3CCC-DA7C-FB7AD3620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0363" y="4397375"/>
            <a:ext cx="18288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500" b="1">
                <a:solidFill>
                  <a:srgbClr val="374151"/>
                </a:solidFill>
                <a:latin typeface="Aptos" panose="020B0004020202020204" pitchFamily="34" charset="0"/>
              </a:rPr>
              <a:t>time steps  L</a:t>
            </a:r>
          </a:p>
        </p:txBody>
      </p:sp>
      <p:sp>
        <p:nvSpPr>
          <p:cNvPr id="3096" name="Line 24">
            <a:extLst>
              <a:ext uri="{FF2B5EF4-FFF2-40B4-BE49-F238E27FC236}">
                <a16:creationId xmlns:a16="http://schemas.microsoft.com/office/drawing/2014/main" id="{49A39EAA-B9E0-801F-5125-7D5F30795B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30638" y="1492250"/>
            <a:ext cx="1587" cy="2541588"/>
          </a:xfrm>
          <a:prstGeom prst="line">
            <a:avLst/>
          </a:prstGeom>
          <a:noFill/>
          <a:ln w="23040" cap="flat">
            <a:solidFill>
              <a:srgbClr val="37415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7" name="Rectangle 25">
            <a:extLst>
              <a:ext uri="{FF2B5EF4-FFF2-40B4-BE49-F238E27FC236}">
                <a16:creationId xmlns:a16="http://schemas.microsoft.com/office/drawing/2014/main" id="{AC2674DD-E5DE-6730-93A0-21B845D8B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6700" y="2614613"/>
            <a:ext cx="960438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500" b="1">
                <a:solidFill>
                  <a:srgbClr val="374151"/>
                </a:solidFill>
                <a:latin typeface="Aptos" panose="020B0004020202020204" pitchFamily="34" charset="0"/>
              </a:rPr>
              <a:t>features (d)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73F20B3F-3430-E2E7-57C0-E617E04BE0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86788" y="3027363"/>
            <a:ext cx="731837" cy="457200"/>
          </a:xfrm>
          <a:prstGeom prst="line">
            <a:avLst/>
          </a:prstGeom>
          <a:noFill/>
          <a:ln w="25560" cap="flat">
            <a:solidFill>
              <a:srgbClr val="EA580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99" name="Rectangle 27">
            <a:extLst>
              <a:ext uri="{FF2B5EF4-FFF2-40B4-BE49-F238E27FC236}">
                <a16:creationId xmlns:a16="http://schemas.microsoft.com/office/drawing/2014/main" id="{85294394-F952-9786-6C0A-D44446B9D6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9113" y="2862263"/>
            <a:ext cx="1554162" cy="319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700" b="1">
                <a:solidFill>
                  <a:srgbClr val="EA580C"/>
                </a:solidFill>
                <a:latin typeface="Aptos" panose="020B0004020202020204" pitchFamily="34" charset="0"/>
              </a:rPr>
              <a:t>× N samples</a:t>
            </a:r>
          </a:p>
        </p:txBody>
      </p:sp>
      <p:sp>
        <p:nvSpPr>
          <p:cNvPr id="3100" name="Rectangle 28">
            <a:extLst>
              <a:ext uri="{FF2B5EF4-FFF2-40B4-BE49-F238E27FC236}">
                <a16:creationId xmlns:a16="http://schemas.microsoft.com/office/drawing/2014/main" id="{E2BE881A-6159-7C6E-787A-BCD5A24958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1363" y="5102225"/>
            <a:ext cx="8183562" cy="658813"/>
          </a:xfrm>
          <a:prstGeom prst="rect">
            <a:avLst/>
          </a:prstGeom>
          <a:solidFill>
            <a:srgbClr val="F8FAFC"/>
          </a:solidFill>
          <a:ln w="17640" cap="flat">
            <a:solidFill>
              <a:srgbClr val="CBD5E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1" name="Rectangle 29">
            <a:extLst>
              <a:ext uri="{FF2B5EF4-FFF2-40B4-BE49-F238E27FC236}">
                <a16:creationId xmlns:a16="http://schemas.microsoft.com/office/drawing/2014/main" id="{F94C818D-CBDD-1F19-BE2C-31B2DE70E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2038" y="5230813"/>
            <a:ext cx="4022725" cy="328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000" b="1">
                <a:solidFill>
                  <a:srgbClr val="1F2937"/>
                </a:solidFill>
                <a:latin typeface="Aptos" panose="020B0004020202020204" pitchFamily="34" charset="0"/>
              </a:rPr>
              <a:t>Tensor shape:  N × L × d</a:t>
            </a:r>
          </a:p>
        </p:txBody>
      </p:sp>
      <p:sp>
        <p:nvSpPr>
          <p:cNvPr id="3102" name="Rectangle 30">
            <a:extLst>
              <a:ext uri="{FF2B5EF4-FFF2-40B4-BE49-F238E27FC236}">
                <a16:creationId xmlns:a16="http://schemas.microsoft.com/office/drawing/2014/main" id="{F581577D-6567-9EB7-3CA5-004BBF915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5257800"/>
            <a:ext cx="329088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400">
                <a:solidFill>
                  <a:srgbClr val="6B7280"/>
                </a:solidFill>
                <a:latin typeface="Aptos" panose="020B0004020202020204" pitchFamily="34" charset="0"/>
              </a:rPr>
              <a:t>N = samples   ·   L = time steps   ·   d = features</a:t>
            </a:r>
          </a:p>
        </p:txBody>
      </p:sp>
      <p:sp>
        <p:nvSpPr>
          <p:cNvPr id="3103" name="Rectangle 31">
            <a:extLst>
              <a:ext uri="{FF2B5EF4-FFF2-40B4-BE49-F238E27FC236}">
                <a16:creationId xmlns:a16="http://schemas.microsoft.com/office/drawing/2014/main" id="{F1F704C4-CCAB-9FA5-AA77-3E6578590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382963"/>
            <a:ext cx="233203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700" b="1">
                <a:solidFill>
                  <a:srgbClr val="1F2937"/>
                </a:solidFill>
                <a:latin typeface="Aptos" panose="020B0004020202020204" pitchFamily="34" charset="0"/>
              </a:rPr>
              <a:t>one matrix per sample</a:t>
            </a:r>
          </a:p>
        </p:txBody>
      </p:sp>
      <p:sp>
        <p:nvSpPr>
          <p:cNvPr id="3104" name="Line 32">
            <a:extLst>
              <a:ext uri="{FF2B5EF4-FFF2-40B4-BE49-F238E27FC236}">
                <a16:creationId xmlns:a16="http://schemas.microsoft.com/office/drawing/2014/main" id="{017C509F-E7E1-E28B-C394-47582B68A6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63875" y="3201988"/>
            <a:ext cx="739775" cy="328612"/>
          </a:xfrm>
          <a:prstGeom prst="line">
            <a:avLst/>
          </a:prstGeom>
          <a:noFill/>
          <a:ln w="23040" cap="flat">
            <a:solidFill>
              <a:srgbClr val="0596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5" name="Rectangle 33">
            <a:extLst>
              <a:ext uri="{FF2B5EF4-FFF2-40B4-BE49-F238E27FC236}">
                <a16:creationId xmlns:a16="http://schemas.microsoft.com/office/drawing/2014/main" id="{D38CF7C3-8162-6E0E-5A58-A8E259BD5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64675" y="3382963"/>
            <a:ext cx="1828800" cy="319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700" b="1">
                <a:solidFill>
                  <a:srgbClr val="1F2937"/>
                </a:solidFill>
                <a:latin typeface="Aptos" panose="020B0004020202020204" pitchFamily="34" charset="0"/>
              </a:rPr>
              <a:t>equal-sized batch</a:t>
            </a:r>
          </a:p>
        </p:txBody>
      </p:sp>
      <p:sp>
        <p:nvSpPr>
          <p:cNvPr id="3106" name="Line 34">
            <a:extLst>
              <a:ext uri="{FF2B5EF4-FFF2-40B4-BE49-F238E27FC236}">
                <a16:creationId xmlns:a16="http://schemas.microsoft.com/office/drawing/2014/main" id="{B76EB5E6-E495-01F3-31D6-4ED41846F497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200400"/>
            <a:ext cx="795338" cy="328613"/>
          </a:xfrm>
          <a:prstGeom prst="line">
            <a:avLst/>
          </a:prstGeom>
          <a:noFill/>
          <a:ln w="23040" cap="flat">
            <a:solidFill>
              <a:srgbClr val="0596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07" name="Rectangle 35">
            <a:extLst>
              <a:ext uri="{FF2B5EF4-FFF2-40B4-BE49-F238E27FC236}">
                <a16:creationId xmlns:a16="http://schemas.microsoft.com/office/drawing/2014/main" id="{B11C81C5-339D-DC08-85DF-ECDFFDF1BD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0925" y="6080125"/>
            <a:ext cx="10148888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600">
                <a:solidFill>
                  <a:srgbClr val="6B7280"/>
                </a:solidFill>
                <a:latin typeface="Aptos" panose="020B0004020202020204" pitchFamily="34" charset="0"/>
              </a:rPr>
              <a:t>Each sample contains the same number of time steps and features after windowing, padding, or truncation.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00E432-760E-E7DA-E90C-D788C59BD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F29948-A5F2-1A66-D5FD-38580331D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75343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2B130F-83FF-E429-4448-F023D33C4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E095F8-4A42-05C3-61B6-55AA1915C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Question 1</a:t>
            </a:r>
          </a:p>
          <a:p>
            <a:r>
              <a:rPr lang="en-GB" dirty="0"/>
              <a:t>A model predicts electricity demand for the next hour using the previous 24 hours of measurements.</a:t>
            </a:r>
          </a:p>
          <a:p>
            <a:r>
              <a:rPr lang="en-GB" dirty="0"/>
              <a:t>Identify:</a:t>
            </a:r>
          </a:p>
          <a:p>
            <a:pPr lvl="1"/>
            <a:r>
              <a:rPr lang="en-GB" dirty="0"/>
              <a:t>the prediction time;</a:t>
            </a:r>
          </a:p>
          <a:p>
            <a:pPr lvl="1"/>
            <a:r>
              <a:rPr lang="en-GB" dirty="0"/>
              <a:t>the input-window length;</a:t>
            </a:r>
          </a:p>
          <a:p>
            <a:pPr lvl="1"/>
            <a:r>
              <a:rPr lang="en-GB" dirty="0"/>
              <a:t>the prediction horizon;</a:t>
            </a:r>
          </a:p>
          <a:p>
            <a:pPr lvl="1"/>
            <a:r>
              <a:rPr lang="en-GB" dirty="0"/>
              <a:t>the task type.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2</a:t>
            </a:r>
          </a:p>
          <a:p>
            <a:r>
              <a:rPr lang="en-GB" dirty="0"/>
              <a:t>A dataset contains ten production cycles from each of twenty machines.</a:t>
            </a:r>
          </a:p>
          <a:p>
            <a:r>
              <a:rPr lang="en-GB" dirty="0"/>
              <a:t>Each cycle is divided into twenty overlapping windows.</a:t>
            </a:r>
          </a:p>
          <a:p>
            <a:r>
              <a:rPr lang="en-GB" dirty="0"/>
              <a:t>What are the following objects?</a:t>
            </a:r>
          </a:p>
          <a:p>
            <a:pPr lvl="1"/>
            <a:r>
              <a:rPr lang="en-GB" dirty="0"/>
              <a:t>recording or sequence;</a:t>
            </a:r>
          </a:p>
          <a:p>
            <a:pPr lvl="1"/>
            <a:r>
              <a:rPr lang="en-GB" dirty="0"/>
              <a:t>window;</a:t>
            </a:r>
          </a:p>
          <a:p>
            <a:pPr lvl="1"/>
            <a:r>
              <a:rPr lang="en-GB" dirty="0"/>
              <a:t>machine-learning sample;</a:t>
            </a:r>
          </a:p>
          <a:p>
            <a:pPr lvl="1"/>
            <a:r>
              <a:rPr lang="en-GB" dirty="0"/>
              <a:t>entity.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99403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A1BE96-9761-C19F-972A-B9B93883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E75827-3090-6B39-CD43-13849260C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Question 3</a:t>
            </a:r>
          </a:p>
          <a:p>
            <a:r>
              <a:rPr lang="en-GB" dirty="0"/>
              <a:t>A demand-forecasting model uses:</a:t>
            </a:r>
          </a:p>
          <a:p>
            <a:pPr lvl="1"/>
            <a:r>
              <a:rPr lang="en-GB" dirty="0"/>
              <a:t>past demand;</a:t>
            </a:r>
          </a:p>
          <a:p>
            <a:pPr lvl="1"/>
            <a:r>
              <a:rPr lang="en-GB" dirty="0"/>
              <a:t>planned future promotions;</a:t>
            </a:r>
          </a:p>
          <a:p>
            <a:pPr lvl="1"/>
            <a:r>
              <a:rPr lang="en-GB" dirty="0"/>
              <a:t>actual future temperature;</a:t>
            </a:r>
          </a:p>
          <a:p>
            <a:pPr lvl="1"/>
            <a:r>
              <a:rPr lang="en-GB" dirty="0"/>
              <a:t>day of the week.</a:t>
            </a:r>
          </a:p>
          <a:p>
            <a:r>
              <a:rPr lang="en-GB" dirty="0"/>
              <a:t>Which variables are valid at prediction time, and which one may introduce future information leakage?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4</a:t>
            </a:r>
          </a:p>
          <a:p>
            <a:r>
              <a:rPr lang="en-GB" dirty="0"/>
              <a:t>A sensor window contains: normal  normal  </a:t>
            </a:r>
            <a:r>
              <a:rPr lang="en-GB" dirty="0" err="1"/>
              <a:t>normal</a:t>
            </a:r>
            <a:r>
              <a:rPr lang="en-GB" dirty="0"/>
              <a:t>  fault  </a:t>
            </a:r>
            <a:r>
              <a:rPr lang="en-GB" dirty="0" err="1"/>
              <a:t>fault</a:t>
            </a:r>
            <a:endParaRPr lang="en-GB" dirty="0"/>
          </a:p>
          <a:p>
            <a:r>
              <a:rPr lang="en-GB" dirty="0"/>
              <a:t>Give the window label according to:</a:t>
            </a:r>
          </a:p>
          <a:p>
            <a:pPr lvl="1"/>
            <a:r>
              <a:rPr lang="en-GB" dirty="0"/>
              <a:t>final-state rule;</a:t>
            </a:r>
          </a:p>
          <a:p>
            <a:pPr lvl="1"/>
            <a:r>
              <a:rPr lang="en-GB" dirty="0"/>
              <a:t>majority rule;</a:t>
            </a:r>
          </a:p>
          <a:p>
            <a:pPr lvl="1"/>
            <a:r>
              <a:rPr lang="en-GB" dirty="0"/>
              <a:t>any-event rule.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71528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C96A14-FF7D-576D-86D6-14E94561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6968F8-C151-7BC6-B242-2F9E19784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Question 5</a:t>
            </a:r>
          </a:p>
          <a:p>
            <a:r>
              <a:rPr lang="en-GB" dirty="0"/>
              <a:t>A time series is sampled at 50 Hz.</a:t>
            </a:r>
          </a:p>
          <a:p>
            <a:r>
              <a:rPr lang="en-GB" dirty="0"/>
              <a:t>A window contains 500 time steps.</a:t>
            </a:r>
          </a:p>
          <a:p>
            <a:r>
              <a:rPr lang="en-GB" dirty="0"/>
              <a:t>What physical duration does the window represent?</a:t>
            </a:r>
          </a:p>
          <a:p>
            <a:r>
              <a:rPr lang="en-GB" dirty="0"/>
              <a:t>What would happen to the physical duration if the sampling rate changed to 100 Hz while the number of time steps remained unchanged?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Question 6</a:t>
            </a:r>
          </a:p>
          <a:p>
            <a:r>
              <a:rPr lang="en-GB" dirty="0"/>
              <a:t>A window has length L = 200 and stride S = 50.</a:t>
            </a:r>
          </a:p>
          <a:p>
            <a:r>
              <a:rPr lang="en-GB" dirty="0"/>
              <a:t>Calculate:</a:t>
            </a:r>
          </a:p>
          <a:p>
            <a:pPr lvl="1"/>
            <a:r>
              <a:rPr lang="en-GB" dirty="0"/>
              <a:t>the number of shared observations between two consecutive windows;</a:t>
            </a:r>
          </a:p>
          <a:p>
            <a:pPr lvl="1"/>
            <a:r>
              <a:rPr lang="en-GB" dirty="0"/>
              <a:t>the overlap fraction.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927274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6E6AB2-2A70-2EC7-6A42-E9509649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Questions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B9091C-0BC8-A261-0808-2BFC185FBA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Question 7</a:t>
            </a:r>
          </a:p>
          <a:p>
            <a:r>
              <a:rPr lang="en-GB" dirty="0"/>
              <a:t>Classify each problem as one of the following:</a:t>
            </a:r>
          </a:p>
          <a:p>
            <a:pPr lvl="1"/>
            <a:r>
              <a:rPr lang="en-GB" dirty="0"/>
              <a:t>forecasting;</a:t>
            </a:r>
          </a:p>
          <a:p>
            <a:pPr lvl="1"/>
            <a:r>
              <a:rPr lang="en-GB" dirty="0"/>
              <a:t>window-level regression;</a:t>
            </a:r>
          </a:p>
          <a:p>
            <a:pPr lvl="1"/>
            <a:r>
              <a:rPr lang="en-GB" dirty="0"/>
              <a:t>window classification;</a:t>
            </a:r>
          </a:p>
          <a:p>
            <a:pPr lvl="1"/>
            <a:r>
              <a:rPr lang="en-GB" dirty="0"/>
              <a:t>sequence labelling;</a:t>
            </a:r>
          </a:p>
          <a:p>
            <a:pPr lvl="1"/>
            <a:r>
              <a:rPr lang="en-GB" dirty="0"/>
              <a:t>event forecasting.</a:t>
            </a:r>
          </a:p>
          <a:p>
            <a:r>
              <a:rPr lang="en-GB" dirty="0"/>
              <a:t>Problems:</a:t>
            </a:r>
          </a:p>
          <a:p>
            <a:pPr lvl="1"/>
            <a:r>
              <a:rPr lang="en-GB" dirty="0"/>
              <a:t>Predict the pressure during the next ten time steps.</a:t>
            </a:r>
          </a:p>
          <a:p>
            <a:pPr lvl="1"/>
            <a:r>
              <a:rPr lang="en-GB" dirty="0"/>
              <a:t>Estimate product quality from one complete production cycle.</a:t>
            </a:r>
          </a:p>
          <a:p>
            <a:pPr lvl="1"/>
            <a:r>
              <a:rPr lang="en-GB" dirty="0"/>
              <a:t>Identify the operating phase at every time step.</a:t>
            </a:r>
          </a:p>
          <a:p>
            <a:pPr lvl="1"/>
            <a:r>
              <a:rPr lang="en-GB" dirty="0"/>
              <a:t>Determine whether a fault will occur within the next thirty minutes.</a:t>
            </a:r>
          </a:p>
          <a:p>
            <a:pPr lvl="1"/>
            <a:r>
              <a:rPr lang="en-GB" dirty="0"/>
              <a:t>Classify a sensor window as normal, overload or fault.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5A2041C-F224-1417-7B3F-224AD36C79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Question 8</a:t>
            </a:r>
          </a:p>
          <a:p>
            <a:r>
              <a:rPr lang="en-GB" dirty="0"/>
              <a:t>A dataset contains:</a:t>
            </a:r>
          </a:p>
          <a:p>
            <a:pPr lvl="1"/>
            <a:r>
              <a:rPr lang="en-GB" dirty="0"/>
              <a:t>N = 4,000 windows;</a:t>
            </a:r>
          </a:p>
          <a:p>
            <a:pPr lvl="1"/>
            <a:r>
              <a:rPr lang="en-GB" dirty="0"/>
              <a:t>L = 120 time steps per window;</a:t>
            </a:r>
          </a:p>
          <a:p>
            <a:pPr lvl="1"/>
            <a:r>
              <a:rPr lang="en-GB" dirty="0"/>
              <a:t>d = 6 input variables.</a:t>
            </a:r>
          </a:p>
          <a:p>
            <a:r>
              <a:rPr lang="en-GB" dirty="0"/>
              <a:t>State the input tensor shape.</a:t>
            </a:r>
          </a:p>
          <a:p>
            <a:r>
              <a:rPr lang="en-GB" dirty="0"/>
              <a:t>Then state the target shape for:</a:t>
            </a:r>
          </a:p>
          <a:p>
            <a:pPr lvl="1"/>
            <a:r>
              <a:rPr lang="en-GB" dirty="0"/>
              <a:t>scalar regression;</a:t>
            </a:r>
          </a:p>
          <a:p>
            <a:pPr lvl="1"/>
            <a:r>
              <a:rPr lang="en-GB" dirty="0"/>
              <a:t>classification with four classes, represented by class probabilities;</a:t>
            </a:r>
          </a:p>
          <a:p>
            <a:pPr lvl="1"/>
            <a:r>
              <a:rPr lang="en-GB" dirty="0"/>
              <a:t>forecasting of the next twelve values of one variable;</a:t>
            </a:r>
          </a:p>
          <a:p>
            <a:pPr lvl="1"/>
            <a:r>
              <a:rPr lang="en-GB" dirty="0"/>
              <a:t>sequence labelling with three classes at every time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1756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A80BE3-3048-B14B-51B2-A85AA5A8A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Answers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A031D78-102F-8016-4111-5E1F60654C2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6111" y="2160589"/>
                <a:ext cx="5369668" cy="388077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GB" b="1" dirty="0"/>
                  <a:t>Answer 1</a:t>
                </a:r>
              </a:p>
              <a:p>
                <a:r>
                  <a:rPr lang="en-GB" dirty="0"/>
                  <a:t>The prediction is generated at the end of the observed 24-hour interval.</a:t>
                </a:r>
              </a:p>
              <a:p>
                <a:r>
                  <a:rPr lang="en-GB" b="1" dirty="0"/>
                  <a:t>Prediction time:</a:t>
                </a:r>
                <a:r>
                  <a:rPr lang="en-GB" dirty="0"/>
                  <a:t> the latest observed time;</a:t>
                </a:r>
              </a:p>
              <a:p>
                <a:r>
                  <a:rPr lang="en-GB" b="1" dirty="0"/>
                  <a:t>input-window length:</a:t>
                </a:r>
                <a:r>
                  <a:rPr lang="en-GB" dirty="0"/>
                  <a:t> 24 hours;</a:t>
                </a:r>
              </a:p>
              <a:p>
                <a:r>
                  <a:rPr lang="en-GB" b="1" dirty="0"/>
                  <a:t>prediction horizon:</a:t>
                </a:r>
                <a:r>
                  <a:rPr lang="en-GB" dirty="0"/>
                  <a:t> one hour;</a:t>
                </a:r>
              </a:p>
              <a:p>
                <a:r>
                  <a:rPr lang="en-GB" b="1" dirty="0"/>
                  <a:t>task:</a:t>
                </a:r>
                <a:r>
                  <a:rPr lang="en-GB" dirty="0"/>
                  <a:t> one-step or one-horizon forecasting, depending on the sampling interval. Single-horizon forecasting with a one-hour forecast horizon; it is one-step ahead only when the data are sampled hourly. </a:t>
                </a:r>
              </a:p>
              <a:p>
                <a:pPr lvl="1"/>
                <a:r>
                  <a:rPr lang="en-GB" dirty="0"/>
                  <a:t>With </a:t>
                </a:r>
                <a:r>
                  <a:rPr lang="en-GB" b="1" dirty="0"/>
                  <a:t>hourly measurements</a:t>
                </a:r>
                <a:r>
                  <a:rPr lang="en-GB" dirty="0"/>
                  <a:t>, predicting demand at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is </a:t>
                </a:r>
                <a:r>
                  <a:rPr lang="en-GB" b="1" dirty="0"/>
                  <a:t>one-step-ahead forecasting</a:t>
                </a:r>
                <a:r>
                  <a:rPr lang="en-GB" dirty="0"/>
                  <a:t>. The forecast horizon is one hour. </a:t>
                </a:r>
              </a:p>
              <a:p>
                <a:pPr lvl="1"/>
                <a:r>
                  <a:rPr lang="en-GB" dirty="0"/>
                  <a:t>With </a:t>
                </a:r>
                <a:r>
                  <a:rPr lang="en-GB" b="1" dirty="0"/>
                  <a:t>15-minute measurements</a:t>
                </a:r>
                <a:r>
                  <a:rPr lang="en-GB" dirty="0"/>
                  <a:t>, predicting demand one hour ahead means predicting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r>
                  <a:rPr lang="en-GB" dirty="0"/>
                  <a:t>. This is still a </a:t>
                </a:r>
                <a:r>
                  <a:rPr lang="en-GB" b="1" dirty="0"/>
                  <a:t>single-horizon forecast</a:t>
                </a:r>
                <a:r>
                  <a:rPr lang="en-GB" dirty="0"/>
                  <a:t>, but not one-step ahead</a:t>
                </a:r>
                <a:r>
                  <a:rPr lang="en-GB"/>
                  <a:t>. </a:t>
                </a:r>
              </a:p>
              <a:p>
                <a:pPr lvl="2"/>
                <a:r>
                  <a:rPr lang="en-GB"/>
                  <a:t>Predicting </a:t>
                </a:r>
                <a:r>
                  <a:rPr lang="en-GB" dirty="0"/>
                  <a:t>all four 15-minute values within the next hour is </a:t>
                </a:r>
                <a:r>
                  <a:rPr lang="en-GB" b="1" dirty="0"/>
                  <a:t>multi-step forecasting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If data are hourly, the input contains 24 time steps and the horizon is one time step.</a:t>
                </a:r>
                <a:br>
                  <a:rPr lang="en-GB" dirty="0"/>
                </a:br>
                <a:endParaRPr lang="en-GB" dirty="0"/>
              </a:p>
              <a:p>
                <a:endParaRPr lang="en-GB" b="1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A031D78-102F-8016-4111-5E1F60654C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6111" y="2160589"/>
                <a:ext cx="5369668" cy="3880772"/>
              </a:xfrm>
              <a:blipFill>
                <a:blip r:embed="rId2"/>
                <a:stretch>
                  <a:fillRect t="-628" r="-1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333B560-22D5-43AF-F725-50E935310C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9438" y="768484"/>
            <a:ext cx="5065228" cy="5875507"/>
          </a:xfrm>
        </p:spPr>
        <p:txBody>
          <a:bodyPr>
            <a:normAutofit fontScale="55000" lnSpcReduction="20000"/>
          </a:bodyPr>
          <a:lstStyle/>
          <a:p>
            <a:r>
              <a:rPr lang="en-GB" b="1" dirty="0"/>
              <a:t>Answer 2</a:t>
            </a:r>
          </a:p>
          <a:p>
            <a:r>
              <a:rPr lang="en-GB" b="1" dirty="0"/>
              <a:t>Sequence:</a:t>
            </a:r>
            <a:r>
              <a:rPr lang="en-GB" dirty="0"/>
              <a:t> one complete production cycle;</a:t>
            </a:r>
          </a:p>
          <a:p>
            <a:r>
              <a:rPr lang="en-GB" b="1" dirty="0"/>
              <a:t>window:</a:t>
            </a:r>
            <a:r>
              <a:rPr lang="en-GB" dirty="0"/>
              <a:t> one temporal segment extracted from a cycle;</a:t>
            </a:r>
          </a:p>
          <a:p>
            <a:r>
              <a:rPr lang="en-GB" b="1" dirty="0"/>
              <a:t>machine-learning sample:</a:t>
            </a:r>
            <a:r>
              <a:rPr lang="en-GB" dirty="0"/>
              <a:t> one input window together with its associated target;</a:t>
            </a:r>
          </a:p>
          <a:p>
            <a:r>
              <a:rPr lang="en-GB" b="1" dirty="0"/>
              <a:t>entity:</a:t>
            </a:r>
            <a:r>
              <a:rPr lang="en-GB" dirty="0"/>
              <a:t> one machine.</a:t>
            </a:r>
          </a:p>
          <a:p>
            <a:r>
              <a:rPr lang="en-GB" dirty="0"/>
              <a:t>The twenty overlapping windows from one cycle are twenty samples, but they are not twenty independent sequences.</a:t>
            </a:r>
          </a:p>
          <a:p>
            <a:endParaRPr lang="en-GB" b="1" dirty="0"/>
          </a:p>
          <a:p>
            <a:r>
              <a:rPr lang="en-GB" b="1" dirty="0"/>
              <a:t>Answer 3</a:t>
            </a:r>
          </a:p>
          <a:p>
            <a:r>
              <a:rPr lang="en-GB" dirty="0"/>
              <a:t>Valid variables include:</a:t>
            </a:r>
          </a:p>
          <a:p>
            <a:pPr lvl="1"/>
            <a:r>
              <a:rPr lang="en-GB" dirty="0"/>
              <a:t>past demand;</a:t>
            </a:r>
          </a:p>
          <a:p>
            <a:pPr lvl="1"/>
            <a:r>
              <a:rPr lang="en-GB" dirty="0"/>
              <a:t>planned future promotions, because they are known in advance;</a:t>
            </a:r>
          </a:p>
          <a:p>
            <a:pPr lvl="1"/>
            <a:r>
              <a:rPr lang="en-GB" dirty="0"/>
              <a:t>day of the week, because calendar information is known.</a:t>
            </a:r>
          </a:p>
          <a:p>
            <a:r>
              <a:rPr lang="en-GB" dirty="0"/>
              <a:t>Actual future temperature is not valid unless it is genuinely known at prediction time.</a:t>
            </a:r>
          </a:p>
          <a:p>
            <a:r>
              <a:rPr lang="en-GB" dirty="0"/>
              <a:t>A forecast of future temperature could be used, but the actual realised value would introduce future information leakage.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r>
              <a:rPr lang="en-GB" b="1" dirty="0"/>
              <a:t>Answer 4</a:t>
            </a:r>
          </a:p>
          <a:p>
            <a:r>
              <a:rPr lang="en-GB" dirty="0"/>
              <a:t>For: normal  normal  </a:t>
            </a:r>
            <a:r>
              <a:rPr lang="en-GB" dirty="0" err="1"/>
              <a:t>normal</a:t>
            </a:r>
            <a:r>
              <a:rPr lang="en-GB" dirty="0"/>
              <a:t>  fault  </a:t>
            </a:r>
            <a:r>
              <a:rPr lang="en-GB" dirty="0" err="1"/>
              <a:t>fault</a:t>
            </a:r>
            <a:endParaRPr lang="en-GB" dirty="0"/>
          </a:p>
          <a:p>
            <a:pPr lvl="1"/>
            <a:r>
              <a:rPr lang="en-GB" b="1" dirty="0"/>
              <a:t>final-state rule:</a:t>
            </a:r>
            <a:r>
              <a:rPr lang="en-GB" dirty="0"/>
              <a:t> fault;</a:t>
            </a:r>
          </a:p>
          <a:p>
            <a:pPr lvl="1"/>
            <a:r>
              <a:rPr lang="en-GB" b="1" dirty="0"/>
              <a:t>majority rule:</a:t>
            </a:r>
            <a:r>
              <a:rPr lang="en-GB" dirty="0"/>
              <a:t> normal;</a:t>
            </a:r>
          </a:p>
          <a:p>
            <a:pPr lvl="1"/>
            <a:r>
              <a:rPr lang="en-GB" b="1" dirty="0"/>
              <a:t>any-event rule:</a:t>
            </a:r>
            <a:r>
              <a:rPr lang="en-GB" dirty="0"/>
              <a:t> fault.</a:t>
            </a:r>
          </a:p>
          <a:p>
            <a:r>
              <a:rPr lang="en-GB" dirty="0"/>
              <a:t>The same input therefore receives different labels under different operational definitions.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395164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4405CC-467C-9EE0-794D-AC685E63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Answers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715E54-376E-E628-9EA4-A991142986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GB" b="1" dirty="0"/>
              <a:t>Answer 5</a:t>
            </a:r>
          </a:p>
          <a:p>
            <a:r>
              <a:rPr lang="en-GB" dirty="0"/>
              <a:t>At 50 Hz: duration = 500 / 50 = 10 seconds</a:t>
            </a:r>
          </a:p>
          <a:p>
            <a:r>
              <a:rPr lang="en-GB" dirty="0"/>
              <a:t>At 100 Hz: duration = 500 / 100 = 5 seconds</a:t>
            </a:r>
          </a:p>
          <a:p>
            <a:r>
              <a:rPr lang="en-GB" dirty="0"/>
              <a:t>The number of time steps alone does not define the physical duration. Sampling frequency must also be specified.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Answer 6</a:t>
            </a:r>
          </a:p>
          <a:p>
            <a:r>
              <a:rPr lang="en-GB" dirty="0"/>
              <a:t>Given:</a:t>
            </a:r>
          </a:p>
          <a:p>
            <a:r>
              <a:rPr lang="en-GB" dirty="0"/>
              <a:t>L = 200</a:t>
            </a:r>
          </a:p>
          <a:p>
            <a:r>
              <a:rPr lang="en-GB" dirty="0"/>
              <a:t>S = 50</a:t>
            </a:r>
          </a:p>
          <a:p>
            <a:r>
              <a:rPr lang="en-GB" dirty="0"/>
              <a:t>Shared observations:</a:t>
            </a:r>
          </a:p>
          <a:p>
            <a:r>
              <a:rPr lang="en-GB" dirty="0"/>
              <a:t>L − S = 200 − 50 = 150</a:t>
            </a:r>
          </a:p>
          <a:p>
            <a:r>
              <a:rPr lang="en-GB" dirty="0"/>
              <a:t>Overlap fraction:</a:t>
            </a:r>
          </a:p>
          <a:p>
            <a:r>
              <a:rPr lang="en-GB" dirty="0"/>
              <a:t>(L − S) / L = 150 / 200 = 0.75</a:t>
            </a:r>
          </a:p>
          <a:p>
            <a:r>
              <a:rPr lang="en-GB" dirty="0"/>
              <a:t>Therefore, consecutive windows overlap by 150 observations, or 75%.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F7EB9C-7CD3-613B-AB42-6EFA4DC3B5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GB" b="1" dirty="0"/>
              <a:t>Answer 7</a:t>
            </a:r>
          </a:p>
          <a:p>
            <a:r>
              <a:rPr lang="en-GB" dirty="0"/>
              <a:t>Predict the pressure during the next ten time steps</a:t>
            </a:r>
            <a:br>
              <a:rPr lang="en-GB" dirty="0"/>
            </a:br>
            <a:r>
              <a:rPr lang="en-GB" b="1" dirty="0"/>
              <a:t>Multi-horizon forecasting</a:t>
            </a:r>
            <a:endParaRPr lang="en-GB" dirty="0"/>
          </a:p>
          <a:p>
            <a:r>
              <a:rPr lang="en-GB" dirty="0"/>
              <a:t>Estimate product quality from one complete production cycle</a:t>
            </a:r>
            <a:br>
              <a:rPr lang="en-GB" dirty="0"/>
            </a:br>
            <a:r>
              <a:rPr lang="en-GB" b="1" dirty="0"/>
              <a:t>Sequence-level or window-level regression</a:t>
            </a:r>
            <a:endParaRPr lang="en-GB" dirty="0"/>
          </a:p>
          <a:p>
            <a:r>
              <a:rPr lang="en-GB" dirty="0"/>
              <a:t>Identify the operating phase at every time step</a:t>
            </a:r>
            <a:br>
              <a:rPr lang="en-GB" dirty="0"/>
            </a:br>
            <a:r>
              <a:rPr lang="en-GB" b="1" dirty="0"/>
              <a:t>Sequence labelling</a:t>
            </a:r>
            <a:endParaRPr lang="en-GB" dirty="0"/>
          </a:p>
          <a:p>
            <a:r>
              <a:rPr lang="en-GB" dirty="0"/>
              <a:t>Determine whether a fault will occur within the next thirty minutes</a:t>
            </a:r>
            <a:br>
              <a:rPr lang="en-GB" dirty="0"/>
            </a:br>
            <a:r>
              <a:rPr lang="en-GB" b="1" dirty="0"/>
              <a:t>Event forecasting or early warning</a:t>
            </a:r>
            <a:endParaRPr lang="en-GB" dirty="0"/>
          </a:p>
          <a:p>
            <a:r>
              <a:rPr lang="en-GB" dirty="0"/>
              <a:t>Classify a sensor window as normal, overload or fault</a:t>
            </a:r>
            <a:br>
              <a:rPr lang="en-GB" dirty="0"/>
            </a:br>
            <a:r>
              <a:rPr lang="en-GB" b="1" dirty="0"/>
              <a:t>Window classification</a:t>
            </a:r>
            <a:endParaRPr lang="en-GB" dirty="0"/>
          </a:p>
          <a:p>
            <a:br>
              <a:rPr lang="en-GB" dirty="0"/>
            </a:br>
            <a:endParaRPr lang="en-GB" dirty="0"/>
          </a:p>
          <a:p>
            <a:r>
              <a:rPr lang="en-GB" b="1" dirty="0"/>
              <a:t>Answer 8</a:t>
            </a:r>
          </a:p>
          <a:p>
            <a:r>
              <a:rPr lang="en-GB" dirty="0"/>
              <a:t>Input:</a:t>
            </a:r>
          </a:p>
          <a:p>
            <a:r>
              <a:rPr lang="en-GB" dirty="0"/>
              <a:t>X shape = [4000, 120, 6]</a:t>
            </a:r>
          </a:p>
          <a:p>
            <a:r>
              <a:rPr lang="en-GB" dirty="0"/>
              <a:t>Targets:</a:t>
            </a:r>
          </a:p>
          <a:p>
            <a:r>
              <a:rPr lang="en-GB" dirty="0"/>
              <a:t>Scalar regression</a:t>
            </a:r>
          </a:p>
          <a:p>
            <a:r>
              <a:rPr lang="en-GB" dirty="0"/>
              <a:t>Y shape = [4000, 1]</a:t>
            </a:r>
          </a:p>
          <a:p>
            <a:r>
              <a:rPr lang="en-GB" dirty="0"/>
              <a:t>Four-class classification using class probabilities</a:t>
            </a:r>
          </a:p>
          <a:p>
            <a:r>
              <a:rPr lang="en-GB" dirty="0"/>
              <a:t>Y shape = [4000, 4]</a:t>
            </a:r>
          </a:p>
          <a:p>
            <a:r>
              <a:rPr lang="en-GB" dirty="0"/>
              <a:t>Forecasting the next twelve values of one variable</a:t>
            </a:r>
          </a:p>
          <a:p>
            <a:r>
              <a:rPr lang="en-GB" dirty="0"/>
              <a:t>Y shape = [4000, 12]</a:t>
            </a:r>
          </a:p>
          <a:p>
            <a:r>
              <a:rPr lang="en-GB" dirty="0"/>
              <a:t>Sequence labelling with three classes at every time step</a:t>
            </a:r>
          </a:p>
          <a:p>
            <a:r>
              <a:rPr lang="en-GB" dirty="0"/>
              <a:t>Y shape = [4000, 120, 3]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10123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C30F5B-C215-4F69-1AE8-C10A9CCE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Optional final discussion question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BD0ABF-1250-7922-0F45-3D7DECDE55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application</a:t>
            </a:r>
          </a:p>
          <a:p>
            <a:r>
              <a:rPr lang="en-GB" dirty="0"/>
              <a:t>A company wants to predict machine failures.</a:t>
            </a:r>
          </a:p>
          <a:p>
            <a:r>
              <a:rPr lang="en-GB" dirty="0"/>
              <a:t>Available data include:</a:t>
            </a:r>
          </a:p>
          <a:p>
            <a:pPr lvl="1"/>
            <a:r>
              <a:rPr lang="en-GB" dirty="0"/>
              <a:t>sensor values acquired every second;</a:t>
            </a:r>
          </a:p>
          <a:p>
            <a:pPr lvl="1"/>
            <a:r>
              <a:rPr lang="en-GB" dirty="0"/>
              <a:t>maintenance history;</a:t>
            </a:r>
          </a:p>
          <a:p>
            <a:pPr lvl="1"/>
            <a:r>
              <a:rPr lang="en-GB" dirty="0"/>
              <a:t>machine type;</a:t>
            </a:r>
          </a:p>
          <a:p>
            <a:pPr lvl="1"/>
            <a:r>
              <a:rPr lang="en-GB" dirty="0"/>
              <a:t>failure timestamps.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48F51CF-0450-F194-79B8-ED3A7C54BF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Reflect on</a:t>
            </a:r>
          </a:p>
          <a:p>
            <a:pPr lvl="1"/>
            <a:r>
              <a:rPr lang="en-GB" dirty="0"/>
              <a:t>the prediction time;</a:t>
            </a:r>
          </a:p>
          <a:p>
            <a:pPr lvl="1"/>
            <a:r>
              <a:rPr lang="en-GB" dirty="0"/>
              <a:t>the input unit;</a:t>
            </a:r>
          </a:p>
          <a:p>
            <a:pPr lvl="1"/>
            <a:r>
              <a:rPr lang="en-GB" dirty="0"/>
              <a:t>the window length;</a:t>
            </a:r>
          </a:p>
          <a:p>
            <a:pPr lvl="1"/>
            <a:r>
              <a:rPr lang="en-GB" dirty="0"/>
              <a:t>the target definition;</a:t>
            </a:r>
          </a:p>
          <a:p>
            <a:pPr lvl="1"/>
            <a:r>
              <a:rPr lang="en-GB" dirty="0"/>
              <a:t>the prediction horizon;</a:t>
            </a:r>
          </a:p>
          <a:p>
            <a:pPr lvl="1"/>
            <a:r>
              <a:rPr lang="en-GB" dirty="0"/>
              <a:t>whether the task is classification, regression or event forecasting;</a:t>
            </a:r>
          </a:p>
          <a:p>
            <a:pPr lvl="1"/>
            <a:r>
              <a:rPr lang="en-GB" dirty="0"/>
              <a:t>the evaluation unit;</a:t>
            </a:r>
          </a:p>
          <a:p>
            <a:pPr lvl="1"/>
            <a:r>
              <a:rPr lang="en-GB" dirty="0"/>
              <a:t>which information is available at inference time.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8A3BC9-0648-550B-338B-A9071E96DE8D}"/>
              </a:ext>
            </a:extLst>
          </p:cNvPr>
          <p:cNvSpPr txBox="1"/>
          <p:nvPr/>
        </p:nvSpPr>
        <p:spPr>
          <a:xfrm>
            <a:off x="2222770" y="6041361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“predict machine failure” is not yet a complete machine-learning problem.</a:t>
            </a:r>
          </a:p>
        </p:txBody>
      </p:sp>
    </p:spTree>
    <p:extLst>
      <p:ext uri="{BB962C8B-B14F-4D97-AF65-F5344CB8AC3E}">
        <p14:creationId xmlns:p14="http://schemas.microsoft.com/office/powerpoint/2010/main" val="1830892898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2843</TotalTime>
  <Words>8911</Words>
  <Application>Microsoft Office PowerPoint</Application>
  <PresentationFormat>Widescreen</PresentationFormat>
  <Paragraphs>1394</Paragraphs>
  <Slides>85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85</vt:i4>
      </vt:variant>
    </vt:vector>
  </HeadingPairs>
  <TitlesOfParts>
    <vt:vector size="93" baseType="lpstr">
      <vt:lpstr>Aptos</vt:lpstr>
      <vt:lpstr>Aptos Display</vt:lpstr>
      <vt:lpstr>Arial</vt:lpstr>
      <vt:lpstr>Cambria Math</vt:lpstr>
      <vt:lpstr>Times New Roman</vt:lpstr>
      <vt:lpstr>Trebuchet MS</vt:lpstr>
      <vt:lpstr>Wingdings 3</vt:lpstr>
      <vt:lpstr>Sfaccettatura</vt:lpstr>
      <vt:lpstr>Time series processing Problem formulation and data structures</vt:lpstr>
      <vt:lpstr>Outline</vt:lpstr>
      <vt:lpstr>A. Introduction</vt:lpstr>
      <vt:lpstr>Time-Series Processing: from temporal data to decisions</vt:lpstr>
      <vt:lpstr>Why time-series data differ from tabular data</vt:lpstr>
      <vt:lpstr>The prediction-time perspective</vt:lpstr>
      <vt:lpstr>Similar data can support different tasks</vt:lpstr>
      <vt:lpstr>From recordings to machine-learning samples</vt:lpstr>
      <vt:lpstr>The central role of baselines (for predicting next value)</vt:lpstr>
      <vt:lpstr>Time series data split is critical</vt:lpstr>
      <vt:lpstr>B. Types of time-series data</vt:lpstr>
      <vt:lpstr>Univariate and multivariate time series A time series associates one or more observed variables with each time step</vt:lpstr>
      <vt:lpstr>Presentazione standard di PowerPoint</vt:lpstr>
      <vt:lpstr>Channels, variables and features</vt:lpstr>
      <vt:lpstr>Derived features </vt:lpstr>
      <vt:lpstr>Presentazione standard di PowerPoint</vt:lpstr>
      <vt:lpstr>One long time series</vt:lpstr>
      <vt:lpstr>One long time series</vt:lpstr>
      <vt:lpstr>Presentazione standard di PowerPoint</vt:lpstr>
      <vt:lpstr>Multiple independent or semi-independent sequences</vt:lpstr>
      <vt:lpstr>Multiple independent or semi-independent sequences</vt:lpstr>
      <vt:lpstr>Presentazione standard di PowerPoint</vt:lpstr>
      <vt:lpstr>Panel time series</vt:lpstr>
      <vt:lpstr>Panel time series</vt:lpstr>
      <vt:lpstr>Presentazione standard di PowerPoint</vt:lpstr>
      <vt:lpstr>Hierarchical time series</vt:lpstr>
      <vt:lpstr>Hierarchical time series - Forecast reconciliation </vt:lpstr>
      <vt:lpstr>Presentazione standard di PowerPoint</vt:lpstr>
      <vt:lpstr>Regular and irregular sampling</vt:lpstr>
      <vt:lpstr>Irregular sampling</vt:lpstr>
      <vt:lpstr>Presentazione standard di PowerPoint</vt:lpstr>
      <vt:lpstr>Static, observed and future-known covariates</vt:lpstr>
      <vt:lpstr>Static, observed and future-known covariates</vt:lpstr>
      <vt:lpstr>Presentazione standard di PowerPoint</vt:lpstr>
      <vt:lpstr>Variable-length sequences</vt:lpstr>
      <vt:lpstr>Variable-length sequences</vt:lpstr>
      <vt:lpstr>Presentazione standard di PowerPoint</vt:lpstr>
      <vt:lpstr>C- Types of time-series problems</vt:lpstr>
      <vt:lpstr>From temporal data to prediction tasks</vt:lpstr>
      <vt:lpstr>Presentazione standard di PowerPoint</vt:lpstr>
      <vt:lpstr>Forecasting: predicting future values</vt:lpstr>
      <vt:lpstr>Presentazione standard di PowerPoint</vt:lpstr>
      <vt:lpstr>Multi-horizon forecasting</vt:lpstr>
      <vt:lpstr>Presentazione standard di PowerPoint</vt:lpstr>
      <vt:lpstr>Recursive, direct and multi-output forecasting</vt:lpstr>
      <vt:lpstr>Recursive, direct and multi-output forecasting</vt:lpstr>
      <vt:lpstr>Presentazione standard di PowerPoint</vt:lpstr>
      <vt:lpstr>Regression from a time window</vt:lpstr>
      <vt:lpstr>Regression from a time window</vt:lpstr>
      <vt:lpstr>Presentazione standard di PowerPoint</vt:lpstr>
      <vt:lpstr>Classification of windows and sequences</vt:lpstr>
      <vt:lpstr>Classification of windows and sequences</vt:lpstr>
      <vt:lpstr>Presentazione standard di PowerPoint</vt:lpstr>
      <vt:lpstr>Sequence labelling</vt:lpstr>
      <vt:lpstr>Sequence labelling</vt:lpstr>
      <vt:lpstr>Presentazione standard di PowerPoint</vt:lpstr>
      <vt:lpstr>Event detection and early warning</vt:lpstr>
      <vt:lpstr>Event detection and early warning</vt:lpstr>
      <vt:lpstr>Presentazione standard di PowerPoint</vt:lpstr>
      <vt:lpstr>What fully defines a time-series task?</vt:lpstr>
      <vt:lpstr>D- From Temporal Recordings to Supervised-Learning Samples</vt:lpstr>
      <vt:lpstr>Recording, sequence, window and sample – not synonyms</vt:lpstr>
      <vt:lpstr>Recording, sequence, window and sample</vt:lpstr>
      <vt:lpstr>Presentazione standard di PowerPoint</vt:lpstr>
      <vt:lpstr>Constructing samples from one long series</vt:lpstr>
      <vt:lpstr>Presentazione standard di PowerPoint</vt:lpstr>
      <vt:lpstr>Input window and target alignment</vt:lpstr>
      <vt:lpstr>Presentazione standard di PowerPoint</vt:lpstr>
      <vt:lpstr>Choosing the input-window length</vt:lpstr>
      <vt:lpstr>Choosing the input-window length</vt:lpstr>
      <vt:lpstr>Choosing the input-window length</vt:lpstr>
      <vt:lpstr>Stride and overlapping windows</vt:lpstr>
      <vt:lpstr>Stride and overlapping windows</vt:lpstr>
      <vt:lpstr>Presentazione standard di PowerPoint</vt:lpstr>
      <vt:lpstr>Representing the resulting dataset</vt:lpstr>
      <vt:lpstr>Representing the resulting dataset - Possible target structures </vt:lpstr>
      <vt:lpstr>Presentazione standard di PowerPoint</vt:lpstr>
      <vt:lpstr>Questions</vt:lpstr>
      <vt:lpstr>Questions</vt:lpstr>
      <vt:lpstr>Questions</vt:lpstr>
      <vt:lpstr>Questions</vt:lpstr>
      <vt:lpstr>Questions</vt:lpstr>
      <vt:lpstr>Answers</vt:lpstr>
      <vt:lpstr>Answers</vt:lpstr>
      <vt:lpstr>Optional final discussion question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2026-08-03T09:54:53Z</dcterms:created>
  <dcterms:modified xsi:type="dcterms:W3CDTF">2026-09-24T16:01:11Z</dcterms:modified>
</cp:coreProperties>
</file>