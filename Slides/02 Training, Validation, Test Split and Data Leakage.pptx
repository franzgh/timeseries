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9"/>
  </p:notesMasterIdLst>
  <p:sldIdLst>
    <p:sldId id="256" r:id="rId2"/>
    <p:sldId id="257" r:id="rId3"/>
    <p:sldId id="258" r:id="rId4"/>
    <p:sldId id="259" r:id="rId5"/>
    <p:sldId id="260" r:id="rId6"/>
    <p:sldId id="261" r:id="rId7"/>
    <p:sldId id="262" r:id="rId8"/>
    <p:sldId id="263" r:id="rId9"/>
    <p:sldId id="264" r:id="rId10"/>
    <p:sldId id="268" r:id="rId11"/>
    <p:sldId id="267" r:id="rId12"/>
    <p:sldId id="265" r:id="rId13"/>
    <p:sldId id="266" r:id="rId14"/>
    <p:sldId id="269" r:id="rId15"/>
    <p:sldId id="271" r:id="rId16"/>
    <p:sldId id="393" r:id="rId17"/>
    <p:sldId id="277" r:id="rId18"/>
    <p:sldId id="270" r:id="rId19"/>
    <p:sldId id="272" r:id="rId20"/>
    <p:sldId id="274" r:id="rId21"/>
    <p:sldId id="275" r:id="rId22"/>
    <p:sldId id="276" r:id="rId23"/>
    <p:sldId id="278" r:id="rId24"/>
    <p:sldId id="283" r:id="rId25"/>
    <p:sldId id="279" r:id="rId26"/>
    <p:sldId id="285" r:id="rId27"/>
    <p:sldId id="280" r:id="rId28"/>
    <p:sldId id="286" r:id="rId29"/>
    <p:sldId id="281" r:id="rId30"/>
    <p:sldId id="282" r:id="rId31"/>
    <p:sldId id="284"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3" r:id="rId48"/>
    <p:sldId id="302" r:id="rId49"/>
    <p:sldId id="309" r:id="rId50"/>
    <p:sldId id="308" r:id="rId51"/>
    <p:sldId id="305" r:id="rId52"/>
    <p:sldId id="306" r:id="rId53"/>
    <p:sldId id="310" r:id="rId54"/>
    <p:sldId id="312" r:id="rId55"/>
    <p:sldId id="311" r:id="rId56"/>
    <p:sldId id="314" r:id="rId57"/>
    <p:sldId id="313" r:id="rId58"/>
    <p:sldId id="315" r:id="rId59"/>
    <p:sldId id="316" r:id="rId60"/>
    <p:sldId id="317" r:id="rId61"/>
    <p:sldId id="318" r:id="rId62"/>
    <p:sldId id="320" r:id="rId63"/>
    <p:sldId id="319" r:id="rId64"/>
    <p:sldId id="321" r:id="rId65"/>
    <p:sldId id="322" r:id="rId66"/>
    <p:sldId id="323" r:id="rId67"/>
    <p:sldId id="324" r:id="rId68"/>
    <p:sldId id="325" r:id="rId69"/>
    <p:sldId id="333" r:id="rId70"/>
    <p:sldId id="326" r:id="rId71"/>
    <p:sldId id="327" r:id="rId72"/>
    <p:sldId id="336" r:id="rId73"/>
    <p:sldId id="337" r:id="rId74"/>
    <p:sldId id="328" r:id="rId75"/>
    <p:sldId id="338" r:id="rId76"/>
    <p:sldId id="339" r:id="rId77"/>
    <p:sldId id="329" r:id="rId78"/>
    <p:sldId id="340" r:id="rId79"/>
    <p:sldId id="341" r:id="rId80"/>
    <p:sldId id="342" r:id="rId81"/>
    <p:sldId id="330" r:id="rId82"/>
    <p:sldId id="343" r:id="rId83"/>
    <p:sldId id="344" r:id="rId84"/>
    <p:sldId id="331" r:id="rId85"/>
    <p:sldId id="332" r:id="rId86"/>
    <p:sldId id="360" r:id="rId87"/>
    <p:sldId id="361" r:id="rId88"/>
    <p:sldId id="362" r:id="rId89"/>
    <p:sldId id="345" r:id="rId90"/>
    <p:sldId id="363" r:id="rId91"/>
    <p:sldId id="364" r:id="rId92"/>
    <p:sldId id="346" r:id="rId93"/>
    <p:sldId id="365" r:id="rId94"/>
    <p:sldId id="366" r:id="rId95"/>
    <p:sldId id="347" r:id="rId96"/>
    <p:sldId id="367" r:id="rId97"/>
    <p:sldId id="368" r:id="rId98"/>
    <p:sldId id="348" r:id="rId99"/>
    <p:sldId id="369" r:id="rId100"/>
    <p:sldId id="370" r:id="rId101"/>
    <p:sldId id="349" r:id="rId102"/>
    <p:sldId id="371" r:id="rId103"/>
    <p:sldId id="372" r:id="rId104"/>
    <p:sldId id="350" r:id="rId105"/>
    <p:sldId id="373" r:id="rId106"/>
    <p:sldId id="374" r:id="rId107"/>
    <p:sldId id="351" r:id="rId108"/>
    <p:sldId id="375" r:id="rId109"/>
    <p:sldId id="376" r:id="rId110"/>
    <p:sldId id="377" r:id="rId111"/>
    <p:sldId id="352" r:id="rId112"/>
    <p:sldId id="378" r:id="rId113"/>
    <p:sldId id="379" r:id="rId114"/>
    <p:sldId id="353" r:id="rId115"/>
    <p:sldId id="380" r:id="rId116"/>
    <p:sldId id="354" r:id="rId117"/>
    <p:sldId id="381" r:id="rId118"/>
    <p:sldId id="382" r:id="rId119"/>
    <p:sldId id="355" r:id="rId120"/>
    <p:sldId id="383" r:id="rId121"/>
    <p:sldId id="384" r:id="rId122"/>
    <p:sldId id="356" r:id="rId123"/>
    <p:sldId id="385" r:id="rId124"/>
    <p:sldId id="386" r:id="rId125"/>
    <p:sldId id="357" r:id="rId126"/>
    <p:sldId id="387" r:id="rId127"/>
    <p:sldId id="388" r:id="rId128"/>
    <p:sldId id="389" r:id="rId129"/>
    <p:sldId id="391" r:id="rId130"/>
    <p:sldId id="390" r:id="rId131"/>
    <p:sldId id="359" r:id="rId132"/>
    <p:sldId id="392" r:id="rId133"/>
    <p:sldId id="394" r:id="rId134"/>
    <p:sldId id="395" r:id="rId135"/>
    <p:sldId id="396" r:id="rId136"/>
    <p:sldId id="397" r:id="rId137"/>
    <p:sldId id="398" r:id="rId1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28B99D-476F-40A2-9B8A-CDB28725128B}" v="1" dt="2026-10-22T08:47:53.199"/>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61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esco Bellotti" userId="f453232b-f87d-4756-9d8b-c09bc835cc42" providerId="ADAL" clId="{C7FEA3FA-4936-41E1-B7FA-CA082069F7F7}"/>
    <pc:docChg chg="undo redo custSel addSld delSld modSld sldOrd">
      <pc:chgData name="Francesco Bellotti" userId="f453232b-f87d-4756-9d8b-c09bc835cc42" providerId="ADAL" clId="{C7FEA3FA-4936-41E1-B7FA-CA082069F7F7}" dt="2026-10-22T13:07:52.225" v="5778" actId="20577"/>
      <pc:docMkLst>
        <pc:docMk/>
      </pc:docMkLst>
      <pc:sldChg chg="addSp modSp add mod modClrScheme chgLayout">
        <pc:chgData name="Francesco Bellotti" userId="f453232b-f87d-4756-9d8b-c09bc835cc42" providerId="ADAL" clId="{C7FEA3FA-4936-41E1-B7FA-CA082069F7F7}" dt="2026-09-26T07:26:34.616" v="2996" actId="113"/>
        <pc:sldMkLst>
          <pc:docMk/>
          <pc:sldMk cId="2608934375" sldId="261"/>
        </pc:sldMkLst>
        <pc:spChg chg="add mod">
          <ac:chgData name="Francesco Bellotti" userId="f453232b-f87d-4756-9d8b-c09bc835cc42" providerId="ADAL" clId="{C7FEA3FA-4936-41E1-B7FA-CA082069F7F7}" dt="2026-09-26T07:26:34.616" v="2996" actId="113"/>
          <ac:spMkLst>
            <pc:docMk/>
            <pc:sldMk cId="2608934375" sldId="261"/>
            <ac:spMk id="6" creationId="{AE7E1E1B-A4C3-52C6-D4ED-ECC9C6DD801F}"/>
          </ac:spMkLst>
        </pc:spChg>
      </pc:sldChg>
      <pc:sldChg chg="addSp delSp modSp mod">
        <pc:chgData name="Francesco Bellotti" userId="f453232b-f87d-4756-9d8b-c09bc835cc42" providerId="ADAL" clId="{C7FEA3FA-4936-41E1-B7FA-CA082069F7F7}" dt="2026-10-01T10:33:17.839" v="3823" actId="20577"/>
        <pc:sldMkLst>
          <pc:docMk/>
          <pc:sldMk cId="0" sldId="263"/>
        </pc:sldMkLst>
        <pc:spChg chg="mod">
          <ac:chgData name="Francesco Bellotti" userId="f453232b-f87d-4756-9d8b-c09bc835cc42" providerId="ADAL" clId="{C7FEA3FA-4936-41E1-B7FA-CA082069F7F7}" dt="2026-10-01T10:33:02.865" v="3821" actId="1076"/>
          <ac:spMkLst>
            <pc:docMk/>
            <pc:sldMk cId="0" sldId="263"/>
            <ac:spMk id="9" creationId="{00000000-0000-0000-0000-000000000000}"/>
          </ac:spMkLst>
        </pc:spChg>
        <pc:spChg chg="mod">
          <ac:chgData name="Francesco Bellotti" userId="f453232b-f87d-4756-9d8b-c09bc835cc42" providerId="ADAL" clId="{C7FEA3FA-4936-41E1-B7FA-CA082069F7F7}" dt="2026-10-01T10:33:02.865" v="3821" actId="1076"/>
          <ac:spMkLst>
            <pc:docMk/>
            <pc:sldMk cId="0" sldId="263"/>
            <ac:spMk id="10" creationId="{00000000-0000-0000-0000-000000000000}"/>
          </ac:spMkLst>
        </pc:spChg>
        <pc:spChg chg="mod">
          <ac:chgData name="Francesco Bellotti" userId="f453232b-f87d-4756-9d8b-c09bc835cc42" providerId="ADAL" clId="{C7FEA3FA-4936-41E1-B7FA-CA082069F7F7}" dt="2026-10-01T10:33:02.865" v="3821" actId="1076"/>
          <ac:spMkLst>
            <pc:docMk/>
            <pc:sldMk cId="0" sldId="263"/>
            <ac:spMk id="11" creationId="{00000000-0000-0000-0000-000000000000}"/>
          </ac:spMkLst>
        </pc:spChg>
        <pc:spChg chg="mod">
          <ac:chgData name="Francesco Bellotti" userId="f453232b-f87d-4756-9d8b-c09bc835cc42" providerId="ADAL" clId="{C7FEA3FA-4936-41E1-B7FA-CA082069F7F7}" dt="2026-10-01T10:33:10.267" v="3822" actId="1076"/>
          <ac:spMkLst>
            <pc:docMk/>
            <pc:sldMk cId="0" sldId="263"/>
            <ac:spMk id="12" creationId="{00000000-0000-0000-0000-000000000000}"/>
          </ac:spMkLst>
        </pc:spChg>
        <pc:spChg chg="mod">
          <ac:chgData name="Francesco Bellotti" userId="f453232b-f87d-4756-9d8b-c09bc835cc42" providerId="ADAL" clId="{C7FEA3FA-4936-41E1-B7FA-CA082069F7F7}" dt="2026-10-01T10:33:17.839" v="3823" actId="20577"/>
          <ac:spMkLst>
            <pc:docMk/>
            <pc:sldMk cId="0" sldId="263"/>
            <ac:spMk id="13" creationId="{00000000-0000-0000-0000-000000000000}"/>
          </ac:spMkLst>
        </pc:spChg>
        <pc:spChg chg="mod">
          <ac:chgData name="Francesco Bellotti" userId="f453232b-f87d-4756-9d8b-c09bc835cc42" providerId="ADAL" clId="{C7FEA3FA-4936-41E1-B7FA-CA082069F7F7}" dt="2026-10-01T10:33:10.267" v="3822" actId="1076"/>
          <ac:spMkLst>
            <pc:docMk/>
            <pc:sldMk cId="0" sldId="263"/>
            <ac:spMk id="14" creationId="{00000000-0000-0000-0000-000000000000}"/>
          </ac:spMkLst>
        </pc:spChg>
      </pc:sldChg>
      <pc:sldChg chg="modSp mod">
        <pc:chgData name="Francesco Bellotti" userId="f453232b-f87d-4756-9d8b-c09bc835cc42" providerId="ADAL" clId="{C7FEA3FA-4936-41E1-B7FA-CA082069F7F7}" dt="2026-09-26T07:29:02.884" v="2997" actId="113"/>
        <pc:sldMkLst>
          <pc:docMk/>
          <pc:sldMk cId="215129994" sldId="264"/>
        </pc:sldMkLst>
        <pc:spChg chg="mod">
          <ac:chgData name="Francesco Bellotti" userId="f453232b-f87d-4756-9d8b-c09bc835cc42" providerId="ADAL" clId="{C7FEA3FA-4936-41E1-B7FA-CA082069F7F7}" dt="2026-09-26T07:29:02.884" v="2997" actId="113"/>
          <ac:spMkLst>
            <pc:docMk/>
            <pc:sldMk cId="215129994" sldId="264"/>
            <ac:spMk id="5" creationId="{B3590F3F-3D76-986E-1D3C-E6D9B2171227}"/>
          </ac:spMkLst>
        </pc:spChg>
      </pc:sldChg>
      <pc:sldChg chg="modSp mod">
        <pc:chgData name="Francesco Bellotti" userId="f453232b-f87d-4756-9d8b-c09bc835cc42" providerId="ADAL" clId="{C7FEA3FA-4936-41E1-B7FA-CA082069F7F7}" dt="2026-10-01T10:43:41.479" v="3828" actId="13926"/>
        <pc:sldMkLst>
          <pc:docMk/>
          <pc:sldMk cId="1596537873" sldId="266"/>
        </pc:sldMkLst>
        <pc:spChg chg="mod">
          <ac:chgData name="Francesco Bellotti" userId="f453232b-f87d-4756-9d8b-c09bc835cc42" providerId="ADAL" clId="{C7FEA3FA-4936-41E1-B7FA-CA082069F7F7}" dt="2026-09-26T07:34:32.595" v="2999" actId="13926"/>
          <ac:spMkLst>
            <pc:docMk/>
            <pc:sldMk cId="1596537873" sldId="266"/>
            <ac:spMk id="2" creationId="{786BA461-CB9F-6998-3BBF-ED6AC829C112}"/>
          </ac:spMkLst>
        </pc:spChg>
        <pc:spChg chg="mod">
          <ac:chgData name="Francesco Bellotti" userId="f453232b-f87d-4756-9d8b-c09bc835cc42" providerId="ADAL" clId="{C7FEA3FA-4936-41E1-B7FA-CA082069F7F7}" dt="2026-09-26T07:35:04.242" v="3037" actId="1076"/>
          <ac:spMkLst>
            <pc:docMk/>
            <pc:sldMk cId="1596537873" sldId="266"/>
            <ac:spMk id="5" creationId="{D52739A5-1915-2FC1-FB6B-F730417D9AA4}"/>
          </ac:spMkLst>
        </pc:spChg>
        <pc:graphicFrameChg chg="modGraphic">
          <ac:chgData name="Francesco Bellotti" userId="f453232b-f87d-4756-9d8b-c09bc835cc42" providerId="ADAL" clId="{C7FEA3FA-4936-41E1-B7FA-CA082069F7F7}" dt="2026-10-01T10:43:41.479" v="3828" actId="13926"/>
          <ac:graphicFrameMkLst>
            <pc:docMk/>
            <pc:sldMk cId="1596537873" sldId="266"/>
            <ac:graphicFrameMk id="12" creationId="{C6206177-ABA9-0653-AF51-D4087780B83E}"/>
          </ac:graphicFrameMkLst>
        </pc:graphicFrameChg>
      </pc:sldChg>
      <pc:sldChg chg="delSp modSp mod">
        <pc:chgData name="Francesco Bellotti" userId="f453232b-f87d-4756-9d8b-c09bc835cc42" providerId="ADAL" clId="{C7FEA3FA-4936-41E1-B7FA-CA082069F7F7}" dt="2026-09-26T07:45:45.605" v="3145" actId="1076"/>
        <pc:sldMkLst>
          <pc:docMk/>
          <pc:sldMk cId="0" sldId="267"/>
        </pc:sldMkLst>
        <pc:spChg chg="mod">
          <ac:chgData name="Francesco Bellotti" userId="f453232b-f87d-4756-9d8b-c09bc835cc42" providerId="ADAL" clId="{C7FEA3FA-4936-41E1-B7FA-CA082069F7F7}" dt="2026-09-26T07:39:20.876" v="3062" actId="20577"/>
          <ac:spMkLst>
            <pc:docMk/>
            <pc:sldMk cId="0" sldId="267"/>
            <ac:spMk id="5" creationId="{00000000-0000-0000-0000-000000000000}"/>
          </ac:spMkLst>
        </pc:spChg>
        <pc:spChg chg="mod">
          <ac:chgData name="Francesco Bellotti" userId="f453232b-f87d-4756-9d8b-c09bc835cc42" providerId="ADAL" clId="{C7FEA3FA-4936-41E1-B7FA-CA082069F7F7}" dt="2026-09-26T07:39:31.031" v="3068" actId="20577"/>
          <ac:spMkLst>
            <pc:docMk/>
            <pc:sldMk cId="0" sldId="267"/>
            <ac:spMk id="8" creationId="{00000000-0000-0000-0000-000000000000}"/>
          </ac:spMkLst>
        </pc:spChg>
        <pc:spChg chg="mod">
          <ac:chgData name="Francesco Bellotti" userId="f453232b-f87d-4756-9d8b-c09bc835cc42" providerId="ADAL" clId="{C7FEA3FA-4936-41E1-B7FA-CA082069F7F7}" dt="2026-09-26T07:38:59.010" v="3055" actId="20577"/>
          <ac:spMkLst>
            <pc:docMk/>
            <pc:sldMk cId="0" sldId="267"/>
            <ac:spMk id="9" creationId="{00000000-0000-0000-0000-000000000000}"/>
          </ac:spMkLst>
        </pc:spChg>
        <pc:spChg chg="mod">
          <ac:chgData name="Francesco Bellotti" userId="f453232b-f87d-4756-9d8b-c09bc835cc42" providerId="ADAL" clId="{C7FEA3FA-4936-41E1-B7FA-CA082069F7F7}" dt="2026-09-26T07:41:46.229" v="3142" actId="20577"/>
          <ac:spMkLst>
            <pc:docMk/>
            <pc:sldMk cId="0" sldId="267"/>
            <ac:spMk id="10" creationId="{00000000-0000-0000-0000-000000000000}"/>
          </ac:spMkLst>
        </pc:spChg>
        <pc:spChg chg="mod">
          <ac:chgData name="Francesco Bellotti" userId="f453232b-f87d-4756-9d8b-c09bc835cc42" providerId="ADAL" clId="{C7FEA3FA-4936-41E1-B7FA-CA082069F7F7}" dt="2026-09-26T07:39:58.276" v="3082" actId="20577"/>
          <ac:spMkLst>
            <pc:docMk/>
            <pc:sldMk cId="0" sldId="267"/>
            <ac:spMk id="12" creationId="{00000000-0000-0000-0000-000000000000}"/>
          </ac:spMkLst>
        </pc:spChg>
        <pc:spChg chg="mod">
          <ac:chgData name="Francesco Bellotti" userId="f453232b-f87d-4756-9d8b-c09bc835cc42" providerId="ADAL" clId="{C7FEA3FA-4936-41E1-B7FA-CA082069F7F7}" dt="2026-09-26T07:40:51.561" v="3115" actId="108"/>
          <ac:spMkLst>
            <pc:docMk/>
            <pc:sldMk cId="0" sldId="267"/>
            <ac:spMk id="13" creationId="{00000000-0000-0000-0000-000000000000}"/>
          </ac:spMkLst>
        </pc:spChg>
        <pc:spChg chg="mod">
          <ac:chgData name="Francesco Bellotti" userId="f453232b-f87d-4756-9d8b-c09bc835cc42" providerId="ADAL" clId="{C7FEA3FA-4936-41E1-B7FA-CA082069F7F7}" dt="2026-09-26T07:45:45.605" v="3145" actId="1076"/>
          <ac:spMkLst>
            <pc:docMk/>
            <pc:sldMk cId="0" sldId="267"/>
            <ac:spMk id="19" creationId="{00000000-0000-0000-0000-000000000000}"/>
          </ac:spMkLst>
        </pc:spChg>
      </pc:sldChg>
      <pc:sldChg chg="modSp mod">
        <pc:chgData name="Francesco Bellotti" userId="f453232b-f87d-4756-9d8b-c09bc835cc42" providerId="ADAL" clId="{C7FEA3FA-4936-41E1-B7FA-CA082069F7F7}" dt="2026-09-26T07:32:22.983" v="2998" actId="13926"/>
        <pc:sldMkLst>
          <pc:docMk/>
          <pc:sldMk cId="408847610" sldId="268"/>
        </pc:sldMkLst>
        <pc:spChg chg="mod">
          <ac:chgData name="Francesco Bellotti" userId="f453232b-f87d-4756-9d8b-c09bc835cc42" providerId="ADAL" clId="{C7FEA3FA-4936-41E1-B7FA-CA082069F7F7}" dt="2026-09-26T07:32:22.983" v="2998" actId="13926"/>
          <ac:spMkLst>
            <pc:docMk/>
            <pc:sldMk cId="408847610" sldId="268"/>
            <ac:spMk id="2" creationId="{998F8472-C187-245C-4398-F14703226910}"/>
          </ac:spMkLst>
        </pc:spChg>
      </pc:sldChg>
      <pc:sldChg chg="modSp mod">
        <pc:chgData name="Francesco Bellotti" userId="f453232b-f87d-4756-9d8b-c09bc835cc42" providerId="ADAL" clId="{C7FEA3FA-4936-41E1-B7FA-CA082069F7F7}" dt="2026-10-01T10:48:45.067" v="3845" actId="15"/>
        <pc:sldMkLst>
          <pc:docMk/>
          <pc:sldMk cId="3712818973" sldId="270"/>
        </pc:sldMkLst>
        <pc:spChg chg="mod">
          <ac:chgData name="Francesco Bellotti" userId="f453232b-f87d-4756-9d8b-c09bc835cc42" providerId="ADAL" clId="{C7FEA3FA-4936-41E1-B7FA-CA082069F7F7}" dt="2026-10-01T10:48:45.067" v="3845" actId="15"/>
          <ac:spMkLst>
            <pc:docMk/>
            <pc:sldMk cId="3712818973" sldId="270"/>
            <ac:spMk id="3" creationId="{4EB9A23B-4BB6-A8DB-9962-B37EC1C09166}"/>
          </ac:spMkLst>
        </pc:spChg>
      </pc:sldChg>
      <pc:sldChg chg="addSp delSp modSp mod">
        <pc:chgData name="Francesco Bellotti" userId="f453232b-f87d-4756-9d8b-c09bc835cc42" providerId="ADAL" clId="{C7FEA3FA-4936-41E1-B7FA-CA082069F7F7}" dt="2026-10-01T10:50:04.269" v="3850" actId="113"/>
        <pc:sldMkLst>
          <pc:docMk/>
          <pc:sldMk cId="3001009413" sldId="272"/>
        </pc:sldMkLst>
        <pc:spChg chg="mod">
          <ac:chgData name="Francesco Bellotti" userId="f453232b-f87d-4756-9d8b-c09bc835cc42" providerId="ADAL" clId="{C7FEA3FA-4936-41E1-B7FA-CA082069F7F7}" dt="2026-10-01T10:49:57.068" v="3849" actId="27636"/>
          <ac:spMkLst>
            <pc:docMk/>
            <pc:sldMk cId="3001009413" sldId="272"/>
            <ac:spMk id="3" creationId="{893486D6-1BF0-62E3-349C-81867CD6AC52}"/>
          </ac:spMkLst>
        </pc:spChg>
        <pc:spChg chg="mod">
          <ac:chgData name="Francesco Bellotti" userId="f453232b-f87d-4756-9d8b-c09bc835cc42" providerId="ADAL" clId="{C7FEA3FA-4936-41E1-B7FA-CA082069F7F7}" dt="2026-10-01T10:50:04.269" v="3850" actId="113"/>
          <ac:spMkLst>
            <pc:docMk/>
            <pc:sldMk cId="3001009413" sldId="272"/>
            <ac:spMk id="6" creationId="{F0C980B0-E0BF-213E-88DE-D5CCB3728DD8}"/>
          </ac:spMkLst>
        </pc:spChg>
      </pc:sldChg>
      <pc:sldChg chg="delSp modSp mod">
        <pc:chgData name="Francesco Bellotti" userId="f453232b-f87d-4756-9d8b-c09bc835cc42" providerId="ADAL" clId="{C7FEA3FA-4936-41E1-B7FA-CA082069F7F7}" dt="2026-09-26T07:37:18.767" v="3040" actId="478"/>
        <pc:sldMkLst>
          <pc:docMk/>
          <pc:sldMk cId="0" sldId="274"/>
        </pc:sldMkLst>
        <pc:spChg chg="mod">
          <ac:chgData name="Francesco Bellotti" userId="f453232b-f87d-4756-9d8b-c09bc835cc42" providerId="ADAL" clId="{C7FEA3FA-4936-41E1-B7FA-CA082069F7F7}" dt="2026-09-26T07:37:05.650" v="3038" actId="13926"/>
          <ac:spMkLst>
            <pc:docMk/>
            <pc:sldMk cId="0" sldId="274"/>
            <ac:spMk id="2" creationId="{00000000-0000-0000-0000-000000000000}"/>
          </ac:spMkLst>
        </pc:spChg>
      </pc:sldChg>
      <pc:sldChg chg="modSp mod">
        <pc:chgData name="Francesco Bellotti" userId="f453232b-f87d-4756-9d8b-c09bc835cc42" providerId="ADAL" clId="{C7FEA3FA-4936-41E1-B7FA-CA082069F7F7}" dt="2026-09-29T13:32:02.930" v="3265" actId="13926"/>
        <pc:sldMkLst>
          <pc:docMk/>
          <pc:sldMk cId="161817233" sldId="277"/>
        </pc:sldMkLst>
        <pc:spChg chg="mod">
          <ac:chgData name="Francesco Bellotti" userId="f453232b-f87d-4756-9d8b-c09bc835cc42" providerId="ADAL" clId="{C7FEA3FA-4936-41E1-B7FA-CA082069F7F7}" dt="2026-09-29T13:32:02.930" v="3265" actId="13926"/>
          <ac:spMkLst>
            <pc:docMk/>
            <pc:sldMk cId="161817233" sldId="277"/>
            <ac:spMk id="2" creationId="{6D420A5A-DA6A-D044-CECE-D21B22A78C87}"/>
          </ac:spMkLst>
        </pc:spChg>
      </pc:sldChg>
      <pc:sldChg chg="modSp mod">
        <pc:chgData name="Francesco Bellotti" userId="f453232b-f87d-4756-9d8b-c09bc835cc42" providerId="ADAL" clId="{C7FEA3FA-4936-41E1-B7FA-CA082069F7F7}" dt="2026-09-29T13:47:53.305" v="3313" actId="13926"/>
        <pc:sldMkLst>
          <pc:docMk/>
          <pc:sldMk cId="712260758" sldId="278"/>
        </pc:sldMkLst>
        <pc:spChg chg="mod">
          <ac:chgData name="Francesco Bellotti" userId="f453232b-f87d-4756-9d8b-c09bc835cc42" providerId="ADAL" clId="{C7FEA3FA-4936-41E1-B7FA-CA082069F7F7}" dt="2026-09-29T13:47:53.305" v="3313" actId="13926"/>
          <ac:spMkLst>
            <pc:docMk/>
            <pc:sldMk cId="712260758" sldId="278"/>
            <ac:spMk id="5" creationId="{B0175DD0-3633-475C-61B0-C37C3A2D4A80}"/>
          </ac:spMkLst>
        </pc:spChg>
        <pc:spChg chg="mod">
          <ac:chgData name="Francesco Bellotti" userId="f453232b-f87d-4756-9d8b-c09bc835cc42" providerId="ADAL" clId="{C7FEA3FA-4936-41E1-B7FA-CA082069F7F7}" dt="2026-09-29T13:44:17.990" v="3311" actId="13926"/>
          <ac:spMkLst>
            <pc:docMk/>
            <pc:sldMk cId="712260758" sldId="278"/>
            <ac:spMk id="11" creationId="{6740CCEE-15C6-CEBC-9E58-2BE26600DCB2}"/>
          </ac:spMkLst>
        </pc:spChg>
      </pc:sldChg>
      <pc:sldChg chg="modSp mod">
        <pc:chgData name="Francesco Bellotti" userId="f453232b-f87d-4756-9d8b-c09bc835cc42" providerId="ADAL" clId="{C7FEA3FA-4936-41E1-B7FA-CA082069F7F7}" dt="2026-10-01T18:40:16.028" v="3857" actId="13926"/>
        <pc:sldMkLst>
          <pc:docMk/>
          <pc:sldMk cId="94951094" sldId="279"/>
        </pc:sldMkLst>
        <pc:spChg chg="mod">
          <ac:chgData name="Francesco Bellotti" userId="f453232b-f87d-4756-9d8b-c09bc835cc42" providerId="ADAL" clId="{C7FEA3FA-4936-41E1-B7FA-CA082069F7F7}" dt="2026-10-01T18:39:52.750" v="3854" actId="20577"/>
          <ac:spMkLst>
            <pc:docMk/>
            <pc:sldMk cId="94951094" sldId="279"/>
            <ac:spMk id="2" creationId="{11F33A2B-6F61-E117-6164-9DA99AB8D4B8}"/>
          </ac:spMkLst>
        </pc:spChg>
        <pc:spChg chg="mod">
          <ac:chgData name="Francesco Bellotti" userId="f453232b-f87d-4756-9d8b-c09bc835cc42" providerId="ADAL" clId="{C7FEA3FA-4936-41E1-B7FA-CA082069F7F7}" dt="2026-10-01T18:39:58.402" v="3855" actId="113"/>
          <ac:spMkLst>
            <pc:docMk/>
            <pc:sldMk cId="94951094" sldId="279"/>
            <ac:spMk id="3" creationId="{FA21292D-7750-A922-B24D-0739146BA6DA}"/>
          </ac:spMkLst>
        </pc:spChg>
        <pc:spChg chg="mod">
          <ac:chgData name="Francesco Bellotti" userId="f453232b-f87d-4756-9d8b-c09bc835cc42" providerId="ADAL" clId="{C7FEA3FA-4936-41E1-B7FA-CA082069F7F7}" dt="2026-10-01T18:40:16.028" v="3857" actId="13926"/>
          <ac:spMkLst>
            <pc:docMk/>
            <pc:sldMk cId="94951094" sldId="279"/>
            <ac:spMk id="5" creationId="{BD085635-4766-996D-E07E-63D4506CADDA}"/>
          </ac:spMkLst>
        </pc:spChg>
      </pc:sldChg>
      <pc:sldChg chg="modSp mod">
        <pc:chgData name="Francesco Bellotti" userId="f453232b-f87d-4756-9d8b-c09bc835cc42" providerId="ADAL" clId="{C7FEA3FA-4936-41E1-B7FA-CA082069F7F7}" dt="2026-10-01T18:44:55.690" v="3860" actId="13926"/>
        <pc:sldMkLst>
          <pc:docMk/>
          <pc:sldMk cId="1350899058" sldId="280"/>
        </pc:sldMkLst>
        <pc:spChg chg="mod">
          <ac:chgData name="Francesco Bellotti" userId="f453232b-f87d-4756-9d8b-c09bc835cc42" providerId="ADAL" clId="{C7FEA3FA-4936-41E1-B7FA-CA082069F7F7}" dt="2026-09-29T13:48:54.593" v="3314" actId="13926"/>
          <ac:spMkLst>
            <pc:docMk/>
            <pc:sldMk cId="1350899058" sldId="280"/>
            <ac:spMk id="2" creationId="{0CB414ED-BB5C-0145-9DBC-164F4E53A947}"/>
          </ac:spMkLst>
        </pc:spChg>
        <pc:spChg chg="mod">
          <ac:chgData name="Francesco Bellotti" userId="f453232b-f87d-4756-9d8b-c09bc835cc42" providerId="ADAL" clId="{C7FEA3FA-4936-41E1-B7FA-CA082069F7F7}" dt="2026-10-01T18:44:55.690" v="3860" actId="13926"/>
          <ac:spMkLst>
            <pc:docMk/>
            <pc:sldMk cId="1350899058" sldId="280"/>
            <ac:spMk id="3" creationId="{2BF320DE-2FEC-D596-2E64-BACAE999A3B8}"/>
          </ac:spMkLst>
        </pc:spChg>
      </pc:sldChg>
      <pc:sldChg chg="modSp mod">
        <pc:chgData name="Francesco Bellotti" userId="f453232b-f87d-4756-9d8b-c09bc835cc42" providerId="ADAL" clId="{C7FEA3FA-4936-41E1-B7FA-CA082069F7F7}" dt="2026-09-29T13:54:03.003" v="3321" actId="13926"/>
        <pc:sldMkLst>
          <pc:docMk/>
          <pc:sldMk cId="3655954673" sldId="281"/>
        </pc:sldMkLst>
        <pc:spChg chg="mod">
          <ac:chgData name="Francesco Bellotti" userId="f453232b-f87d-4756-9d8b-c09bc835cc42" providerId="ADAL" clId="{C7FEA3FA-4936-41E1-B7FA-CA082069F7F7}" dt="2026-09-29T13:54:03.003" v="3321" actId="13926"/>
          <ac:spMkLst>
            <pc:docMk/>
            <pc:sldMk cId="3655954673" sldId="281"/>
            <ac:spMk id="5" creationId="{52F7B10D-0778-A7EB-D208-468608BC17A5}"/>
          </ac:spMkLst>
        </pc:spChg>
      </pc:sldChg>
      <pc:sldChg chg="modSp mod">
        <pc:chgData name="Francesco Bellotti" userId="f453232b-f87d-4756-9d8b-c09bc835cc42" providerId="ADAL" clId="{C7FEA3FA-4936-41E1-B7FA-CA082069F7F7}" dt="2026-09-29T13:54:19.103" v="3322" actId="113"/>
        <pc:sldMkLst>
          <pc:docMk/>
          <pc:sldMk cId="1618340024" sldId="282"/>
        </pc:sldMkLst>
        <pc:spChg chg="mod">
          <ac:chgData name="Francesco Bellotti" userId="f453232b-f87d-4756-9d8b-c09bc835cc42" providerId="ADAL" clId="{C7FEA3FA-4936-41E1-B7FA-CA082069F7F7}" dt="2026-09-29T13:54:19.103" v="3322" actId="113"/>
          <ac:spMkLst>
            <pc:docMk/>
            <pc:sldMk cId="1618340024" sldId="282"/>
            <ac:spMk id="3" creationId="{2A7362DA-FF66-6F1C-1539-980A8717B5E6}"/>
          </ac:spMkLst>
        </pc:spChg>
      </pc:sldChg>
      <pc:sldChg chg="modSp mod">
        <pc:chgData name="Francesco Bellotti" userId="f453232b-f87d-4756-9d8b-c09bc835cc42" providerId="ADAL" clId="{C7FEA3FA-4936-41E1-B7FA-CA082069F7F7}" dt="2026-09-29T13:38:56.026" v="3304" actId="13926"/>
        <pc:sldMkLst>
          <pc:docMk/>
          <pc:sldMk cId="0" sldId="283"/>
        </pc:sldMkLst>
        <pc:spChg chg="mod">
          <ac:chgData name="Francesco Bellotti" userId="f453232b-f87d-4756-9d8b-c09bc835cc42" providerId="ADAL" clId="{C7FEA3FA-4936-41E1-B7FA-CA082069F7F7}" dt="2026-09-29T13:38:56.026" v="3304" actId="13926"/>
          <ac:spMkLst>
            <pc:docMk/>
            <pc:sldMk cId="0" sldId="283"/>
            <ac:spMk id="19" creationId="{00000000-0000-0000-0000-000000000000}"/>
          </ac:spMkLst>
        </pc:spChg>
      </pc:sldChg>
      <pc:sldChg chg="modSp mod">
        <pc:chgData name="Francesco Bellotti" userId="f453232b-f87d-4756-9d8b-c09bc835cc42" providerId="ADAL" clId="{C7FEA3FA-4936-41E1-B7FA-CA082069F7F7}" dt="2026-09-29T13:52:26.252" v="3320" actId="13926"/>
        <pc:sldMkLst>
          <pc:docMk/>
          <pc:sldMk cId="3645586870" sldId="286"/>
        </pc:sldMkLst>
        <pc:spChg chg="mod">
          <ac:chgData name="Francesco Bellotti" userId="f453232b-f87d-4756-9d8b-c09bc835cc42" providerId="ADAL" clId="{C7FEA3FA-4936-41E1-B7FA-CA082069F7F7}" dt="2026-09-29T13:52:09.254" v="3319" actId="13926"/>
          <ac:spMkLst>
            <pc:docMk/>
            <pc:sldMk cId="3645586870" sldId="286"/>
            <ac:spMk id="2" creationId="{086B255C-49FC-4431-9A79-AF5480A5BB36}"/>
          </ac:spMkLst>
        </pc:spChg>
        <pc:spChg chg="mod">
          <ac:chgData name="Francesco Bellotti" userId="f453232b-f87d-4756-9d8b-c09bc835cc42" providerId="ADAL" clId="{C7FEA3FA-4936-41E1-B7FA-CA082069F7F7}" dt="2026-09-29T13:52:05.185" v="3318" actId="13926"/>
          <ac:spMkLst>
            <pc:docMk/>
            <pc:sldMk cId="3645586870" sldId="286"/>
            <ac:spMk id="3" creationId="{C03E1C8D-B4C9-352B-81AE-3C09AF546944}"/>
          </ac:spMkLst>
        </pc:spChg>
        <pc:spChg chg="mod">
          <ac:chgData name="Francesco Bellotti" userId="f453232b-f87d-4756-9d8b-c09bc835cc42" providerId="ADAL" clId="{C7FEA3FA-4936-41E1-B7FA-CA082069F7F7}" dt="2026-09-29T13:52:26.252" v="3320" actId="13926"/>
          <ac:spMkLst>
            <pc:docMk/>
            <pc:sldMk cId="3645586870" sldId="286"/>
            <ac:spMk id="4" creationId="{4970E1A8-2256-F5C8-5F21-B9133ED8E323}"/>
          </ac:spMkLst>
        </pc:spChg>
      </pc:sldChg>
      <pc:sldChg chg="modSp mod">
        <pc:chgData name="Francesco Bellotti" userId="f453232b-f87d-4756-9d8b-c09bc835cc42" providerId="ADAL" clId="{C7FEA3FA-4936-41E1-B7FA-CA082069F7F7}" dt="2026-09-29T14:00:10.398" v="3326" actId="1076"/>
        <pc:sldMkLst>
          <pc:docMk/>
          <pc:sldMk cId="1059697871" sldId="288"/>
        </pc:sldMkLst>
        <pc:spChg chg="mod">
          <ac:chgData name="Francesco Bellotti" userId="f453232b-f87d-4756-9d8b-c09bc835cc42" providerId="ADAL" clId="{C7FEA3FA-4936-41E1-B7FA-CA082069F7F7}" dt="2026-09-29T13:58:39.405" v="3323" actId="13926"/>
          <ac:spMkLst>
            <pc:docMk/>
            <pc:sldMk cId="1059697871" sldId="288"/>
            <ac:spMk id="2" creationId="{AFF7A6CB-1B18-C757-BF7F-9BFA0CF60305}"/>
          </ac:spMkLst>
        </pc:spChg>
        <pc:spChg chg="mod">
          <ac:chgData name="Francesco Bellotti" userId="f453232b-f87d-4756-9d8b-c09bc835cc42" providerId="ADAL" clId="{C7FEA3FA-4936-41E1-B7FA-CA082069F7F7}" dt="2026-09-29T14:00:03.950" v="3325" actId="27636"/>
          <ac:spMkLst>
            <pc:docMk/>
            <pc:sldMk cId="1059697871" sldId="288"/>
            <ac:spMk id="3" creationId="{FA2FDDCC-D6D2-843F-A194-703E481E978A}"/>
          </ac:spMkLst>
        </pc:spChg>
        <pc:spChg chg="mod">
          <ac:chgData name="Francesco Bellotti" userId="f453232b-f87d-4756-9d8b-c09bc835cc42" providerId="ADAL" clId="{C7FEA3FA-4936-41E1-B7FA-CA082069F7F7}" dt="2026-09-29T14:00:10.398" v="3326" actId="1076"/>
          <ac:spMkLst>
            <pc:docMk/>
            <pc:sldMk cId="1059697871" sldId="288"/>
            <ac:spMk id="5" creationId="{DA151D5A-6761-FFEA-C968-B48577FB1EC1}"/>
          </ac:spMkLst>
        </pc:spChg>
      </pc:sldChg>
      <pc:sldChg chg="addSp modSp mod">
        <pc:chgData name="Francesco Bellotti" userId="f453232b-f87d-4756-9d8b-c09bc835cc42" providerId="ADAL" clId="{C7FEA3FA-4936-41E1-B7FA-CA082069F7F7}" dt="2026-09-29T14:00:26.392" v="3328" actId="14100"/>
        <pc:sldMkLst>
          <pc:docMk/>
          <pc:sldMk cId="2674289005" sldId="289"/>
        </pc:sldMkLst>
        <pc:cxnChg chg="add mod">
          <ac:chgData name="Francesco Bellotti" userId="f453232b-f87d-4756-9d8b-c09bc835cc42" providerId="ADAL" clId="{C7FEA3FA-4936-41E1-B7FA-CA082069F7F7}" dt="2026-09-29T14:00:26.392" v="3328" actId="14100"/>
          <ac:cxnSpMkLst>
            <pc:docMk/>
            <pc:sldMk cId="2674289005" sldId="289"/>
            <ac:cxnSpMk id="5" creationId="{DDD1A258-08D1-A33B-0BB8-B237176BC254}"/>
          </ac:cxnSpMkLst>
        </pc:cxnChg>
      </pc:sldChg>
      <pc:sldChg chg="modSp mod">
        <pc:chgData name="Francesco Bellotti" userId="f453232b-f87d-4756-9d8b-c09bc835cc42" providerId="ADAL" clId="{C7FEA3FA-4936-41E1-B7FA-CA082069F7F7}" dt="2026-09-29T14:03:41.716" v="3329" actId="13926"/>
        <pc:sldMkLst>
          <pc:docMk/>
          <pc:sldMk cId="3088732508" sldId="290"/>
        </pc:sldMkLst>
        <pc:spChg chg="mod">
          <ac:chgData name="Francesco Bellotti" userId="f453232b-f87d-4756-9d8b-c09bc835cc42" providerId="ADAL" clId="{C7FEA3FA-4936-41E1-B7FA-CA082069F7F7}" dt="2026-09-29T14:03:41.716" v="3329" actId="13926"/>
          <ac:spMkLst>
            <pc:docMk/>
            <pc:sldMk cId="3088732508" sldId="290"/>
            <ac:spMk id="2" creationId="{5E111CCB-A7D1-F9E5-D33E-AF02243F4985}"/>
          </ac:spMkLst>
        </pc:spChg>
      </pc:sldChg>
      <pc:sldChg chg="modSp mod">
        <pc:chgData name="Francesco Bellotti" userId="f453232b-f87d-4756-9d8b-c09bc835cc42" providerId="ADAL" clId="{C7FEA3FA-4936-41E1-B7FA-CA082069F7F7}" dt="2026-09-29T14:04:18.515" v="3332" actId="13926"/>
        <pc:sldMkLst>
          <pc:docMk/>
          <pc:sldMk cId="4265597144" sldId="292"/>
        </pc:sldMkLst>
        <pc:spChg chg="mod">
          <ac:chgData name="Francesco Bellotti" userId="f453232b-f87d-4756-9d8b-c09bc835cc42" providerId="ADAL" clId="{C7FEA3FA-4936-41E1-B7FA-CA082069F7F7}" dt="2026-09-29T14:04:18.515" v="3332" actId="13926"/>
          <ac:spMkLst>
            <pc:docMk/>
            <pc:sldMk cId="4265597144" sldId="292"/>
            <ac:spMk id="5" creationId="{4F4CF2C7-7F1B-F144-171D-21F66835BFD6}"/>
          </ac:spMkLst>
        </pc:spChg>
        <pc:spChg chg="mod">
          <ac:chgData name="Francesco Bellotti" userId="f453232b-f87d-4756-9d8b-c09bc835cc42" providerId="ADAL" clId="{C7FEA3FA-4936-41E1-B7FA-CA082069F7F7}" dt="2026-09-29T14:03:55.992" v="3330" actId="13926"/>
          <ac:spMkLst>
            <pc:docMk/>
            <pc:sldMk cId="4265597144" sldId="292"/>
            <ac:spMk id="7" creationId="{CE4E5581-CE8F-589E-3A62-08478587C4C0}"/>
          </ac:spMkLst>
        </pc:spChg>
      </pc:sldChg>
      <pc:sldChg chg="addSp modSp mod">
        <pc:chgData name="Francesco Bellotti" userId="f453232b-f87d-4756-9d8b-c09bc835cc42" providerId="ADAL" clId="{C7FEA3FA-4936-41E1-B7FA-CA082069F7F7}" dt="2026-09-29T14:05:55.845" v="3361" actId="14100"/>
        <pc:sldMkLst>
          <pc:docMk/>
          <pc:sldMk cId="2690102184" sldId="295"/>
        </pc:sldMkLst>
        <pc:spChg chg="add mod">
          <ac:chgData name="Francesco Bellotti" userId="f453232b-f87d-4756-9d8b-c09bc835cc42" providerId="ADAL" clId="{C7FEA3FA-4936-41E1-B7FA-CA082069F7F7}" dt="2026-09-29T14:05:40.753" v="3357" actId="207"/>
          <ac:spMkLst>
            <pc:docMk/>
            <pc:sldMk cId="2690102184" sldId="295"/>
            <ac:spMk id="2" creationId="{88472032-3A18-70A9-E01D-6D157F5FE879}"/>
          </ac:spMkLst>
        </pc:spChg>
        <pc:spChg chg="add mod">
          <ac:chgData name="Francesco Bellotti" userId="f453232b-f87d-4756-9d8b-c09bc835cc42" providerId="ADAL" clId="{C7FEA3FA-4936-41E1-B7FA-CA082069F7F7}" dt="2026-09-29T14:05:55.845" v="3361" actId="14100"/>
          <ac:spMkLst>
            <pc:docMk/>
            <pc:sldMk cId="2690102184" sldId="295"/>
            <ac:spMk id="4" creationId="{BA6A31BA-82AF-5DA7-0726-25C1E692E042}"/>
          </ac:spMkLst>
        </pc:spChg>
        <pc:picChg chg="mod">
          <ac:chgData name="Francesco Bellotti" userId="f453232b-f87d-4756-9d8b-c09bc835cc42" providerId="ADAL" clId="{C7FEA3FA-4936-41E1-B7FA-CA082069F7F7}" dt="2026-09-29T14:05:17.837" v="3334" actId="14100"/>
          <ac:picMkLst>
            <pc:docMk/>
            <pc:sldMk cId="2690102184" sldId="295"/>
            <ac:picMk id="5" creationId="{5A95AFAF-CF8E-2B81-CE0D-F2DFCB76FDE0}"/>
          </ac:picMkLst>
        </pc:picChg>
      </pc:sldChg>
      <pc:sldChg chg="modSp mod">
        <pc:chgData name="Francesco Bellotti" userId="f453232b-f87d-4756-9d8b-c09bc835cc42" providerId="ADAL" clId="{C7FEA3FA-4936-41E1-B7FA-CA082069F7F7}" dt="2026-09-29T14:10:08.505" v="3379" actId="113"/>
        <pc:sldMkLst>
          <pc:docMk/>
          <pc:sldMk cId="3742223137" sldId="296"/>
        </pc:sldMkLst>
        <pc:spChg chg="mod">
          <ac:chgData name="Francesco Bellotti" userId="f453232b-f87d-4756-9d8b-c09bc835cc42" providerId="ADAL" clId="{C7FEA3FA-4936-41E1-B7FA-CA082069F7F7}" dt="2026-09-29T14:08:42.275" v="3367" actId="20577"/>
          <ac:spMkLst>
            <pc:docMk/>
            <pc:sldMk cId="3742223137" sldId="296"/>
            <ac:spMk id="2" creationId="{1BCBCF50-11F9-2AFD-6679-147E05E2D8AC}"/>
          </ac:spMkLst>
        </pc:spChg>
        <pc:spChg chg="mod">
          <ac:chgData name="Francesco Bellotti" userId="f453232b-f87d-4756-9d8b-c09bc835cc42" providerId="ADAL" clId="{C7FEA3FA-4936-41E1-B7FA-CA082069F7F7}" dt="2026-09-29T14:10:08.505" v="3379" actId="113"/>
          <ac:spMkLst>
            <pc:docMk/>
            <pc:sldMk cId="3742223137" sldId="296"/>
            <ac:spMk id="3" creationId="{B82DE71E-8650-A287-E68C-EE1084602908}"/>
          </ac:spMkLst>
        </pc:spChg>
      </pc:sldChg>
      <pc:sldChg chg="modSp mod">
        <pc:chgData name="Francesco Bellotti" userId="f453232b-f87d-4756-9d8b-c09bc835cc42" providerId="ADAL" clId="{C7FEA3FA-4936-41E1-B7FA-CA082069F7F7}" dt="2026-09-29T14:10:26.744" v="3380" actId="113"/>
        <pc:sldMkLst>
          <pc:docMk/>
          <pc:sldMk cId="1435297251" sldId="297"/>
        </pc:sldMkLst>
        <pc:spChg chg="mod">
          <ac:chgData name="Francesco Bellotti" userId="f453232b-f87d-4756-9d8b-c09bc835cc42" providerId="ADAL" clId="{C7FEA3FA-4936-41E1-B7FA-CA082069F7F7}" dt="2026-09-29T14:08:47.719" v="3370" actId="20577"/>
          <ac:spMkLst>
            <pc:docMk/>
            <pc:sldMk cId="1435297251" sldId="297"/>
            <ac:spMk id="2" creationId="{AEA70AC5-9A81-F4C8-9F4C-7249297C782D}"/>
          </ac:spMkLst>
        </pc:spChg>
        <pc:spChg chg="mod">
          <ac:chgData name="Francesco Bellotti" userId="f453232b-f87d-4756-9d8b-c09bc835cc42" providerId="ADAL" clId="{C7FEA3FA-4936-41E1-B7FA-CA082069F7F7}" dt="2026-09-29T14:10:26.744" v="3380" actId="113"/>
          <ac:spMkLst>
            <pc:docMk/>
            <pc:sldMk cId="1435297251" sldId="297"/>
            <ac:spMk id="3" creationId="{8BCF5D63-D6E5-2123-F998-E619F7BC78AE}"/>
          </ac:spMkLst>
        </pc:spChg>
      </pc:sldChg>
      <pc:sldChg chg="modSp mod">
        <pc:chgData name="Francesco Bellotti" userId="f453232b-f87d-4756-9d8b-c09bc835cc42" providerId="ADAL" clId="{C7FEA3FA-4936-41E1-B7FA-CA082069F7F7}" dt="2026-09-29T14:10:36.870" v="3381" actId="113"/>
        <pc:sldMkLst>
          <pc:docMk/>
          <pc:sldMk cId="4017843637" sldId="298"/>
        </pc:sldMkLst>
        <pc:spChg chg="mod">
          <ac:chgData name="Francesco Bellotti" userId="f453232b-f87d-4756-9d8b-c09bc835cc42" providerId="ADAL" clId="{C7FEA3FA-4936-41E1-B7FA-CA082069F7F7}" dt="2026-09-29T14:08:53.758" v="3375" actId="20577"/>
          <ac:spMkLst>
            <pc:docMk/>
            <pc:sldMk cId="4017843637" sldId="298"/>
            <ac:spMk id="2" creationId="{9FEBF538-F079-D7CD-10BD-3F87DF628341}"/>
          </ac:spMkLst>
        </pc:spChg>
        <pc:spChg chg="mod">
          <ac:chgData name="Francesco Bellotti" userId="f453232b-f87d-4756-9d8b-c09bc835cc42" providerId="ADAL" clId="{C7FEA3FA-4936-41E1-B7FA-CA082069F7F7}" dt="2026-09-29T14:10:36.870" v="3381" actId="113"/>
          <ac:spMkLst>
            <pc:docMk/>
            <pc:sldMk cId="4017843637" sldId="298"/>
            <ac:spMk id="3" creationId="{181D4A97-1A58-71F2-F0E3-A4788DE81F38}"/>
          </ac:spMkLst>
        </pc:spChg>
      </pc:sldChg>
      <pc:sldChg chg="modSp mod">
        <pc:chgData name="Francesco Bellotti" userId="f453232b-f87d-4756-9d8b-c09bc835cc42" providerId="ADAL" clId="{C7FEA3FA-4936-41E1-B7FA-CA082069F7F7}" dt="2026-09-29T14:07:11.810" v="3364" actId="113"/>
        <pc:sldMkLst>
          <pc:docMk/>
          <pc:sldMk cId="1254105013" sldId="299"/>
        </pc:sldMkLst>
        <pc:spChg chg="mod">
          <ac:chgData name="Francesco Bellotti" userId="f453232b-f87d-4756-9d8b-c09bc835cc42" providerId="ADAL" clId="{C7FEA3FA-4936-41E1-B7FA-CA082069F7F7}" dt="2026-09-29T14:07:11.810" v="3364" actId="113"/>
          <ac:spMkLst>
            <pc:docMk/>
            <pc:sldMk cId="1254105013" sldId="299"/>
            <ac:spMk id="6" creationId="{5A43A90B-484E-9B90-98FE-4FF588C5DC24}"/>
          </ac:spMkLst>
        </pc:spChg>
        <pc:graphicFrameChg chg="modGraphic">
          <ac:chgData name="Francesco Bellotti" userId="f453232b-f87d-4756-9d8b-c09bc835cc42" providerId="ADAL" clId="{C7FEA3FA-4936-41E1-B7FA-CA082069F7F7}" dt="2026-09-29T14:07:01.590" v="3363" actId="13926"/>
          <ac:graphicFrameMkLst>
            <pc:docMk/>
            <pc:sldMk cId="1254105013" sldId="299"/>
            <ac:graphicFrameMk id="4" creationId="{DB65BD03-1E35-539B-BE5C-9079423D3598}"/>
          </ac:graphicFrameMkLst>
        </pc:graphicFrameChg>
      </pc:sldChg>
      <pc:sldChg chg="modSp mod">
        <pc:chgData name="Francesco Bellotti" userId="f453232b-f87d-4756-9d8b-c09bc835cc42" providerId="ADAL" clId="{C7FEA3FA-4936-41E1-B7FA-CA082069F7F7}" dt="2026-09-29T14:13:05.734" v="3383" actId="13926"/>
        <pc:sldMkLst>
          <pc:docMk/>
          <pc:sldMk cId="2045886616" sldId="300"/>
        </pc:sldMkLst>
        <pc:spChg chg="mod">
          <ac:chgData name="Francesco Bellotti" userId="f453232b-f87d-4756-9d8b-c09bc835cc42" providerId="ADAL" clId="{C7FEA3FA-4936-41E1-B7FA-CA082069F7F7}" dt="2026-09-29T14:11:23.124" v="3382" actId="113"/>
          <ac:spMkLst>
            <pc:docMk/>
            <pc:sldMk cId="2045886616" sldId="300"/>
            <ac:spMk id="5" creationId="{385D4F02-0453-0E69-F5D1-7F8C1F7C3F0D}"/>
          </ac:spMkLst>
        </pc:spChg>
        <pc:spChg chg="mod">
          <ac:chgData name="Francesco Bellotti" userId="f453232b-f87d-4756-9d8b-c09bc835cc42" providerId="ADAL" clId="{C7FEA3FA-4936-41E1-B7FA-CA082069F7F7}" dt="2026-09-29T14:13:05.734" v="3383" actId="13926"/>
          <ac:spMkLst>
            <pc:docMk/>
            <pc:sldMk cId="2045886616" sldId="300"/>
            <ac:spMk id="7" creationId="{8823A9E3-0FA4-17D6-B823-52E6D62963D7}"/>
          </ac:spMkLst>
        </pc:spChg>
      </pc:sldChg>
      <pc:sldChg chg="modSp mod">
        <pc:chgData name="Francesco Bellotti" userId="f453232b-f87d-4756-9d8b-c09bc835cc42" providerId="ADAL" clId="{C7FEA3FA-4936-41E1-B7FA-CA082069F7F7}" dt="2026-09-29T14:14:28.053" v="3384" actId="13926"/>
        <pc:sldMkLst>
          <pc:docMk/>
          <pc:sldMk cId="131188606" sldId="302"/>
        </pc:sldMkLst>
        <pc:spChg chg="mod">
          <ac:chgData name="Francesco Bellotti" userId="f453232b-f87d-4756-9d8b-c09bc835cc42" providerId="ADAL" clId="{C7FEA3FA-4936-41E1-B7FA-CA082069F7F7}" dt="2026-09-29T14:14:28.053" v="3384" actId="13926"/>
          <ac:spMkLst>
            <pc:docMk/>
            <pc:sldMk cId="131188606" sldId="302"/>
            <ac:spMk id="3" creationId="{7D29C7B5-918A-883B-4345-8DC9AD479653}"/>
          </ac:spMkLst>
        </pc:spChg>
      </pc:sldChg>
      <pc:sldChg chg="modSp mod">
        <pc:chgData name="Francesco Bellotti" userId="f453232b-f87d-4756-9d8b-c09bc835cc42" providerId="ADAL" clId="{C7FEA3FA-4936-41E1-B7FA-CA082069F7F7}" dt="2026-09-29T14:15:09.209" v="3386" actId="13926"/>
        <pc:sldMkLst>
          <pc:docMk/>
          <pc:sldMk cId="699906372" sldId="305"/>
        </pc:sldMkLst>
        <pc:spChg chg="mod">
          <ac:chgData name="Francesco Bellotti" userId="f453232b-f87d-4756-9d8b-c09bc835cc42" providerId="ADAL" clId="{C7FEA3FA-4936-41E1-B7FA-CA082069F7F7}" dt="2026-09-29T14:15:09.209" v="3386" actId="13926"/>
          <ac:spMkLst>
            <pc:docMk/>
            <pc:sldMk cId="699906372" sldId="305"/>
            <ac:spMk id="3" creationId="{51906C21-3375-3014-5CF5-D6BAC06824E0}"/>
          </ac:spMkLst>
        </pc:spChg>
      </pc:sldChg>
      <pc:sldChg chg="modSp mod">
        <pc:chgData name="Francesco Bellotti" userId="f453232b-f87d-4756-9d8b-c09bc835cc42" providerId="ADAL" clId="{C7FEA3FA-4936-41E1-B7FA-CA082069F7F7}" dt="2026-09-29T14:22:25.414" v="3387" actId="13926"/>
        <pc:sldMkLst>
          <pc:docMk/>
          <pc:sldMk cId="272200457" sldId="310"/>
        </pc:sldMkLst>
        <pc:spChg chg="mod">
          <ac:chgData name="Francesco Bellotti" userId="f453232b-f87d-4756-9d8b-c09bc835cc42" providerId="ADAL" clId="{C7FEA3FA-4936-41E1-B7FA-CA082069F7F7}" dt="2026-09-29T14:22:25.414" v="3387" actId="13926"/>
          <ac:spMkLst>
            <pc:docMk/>
            <pc:sldMk cId="272200457" sldId="310"/>
            <ac:spMk id="3" creationId="{047C2D86-52E5-ED4C-61BF-C796D0C916F0}"/>
          </ac:spMkLst>
        </pc:spChg>
      </pc:sldChg>
      <pc:sldChg chg="modSp mod">
        <pc:chgData name="Francesco Bellotti" userId="f453232b-f87d-4756-9d8b-c09bc835cc42" providerId="ADAL" clId="{C7FEA3FA-4936-41E1-B7FA-CA082069F7F7}" dt="2026-09-29T14:24:28.208" v="3388" actId="113"/>
        <pc:sldMkLst>
          <pc:docMk/>
          <pc:sldMk cId="2732902341" sldId="311"/>
        </pc:sldMkLst>
        <pc:spChg chg="mod">
          <ac:chgData name="Francesco Bellotti" userId="f453232b-f87d-4756-9d8b-c09bc835cc42" providerId="ADAL" clId="{C7FEA3FA-4936-41E1-B7FA-CA082069F7F7}" dt="2026-09-29T14:24:28.208" v="3388" actId="113"/>
          <ac:spMkLst>
            <pc:docMk/>
            <pc:sldMk cId="2732902341" sldId="311"/>
            <ac:spMk id="5" creationId="{5F72DAD7-998A-3F3D-24D3-ACE80A171A34}"/>
          </ac:spMkLst>
        </pc:spChg>
      </pc:sldChg>
      <pc:sldChg chg="modSp mod">
        <pc:chgData name="Francesco Bellotti" userId="f453232b-f87d-4756-9d8b-c09bc835cc42" providerId="ADAL" clId="{C7FEA3FA-4936-41E1-B7FA-CA082069F7F7}" dt="2026-09-29T14:24:47.041" v="3390" actId="13926"/>
        <pc:sldMkLst>
          <pc:docMk/>
          <pc:sldMk cId="1553048853" sldId="314"/>
        </pc:sldMkLst>
        <pc:spChg chg="mod">
          <ac:chgData name="Francesco Bellotti" userId="f453232b-f87d-4756-9d8b-c09bc835cc42" providerId="ADAL" clId="{C7FEA3FA-4936-41E1-B7FA-CA082069F7F7}" dt="2026-09-29T14:24:40.780" v="3389" actId="113"/>
          <ac:spMkLst>
            <pc:docMk/>
            <pc:sldMk cId="1553048853" sldId="314"/>
            <ac:spMk id="3" creationId="{AF13A499-CA58-536D-111A-6150E85F6F3E}"/>
          </ac:spMkLst>
        </pc:spChg>
        <pc:spChg chg="mod">
          <ac:chgData name="Francesco Bellotti" userId="f453232b-f87d-4756-9d8b-c09bc835cc42" providerId="ADAL" clId="{C7FEA3FA-4936-41E1-B7FA-CA082069F7F7}" dt="2026-09-29T14:24:47.041" v="3390" actId="13926"/>
          <ac:spMkLst>
            <pc:docMk/>
            <pc:sldMk cId="1553048853" sldId="314"/>
            <ac:spMk id="5" creationId="{DB27172A-401D-AD30-5AC2-CD4F470E6C3F}"/>
          </ac:spMkLst>
        </pc:spChg>
      </pc:sldChg>
      <pc:sldChg chg="modSp mod">
        <pc:chgData name="Francesco Bellotti" userId="f453232b-f87d-4756-9d8b-c09bc835cc42" providerId="ADAL" clId="{C7FEA3FA-4936-41E1-B7FA-CA082069F7F7}" dt="2026-09-29T14:26:11.332" v="3392" actId="113"/>
        <pc:sldMkLst>
          <pc:docMk/>
          <pc:sldMk cId="727140567" sldId="316"/>
        </pc:sldMkLst>
        <pc:spChg chg="mod">
          <ac:chgData name="Francesco Bellotti" userId="f453232b-f87d-4756-9d8b-c09bc835cc42" providerId="ADAL" clId="{C7FEA3FA-4936-41E1-B7FA-CA082069F7F7}" dt="2026-09-29T14:25:44.766" v="3391" actId="13926"/>
          <ac:spMkLst>
            <pc:docMk/>
            <pc:sldMk cId="727140567" sldId="316"/>
            <ac:spMk id="2" creationId="{3EC8ADB6-F572-1030-66BB-DE7C94264F64}"/>
          </ac:spMkLst>
        </pc:spChg>
        <pc:spChg chg="mod">
          <ac:chgData name="Francesco Bellotti" userId="f453232b-f87d-4756-9d8b-c09bc835cc42" providerId="ADAL" clId="{C7FEA3FA-4936-41E1-B7FA-CA082069F7F7}" dt="2026-09-29T14:26:11.332" v="3392" actId="113"/>
          <ac:spMkLst>
            <pc:docMk/>
            <pc:sldMk cId="727140567" sldId="316"/>
            <ac:spMk id="5" creationId="{F344DE35-B5E4-3C65-5621-D42C51B5BC54}"/>
          </ac:spMkLst>
        </pc:spChg>
      </pc:sldChg>
      <pc:sldChg chg="modSp mod">
        <pc:chgData name="Francesco Bellotti" userId="f453232b-f87d-4756-9d8b-c09bc835cc42" providerId="ADAL" clId="{C7FEA3FA-4936-41E1-B7FA-CA082069F7F7}" dt="2026-09-29T15:45:37.214" v="3411" actId="14100"/>
        <pc:sldMkLst>
          <pc:docMk/>
          <pc:sldMk cId="3733825347" sldId="318"/>
        </pc:sldMkLst>
        <pc:spChg chg="mod">
          <ac:chgData name="Francesco Bellotti" userId="f453232b-f87d-4756-9d8b-c09bc835cc42" providerId="ADAL" clId="{C7FEA3FA-4936-41E1-B7FA-CA082069F7F7}" dt="2026-09-29T15:45:24.402" v="3408" actId="27636"/>
          <ac:spMkLst>
            <pc:docMk/>
            <pc:sldMk cId="3733825347" sldId="318"/>
            <ac:spMk id="3" creationId="{5656899C-5430-1004-DF55-B383BEB9E577}"/>
          </ac:spMkLst>
        </pc:spChg>
        <pc:spChg chg="mod">
          <ac:chgData name="Francesco Bellotti" userId="f453232b-f87d-4756-9d8b-c09bc835cc42" providerId="ADAL" clId="{C7FEA3FA-4936-41E1-B7FA-CA082069F7F7}" dt="2026-09-29T15:45:37.214" v="3411" actId="14100"/>
          <ac:spMkLst>
            <pc:docMk/>
            <pc:sldMk cId="3733825347" sldId="318"/>
            <ac:spMk id="5" creationId="{680E12C8-36C3-3758-1F24-8A0531D3521E}"/>
          </ac:spMkLst>
        </pc:spChg>
      </pc:sldChg>
      <pc:sldChg chg="addSp modSp mod modClrScheme chgLayout">
        <pc:chgData name="Francesco Bellotti" userId="f453232b-f87d-4756-9d8b-c09bc835cc42" providerId="ADAL" clId="{C7FEA3FA-4936-41E1-B7FA-CA082069F7F7}" dt="2026-09-29T15:49:02.510" v="3420" actId="13926"/>
        <pc:sldMkLst>
          <pc:docMk/>
          <pc:sldMk cId="1887921443" sldId="319"/>
        </pc:sldMkLst>
        <pc:spChg chg="mod ord">
          <ac:chgData name="Francesco Bellotti" userId="f453232b-f87d-4756-9d8b-c09bc835cc42" providerId="ADAL" clId="{C7FEA3FA-4936-41E1-B7FA-CA082069F7F7}" dt="2026-09-29T15:47:44.273" v="3414" actId="700"/>
          <ac:spMkLst>
            <pc:docMk/>
            <pc:sldMk cId="1887921443" sldId="319"/>
            <ac:spMk id="2" creationId="{50AB15A6-2644-50AE-25BA-FDCBBDBFA8DC}"/>
          </ac:spMkLst>
        </pc:spChg>
        <pc:spChg chg="mod ord">
          <ac:chgData name="Francesco Bellotti" userId="f453232b-f87d-4756-9d8b-c09bc835cc42" providerId="ADAL" clId="{C7FEA3FA-4936-41E1-B7FA-CA082069F7F7}" dt="2026-09-29T15:48:43.287" v="3419" actId="13926"/>
          <ac:spMkLst>
            <pc:docMk/>
            <pc:sldMk cId="1887921443" sldId="319"/>
            <ac:spMk id="3" creationId="{60792400-AD6A-C0CB-164E-121C09378817}"/>
          </ac:spMkLst>
        </pc:spChg>
        <pc:spChg chg="add mod ord">
          <ac:chgData name="Francesco Bellotti" userId="f453232b-f87d-4756-9d8b-c09bc835cc42" providerId="ADAL" clId="{C7FEA3FA-4936-41E1-B7FA-CA082069F7F7}" dt="2026-09-29T15:49:02.510" v="3420" actId="13926"/>
          <ac:spMkLst>
            <pc:docMk/>
            <pc:sldMk cId="1887921443" sldId="319"/>
            <ac:spMk id="4" creationId="{278A06C3-895A-3840-08EA-641E13940978}"/>
          </ac:spMkLst>
        </pc:spChg>
      </pc:sldChg>
      <pc:sldChg chg="modSp mod">
        <pc:chgData name="Francesco Bellotti" userId="f453232b-f87d-4756-9d8b-c09bc835cc42" providerId="ADAL" clId="{C7FEA3FA-4936-41E1-B7FA-CA082069F7F7}" dt="2026-09-29T15:49:38.256" v="3421" actId="13926"/>
        <pc:sldMkLst>
          <pc:docMk/>
          <pc:sldMk cId="1908122426" sldId="321"/>
        </pc:sldMkLst>
        <pc:spChg chg="mod">
          <ac:chgData name="Francesco Bellotti" userId="f453232b-f87d-4756-9d8b-c09bc835cc42" providerId="ADAL" clId="{C7FEA3FA-4936-41E1-B7FA-CA082069F7F7}" dt="2026-09-29T15:49:38.256" v="3421" actId="13926"/>
          <ac:spMkLst>
            <pc:docMk/>
            <pc:sldMk cId="1908122426" sldId="321"/>
            <ac:spMk id="3" creationId="{090D962F-3ECD-F842-F87A-5654D596F3D0}"/>
          </ac:spMkLst>
        </pc:spChg>
      </pc:sldChg>
      <pc:sldChg chg="modSp mod">
        <pc:chgData name="Francesco Bellotti" userId="f453232b-f87d-4756-9d8b-c09bc835cc42" providerId="ADAL" clId="{C7FEA3FA-4936-41E1-B7FA-CA082069F7F7}" dt="2026-09-29T15:51:54.172" v="3423" actId="13926"/>
        <pc:sldMkLst>
          <pc:docMk/>
          <pc:sldMk cId="3312324776" sldId="323"/>
        </pc:sldMkLst>
        <pc:spChg chg="mod">
          <ac:chgData name="Francesco Bellotti" userId="f453232b-f87d-4756-9d8b-c09bc835cc42" providerId="ADAL" clId="{C7FEA3FA-4936-41E1-B7FA-CA082069F7F7}" dt="2026-09-29T15:50:06.382" v="3422" actId="13926"/>
          <ac:spMkLst>
            <pc:docMk/>
            <pc:sldMk cId="3312324776" sldId="323"/>
            <ac:spMk id="2" creationId="{6504FF0E-B70B-6D2A-BEB0-F67DCD459234}"/>
          </ac:spMkLst>
        </pc:spChg>
        <pc:spChg chg="mod">
          <ac:chgData name="Francesco Bellotti" userId="f453232b-f87d-4756-9d8b-c09bc835cc42" providerId="ADAL" clId="{C7FEA3FA-4936-41E1-B7FA-CA082069F7F7}" dt="2026-09-29T15:51:54.172" v="3423" actId="13926"/>
          <ac:spMkLst>
            <pc:docMk/>
            <pc:sldMk cId="3312324776" sldId="323"/>
            <ac:spMk id="3" creationId="{EEED4CCF-9633-C597-439D-8B36AB854F33}"/>
          </ac:spMkLst>
        </pc:spChg>
      </pc:sldChg>
      <pc:sldChg chg="modSp mod">
        <pc:chgData name="Francesco Bellotti" userId="f453232b-f87d-4756-9d8b-c09bc835cc42" providerId="ADAL" clId="{C7FEA3FA-4936-41E1-B7FA-CA082069F7F7}" dt="2026-09-29T15:52:33.145" v="3425" actId="13926"/>
        <pc:sldMkLst>
          <pc:docMk/>
          <pc:sldMk cId="807418789" sldId="324"/>
        </pc:sldMkLst>
        <pc:spChg chg="mod">
          <ac:chgData name="Francesco Bellotti" userId="f453232b-f87d-4756-9d8b-c09bc835cc42" providerId="ADAL" clId="{C7FEA3FA-4936-41E1-B7FA-CA082069F7F7}" dt="2026-09-29T15:52:16.905" v="3424" actId="13926"/>
          <ac:spMkLst>
            <pc:docMk/>
            <pc:sldMk cId="807418789" sldId="324"/>
            <ac:spMk id="3" creationId="{B8A7FCCD-A728-72D1-9E79-E8C0D53DEEA6}"/>
          </ac:spMkLst>
        </pc:spChg>
        <pc:spChg chg="mod">
          <ac:chgData name="Francesco Bellotti" userId="f453232b-f87d-4756-9d8b-c09bc835cc42" providerId="ADAL" clId="{C7FEA3FA-4936-41E1-B7FA-CA082069F7F7}" dt="2026-09-29T15:52:33.145" v="3425" actId="13926"/>
          <ac:spMkLst>
            <pc:docMk/>
            <pc:sldMk cId="807418789" sldId="324"/>
            <ac:spMk id="5" creationId="{3730231F-588B-94C3-AA2A-58E946E4B672}"/>
          </ac:spMkLst>
        </pc:spChg>
      </pc:sldChg>
      <pc:sldChg chg="modSp mod">
        <pc:chgData name="Francesco Bellotti" userId="f453232b-f87d-4756-9d8b-c09bc835cc42" providerId="ADAL" clId="{C7FEA3FA-4936-41E1-B7FA-CA082069F7F7}" dt="2026-09-29T15:53:03.296" v="3427" actId="113"/>
        <pc:sldMkLst>
          <pc:docMk/>
          <pc:sldMk cId="0" sldId="325"/>
        </pc:sldMkLst>
        <pc:spChg chg="mod">
          <ac:chgData name="Francesco Bellotti" userId="f453232b-f87d-4756-9d8b-c09bc835cc42" providerId="ADAL" clId="{C7FEA3FA-4936-41E1-B7FA-CA082069F7F7}" dt="2026-09-29T15:53:03.296" v="3427" actId="113"/>
          <ac:spMkLst>
            <pc:docMk/>
            <pc:sldMk cId="0" sldId="325"/>
            <ac:spMk id="42" creationId="{00000000-0000-0000-0000-000000000000}"/>
          </ac:spMkLst>
        </pc:spChg>
      </pc:sldChg>
      <pc:sldChg chg="modSp mod">
        <pc:chgData name="Francesco Bellotti" userId="f453232b-f87d-4756-9d8b-c09bc835cc42" providerId="ADAL" clId="{C7FEA3FA-4936-41E1-B7FA-CA082069F7F7}" dt="2026-09-29T15:53:29.969" v="3430" actId="13926"/>
        <pc:sldMkLst>
          <pc:docMk/>
          <pc:sldMk cId="0" sldId="326"/>
        </pc:sldMkLst>
        <pc:spChg chg="mod">
          <ac:chgData name="Francesco Bellotti" userId="f453232b-f87d-4756-9d8b-c09bc835cc42" providerId="ADAL" clId="{C7FEA3FA-4936-41E1-B7FA-CA082069F7F7}" dt="2026-09-29T15:53:29.969" v="3430" actId="13926"/>
          <ac:spMkLst>
            <pc:docMk/>
            <pc:sldMk cId="0" sldId="326"/>
            <ac:spMk id="5" creationId="{00000000-0000-0000-0000-000000000000}"/>
          </ac:spMkLst>
        </pc:spChg>
        <pc:spChg chg="mod">
          <ac:chgData name="Francesco Bellotti" userId="f453232b-f87d-4756-9d8b-c09bc835cc42" providerId="ADAL" clId="{C7FEA3FA-4936-41E1-B7FA-CA082069F7F7}" dt="2026-09-29T15:53:21.237" v="3428" actId="13926"/>
          <ac:spMkLst>
            <pc:docMk/>
            <pc:sldMk cId="0" sldId="326"/>
            <ac:spMk id="19" creationId="{00000000-0000-0000-0000-000000000000}"/>
          </ac:spMkLst>
        </pc:spChg>
      </pc:sldChg>
      <pc:sldChg chg="modSp mod">
        <pc:chgData name="Francesco Bellotti" userId="f453232b-f87d-4756-9d8b-c09bc835cc42" providerId="ADAL" clId="{C7FEA3FA-4936-41E1-B7FA-CA082069F7F7}" dt="2026-09-29T15:54:52.695" v="3431" actId="13926"/>
        <pc:sldMkLst>
          <pc:docMk/>
          <pc:sldMk cId="0" sldId="327"/>
        </pc:sldMkLst>
        <pc:spChg chg="mod">
          <ac:chgData name="Francesco Bellotti" userId="f453232b-f87d-4756-9d8b-c09bc835cc42" providerId="ADAL" clId="{C7FEA3FA-4936-41E1-B7FA-CA082069F7F7}" dt="2026-09-29T15:54:52.695" v="3431" actId="13926"/>
          <ac:spMkLst>
            <pc:docMk/>
            <pc:sldMk cId="0" sldId="327"/>
            <ac:spMk id="35" creationId="{138304C1-9E65-7920-5DD9-1B0EEE7B2353}"/>
          </ac:spMkLst>
        </pc:spChg>
      </pc:sldChg>
      <pc:sldChg chg="delSp modSp mod">
        <pc:chgData name="Francesco Bellotti" userId="f453232b-f87d-4756-9d8b-c09bc835cc42" providerId="ADAL" clId="{C7FEA3FA-4936-41E1-B7FA-CA082069F7F7}" dt="2026-09-29T21:01:42.509" v="3441" actId="478"/>
        <pc:sldMkLst>
          <pc:docMk/>
          <pc:sldMk cId="0" sldId="328"/>
        </pc:sldMkLst>
        <pc:spChg chg="mod">
          <ac:chgData name="Francesco Bellotti" userId="f453232b-f87d-4756-9d8b-c09bc835cc42" providerId="ADAL" clId="{C7FEA3FA-4936-41E1-B7FA-CA082069F7F7}" dt="2026-09-29T21:01:34.272" v="3439" actId="1076"/>
          <ac:spMkLst>
            <pc:docMk/>
            <pc:sldMk cId="0" sldId="328"/>
            <ac:spMk id="22" creationId="{00000000-0000-0000-0000-000000000000}"/>
          </ac:spMkLst>
        </pc:spChg>
      </pc:sldChg>
      <pc:sldChg chg="modSp mod">
        <pc:chgData name="Francesco Bellotti" userId="f453232b-f87d-4756-9d8b-c09bc835cc42" providerId="ADAL" clId="{C7FEA3FA-4936-41E1-B7FA-CA082069F7F7}" dt="2026-09-29T21:05:03.702" v="3449" actId="1076"/>
        <pc:sldMkLst>
          <pc:docMk/>
          <pc:sldMk cId="0" sldId="329"/>
        </pc:sldMkLst>
        <pc:spChg chg="mod">
          <ac:chgData name="Francesco Bellotti" userId="f453232b-f87d-4756-9d8b-c09bc835cc42" providerId="ADAL" clId="{C7FEA3FA-4936-41E1-B7FA-CA082069F7F7}" dt="2026-09-29T21:05:03.702" v="3449" actId="1076"/>
          <ac:spMkLst>
            <pc:docMk/>
            <pc:sldMk cId="0" sldId="329"/>
            <ac:spMk id="22" creationId="{00000000-0000-0000-0000-000000000000}"/>
          </ac:spMkLst>
        </pc:spChg>
      </pc:sldChg>
      <pc:sldChg chg="modSp mod">
        <pc:chgData name="Francesco Bellotti" userId="f453232b-f87d-4756-9d8b-c09bc835cc42" providerId="ADAL" clId="{C7FEA3FA-4936-41E1-B7FA-CA082069F7F7}" dt="2026-09-29T21:26:55.633" v="3465" actId="13926"/>
        <pc:sldMkLst>
          <pc:docMk/>
          <pc:sldMk cId="0" sldId="330"/>
        </pc:sldMkLst>
        <pc:spChg chg="mod">
          <ac:chgData name="Francesco Bellotti" userId="f453232b-f87d-4756-9d8b-c09bc835cc42" providerId="ADAL" clId="{C7FEA3FA-4936-41E1-B7FA-CA082069F7F7}" dt="2026-09-29T21:26:55.633" v="3465" actId="13926"/>
          <ac:spMkLst>
            <pc:docMk/>
            <pc:sldMk cId="0" sldId="330"/>
            <ac:spMk id="5" creationId="{00000000-0000-0000-0000-000000000000}"/>
          </ac:spMkLst>
        </pc:spChg>
      </pc:sldChg>
      <pc:sldChg chg="modSp mod">
        <pc:chgData name="Francesco Bellotti" userId="f453232b-f87d-4756-9d8b-c09bc835cc42" providerId="ADAL" clId="{C7FEA3FA-4936-41E1-B7FA-CA082069F7F7}" dt="2026-09-29T21:36:14.453" v="3472" actId="20577"/>
        <pc:sldMkLst>
          <pc:docMk/>
          <pc:sldMk cId="0" sldId="331"/>
        </pc:sldMkLst>
        <pc:spChg chg="mod">
          <ac:chgData name="Francesco Bellotti" userId="f453232b-f87d-4756-9d8b-c09bc835cc42" providerId="ADAL" clId="{C7FEA3FA-4936-41E1-B7FA-CA082069F7F7}" dt="2026-09-29T21:36:14.453" v="3472" actId="20577"/>
          <ac:spMkLst>
            <pc:docMk/>
            <pc:sldMk cId="0" sldId="331"/>
            <ac:spMk id="34" creationId="{00000000-0000-0000-0000-000000000000}"/>
          </ac:spMkLst>
        </pc:spChg>
      </pc:sldChg>
      <pc:sldChg chg="delSp modSp mod">
        <pc:chgData name="Francesco Bellotti" userId="f453232b-f87d-4756-9d8b-c09bc835cc42" providerId="ADAL" clId="{C7FEA3FA-4936-41E1-B7FA-CA082069F7F7}" dt="2026-09-29T21:50:26.413" v="3481" actId="478"/>
        <pc:sldMkLst>
          <pc:docMk/>
          <pc:sldMk cId="0" sldId="332"/>
        </pc:sldMkLst>
        <pc:spChg chg="mod">
          <ac:chgData name="Francesco Bellotti" userId="f453232b-f87d-4756-9d8b-c09bc835cc42" providerId="ADAL" clId="{C7FEA3FA-4936-41E1-B7FA-CA082069F7F7}" dt="2026-09-29T21:50:09.426" v="3480" actId="113"/>
          <ac:spMkLst>
            <pc:docMk/>
            <pc:sldMk cId="0" sldId="332"/>
            <ac:spMk id="40" creationId="{00000000-0000-0000-0000-000000000000}"/>
          </ac:spMkLst>
        </pc:spChg>
      </pc:sldChg>
      <pc:sldChg chg="modSp mod">
        <pc:chgData name="Francesco Bellotti" userId="f453232b-f87d-4756-9d8b-c09bc835cc42" providerId="ADAL" clId="{C7FEA3FA-4936-41E1-B7FA-CA082069F7F7}" dt="2026-09-29T20:59:21.636" v="3433" actId="13926"/>
        <pc:sldMkLst>
          <pc:docMk/>
          <pc:sldMk cId="4202777754" sldId="337"/>
        </pc:sldMkLst>
        <pc:spChg chg="mod">
          <ac:chgData name="Francesco Bellotti" userId="f453232b-f87d-4756-9d8b-c09bc835cc42" providerId="ADAL" clId="{C7FEA3FA-4936-41E1-B7FA-CA082069F7F7}" dt="2026-09-29T20:59:21.636" v="3433" actId="13926"/>
          <ac:spMkLst>
            <pc:docMk/>
            <pc:sldMk cId="4202777754" sldId="337"/>
            <ac:spMk id="3" creationId="{A3FF4CC1-31E8-AB04-4314-0FF986D14944}"/>
          </ac:spMkLst>
        </pc:spChg>
      </pc:sldChg>
      <pc:sldChg chg="modSp mod">
        <pc:chgData name="Francesco Bellotti" userId="f453232b-f87d-4756-9d8b-c09bc835cc42" providerId="ADAL" clId="{C7FEA3FA-4936-41E1-B7FA-CA082069F7F7}" dt="2026-09-29T21:12:15.698" v="3450" actId="13926"/>
        <pc:sldMkLst>
          <pc:docMk/>
          <pc:sldMk cId="1561408095" sldId="338"/>
        </pc:sldMkLst>
        <pc:spChg chg="mod">
          <ac:chgData name="Francesco Bellotti" userId="f453232b-f87d-4756-9d8b-c09bc835cc42" providerId="ADAL" clId="{C7FEA3FA-4936-41E1-B7FA-CA082069F7F7}" dt="2026-09-29T21:12:15.698" v="3450" actId="13926"/>
          <ac:spMkLst>
            <pc:docMk/>
            <pc:sldMk cId="1561408095" sldId="338"/>
            <ac:spMk id="3" creationId="{9430E99D-EA9D-8D4C-2C2B-3008E07EB79C}"/>
          </ac:spMkLst>
        </pc:spChg>
      </pc:sldChg>
      <pc:sldChg chg="modSp mod">
        <pc:chgData name="Francesco Bellotti" userId="f453232b-f87d-4756-9d8b-c09bc835cc42" providerId="ADAL" clId="{C7FEA3FA-4936-41E1-B7FA-CA082069F7F7}" dt="2026-09-29T21:04:34.699" v="3448" actId="20577"/>
        <pc:sldMkLst>
          <pc:docMk/>
          <pc:sldMk cId="2112853745" sldId="339"/>
        </pc:sldMkLst>
        <pc:spChg chg="mod">
          <ac:chgData name="Francesco Bellotti" userId="f453232b-f87d-4756-9d8b-c09bc835cc42" providerId="ADAL" clId="{C7FEA3FA-4936-41E1-B7FA-CA082069F7F7}" dt="2026-09-29T21:04:34.699" v="3448" actId="20577"/>
          <ac:spMkLst>
            <pc:docMk/>
            <pc:sldMk cId="2112853745" sldId="339"/>
            <ac:spMk id="2" creationId="{AB9072D1-F584-0029-34A1-CD4FBC32702B}"/>
          </ac:spMkLst>
        </pc:spChg>
      </pc:sldChg>
      <pc:sldChg chg="modSp mod">
        <pc:chgData name="Francesco Bellotti" userId="f453232b-f87d-4756-9d8b-c09bc835cc42" providerId="ADAL" clId="{C7FEA3FA-4936-41E1-B7FA-CA082069F7F7}" dt="2026-09-29T21:13:51.514" v="3460" actId="20577"/>
        <pc:sldMkLst>
          <pc:docMk/>
          <pc:sldMk cId="1463619229" sldId="340"/>
        </pc:sldMkLst>
        <pc:spChg chg="mod">
          <ac:chgData name="Francesco Bellotti" userId="f453232b-f87d-4756-9d8b-c09bc835cc42" providerId="ADAL" clId="{C7FEA3FA-4936-41E1-B7FA-CA082069F7F7}" dt="2026-09-29T21:13:51.514" v="3460" actId="20577"/>
          <ac:spMkLst>
            <pc:docMk/>
            <pc:sldMk cId="1463619229" sldId="340"/>
            <ac:spMk id="3" creationId="{16D5A6AE-0BD0-3C9D-B1FF-24F4E599C5EB}"/>
          </ac:spMkLst>
        </pc:spChg>
      </pc:sldChg>
      <pc:sldChg chg="modSp mod">
        <pc:chgData name="Francesco Bellotti" userId="f453232b-f87d-4756-9d8b-c09bc835cc42" providerId="ADAL" clId="{C7FEA3FA-4936-41E1-B7FA-CA082069F7F7}" dt="2026-09-29T21:32:27.499" v="3468" actId="207"/>
        <pc:sldMkLst>
          <pc:docMk/>
          <pc:sldMk cId="136111526" sldId="341"/>
        </pc:sldMkLst>
        <pc:spChg chg="mod">
          <ac:chgData name="Francesco Bellotti" userId="f453232b-f87d-4756-9d8b-c09bc835cc42" providerId="ADAL" clId="{C7FEA3FA-4936-41E1-B7FA-CA082069F7F7}" dt="2026-09-29T21:29:41.490" v="3466" actId="13926"/>
          <ac:spMkLst>
            <pc:docMk/>
            <pc:sldMk cId="136111526" sldId="341"/>
            <ac:spMk id="3" creationId="{2C4504E0-4EE0-8435-2ED4-341286F1C39C}"/>
          </ac:spMkLst>
        </pc:spChg>
        <pc:spChg chg="mod">
          <ac:chgData name="Francesco Bellotti" userId="f453232b-f87d-4756-9d8b-c09bc835cc42" providerId="ADAL" clId="{C7FEA3FA-4936-41E1-B7FA-CA082069F7F7}" dt="2026-09-29T21:32:27.499" v="3468" actId="207"/>
          <ac:spMkLst>
            <pc:docMk/>
            <pc:sldMk cId="136111526" sldId="341"/>
            <ac:spMk id="5" creationId="{FCFB19CA-D20E-F10D-60A2-D250A687B44D}"/>
          </ac:spMkLst>
        </pc:spChg>
      </pc:sldChg>
      <pc:sldChg chg="modSp mod">
        <pc:chgData name="Francesco Bellotti" userId="f453232b-f87d-4756-9d8b-c09bc835cc42" providerId="ADAL" clId="{C7FEA3FA-4936-41E1-B7FA-CA082069F7F7}" dt="2026-09-29T21:34:50.671" v="3469" actId="113"/>
        <pc:sldMkLst>
          <pc:docMk/>
          <pc:sldMk cId="1291641014" sldId="343"/>
        </pc:sldMkLst>
        <pc:spChg chg="mod">
          <ac:chgData name="Francesco Bellotti" userId="f453232b-f87d-4756-9d8b-c09bc835cc42" providerId="ADAL" clId="{C7FEA3FA-4936-41E1-B7FA-CA082069F7F7}" dt="2026-09-29T21:34:50.671" v="3469" actId="113"/>
          <ac:spMkLst>
            <pc:docMk/>
            <pc:sldMk cId="1291641014" sldId="343"/>
            <ac:spMk id="3" creationId="{BE5FCFA1-B056-8EFB-23BC-AF7B0B7CFD53}"/>
          </ac:spMkLst>
        </pc:spChg>
      </pc:sldChg>
      <pc:sldChg chg="addSp modSp mod modClrScheme chgLayout">
        <pc:chgData name="Francesco Bellotti" userId="f453232b-f87d-4756-9d8b-c09bc835cc42" providerId="ADAL" clId="{C7FEA3FA-4936-41E1-B7FA-CA082069F7F7}" dt="2026-09-29T21:39:02.586" v="3479" actId="13926"/>
        <pc:sldMkLst>
          <pc:docMk/>
          <pc:sldMk cId="3039480494" sldId="344"/>
        </pc:sldMkLst>
        <pc:spChg chg="mod ord">
          <ac:chgData name="Francesco Bellotti" userId="f453232b-f87d-4756-9d8b-c09bc835cc42" providerId="ADAL" clId="{C7FEA3FA-4936-41E1-B7FA-CA082069F7F7}" dt="2026-09-29T21:36:27.826" v="3475" actId="700"/>
          <ac:spMkLst>
            <pc:docMk/>
            <pc:sldMk cId="3039480494" sldId="344"/>
            <ac:spMk id="2" creationId="{4B7DBDC3-A3C8-9FCC-A232-6127296A8339}"/>
          </ac:spMkLst>
        </pc:spChg>
        <pc:spChg chg="mod ord">
          <ac:chgData name="Francesco Bellotti" userId="f453232b-f87d-4756-9d8b-c09bc835cc42" providerId="ADAL" clId="{C7FEA3FA-4936-41E1-B7FA-CA082069F7F7}" dt="2026-09-29T21:36:29.888" v="3477" actId="27636"/>
          <ac:spMkLst>
            <pc:docMk/>
            <pc:sldMk cId="3039480494" sldId="344"/>
            <ac:spMk id="3" creationId="{750A44F5-842F-E97B-2E99-7565589F3F4D}"/>
          </ac:spMkLst>
        </pc:spChg>
        <pc:spChg chg="add mod ord">
          <ac:chgData name="Francesco Bellotti" userId="f453232b-f87d-4756-9d8b-c09bc835cc42" providerId="ADAL" clId="{C7FEA3FA-4936-41E1-B7FA-CA082069F7F7}" dt="2026-09-29T21:39:02.586" v="3479" actId="13926"/>
          <ac:spMkLst>
            <pc:docMk/>
            <pc:sldMk cId="3039480494" sldId="344"/>
            <ac:spMk id="4" creationId="{4ED0C706-F0A0-E6AE-4C0E-F238C09B358C}"/>
          </ac:spMkLst>
        </pc:spChg>
      </pc:sldChg>
      <pc:sldChg chg="modSp mod">
        <pc:chgData name="Francesco Bellotti" userId="f453232b-f87d-4756-9d8b-c09bc835cc42" providerId="ADAL" clId="{C7FEA3FA-4936-41E1-B7FA-CA082069F7F7}" dt="2026-09-29T22:15:18.119" v="3534" actId="20577"/>
        <pc:sldMkLst>
          <pc:docMk/>
          <pc:sldMk cId="0" sldId="347"/>
        </pc:sldMkLst>
        <pc:spChg chg="mod">
          <ac:chgData name="Francesco Bellotti" userId="f453232b-f87d-4756-9d8b-c09bc835cc42" providerId="ADAL" clId="{C7FEA3FA-4936-41E1-B7FA-CA082069F7F7}" dt="2026-09-29T22:15:18.119" v="3534" actId="20577"/>
          <ac:spMkLst>
            <pc:docMk/>
            <pc:sldMk cId="0" sldId="347"/>
            <ac:spMk id="16" creationId="{00000000-0000-0000-0000-000000000000}"/>
          </ac:spMkLst>
        </pc:spChg>
      </pc:sldChg>
      <pc:sldChg chg="modSp mod">
        <pc:chgData name="Francesco Bellotti" userId="f453232b-f87d-4756-9d8b-c09bc835cc42" providerId="ADAL" clId="{C7FEA3FA-4936-41E1-B7FA-CA082069F7F7}" dt="2026-09-30T09:24:12.660" v="3650" actId="13926"/>
        <pc:sldMkLst>
          <pc:docMk/>
          <pc:sldMk cId="0" sldId="350"/>
        </pc:sldMkLst>
        <pc:spChg chg="mod">
          <ac:chgData name="Francesco Bellotti" userId="f453232b-f87d-4756-9d8b-c09bc835cc42" providerId="ADAL" clId="{C7FEA3FA-4936-41E1-B7FA-CA082069F7F7}" dt="2026-09-30T09:24:12.660" v="3650" actId="13926"/>
          <ac:spMkLst>
            <pc:docMk/>
            <pc:sldMk cId="0" sldId="350"/>
            <ac:spMk id="13" creationId="{00000000-0000-0000-0000-000000000000}"/>
          </ac:spMkLst>
        </pc:spChg>
      </pc:sldChg>
      <pc:sldChg chg="modSp mod">
        <pc:chgData name="Francesco Bellotti" userId="f453232b-f87d-4756-9d8b-c09bc835cc42" providerId="ADAL" clId="{C7FEA3FA-4936-41E1-B7FA-CA082069F7F7}" dt="2026-09-30T09:31:43.701" v="3659" actId="113"/>
        <pc:sldMkLst>
          <pc:docMk/>
          <pc:sldMk cId="0" sldId="352"/>
        </pc:sldMkLst>
        <pc:spChg chg="mod">
          <ac:chgData name="Francesco Bellotti" userId="f453232b-f87d-4756-9d8b-c09bc835cc42" providerId="ADAL" clId="{C7FEA3FA-4936-41E1-B7FA-CA082069F7F7}" dt="2026-09-30T09:31:43.701" v="3659" actId="113"/>
          <ac:spMkLst>
            <pc:docMk/>
            <pc:sldMk cId="0" sldId="352"/>
            <ac:spMk id="18" creationId="{00000000-0000-0000-0000-000000000000}"/>
          </ac:spMkLst>
        </pc:spChg>
      </pc:sldChg>
      <pc:sldChg chg="modSp mod">
        <pc:chgData name="Francesco Bellotti" userId="f453232b-f87d-4756-9d8b-c09bc835cc42" providerId="ADAL" clId="{C7FEA3FA-4936-41E1-B7FA-CA082069F7F7}" dt="2026-09-30T09:36:26.684" v="3660" actId="113"/>
        <pc:sldMkLst>
          <pc:docMk/>
          <pc:sldMk cId="0" sldId="353"/>
        </pc:sldMkLst>
        <pc:spChg chg="mod">
          <ac:chgData name="Francesco Bellotti" userId="f453232b-f87d-4756-9d8b-c09bc835cc42" providerId="ADAL" clId="{C7FEA3FA-4936-41E1-B7FA-CA082069F7F7}" dt="2026-09-30T09:36:26.684" v="3660" actId="113"/>
          <ac:spMkLst>
            <pc:docMk/>
            <pc:sldMk cId="0" sldId="353"/>
            <ac:spMk id="29" creationId="{00000000-0000-0000-0000-000000000000}"/>
          </ac:spMkLst>
        </pc:spChg>
      </pc:sldChg>
      <pc:sldChg chg="addSp delSp modSp mod">
        <pc:chgData name="Francesco Bellotti" userId="f453232b-f87d-4756-9d8b-c09bc835cc42" providerId="ADAL" clId="{C7FEA3FA-4936-41E1-B7FA-CA082069F7F7}" dt="2026-09-30T09:39:41.118" v="3727" actId="478"/>
        <pc:sldMkLst>
          <pc:docMk/>
          <pc:sldMk cId="0" sldId="354"/>
        </pc:sldMkLst>
        <pc:spChg chg="add mod">
          <ac:chgData name="Francesco Bellotti" userId="f453232b-f87d-4756-9d8b-c09bc835cc42" providerId="ADAL" clId="{C7FEA3FA-4936-41E1-B7FA-CA082069F7F7}" dt="2026-09-30T09:39:32.650" v="3726" actId="14100"/>
          <ac:spMkLst>
            <pc:docMk/>
            <pc:sldMk cId="0" sldId="354"/>
            <ac:spMk id="22" creationId="{4F929F61-AFD8-9B0B-A656-31573135AFCB}"/>
          </ac:spMkLst>
        </pc:spChg>
        <pc:spChg chg="add mod">
          <ac:chgData name="Francesco Bellotti" userId="f453232b-f87d-4756-9d8b-c09bc835cc42" providerId="ADAL" clId="{C7FEA3FA-4936-41E1-B7FA-CA082069F7F7}" dt="2026-09-30T09:39:28.055" v="3725" actId="14100"/>
          <ac:spMkLst>
            <pc:docMk/>
            <pc:sldMk cId="0" sldId="354"/>
            <ac:spMk id="24" creationId="{53F4824F-C279-4078-F4E3-ED128B8A84D9}"/>
          </ac:spMkLst>
        </pc:spChg>
      </pc:sldChg>
      <pc:sldChg chg="modSp mod">
        <pc:chgData name="Francesco Bellotti" userId="f453232b-f87d-4756-9d8b-c09bc835cc42" providerId="ADAL" clId="{C7FEA3FA-4936-41E1-B7FA-CA082069F7F7}" dt="2026-09-30T09:41:51.472" v="3732" actId="13926"/>
        <pc:sldMkLst>
          <pc:docMk/>
          <pc:sldMk cId="0" sldId="355"/>
        </pc:sldMkLst>
        <pc:spChg chg="mod">
          <ac:chgData name="Francesco Bellotti" userId="f453232b-f87d-4756-9d8b-c09bc835cc42" providerId="ADAL" clId="{C7FEA3FA-4936-41E1-B7FA-CA082069F7F7}" dt="2026-09-30T09:41:51.472" v="3732" actId="13926"/>
          <ac:spMkLst>
            <pc:docMk/>
            <pc:sldMk cId="0" sldId="355"/>
            <ac:spMk id="14" creationId="{00000000-0000-0000-0000-000000000000}"/>
          </ac:spMkLst>
        </pc:spChg>
        <pc:spChg chg="mod">
          <ac:chgData name="Francesco Bellotti" userId="f453232b-f87d-4756-9d8b-c09bc835cc42" providerId="ADAL" clId="{C7FEA3FA-4936-41E1-B7FA-CA082069F7F7}" dt="2026-09-30T09:41:39.715" v="3731" actId="113"/>
          <ac:spMkLst>
            <pc:docMk/>
            <pc:sldMk cId="0" sldId="355"/>
            <ac:spMk id="19" creationId="{00000000-0000-0000-0000-000000000000}"/>
          </ac:spMkLst>
        </pc:spChg>
      </pc:sldChg>
      <pc:sldChg chg="addSp delSp modSp mod">
        <pc:chgData name="Francesco Bellotti" userId="f453232b-f87d-4756-9d8b-c09bc835cc42" providerId="ADAL" clId="{C7FEA3FA-4936-41E1-B7FA-CA082069F7F7}" dt="2026-09-30T09:46:31.914" v="3756" actId="692"/>
        <pc:sldMkLst>
          <pc:docMk/>
          <pc:sldMk cId="0" sldId="357"/>
        </pc:sldMkLst>
        <pc:spChg chg="mod">
          <ac:chgData name="Francesco Bellotti" userId="f453232b-f87d-4756-9d8b-c09bc835cc42" providerId="ADAL" clId="{C7FEA3FA-4936-41E1-B7FA-CA082069F7F7}" dt="2026-09-30T09:46:31.914" v="3756" actId="692"/>
          <ac:spMkLst>
            <pc:docMk/>
            <pc:sldMk cId="0" sldId="357"/>
            <ac:spMk id="31" creationId="{00000000-0000-0000-0000-000000000000}"/>
          </ac:spMkLst>
        </pc:spChg>
      </pc:sldChg>
      <pc:sldChg chg="addSp delSp modSp mod">
        <pc:chgData name="Francesco Bellotti" userId="f453232b-f87d-4756-9d8b-c09bc835cc42" providerId="ADAL" clId="{C7FEA3FA-4936-41E1-B7FA-CA082069F7F7}" dt="2026-09-30T09:52:40.087" v="3785" actId="1076"/>
        <pc:sldMkLst>
          <pc:docMk/>
          <pc:sldMk cId="0" sldId="359"/>
        </pc:sldMkLst>
        <pc:spChg chg="mod">
          <ac:chgData name="Francesco Bellotti" userId="f453232b-f87d-4756-9d8b-c09bc835cc42" providerId="ADAL" clId="{C7FEA3FA-4936-41E1-B7FA-CA082069F7F7}" dt="2026-09-30T09:50:23.536" v="3764" actId="1076"/>
          <ac:spMkLst>
            <pc:docMk/>
            <pc:sldMk cId="0" sldId="359"/>
            <ac:spMk id="7" creationId="{00000000-0000-0000-0000-000000000000}"/>
          </ac:spMkLst>
        </pc:spChg>
        <pc:spChg chg="add mod">
          <ac:chgData name="Francesco Bellotti" userId="f453232b-f87d-4756-9d8b-c09bc835cc42" providerId="ADAL" clId="{C7FEA3FA-4936-41E1-B7FA-CA082069F7F7}" dt="2026-09-30T09:52:40.087" v="3785" actId="1076"/>
          <ac:spMkLst>
            <pc:docMk/>
            <pc:sldMk cId="0" sldId="359"/>
            <ac:spMk id="15" creationId="{0C408BE9-F541-8867-BE99-C6DBFE2367FF}"/>
          </ac:spMkLst>
        </pc:spChg>
      </pc:sldChg>
      <pc:sldChg chg="modSp mod">
        <pc:chgData name="Francesco Bellotti" userId="f453232b-f87d-4756-9d8b-c09bc835cc42" providerId="ADAL" clId="{C7FEA3FA-4936-41E1-B7FA-CA082069F7F7}" dt="2026-09-29T21:51:22.583" v="3482" actId="13926"/>
        <pc:sldMkLst>
          <pc:docMk/>
          <pc:sldMk cId="3458765078" sldId="361"/>
        </pc:sldMkLst>
        <pc:spChg chg="mod">
          <ac:chgData name="Francesco Bellotti" userId="f453232b-f87d-4756-9d8b-c09bc835cc42" providerId="ADAL" clId="{C7FEA3FA-4936-41E1-B7FA-CA082069F7F7}" dt="2026-09-29T21:51:22.583" v="3482" actId="13926"/>
          <ac:spMkLst>
            <pc:docMk/>
            <pc:sldMk cId="3458765078" sldId="361"/>
            <ac:spMk id="3" creationId="{A4BE18AB-9D29-3211-21D3-9D112AD588E7}"/>
          </ac:spMkLst>
        </pc:spChg>
      </pc:sldChg>
      <pc:sldChg chg="modSp mod">
        <pc:chgData name="Francesco Bellotti" userId="f453232b-f87d-4756-9d8b-c09bc835cc42" providerId="ADAL" clId="{C7FEA3FA-4936-41E1-B7FA-CA082069F7F7}" dt="2026-09-29T21:53:31.489" v="3484" actId="13926"/>
        <pc:sldMkLst>
          <pc:docMk/>
          <pc:sldMk cId="3488603666" sldId="362"/>
        </pc:sldMkLst>
        <pc:spChg chg="mod">
          <ac:chgData name="Francesco Bellotti" userId="f453232b-f87d-4756-9d8b-c09bc835cc42" providerId="ADAL" clId="{C7FEA3FA-4936-41E1-B7FA-CA082069F7F7}" dt="2026-09-29T21:53:31.489" v="3484" actId="13926"/>
          <ac:spMkLst>
            <pc:docMk/>
            <pc:sldMk cId="3488603666" sldId="362"/>
            <ac:spMk id="3" creationId="{E7DA1EC6-3D1E-D1A9-79E7-7E973E748427}"/>
          </ac:spMkLst>
        </pc:spChg>
      </pc:sldChg>
      <pc:sldChg chg="modSp mod">
        <pc:chgData name="Francesco Bellotti" userId="f453232b-f87d-4756-9d8b-c09bc835cc42" providerId="ADAL" clId="{C7FEA3FA-4936-41E1-B7FA-CA082069F7F7}" dt="2026-09-29T21:54:41.320" v="3487" actId="13926"/>
        <pc:sldMkLst>
          <pc:docMk/>
          <pc:sldMk cId="3660002624" sldId="363"/>
        </pc:sldMkLst>
        <pc:spChg chg="mod">
          <ac:chgData name="Francesco Bellotti" userId="f453232b-f87d-4756-9d8b-c09bc835cc42" providerId="ADAL" clId="{C7FEA3FA-4936-41E1-B7FA-CA082069F7F7}" dt="2026-09-29T21:54:41.320" v="3487" actId="13926"/>
          <ac:spMkLst>
            <pc:docMk/>
            <pc:sldMk cId="3660002624" sldId="363"/>
            <ac:spMk id="3" creationId="{88DB20DC-67AE-4EAC-1223-032A6F8B34BD}"/>
          </ac:spMkLst>
        </pc:spChg>
      </pc:sldChg>
      <pc:sldChg chg="modSp mod">
        <pc:chgData name="Francesco Bellotti" userId="f453232b-f87d-4756-9d8b-c09bc835cc42" providerId="ADAL" clId="{C7FEA3FA-4936-41E1-B7FA-CA082069F7F7}" dt="2026-09-29T21:59:52.573" v="3490" actId="20577"/>
        <pc:sldMkLst>
          <pc:docMk/>
          <pc:sldMk cId="1112339331" sldId="364"/>
        </pc:sldMkLst>
        <pc:spChg chg="mod">
          <ac:chgData name="Francesco Bellotti" userId="f453232b-f87d-4756-9d8b-c09bc835cc42" providerId="ADAL" clId="{C7FEA3FA-4936-41E1-B7FA-CA082069F7F7}" dt="2026-09-29T21:59:52.573" v="3490" actId="20577"/>
          <ac:spMkLst>
            <pc:docMk/>
            <pc:sldMk cId="1112339331" sldId="364"/>
            <ac:spMk id="3" creationId="{996F69A0-FFC4-FAED-2303-0FF36DFC4933}"/>
          </ac:spMkLst>
        </pc:spChg>
      </pc:sldChg>
      <pc:sldChg chg="modSp mod">
        <pc:chgData name="Francesco Bellotti" userId="f453232b-f87d-4756-9d8b-c09bc835cc42" providerId="ADAL" clId="{C7FEA3FA-4936-41E1-B7FA-CA082069F7F7}" dt="2026-09-29T22:10:39.261" v="3497" actId="20577"/>
        <pc:sldMkLst>
          <pc:docMk/>
          <pc:sldMk cId="891218692" sldId="365"/>
        </pc:sldMkLst>
        <pc:spChg chg="mod">
          <ac:chgData name="Francesco Bellotti" userId="f453232b-f87d-4756-9d8b-c09bc835cc42" providerId="ADAL" clId="{C7FEA3FA-4936-41E1-B7FA-CA082069F7F7}" dt="2026-09-29T22:01:11.493" v="3492" actId="13926"/>
          <ac:spMkLst>
            <pc:docMk/>
            <pc:sldMk cId="891218692" sldId="365"/>
            <ac:spMk id="3" creationId="{96571D50-9484-71E9-AB11-47D6C11068E2}"/>
          </ac:spMkLst>
        </pc:spChg>
        <pc:spChg chg="mod">
          <ac:chgData name="Francesco Bellotti" userId="f453232b-f87d-4756-9d8b-c09bc835cc42" providerId="ADAL" clId="{C7FEA3FA-4936-41E1-B7FA-CA082069F7F7}" dt="2026-09-29T22:10:39.261" v="3497" actId="20577"/>
          <ac:spMkLst>
            <pc:docMk/>
            <pc:sldMk cId="891218692" sldId="365"/>
            <ac:spMk id="6" creationId="{8B1885C8-CB63-3C23-6164-A0787F61EE9B}"/>
          </ac:spMkLst>
        </pc:spChg>
      </pc:sldChg>
      <pc:sldChg chg="modSp mod">
        <pc:chgData name="Francesco Bellotti" userId="f453232b-f87d-4756-9d8b-c09bc835cc42" providerId="ADAL" clId="{C7FEA3FA-4936-41E1-B7FA-CA082069F7F7}" dt="2026-09-29T22:10:57.392" v="3501" actId="14100"/>
        <pc:sldMkLst>
          <pc:docMk/>
          <pc:sldMk cId="1739132283" sldId="366"/>
        </pc:sldMkLst>
        <pc:spChg chg="mod">
          <ac:chgData name="Francesco Bellotti" userId="f453232b-f87d-4756-9d8b-c09bc835cc42" providerId="ADAL" clId="{C7FEA3FA-4936-41E1-B7FA-CA082069F7F7}" dt="2026-09-29T22:10:57.392" v="3501" actId="14100"/>
          <ac:spMkLst>
            <pc:docMk/>
            <pc:sldMk cId="1739132283" sldId="366"/>
            <ac:spMk id="3" creationId="{1FCBA3C1-E5FB-7FFC-5DAE-83908D92CA9C}"/>
          </ac:spMkLst>
        </pc:spChg>
      </pc:sldChg>
      <pc:sldChg chg="modSp mod">
        <pc:chgData name="Francesco Bellotti" userId="f453232b-f87d-4756-9d8b-c09bc835cc42" providerId="ADAL" clId="{C7FEA3FA-4936-41E1-B7FA-CA082069F7F7}" dt="2026-09-29T22:16:49.239" v="3536" actId="20577"/>
        <pc:sldMkLst>
          <pc:docMk/>
          <pc:sldMk cId="3413470827" sldId="367"/>
        </pc:sldMkLst>
        <pc:spChg chg="mod">
          <ac:chgData name="Francesco Bellotti" userId="f453232b-f87d-4756-9d8b-c09bc835cc42" providerId="ADAL" clId="{C7FEA3FA-4936-41E1-B7FA-CA082069F7F7}" dt="2026-09-29T22:16:49.239" v="3536" actId="20577"/>
          <ac:spMkLst>
            <pc:docMk/>
            <pc:sldMk cId="3413470827" sldId="367"/>
            <ac:spMk id="3" creationId="{B3043191-570B-AF3A-9E13-4C3324BD7D73}"/>
          </ac:spMkLst>
        </pc:spChg>
      </pc:sldChg>
      <pc:sldChg chg="modSp mod">
        <pc:chgData name="Francesco Bellotti" userId="f453232b-f87d-4756-9d8b-c09bc835cc42" providerId="ADAL" clId="{C7FEA3FA-4936-41E1-B7FA-CA082069F7F7}" dt="2026-09-29T22:18:02.090" v="3543" actId="13926"/>
        <pc:sldMkLst>
          <pc:docMk/>
          <pc:sldMk cId="235808314" sldId="368"/>
        </pc:sldMkLst>
        <pc:spChg chg="mod">
          <ac:chgData name="Francesco Bellotti" userId="f453232b-f87d-4756-9d8b-c09bc835cc42" providerId="ADAL" clId="{C7FEA3FA-4936-41E1-B7FA-CA082069F7F7}" dt="2026-09-29T22:18:02.090" v="3543" actId="13926"/>
          <ac:spMkLst>
            <pc:docMk/>
            <pc:sldMk cId="235808314" sldId="368"/>
            <ac:spMk id="3" creationId="{D58F9513-96A4-EDD4-F62E-BB0C7F9F7FFC}"/>
          </ac:spMkLst>
        </pc:spChg>
      </pc:sldChg>
      <pc:sldChg chg="modSp mod">
        <pc:chgData name="Francesco Bellotti" userId="f453232b-f87d-4756-9d8b-c09bc835cc42" providerId="ADAL" clId="{C7FEA3FA-4936-41E1-B7FA-CA082069F7F7}" dt="2026-09-29T22:18:13.879" v="3544" actId="13926"/>
        <pc:sldMkLst>
          <pc:docMk/>
          <pc:sldMk cId="634643019" sldId="369"/>
        </pc:sldMkLst>
        <pc:spChg chg="mod">
          <ac:chgData name="Francesco Bellotti" userId="f453232b-f87d-4756-9d8b-c09bc835cc42" providerId="ADAL" clId="{C7FEA3FA-4936-41E1-B7FA-CA082069F7F7}" dt="2026-09-29T22:18:13.879" v="3544" actId="13926"/>
          <ac:spMkLst>
            <pc:docMk/>
            <pc:sldMk cId="634643019" sldId="369"/>
            <ac:spMk id="3" creationId="{A7644604-A7E1-4DA5-DE6D-2ED8E310474B}"/>
          </ac:spMkLst>
        </pc:spChg>
      </pc:sldChg>
      <pc:sldChg chg="modSp mod">
        <pc:chgData name="Francesco Bellotti" userId="f453232b-f87d-4756-9d8b-c09bc835cc42" providerId="ADAL" clId="{C7FEA3FA-4936-41E1-B7FA-CA082069F7F7}" dt="2026-09-29T22:19:27.564" v="3545" actId="13926"/>
        <pc:sldMkLst>
          <pc:docMk/>
          <pc:sldMk cId="1927545723" sldId="370"/>
        </pc:sldMkLst>
        <pc:spChg chg="mod">
          <ac:chgData name="Francesco Bellotti" userId="f453232b-f87d-4756-9d8b-c09bc835cc42" providerId="ADAL" clId="{C7FEA3FA-4936-41E1-B7FA-CA082069F7F7}" dt="2026-09-29T22:19:27.564" v="3545" actId="13926"/>
          <ac:spMkLst>
            <pc:docMk/>
            <pc:sldMk cId="1927545723" sldId="370"/>
            <ac:spMk id="3" creationId="{ECD86F18-BFF0-321A-1F0C-A168968FC0F7}"/>
          </ac:spMkLst>
        </pc:spChg>
      </pc:sldChg>
      <pc:sldChg chg="modSp mod">
        <pc:chgData name="Francesco Bellotti" userId="f453232b-f87d-4756-9d8b-c09bc835cc42" providerId="ADAL" clId="{C7FEA3FA-4936-41E1-B7FA-CA082069F7F7}" dt="2026-09-29T22:38:52.300" v="3648" actId="27636"/>
        <pc:sldMkLst>
          <pc:docMk/>
          <pc:sldMk cId="216089951" sldId="371"/>
        </pc:sldMkLst>
        <pc:spChg chg="mod">
          <ac:chgData name="Francesco Bellotti" userId="f453232b-f87d-4756-9d8b-c09bc835cc42" providerId="ADAL" clId="{C7FEA3FA-4936-41E1-B7FA-CA082069F7F7}" dt="2026-09-29T22:38:52.300" v="3648" actId="27636"/>
          <ac:spMkLst>
            <pc:docMk/>
            <pc:sldMk cId="216089951" sldId="371"/>
            <ac:spMk id="3" creationId="{04217806-DC3C-98FD-CECE-523E1E603E9D}"/>
          </ac:spMkLst>
        </pc:spChg>
      </pc:sldChg>
      <pc:sldChg chg="modSp mod">
        <pc:chgData name="Francesco Bellotti" userId="f453232b-f87d-4756-9d8b-c09bc835cc42" providerId="ADAL" clId="{C7FEA3FA-4936-41E1-B7FA-CA082069F7F7}" dt="2026-09-30T09:22:41.202" v="3649" actId="113"/>
        <pc:sldMkLst>
          <pc:docMk/>
          <pc:sldMk cId="464610404" sldId="372"/>
        </pc:sldMkLst>
        <pc:spChg chg="mod">
          <ac:chgData name="Francesco Bellotti" userId="f453232b-f87d-4756-9d8b-c09bc835cc42" providerId="ADAL" clId="{C7FEA3FA-4936-41E1-B7FA-CA082069F7F7}" dt="2026-09-30T09:22:41.202" v="3649" actId="113"/>
          <ac:spMkLst>
            <pc:docMk/>
            <pc:sldMk cId="464610404" sldId="372"/>
            <ac:spMk id="3" creationId="{B95A0336-9980-B5C2-5335-3B33740486E9}"/>
          </ac:spMkLst>
        </pc:spChg>
      </pc:sldChg>
      <pc:sldChg chg="modSp mod">
        <pc:chgData name="Francesco Bellotti" userId="f453232b-f87d-4756-9d8b-c09bc835cc42" providerId="ADAL" clId="{C7FEA3FA-4936-41E1-B7FA-CA082069F7F7}" dt="2026-09-30T09:25:41.826" v="3657" actId="15"/>
        <pc:sldMkLst>
          <pc:docMk/>
          <pc:sldMk cId="4136875525" sldId="373"/>
        </pc:sldMkLst>
        <pc:spChg chg="mod">
          <ac:chgData name="Francesco Bellotti" userId="f453232b-f87d-4756-9d8b-c09bc835cc42" providerId="ADAL" clId="{C7FEA3FA-4936-41E1-B7FA-CA082069F7F7}" dt="2026-09-30T09:25:25.776" v="3655" actId="113"/>
          <ac:spMkLst>
            <pc:docMk/>
            <pc:sldMk cId="4136875525" sldId="373"/>
            <ac:spMk id="3" creationId="{CC5B5CE0-3EA1-B7E8-40A7-FEDBE3EA9A4B}"/>
          </ac:spMkLst>
        </pc:spChg>
        <pc:spChg chg="mod">
          <ac:chgData name="Francesco Bellotti" userId="f453232b-f87d-4756-9d8b-c09bc835cc42" providerId="ADAL" clId="{C7FEA3FA-4936-41E1-B7FA-CA082069F7F7}" dt="2026-09-30T09:25:41.826" v="3657" actId="15"/>
          <ac:spMkLst>
            <pc:docMk/>
            <pc:sldMk cId="4136875525" sldId="373"/>
            <ac:spMk id="6" creationId="{90C3379A-02A8-A24A-5DF4-84CA37F68573}"/>
          </ac:spMkLst>
        </pc:spChg>
        <pc:spChg chg="mod">
          <ac:chgData name="Francesco Bellotti" userId="f453232b-f87d-4756-9d8b-c09bc835cc42" providerId="ADAL" clId="{C7FEA3FA-4936-41E1-B7FA-CA082069F7F7}" dt="2026-09-30T09:25:00.645" v="3652" actId="14100"/>
          <ac:spMkLst>
            <pc:docMk/>
            <pc:sldMk cId="4136875525" sldId="373"/>
            <ac:spMk id="8" creationId="{B5335A27-9B7B-11A3-CD06-88B82FAD2A20}"/>
          </ac:spMkLst>
        </pc:spChg>
      </pc:sldChg>
      <pc:sldChg chg="modSp mod">
        <pc:chgData name="Francesco Bellotti" userId="f453232b-f87d-4756-9d8b-c09bc835cc42" providerId="ADAL" clId="{C7FEA3FA-4936-41E1-B7FA-CA082069F7F7}" dt="2026-09-30T09:31:22.028" v="3658" actId="113"/>
        <pc:sldMkLst>
          <pc:docMk/>
          <pc:sldMk cId="127444624" sldId="377"/>
        </pc:sldMkLst>
        <pc:spChg chg="mod">
          <ac:chgData name="Francesco Bellotti" userId="f453232b-f87d-4756-9d8b-c09bc835cc42" providerId="ADAL" clId="{C7FEA3FA-4936-41E1-B7FA-CA082069F7F7}" dt="2026-09-30T09:31:22.028" v="3658" actId="113"/>
          <ac:spMkLst>
            <pc:docMk/>
            <pc:sldMk cId="127444624" sldId="377"/>
            <ac:spMk id="3" creationId="{70BBF3AB-D003-A117-994C-5F4D4D4A4338}"/>
          </ac:spMkLst>
        </pc:spChg>
      </pc:sldChg>
      <pc:sldChg chg="modSp mod">
        <pc:chgData name="Francesco Bellotti" userId="f453232b-f87d-4756-9d8b-c09bc835cc42" providerId="ADAL" clId="{C7FEA3FA-4936-41E1-B7FA-CA082069F7F7}" dt="2026-09-30T09:38:15.657" v="3714" actId="20577"/>
        <pc:sldMkLst>
          <pc:docMk/>
          <pc:sldMk cId="2810308015" sldId="378"/>
        </pc:sldMkLst>
        <pc:spChg chg="mod">
          <ac:chgData name="Francesco Bellotti" userId="f453232b-f87d-4756-9d8b-c09bc835cc42" providerId="ADAL" clId="{C7FEA3FA-4936-41E1-B7FA-CA082069F7F7}" dt="2026-09-30T09:38:15.657" v="3714" actId="20577"/>
          <ac:spMkLst>
            <pc:docMk/>
            <pc:sldMk cId="2810308015" sldId="378"/>
            <ac:spMk id="3" creationId="{65528339-2749-7782-494F-D88650633D6F}"/>
          </ac:spMkLst>
        </pc:spChg>
      </pc:sldChg>
      <pc:sldChg chg="modSp mod">
        <pc:chgData name="Francesco Bellotti" userId="f453232b-f87d-4756-9d8b-c09bc835cc42" providerId="ADAL" clId="{C7FEA3FA-4936-41E1-B7FA-CA082069F7F7}" dt="2026-09-30T09:40:10.397" v="3729" actId="20577"/>
        <pc:sldMkLst>
          <pc:docMk/>
          <pc:sldMk cId="3106824705" sldId="380"/>
        </pc:sldMkLst>
        <pc:spChg chg="mod">
          <ac:chgData name="Francesco Bellotti" userId="f453232b-f87d-4756-9d8b-c09bc835cc42" providerId="ADAL" clId="{C7FEA3FA-4936-41E1-B7FA-CA082069F7F7}" dt="2026-09-30T09:40:10.397" v="3729" actId="20577"/>
          <ac:spMkLst>
            <pc:docMk/>
            <pc:sldMk cId="3106824705" sldId="380"/>
            <ac:spMk id="4" creationId="{BE4816E0-77FD-C5EC-C281-CF2873274D9B}"/>
          </ac:spMkLst>
        </pc:spChg>
      </pc:sldChg>
      <pc:sldChg chg="modSp mod">
        <pc:chgData name="Francesco Bellotti" userId="f453232b-f87d-4756-9d8b-c09bc835cc42" providerId="ADAL" clId="{C7FEA3FA-4936-41E1-B7FA-CA082069F7F7}" dt="2026-09-30T09:40:48.757" v="3730" actId="113"/>
        <pc:sldMkLst>
          <pc:docMk/>
          <pc:sldMk cId="3100509588" sldId="381"/>
        </pc:sldMkLst>
        <pc:spChg chg="mod">
          <ac:chgData name="Francesco Bellotti" userId="f453232b-f87d-4756-9d8b-c09bc835cc42" providerId="ADAL" clId="{C7FEA3FA-4936-41E1-B7FA-CA082069F7F7}" dt="2026-09-30T09:40:48.757" v="3730" actId="113"/>
          <ac:spMkLst>
            <pc:docMk/>
            <pc:sldMk cId="3100509588" sldId="381"/>
            <ac:spMk id="3" creationId="{A5A2A708-ABBD-2794-4F85-353C15518E86}"/>
          </ac:spMkLst>
        </pc:spChg>
      </pc:sldChg>
      <pc:sldChg chg="modSp mod">
        <pc:chgData name="Francesco Bellotti" userId="f453232b-f87d-4756-9d8b-c09bc835cc42" providerId="ADAL" clId="{C7FEA3FA-4936-41E1-B7FA-CA082069F7F7}" dt="2026-09-30T09:42:41.921" v="3734" actId="27636"/>
        <pc:sldMkLst>
          <pc:docMk/>
          <pc:sldMk cId="2285274433" sldId="383"/>
        </pc:sldMkLst>
        <pc:spChg chg="mod">
          <ac:chgData name="Francesco Bellotti" userId="f453232b-f87d-4756-9d8b-c09bc835cc42" providerId="ADAL" clId="{C7FEA3FA-4936-41E1-B7FA-CA082069F7F7}" dt="2026-09-30T09:42:41.921" v="3734" actId="27636"/>
          <ac:spMkLst>
            <pc:docMk/>
            <pc:sldMk cId="2285274433" sldId="383"/>
            <ac:spMk id="3" creationId="{3F1C45EF-3D11-E5C6-AF59-1F3BAC11DBAD}"/>
          </ac:spMkLst>
        </pc:spChg>
      </pc:sldChg>
      <pc:sldChg chg="modSp mod">
        <pc:chgData name="Francesco Bellotti" userId="f453232b-f87d-4756-9d8b-c09bc835cc42" providerId="ADAL" clId="{C7FEA3FA-4936-41E1-B7FA-CA082069F7F7}" dt="2026-09-30T09:43:34.604" v="3750" actId="20577"/>
        <pc:sldMkLst>
          <pc:docMk/>
          <pc:sldMk cId="2486845555" sldId="384"/>
        </pc:sldMkLst>
        <pc:spChg chg="mod">
          <ac:chgData name="Francesco Bellotti" userId="f453232b-f87d-4756-9d8b-c09bc835cc42" providerId="ADAL" clId="{C7FEA3FA-4936-41E1-B7FA-CA082069F7F7}" dt="2026-09-30T09:43:34.604" v="3750" actId="20577"/>
          <ac:spMkLst>
            <pc:docMk/>
            <pc:sldMk cId="2486845555" sldId="384"/>
            <ac:spMk id="3" creationId="{D1C73279-9F9D-F2E2-6799-C9B3A33D65AF}"/>
          </ac:spMkLst>
        </pc:spChg>
      </pc:sldChg>
      <pc:sldChg chg="modSp mod">
        <pc:chgData name="Francesco Bellotti" userId="f453232b-f87d-4756-9d8b-c09bc835cc42" providerId="ADAL" clId="{C7FEA3FA-4936-41E1-B7FA-CA082069F7F7}" dt="2026-09-30T09:48:24.039" v="3760"/>
        <pc:sldMkLst>
          <pc:docMk/>
          <pc:sldMk cId="2814965592" sldId="387"/>
        </pc:sldMkLst>
        <pc:spChg chg="mod">
          <ac:chgData name="Francesco Bellotti" userId="f453232b-f87d-4756-9d8b-c09bc835cc42" providerId="ADAL" clId="{C7FEA3FA-4936-41E1-B7FA-CA082069F7F7}" dt="2026-09-30T09:48:24.039" v="3760"/>
          <ac:spMkLst>
            <pc:docMk/>
            <pc:sldMk cId="2814965592" sldId="387"/>
            <ac:spMk id="3" creationId="{F2129CA8-58E6-32E2-2C5F-B89BBF688F26}"/>
          </ac:spMkLst>
        </pc:spChg>
      </pc:sldChg>
      <pc:sldChg chg="modSp mod ord">
        <pc:chgData name="Francesco Bellotti" userId="f453232b-f87d-4756-9d8b-c09bc835cc42" providerId="ADAL" clId="{C7FEA3FA-4936-41E1-B7FA-CA082069F7F7}" dt="2026-09-30T09:54:57.538" v="3814" actId="20577"/>
        <pc:sldMkLst>
          <pc:docMk/>
          <pc:sldMk cId="2611213515" sldId="392"/>
        </pc:sldMkLst>
        <pc:spChg chg="mod">
          <ac:chgData name="Francesco Bellotti" userId="f453232b-f87d-4756-9d8b-c09bc835cc42" providerId="ADAL" clId="{C7FEA3FA-4936-41E1-B7FA-CA082069F7F7}" dt="2026-09-30T09:54:57.538" v="3814" actId="20577"/>
          <ac:spMkLst>
            <pc:docMk/>
            <pc:sldMk cId="2611213515" sldId="392"/>
            <ac:spMk id="2" creationId="{BDEA998F-CF01-9FF9-A2C0-E8230B430F6F}"/>
          </ac:spMkLst>
        </pc:spChg>
      </pc:sldChg>
      <pc:sldChg chg="addSp delSp modSp add mod setBg modNotesTx">
        <pc:chgData name="Francesco Bellotti" userId="f453232b-f87d-4756-9d8b-c09bc835cc42" providerId="ADAL" clId="{C7FEA3FA-4936-41E1-B7FA-CA082069F7F7}" dt="2026-09-29T13:28:22.975" v="3264" actId="13926"/>
        <pc:sldMkLst>
          <pc:docMk/>
          <pc:sldMk cId="0" sldId="393"/>
        </pc:sldMkLst>
        <pc:spChg chg="mod">
          <ac:chgData name="Francesco Bellotti" userId="f453232b-f87d-4756-9d8b-c09bc835cc42" providerId="ADAL" clId="{C7FEA3FA-4936-41E1-B7FA-CA082069F7F7}" dt="2026-09-29T13:28:22.975" v="3264" actId="13926"/>
          <ac:spMkLst>
            <pc:docMk/>
            <pc:sldMk cId="0" sldId="393"/>
            <ac:spMk id="3" creationId="{00000000-0000-0000-0000-000000000000}"/>
          </ac:spMkLst>
        </pc:spChg>
        <pc:spChg chg="mod">
          <ac:chgData name="Francesco Bellotti" userId="f453232b-f87d-4756-9d8b-c09bc835cc42" providerId="ADAL" clId="{C7FEA3FA-4936-41E1-B7FA-CA082069F7F7}" dt="2026-09-26T08:01:59.659" v="3240" actId="403"/>
          <ac:spMkLst>
            <pc:docMk/>
            <pc:sldMk cId="0" sldId="393"/>
            <ac:spMk id="12" creationId="{00000000-0000-0000-0000-000000000000}"/>
          </ac:spMkLst>
        </pc:spChg>
        <pc:spChg chg="mod">
          <ac:chgData name="Francesco Bellotti" userId="f453232b-f87d-4756-9d8b-c09bc835cc42" providerId="ADAL" clId="{C7FEA3FA-4936-41E1-B7FA-CA082069F7F7}" dt="2026-09-26T07:58:33.062" v="3184" actId="20577"/>
          <ac:spMkLst>
            <pc:docMk/>
            <pc:sldMk cId="0" sldId="393"/>
            <ac:spMk id="14" creationId="{00000000-0000-0000-0000-000000000000}"/>
          </ac:spMkLst>
        </pc:spChg>
        <pc:spChg chg="mod">
          <ac:chgData name="Francesco Bellotti" userId="f453232b-f87d-4756-9d8b-c09bc835cc42" providerId="ADAL" clId="{C7FEA3FA-4936-41E1-B7FA-CA082069F7F7}" dt="2026-09-26T07:58:37.319" v="3185" actId="20577"/>
          <ac:spMkLst>
            <pc:docMk/>
            <pc:sldMk cId="0" sldId="393"/>
            <ac:spMk id="15" creationId="{00000000-0000-0000-0000-000000000000}"/>
          </ac:spMkLst>
        </pc:spChg>
        <pc:spChg chg="mod">
          <ac:chgData name="Francesco Bellotti" userId="f453232b-f87d-4756-9d8b-c09bc835cc42" providerId="ADAL" clId="{C7FEA3FA-4936-41E1-B7FA-CA082069F7F7}" dt="2026-09-26T07:58:40.748" v="3186" actId="20577"/>
          <ac:spMkLst>
            <pc:docMk/>
            <pc:sldMk cId="0" sldId="393"/>
            <ac:spMk id="16" creationId="{00000000-0000-0000-0000-000000000000}"/>
          </ac:spMkLst>
        </pc:spChg>
        <pc:spChg chg="mod">
          <ac:chgData name="Francesco Bellotti" userId="f453232b-f87d-4756-9d8b-c09bc835cc42" providerId="ADAL" clId="{C7FEA3FA-4936-41E1-B7FA-CA082069F7F7}" dt="2026-09-26T07:58:44.676" v="3187" actId="20577"/>
          <ac:spMkLst>
            <pc:docMk/>
            <pc:sldMk cId="0" sldId="393"/>
            <ac:spMk id="17" creationId="{00000000-0000-0000-0000-000000000000}"/>
          </ac:spMkLst>
        </pc:spChg>
        <pc:spChg chg="mod">
          <ac:chgData name="Francesco Bellotti" userId="f453232b-f87d-4756-9d8b-c09bc835cc42" providerId="ADAL" clId="{C7FEA3FA-4936-41E1-B7FA-CA082069F7F7}" dt="2026-09-26T07:59:41.736" v="3224" actId="20577"/>
          <ac:spMkLst>
            <pc:docMk/>
            <pc:sldMk cId="0" sldId="393"/>
            <ac:spMk id="38" creationId="{00000000-0000-0000-0000-000000000000}"/>
          </ac:spMkLst>
        </pc:spChg>
        <pc:spChg chg="mod">
          <ac:chgData name="Francesco Bellotti" userId="f453232b-f87d-4756-9d8b-c09bc835cc42" providerId="ADAL" clId="{C7FEA3FA-4936-41E1-B7FA-CA082069F7F7}" dt="2026-09-26T07:58:52.163" v="3191" actId="20577"/>
          <ac:spMkLst>
            <pc:docMk/>
            <pc:sldMk cId="0" sldId="393"/>
            <ac:spMk id="39" creationId="{00000000-0000-0000-0000-000000000000}"/>
          </ac:spMkLst>
        </pc:spChg>
        <pc:spChg chg="mod">
          <ac:chgData name="Francesco Bellotti" userId="f453232b-f87d-4756-9d8b-c09bc835cc42" providerId="ADAL" clId="{C7FEA3FA-4936-41E1-B7FA-CA082069F7F7}" dt="2026-09-26T07:58:58.902" v="3197" actId="20577"/>
          <ac:spMkLst>
            <pc:docMk/>
            <pc:sldMk cId="0" sldId="393"/>
            <ac:spMk id="40" creationId="{00000000-0000-0000-0000-000000000000}"/>
          </ac:spMkLst>
        </pc:spChg>
        <pc:spChg chg="mod">
          <ac:chgData name="Francesco Bellotti" userId="f453232b-f87d-4756-9d8b-c09bc835cc42" providerId="ADAL" clId="{C7FEA3FA-4936-41E1-B7FA-CA082069F7F7}" dt="2026-09-26T07:59:02.753" v="3199" actId="20577"/>
          <ac:spMkLst>
            <pc:docMk/>
            <pc:sldMk cId="0" sldId="393"/>
            <ac:spMk id="41" creationId="{00000000-0000-0000-0000-000000000000}"/>
          </ac:spMkLst>
        </pc:spChg>
        <pc:spChg chg="mod">
          <ac:chgData name="Francesco Bellotti" userId="f453232b-f87d-4756-9d8b-c09bc835cc42" providerId="ADAL" clId="{C7FEA3FA-4936-41E1-B7FA-CA082069F7F7}" dt="2026-09-26T07:59:06.858" v="3201" actId="20577"/>
          <ac:spMkLst>
            <pc:docMk/>
            <pc:sldMk cId="0" sldId="393"/>
            <ac:spMk id="42" creationId="{00000000-0000-0000-0000-000000000000}"/>
          </ac:spMkLst>
        </pc:spChg>
        <pc:spChg chg="mod">
          <ac:chgData name="Francesco Bellotti" userId="f453232b-f87d-4756-9d8b-c09bc835cc42" providerId="ADAL" clId="{C7FEA3FA-4936-41E1-B7FA-CA082069F7F7}" dt="2026-09-26T07:59:10.943" v="3203" actId="20577"/>
          <ac:spMkLst>
            <pc:docMk/>
            <pc:sldMk cId="0" sldId="393"/>
            <ac:spMk id="43" creationId="{00000000-0000-0000-0000-000000000000}"/>
          </ac:spMkLst>
        </pc:spChg>
        <pc:spChg chg="mod">
          <ac:chgData name="Francesco Bellotti" userId="f453232b-f87d-4756-9d8b-c09bc835cc42" providerId="ADAL" clId="{C7FEA3FA-4936-41E1-B7FA-CA082069F7F7}" dt="2026-09-26T08:02:28.880" v="3244" actId="113"/>
          <ac:spMkLst>
            <pc:docMk/>
            <pc:sldMk cId="0" sldId="393"/>
            <ac:spMk id="90" creationId="{00000000-0000-0000-0000-000000000000}"/>
          </ac:spMkLst>
        </pc:spChg>
        <pc:spChg chg="mod">
          <ac:chgData name="Francesco Bellotti" userId="f453232b-f87d-4756-9d8b-c09bc835cc42" providerId="ADAL" clId="{C7FEA3FA-4936-41E1-B7FA-CA082069F7F7}" dt="2026-09-26T07:59:25.370" v="3213" actId="20577"/>
          <ac:spMkLst>
            <pc:docMk/>
            <pc:sldMk cId="0" sldId="393"/>
            <ac:spMk id="117" creationId="{00000000-0000-0000-0000-000000000000}"/>
          </ac:spMkLst>
        </pc:spChg>
        <pc:spChg chg="add mod">
          <ac:chgData name="Francesco Bellotti" userId="f453232b-f87d-4756-9d8b-c09bc835cc42" providerId="ADAL" clId="{C7FEA3FA-4936-41E1-B7FA-CA082069F7F7}" dt="2026-09-26T08:04:02.382" v="3262" actId="1076"/>
          <ac:spMkLst>
            <pc:docMk/>
            <pc:sldMk cId="0" sldId="393"/>
            <ac:spMk id="122" creationId="{0C8EE28D-9F34-67A4-D535-941EB6117164}"/>
          </ac:spMkLst>
        </pc:spChg>
        <pc:cxnChg chg="add">
          <ac:chgData name="Francesco Bellotti" userId="f453232b-f87d-4756-9d8b-c09bc835cc42" providerId="ADAL" clId="{C7FEA3FA-4936-41E1-B7FA-CA082069F7F7}" dt="2026-09-26T08:04:10.479" v="3263" actId="11529"/>
          <ac:cxnSpMkLst>
            <pc:docMk/>
            <pc:sldMk cId="0" sldId="393"/>
            <ac:cxnSpMk id="124" creationId="{266202C5-B44B-43EB-5EA0-F9B76377C212}"/>
          </ac:cxnSpMkLst>
        </pc:cxnChg>
      </pc:sldChg>
      <pc:sldChg chg="modSp new mod ord">
        <pc:chgData name="Francesco Bellotti" userId="f453232b-f87d-4756-9d8b-c09bc835cc42" providerId="ADAL" clId="{C7FEA3FA-4936-41E1-B7FA-CA082069F7F7}" dt="2026-10-22T08:48:13.915" v="3894" actId="20577"/>
        <pc:sldMkLst>
          <pc:docMk/>
          <pc:sldMk cId="1148690927" sldId="394"/>
        </pc:sldMkLst>
        <pc:spChg chg="mod">
          <ac:chgData name="Francesco Bellotti" userId="f453232b-f87d-4756-9d8b-c09bc835cc42" providerId="ADAL" clId="{C7FEA3FA-4936-41E1-B7FA-CA082069F7F7}" dt="2026-10-22T08:47:30.414" v="3876" actId="20577"/>
          <ac:spMkLst>
            <pc:docMk/>
            <pc:sldMk cId="1148690927" sldId="394"/>
            <ac:spMk id="2" creationId="{547A1C1D-76BF-536D-714F-29CDD3DE35FA}"/>
          </ac:spMkLst>
        </pc:spChg>
        <pc:spChg chg="mod">
          <ac:chgData name="Francesco Bellotti" userId="f453232b-f87d-4756-9d8b-c09bc835cc42" providerId="ADAL" clId="{C7FEA3FA-4936-41E1-B7FA-CA082069F7F7}" dt="2026-10-22T08:48:13.915" v="3894" actId="20577"/>
          <ac:spMkLst>
            <pc:docMk/>
            <pc:sldMk cId="1148690927" sldId="394"/>
            <ac:spMk id="3" creationId="{BEE21729-7452-80C5-CD64-444BF5950977}"/>
          </ac:spMkLst>
        </pc:spChg>
      </pc:sldChg>
      <pc:sldChg chg="modSp add mod">
        <pc:chgData name="Francesco Bellotti" userId="f453232b-f87d-4756-9d8b-c09bc835cc42" providerId="ADAL" clId="{C7FEA3FA-4936-41E1-B7FA-CA082069F7F7}" dt="2026-10-22T09:31:08.431" v="4223" actId="20577"/>
        <pc:sldMkLst>
          <pc:docMk/>
          <pc:sldMk cId="2178464770" sldId="395"/>
        </pc:sldMkLst>
        <pc:graphicFrameChg chg="modGraphic">
          <ac:chgData name="Francesco Bellotti" userId="f453232b-f87d-4756-9d8b-c09bc835cc42" providerId="ADAL" clId="{C7FEA3FA-4936-41E1-B7FA-CA082069F7F7}" dt="2026-10-22T09:31:08.431" v="4223" actId="20577"/>
          <ac:graphicFrameMkLst>
            <pc:docMk/>
            <pc:sldMk cId="2178464770" sldId="395"/>
            <ac:graphicFrameMk id="5" creationId="{F695B45C-2489-F370-FE19-4F18CF3F450E}"/>
          </ac:graphicFrameMkLst>
        </pc:graphicFrameChg>
      </pc:sldChg>
      <pc:sldChg chg="modSp new mod">
        <pc:chgData name="Francesco Bellotti" userId="f453232b-f87d-4756-9d8b-c09bc835cc42" providerId="ADAL" clId="{C7FEA3FA-4936-41E1-B7FA-CA082069F7F7}" dt="2026-10-22T09:36:03.549" v="4259" actId="20577"/>
        <pc:sldMkLst>
          <pc:docMk/>
          <pc:sldMk cId="685763208" sldId="396"/>
        </pc:sldMkLst>
        <pc:spChg chg="mod">
          <ac:chgData name="Francesco Bellotti" userId="f453232b-f87d-4756-9d8b-c09bc835cc42" providerId="ADAL" clId="{C7FEA3FA-4936-41E1-B7FA-CA082069F7F7}" dt="2026-10-22T08:50:29.318" v="4147" actId="20577"/>
          <ac:spMkLst>
            <pc:docMk/>
            <pc:sldMk cId="685763208" sldId="396"/>
            <ac:spMk id="2" creationId="{0711D51E-ACCA-46FD-EB95-FEBA0A4F76C1}"/>
          </ac:spMkLst>
        </pc:spChg>
        <pc:spChg chg="mod">
          <ac:chgData name="Francesco Bellotti" userId="f453232b-f87d-4756-9d8b-c09bc835cc42" providerId="ADAL" clId="{C7FEA3FA-4936-41E1-B7FA-CA082069F7F7}" dt="2026-10-22T09:36:03.549" v="4259" actId="20577"/>
          <ac:spMkLst>
            <pc:docMk/>
            <pc:sldMk cId="685763208" sldId="396"/>
            <ac:spMk id="3" creationId="{6144DAD7-55E0-C6F3-5C0C-2F4B559B4D66}"/>
          </ac:spMkLst>
        </pc:spChg>
      </pc:sldChg>
      <pc:sldChg chg="modSp new mod">
        <pc:chgData name="Francesco Bellotti" userId="f453232b-f87d-4756-9d8b-c09bc835cc42" providerId="ADAL" clId="{C7FEA3FA-4936-41E1-B7FA-CA082069F7F7}" dt="2026-10-22T13:06:33.456" v="5611" actId="20577"/>
        <pc:sldMkLst>
          <pc:docMk/>
          <pc:sldMk cId="2503760945" sldId="397"/>
        </pc:sldMkLst>
        <pc:spChg chg="mod">
          <ac:chgData name="Francesco Bellotti" userId="f453232b-f87d-4756-9d8b-c09bc835cc42" providerId="ADAL" clId="{C7FEA3FA-4936-41E1-B7FA-CA082069F7F7}" dt="2026-10-22T12:43:56.266" v="4301" actId="20577"/>
          <ac:spMkLst>
            <pc:docMk/>
            <pc:sldMk cId="2503760945" sldId="397"/>
            <ac:spMk id="2" creationId="{73D7729D-8724-DEA0-C37E-D81841AE21C4}"/>
          </ac:spMkLst>
        </pc:spChg>
        <pc:spChg chg="mod">
          <ac:chgData name="Francesco Bellotti" userId="f453232b-f87d-4756-9d8b-c09bc835cc42" providerId="ADAL" clId="{C7FEA3FA-4936-41E1-B7FA-CA082069F7F7}" dt="2026-10-22T13:06:33.456" v="5611" actId="20577"/>
          <ac:spMkLst>
            <pc:docMk/>
            <pc:sldMk cId="2503760945" sldId="397"/>
            <ac:spMk id="3" creationId="{A9FAF47D-CC07-552D-90E4-77796FBAFC81}"/>
          </ac:spMkLst>
        </pc:spChg>
      </pc:sldChg>
      <pc:sldChg chg="modSp add mod">
        <pc:chgData name="Francesco Bellotti" userId="f453232b-f87d-4756-9d8b-c09bc835cc42" providerId="ADAL" clId="{C7FEA3FA-4936-41E1-B7FA-CA082069F7F7}" dt="2026-10-22T13:07:52.225" v="5778" actId="20577"/>
        <pc:sldMkLst>
          <pc:docMk/>
          <pc:sldMk cId="3093451510" sldId="398"/>
        </pc:sldMkLst>
        <pc:spChg chg="mod">
          <ac:chgData name="Francesco Bellotti" userId="f453232b-f87d-4756-9d8b-c09bc835cc42" providerId="ADAL" clId="{C7FEA3FA-4936-41E1-B7FA-CA082069F7F7}" dt="2026-10-22T13:07:52.225" v="5778" actId="20577"/>
          <ac:spMkLst>
            <pc:docMk/>
            <pc:sldMk cId="3093451510" sldId="398"/>
            <ac:spMk id="3" creationId="{5B2C5907-B5FA-4A2D-E563-ECFFA5AE707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A8AFD7-EBA0-4AAA-85BC-F291DD2FA519}" type="datetimeFigureOut">
              <a:rPr lang="en-GB" smtClean="0"/>
              <a:t>22/10/2026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3A9AB1-AA83-4AF8-8F6E-3AC2761A36CE}" type="slidenum">
              <a:rPr lang="en-GB" smtClean="0"/>
              <a:t>‹N›</a:t>
            </a:fld>
            <a:endParaRPr lang="en-GB"/>
          </a:p>
        </p:txBody>
      </p:sp>
    </p:spTree>
    <p:extLst>
      <p:ext uri="{BB962C8B-B14F-4D97-AF65-F5344CB8AC3E}">
        <p14:creationId xmlns:p14="http://schemas.microsoft.com/office/powerpoint/2010/main" val="2344195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1705B-F7B2-E41B-CD31-EF8C21CF8E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A3779-EDE7-7D7D-0071-7E018CCAEA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04CB9-8377-60C3-02FB-6466737FF7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35351C-7551-035C-8736-A57EAB0F11D7}"/>
              </a:ext>
            </a:extLst>
          </p:cNvPr>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1851159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902588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3293792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39581290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6A4509E7-AA9A-4DF2-9CEB-795B2F433F70}" type="datetimeFigureOut">
              <a:rPr lang="en-GB" smtClean="0"/>
              <a:t>22/10/2026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42531958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6A4509E7-AA9A-4DF2-9CEB-795B2F433F70}" type="datetimeFigureOut">
              <a:rPr lang="en-GB" smtClean="0"/>
              <a:t>22/10/2026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2039957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6A4509E7-AA9A-4DF2-9CEB-795B2F433F70}" type="datetimeFigureOut">
              <a:rPr lang="en-GB" smtClean="0"/>
              <a:t>22/10/2026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13231317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4509E7-AA9A-4DF2-9CEB-795B2F433F70}" type="datetimeFigureOut">
              <a:rPr lang="en-GB" smtClean="0"/>
              <a:t>22/10/2026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188502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6A4509E7-AA9A-4DF2-9CEB-795B2F433F70}" type="datetimeFigureOut">
              <a:rPr lang="en-GB" smtClean="0"/>
              <a:t>22/10/2026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2223363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6A4509E7-AA9A-4DF2-9CEB-795B2F433F70}" type="datetimeFigureOut">
              <a:rPr lang="en-GB" smtClean="0"/>
              <a:t>22/10/2026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4000684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36690854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3910151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25331406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727138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15752640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15143387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6A4509E7-AA9A-4DF2-9CEB-795B2F433F70}" type="datetimeFigureOut">
              <a:rPr lang="en-GB" smtClean="0"/>
              <a:t>22/10/2026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96DA1124-8F1A-45D7-97CC-C82D024DA2E8}" type="slidenum">
              <a:rPr lang="en-GB" smtClean="0"/>
              <a:t>‹N›</a:t>
            </a:fld>
            <a:endParaRPr lang="en-GB"/>
          </a:p>
        </p:txBody>
      </p:sp>
    </p:spTree>
    <p:extLst>
      <p:ext uri="{BB962C8B-B14F-4D97-AF65-F5344CB8AC3E}">
        <p14:creationId xmlns:p14="http://schemas.microsoft.com/office/powerpoint/2010/main" val="38459896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550602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blank">
    <p:bg>
      <p:bgPr>
        <a:solidFill>
          <a:srgbClr val="F7F9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67158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plain">
    <p:bg>
      <p:bgPr>
        <a:solidFill>
          <a:srgbClr val="F8FA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12882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MASTER">
    <p:bg>
      <p:bgPr>
        <a:solidFill>
          <a:srgbClr val="FAFBFD"/>
        </a:solidFill>
        <a:effectLst/>
      </p:bgPr>
    </p:bg>
    <p:spTree>
      <p:nvGrpSpPr>
        <p:cNvPr id="1" name=""/>
        <p:cNvGrpSpPr/>
        <p:nvPr/>
      </p:nvGrpSpPr>
      <p:grpSpPr>
        <a:xfrm>
          <a:off x="0" y="0"/>
          <a:ext cx="0" cy="0"/>
          <a:chOff x="0" y="0"/>
          <a:chExt cx="0" cy="0"/>
        </a:xfrm>
      </p:grpSpPr>
      <p:sp>
        <p:nvSpPr>
          <p:cNvPr id="2" name="Shape 0"/>
          <p:cNvSpPr/>
          <p:nvPr/>
        </p:nvSpPr>
        <p:spPr>
          <a:xfrm>
            <a:off x="640080" y="6355080"/>
            <a:ext cx="10908792" cy="0"/>
          </a:xfrm>
          <a:prstGeom prst="line">
            <a:avLst/>
          </a:prstGeom>
          <a:noFill/>
          <a:ln w="12700">
            <a:solidFill>
              <a:srgbClr val="D8DEE9"/>
            </a:solidFill>
            <a:prstDash val="solid"/>
          </a:ln>
        </p:spPr>
        <p:txBody>
          <a:bodyPr/>
          <a:lstStyle/>
          <a:p>
            <a:endParaRPr lang="en-GB"/>
          </a:p>
        </p:txBody>
      </p:sp>
      <p:sp>
        <p:nvSpPr>
          <p:cNvPr id="25" name="Slide Number Placeholder 0"/>
          <p:cNvSpPr>
            <a:spLocks noGrp="1"/>
          </p:cNvSpPr>
          <p:nvPr>
            <p:ph type="sldNum" sz="quarter" idx="4294967295"/>
          </p:nvPr>
        </p:nvSpPr>
        <p:spPr>
          <a:xfrm>
            <a:off x="11475720" y="640080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A94A6"/>
                </a:solidFill>
              </a:defRPr>
            </a:lvl1pPr>
          </a:lstStyle>
          <a:p>
            <a:pPr algn="l"/>
            <a:fld id="{F7021451-1387-4CA6-816F-3879F97B5CBC}" type="slidenum">
              <a:rPr lang="en-US" b="0"/>
              <a:t>‹N›</a:t>
            </a:fld>
            <a:endParaRPr lang="en-US"/>
          </a:p>
        </p:txBody>
      </p:sp>
    </p:spTree>
    <p:extLst>
      <p:ext uri="{BB962C8B-B14F-4D97-AF65-F5344CB8AC3E}">
        <p14:creationId xmlns:p14="http://schemas.microsoft.com/office/powerpoint/2010/main" val="28557285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clea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90936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A4509E7-AA9A-4DF2-9CEB-795B2F433F70}" type="datetimeFigureOut">
              <a:rPr lang="en-GB" smtClean="0"/>
              <a:t>22/10/2026</a:t>
            </a:fld>
            <a:endParaRPr lang="en-GB"/>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96DA1124-8F1A-45D7-97CC-C82D024DA2E8}" type="slidenum">
              <a:rPr lang="en-GB" smtClean="0"/>
              <a:t>‹N›</a:t>
            </a:fld>
            <a:endParaRPr lang="en-GB"/>
          </a:p>
        </p:txBody>
      </p:sp>
    </p:spTree>
    <p:extLst>
      <p:ext uri="{BB962C8B-B14F-4D97-AF65-F5344CB8AC3E}">
        <p14:creationId xmlns:p14="http://schemas.microsoft.com/office/powerpoint/2010/main" val="310610015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205E98C-9FAA-199C-3A30-982F0F30FBF3}"/>
              </a:ext>
            </a:extLst>
          </p:cNvPr>
          <p:cNvSpPr>
            <a:spLocks noGrp="1"/>
          </p:cNvSpPr>
          <p:nvPr>
            <p:ph type="ctrTitle"/>
          </p:nvPr>
        </p:nvSpPr>
        <p:spPr/>
        <p:txBody>
          <a:bodyPr/>
          <a:lstStyle/>
          <a:p>
            <a:r>
              <a:rPr lang="en-GB" dirty="0"/>
              <a:t>2- Training, Validation, Test and Data Leakage</a:t>
            </a:r>
          </a:p>
        </p:txBody>
      </p:sp>
      <p:sp>
        <p:nvSpPr>
          <p:cNvPr id="3" name="Sottotitolo 2">
            <a:extLst>
              <a:ext uri="{FF2B5EF4-FFF2-40B4-BE49-F238E27FC236}">
                <a16:creationId xmlns:a16="http://schemas.microsoft.com/office/drawing/2014/main" id="{70FBD718-6051-D8B2-76DA-8749FFD42ABF}"/>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4012238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BFFC49-41B2-72C3-AEFB-83020009EE88}"/>
              </a:ext>
            </a:extLst>
          </p:cNvPr>
          <p:cNvSpPr>
            <a:spLocks noGrp="1"/>
          </p:cNvSpPr>
          <p:nvPr>
            <p:ph type="title"/>
          </p:nvPr>
        </p:nvSpPr>
        <p:spPr/>
        <p:txBody>
          <a:bodyPr/>
          <a:lstStyle/>
          <a:p>
            <a:r>
              <a:rPr lang="it-IT" dirty="0"/>
              <a:t>Learning </a:t>
            </a:r>
            <a:r>
              <a:rPr lang="it-IT" dirty="0" err="1"/>
              <a:t>objectives</a:t>
            </a:r>
            <a:endParaRPr lang="en-GB" dirty="0"/>
          </a:p>
        </p:txBody>
      </p:sp>
      <p:sp>
        <p:nvSpPr>
          <p:cNvPr id="3" name="Segnaposto contenuto 2">
            <a:extLst>
              <a:ext uri="{FF2B5EF4-FFF2-40B4-BE49-F238E27FC236}">
                <a16:creationId xmlns:a16="http://schemas.microsoft.com/office/drawing/2014/main" id="{E453CD79-3F02-D5A0-8B6B-5F8414A5E14C}"/>
              </a:ext>
            </a:extLst>
          </p:cNvPr>
          <p:cNvSpPr>
            <a:spLocks noGrp="1"/>
          </p:cNvSpPr>
          <p:nvPr>
            <p:ph idx="1"/>
          </p:nvPr>
        </p:nvSpPr>
        <p:spPr/>
        <p:txBody>
          <a:bodyPr/>
          <a:lstStyle/>
          <a:p>
            <a:r>
              <a:rPr lang="en-GB" dirty="0"/>
              <a:t>By the end of the lecture, students should be able to:</a:t>
            </a:r>
          </a:p>
          <a:p>
            <a:pPr lvl="1"/>
            <a:r>
              <a:rPr lang="en-GB" dirty="0"/>
              <a:t>explain the different roles of training, validation and test sets;</a:t>
            </a:r>
          </a:p>
          <a:p>
            <a:pPr lvl="1"/>
            <a:r>
              <a:rPr lang="en-GB" dirty="0"/>
              <a:t>identify the type of generalization required by an application;</a:t>
            </a:r>
          </a:p>
          <a:p>
            <a:pPr lvl="1"/>
            <a:r>
              <a:rPr lang="en-GB" dirty="0"/>
              <a:t>select an appropriate split for one long series, multiple sequences or multiple entities;</a:t>
            </a:r>
          </a:p>
          <a:p>
            <a:pPr lvl="1"/>
            <a:r>
              <a:rPr lang="en-GB" dirty="0"/>
              <a:t>recognize leakage caused by overlapping windows;</a:t>
            </a:r>
          </a:p>
          <a:p>
            <a:pPr lvl="1"/>
            <a:r>
              <a:rPr lang="en-GB" dirty="0"/>
              <a:t>recognize leakage introduced by preprocessing and feature engineering;</a:t>
            </a:r>
          </a:p>
          <a:p>
            <a:pPr lvl="1"/>
            <a:r>
              <a:rPr lang="en-GB" dirty="0"/>
              <a:t>design a basic temporal </a:t>
            </a:r>
            <a:r>
              <a:rPr lang="en-GB" dirty="0" err="1"/>
              <a:t>backtesting</a:t>
            </a:r>
            <a:r>
              <a:rPr lang="en-GB" dirty="0"/>
              <a:t> procedure;</a:t>
            </a:r>
          </a:p>
          <a:p>
            <a:pPr lvl="1"/>
            <a:r>
              <a:rPr lang="en-GB" dirty="0"/>
              <a:t>document an evaluation protocol clearly enough for it to be reproduced.</a:t>
            </a:r>
          </a:p>
          <a:p>
            <a:endParaRPr lang="en-GB" dirty="0"/>
          </a:p>
        </p:txBody>
      </p:sp>
    </p:spTree>
    <p:extLst>
      <p:ext uri="{BB962C8B-B14F-4D97-AF65-F5344CB8AC3E}">
        <p14:creationId xmlns:p14="http://schemas.microsoft.com/office/powerpoint/2010/main" val="959210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9C9D55F-05B5-103B-1C39-A927798BDDB6}"/>
              </a:ext>
            </a:extLst>
          </p:cNvPr>
          <p:cNvSpPr>
            <a:spLocks noGrp="1"/>
          </p:cNvSpPr>
          <p:nvPr>
            <p:ph type="title"/>
          </p:nvPr>
        </p:nvSpPr>
        <p:spPr/>
        <p:txBody>
          <a:bodyPr/>
          <a:lstStyle/>
          <a:p>
            <a:r>
              <a:rPr lang="it-IT" dirty="0" err="1"/>
              <a:t>Blocks</a:t>
            </a:r>
            <a:r>
              <a:rPr lang="it-IT" dirty="0"/>
              <a:t> in the </a:t>
            </a:r>
            <a:r>
              <a:rPr lang="it-IT" dirty="0" err="1"/>
              <a:t>lecture</a:t>
            </a:r>
            <a:endParaRPr lang="en-GB" dirty="0"/>
          </a:p>
        </p:txBody>
      </p:sp>
      <p:sp>
        <p:nvSpPr>
          <p:cNvPr id="3" name="Segnaposto contenuto 2">
            <a:extLst>
              <a:ext uri="{FF2B5EF4-FFF2-40B4-BE49-F238E27FC236}">
                <a16:creationId xmlns:a16="http://schemas.microsoft.com/office/drawing/2014/main" id="{2082F4A0-DBA3-4F2B-2112-B907A635C51B}"/>
              </a:ext>
            </a:extLst>
          </p:cNvPr>
          <p:cNvSpPr>
            <a:spLocks noGrp="1"/>
          </p:cNvSpPr>
          <p:nvPr>
            <p:ph idx="1"/>
          </p:nvPr>
        </p:nvSpPr>
        <p:spPr/>
        <p:txBody>
          <a:bodyPr/>
          <a:lstStyle/>
          <a:p>
            <a:r>
              <a:rPr lang="en-GB" dirty="0"/>
              <a:t>Meaning of generalization</a:t>
            </a:r>
          </a:p>
          <a:p>
            <a:r>
              <a:rPr lang="en-GB" dirty="0"/>
              <a:t>One long series</a:t>
            </a:r>
          </a:p>
          <a:p>
            <a:r>
              <a:rPr lang="en-GB" dirty="0"/>
              <a:t>Sequences and entities</a:t>
            </a:r>
          </a:p>
          <a:p>
            <a:r>
              <a:rPr lang="en-GB" dirty="0"/>
              <a:t>Window leakage</a:t>
            </a:r>
          </a:p>
          <a:p>
            <a:r>
              <a:rPr lang="en-GB" dirty="0"/>
              <a:t>Preprocessing leakage</a:t>
            </a:r>
          </a:p>
          <a:p>
            <a:r>
              <a:rPr lang="en-GB" dirty="0"/>
              <a:t>Model selection and testing</a:t>
            </a:r>
          </a:p>
        </p:txBody>
      </p:sp>
    </p:spTree>
    <p:extLst>
      <p:ext uri="{BB962C8B-B14F-4D97-AF65-F5344CB8AC3E}">
        <p14:creationId xmlns:p14="http://schemas.microsoft.com/office/powerpoint/2010/main" val="3720505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E5CFD45-03BD-3324-36A0-E4A10830E7C2}"/>
              </a:ext>
            </a:extLst>
          </p:cNvPr>
          <p:cNvSpPr>
            <a:spLocks noGrp="1"/>
          </p:cNvSpPr>
          <p:nvPr>
            <p:ph type="title"/>
          </p:nvPr>
        </p:nvSpPr>
        <p:spPr/>
        <p:txBody>
          <a:bodyPr/>
          <a:lstStyle/>
          <a:p>
            <a:r>
              <a:rPr lang="en-GB" dirty="0"/>
              <a:t>A. What Does the Test Set Represent?</a:t>
            </a:r>
          </a:p>
        </p:txBody>
      </p:sp>
      <p:sp>
        <p:nvSpPr>
          <p:cNvPr id="3" name="Segnaposto contenuto 2">
            <a:extLst>
              <a:ext uri="{FF2B5EF4-FFF2-40B4-BE49-F238E27FC236}">
                <a16:creationId xmlns:a16="http://schemas.microsoft.com/office/drawing/2014/main" id="{282BA925-2DD8-38F6-ADF1-25E5F065B173}"/>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771898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7669C2-9331-CBB1-C950-EBC86C3C4551}"/>
              </a:ext>
            </a:extLst>
          </p:cNvPr>
          <p:cNvSpPr>
            <a:spLocks noGrp="1"/>
          </p:cNvSpPr>
          <p:nvPr>
            <p:ph type="title"/>
          </p:nvPr>
        </p:nvSpPr>
        <p:spPr/>
        <p:txBody>
          <a:bodyPr/>
          <a:lstStyle/>
          <a:p>
            <a:r>
              <a:rPr lang="en-GB" dirty="0"/>
              <a:t>Training, validation and test have different roles</a:t>
            </a:r>
          </a:p>
        </p:txBody>
      </p:sp>
      <p:sp>
        <p:nvSpPr>
          <p:cNvPr id="3" name="Segnaposto contenuto 2">
            <a:extLst>
              <a:ext uri="{FF2B5EF4-FFF2-40B4-BE49-F238E27FC236}">
                <a16:creationId xmlns:a16="http://schemas.microsoft.com/office/drawing/2014/main" id="{BEFB8F3A-CCA1-2E36-1DC4-D4CB2139C044}"/>
              </a:ext>
            </a:extLst>
          </p:cNvPr>
          <p:cNvSpPr>
            <a:spLocks noGrp="1"/>
          </p:cNvSpPr>
          <p:nvPr>
            <p:ph idx="1"/>
          </p:nvPr>
        </p:nvSpPr>
        <p:spPr/>
        <p:txBody>
          <a:bodyPr>
            <a:normAutofit/>
          </a:bodyPr>
          <a:lstStyle/>
          <a:p>
            <a:r>
              <a:rPr lang="en-GB" b="1" dirty="0"/>
              <a:t>Training set</a:t>
            </a:r>
          </a:p>
          <a:p>
            <a:r>
              <a:rPr lang="en-GB" dirty="0"/>
              <a:t>The training set is used to estimate model parameters.</a:t>
            </a:r>
          </a:p>
          <a:p>
            <a:pPr lvl="1"/>
            <a:r>
              <a:rPr lang="en-GB" dirty="0"/>
              <a:t>Examples include:</a:t>
            </a:r>
          </a:p>
          <a:p>
            <a:pPr lvl="1"/>
            <a:r>
              <a:rPr lang="en-GB" dirty="0"/>
              <a:t>regression coefficients;</a:t>
            </a:r>
          </a:p>
          <a:p>
            <a:pPr lvl="1"/>
            <a:r>
              <a:rPr lang="en-GB" dirty="0"/>
              <a:t>decision-tree splits;</a:t>
            </a:r>
          </a:p>
          <a:p>
            <a:pPr lvl="1"/>
            <a:r>
              <a:rPr lang="en-GB" dirty="0"/>
              <a:t>neural-network weights;</a:t>
            </a:r>
          </a:p>
          <a:p>
            <a:pPr lvl="1"/>
            <a:r>
              <a:rPr lang="en-GB" dirty="0"/>
              <a:t>parameters of a probability distribution.</a:t>
            </a:r>
          </a:p>
          <a:p>
            <a:r>
              <a:rPr lang="en-GB" dirty="0"/>
              <a:t>The learning algorithm is allowed to use the training targets directly.</a:t>
            </a:r>
          </a:p>
          <a:p>
            <a:endParaRPr lang="en-GB" dirty="0"/>
          </a:p>
        </p:txBody>
      </p:sp>
    </p:spTree>
    <p:extLst>
      <p:ext uri="{BB962C8B-B14F-4D97-AF65-F5344CB8AC3E}">
        <p14:creationId xmlns:p14="http://schemas.microsoft.com/office/powerpoint/2010/main" val="7900371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4F860-0B62-27C1-6319-DE36BCD172D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02D0550-920F-4ACE-A09B-EDB1924DEB90}"/>
              </a:ext>
            </a:extLst>
          </p:cNvPr>
          <p:cNvSpPr>
            <a:spLocks noGrp="1"/>
          </p:cNvSpPr>
          <p:nvPr>
            <p:ph type="title"/>
          </p:nvPr>
        </p:nvSpPr>
        <p:spPr/>
        <p:txBody>
          <a:bodyPr/>
          <a:lstStyle/>
          <a:p>
            <a:r>
              <a:rPr lang="en-GB" dirty="0"/>
              <a:t>Training, validation and test have different roles</a:t>
            </a:r>
          </a:p>
        </p:txBody>
      </p:sp>
      <p:sp>
        <p:nvSpPr>
          <p:cNvPr id="3" name="Segnaposto contenuto 2">
            <a:extLst>
              <a:ext uri="{FF2B5EF4-FFF2-40B4-BE49-F238E27FC236}">
                <a16:creationId xmlns:a16="http://schemas.microsoft.com/office/drawing/2014/main" id="{62882268-8958-275F-0291-90949DFBA402}"/>
              </a:ext>
            </a:extLst>
          </p:cNvPr>
          <p:cNvSpPr>
            <a:spLocks noGrp="1"/>
          </p:cNvSpPr>
          <p:nvPr>
            <p:ph sz="half" idx="1"/>
          </p:nvPr>
        </p:nvSpPr>
        <p:spPr/>
        <p:txBody>
          <a:bodyPr>
            <a:normAutofit fontScale="77500" lnSpcReduction="20000"/>
          </a:bodyPr>
          <a:lstStyle/>
          <a:p>
            <a:r>
              <a:rPr lang="en-GB" b="1" dirty="0"/>
              <a:t>Validation set</a:t>
            </a:r>
          </a:p>
          <a:p>
            <a:r>
              <a:rPr lang="en-GB" dirty="0"/>
              <a:t>The validation set supports decisions made during model development.</a:t>
            </a:r>
          </a:p>
          <a:p>
            <a:r>
              <a:rPr lang="en-GB" dirty="0"/>
              <a:t>It may be used to select:</a:t>
            </a:r>
          </a:p>
          <a:p>
            <a:pPr lvl="1"/>
            <a:r>
              <a:rPr lang="en-GB" dirty="0"/>
              <a:t>input-window length;</a:t>
            </a:r>
          </a:p>
          <a:p>
            <a:pPr lvl="1"/>
            <a:r>
              <a:rPr lang="en-GB" dirty="0"/>
              <a:t>temporal features;</a:t>
            </a:r>
          </a:p>
          <a:p>
            <a:pPr lvl="1"/>
            <a:r>
              <a:rPr lang="en-GB" dirty="0"/>
              <a:t>model family;</a:t>
            </a:r>
          </a:p>
          <a:p>
            <a:pPr lvl="1"/>
            <a:r>
              <a:rPr lang="en-GB" dirty="0"/>
              <a:t>model complexity;</a:t>
            </a:r>
          </a:p>
          <a:p>
            <a:pPr lvl="1"/>
            <a:r>
              <a:rPr lang="en-GB" dirty="0"/>
              <a:t>regularization strength;</a:t>
            </a:r>
          </a:p>
          <a:p>
            <a:pPr lvl="1"/>
            <a:r>
              <a:rPr lang="en-GB" dirty="0"/>
              <a:t>stopping time;</a:t>
            </a:r>
          </a:p>
          <a:p>
            <a:pPr lvl="1"/>
            <a:r>
              <a:rPr lang="en-GB" dirty="0"/>
              <a:t>classification threshold.</a:t>
            </a:r>
          </a:p>
          <a:p>
            <a:r>
              <a:rPr lang="en-GB" dirty="0"/>
              <a:t>The validation set is therefore part of the model-development process, even though it is not used directly to fit the final model parameters.</a:t>
            </a:r>
          </a:p>
          <a:p>
            <a:endParaRPr lang="en-GB" dirty="0"/>
          </a:p>
        </p:txBody>
      </p:sp>
      <p:sp>
        <p:nvSpPr>
          <p:cNvPr id="4" name="Segnaposto contenuto 3">
            <a:extLst>
              <a:ext uri="{FF2B5EF4-FFF2-40B4-BE49-F238E27FC236}">
                <a16:creationId xmlns:a16="http://schemas.microsoft.com/office/drawing/2014/main" id="{A8D808BD-3C0D-EEF6-B6B6-0B9E7C3FFA5B}"/>
              </a:ext>
            </a:extLst>
          </p:cNvPr>
          <p:cNvSpPr>
            <a:spLocks noGrp="1"/>
          </p:cNvSpPr>
          <p:nvPr>
            <p:ph sz="half" idx="2"/>
          </p:nvPr>
        </p:nvSpPr>
        <p:spPr/>
        <p:txBody>
          <a:bodyPr>
            <a:normAutofit fontScale="77500" lnSpcReduction="20000"/>
          </a:bodyPr>
          <a:lstStyle/>
          <a:p>
            <a:r>
              <a:rPr lang="en-GB" b="1" dirty="0"/>
              <a:t>Test set</a:t>
            </a:r>
          </a:p>
          <a:p>
            <a:r>
              <a:rPr lang="en-GB" dirty="0"/>
              <a:t>The test set is used to estimate performance after the development choices have been completed.</a:t>
            </a:r>
          </a:p>
          <a:p>
            <a:r>
              <a:rPr lang="en-GB" dirty="0"/>
              <a:t>It should not influence:</a:t>
            </a:r>
          </a:p>
          <a:p>
            <a:pPr lvl="1"/>
            <a:r>
              <a:rPr lang="en-GB" dirty="0"/>
              <a:t>feature selection;</a:t>
            </a:r>
          </a:p>
          <a:p>
            <a:pPr lvl="1"/>
            <a:r>
              <a:rPr lang="en-GB" dirty="0"/>
              <a:t>model selection;</a:t>
            </a:r>
          </a:p>
          <a:p>
            <a:pPr lvl="1"/>
            <a:r>
              <a:rPr lang="en-GB" dirty="0"/>
              <a:t>hyperparameter tuning;</a:t>
            </a:r>
          </a:p>
          <a:p>
            <a:pPr lvl="1"/>
            <a:r>
              <a:rPr lang="en-GB" dirty="0"/>
              <a:t>threshold selection;</a:t>
            </a:r>
          </a:p>
          <a:p>
            <a:pPr lvl="1"/>
            <a:r>
              <a:rPr lang="en-GB" dirty="0"/>
              <a:t>stopping criteria.</a:t>
            </a:r>
          </a:p>
          <a:p>
            <a:endParaRPr lang="en-GB" dirty="0"/>
          </a:p>
        </p:txBody>
      </p:sp>
      <p:sp>
        <p:nvSpPr>
          <p:cNvPr id="6" name="CasellaDiTesto 5">
            <a:extLst>
              <a:ext uri="{FF2B5EF4-FFF2-40B4-BE49-F238E27FC236}">
                <a16:creationId xmlns:a16="http://schemas.microsoft.com/office/drawing/2014/main" id="{AE7E1E1B-A4C3-52C6-D4ED-ECC9C6DD801F}"/>
              </a:ext>
            </a:extLst>
          </p:cNvPr>
          <p:cNvSpPr txBox="1"/>
          <p:nvPr/>
        </p:nvSpPr>
        <p:spPr>
          <a:xfrm>
            <a:off x="6483486" y="5325070"/>
            <a:ext cx="5102157" cy="923330"/>
          </a:xfrm>
          <a:prstGeom prst="rect">
            <a:avLst/>
          </a:prstGeom>
          <a:noFill/>
        </p:spPr>
        <p:txBody>
          <a:bodyPr wrap="square">
            <a:spAutoFit/>
          </a:bodyPr>
          <a:lstStyle/>
          <a:p>
            <a:r>
              <a:rPr lang="en-GB" sz="1800" b="1" dirty="0"/>
              <a:t>Training estimates model parameters, validation guides development decisions, and testing estimates final generalization.</a:t>
            </a:r>
          </a:p>
        </p:txBody>
      </p:sp>
    </p:spTree>
    <p:extLst>
      <p:ext uri="{BB962C8B-B14F-4D97-AF65-F5344CB8AC3E}">
        <p14:creationId xmlns:p14="http://schemas.microsoft.com/office/powerpoint/2010/main" val="2608934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F7F9FC"/>
            </a:solidFill>
            <a:prstDash val="solid"/>
          </a:ln>
        </p:spPr>
        <p:txBody>
          <a:bodyPr/>
          <a:lstStyle/>
          <a:p>
            <a:endParaRPr lang="en-GB"/>
          </a:p>
        </p:txBody>
      </p:sp>
      <p:sp>
        <p:nvSpPr>
          <p:cNvPr id="3" name="Text 1"/>
          <p:cNvSpPr/>
          <p:nvPr/>
        </p:nvSpPr>
        <p:spPr>
          <a:xfrm>
            <a:off x="594360" y="292608"/>
            <a:ext cx="11064240" cy="411480"/>
          </a:xfrm>
          <a:prstGeom prst="rect">
            <a:avLst/>
          </a:prstGeom>
          <a:noFill/>
          <a:ln/>
        </p:spPr>
        <p:txBody>
          <a:bodyPr wrap="square" lIns="0" tIns="0" rIns="0" bIns="0" rtlCol="0" anchor="ctr"/>
          <a:lstStyle/>
          <a:p>
            <a:pPr marL="0" indent="0">
              <a:buNone/>
            </a:pPr>
            <a:r>
              <a:rPr lang="en-US" sz="2800" b="1" dirty="0">
                <a:solidFill>
                  <a:srgbClr val="1E293B"/>
                </a:solidFill>
                <a:latin typeface="Aptos Display" pitchFamily="34" charset="0"/>
                <a:ea typeface="Aptos Display" pitchFamily="34" charset="-122"/>
                <a:cs typeface="Aptos Display" pitchFamily="34" charset="-120"/>
              </a:rPr>
              <a:t>Data split: training, validation, test</a:t>
            </a:r>
            <a:endParaRPr lang="en-US" sz="2800" dirty="0"/>
          </a:p>
        </p:txBody>
      </p:sp>
      <p:sp>
        <p:nvSpPr>
          <p:cNvPr id="4" name="Text 2"/>
          <p:cNvSpPr/>
          <p:nvPr/>
        </p:nvSpPr>
        <p:spPr>
          <a:xfrm>
            <a:off x="603504" y="758952"/>
            <a:ext cx="10972800" cy="274320"/>
          </a:xfrm>
          <a:prstGeom prst="rect">
            <a:avLst/>
          </a:prstGeom>
          <a:noFill/>
          <a:ln/>
        </p:spPr>
        <p:txBody>
          <a:bodyPr wrap="square" lIns="0" tIns="0" rIns="0" bIns="0" rtlCol="0" anchor="ctr"/>
          <a:lstStyle/>
          <a:p>
            <a:pPr marL="0" indent="0">
              <a:buNone/>
            </a:pPr>
            <a:r>
              <a:rPr lang="en-US" sz="1350" dirty="0">
                <a:solidFill>
                  <a:srgbClr val="64748B"/>
                </a:solidFill>
              </a:rPr>
              <a:t>Each subset has a distinct role in the modelling workflow.</a:t>
            </a:r>
            <a:endParaRPr lang="en-US" sz="1350" dirty="0"/>
          </a:p>
        </p:txBody>
      </p:sp>
      <p:sp>
        <p:nvSpPr>
          <p:cNvPr id="5" name="Shape 3"/>
          <p:cNvSpPr/>
          <p:nvPr/>
        </p:nvSpPr>
        <p:spPr>
          <a:xfrm>
            <a:off x="1874520" y="3017520"/>
            <a:ext cx="457200" cy="0"/>
          </a:xfrm>
          <a:prstGeom prst="line">
            <a:avLst/>
          </a:prstGeom>
          <a:noFill/>
          <a:ln w="19050">
            <a:solidFill>
              <a:srgbClr val="94A3B8"/>
            </a:solidFill>
            <a:prstDash val="solid"/>
            <a:headEnd type="none"/>
            <a:tailEnd type="none"/>
          </a:ln>
        </p:spPr>
        <p:txBody>
          <a:bodyPr/>
          <a:lstStyle/>
          <a:p>
            <a:endParaRPr lang="en-GB"/>
          </a:p>
        </p:txBody>
      </p:sp>
      <p:sp>
        <p:nvSpPr>
          <p:cNvPr id="6" name="Shape 4"/>
          <p:cNvSpPr/>
          <p:nvPr/>
        </p:nvSpPr>
        <p:spPr>
          <a:xfrm>
            <a:off x="2331720" y="1737360"/>
            <a:ext cx="0" cy="2560320"/>
          </a:xfrm>
          <a:prstGeom prst="line">
            <a:avLst/>
          </a:prstGeom>
          <a:noFill/>
          <a:ln w="19050">
            <a:solidFill>
              <a:srgbClr val="94A3B8"/>
            </a:solidFill>
            <a:prstDash val="solid"/>
            <a:headEnd type="none"/>
            <a:tailEnd type="none"/>
          </a:ln>
        </p:spPr>
        <p:txBody>
          <a:bodyPr/>
          <a:lstStyle/>
          <a:p>
            <a:endParaRPr lang="en-GB"/>
          </a:p>
        </p:txBody>
      </p:sp>
      <p:sp>
        <p:nvSpPr>
          <p:cNvPr id="7" name="Shape 5"/>
          <p:cNvSpPr/>
          <p:nvPr/>
        </p:nvSpPr>
        <p:spPr>
          <a:xfrm>
            <a:off x="2331720" y="1737360"/>
            <a:ext cx="640080" cy="0"/>
          </a:xfrm>
          <a:prstGeom prst="line">
            <a:avLst/>
          </a:prstGeom>
          <a:noFill/>
          <a:ln w="19050">
            <a:solidFill>
              <a:srgbClr val="94A3B8"/>
            </a:solidFill>
            <a:prstDash val="solid"/>
            <a:headEnd type="none"/>
            <a:tailEnd type="none"/>
          </a:ln>
        </p:spPr>
        <p:txBody>
          <a:bodyPr/>
          <a:lstStyle/>
          <a:p>
            <a:endParaRPr lang="en-GB"/>
          </a:p>
        </p:txBody>
      </p:sp>
      <p:sp>
        <p:nvSpPr>
          <p:cNvPr id="8" name="Shape 6"/>
          <p:cNvSpPr/>
          <p:nvPr/>
        </p:nvSpPr>
        <p:spPr>
          <a:xfrm>
            <a:off x="2331720" y="3017520"/>
            <a:ext cx="640080" cy="0"/>
          </a:xfrm>
          <a:prstGeom prst="line">
            <a:avLst/>
          </a:prstGeom>
          <a:noFill/>
          <a:ln w="19050">
            <a:solidFill>
              <a:srgbClr val="94A3B8"/>
            </a:solidFill>
            <a:prstDash val="solid"/>
            <a:headEnd type="none"/>
            <a:tailEnd type="none"/>
          </a:ln>
        </p:spPr>
        <p:txBody>
          <a:bodyPr/>
          <a:lstStyle/>
          <a:p>
            <a:endParaRPr lang="en-GB"/>
          </a:p>
        </p:txBody>
      </p:sp>
      <p:sp>
        <p:nvSpPr>
          <p:cNvPr id="9" name="Shape 7"/>
          <p:cNvSpPr/>
          <p:nvPr/>
        </p:nvSpPr>
        <p:spPr>
          <a:xfrm>
            <a:off x="2331720" y="4297680"/>
            <a:ext cx="640080" cy="0"/>
          </a:xfrm>
          <a:prstGeom prst="line">
            <a:avLst/>
          </a:prstGeom>
          <a:noFill/>
          <a:ln w="19050">
            <a:solidFill>
              <a:srgbClr val="94A3B8"/>
            </a:solidFill>
            <a:prstDash val="solid"/>
            <a:headEnd type="none"/>
            <a:tailEnd type="none"/>
          </a:ln>
        </p:spPr>
        <p:txBody>
          <a:bodyPr/>
          <a:lstStyle/>
          <a:p>
            <a:endParaRPr lang="en-GB"/>
          </a:p>
        </p:txBody>
      </p:sp>
      <p:sp>
        <p:nvSpPr>
          <p:cNvPr id="10" name="Shape 8"/>
          <p:cNvSpPr/>
          <p:nvPr/>
        </p:nvSpPr>
        <p:spPr>
          <a:xfrm>
            <a:off x="640080" y="2560320"/>
            <a:ext cx="1234440" cy="914400"/>
          </a:xfrm>
          <a:prstGeom prst="roundRect">
            <a:avLst>
              <a:gd name="adj" fmla="val 8000"/>
            </a:avLst>
          </a:prstGeom>
          <a:solidFill>
            <a:srgbClr val="DBEAFE"/>
          </a:solidFill>
          <a:ln w="15240">
            <a:solidFill>
              <a:srgbClr val="2563EB"/>
            </a:solidFill>
            <a:prstDash val="solid"/>
          </a:ln>
          <a:effectLst>
            <a:outerShdw blurRad="12700" dist="50800" dir="2700000" algn="bl" rotWithShape="0">
              <a:srgbClr val="CBD5E1">
                <a:alpha val="18000"/>
              </a:srgbClr>
            </a:outerShdw>
          </a:effectLst>
        </p:spPr>
        <p:txBody>
          <a:bodyPr/>
          <a:lstStyle/>
          <a:p>
            <a:endParaRPr lang="en-GB"/>
          </a:p>
        </p:txBody>
      </p:sp>
      <p:sp>
        <p:nvSpPr>
          <p:cNvPr id="11" name="Text 9"/>
          <p:cNvSpPr/>
          <p:nvPr/>
        </p:nvSpPr>
        <p:spPr>
          <a:xfrm>
            <a:off x="804672" y="2706624"/>
            <a:ext cx="905256" cy="246888"/>
          </a:xfrm>
          <a:prstGeom prst="rect">
            <a:avLst/>
          </a:prstGeom>
          <a:noFill/>
          <a:ln/>
        </p:spPr>
        <p:txBody>
          <a:bodyPr wrap="square" lIns="0" tIns="0" rIns="0" bIns="0" rtlCol="0" anchor="ctr"/>
          <a:lstStyle/>
          <a:p>
            <a:pPr marL="0" indent="0">
              <a:buNone/>
            </a:pPr>
            <a:r>
              <a:rPr lang="en-US" sz="1650" b="1" dirty="0">
                <a:solidFill>
                  <a:srgbClr val="2563EB"/>
                </a:solidFill>
              </a:rPr>
              <a:t>Data</a:t>
            </a:r>
            <a:endParaRPr lang="en-US" sz="1650" dirty="0"/>
          </a:p>
        </p:txBody>
      </p:sp>
      <p:sp>
        <p:nvSpPr>
          <p:cNvPr id="12" name="Text 10"/>
          <p:cNvSpPr/>
          <p:nvPr/>
        </p:nvSpPr>
        <p:spPr>
          <a:xfrm>
            <a:off x="804672" y="3026664"/>
            <a:ext cx="905256" cy="347472"/>
          </a:xfrm>
          <a:prstGeom prst="rect">
            <a:avLst/>
          </a:prstGeom>
          <a:noFill/>
          <a:ln/>
        </p:spPr>
        <p:txBody>
          <a:bodyPr wrap="square" lIns="254" tIns="254" rIns="254" bIns="254" rtlCol="0" anchor="ctr">
            <a:normAutofit fontScale="70000" lnSpcReduction="20000"/>
          </a:bodyPr>
          <a:lstStyle/>
          <a:p>
            <a:pPr marL="0" indent="0">
              <a:buNone/>
            </a:pPr>
            <a:r>
              <a:rPr lang="en-US" sz="1240" dirty="0">
                <a:solidFill>
                  <a:srgbClr val="1E293B"/>
                </a:solidFill>
              </a:rPr>
              <a:t>available temporal examples</a:t>
            </a:r>
            <a:endParaRPr lang="en-US" sz="1240" dirty="0"/>
          </a:p>
        </p:txBody>
      </p:sp>
      <p:sp>
        <p:nvSpPr>
          <p:cNvPr id="13" name="Shape 11"/>
          <p:cNvSpPr/>
          <p:nvPr/>
        </p:nvSpPr>
        <p:spPr>
          <a:xfrm>
            <a:off x="2971800" y="1143000"/>
            <a:ext cx="2743200" cy="1188720"/>
          </a:xfrm>
          <a:prstGeom prst="roundRect">
            <a:avLst>
              <a:gd name="adj" fmla="val 6154"/>
            </a:avLst>
          </a:prstGeom>
          <a:solidFill>
            <a:srgbClr val="DCFCE7"/>
          </a:solidFill>
          <a:ln w="15240">
            <a:solidFill>
              <a:srgbClr val="16A34A"/>
            </a:solidFill>
            <a:prstDash val="solid"/>
          </a:ln>
          <a:effectLst>
            <a:outerShdw blurRad="12700" dist="50800" dir="2700000" algn="bl" rotWithShape="0">
              <a:srgbClr val="CBD5E1">
                <a:alpha val="18000"/>
              </a:srgbClr>
            </a:outerShdw>
          </a:effectLst>
        </p:spPr>
        <p:txBody>
          <a:bodyPr/>
          <a:lstStyle/>
          <a:p>
            <a:endParaRPr lang="en-GB"/>
          </a:p>
        </p:txBody>
      </p:sp>
      <p:sp>
        <p:nvSpPr>
          <p:cNvPr id="14" name="Text 12"/>
          <p:cNvSpPr/>
          <p:nvPr/>
        </p:nvSpPr>
        <p:spPr>
          <a:xfrm>
            <a:off x="3136392" y="1289304"/>
            <a:ext cx="2414016" cy="246888"/>
          </a:xfrm>
          <a:prstGeom prst="rect">
            <a:avLst/>
          </a:prstGeom>
          <a:noFill/>
          <a:ln/>
        </p:spPr>
        <p:txBody>
          <a:bodyPr wrap="square" lIns="0" tIns="0" rIns="0" bIns="0" rtlCol="0" anchor="ctr"/>
          <a:lstStyle/>
          <a:p>
            <a:pPr marL="0" indent="0">
              <a:buNone/>
            </a:pPr>
            <a:r>
              <a:rPr lang="en-US" sz="1650" b="1" dirty="0">
                <a:solidFill>
                  <a:srgbClr val="16A34A"/>
                </a:solidFill>
              </a:rPr>
              <a:t>Training</a:t>
            </a:r>
            <a:endParaRPr lang="en-US" sz="1650" dirty="0"/>
          </a:p>
        </p:txBody>
      </p:sp>
      <p:sp>
        <p:nvSpPr>
          <p:cNvPr id="15" name="Text 13"/>
          <p:cNvSpPr/>
          <p:nvPr/>
        </p:nvSpPr>
        <p:spPr>
          <a:xfrm>
            <a:off x="3136392" y="1609344"/>
            <a:ext cx="2414016" cy="62179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fit model parameters</a:t>
            </a:r>
            <a:endParaRPr lang="en-US" sz="1240" dirty="0"/>
          </a:p>
        </p:txBody>
      </p:sp>
      <p:sp>
        <p:nvSpPr>
          <p:cNvPr id="16" name="Shape 14"/>
          <p:cNvSpPr/>
          <p:nvPr/>
        </p:nvSpPr>
        <p:spPr>
          <a:xfrm>
            <a:off x="2971800" y="2423160"/>
            <a:ext cx="2743200" cy="1188720"/>
          </a:xfrm>
          <a:prstGeom prst="roundRect">
            <a:avLst>
              <a:gd name="adj" fmla="val 6154"/>
            </a:avLst>
          </a:prstGeom>
          <a:solidFill>
            <a:srgbClr val="FEF3C7"/>
          </a:solidFill>
          <a:ln w="15240">
            <a:solidFill>
              <a:srgbClr val="D97706"/>
            </a:solidFill>
            <a:prstDash val="solid"/>
          </a:ln>
          <a:effectLst>
            <a:outerShdw blurRad="12700" dist="50800" dir="2700000" algn="bl" rotWithShape="0">
              <a:srgbClr val="CBD5E1">
                <a:alpha val="18000"/>
              </a:srgbClr>
            </a:outerShdw>
          </a:effectLst>
        </p:spPr>
        <p:txBody>
          <a:bodyPr/>
          <a:lstStyle/>
          <a:p>
            <a:endParaRPr lang="en-GB"/>
          </a:p>
        </p:txBody>
      </p:sp>
      <p:sp>
        <p:nvSpPr>
          <p:cNvPr id="17" name="Text 15"/>
          <p:cNvSpPr/>
          <p:nvPr/>
        </p:nvSpPr>
        <p:spPr>
          <a:xfrm>
            <a:off x="3136392" y="2569464"/>
            <a:ext cx="2414016" cy="246888"/>
          </a:xfrm>
          <a:prstGeom prst="rect">
            <a:avLst/>
          </a:prstGeom>
          <a:noFill/>
          <a:ln/>
        </p:spPr>
        <p:txBody>
          <a:bodyPr wrap="square" lIns="0" tIns="0" rIns="0" bIns="0" rtlCol="0" anchor="ctr"/>
          <a:lstStyle/>
          <a:p>
            <a:pPr marL="0" indent="0">
              <a:buNone/>
            </a:pPr>
            <a:r>
              <a:rPr lang="en-US" sz="1650" b="1" dirty="0">
                <a:solidFill>
                  <a:srgbClr val="D97706"/>
                </a:solidFill>
              </a:rPr>
              <a:t>Validation</a:t>
            </a:r>
            <a:endParaRPr lang="en-US" sz="1650" dirty="0"/>
          </a:p>
        </p:txBody>
      </p:sp>
      <p:sp>
        <p:nvSpPr>
          <p:cNvPr id="18" name="Text 16"/>
          <p:cNvSpPr/>
          <p:nvPr/>
        </p:nvSpPr>
        <p:spPr>
          <a:xfrm>
            <a:off x="3136392" y="2889504"/>
            <a:ext cx="2414016" cy="62179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choose features, model and hyperparameters</a:t>
            </a:r>
            <a:endParaRPr lang="en-US" sz="1240" dirty="0"/>
          </a:p>
        </p:txBody>
      </p:sp>
      <p:sp>
        <p:nvSpPr>
          <p:cNvPr id="19" name="Shape 17"/>
          <p:cNvSpPr/>
          <p:nvPr/>
        </p:nvSpPr>
        <p:spPr>
          <a:xfrm>
            <a:off x="2971800" y="3703320"/>
            <a:ext cx="2743200" cy="1188720"/>
          </a:xfrm>
          <a:prstGeom prst="roundRect">
            <a:avLst>
              <a:gd name="adj" fmla="val 6154"/>
            </a:avLst>
          </a:prstGeom>
          <a:solidFill>
            <a:srgbClr val="FEE2E2"/>
          </a:solidFill>
          <a:ln w="15240">
            <a:solidFill>
              <a:srgbClr val="DC2626"/>
            </a:solidFill>
            <a:prstDash val="solid"/>
          </a:ln>
          <a:effectLst>
            <a:outerShdw blurRad="12700" dist="50800" dir="2700000" algn="bl" rotWithShape="0">
              <a:srgbClr val="CBD5E1">
                <a:alpha val="18000"/>
              </a:srgbClr>
            </a:outerShdw>
          </a:effectLst>
        </p:spPr>
        <p:txBody>
          <a:bodyPr/>
          <a:lstStyle/>
          <a:p>
            <a:endParaRPr lang="en-GB"/>
          </a:p>
        </p:txBody>
      </p:sp>
      <p:sp>
        <p:nvSpPr>
          <p:cNvPr id="20" name="Text 18"/>
          <p:cNvSpPr/>
          <p:nvPr/>
        </p:nvSpPr>
        <p:spPr>
          <a:xfrm>
            <a:off x="3136392" y="3849624"/>
            <a:ext cx="2414016" cy="246888"/>
          </a:xfrm>
          <a:prstGeom prst="rect">
            <a:avLst/>
          </a:prstGeom>
          <a:noFill/>
          <a:ln/>
        </p:spPr>
        <p:txBody>
          <a:bodyPr wrap="square" lIns="0" tIns="0" rIns="0" bIns="0" rtlCol="0" anchor="ctr"/>
          <a:lstStyle/>
          <a:p>
            <a:pPr marL="0" indent="0">
              <a:buNone/>
            </a:pPr>
            <a:r>
              <a:rPr lang="en-US" sz="1650" b="1" dirty="0">
                <a:solidFill>
                  <a:srgbClr val="DC2626"/>
                </a:solidFill>
              </a:rPr>
              <a:t>Test</a:t>
            </a:r>
            <a:endParaRPr lang="en-US" sz="1650" dirty="0"/>
          </a:p>
        </p:txBody>
      </p:sp>
      <p:sp>
        <p:nvSpPr>
          <p:cNvPr id="21" name="Text 19"/>
          <p:cNvSpPr/>
          <p:nvPr/>
        </p:nvSpPr>
        <p:spPr>
          <a:xfrm>
            <a:off x="3136392" y="4169664"/>
            <a:ext cx="2414016" cy="62179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final independent evaluation</a:t>
            </a:r>
            <a:endParaRPr lang="en-US" sz="1240" dirty="0"/>
          </a:p>
        </p:txBody>
      </p:sp>
      <p:sp>
        <p:nvSpPr>
          <p:cNvPr id="22" name="Shape 20"/>
          <p:cNvSpPr/>
          <p:nvPr/>
        </p:nvSpPr>
        <p:spPr>
          <a:xfrm>
            <a:off x="6629400" y="1234440"/>
            <a:ext cx="4526280" cy="4160520"/>
          </a:xfrm>
          <a:prstGeom prst="roundRect">
            <a:avLst>
              <a:gd name="adj" fmla="val 2198"/>
            </a:avLst>
          </a:prstGeom>
          <a:solidFill>
            <a:srgbClr val="FFFFFF"/>
          </a:solidFill>
          <a:ln w="12700">
            <a:solidFill>
              <a:srgbClr val="E2E8F0"/>
            </a:solidFill>
            <a:prstDash val="solid"/>
          </a:ln>
        </p:spPr>
        <p:txBody>
          <a:bodyPr/>
          <a:lstStyle/>
          <a:p>
            <a:endParaRPr lang="en-GB"/>
          </a:p>
        </p:txBody>
      </p:sp>
      <p:sp>
        <p:nvSpPr>
          <p:cNvPr id="24" name="Text 22"/>
          <p:cNvSpPr/>
          <p:nvPr/>
        </p:nvSpPr>
        <p:spPr>
          <a:xfrm>
            <a:off x="6967728" y="1965960"/>
            <a:ext cx="3840480" cy="1051560"/>
          </a:xfrm>
          <a:prstGeom prst="rect">
            <a:avLst/>
          </a:prstGeom>
          <a:noFill/>
          <a:ln/>
        </p:spPr>
        <p:txBody>
          <a:bodyPr wrap="square" lIns="254" tIns="254" rIns="254" bIns="254" rtlCol="0" anchor="ctr">
            <a:normAutofit/>
          </a:bodyPr>
          <a:lstStyle/>
          <a:p>
            <a:pPr marL="0" indent="0">
              <a:buNone/>
            </a:pPr>
            <a:r>
              <a:rPr lang="en-US" sz="1500" dirty="0">
                <a:solidFill>
                  <a:srgbClr val="1E293B"/>
                </a:solidFill>
              </a:rPr>
              <a:t>The test set is not used to make modelling decisions. It is kept for the final unbiased estimate of performance.</a:t>
            </a:r>
            <a:endParaRPr lang="en-US" sz="1500" dirty="0"/>
          </a:p>
        </p:txBody>
      </p:sp>
      <p:sp>
        <p:nvSpPr>
          <p:cNvPr id="25" name="Text 23"/>
          <p:cNvSpPr/>
          <p:nvPr/>
        </p:nvSpPr>
        <p:spPr>
          <a:xfrm>
            <a:off x="6967728" y="3337560"/>
            <a:ext cx="3840480" cy="1051560"/>
          </a:xfrm>
          <a:prstGeom prst="rect">
            <a:avLst/>
          </a:prstGeom>
          <a:noFill/>
          <a:ln/>
        </p:spPr>
        <p:txBody>
          <a:bodyPr wrap="square" lIns="254" tIns="254" rIns="254" bIns="254" rtlCol="0" anchor="ctr">
            <a:normAutofit/>
          </a:bodyPr>
          <a:lstStyle/>
          <a:p>
            <a:pPr marL="0" indent="0">
              <a:buNone/>
            </a:pPr>
            <a:r>
              <a:rPr lang="en-US" sz="1500" dirty="0">
                <a:solidFill>
                  <a:srgbClr val="64748B"/>
                </a:solidFill>
              </a:rPr>
              <a:t>Training and validation may be repeated during development; testing happens once at the end.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292608"/>
            <a:ext cx="11064240" cy="411480"/>
          </a:xfrm>
          <a:prstGeom prst="rect">
            <a:avLst/>
          </a:prstGeom>
          <a:noFill/>
          <a:ln/>
        </p:spPr>
        <p:txBody>
          <a:bodyPr wrap="square" lIns="0" tIns="0" rIns="0" bIns="0" rtlCol="0" anchor="ctr"/>
          <a:lstStyle/>
          <a:p>
            <a:pPr marL="0" indent="0">
              <a:buNone/>
            </a:pPr>
            <a:r>
              <a:rPr lang="en-US" sz="2800" b="1" dirty="0">
                <a:solidFill>
                  <a:srgbClr val="1E293B"/>
                </a:solidFill>
                <a:latin typeface="Aptos Display" pitchFamily="34" charset="0"/>
                <a:ea typeface="Aptos Display" pitchFamily="34" charset="-122"/>
                <a:cs typeface="Aptos Display" pitchFamily="34" charset="-120"/>
              </a:rPr>
              <a:t>Model selection pipeline</a:t>
            </a:r>
            <a:endParaRPr lang="en-US" sz="2800" dirty="0"/>
          </a:p>
        </p:txBody>
      </p:sp>
      <p:sp>
        <p:nvSpPr>
          <p:cNvPr id="4" name="Text 2"/>
          <p:cNvSpPr/>
          <p:nvPr/>
        </p:nvSpPr>
        <p:spPr>
          <a:xfrm>
            <a:off x="603504" y="758952"/>
            <a:ext cx="10972800" cy="274320"/>
          </a:xfrm>
          <a:prstGeom prst="rect">
            <a:avLst/>
          </a:prstGeom>
          <a:noFill/>
          <a:ln/>
        </p:spPr>
        <p:txBody>
          <a:bodyPr wrap="square" lIns="0" tIns="0" rIns="0" bIns="0" rtlCol="0" anchor="ctr"/>
          <a:lstStyle/>
          <a:p>
            <a:pPr marL="0" indent="0">
              <a:buNone/>
            </a:pPr>
            <a:r>
              <a:rPr lang="en-US" sz="1350" dirty="0">
                <a:solidFill>
                  <a:srgbClr val="64748B"/>
                </a:solidFill>
              </a:rPr>
              <a:t>Validation compares alternatives; the selected model is then evaluated on the test set.</a:t>
            </a:r>
            <a:endParaRPr lang="en-US" sz="1350" dirty="0"/>
          </a:p>
        </p:txBody>
      </p:sp>
      <p:sp>
        <p:nvSpPr>
          <p:cNvPr id="5" name="Shape 3"/>
          <p:cNvSpPr/>
          <p:nvPr/>
        </p:nvSpPr>
        <p:spPr>
          <a:xfrm>
            <a:off x="2395728" y="2720340"/>
            <a:ext cx="301752" cy="0"/>
          </a:xfrm>
          <a:prstGeom prst="line">
            <a:avLst/>
          </a:prstGeom>
          <a:noFill/>
          <a:ln w="20320">
            <a:solidFill>
              <a:srgbClr val="94A3B8"/>
            </a:solidFill>
            <a:prstDash val="solid"/>
            <a:headEnd type="none"/>
            <a:tailEnd type="triangle"/>
          </a:ln>
        </p:spPr>
        <p:txBody>
          <a:bodyPr/>
          <a:lstStyle/>
          <a:p>
            <a:endParaRPr lang="en-GB"/>
          </a:p>
        </p:txBody>
      </p:sp>
      <p:sp>
        <p:nvSpPr>
          <p:cNvPr id="6" name="Shape 4"/>
          <p:cNvSpPr/>
          <p:nvPr/>
        </p:nvSpPr>
        <p:spPr>
          <a:xfrm>
            <a:off x="4599432" y="2720340"/>
            <a:ext cx="301752" cy="0"/>
          </a:xfrm>
          <a:prstGeom prst="line">
            <a:avLst/>
          </a:prstGeom>
          <a:noFill/>
          <a:ln w="20320">
            <a:solidFill>
              <a:srgbClr val="94A3B8"/>
            </a:solidFill>
            <a:prstDash val="solid"/>
            <a:headEnd type="none"/>
            <a:tailEnd type="triangle"/>
          </a:ln>
        </p:spPr>
        <p:txBody>
          <a:bodyPr/>
          <a:lstStyle/>
          <a:p>
            <a:endParaRPr lang="en-GB"/>
          </a:p>
        </p:txBody>
      </p:sp>
      <p:sp>
        <p:nvSpPr>
          <p:cNvPr id="7" name="Shape 5"/>
          <p:cNvSpPr/>
          <p:nvPr/>
        </p:nvSpPr>
        <p:spPr>
          <a:xfrm>
            <a:off x="6803136" y="2720340"/>
            <a:ext cx="301752" cy="0"/>
          </a:xfrm>
          <a:prstGeom prst="line">
            <a:avLst/>
          </a:prstGeom>
          <a:noFill/>
          <a:ln w="20320">
            <a:solidFill>
              <a:srgbClr val="94A3B8"/>
            </a:solidFill>
            <a:prstDash val="solid"/>
            <a:headEnd type="none"/>
            <a:tailEnd type="triangle"/>
          </a:ln>
        </p:spPr>
        <p:txBody>
          <a:bodyPr/>
          <a:lstStyle/>
          <a:p>
            <a:endParaRPr lang="en-GB"/>
          </a:p>
        </p:txBody>
      </p:sp>
      <p:sp>
        <p:nvSpPr>
          <p:cNvPr id="8" name="Shape 6"/>
          <p:cNvSpPr/>
          <p:nvPr/>
        </p:nvSpPr>
        <p:spPr>
          <a:xfrm>
            <a:off x="9006840" y="2720340"/>
            <a:ext cx="301752" cy="0"/>
          </a:xfrm>
          <a:prstGeom prst="line">
            <a:avLst/>
          </a:prstGeom>
          <a:noFill/>
          <a:ln w="20320">
            <a:solidFill>
              <a:srgbClr val="94A3B8"/>
            </a:solidFill>
            <a:prstDash val="solid"/>
            <a:headEnd type="none"/>
            <a:tailEnd type="triangle"/>
          </a:ln>
        </p:spPr>
        <p:txBody>
          <a:bodyPr/>
          <a:lstStyle/>
          <a:p>
            <a:endParaRPr lang="en-GB"/>
          </a:p>
        </p:txBody>
      </p:sp>
      <p:sp>
        <p:nvSpPr>
          <p:cNvPr id="9" name="Shape 7"/>
          <p:cNvSpPr/>
          <p:nvPr/>
        </p:nvSpPr>
        <p:spPr>
          <a:xfrm>
            <a:off x="2761488" y="2100306"/>
            <a:ext cx="1783080" cy="1143000"/>
          </a:xfrm>
          <a:prstGeom prst="roundRect">
            <a:avLst>
              <a:gd name="adj" fmla="val 6400"/>
            </a:avLst>
          </a:prstGeom>
          <a:solidFill>
            <a:srgbClr val="DCFCE7"/>
          </a:solidFill>
          <a:ln w="15240">
            <a:solidFill>
              <a:srgbClr val="16A34A"/>
            </a:solidFill>
            <a:prstDash val="solid"/>
          </a:ln>
          <a:effectLst>
            <a:outerShdw blurRad="12700" dist="50800" dir="2700000" algn="bl" rotWithShape="0">
              <a:srgbClr val="CBD5E1">
                <a:alpha val="18000"/>
              </a:srgbClr>
            </a:outerShdw>
          </a:effectLst>
        </p:spPr>
        <p:txBody>
          <a:bodyPr/>
          <a:lstStyle/>
          <a:p>
            <a:endParaRPr lang="en-GB"/>
          </a:p>
        </p:txBody>
      </p:sp>
      <p:sp>
        <p:nvSpPr>
          <p:cNvPr id="10" name="Text 8"/>
          <p:cNvSpPr/>
          <p:nvPr/>
        </p:nvSpPr>
        <p:spPr>
          <a:xfrm>
            <a:off x="2926080" y="2246610"/>
            <a:ext cx="1453896" cy="246888"/>
          </a:xfrm>
          <a:prstGeom prst="rect">
            <a:avLst/>
          </a:prstGeom>
          <a:noFill/>
          <a:ln/>
        </p:spPr>
        <p:txBody>
          <a:bodyPr wrap="square" lIns="0" tIns="0" rIns="0" bIns="0" rtlCol="0" anchor="ctr"/>
          <a:lstStyle/>
          <a:p>
            <a:pPr marL="0" indent="0">
              <a:buNone/>
            </a:pPr>
            <a:r>
              <a:rPr lang="en-US" sz="1650" b="1" dirty="0">
                <a:solidFill>
                  <a:srgbClr val="16A34A"/>
                </a:solidFill>
              </a:rPr>
              <a:t>Training</a:t>
            </a:r>
            <a:endParaRPr lang="en-US" sz="1650" dirty="0"/>
          </a:p>
        </p:txBody>
      </p:sp>
      <p:sp>
        <p:nvSpPr>
          <p:cNvPr id="11" name="Text 9"/>
          <p:cNvSpPr/>
          <p:nvPr/>
        </p:nvSpPr>
        <p:spPr>
          <a:xfrm>
            <a:off x="2926080" y="2566650"/>
            <a:ext cx="1453896" cy="57607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fit each candidate</a:t>
            </a:r>
            <a:endParaRPr lang="en-US" sz="1240" dirty="0"/>
          </a:p>
        </p:txBody>
      </p:sp>
      <p:sp>
        <p:nvSpPr>
          <p:cNvPr id="12" name="Shape 10"/>
          <p:cNvSpPr/>
          <p:nvPr/>
        </p:nvSpPr>
        <p:spPr>
          <a:xfrm>
            <a:off x="448056" y="2078501"/>
            <a:ext cx="1783080" cy="1143000"/>
          </a:xfrm>
          <a:prstGeom prst="roundRect">
            <a:avLst>
              <a:gd name="adj" fmla="val 6400"/>
            </a:avLst>
          </a:prstGeom>
          <a:solidFill>
            <a:srgbClr val="DBEAFE"/>
          </a:solidFill>
          <a:ln w="15240">
            <a:solidFill>
              <a:srgbClr val="2563EB"/>
            </a:solidFill>
            <a:prstDash val="solid"/>
          </a:ln>
          <a:effectLst>
            <a:outerShdw blurRad="12700" dist="50800" dir="2700000" algn="bl" rotWithShape="0">
              <a:srgbClr val="CBD5E1">
                <a:alpha val="18000"/>
              </a:srgbClr>
            </a:outerShdw>
          </a:effectLst>
        </p:spPr>
        <p:txBody>
          <a:bodyPr/>
          <a:lstStyle/>
          <a:p>
            <a:endParaRPr lang="en-GB"/>
          </a:p>
        </p:txBody>
      </p:sp>
      <p:sp>
        <p:nvSpPr>
          <p:cNvPr id="13" name="Text 11"/>
          <p:cNvSpPr/>
          <p:nvPr/>
        </p:nvSpPr>
        <p:spPr>
          <a:xfrm>
            <a:off x="612648" y="2224805"/>
            <a:ext cx="1453896" cy="246888"/>
          </a:xfrm>
          <a:prstGeom prst="rect">
            <a:avLst/>
          </a:prstGeom>
          <a:noFill/>
          <a:ln/>
        </p:spPr>
        <p:txBody>
          <a:bodyPr wrap="square" lIns="0" tIns="0" rIns="0" bIns="0" rtlCol="0" anchor="ctr"/>
          <a:lstStyle/>
          <a:p>
            <a:pPr marL="0" indent="0">
              <a:buNone/>
            </a:pPr>
            <a:r>
              <a:rPr lang="en-US" sz="1650" b="1" dirty="0">
                <a:solidFill>
                  <a:srgbClr val="2563EB"/>
                </a:solidFill>
              </a:rPr>
              <a:t>Candidate</a:t>
            </a:r>
            <a:endParaRPr lang="en-US" sz="1650" dirty="0"/>
          </a:p>
          <a:p>
            <a:pPr marL="0" indent="0">
              <a:buNone/>
            </a:pPr>
            <a:r>
              <a:rPr lang="en-US" sz="1650" b="1" dirty="0">
                <a:solidFill>
                  <a:srgbClr val="2563EB"/>
                </a:solidFill>
              </a:rPr>
              <a:t>model</a:t>
            </a:r>
            <a:endParaRPr lang="en-US" sz="1650" dirty="0"/>
          </a:p>
        </p:txBody>
      </p:sp>
      <p:sp>
        <p:nvSpPr>
          <p:cNvPr id="14" name="Text 12"/>
          <p:cNvSpPr/>
          <p:nvPr/>
        </p:nvSpPr>
        <p:spPr>
          <a:xfrm>
            <a:off x="612648" y="2544845"/>
            <a:ext cx="1453896" cy="57607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alternative choices</a:t>
            </a:r>
            <a:endParaRPr lang="en-US" sz="1240" dirty="0"/>
          </a:p>
        </p:txBody>
      </p:sp>
      <p:sp>
        <p:nvSpPr>
          <p:cNvPr id="15" name="Shape 13"/>
          <p:cNvSpPr/>
          <p:nvPr/>
        </p:nvSpPr>
        <p:spPr>
          <a:xfrm>
            <a:off x="4974336" y="2148840"/>
            <a:ext cx="1783080" cy="1143000"/>
          </a:xfrm>
          <a:prstGeom prst="roundRect">
            <a:avLst>
              <a:gd name="adj" fmla="val 6400"/>
            </a:avLst>
          </a:prstGeom>
          <a:solidFill>
            <a:srgbClr val="FEF3C7"/>
          </a:solidFill>
          <a:ln w="15240">
            <a:solidFill>
              <a:srgbClr val="D97706"/>
            </a:solidFill>
            <a:prstDash val="solid"/>
          </a:ln>
          <a:effectLst>
            <a:outerShdw blurRad="12700" dist="50800" dir="2700000" algn="bl" rotWithShape="0">
              <a:srgbClr val="CBD5E1">
                <a:alpha val="18000"/>
              </a:srgbClr>
            </a:outerShdw>
          </a:effectLst>
        </p:spPr>
        <p:txBody>
          <a:bodyPr/>
          <a:lstStyle/>
          <a:p>
            <a:endParaRPr lang="en-GB"/>
          </a:p>
        </p:txBody>
      </p:sp>
      <p:sp>
        <p:nvSpPr>
          <p:cNvPr id="16" name="Text 14"/>
          <p:cNvSpPr/>
          <p:nvPr/>
        </p:nvSpPr>
        <p:spPr>
          <a:xfrm>
            <a:off x="5138928" y="2295144"/>
            <a:ext cx="1453896" cy="246888"/>
          </a:xfrm>
          <a:prstGeom prst="rect">
            <a:avLst/>
          </a:prstGeom>
          <a:noFill/>
          <a:ln/>
        </p:spPr>
        <p:txBody>
          <a:bodyPr wrap="square" lIns="0" tIns="0" rIns="0" bIns="0" rtlCol="0" anchor="ctr"/>
          <a:lstStyle/>
          <a:p>
            <a:pPr marL="0" indent="0">
              <a:buNone/>
            </a:pPr>
            <a:r>
              <a:rPr lang="en-US" sz="1650" b="1" dirty="0">
                <a:solidFill>
                  <a:srgbClr val="D97706"/>
                </a:solidFill>
              </a:rPr>
              <a:t>Validation</a:t>
            </a:r>
            <a:endParaRPr lang="en-US" sz="1650" dirty="0"/>
          </a:p>
          <a:p>
            <a:pPr marL="0" indent="0">
              <a:buNone/>
            </a:pPr>
            <a:r>
              <a:rPr lang="en-US" sz="1650" b="1" dirty="0">
                <a:solidFill>
                  <a:srgbClr val="D97706"/>
                </a:solidFill>
              </a:rPr>
              <a:t>comparison</a:t>
            </a:r>
            <a:endParaRPr lang="en-US" sz="1650" dirty="0"/>
          </a:p>
        </p:txBody>
      </p:sp>
      <p:sp>
        <p:nvSpPr>
          <p:cNvPr id="17" name="Text 15"/>
          <p:cNvSpPr/>
          <p:nvPr/>
        </p:nvSpPr>
        <p:spPr>
          <a:xfrm>
            <a:off x="5138928" y="2615184"/>
            <a:ext cx="1453896" cy="57607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rank by validation score</a:t>
            </a:r>
            <a:endParaRPr lang="en-US" sz="1240" dirty="0"/>
          </a:p>
        </p:txBody>
      </p:sp>
      <p:sp>
        <p:nvSpPr>
          <p:cNvPr id="18" name="Shape 16"/>
          <p:cNvSpPr/>
          <p:nvPr/>
        </p:nvSpPr>
        <p:spPr>
          <a:xfrm>
            <a:off x="7178040" y="2148840"/>
            <a:ext cx="1783080" cy="1143000"/>
          </a:xfrm>
          <a:prstGeom prst="roundRect">
            <a:avLst>
              <a:gd name="adj" fmla="val 6400"/>
            </a:avLst>
          </a:prstGeom>
          <a:solidFill>
            <a:srgbClr val="EDE9FE"/>
          </a:solidFill>
          <a:ln w="15240">
            <a:solidFill>
              <a:srgbClr val="7C3AED"/>
            </a:solidFill>
            <a:prstDash val="solid"/>
          </a:ln>
          <a:effectLst>
            <a:outerShdw blurRad="12700" dist="50800" dir="2700000" algn="bl" rotWithShape="0">
              <a:srgbClr val="CBD5E1">
                <a:alpha val="18000"/>
              </a:srgbClr>
            </a:outerShdw>
          </a:effectLst>
        </p:spPr>
        <p:txBody>
          <a:bodyPr/>
          <a:lstStyle/>
          <a:p>
            <a:endParaRPr lang="en-GB"/>
          </a:p>
        </p:txBody>
      </p:sp>
      <p:sp>
        <p:nvSpPr>
          <p:cNvPr id="19" name="Text 17"/>
          <p:cNvSpPr/>
          <p:nvPr/>
        </p:nvSpPr>
        <p:spPr>
          <a:xfrm>
            <a:off x="7342632" y="2295144"/>
            <a:ext cx="1453896" cy="246888"/>
          </a:xfrm>
          <a:prstGeom prst="rect">
            <a:avLst/>
          </a:prstGeom>
          <a:noFill/>
          <a:ln/>
        </p:spPr>
        <p:txBody>
          <a:bodyPr wrap="square" lIns="0" tIns="0" rIns="0" bIns="0" rtlCol="0" anchor="ctr"/>
          <a:lstStyle/>
          <a:p>
            <a:pPr marL="0" indent="0">
              <a:buNone/>
            </a:pPr>
            <a:r>
              <a:rPr lang="en-US" sz="1650" b="1" dirty="0">
                <a:solidFill>
                  <a:srgbClr val="7C3AED"/>
                </a:solidFill>
              </a:rPr>
              <a:t>Selected</a:t>
            </a:r>
            <a:endParaRPr lang="en-US" sz="1650" dirty="0"/>
          </a:p>
          <a:p>
            <a:pPr marL="0" indent="0">
              <a:buNone/>
            </a:pPr>
            <a:r>
              <a:rPr lang="en-US" sz="1650" b="1" dirty="0">
                <a:solidFill>
                  <a:srgbClr val="7C3AED"/>
                </a:solidFill>
              </a:rPr>
              <a:t>model</a:t>
            </a:r>
            <a:endParaRPr lang="en-US" sz="1650" dirty="0"/>
          </a:p>
        </p:txBody>
      </p:sp>
      <p:sp>
        <p:nvSpPr>
          <p:cNvPr id="20" name="Text 18"/>
          <p:cNvSpPr/>
          <p:nvPr/>
        </p:nvSpPr>
        <p:spPr>
          <a:xfrm>
            <a:off x="7342632" y="2615184"/>
            <a:ext cx="1453896" cy="57607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single final choice</a:t>
            </a:r>
            <a:endParaRPr lang="en-US" sz="1240" dirty="0"/>
          </a:p>
        </p:txBody>
      </p:sp>
      <p:sp>
        <p:nvSpPr>
          <p:cNvPr id="21" name="Shape 19"/>
          <p:cNvSpPr/>
          <p:nvPr/>
        </p:nvSpPr>
        <p:spPr>
          <a:xfrm>
            <a:off x="9381744" y="2148840"/>
            <a:ext cx="1783080" cy="1143000"/>
          </a:xfrm>
          <a:prstGeom prst="roundRect">
            <a:avLst>
              <a:gd name="adj" fmla="val 6400"/>
            </a:avLst>
          </a:prstGeom>
          <a:solidFill>
            <a:srgbClr val="FEE2E2"/>
          </a:solidFill>
          <a:ln w="15240">
            <a:solidFill>
              <a:srgbClr val="DC2626"/>
            </a:solidFill>
            <a:prstDash val="solid"/>
          </a:ln>
          <a:effectLst>
            <a:outerShdw blurRad="12700" dist="50800" dir="2700000" algn="bl" rotWithShape="0">
              <a:srgbClr val="CBD5E1">
                <a:alpha val="18000"/>
              </a:srgbClr>
            </a:outerShdw>
          </a:effectLst>
        </p:spPr>
        <p:txBody>
          <a:bodyPr/>
          <a:lstStyle/>
          <a:p>
            <a:endParaRPr lang="en-GB"/>
          </a:p>
        </p:txBody>
      </p:sp>
      <p:sp>
        <p:nvSpPr>
          <p:cNvPr id="22" name="Text 20"/>
          <p:cNvSpPr/>
          <p:nvPr/>
        </p:nvSpPr>
        <p:spPr>
          <a:xfrm>
            <a:off x="9546336" y="2295144"/>
            <a:ext cx="1453896" cy="246888"/>
          </a:xfrm>
          <a:prstGeom prst="rect">
            <a:avLst/>
          </a:prstGeom>
          <a:noFill/>
          <a:ln/>
        </p:spPr>
        <p:txBody>
          <a:bodyPr wrap="square" lIns="0" tIns="0" rIns="0" bIns="0" rtlCol="0" anchor="ctr"/>
          <a:lstStyle/>
          <a:p>
            <a:pPr marL="0" indent="0">
              <a:buNone/>
            </a:pPr>
            <a:r>
              <a:rPr lang="en-US" sz="1650" b="1" dirty="0">
                <a:solidFill>
                  <a:srgbClr val="DC2626"/>
                </a:solidFill>
              </a:rPr>
              <a:t>Test</a:t>
            </a:r>
            <a:endParaRPr lang="en-US" sz="1650" dirty="0"/>
          </a:p>
        </p:txBody>
      </p:sp>
      <p:sp>
        <p:nvSpPr>
          <p:cNvPr id="23" name="Text 21"/>
          <p:cNvSpPr/>
          <p:nvPr/>
        </p:nvSpPr>
        <p:spPr>
          <a:xfrm>
            <a:off x="9546336" y="2615184"/>
            <a:ext cx="1453896" cy="576072"/>
          </a:xfrm>
          <a:prstGeom prst="rect">
            <a:avLst/>
          </a:prstGeom>
          <a:noFill/>
          <a:ln/>
        </p:spPr>
        <p:txBody>
          <a:bodyPr wrap="square" lIns="254" tIns="254" rIns="254" bIns="254" rtlCol="0" anchor="ctr">
            <a:normAutofit/>
          </a:bodyPr>
          <a:lstStyle/>
          <a:p>
            <a:pPr marL="0" indent="0">
              <a:buNone/>
            </a:pPr>
            <a:r>
              <a:rPr lang="en-US" sz="1240" dirty="0">
                <a:solidFill>
                  <a:srgbClr val="1E293B"/>
                </a:solidFill>
              </a:rPr>
              <a:t>independent evaluation</a:t>
            </a:r>
            <a:endParaRPr lang="en-US" sz="1240" dirty="0"/>
          </a:p>
        </p:txBody>
      </p:sp>
      <p:sp>
        <p:nvSpPr>
          <p:cNvPr id="24" name="Shape 22"/>
          <p:cNvSpPr/>
          <p:nvPr/>
        </p:nvSpPr>
        <p:spPr>
          <a:xfrm>
            <a:off x="566928" y="3977640"/>
            <a:ext cx="8394192" cy="0"/>
          </a:xfrm>
          <a:prstGeom prst="line">
            <a:avLst/>
          </a:prstGeom>
          <a:noFill/>
          <a:ln w="13970">
            <a:solidFill>
              <a:srgbClr val="94A3B8"/>
            </a:solidFill>
            <a:prstDash val="solid"/>
          </a:ln>
        </p:spPr>
        <p:txBody>
          <a:bodyPr/>
          <a:lstStyle/>
          <a:p>
            <a:endParaRPr lang="en-GB"/>
          </a:p>
        </p:txBody>
      </p:sp>
      <p:sp>
        <p:nvSpPr>
          <p:cNvPr id="25" name="Text 23"/>
          <p:cNvSpPr/>
          <p:nvPr/>
        </p:nvSpPr>
        <p:spPr>
          <a:xfrm>
            <a:off x="2304288" y="4114800"/>
            <a:ext cx="3474720" cy="292608"/>
          </a:xfrm>
          <a:prstGeom prst="rect">
            <a:avLst/>
          </a:prstGeom>
          <a:noFill/>
          <a:ln/>
        </p:spPr>
        <p:txBody>
          <a:bodyPr wrap="square" lIns="0" tIns="0" rIns="0" bIns="0" rtlCol="0" anchor="ctr"/>
          <a:lstStyle/>
          <a:p>
            <a:pPr marL="0" indent="0" algn="ctr">
              <a:buNone/>
            </a:pPr>
            <a:r>
              <a:rPr lang="en-US" sz="1300" dirty="0">
                <a:solidFill>
                  <a:srgbClr val="64748B"/>
                </a:solidFill>
              </a:rPr>
              <a:t>development</a:t>
            </a:r>
            <a:endParaRPr lang="en-US" sz="1300" dirty="0"/>
          </a:p>
        </p:txBody>
      </p:sp>
      <p:sp>
        <p:nvSpPr>
          <p:cNvPr id="26" name="Shape 24"/>
          <p:cNvSpPr/>
          <p:nvPr/>
        </p:nvSpPr>
        <p:spPr>
          <a:xfrm>
            <a:off x="9381744" y="3977640"/>
            <a:ext cx="1783080" cy="0"/>
          </a:xfrm>
          <a:prstGeom prst="line">
            <a:avLst/>
          </a:prstGeom>
          <a:noFill/>
          <a:ln w="15240">
            <a:solidFill>
              <a:srgbClr val="DC2626"/>
            </a:solidFill>
            <a:prstDash val="solid"/>
          </a:ln>
        </p:spPr>
        <p:txBody>
          <a:bodyPr/>
          <a:lstStyle/>
          <a:p>
            <a:endParaRPr lang="en-GB"/>
          </a:p>
        </p:txBody>
      </p:sp>
      <p:sp>
        <p:nvSpPr>
          <p:cNvPr id="27" name="Text 25"/>
          <p:cNvSpPr/>
          <p:nvPr/>
        </p:nvSpPr>
        <p:spPr>
          <a:xfrm>
            <a:off x="9290304" y="4114800"/>
            <a:ext cx="1965960" cy="292608"/>
          </a:xfrm>
          <a:prstGeom prst="rect">
            <a:avLst/>
          </a:prstGeom>
          <a:noFill/>
          <a:ln/>
        </p:spPr>
        <p:txBody>
          <a:bodyPr wrap="square" lIns="0" tIns="0" rIns="0" bIns="0" rtlCol="0" anchor="ctr"/>
          <a:lstStyle/>
          <a:p>
            <a:pPr marL="0" indent="0" algn="ctr">
              <a:buNone/>
            </a:pPr>
            <a:r>
              <a:rPr lang="en-US" sz="1300" b="1" dirty="0">
                <a:solidFill>
                  <a:srgbClr val="DC2626"/>
                </a:solidFill>
              </a:rPr>
              <a:t>final report</a:t>
            </a:r>
            <a:endParaRPr lang="en-US" sz="1300" dirty="0"/>
          </a:p>
        </p:txBody>
      </p:sp>
      <p:sp>
        <p:nvSpPr>
          <p:cNvPr id="28" name="Text 26"/>
          <p:cNvSpPr/>
          <p:nvPr/>
        </p:nvSpPr>
        <p:spPr>
          <a:xfrm>
            <a:off x="1691640" y="5074920"/>
            <a:ext cx="8823960" cy="502920"/>
          </a:xfrm>
          <a:prstGeom prst="rect">
            <a:avLst/>
          </a:prstGeom>
          <a:noFill/>
          <a:ln/>
        </p:spPr>
        <p:txBody>
          <a:bodyPr wrap="square" lIns="0" tIns="0" rIns="0" bIns="0" rtlCol="0" anchor="ctr"/>
          <a:lstStyle/>
          <a:p>
            <a:pPr marL="0" indent="0" algn="ctr">
              <a:buNone/>
            </a:pPr>
            <a:r>
              <a:rPr lang="en-US" sz="1900" b="1" dirty="0">
                <a:solidFill>
                  <a:srgbClr val="1E293B"/>
                </a:solidFill>
              </a:rPr>
              <a:t>Do not use test performance to choose among candidate models.</a:t>
            </a:r>
            <a:endParaRPr lang="en-US" sz="1900" dirty="0"/>
          </a:p>
        </p:txBody>
      </p:sp>
      <p:sp>
        <p:nvSpPr>
          <p:cNvPr id="29" name="Freccia circolare in su 28">
            <a:extLst>
              <a:ext uri="{FF2B5EF4-FFF2-40B4-BE49-F238E27FC236}">
                <a16:creationId xmlns:a16="http://schemas.microsoft.com/office/drawing/2014/main" id="{583347CD-281E-EA3C-ACED-BAF9C22F84D7}"/>
              </a:ext>
            </a:extLst>
          </p:cNvPr>
          <p:cNvSpPr/>
          <p:nvPr/>
        </p:nvSpPr>
        <p:spPr>
          <a:xfrm rot="10800000" flipV="1">
            <a:off x="1320929" y="3603440"/>
            <a:ext cx="5405271" cy="1251319"/>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A0ED471-4F86-5128-A468-AF9C0A300FDE}"/>
              </a:ext>
            </a:extLst>
          </p:cNvPr>
          <p:cNvSpPr>
            <a:spLocks noGrp="1"/>
          </p:cNvSpPr>
          <p:nvPr>
            <p:ph type="title"/>
          </p:nvPr>
        </p:nvSpPr>
        <p:spPr/>
        <p:txBody>
          <a:bodyPr/>
          <a:lstStyle/>
          <a:p>
            <a:r>
              <a:rPr lang="en-GB" dirty="0"/>
              <a:t>Generalization has multiple dimensions</a:t>
            </a:r>
          </a:p>
        </p:txBody>
      </p:sp>
      <p:sp>
        <p:nvSpPr>
          <p:cNvPr id="3" name="Segnaposto contenuto 2">
            <a:extLst>
              <a:ext uri="{FF2B5EF4-FFF2-40B4-BE49-F238E27FC236}">
                <a16:creationId xmlns:a16="http://schemas.microsoft.com/office/drawing/2014/main" id="{ED81D24B-6433-980A-3F9C-64081A191522}"/>
              </a:ext>
            </a:extLst>
          </p:cNvPr>
          <p:cNvSpPr>
            <a:spLocks noGrp="1"/>
          </p:cNvSpPr>
          <p:nvPr>
            <p:ph idx="1"/>
          </p:nvPr>
        </p:nvSpPr>
        <p:spPr/>
        <p:txBody>
          <a:bodyPr>
            <a:normAutofit fontScale="77500" lnSpcReduction="20000"/>
          </a:bodyPr>
          <a:lstStyle/>
          <a:p>
            <a:r>
              <a:rPr lang="en-GB" b="1" dirty="0"/>
              <a:t>Temporal generalization </a:t>
            </a:r>
            <a:r>
              <a:rPr lang="en-GB" dirty="0"/>
              <a:t>The model is applied to later observations from the same process.</a:t>
            </a:r>
          </a:p>
          <a:p>
            <a:pPr lvl="1"/>
            <a:r>
              <a:rPr lang="en-GB" dirty="0"/>
              <a:t>next month’s demand;</a:t>
            </a:r>
          </a:p>
          <a:p>
            <a:pPr lvl="1"/>
            <a:r>
              <a:rPr lang="en-GB" dirty="0"/>
              <a:t>future operation of the same machine;</a:t>
            </a:r>
          </a:p>
          <a:p>
            <a:pPr lvl="1"/>
            <a:r>
              <a:rPr lang="en-GB" dirty="0"/>
              <a:t>later sessions from the same customers.</a:t>
            </a:r>
          </a:p>
          <a:p>
            <a:r>
              <a:rPr lang="en-GB" b="1" dirty="0"/>
              <a:t>Sequence generalization </a:t>
            </a:r>
            <a:r>
              <a:rPr lang="en-GB" dirty="0"/>
              <a:t>The model is applied to new sequences from entities already observed during training.</a:t>
            </a:r>
          </a:p>
          <a:p>
            <a:pPr lvl="1"/>
            <a:r>
              <a:rPr lang="en-GB" dirty="0"/>
              <a:t>a new production cycle from a known machine;</a:t>
            </a:r>
          </a:p>
          <a:p>
            <a:pPr lvl="1"/>
            <a:r>
              <a:rPr lang="en-GB" dirty="0"/>
              <a:t>a new trip from a known vehicle;</a:t>
            </a:r>
          </a:p>
          <a:p>
            <a:pPr lvl="1"/>
            <a:r>
              <a:rPr lang="en-GB" dirty="0"/>
              <a:t>a new session from a known customer.</a:t>
            </a:r>
          </a:p>
          <a:p>
            <a:r>
              <a:rPr lang="en-GB" b="1" dirty="0"/>
              <a:t>Entity generalization </a:t>
            </a:r>
            <a:r>
              <a:rPr lang="en-GB" dirty="0"/>
              <a:t>The model is applied to entities that were completely absent from training.</a:t>
            </a:r>
          </a:p>
          <a:p>
            <a:pPr lvl="1"/>
            <a:r>
              <a:rPr lang="en-GB" dirty="0"/>
              <a:t>a new machine;</a:t>
            </a:r>
          </a:p>
          <a:p>
            <a:pPr lvl="1"/>
            <a:r>
              <a:rPr lang="en-GB" dirty="0"/>
              <a:t>a new customer;</a:t>
            </a:r>
          </a:p>
          <a:p>
            <a:pPr lvl="1"/>
            <a:r>
              <a:rPr lang="en-GB" dirty="0"/>
              <a:t>a new patient;</a:t>
            </a:r>
          </a:p>
          <a:p>
            <a:pPr lvl="1"/>
            <a:r>
              <a:rPr lang="en-GB" dirty="0"/>
              <a:t>a new product.</a:t>
            </a:r>
          </a:p>
          <a:p>
            <a:endParaRPr lang="en-GB" dirty="0"/>
          </a:p>
        </p:txBody>
      </p:sp>
      <p:sp>
        <p:nvSpPr>
          <p:cNvPr id="5" name="CasellaDiTesto 4">
            <a:extLst>
              <a:ext uri="{FF2B5EF4-FFF2-40B4-BE49-F238E27FC236}">
                <a16:creationId xmlns:a16="http://schemas.microsoft.com/office/drawing/2014/main" id="{B3590F3F-3D76-986E-1D3C-E6D9B2171227}"/>
              </a:ext>
            </a:extLst>
          </p:cNvPr>
          <p:cNvSpPr txBox="1"/>
          <p:nvPr/>
        </p:nvSpPr>
        <p:spPr>
          <a:xfrm>
            <a:off x="2207870" y="1376013"/>
            <a:ext cx="8197769" cy="369332"/>
          </a:xfrm>
          <a:prstGeom prst="rect">
            <a:avLst/>
          </a:prstGeom>
          <a:noFill/>
        </p:spPr>
        <p:txBody>
          <a:bodyPr wrap="square">
            <a:spAutoFit/>
          </a:bodyPr>
          <a:lstStyle/>
          <a:p>
            <a:r>
              <a:rPr lang="en-GB" sz="1800" b="1" dirty="0"/>
              <a:t>A model may be required to perform well under different forms of novelty</a:t>
            </a:r>
          </a:p>
        </p:txBody>
      </p:sp>
    </p:spTree>
    <p:extLst>
      <p:ext uri="{BB962C8B-B14F-4D97-AF65-F5344CB8AC3E}">
        <p14:creationId xmlns:p14="http://schemas.microsoft.com/office/powerpoint/2010/main" val="215129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8F8472-C187-245C-4398-F14703226910}"/>
              </a:ext>
            </a:extLst>
          </p:cNvPr>
          <p:cNvSpPr>
            <a:spLocks noGrp="1"/>
          </p:cNvSpPr>
          <p:nvPr>
            <p:ph type="title"/>
          </p:nvPr>
        </p:nvSpPr>
        <p:spPr/>
        <p:txBody>
          <a:bodyPr/>
          <a:lstStyle/>
          <a:p>
            <a:r>
              <a:rPr lang="en-GB" dirty="0">
                <a:highlight>
                  <a:srgbClr val="FFFF00"/>
                </a:highlight>
              </a:rPr>
              <a:t>Generalization has multiple dimensions</a:t>
            </a:r>
          </a:p>
        </p:txBody>
      </p:sp>
      <p:sp>
        <p:nvSpPr>
          <p:cNvPr id="3" name="Segnaposto contenuto 2">
            <a:extLst>
              <a:ext uri="{FF2B5EF4-FFF2-40B4-BE49-F238E27FC236}">
                <a16:creationId xmlns:a16="http://schemas.microsoft.com/office/drawing/2014/main" id="{0F35C4DB-5051-E8C5-6FFB-4184793698B1}"/>
              </a:ext>
            </a:extLst>
          </p:cNvPr>
          <p:cNvSpPr>
            <a:spLocks noGrp="1"/>
          </p:cNvSpPr>
          <p:nvPr>
            <p:ph idx="1"/>
          </p:nvPr>
        </p:nvSpPr>
        <p:spPr/>
        <p:txBody>
          <a:bodyPr>
            <a:normAutofit fontScale="92500" lnSpcReduction="10000"/>
          </a:bodyPr>
          <a:lstStyle/>
          <a:p>
            <a:r>
              <a:rPr lang="en-GB" b="1" dirty="0"/>
              <a:t>Environmental generalization </a:t>
            </a:r>
            <a:r>
              <a:rPr lang="en-GB" dirty="0"/>
              <a:t>The model is applied in a new acquisition or operating environment.</a:t>
            </a:r>
          </a:p>
          <a:p>
            <a:pPr lvl="1"/>
            <a:r>
              <a:rPr lang="en-GB" dirty="0"/>
              <a:t>a new factory;</a:t>
            </a:r>
          </a:p>
          <a:p>
            <a:pPr lvl="1"/>
            <a:r>
              <a:rPr lang="en-GB" dirty="0"/>
              <a:t>a new store;</a:t>
            </a:r>
          </a:p>
          <a:p>
            <a:pPr lvl="1"/>
            <a:r>
              <a:rPr lang="en-GB" dirty="0"/>
              <a:t>a new geographical region;</a:t>
            </a:r>
          </a:p>
          <a:p>
            <a:pPr lvl="1"/>
            <a:r>
              <a:rPr lang="en-GB" dirty="0"/>
              <a:t>a new sensor installation.</a:t>
            </a:r>
          </a:p>
          <a:p>
            <a:r>
              <a:rPr lang="en-GB" b="1" dirty="0"/>
              <a:t>Regime generalization </a:t>
            </a:r>
            <a:r>
              <a:rPr lang="en-GB" dirty="0"/>
              <a:t>The model is applied under conditions not well represented in the training period.</a:t>
            </a:r>
          </a:p>
          <a:p>
            <a:pPr lvl="1"/>
            <a:r>
              <a:rPr lang="en-GB" dirty="0"/>
              <a:t>extreme demand;</a:t>
            </a:r>
          </a:p>
          <a:p>
            <a:pPr lvl="1"/>
            <a:r>
              <a:rPr lang="en-GB" dirty="0"/>
              <a:t>a new production policy;</a:t>
            </a:r>
          </a:p>
          <a:p>
            <a:pPr lvl="1"/>
            <a:r>
              <a:rPr lang="en-GB" dirty="0"/>
              <a:t>unusually high load;</a:t>
            </a:r>
          </a:p>
          <a:p>
            <a:pPr lvl="1"/>
            <a:r>
              <a:rPr lang="en-GB" dirty="0"/>
              <a:t>a different seasonal regime.</a:t>
            </a:r>
          </a:p>
          <a:p>
            <a:endParaRPr lang="en-GB" dirty="0"/>
          </a:p>
          <a:p>
            <a:endParaRPr lang="en-GB" dirty="0"/>
          </a:p>
        </p:txBody>
      </p:sp>
      <p:sp>
        <p:nvSpPr>
          <p:cNvPr id="5" name="CasellaDiTesto 4">
            <a:extLst>
              <a:ext uri="{FF2B5EF4-FFF2-40B4-BE49-F238E27FC236}">
                <a16:creationId xmlns:a16="http://schemas.microsoft.com/office/drawing/2014/main" id="{74FB295C-6A1A-5352-1D8A-B4D7259BA01B}"/>
              </a:ext>
            </a:extLst>
          </p:cNvPr>
          <p:cNvSpPr txBox="1"/>
          <p:nvPr/>
        </p:nvSpPr>
        <p:spPr>
          <a:xfrm>
            <a:off x="8120391" y="5395031"/>
            <a:ext cx="3394275" cy="646331"/>
          </a:xfrm>
          <a:prstGeom prst="rect">
            <a:avLst/>
          </a:prstGeom>
          <a:noFill/>
        </p:spPr>
        <p:txBody>
          <a:bodyPr wrap="square">
            <a:spAutoFit/>
          </a:bodyPr>
          <a:lstStyle/>
          <a:p>
            <a:r>
              <a:rPr lang="en-GB" sz="1800" dirty="0"/>
              <a:t>“Unseen data” must be defined in operational terms.</a:t>
            </a:r>
          </a:p>
        </p:txBody>
      </p:sp>
    </p:spTree>
    <p:extLst>
      <p:ext uri="{BB962C8B-B14F-4D97-AF65-F5344CB8AC3E}">
        <p14:creationId xmlns:p14="http://schemas.microsoft.com/office/powerpoint/2010/main" val="408847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4360" y="347472"/>
            <a:ext cx="10972800" cy="502920"/>
          </a:xfrm>
          <a:prstGeom prst="rect">
            <a:avLst/>
          </a:prstGeom>
          <a:noFill/>
          <a:ln/>
        </p:spPr>
        <p:txBody>
          <a:bodyPr wrap="square" lIns="0" tIns="0" rIns="0" bIns="0" rtlCol="0" anchor="ctr">
            <a:normAutofit/>
          </a:bodyPr>
          <a:lstStyle/>
          <a:p>
            <a:pPr marL="0" indent="0">
              <a:buNone/>
            </a:pPr>
            <a:r>
              <a:rPr lang="en-US" sz="3000" b="1" dirty="0">
                <a:solidFill>
                  <a:srgbClr val="1B263B"/>
                </a:solidFill>
                <a:latin typeface="Aptos Display" pitchFamily="34" charset="0"/>
                <a:ea typeface="Aptos Display" pitchFamily="34" charset="-122"/>
                <a:cs typeface="Aptos Display" pitchFamily="34" charset="-120"/>
              </a:rPr>
              <a:t>Generalization settings for temporal data</a:t>
            </a:r>
            <a:endParaRPr lang="en-US" sz="3000" dirty="0"/>
          </a:p>
        </p:txBody>
      </p:sp>
      <p:sp>
        <p:nvSpPr>
          <p:cNvPr id="3" name="Text 1"/>
          <p:cNvSpPr/>
          <p:nvPr/>
        </p:nvSpPr>
        <p:spPr>
          <a:xfrm>
            <a:off x="612648" y="868680"/>
            <a:ext cx="10789920" cy="292608"/>
          </a:xfrm>
          <a:prstGeom prst="rect">
            <a:avLst/>
          </a:prstGeom>
          <a:noFill/>
          <a:ln/>
        </p:spPr>
        <p:txBody>
          <a:bodyPr wrap="square" lIns="0" tIns="0" rIns="0" bIns="0" rtlCol="0" anchor="ctr">
            <a:normAutofit/>
          </a:bodyPr>
          <a:lstStyle/>
          <a:p>
            <a:pPr marL="0" indent="0">
              <a:buNone/>
            </a:pPr>
            <a:r>
              <a:rPr lang="en-US" sz="1350" dirty="0">
                <a:solidFill>
                  <a:srgbClr val="657181"/>
                </a:solidFill>
                <a:latin typeface="Aptos" pitchFamily="34" charset="0"/>
                <a:ea typeface="Aptos" pitchFamily="34" charset="-122"/>
                <a:cs typeface="Aptos" pitchFamily="34" charset="-120"/>
              </a:rPr>
              <a:t>A model may be evaluated on new entities, future regimes, or both.</a:t>
            </a:r>
            <a:endParaRPr lang="en-US" sz="1350" dirty="0"/>
          </a:p>
        </p:txBody>
      </p:sp>
      <p:sp>
        <p:nvSpPr>
          <p:cNvPr id="4" name="Text 2"/>
          <p:cNvSpPr/>
          <p:nvPr/>
        </p:nvSpPr>
        <p:spPr>
          <a:xfrm>
            <a:off x="3703320" y="1170432"/>
            <a:ext cx="6126480" cy="256032"/>
          </a:xfrm>
          <a:prstGeom prst="rect">
            <a:avLst/>
          </a:prstGeom>
          <a:noFill/>
          <a:ln/>
        </p:spPr>
        <p:txBody>
          <a:bodyPr wrap="square" lIns="0" tIns="0" rIns="0" bIns="0" rtlCol="0" anchor="ctr"/>
          <a:lstStyle/>
          <a:p>
            <a:pPr marL="0" indent="0" algn="ctr">
              <a:buNone/>
            </a:pPr>
            <a:r>
              <a:rPr lang="en-US" sz="1300" b="1" dirty="0">
                <a:solidFill>
                  <a:srgbClr val="2F5E9E"/>
                </a:solidFill>
                <a:latin typeface="Aptos" pitchFamily="34" charset="0"/>
                <a:ea typeface="Aptos" pitchFamily="34" charset="-122"/>
                <a:cs typeface="Aptos" pitchFamily="34" charset="-120"/>
              </a:rPr>
              <a:t>entity split</a:t>
            </a:r>
            <a:endParaRPr lang="en-US" sz="1300" dirty="0"/>
          </a:p>
        </p:txBody>
      </p:sp>
      <p:sp>
        <p:nvSpPr>
          <p:cNvPr id="5" name="Text 3"/>
          <p:cNvSpPr/>
          <p:nvPr/>
        </p:nvSpPr>
        <p:spPr>
          <a:xfrm rot="16200000">
            <a:off x="320040" y="2971800"/>
            <a:ext cx="914400" cy="320040"/>
          </a:xfrm>
          <a:prstGeom prst="rect">
            <a:avLst/>
          </a:prstGeom>
          <a:noFill/>
          <a:ln/>
        </p:spPr>
        <p:txBody>
          <a:bodyPr wrap="square" lIns="0" tIns="0" rIns="0" bIns="0" rtlCol="0" anchor="ctr"/>
          <a:lstStyle/>
          <a:p>
            <a:pPr marL="0" indent="0" algn="ctr">
              <a:buNone/>
            </a:pPr>
            <a:r>
              <a:rPr lang="en-US" sz="1300" b="1" dirty="0">
                <a:solidFill>
                  <a:srgbClr val="2F5E9E"/>
                </a:solidFill>
                <a:latin typeface="Aptos" pitchFamily="34" charset="0"/>
                <a:ea typeface="Aptos" pitchFamily="34" charset="-122"/>
                <a:cs typeface="Aptos" pitchFamily="34" charset="-120"/>
              </a:rPr>
              <a:t>Time split</a:t>
            </a:r>
            <a:endParaRPr lang="en-US" sz="1300" dirty="0"/>
          </a:p>
        </p:txBody>
      </p:sp>
      <p:sp>
        <p:nvSpPr>
          <p:cNvPr id="6" name="Text 4"/>
          <p:cNvSpPr/>
          <p:nvPr/>
        </p:nvSpPr>
        <p:spPr>
          <a:xfrm>
            <a:off x="3566160" y="1444752"/>
            <a:ext cx="3063240" cy="566928"/>
          </a:xfrm>
          <a:prstGeom prst="rect">
            <a:avLst/>
          </a:prstGeom>
          <a:solidFill>
            <a:srgbClr val="DCEBFF"/>
          </a:solidFill>
          <a:ln w="12700">
            <a:solidFill>
              <a:srgbClr val="B8C3D4"/>
            </a:solidFill>
          </a:ln>
        </p:spPr>
        <p:txBody>
          <a:bodyPr wrap="square" lIns="635" tIns="635" rIns="635" bIns="635" rtlCol="0" anchor="ctr"/>
          <a:lstStyle/>
          <a:p>
            <a:pPr marL="0" indent="0" algn="ctr">
              <a:buNone/>
            </a:pPr>
            <a:r>
              <a:rPr lang="en-US" sz="1700" b="1" dirty="0">
                <a:solidFill>
                  <a:srgbClr val="1B263B"/>
                </a:solidFill>
                <a:latin typeface="Aptos" pitchFamily="34" charset="0"/>
                <a:ea typeface="Aptos" pitchFamily="34" charset="-122"/>
                <a:cs typeface="Aptos" pitchFamily="34" charset="-120"/>
              </a:rPr>
              <a:t>Same entity</a:t>
            </a:r>
            <a:endParaRPr lang="en-US" sz="1700" dirty="0"/>
          </a:p>
        </p:txBody>
      </p:sp>
      <p:sp>
        <p:nvSpPr>
          <p:cNvPr id="7" name="Text 5"/>
          <p:cNvSpPr/>
          <p:nvPr/>
        </p:nvSpPr>
        <p:spPr>
          <a:xfrm>
            <a:off x="6629400" y="1444752"/>
            <a:ext cx="3063240" cy="566928"/>
          </a:xfrm>
          <a:prstGeom prst="rect">
            <a:avLst/>
          </a:prstGeom>
          <a:solidFill>
            <a:srgbClr val="DCEBFF"/>
          </a:solidFill>
          <a:ln w="12700">
            <a:solidFill>
              <a:srgbClr val="B8C3D4"/>
            </a:solidFill>
          </a:ln>
        </p:spPr>
        <p:txBody>
          <a:bodyPr wrap="square" lIns="635" tIns="635" rIns="635" bIns="635" rtlCol="0" anchor="ctr"/>
          <a:lstStyle/>
          <a:p>
            <a:pPr marL="0" indent="0" algn="ctr">
              <a:buNone/>
            </a:pPr>
            <a:r>
              <a:rPr lang="en-US" sz="1700" b="1" dirty="0">
                <a:solidFill>
                  <a:srgbClr val="1B263B"/>
                </a:solidFill>
                <a:latin typeface="Aptos" pitchFamily="34" charset="0"/>
                <a:ea typeface="Aptos" pitchFamily="34" charset="-122"/>
                <a:cs typeface="Aptos" pitchFamily="34" charset="-120"/>
              </a:rPr>
              <a:t>New entity</a:t>
            </a:r>
            <a:endParaRPr lang="en-US" sz="1700" dirty="0"/>
          </a:p>
        </p:txBody>
      </p:sp>
      <p:sp>
        <p:nvSpPr>
          <p:cNvPr id="8" name="Text 6"/>
          <p:cNvSpPr/>
          <p:nvPr/>
        </p:nvSpPr>
        <p:spPr>
          <a:xfrm>
            <a:off x="1417320" y="2011680"/>
            <a:ext cx="2148840" cy="1325880"/>
          </a:xfrm>
          <a:prstGeom prst="rect">
            <a:avLst/>
          </a:prstGeom>
          <a:solidFill>
            <a:srgbClr val="FFFFFF"/>
          </a:solidFill>
          <a:ln w="12700">
            <a:solidFill>
              <a:srgbClr val="B8C3D4"/>
            </a:solidFill>
          </a:ln>
        </p:spPr>
        <p:txBody>
          <a:bodyPr wrap="square" lIns="635" tIns="635" rIns="635" bIns="635" rtlCol="0" anchor="ctr">
            <a:normAutofit/>
          </a:bodyPr>
          <a:lstStyle/>
          <a:p>
            <a:pPr marL="0" indent="0" algn="ctr">
              <a:buNone/>
            </a:pPr>
            <a:r>
              <a:rPr lang="en-US" sz="1700" b="1" dirty="0">
                <a:solidFill>
                  <a:srgbClr val="1B263B"/>
                </a:solidFill>
                <a:latin typeface="Aptos" pitchFamily="34" charset="0"/>
                <a:ea typeface="Aptos" pitchFamily="34" charset="-122"/>
                <a:cs typeface="Aptos" pitchFamily="34" charset="-120"/>
              </a:rPr>
              <a:t>Same time</a:t>
            </a:r>
            <a:endParaRPr lang="en-US" sz="1700" dirty="0"/>
          </a:p>
          <a:p>
            <a:pPr marL="0" indent="0" algn="ctr">
              <a:buNone/>
            </a:pPr>
            <a:r>
              <a:rPr lang="en-US" sz="1700" b="1" dirty="0">
                <a:solidFill>
                  <a:srgbClr val="1B263B"/>
                </a:solidFill>
                <a:latin typeface="Aptos" pitchFamily="34" charset="0"/>
                <a:ea typeface="Aptos" pitchFamily="34" charset="-122"/>
                <a:cs typeface="Aptos" pitchFamily="34" charset="-120"/>
              </a:rPr>
              <a:t>period</a:t>
            </a:r>
            <a:endParaRPr lang="en-US" sz="1700" dirty="0"/>
          </a:p>
        </p:txBody>
      </p:sp>
      <p:sp>
        <p:nvSpPr>
          <p:cNvPr id="9" name="Text 7"/>
          <p:cNvSpPr/>
          <p:nvPr/>
        </p:nvSpPr>
        <p:spPr>
          <a:xfrm>
            <a:off x="1417320" y="3337560"/>
            <a:ext cx="2148840" cy="1325880"/>
          </a:xfrm>
          <a:prstGeom prst="rect">
            <a:avLst/>
          </a:prstGeom>
          <a:solidFill>
            <a:srgbClr val="FFFFFF"/>
          </a:solidFill>
          <a:ln w="12700">
            <a:solidFill>
              <a:srgbClr val="B8C3D4"/>
            </a:solidFill>
          </a:ln>
        </p:spPr>
        <p:txBody>
          <a:bodyPr wrap="square" lIns="635" tIns="635" rIns="635" bIns="635" rtlCol="0" anchor="ctr">
            <a:normAutofit/>
          </a:bodyPr>
          <a:lstStyle/>
          <a:p>
            <a:pPr marL="0" indent="0" algn="ctr">
              <a:buNone/>
            </a:pPr>
            <a:r>
              <a:rPr lang="en-US" sz="1700" b="1" dirty="0">
                <a:solidFill>
                  <a:srgbClr val="1B263B"/>
                </a:solidFill>
                <a:latin typeface="Aptos" pitchFamily="34" charset="0"/>
                <a:ea typeface="Aptos" pitchFamily="34" charset="-122"/>
                <a:cs typeface="Aptos" pitchFamily="34" charset="-120"/>
              </a:rPr>
              <a:t>Future time</a:t>
            </a:r>
            <a:endParaRPr lang="en-US" sz="1700" dirty="0"/>
          </a:p>
          <a:p>
            <a:pPr marL="0" indent="0" algn="ctr">
              <a:buNone/>
            </a:pPr>
            <a:r>
              <a:rPr lang="en-US" sz="1700" b="1" dirty="0">
                <a:solidFill>
                  <a:srgbClr val="1B263B"/>
                </a:solidFill>
                <a:latin typeface="Aptos" pitchFamily="34" charset="0"/>
                <a:ea typeface="Aptos" pitchFamily="34" charset="-122"/>
                <a:cs typeface="Aptos" pitchFamily="34" charset="-120"/>
              </a:rPr>
              <a:t>period</a:t>
            </a:r>
            <a:endParaRPr lang="en-US" sz="1700" dirty="0"/>
          </a:p>
        </p:txBody>
      </p:sp>
      <p:sp>
        <p:nvSpPr>
          <p:cNvPr id="10" name="Text 8"/>
          <p:cNvSpPr/>
          <p:nvPr/>
        </p:nvSpPr>
        <p:spPr>
          <a:xfrm>
            <a:off x="3566160" y="2011680"/>
            <a:ext cx="3063240" cy="1325880"/>
          </a:xfrm>
          <a:prstGeom prst="rect">
            <a:avLst/>
          </a:prstGeom>
          <a:solidFill>
            <a:srgbClr val="DFF3EA"/>
          </a:solidFill>
          <a:ln w="12700">
            <a:solidFill>
              <a:srgbClr val="B8C3D4"/>
            </a:solidFill>
          </a:ln>
        </p:spPr>
        <p:txBody>
          <a:bodyPr wrap="square" lIns="1270" tIns="1270" rIns="1270" bIns="1270" rtlCol="0" anchor="ctr">
            <a:normAutofit/>
          </a:bodyPr>
          <a:lstStyle/>
          <a:p>
            <a:pPr marL="0" indent="0" algn="ctr">
              <a:buNone/>
            </a:pPr>
            <a:r>
              <a:rPr lang="en-US" sz="1800" b="1" dirty="0">
                <a:solidFill>
                  <a:srgbClr val="1B263B"/>
                </a:solidFill>
                <a:latin typeface="Aptos" pitchFamily="34" charset="0"/>
                <a:ea typeface="Aptos" pitchFamily="34" charset="-122"/>
                <a:cs typeface="Aptos" pitchFamily="34" charset="-120"/>
              </a:rPr>
              <a:t>Same entity, same period</a:t>
            </a:r>
            <a:endParaRPr lang="en-US" sz="1800" dirty="0"/>
          </a:p>
        </p:txBody>
      </p:sp>
      <p:sp>
        <p:nvSpPr>
          <p:cNvPr id="11" name="Text 9"/>
          <p:cNvSpPr/>
          <p:nvPr/>
        </p:nvSpPr>
        <p:spPr>
          <a:xfrm>
            <a:off x="6629400" y="2011680"/>
            <a:ext cx="3063240" cy="1325880"/>
          </a:xfrm>
          <a:prstGeom prst="rect">
            <a:avLst/>
          </a:prstGeom>
          <a:solidFill>
            <a:srgbClr val="E9E1FF"/>
          </a:solidFill>
          <a:ln w="12700">
            <a:solidFill>
              <a:srgbClr val="B8C3D4"/>
            </a:solidFill>
          </a:ln>
        </p:spPr>
        <p:txBody>
          <a:bodyPr wrap="square" lIns="1270" tIns="1270" rIns="1270" bIns="1270" rtlCol="0" anchor="ctr">
            <a:normAutofit/>
          </a:bodyPr>
          <a:lstStyle/>
          <a:p>
            <a:pPr marL="0" indent="0" algn="ctr">
              <a:buNone/>
            </a:pPr>
            <a:r>
              <a:rPr lang="en-US" sz="1800" b="1" dirty="0">
                <a:solidFill>
                  <a:srgbClr val="1B263B"/>
                </a:solidFill>
                <a:latin typeface="Aptos" pitchFamily="34" charset="0"/>
                <a:ea typeface="Aptos" pitchFamily="34" charset="-122"/>
                <a:cs typeface="Aptos" pitchFamily="34" charset="-120"/>
              </a:rPr>
              <a:t>entity transfer
</a:t>
            </a:r>
            <a:r>
              <a:rPr lang="en-US" sz="1250" dirty="0">
                <a:solidFill>
                  <a:srgbClr val="657181"/>
                </a:solidFill>
                <a:latin typeface="Aptos" pitchFamily="34" charset="0"/>
                <a:ea typeface="Aptos" pitchFamily="34" charset="-122"/>
                <a:cs typeface="Aptos" pitchFamily="34" charset="-120"/>
              </a:rPr>
              <a:t>train on old entities</a:t>
            </a:r>
            <a:endParaRPr lang="en-US" sz="1800" dirty="0"/>
          </a:p>
          <a:p>
            <a:pPr marL="0" indent="0" algn="ctr">
              <a:buNone/>
            </a:pPr>
            <a:r>
              <a:rPr lang="en-US" sz="1250" dirty="0">
                <a:solidFill>
                  <a:srgbClr val="657181"/>
                </a:solidFill>
                <a:latin typeface="Aptos" pitchFamily="34" charset="0"/>
                <a:ea typeface="Aptos" pitchFamily="34" charset="-122"/>
                <a:cs typeface="Aptos" pitchFamily="34" charset="-120"/>
              </a:rPr>
              <a:t>test on new entities</a:t>
            </a:r>
            <a:endParaRPr lang="en-US" sz="1800" dirty="0"/>
          </a:p>
        </p:txBody>
      </p:sp>
      <p:sp>
        <p:nvSpPr>
          <p:cNvPr id="12" name="Text 10"/>
          <p:cNvSpPr/>
          <p:nvPr/>
        </p:nvSpPr>
        <p:spPr>
          <a:xfrm>
            <a:off x="3566160" y="3337560"/>
            <a:ext cx="3063240" cy="1325880"/>
          </a:xfrm>
          <a:prstGeom prst="rect">
            <a:avLst/>
          </a:prstGeom>
          <a:solidFill>
            <a:srgbClr val="FFF1D6"/>
          </a:solidFill>
          <a:ln w="12700">
            <a:solidFill>
              <a:srgbClr val="B8C3D4"/>
            </a:solidFill>
          </a:ln>
        </p:spPr>
        <p:txBody>
          <a:bodyPr wrap="square" lIns="1270" tIns="1270" rIns="1270" bIns="1270" rtlCol="0" anchor="ctr">
            <a:normAutofit/>
          </a:bodyPr>
          <a:lstStyle/>
          <a:p>
            <a:pPr marL="0" indent="0" algn="ctr">
              <a:buNone/>
            </a:pPr>
            <a:r>
              <a:rPr lang="en-US" sz="1800" b="1" dirty="0">
                <a:solidFill>
                  <a:srgbClr val="1B263B"/>
                </a:solidFill>
                <a:latin typeface="Aptos" pitchFamily="34" charset="0"/>
                <a:ea typeface="Aptos" pitchFamily="34" charset="-122"/>
                <a:cs typeface="Aptos" pitchFamily="34" charset="-120"/>
              </a:rPr>
              <a:t>temporal generalization</a:t>
            </a:r>
            <a:endParaRPr lang="en-US" sz="1800" dirty="0"/>
          </a:p>
        </p:txBody>
      </p:sp>
      <p:sp>
        <p:nvSpPr>
          <p:cNvPr id="13" name="Text 11"/>
          <p:cNvSpPr/>
          <p:nvPr/>
        </p:nvSpPr>
        <p:spPr>
          <a:xfrm>
            <a:off x="6629400" y="3337560"/>
            <a:ext cx="3063240" cy="1325880"/>
          </a:xfrm>
          <a:prstGeom prst="rect">
            <a:avLst/>
          </a:prstGeom>
          <a:solidFill>
            <a:srgbClr val="FBE0E0"/>
          </a:solidFill>
          <a:ln w="12700">
            <a:solidFill>
              <a:srgbClr val="B8C3D4"/>
            </a:solidFill>
          </a:ln>
        </p:spPr>
        <p:txBody>
          <a:bodyPr wrap="square" lIns="1270" tIns="1270" rIns="1270" bIns="1270" rtlCol="0" anchor="ctr">
            <a:normAutofit/>
          </a:bodyPr>
          <a:lstStyle/>
          <a:p>
            <a:pPr marL="0" indent="0" algn="ctr">
              <a:buNone/>
            </a:pPr>
            <a:r>
              <a:rPr lang="en-US" sz="1800" b="1" dirty="0">
                <a:solidFill>
                  <a:srgbClr val="1B263B"/>
                </a:solidFill>
                <a:latin typeface="Aptos" pitchFamily="34" charset="0"/>
                <a:ea typeface="Aptos" pitchFamily="34" charset="-122"/>
                <a:cs typeface="Aptos" pitchFamily="34" charset="-120"/>
              </a:rPr>
              <a:t>temporal + entity generalization
</a:t>
            </a:r>
            <a:r>
              <a:rPr lang="en-US" sz="1250" dirty="0">
                <a:solidFill>
                  <a:srgbClr val="657181"/>
                </a:solidFill>
                <a:latin typeface="Aptos" pitchFamily="34" charset="0"/>
              </a:rPr>
              <a:t>test on new entities</a:t>
            </a:r>
          </a:p>
          <a:p>
            <a:pPr marL="0" indent="0" algn="ctr">
              <a:buNone/>
            </a:pPr>
            <a:r>
              <a:rPr lang="en-US" sz="1250" dirty="0">
                <a:solidFill>
                  <a:srgbClr val="657181"/>
                </a:solidFill>
                <a:latin typeface="Aptos" pitchFamily="34" charset="0"/>
              </a:rPr>
              <a:t>and future period</a:t>
            </a:r>
          </a:p>
        </p:txBody>
      </p:sp>
      <p:sp>
        <p:nvSpPr>
          <p:cNvPr id="14" name="Text 12"/>
          <p:cNvSpPr/>
          <p:nvPr/>
        </p:nvSpPr>
        <p:spPr>
          <a:xfrm>
            <a:off x="1417320" y="4919472"/>
            <a:ext cx="6446520" cy="530352"/>
          </a:xfrm>
          <a:prstGeom prst="rect">
            <a:avLst/>
          </a:prstGeom>
          <a:solidFill>
            <a:srgbClr val="FFFFFF"/>
          </a:solidFill>
          <a:ln w="15240">
            <a:solidFill>
              <a:srgbClr val="2F5E9E"/>
            </a:solidFill>
          </a:ln>
        </p:spPr>
        <p:txBody>
          <a:bodyPr wrap="square" lIns="1016" tIns="1016" rIns="1016" bIns="1016" rtlCol="0" anchor="ctr">
            <a:normAutofit/>
          </a:bodyPr>
          <a:lstStyle/>
          <a:p>
            <a:pPr marL="0" indent="0" algn="ctr">
              <a:buNone/>
            </a:pPr>
            <a:r>
              <a:rPr lang="en-US" sz="1600" b="1" dirty="0">
                <a:solidFill>
                  <a:srgbClr val="1B263B"/>
                </a:solidFill>
                <a:latin typeface="Aptos" pitchFamily="34" charset="0"/>
                <a:ea typeface="Aptos" pitchFamily="34" charset="-122"/>
                <a:cs typeface="Aptos" pitchFamily="34" charset="-120"/>
              </a:rPr>
              <a:t>Optional third dimension:  </a:t>
            </a:r>
            <a:r>
              <a:rPr lang="en-US" sz="1600" dirty="0">
                <a:solidFill>
                  <a:srgbClr val="1B263B"/>
                </a:solidFill>
                <a:latin typeface="Aptos" pitchFamily="34" charset="0"/>
                <a:ea typeface="Aptos" pitchFamily="34" charset="-122"/>
                <a:cs typeface="Aptos" pitchFamily="34" charset="-120"/>
              </a:rPr>
              <a:t>new site  |  new operating regime</a:t>
            </a:r>
            <a:endParaRPr lang="en-US" sz="1600" dirty="0"/>
          </a:p>
        </p:txBody>
      </p:sp>
      <p:sp>
        <p:nvSpPr>
          <p:cNvPr id="16" name="Text 14"/>
          <p:cNvSpPr/>
          <p:nvPr/>
        </p:nvSpPr>
        <p:spPr>
          <a:xfrm>
            <a:off x="8321040" y="4919472"/>
            <a:ext cx="1234440" cy="475488"/>
          </a:xfrm>
          <a:prstGeom prst="rect">
            <a:avLst/>
          </a:prstGeom>
          <a:solidFill>
            <a:srgbClr val="DCEBFF"/>
          </a:solidFill>
          <a:ln w="13970">
            <a:solidFill>
              <a:srgbClr val="2F5E9E"/>
            </a:solidFill>
          </a:ln>
        </p:spPr>
        <p:txBody>
          <a:bodyPr wrap="square" lIns="508" tIns="508" rIns="508" bIns="508" rtlCol="0" anchor="ctr"/>
          <a:lstStyle/>
          <a:p>
            <a:pPr marL="0" indent="0" algn="ctr">
              <a:buNone/>
            </a:pPr>
            <a:r>
              <a:rPr lang="en-US" sz="1400" b="1" dirty="0">
                <a:solidFill>
                  <a:srgbClr val="1B263B"/>
                </a:solidFill>
                <a:latin typeface="Aptos" pitchFamily="34" charset="0"/>
                <a:ea typeface="Aptos" pitchFamily="34" charset="-122"/>
                <a:cs typeface="Aptos" pitchFamily="34" charset="-120"/>
              </a:rPr>
              <a:t>Site</a:t>
            </a:r>
            <a:endParaRPr lang="en-US" sz="1400" dirty="0"/>
          </a:p>
        </p:txBody>
      </p:sp>
      <p:sp>
        <p:nvSpPr>
          <p:cNvPr id="17" name="Text 15"/>
          <p:cNvSpPr/>
          <p:nvPr/>
        </p:nvSpPr>
        <p:spPr>
          <a:xfrm>
            <a:off x="9738360" y="4919472"/>
            <a:ext cx="1417320" cy="475488"/>
          </a:xfrm>
          <a:prstGeom prst="rect">
            <a:avLst/>
          </a:prstGeom>
          <a:solidFill>
            <a:srgbClr val="DCEBFF"/>
          </a:solidFill>
          <a:ln w="13970">
            <a:solidFill>
              <a:srgbClr val="2F5E9E"/>
            </a:solidFill>
          </a:ln>
        </p:spPr>
        <p:txBody>
          <a:bodyPr wrap="square" lIns="508" tIns="508" rIns="508" bIns="508" rtlCol="0" anchor="ctr"/>
          <a:lstStyle/>
          <a:p>
            <a:pPr marL="0" indent="0" algn="ctr">
              <a:buNone/>
            </a:pPr>
            <a:r>
              <a:rPr lang="en-US" sz="1400" b="1" dirty="0">
                <a:solidFill>
                  <a:srgbClr val="1B263B"/>
                </a:solidFill>
                <a:latin typeface="Aptos" pitchFamily="34" charset="0"/>
                <a:ea typeface="Aptos" pitchFamily="34" charset="-122"/>
                <a:cs typeface="Aptos" pitchFamily="34" charset="-120"/>
              </a:rPr>
              <a:t>Regime</a:t>
            </a:r>
            <a:endParaRPr lang="en-US" sz="1400" dirty="0"/>
          </a:p>
        </p:txBody>
      </p:sp>
      <p:sp>
        <p:nvSpPr>
          <p:cNvPr id="19" name="Text 17"/>
          <p:cNvSpPr/>
          <p:nvPr/>
        </p:nvSpPr>
        <p:spPr>
          <a:xfrm>
            <a:off x="612648" y="6091111"/>
            <a:ext cx="11064240" cy="274320"/>
          </a:xfrm>
          <a:prstGeom prst="rect">
            <a:avLst/>
          </a:prstGeom>
          <a:noFill/>
          <a:ln/>
        </p:spPr>
        <p:txBody>
          <a:bodyPr wrap="square" lIns="0" tIns="0" rIns="0" bIns="0" rtlCol="0" anchor="ctr">
            <a:normAutofit/>
          </a:bodyPr>
          <a:lstStyle/>
          <a:p>
            <a:pPr marL="0" indent="0" algn="ctr">
              <a:buNone/>
            </a:pPr>
            <a:r>
              <a:rPr lang="en-US" sz="1250" i="1" dirty="0">
                <a:solidFill>
                  <a:srgbClr val="657181"/>
                </a:solidFill>
                <a:latin typeface="Aptos" pitchFamily="34" charset="0"/>
                <a:ea typeface="Aptos" pitchFamily="34" charset="-122"/>
                <a:cs typeface="Aptos" pitchFamily="34" charset="-120"/>
              </a:rPr>
              <a:t>Test performance depends on what changes between training and deployment.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4C3ABDD-7536-6F99-DCDD-E568A392295B}"/>
              </a:ext>
            </a:extLst>
          </p:cNvPr>
          <p:cNvSpPr>
            <a:spLocks noGrp="1"/>
          </p:cNvSpPr>
          <p:nvPr>
            <p:ph type="title"/>
          </p:nvPr>
        </p:nvSpPr>
        <p:spPr/>
        <p:txBody>
          <a:bodyPr/>
          <a:lstStyle/>
          <a:p>
            <a:r>
              <a:rPr lang="en-GB" dirty="0"/>
              <a:t>The test set should reproduce deployment conditions</a:t>
            </a:r>
          </a:p>
        </p:txBody>
      </p:sp>
      <p:sp>
        <p:nvSpPr>
          <p:cNvPr id="3" name="Segnaposto contenuto 2">
            <a:extLst>
              <a:ext uri="{FF2B5EF4-FFF2-40B4-BE49-F238E27FC236}">
                <a16:creationId xmlns:a16="http://schemas.microsoft.com/office/drawing/2014/main" id="{3C01E60A-2AA2-DE8B-3D0B-0C3873C3F866}"/>
              </a:ext>
            </a:extLst>
          </p:cNvPr>
          <p:cNvSpPr>
            <a:spLocks noGrp="1"/>
          </p:cNvSpPr>
          <p:nvPr>
            <p:ph sz="half" idx="1"/>
          </p:nvPr>
        </p:nvSpPr>
        <p:spPr/>
        <p:txBody>
          <a:bodyPr>
            <a:normAutofit fontScale="40000" lnSpcReduction="20000"/>
          </a:bodyPr>
          <a:lstStyle/>
          <a:p>
            <a:r>
              <a:rPr lang="en-GB" sz="3500" b="1" dirty="0"/>
              <a:t>Scenario 1 — Forecasting one continuing process</a:t>
            </a:r>
          </a:p>
          <a:p>
            <a:r>
              <a:rPr lang="en-GB" sz="3500" dirty="0"/>
              <a:t>Deployment: later time periods from the same process.</a:t>
            </a:r>
          </a:p>
          <a:p>
            <a:r>
              <a:rPr lang="en-GB" sz="3500" dirty="0"/>
              <a:t>Test set: a chronological interval after the training and validation periods.</a:t>
            </a:r>
          </a:p>
          <a:p>
            <a:endParaRPr lang="en-GB" sz="3500" b="1" dirty="0"/>
          </a:p>
          <a:p>
            <a:r>
              <a:rPr lang="en-GB" sz="3500" b="1" dirty="0"/>
              <a:t>Scenario 2 — Monitoring a known fleet</a:t>
            </a:r>
          </a:p>
          <a:p>
            <a:r>
              <a:rPr lang="en-GB" sz="3500" dirty="0"/>
              <a:t>Deployment: future cycles from machines already represented in training.</a:t>
            </a:r>
          </a:p>
          <a:p>
            <a:r>
              <a:rPr lang="en-GB" sz="3500" dirty="0"/>
              <a:t>Test set: later cycles from the same machines.</a:t>
            </a:r>
          </a:p>
          <a:p>
            <a:endParaRPr lang="en-GB" dirty="0"/>
          </a:p>
        </p:txBody>
      </p:sp>
      <p:sp>
        <p:nvSpPr>
          <p:cNvPr id="4" name="Segnaposto contenuto 3">
            <a:extLst>
              <a:ext uri="{FF2B5EF4-FFF2-40B4-BE49-F238E27FC236}">
                <a16:creationId xmlns:a16="http://schemas.microsoft.com/office/drawing/2014/main" id="{ECE00D8E-36B3-39B8-7B97-70C2E3B3721E}"/>
              </a:ext>
            </a:extLst>
          </p:cNvPr>
          <p:cNvSpPr>
            <a:spLocks noGrp="1"/>
          </p:cNvSpPr>
          <p:nvPr>
            <p:ph sz="half" idx="2"/>
          </p:nvPr>
        </p:nvSpPr>
        <p:spPr>
          <a:xfrm>
            <a:off x="5089969" y="2160589"/>
            <a:ext cx="4666873" cy="3880773"/>
          </a:xfrm>
        </p:spPr>
        <p:txBody>
          <a:bodyPr>
            <a:normAutofit fontScale="40000" lnSpcReduction="20000"/>
          </a:bodyPr>
          <a:lstStyle/>
          <a:p>
            <a:r>
              <a:rPr lang="en-GB" sz="3000" b="1" dirty="0"/>
              <a:t>Scenario 3 — Deploying on new machines</a:t>
            </a:r>
          </a:p>
          <a:p>
            <a:r>
              <a:rPr lang="en-GB" sz="3000" dirty="0"/>
              <a:t>Deployment: entities not observed during model development.</a:t>
            </a:r>
          </a:p>
          <a:p>
            <a:r>
              <a:rPr lang="en-GB" sz="3000" dirty="0"/>
              <a:t>Test set: complete machines held out from training and validation.</a:t>
            </a:r>
          </a:p>
          <a:p>
            <a:endParaRPr lang="en-GB" sz="3000" b="1" dirty="0"/>
          </a:p>
          <a:p>
            <a:r>
              <a:rPr lang="en-GB" sz="3000" b="1" dirty="0"/>
              <a:t>Scenario 4 — Deploying at a new site</a:t>
            </a:r>
          </a:p>
          <a:p>
            <a:r>
              <a:rPr lang="en-GB" sz="3000" dirty="0"/>
              <a:t>Deployment: a new environment with possible differences in equipment, acquisition or operation.</a:t>
            </a:r>
          </a:p>
          <a:p>
            <a:r>
              <a:rPr lang="en-GB" sz="3000" dirty="0"/>
              <a:t>Test set: all data from one or more held-out sites.</a:t>
            </a:r>
          </a:p>
          <a:p>
            <a:endParaRPr lang="en-GB" sz="3000" b="1" dirty="0"/>
          </a:p>
          <a:p>
            <a:r>
              <a:rPr lang="en-GB" sz="3000" b="1" dirty="0"/>
              <a:t>Scenario 5 — Global model for products and stores</a:t>
            </a:r>
          </a:p>
          <a:p>
            <a:r>
              <a:rPr lang="en-GB" sz="3000" dirty="0"/>
              <a:t>Deployment may include: future periods for known products and stores; new products; new stores;</a:t>
            </a:r>
          </a:p>
          <a:p>
            <a:r>
              <a:rPr lang="en-GB" sz="3000" dirty="0"/>
              <a:t>Test set: both new entities and future time. These should ideally be evaluated separately</a:t>
            </a:r>
            <a:r>
              <a:rPr lang="en-GB" sz="2000" dirty="0"/>
              <a:t>.</a:t>
            </a:r>
          </a:p>
          <a:p>
            <a:endParaRPr lang="en-GB" dirty="0"/>
          </a:p>
        </p:txBody>
      </p:sp>
      <p:sp>
        <p:nvSpPr>
          <p:cNvPr id="6" name="CasellaDiTesto 5">
            <a:extLst>
              <a:ext uri="{FF2B5EF4-FFF2-40B4-BE49-F238E27FC236}">
                <a16:creationId xmlns:a16="http://schemas.microsoft.com/office/drawing/2014/main" id="{93685562-46D3-81DC-6A2F-1F5795CE9FB6}"/>
              </a:ext>
            </a:extLst>
          </p:cNvPr>
          <p:cNvSpPr txBox="1"/>
          <p:nvPr/>
        </p:nvSpPr>
        <p:spPr>
          <a:xfrm>
            <a:off x="1808547" y="6041361"/>
            <a:ext cx="6105644" cy="646331"/>
          </a:xfrm>
          <a:prstGeom prst="rect">
            <a:avLst/>
          </a:prstGeom>
          <a:noFill/>
        </p:spPr>
        <p:txBody>
          <a:bodyPr wrap="square">
            <a:spAutoFit/>
          </a:bodyPr>
          <a:lstStyle/>
          <a:p>
            <a:r>
              <a:rPr lang="en-GB" sz="1800" dirty="0"/>
              <a:t>The test set should differ from the training set in the same way that deployment data are expected to differ.</a:t>
            </a:r>
          </a:p>
        </p:txBody>
      </p:sp>
    </p:spTree>
    <p:extLst>
      <p:ext uri="{BB962C8B-B14F-4D97-AF65-F5344CB8AC3E}">
        <p14:creationId xmlns:p14="http://schemas.microsoft.com/office/powerpoint/2010/main" val="3708397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86BA461-CB9F-6998-3BBF-ED6AC829C112}"/>
              </a:ext>
            </a:extLst>
          </p:cNvPr>
          <p:cNvSpPr>
            <a:spLocks noGrp="1"/>
          </p:cNvSpPr>
          <p:nvPr>
            <p:ph type="title"/>
          </p:nvPr>
        </p:nvSpPr>
        <p:spPr/>
        <p:txBody>
          <a:bodyPr/>
          <a:lstStyle/>
          <a:p>
            <a:r>
              <a:rPr lang="en-GB" dirty="0">
                <a:highlight>
                  <a:srgbClr val="FFFF00"/>
                </a:highlight>
              </a:rPr>
              <a:t>The test set should reproduce deployment conditions</a:t>
            </a:r>
          </a:p>
        </p:txBody>
      </p:sp>
      <p:graphicFrame>
        <p:nvGraphicFramePr>
          <p:cNvPr id="12" name="Segnaposto contenuto 11">
            <a:extLst>
              <a:ext uri="{FF2B5EF4-FFF2-40B4-BE49-F238E27FC236}">
                <a16:creationId xmlns:a16="http://schemas.microsoft.com/office/drawing/2014/main" id="{C6206177-ABA9-0653-AF51-D4087780B83E}"/>
              </a:ext>
            </a:extLst>
          </p:cNvPr>
          <p:cNvGraphicFramePr>
            <a:graphicFrameLocks noGrp="1"/>
          </p:cNvGraphicFramePr>
          <p:nvPr>
            <p:ph idx="1"/>
            <p:extLst>
              <p:ext uri="{D42A27DB-BD31-4B8C-83A1-F6EECF244321}">
                <p14:modId xmlns:p14="http://schemas.microsoft.com/office/powerpoint/2010/main" val="1723340203"/>
              </p:ext>
            </p:extLst>
          </p:nvPr>
        </p:nvGraphicFramePr>
        <p:xfrm>
          <a:off x="2480153" y="2304789"/>
          <a:ext cx="4960308" cy="2768253"/>
        </p:xfrm>
        <a:graphic>
          <a:graphicData uri="http://schemas.openxmlformats.org/drawingml/2006/table">
            <a:tbl>
              <a:tblPr>
                <a:tableStyleId>{5C22544A-7EE6-4342-B048-85BDC9FD1C3A}</a:tableStyleId>
              </a:tblPr>
              <a:tblGrid>
                <a:gridCol w="2480154">
                  <a:extLst>
                    <a:ext uri="{9D8B030D-6E8A-4147-A177-3AD203B41FA5}">
                      <a16:colId xmlns:a16="http://schemas.microsoft.com/office/drawing/2014/main" val="3792490750"/>
                    </a:ext>
                  </a:extLst>
                </a:gridCol>
                <a:gridCol w="2480154">
                  <a:extLst>
                    <a:ext uri="{9D8B030D-6E8A-4147-A177-3AD203B41FA5}">
                      <a16:colId xmlns:a16="http://schemas.microsoft.com/office/drawing/2014/main" val="3065751970"/>
                    </a:ext>
                  </a:extLst>
                </a:gridCol>
              </a:tblGrid>
              <a:tr h="442921">
                <a:tc>
                  <a:txBody>
                    <a:bodyPr/>
                    <a:lstStyle/>
                    <a:p>
                      <a:pPr algn="ctr" fontAlgn="ctr">
                        <a:buNone/>
                      </a:pPr>
                      <a:r>
                        <a:rPr lang="en-GB" sz="1200" b="1" u="none" strike="noStrike" dirty="0">
                          <a:effectLst/>
                          <a:highlight>
                            <a:srgbClr val="FFFF00"/>
                          </a:highlight>
                        </a:rPr>
                        <a:t>Deployment objective</a:t>
                      </a:r>
                      <a:endParaRPr lang="en-GB" sz="1200" b="1" i="0" u="none" strike="noStrike" dirty="0">
                        <a:solidFill>
                          <a:srgbClr val="000000"/>
                        </a:solidFill>
                        <a:effectLst/>
                        <a:highlight>
                          <a:srgbClr val="FFFF00"/>
                        </a:highlight>
                        <a:latin typeface="Aptos Narrow" panose="020B0004020202020204" pitchFamily="34" charset="0"/>
                      </a:endParaRPr>
                    </a:p>
                  </a:txBody>
                  <a:tcPr marL="6469" marR="6469" marT="6469" marB="0" anchor="ctr"/>
                </a:tc>
                <a:tc>
                  <a:txBody>
                    <a:bodyPr/>
                    <a:lstStyle/>
                    <a:p>
                      <a:pPr algn="ctr" fontAlgn="ctr">
                        <a:buNone/>
                      </a:pPr>
                      <a:r>
                        <a:rPr lang="en-GB" sz="1200" b="1" u="none" strike="noStrike" dirty="0">
                          <a:effectLst/>
                        </a:rPr>
                        <a:t>Appropriate test construction</a:t>
                      </a:r>
                      <a:endParaRPr lang="en-GB" sz="1200" b="1" i="0" u="none" strike="noStrike" dirty="0">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1242956380"/>
                  </a:ext>
                </a:extLst>
              </a:tr>
              <a:tr h="442921">
                <a:tc>
                  <a:txBody>
                    <a:bodyPr/>
                    <a:lstStyle/>
                    <a:p>
                      <a:pPr algn="l" fontAlgn="ctr">
                        <a:buNone/>
                      </a:pPr>
                      <a:r>
                        <a:rPr lang="en-GB" sz="1200" u="none" strike="noStrike">
                          <a:effectLst/>
                        </a:rPr>
                        <a:t>Future of the same process</a:t>
                      </a:r>
                      <a:endParaRPr lang="en-GB" sz="12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200" u="none" strike="noStrike">
                          <a:effectLst/>
                        </a:rPr>
                        <a:t>Later chronological interval</a:t>
                      </a:r>
                      <a:endParaRPr lang="en-GB" sz="1200" b="0" i="0" u="none" strike="noStrike">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2552346166"/>
                  </a:ext>
                </a:extLst>
              </a:tr>
              <a:tr h="553650">
                <a:tc>
                  <a:txBody>
                    <a:bodyPr/>
                    <a:lstStyle/>
                    <a:p>
                      <a:pPr algn="l" fontAlgn="ctr">
                        <a:buNone/>
                      </a:pPr>
                      <a:r>
                        <a:rPr lang="en-GB" sz="1200" u="none" strike="noStrike">
                          <a:effectLst/>
                        </a:rPr>
                        <a:t>New cycle from known machine</a:t>
                      </a:r>
                      <a:endParaRPr lang="en-GB" sz="12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200" u="none" strike="noStrike">
                          <a:effectLst/>
                        </a:rPr>
                        <a:t>Hold out complete later cycles</a:t>
                      </a:r>
                      <a:endParaRPr lang="en-GB" sz="1200" b="0" i="0" u="none" strike="noStrike">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555963267"/>
                  </a:ext>
                </a:extLst>
              </a:tr>
              <a:tr h="332190">
                <a:tc>
                  <a:txBody>
                    <a:bodyPr/>
                    <a:lstStyle/>
                    <a:p>
                      <a:pPr algn="l" fontAlgn="ctr">
                        <a:buNone/>
                      </a:pPr>
                      <a:r>
                        <a:rPr lang="en-GB" sz="1200" u="none" strike="noStrike" dirty="0">
                          <a:effectLst/>
                        </a:rPr>
                        <a:t>New machine</a:t>
                      </a:r>
                      <a:endParaRPr lang="en-GB" sz="1200" b="0" i="0" u="none" strike="noStrike" dirty="0">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200" u="none" strike="noStrike">
                          <a:effectLst/>
                        </a:rPr>
                        <a:t>Hold out complete entities</a:t>
                      </a:r>
                      <a:endParaRPr lang="en-GB" sz="1200" b="0" i="0" u="none" strike="noStrike">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3573193803"/>
                  </a:ext>
                </a:extLst>
              </a:tr>
              <a:tr h="442921">
                <a:tc>
                  <a:txBody>
                    <a:bodyPr/>
                    <a:lstStyle/>
                    <a:p>
                      <a:pPr algn="l" fontAlgn="ctr">
                        <a:buNone/>
                      </a:pPr>
                      <a:r>
                        <a:rPr lang="en-GB" sz="1200" u="none" strike="noStrike">
                          <a:effectLst/>
                        </a:rPr>
                        <a:t>New site</a:t>
                      </a:r>
                      <a:endParaRPr lang="en-GB" sz="12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200" u="none" strike="noStrike">
                          <a:effectLst/>
                        </a:rPr>
                        <a:t>Hold out complete environment</a:t>
                      </a:r>
                      <a:endParaRPr lang="en-GB" sz="1200" b="0" i="0" u="none" strike="noStrike">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3346557010"/>
                  </a:ext>
                </a:extLst>
              </a:tr>
              <a:tr h="553650">
                <a:tc>
                  <a:txBody>
                    <a:bodyPr/>
                    <a:lstStyle/>
                    <a:p>
                      <a:pPr algn="l" fontAlgn="ctr">
                        <a:buNone/>
                      </a:pPr>
                      <a:r>
                        <a:rPr lang="en-GB" sz="1200" u="none" strike="noStrike">
                          <a:effectLst/>
                        </a:rPr>
                        <a:t>New entities in future periods</a:t>
                      </a:r>
                      <a:endParaRPr lang="en-GB" sz="12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200" u="none" strike="noStrike" dirty="0">
                          <a:effectLst/>
                        </a:rPr>
                        <a:t>Entity holdout plus temporal holdout</a:t>
                      </a:r>
                      <a:endParaRPr lang="en-GB" sz="1200" b="0" i="0" u="none" strike="noStrike" dirty="0">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3477627861"/>
                  </a:ext>
                </a:extLst>
              </a:tr>
            </a:tbl>
          </a:graphicData>
        </a:graphic>
      </p:graphicFrame>
      <p:sp>
        <p:nvSpPr>
          <p:cNvPr id="5" name="CasellaDiTesto 4">
            <a:extLst>
              <a:ext uri="{FF2B5EF4-FFF2-40B4-BE49-F238E27FC236}">
                <a16:creationId xmlns:a16="http://schemas.microsoft.com/office/drawing/2014/main" id="{D52739A5-1915-2FC1-FB6B-F730417D9AA4}"/>
              </a:ext>
            </a:extLst>
          </p:cNvPr>
          <p:cNvSpPr txBox="1"/>
          <p:nvPr/>
        </p:nvSpPr>
        <p:spPr>
          <a:xfrm>
            <a:off x="6210744" y="5925234"/>
            <a:ext cx="4771417" cy="646331"/>
          </a:xfrm>
          <a:prstGeom prst="rect">
            <a:avLst/>
          </a:prstGeom>
          <a:noFill/>
        </p:spPr>
        <p:txBody>
          <a:bodyPr wrap="square">
            <a:spAutoFit/>
          </a:bodyPr>
          <a:lstStyle/>
          <a:p>
            <a:r>
              <a:rPr lang="en-GB" b="1" dirty="0"/>
              <a:t>The split (and data collection, if feasible) is part of the problem definition.</a:t>
            </a:r>
          </a:p>
        </p:txBody>
      </p:sp>
    </p:spTree>
    <p:extLst>
      <p:ext uri="{BB962C8B-B14F-4D97-AF65-F5344CB8AC3E}">
        <p14:creationId xmlns:p14="http://schemas.microsoft.com/office/powerpoint/2010/main" val="1596537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A7E059-0D05-1402-603F-14F41D34801C}"/>
              </a:ext>
            </a:extLst>
          </p:cNvPr>
          <p:cNvSpPr>
            <a:spLocks noGrp="1"/>
          </p:cNvSpPr>
          <p:nvPr>
            <p:ph type="title"/>
          </p:nvPr>
        </p:nvSpPr>
        <p:spPr/>
        <p:txBody>
          <a:bodyPr/>
          <a:lstStyle/>
          <a:p>
            <a:r>
              <a:rPr lang="en-GB" dirty="0"/>
              <a:t>A high score may answer the wrong question</a:t>
            </a:r>
          </a:p>
        </p:txBody>
      </p:sp>
      <p:sp>
        <p:nvSpPr>
          <p:cNvPr id="3" name="Segnaposto contenuto 2">
            <a:extLst>
              <a:ext uri="{FF2B5EF4-FFF2-40B4-BE49-F238E27FC236}">
                <a16:creationId xmlns:a16="http://schemas.microsoft.com/office/drawing/2014/main" id="{DBB87B73-2CEB-0E2C-E64C-D23BE36C2ADC}"/>
              </a:ext>
            </a:extLst>
          </p:cNvPr>
          <p:cNvSpPr>
            <a:spLocks noGrp="1"/>
          </p:cNvSpPr>
          <p:nvPr>
            <p:ph idx="1"/>
          </p:nvPr>
        </p:nvSpPr>
        <p:spPr/>
        <p:txBody>
          <a:bodyPr>
            <a:normAutofit fontScale="92500" lnSpcReduction="20000"/>
          </a:bodyPr>
          <a:lstStyle/>
          <a:p>
            <a:r>
              <a:rPr lang="en-GB" dirty="0"/>
              <a:t>Consider a dataset containing several cycles from the same machines.</a:t>
            </a:r>
          </a:p>
          <a:p>
            <a:pPr lvl="1"/>
            <a:r>
              <a:rPr lang="en-GB" dirty="0"/>
              <a:t>Machine A: cycles A1, A2, A3, A4</a:t>
            </a:r>
          </a:p>
          <a:p>
            <a:pPr lvl="1"/>
            <a:r>
              <a:rPr lang="en-GB" dirty="0"/>
              <a:t>Machine B: cycles B1, B2, B3, B4</a:t>
            </a:r>
          </a:p>
          <a:p>
            <a:pPr lvl="1"/>
            <a:r>
              <a:rPr lang="en-GB" dirty="0"/>
              <a:t>Machine C: cycles C1, C2, C3, C4</a:t>
            </a:r>
          </a:p>
          <a:p>
            <a:endParaRPr lang="en-GB" b="1" dirty="0"/>
          </a:p>
          <a:p>
            <a:r>
              <a:rPr lang="en-GB" b="1" dirty="0"/>
              <a:t>Protocol A — Random windows from all machines</a:t>
            </a:r>
          </a:p>
          <a:p>
            <a:r>
              <a:rPr lang="en-GB" dirty="0"/>
              <a:t>Training and test sets contain windows from Machines A, B and C.</a:t>
            </a:r>
          </a:p>
          <a:p>
            <a:r>
              <a:rPr lang="en-GB" dirty="0"/>
              <a:t>This measures:</a:t>
            </a:r>
          </a:p>
          <a:p>
            <a:pPr lvl="1"/>
            <a:r>
              <a:rPr lang="en-GB" dirty="0"/>
              <a:t>performance on windows similar to those already observed;</a:t>
            </a:r>
          </a:p>
          <a:p>
            <a:pPr lvl="1"/>
            <a:r>
              <a:rPr lang="en-GB" dirty="0"/>
              <a:t>partial memorization of machine-specific characteristics;</a:t>
            </a:r>
          </a:p>
          <a:p>
            <a:pPr lvl="1"/>
            <a:r>
              <a:rPr lang="en-GB" dirty="0"/>
              <a:t>interpolation within known entities.</a:t>
            </a:r>
          </a:p>
          <a:p>
            <a:pPr lvl="1"/>
            <a:r>
              <a:rPr lang="en-GB" dirty="0"/>
              <a:t>It does not demonstrate performance on a new machine.</a:t>
            </a:r>
          </a:p>
          <a:p>
            <a:endParaRPr lang="en-GB" dirty="0"/>
          </a:p>
        </p:txBody>
      </p:sp>
    </p:spTree>
    <p:extLst>
      <p:ext uri="{BB962C8B-B14F-4D97-AF65-F5344CB8AC3E}">
        <p14:creationId xmlns:p14="http://schemas.microsoft.com/office/powerpoint/2010/main" val="14994917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F541F19-ED57-107F-D146-625780E6B944}"/>
              </a:ext>
            </a:extLst>
          </p:cNvPr>
          <p:cNvSpPr>
            <a:spLocks noGrp="1"/>
          </p:cNvSpPr>
          <p:nvPr>
            <p:ph type="title"/>
          </p:nvPr>
        </p:nvSpPr>
        <p:spPr/>
        <p:txBody>
          <a:bodyPr/>
          <a:lstStyle/>
          <a:p>
            <a:r>
              <a:rPr lang="en-GB" dirty="0"/>
              <a:t>A high score may answer the wrong question</a:t>
            </a:r>
          </a:p>
        </p:txBody>
      </p:sp>
      <p:sp>
        <p:nvSpPr>
          <p:cNvPr id="3" name="Segnaposto contenuto 2">
            <a:extLst>
              <a:ext uri="{FF2B5EF4-FFF2-40B4-BE49-F238E27FC236}">
                <a16:creationId xmlns:a16="http://schemas.microsoft.com/office/drawing/2014/main" id="{D65039D4-9788-64DF-0195-4C49515BA1E0}"/>
              </a:ext>
            </a:extLst>
          </p:cNvPr>
          <p:cNvSpPr>
            <a:spLocks noGrp="1"/>
          </p:cNvSpPr>
          <p:nvPr>
            <p:ph sz="half" idx="1"/>
          </p:nvPr>
        </p:nvSpPr>
        <p:spPr/>
        <p:txBody>
          <a:bodyPr>
            <a:normAutofit fontScale="77500" lnSpcReduction="20000"/>
          </a:bodyPr>
          <a:lstStyle/>
          <a:p>
            <a:r>
              <a:rPr lang="en-GB" b="1" dirty="0"/>
              <a:t>Protocol B — Complete cycles held out</a:t>
            </a:r>
          </a:p>
          <a:p>
            <a:r>
              <a:rPr lang="en-GB" dirty="0"/>
              <a:t>Training:</a:t>
            </a:r>
          </a:p>
          <a:p>
            <a:pPr lvl="1"/>
            <a:r>
              <a:rPr lang="en-GB" dirty="0"/>
              <a:t>A1, A2, A3;</a:t>
            </a:r>
          </a:p>
          <a:p>
            <a:pPr lvl="1"/>
            <a:r>
              <a:rPr lang="en-GB" dirty="0"/>
              <a:t>B1, B2, B3;</a:t>
            </a:r>
          </a:p>
          <a:p>
            <a:pPr lvl="1"/>
            <a:r>
              <a:rPr lang="en-GB" dirty="0"/>
              <a:t>C1, C2, C3.</a:t>
            </a:r>
          </a:p>
          <a:p>
            <a:r>
              <a:rPr lang="en-GB" dirty="0"/>
              <a:t>Test:</a:t>
            </a:r>
          </a:p>
          <a:p>
            <a:pPr lvl="1"/>
            <a:r>
              <a:rPr lang="en-GB" dirty="0"/>
              <a:t>A4, B4, C4.</a:t>
            </a:r>
          </a:p>
          <a:p>
            <a:r>
              <a:rPr lang="en-GB" dirty="0"/>
              <a:t>This measures: generalization to new cycles from known machines.</a:t>
            </a:r>
          </a:p>
          <a:p>
            <a:pPr marL="0" indent="0">
              <a:buNone/>
            </a:pPr>
            <a:endParaRPr lang="en-GB" dirty="0"/>
          </a:p>
        </p:txBody>
      </p:sp>
      <p:sp>
        <p:nvSpPr>
          <p:cNvPr id="4" name="Segnaposto contenuto 3">
            <a:extLst>
              <a:ext uri="{FF2B5EF4-FFF2-40B4-BE49-F238E27FC236}">
                <a16:creationId xmlns:a16="http://schemas.microsoft.com/office/drawing/2014/main" id="{2FC2639E-D177-DE65-00C9-6614A25D3E3E}"/>
              </a:ext>
            </a:extLst>
          </p:cNvPr>
          <p:cNvSpPr>
            <a:spLocks noGrp="1"/>
          </p:cNvSpPr>
          <p:nvPr>
            <p:ph sz="half" idx="2"/>
          </p:nvPr>
        </p:nvSpPr>
        <p:spPr/>
        <p:txBody>
          <a:bodyPr>
            <a:normAutofit fontScale="77500" lnSpcReduction="20000"/>
          </a:bodyPr>
          <a:lstStyle/>
          <a:p>
            <a:r>
              <a:rPr lang="en-GB" b="1" dirty="0"/>
              <a:t>Protocol C — Complete machine held out</a:t>
            </a:r>
          </a:p>
          <a:p>
            <a:r>
              <a:rPr lang="en-GB" dirty="0"/>
              <a:t>Training: all cycles from Machines A and B.</a:t>
            </a:r>
          </a:p>
          <a:p>
            <a:r>
              <a:rPr lang="en-GB" dirty="0"/>
              <a:t>Test: all cycles from Machine C.</a:t>
            </a:r>
          </a:p>
          <a:p>
            <a:r>
              <a:rPr lang="en-GB" dirty="0"/>
              <a:t>This measures: generalization to an unseen entity.</a:t>
            </a:r>
          </a:p>
          <a:p>
            <a:endParaRPr lang="en-GB" b="1" dirty="0"/>
          </a:p>
          <a:p>
            <a:r>
              <a:rPr lang="en-GB" b="1" dirty="0"/>
              <a:t>Protocol D — Future cycles from an unseen machine</a:t>
            </a:r>
          </a:p>
          <a:p>
            <a:r>
              <a:rPr lang="en-GB" dirty="0"/>
              <a:t>Training: earlier data from Machines A and B.</a:t>
            </a:r>
          </a:p>
          <a:p>
            <a:r>
              <a:rPr lang="en-GB" dirty="0"/>
              <a:t>Test: later data from Machine C.</a:t>
            </a:r>
          </a:p>
          <a:p>
            <a:r>
              <a:rPr lang="en-GB" dirty="0"/>
              <a:t>This combines:</a:t>
            </a:r>
          </a:p>
          <a:p>
            <a:pPr lvl="1"/>
            <a:r>
              <a:rPr lang="en-GB" dirty="0"/>
              <a:t>entity generalization;</a:t>
            </a:r>
          </a:p>
          <a:p>
            <a:pPr lvl="1"/>
            <a:r>
              <a:rPr lang="en-GB" dirty="0"/>
              <a:t>temporal generalization.</a:t>
            </a:r>
          </a:p>
          <a:p>
            <a:endParaRPr lang="en-GB" dirty="0"/>
          </a:p>
        </p:txBody>
      </p:sp>
      <p:sp>
        <p:nvSpPr>
          <p:cNvPr id="6" name="CasellaDiTesto 5">
            <a:extLst>
              <a:ext uri="{FF2B5EF4-FFF2-40B4-BE49-F238E27FC236}">
                <a16:creationId xmlns:a16="http://schemas.microsoft.com/office/drawing/2014/main" id="{7D17BFCF-FCE4-4335-A510-62331D563BF9}"/>
              </a:ext>
            </a:extLst>
          </p:cNvPr>
          <p:cNvSpPr txBox="1"/>
          <p:nvPr/>
        </p:nvSpPr>
        <p:spPr>
          <a:xfrm>
            <a:off x="2485416" y="6140865"/>
            <a:ext cx="6099242" cy="646331"/>
          </a:xfrm>
          <a:prstGeom prst="rect">
            <a:avLst/>
          </a:prstGeom>
          <a:noFill/>
        </p:spPr>
        <p:txBody>
          <a:bodyPr wrap="square">
            <a:spAutoFit/>
          </a:bodyPr>
          <a:lstStyle/>
          <a:p>
            <a:r>
              <a:rPr lang="en-GB" sz="1800" dirty="0"/>
              <a:t>The four protocols may produce very different scores because they evaluate different capabilities.</a:t>
            </a:r>
          </a:p>
        </p:txBody>
      </p:sp>
    </p:spTree>
    <p:extLst>
      <p:ext uri="{BB962C8B-B14F-4D97-AF65-F5344CB8AC3E}">
        <p14:creationId xmlns:p14="http://schemas.microsoft.com/office/powerpoint/2010/main" val="911474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567160" y="0"/>
            <a:ext cx="621792" cy="6858000"/>
          </a:xfrm>
          <a:prstGeom prst="rect">
            <a:avLst/>
          </a:prstGeom>
          <a:solidFill>
            <a:srgbClr val="89C52A">
              <a:alpha val="90000"/>
            </a:srgbClr>
          </a:solidFill>
          <a:ln w="12700">
            <a:solidFill>
              <a:srgbClr val="89C52A">
                <a:alpha val="0"/>
              </a:srgbClr>
            </a:solidFill>
            <a:prstDash val="solid"/>
          </a:ln>
        </p:spPr>
        <p:txBody>
          <a:bodyPr/>
          <a:lstStyle/>
          <a:p>
            <a:endParaRPr lang="en-GB"/>
          </a:p>
        </p:txBody>
      </p:sp>
      <p:sp>
        <p:nvSpPr>
          <p:cNvPr id="3" name="Text 1"/>
          <p:cNvSpPr/>
          <p:nvPr/>
        </p:nvSpPr>
        <p:spPr>
          <a:xfrm>
            <a:off x="502920" y="329184"/>
            <a:ext cx="7589520" cy="347472"/>
          </a:xfrm>
          <a:prstGeom prst="rect">
            <a:avLst/>
          </a:prstGeom>
          <a:noFill/>
          <a:ln/>
        </p:spPr>
        <p:txBody>
          <a:bodyPr wrap="square" lIns="0" tIns="0" rIns="0" bIns="0" rtlCol="0" anchor="ctr"/>
          <a:lstStyle/>
          <a:p>
            <a:pPr marL="0" indent="0">
              <a:buNone/>
            </a:pPr>
            <a:r>
              <a:rPr lang="en-US" sz="2400" b="1" dirty="0">
                <a:solidFill>
                  <a:srgbClr val="111827"/>
                </a:solidFill>
                <a:highlight>
                  <a:srgbClr val="FFFF00"/>
                </a:highlight>
                <a:latin typeface="Aptos Display" pitchFamily="34" charset="0"/>
                <a:ea typeface="Aptos Display" pitchFamily="34" charset="-122"/>
                <a:cs typeface="Aptos Display" pitchFamily="34" charset="-120"/>
              </a:rPr>
              <a:t>Train/test </a:t>
            </a:r>
            <a:r>
              <a:rPr lang="en-US" sz="2400" b="1" dirty="0">
                <a:solidFill>
                  <a:srgbClr val="111827"/>
                </a:solidFill>
                <a:latin typeface="Aptos Display" pitchFamily="34" charset="0"/>
                <a:ea typeface="Aptos Display" pitchFamily="34" charset="-122"/>
                <a:cs typeface="Aptos Display" pitchFamily="34" charset="-120"/>
              </a:rPr>
              <a:t>splits over a machine-observation period table</a:t>
            </a:r>
            <a:endParaRPr lang="en-US" sz="2400" dirty="0"/>
          </a:p>
        </p:txBody>
      </p:sp>
      <p:sp>
        <p:nvSpPr>
          <p:cNvPr id="4" name="Text 2"/>
          <p:cNvSpPr/>
          <p:nvPr/>
        </p:nvSpPr>
        <p:spPr>
          <a:xfrm>
            <a:off x="512064" y="777240"/>
            <a:ext cx="6675120" cy="228600"/>
          </a:xfrm>
          <a:prstGeom prst="rect">
            <a:avLst/>
          </a:prstGeom>
          <a:noFill/>
          <a:ln/>
        </p:spPr>
        <p:txBody>
          <a:bodyPr wrap="square" lIns="0" tIns="0" rIns="0" bIns="0" rtlCol="0" anchor="ctr"/>
          <a:lstStyle/>
          <a:p>
            <a:pPr marL="0" indent="0">
              <a:buNone/>
            </a:pPr>
            <a:r>
              <a:rPr lang="en-US" sz="1220" dirty="0">
                <a:solidFill>
                  <a:srgbClr val="5E6E84"/>
                </a:solidFill>
                <a:latin typeface="Aptos" pitchFamily="34" charset="0"/>
                <a:ea typeface="Aptos" pitchFamily="34" charset="-122"/>
                <a:cs typeface="Aptos" pitchFamily="34" charset="-120"/>
              </a:rPr>
              <a:t>The same data layout can define different generalization questions.</a:t>
            </a:r>
            <a:endParaRPr lang="en-US" sz="1220" dirty="0"/>
          </a:p>
        </p:txBody>
      </p:sp>
      <p:sp>
        <p:nvSpPr>
          <p:cNvPr id="5" name="Text 3"/>
          <p:cNvSpPr/>
          <p:nvPr/>
        </p:nvSpPr>
        <p:spPr>
          <a:xfrm>
            <a:off x="8778240" y="320040"/>
            <a:ext cx="566928" cy="164592"/>
          </a:xfrm>
          <a:prstGeom prst="rect">
            <a:avLst/>
          </a:prstGeom>
          <a:noFill/>
          <a:ln/>
        </p:spPr>
        <p:txBody>
          <a:bodyPr wrap="square" lIns="0" tIns="0" rIns="0" bIns="0" rtlCol="0" anchor="ctr"/>
          <a:lstStyle/>
          <a:p>
            <a:pPr marL="0" indent="0">
              <a:buNone/>
            </a:pPr>
            <a:r>
              <a:rPr lang="en-US" sz="870" b="1" dirty="0">
                <a:solidFill>
                  <a:srgbClr val="5E6E84"/>
                </a:solidFill>
              </a:rPr>
              <a:t>Legend</a:t>
            </a:r>
            <a:endParaRPr lang="en-US" sz="870" dirty="0"/>
          </a:p>
        </p:txBody>
      </p:sp>
      <p:sp>
        <p:nvSpPr>
          <p:cNvPr id="6" name="Shape 4"/>
          <p:cNvSpPr/>
          <p:nvPr/>
        </p:nvSpPr>
        <p:spPr>
          <a:xfrm>
            <a:off x="9555480" y="301752"/>
            <a:ext cx="201168" cy="201168"/>
          </a:xfrm>
          <a:prstGeom prst="rect">
            <a:avLst/>
          </a:prstGeom>
          <a:solidFill>
            <a:srgbClr val="D7E9FF"/>
          </a:solidFill>
          <a:ln w="13970">
            <a:solidFill>
              <a:srgbClr val="2F6BEA"/>
            </a:solidFill>
            <a:prstDash val="solid"/>
          </a:ln>
        </p:spPr>
        <p:txBody>
          <a:bodyPr/>
          <a:lstStyle/>
          <a:p>
            <a:endParaRPr lang="en-GB"/>
          </a:p>
        </p:txBody>
      </p:sp>
      <p:sp>
        <p:nvSpPr>
          <p:cNvPr id="7" name="Text 5"/>
          <p:cNvSpPr/>
          <p:nvPr/>
        </p:nvSpPr>
        <p:spPr>
          <a:xfrm>
            <a:off x="9811512" y="320040"/>
            <a:ext cx="429768" cy="146304"/>
          </a:xfrm>
          <a:prstGeom prst="rect">
            <a:avLst/>
          </a:prstGeom>
          <a:noFill/>
          <a:ln/>
        </p:spPr>
        <p:txBody>
          <a:bodyPr wrap="square" lIns="0" tIns="0" rIns="0" bIns="0" rtlCol="0" anchor="ctr"/>
          <a:lstStyle/>
          <a:p>
            <a:pPr marL="0" indent="0">
              <a:buNone/>
            </a:pPr>
            <a:r>
              <a:rPr lang="en-US" sz="840" dirty="0">
                <a:solidFill>
                  <a:srgbClr val="111827"/>
                </a:solidFill>
              </a:rPr>
              <a:t>Train</a:t>
            </a:r>
            <a:endParaRPr lang="en-US" sz="840" dirty="0"/>
          </a:p>
        </p:txBody>
      </p:sp>
      <p:sp>
        <p:nvSpPr>
          <p:cNvPr id="8" name="Shape 6"/>
          <p:cNvSpPr/>
          <p:nvPr/>
        </p:nvSpPr>
        <p:spPr>
          <a:xfrm>
            <a:off x="10378440" y="301752"/>
            <a:ext cx="201168" cy="201168"/>
          </a:xfrm>
          <a:prstGeom prst="rect">
            <a:avLst/>
          </a:prstGeom>
          <a:solidFill>
            <a:srgbClr val="FFE7B8"/>
          </a:solidFill>
          <a:ln w="13970">
            <a:solidFill>
              <a:srgbClr val="F59E0B"/>
            </a:solidFill>
            <a:prstDash val="solid"/>
          </a:ln>
        </p:spPr>
        <p:txBody>
          <a:bodyPr/>
          <a:lstStyle/>
          <a:p>
            <a:endParaRPr lang="en-GB"/>
          </a:p>
        </p:txBody>
      </p:sp>
      <p:sp>
        <p:nvSpPr>
          <p:cNvPr id="9" name="Text 7"/>
          <p:cNvSpPr/>
          <p:nvPr/>
        </p:nvSpPr>
        <p:spPr>
          <a:xfrm>
            <a:off x="10634472" y="320040"/>
            <a:ext cx="347472" cy="146304"/>
          </a:xfrm>
          <a:prstGeom prst="rect">
            <a:avLst/>
          </a:prstGeom>
          <a:noFill/>
          <a:ln/>
        </p:spPr>
        <p:txBody>
          <a:bodyPr wrap="square" lIns="0" tIns="0" rIns="0" bIns="0" rtlCol="0" anchor="ctr"/>
          <a:lstStyle/>
          <a:p>
            <a:pPr marL="0" indent="0">
              <a:buNone/>
            </a:pPr>
            <a:r>
              <a:rPr lang="en-US" sz="840" dirty="0">
                <a:solidFill>
                  <a:srgbClr val="111827"/>
                </a:solidFill>
              </a:rPr>
              <a:t>Test</a:t>
            </a:r>
            <a:endParaRPr lang="en-US" sz="840" dirty="0"/>
          </a:p>
        </p:txBody>
      </p:sp>
      <p:sp>
        <p:nvSpPr>
          <p:cNvPr id="10" name="Shape 8"/>
          <p:cNvSpPr/>
          <p:nvPr/>
        </p:nvSpPr>
        <p:spPr>
          <a:xfrm>
            <a:off x="9555480" y="640080"/>
            <a:ext cx="201168" cy="201168"/>
          </a:xfrm>
          <a:prstGeom prst="rect">
            <a:avLst/>
          </a:prstGeom>
          <a:solidFill>
            <a:srgbClr val="EEF2F6"/>
          </a:solidFill>
          <a:ln w="13970">
            <a:solidFill>
              <a:srgbClr val="C8D3DF"/>
            </a:solidFill>
            <a:prstDash val="solid"/>
          </a:ln>
        </p:spPr>
        <p:txBody>
          <a:bodyPr/>
          <a:lstStyle/>
          <a:p>
            <a:endParaRPr lang="en-GB"/>
          </a:p>
        </p:txBody>
      </p:sp>
      <p:sp>
        <p:nvSpPr>
          <p:cNvPr id="11" name="Text 9"/>
          <p:cNvSpPr/>
          <p:nvPr/>
        </p:nvSpPr>
        <p:spPr>
          <a:xfrm>
            <a:off x="9811512" y="658368"/>
            <a:ext cx="685800" cy="146304"/>
          </a:xfrm>
          <a:prstGeom prst="rect">
            <a:avLst/>
          </a:prstGeom>
          <a:noFill/>
          <a:ln/>
        </p:spPr>
        <p:txBody>
          <a:bodyPr wrap="square" lIns="0" tIns="0" rIns="0" bIns="0" rtlCol="0" anchor="ctr"/>
          <a:lstStyle/>
          <a:p>
            <a:pPr marL="0" indent="0">
              <a:buNone/>
            </a:pPr>
            <a:r>
              <a:rPr lang="en-US" sz="840" dirty="0">
                <a:solidFill>
                  <a:srgbClr val="5E6E84"/>
                </a:solidFill>
              </a:rPr>
              <a:t>Not used</a:t>
            </a:r>
            <a:endParaRPr lang="en-US" sz="840" dirty="0"/>
          </a:p>
        </p:txBody>
      </p:sp>
      <p:sp>
        <p:nvSpPr>
          <p:cNvPr id="12" name="Text 10"/>
          <p:cNvSpPr/>
          <p:nvPr/>
        </p:nvSpPr>
        <p:spPr>
          <a:xfrm>
            <a:off x="658368" y="1261872"/>
            <a:ext cx="5074920" cy="228600"/>
          </a:xfrm>
          <a:prstGeom prst="rect">
            <a:avLst/>
          </a:prstGeom>
          <a:noFill/>
          <a:ln/>
        </p:spPr>
        <p:txBody>
          <a:bodyPr wrap="square" lIns="0" tIns="0" rIns="0" bIns="0" rtlCol="0" anchor="ctr"/>
          <a:lstStyle/>
          <a:p>
            <a:r>
              <a:rPr lang="en-US" sz="1480" b="1" dirty="0">
                <a:solidFill>
                  <a:srgbClr val="111827"/>
                </a:solidFill>
                <a:latin typeface="Aptos Display" pitchFamily="34" charset="0"/>
                <a:ea typeface="Aptos Display" pitchFamily="34" charset="-122"/>
                <a:cs typeface="Aptos Display" pitchFamily="34" charset="-120"/>
              </a:rPr>
              <a:t>1. </a:t>
            </a:r>
            <a:r>
              <a:rPr lang="en-GB" sz="1400" b="1" dirty="0"/>
              <a:t>Same machines, mixed periods</a:t>
            </a:r>
            <a:endParaRPr lang="en-US" sz="1480" b="1" dirty="0"/>
          </a:p>
        </p:txBody>
      </p:sp>
      <p:sp>
        <p:nvSpPr>
          <p:cNvPr id="13" name="Text 11"/>
          <p:cNvSpPr/>
          <p:nvPr/>
        </p:nvSpPr>
        <p:spPr>
          <a:xfrm>
            <a:off x="658368" y="1563624"/>
            <a:ext cx="5074920" cy="210312"/>
          </a:xfrm>
          <a:prstGeom prst="rect">
            <a:avLst/>
          </a:prstGeom>
          <a:noFill/>
          <a:ln/>
        </p:spPr>
        <p:txBody>
          <a:bodyPr wrap="square" lIns="0" tIns="0" rIns="0" bIns="0" rtlCol="0" anchor="ctr"/>
          <a:lstStyle/>
          <a:p>
            <a:pPr marL="0" indent="0">
              <a:buNone/>
            </a:pPr>
            <a:r>
              <a:rPr lang="en-US" sz="890" dirty="0">
                <a:solidFill>
                  <a:srgbClr val="5E6E84"/>
                </a:solidFill>
              </a:rPr>
              <a:t>train and test cycles come from the same machines</a:t>
            </a:r>
            <a:endParaRPr lang="en-US" sz="890" dirty="0"/>
          </a:p>
        </p:txBody>
      </p:sp>
      <p:sp>
        <p:nvSpPr>
          <p:cNvPr id="14" name="Text 12"/>
          <p:cNvSpPr/>
          <p:nvPr/>
        </p:nvSpPr>
        <p:spPr>
          <a:xfrm>
            <a:off x="1956816"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P1</a:t>
            </a:r>
            <a:endParaRPr lang="en-US" sz="880" dirty="0"/>
          </a:p>
        </p:txBody>
      </p:sp>
      <p:sp>
        <p:nvSpPr>
          <p:cNvPr id="15" name="Text 13"/>
          <p:cNvSpPr/>
          <p:nvPr/>
        </p:nvSpPr>
        <p:spPr>
          <a:xfrm>
            <a:off x="2587752"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P2</a:t>
            </a:r>
            <a:endParaRPr lang="en-US" sz="880" dirty="0"/>
          </a:p>
        </p:txBody>
      </p:sp>
      <p:sp>
        <p:nvSpPr>
          <p:cNvPr id="16" name="Text 14"/>
          <p:cNvSpPr/>
          <p:nvPr/>
        </p:nvSpPr>
        <p:spPr>
          <a:xfrm>
            <a:off x="3218688"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P3</a:t>
            </a:r>
            <a:endParaRPr lang="en-US" sz="880" dirty="0"/>
          </a:p>
        </p:txBody>
      </p:sp>
      <p:sp>
        <p:nvSpPr>
          <p:cNvPr id="17" name="Text 15"/>
          <p:cNvSpPr/>
          <p:nvPr/>
        </p:nvSpPr>
        <p:spPr>
          <a:xfrm>
            <a:off x="3849624"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P4</a:t>
            </a:r>
            <a:endParaRPr lang="en-US" sz="880" dirty="0"/>
          </a:p>
        </p:txBody>
      </p:sp>
      <p:sp>
        <p:nvSpPr>
          <p:cNvPr id="18" name="Text 16"/>
          <p:cNvSpPr/>
          <p:nvPr/>
        </p:nvSpPr>
        <p:spPr>
          <a:xfrm>
            <a:off x="704088" y="2176272"/>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A</a:t>
            </a:r>
            <a:endParaRPr lang="en-US" sz="870" dirty="0"/>
          </a:p>
        </p:txBody>
      </p:sp>
      <p:sp>
        <p:nvSpPr>
          <p:cNvPr id="19" name="Shape 17"/>
          <p:cNvSpPr/>
          <p:nvPr/>
        </p:nvSpPr>
        <p:spPr>
          <a:xfrm>
            <a:off x="1956816" y="2112264"/>
            <a:ext cx="566928" cy="283464"/>
          </a:xfrm>
          <a:prstGeom prst="rect">
            <a:avLst/>
          </a:prstGeom>
          <a:solidFill>
            <a:srgbClr val="D7E9FF"/>
          </a:solidFill>
          <a:ln w="13335">
            <a:solidFill>
              <a:srgbClr val="2F6BEA"/>
            </a:solidFill>
            <a:prstDash val="solid"/>
          </a:ln>
        </p:spPr>
        <p:txBody>
          <a:bodyPr/>
          <a:lstStyle/>
          <a:p>
            <a:endParaRPr lang="en-GB"/>
          </a:p>
        </p:txBody>
      </p:sp>
      <p:sp>
        <p:nvSpPr>
          <p:cNvPr id="20" name="Shape 18"/>
          <p:cNvSpPr/>
          <p:nvPr/>
        </p:nvSpPr>
        <p:spPr>
          <a:xfrm>
            <a:off x="2587752" y="2112264"/>
            <a:ext cx="566928" cy="283464"/>
          </a:xfrm>
          <a:prstGeom prst="rect">
            <a:avLst/>
          </a:prstGeom>
          <a:solidFill>
            <a:srgbClr val="D7E9FF"/>
          </a:solidFill>
          <a:ln w="13335">
            <a:solidFill>
              <a:srgbClr val="2F6BEA"/>
            </a:solidFill>
            <a:prstDash val="solid"/>
          </a:ln>
        </p:spPr>
        <p:txBody>
          <a:bodyPr/>
          <a:lstStyle/>
          <a:p>
            <a:endParaRPr lang="en-GB"/>
          </a:p>
        </p:txBody>
      </p:sp>
      <p:sp>
        <p:nvSpPr>
          <p:cNvPr id="21" name="Shape 19"/>
          <p:cNvSpPr/>
          <p:nvPr/>
        </p:nvSpPr>
        <p:spPr>
          <a:xfrm>
            <a:off x="3218688" y="2112264"/>
            <a:ext cx="566928" cy="283464"/>
          </a:xfrm>
          <a:prstGeom prst="rect">
            <a:avLst/>
          </a:prstGeom>
          <a:solidFill>
            <a:srgbClr val="FFE7B8"/>
          </a:solidFill>
          <a:ln w="13335">
            <a:solidFill>
              <a:srgbClr val="F59E0B"/>
            </a:solidFill>
            <a:prstDash val="solid"/>
          </a:ln>
        </p:spPr>
        <p:txBody>
          <a:bodyPr/>
          <a:lstStyle/>
          <a:p>
            <a:endParaRPr lang="en-GB"/>
          </a:p>
        </p:txBody>
      </p:sp>
      <p:sp>
        <p:nvSpPr>
          <p:cNvPr id="22" name="Shape 20"/>
          <p:cNvSpPr/>
          <p:nvPr/>
        </p:nvSpPr>
        <p:spPr>
          <a:xfrm>
            <a:off x="3849624" y="2112264"/>
            <a:ext cx="566928" cy="283464"/>
          </a:xfrm>
          <a:prstGeom prst="rect">
            <a:avLst/>
          </a:prstGeom>
          <a:solidFill>
            <a:srgbClr val="D7E9FF"/>
          </a:solidFill>
          <a:ln w="13335">
            <a:solidFill>
              <a:srgbClr val="2F6BEA"/>
            </a:solidFill>
            <a:prstDash val="solid"/>
          </a:ln>
        </p:spPr>
        <p:txBody>
          <a:bodyPr/>
          <a:lstStyle/>
          <a:p>
            <a:endParaRPr lang="en-GB"/>
          </a:p>
        </p:txBody>
      </p:sp>
      <p:sp>
        <p:nvSpPr>
          <p:cNvPr id="23" name="Text 21"/>
          <p:cNvSpPr/>
          <p:nvPr/>
        </p:nvSpPr>
        <p:spPr>
          <a:xfrm>
            <a:off x="704088" y="2523744"/>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B</a:t>
            </a:r>
            <a:endParaRPr lang="en-US" sz="870" dirty="0"/>
          </a:p>
        </p:txBody>
      </p:sp>
      <p:sp>
        <p:nvSpPr>
          <p:cNvPr id="24" name="Shape 22"/>
          <p:cNvSpPr/>
          <p:nvPr/>
        </p:nvSpPr>
        <p:spPr>
          <a:xfrm>
            <a:off x="1956816" y="2459736"/>
            <a:ext cx="566928" cy="283464"/>
          </a:xfrm>
          <a:prstGeom prst="rect">
            <a:avLst/>
          </a:prstGeom>
          <a:solidFill>
            <a:srgbClr val="D7E9FF"/>
          </a:solidFill>
          <a:ln w="13335">
            <a:solidFill>
              <a:srgbClr val="2F6BEA"/>
            </a:solidFill>
            <a:prstDash val="solid"/>
          </a:ln>
        </p:spPr>
        <p:txBody>
          <a:bodyPr/>
          <a:lstStyle/>
          <a:p>
            <a:endParaRPr lang="en-GB"/>
          </a:p>
        </p:txBody>
      </p:sp>
      <p:sp>
        <p:nvSpPr>
          <p:cNvPr id="25" name="Shape 23"/>
          <p:cNvSpPr/>
          <p:nvPr/>
        </p:nvSpPr>
        <p:spPr>
          <a:xfrm>
            <a:off x="2587752" y="2459736"/>
            <a:ext cx="566928" cy="283464"/>
          </a:xfrm>
          <a:prstGeom prst="rect">
            <a:avLst/>
          </a:prstGeom>
          <a:solidFill>
            <a:srgbClr val="FFE7B8"/>
          </a:solidFill>
          <a:ln w="13335">
            <a:solidFill>
              <a:srgbClr val="F59E0B"/>
            </a:solidFill>
            <a:prstDash val="solid"/>
          </a:ln>
        </p:spPr>
        <p:txBody>
          <a:bodyPr/>
          <a:lstStyle/>
          <a:p>
            <a:endParaRPr lang="en-GB"/>
          </a:p>
        </p:txBody>
      </p:sp>
      <p:sp>
        <p:nvSpPr>
          <p:cNvPr id="26" name="Shape 24"/>
          <p:cNvSpPr/>
          <p:nvPr/>
        </p:nvSpPr>
        <p:spPr>
          <a:xfrm>
            <a:off x="3218688" y="2459736"/>
            <a:ext cx="566928" cy="283464"/>
          </a:xfrm>
          <a:prstGeom prst="rect">
            <a:avLst/>
          </a:prstGeom>
          <a:solidFill>
            <a:srgbClr val="D7E9FF"/>
          </a:solidFill>
          <a:ln w="13335">
            <a:solidFill>
              <a:srgbClr val="2F6BEA"/>
            </a:solidFill>
            <a:prstDash val="solid"/>
          </a:ln>
        </p:spPr>
        <p:txBody>
          <a:bodyPr/>
          <a:lstStyle/>
          <a:p>
            <a:endParaRPr lang="en-GB"/>
          </a:p>
        </p:txBody>
      </p:sp>
      <p:sp>
        <p:nvSpPr>
          <p:cNvPr id="27" name="Shape 25"/>
          <p:cNvSpPr/>
          <p:nvPr/>
        </p:nvSpPr>
        <p:spPr>
          <a:xfrm>
            <a:off x="3849624" y="2459736"/>
            <a:ext cx="566928" cy="283464"/>
          </a:xfrm>
          <a:prstGeom prst="rect">
            <a:avLst/>
          </a:prstGeom>
          <a:solidFill>
            <a:srgbClr val="D7E9FF"/>
          </a:solidFill>
          <a:ln w="13335">
            <a:solidFill>
              <a:srgbClr val="2F6BEA"/>
            </a:solidFill>
            <a:prstDash val="solid"/>
          </a:ln>
        </p:spPr>
        <p:txBody>
          <a:bodyPr/>
          <a:lstStyle/>
          <a:p>
            <a:endParaRPr lang="en-GB"/>
          </a:p>
        </p:txBody>
      </p:sp>
      <p:sp>
        <p:nvSpPr>
          <p:cNvPr id="28" name="Text 26"/>
          <p:cNvSpPr/>
          <p:nvPr/>
        </p:nvSpPr>
        <p:spPr>
          <a:xfrm>
            <a:off x="704088" y="2871216"/>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C</a:t>
            </a:r>
            <a:endParaRPr lang="en-US" sz="870" dirty="0"/>
          </a:p>
        </p:txBody>
      </p:sp>
      <p:sp>
        <p:nvSpPr>
          <p:cNvPr id="29" name="Shape 27"/>
          <p:cNvSpPr/>
          <p:nvPr/>
        </p:nvSpPr>
        <p:spPr>
          <a:xfrm>
            <a:off x="1956816" y="2807208"/>
            <a:ext cx="566928" cy="283464"/>
          </a:xfrm>
          <a:prstGeom prst="rect">
            <a:avLst/>
          </a:prstGeom>
          <a:solidFill>
            <a:srgbClr val="D7E9FF"/>
          </a:solidFill>
          <a:ln w="13335">
            <a:solidFill>
              <a:srgbClr val="2F6BEA"/>
            </a:solidFill>
            <a:prstDash val="solid"/>
          </a:ln>
        </p:spPr>
        <p:txBody>
          <a:bodyPr/>
          <a:lstStyle/>
          <a:p>
            <a:endParaRPr lang="en-GB"/>
          </a:p>
        </p:txBody>
      </p:sp>
      <p:sp>
        <p:nvSpPr>
          <p:cNvPr id="30" name="Shape 28"/>
          <p:cNvSpPr/>
          <p:nvPr/>
        </p:nvSpPr>
        <p:spPr>
          <a:xfrm>
            <a:off x="2587752" y="2807208"/>
            <a:ext cx="566928" cy="283464"/>
          </a:xfrm>
          <a:prstGeom prst="rect">
            <a:avLst/>
          </a:prstGeom>
          <a:solidFill>
            <a:srgbClr val="D7E9FF"/>
          </a:solidFill>
          <a:ln w="13335">
            <a:solidFill>
              <a:srgbClr val="2F6BEA"/>
            </a:solidFill>
            <a:prstDash val="solid"/>
          </a:ln>
        </p:spPr>
        <p:txBody>
          <a:bodyPr/>
          <a:lstStyle/>
          <a:p>
            <a:endParaRPr lang="en-GB"/>
          </a:p>
        </p:txBody>
      </p:sp>
      <p:sp>
        <p:nvSpPr>
          <p:cNvPr id="31" name="Shape 29"/>
          <p:cNvSpPr/>
          <p:nvPr/>
        </p:nvSpPr>
        <p:spPr>
          <a:xfrm>
            <a:off x="3218688" y="2807208"/>
            <a:ext cx="566928" cy="283464"/>
          </a:xfrm>
          <a:prstGeom prst="rect">
            <a:avLst/>
          </a:prstGeom>
          <a:solidFill>
            <a:srgbClr val="D7E9FF"/>
          </a:solidFill>
          <a:ln w="13335">
            <a:solidFill>
              <a:srgbClr val="2F6BEA"/>
            </a:solidFill>
            <a:prstDash val="solid"/>
          </a:ln>
        </p:spPr>
        <p:txBody>
          <a:bodyPr/>
          <a:lstStyle/>
          <a:p>
            <a:endParaRPr lang="en-GB"/>
          </a:p>
        </p:txBody>
      </p:sp>
      <p:sp>
        <p:nvSpPr>
          <p:cNvPr id="32" name="Shape 30"/>
          <p:cNvSpPr/>
          <p:nvPr/>
        </p:nvSpPr>
        <p:spPr>
          <a:xfrm>
            <a:off x="3849624" y="2807208"/>
            <a:ext cx="566928" cy="283464"/>
          </a:xfrm>
          <a:prstGeom prst="rect">
            <a:avLst/>
          </a:prstGeom>
          <a:solidFill>
            <a:srgbClr val="FFE7B8"/>
          </a:solidFill>
          <a:ln w="13335">
            <a:solidFill>
              <a:srgbClr val="F59E0B"/>
            </a:solidFill>
            <a:prstDash val="solid"/>
          </a:ln>
        </p:spPr>
        <p:txBody>
          <a:bodyPr/>
          <a:lstStyle/>
          <a:p>
            <a:endParaRPr lang="en-GB"/>
          </a:p>
        </p:txBody>
      </p:sp>
      <p:sp>
        <p:nvSpPr>
          <p:cNvPr id="33" name="Text 31"/>
          <p:cNvSpPr/>
          <p:nvPr/>
        </p:nvSpPr>
        <p:spPr>
          <a:xfrm>
            <a:off x="704088" y="3218688"/>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D</a:t>
            </a:r>
            <a:endParaRPr lang="en-US" sz="870" dirty="0"/>
          </a:p>
        </p:txBody>
      </p:sp>
      <p:sp>
        <p:nvSpPr>
          <p:cNvPr id="34" name="Shape 32"/>
          <p:cNvSpPr/>
          <p:nvPr/>
        </p:nvSpPr>
        <p:spPr>
          <a:xfrm>
            <a:off x="1956816" y="3154680"/>
            <a:ext cx="566928" cy="283464"/>
          </a:xfrm>
          <a:prstGeom prst="rect">
            <a:avLst/>
          </a:prstGeom>
          <a:solidFill>
            <a:srgbClr val="FFE7B8"/>
          </a:solidFill>
          <a:ln w="13335">
            <a:solidFill>
              <a:srgbClr val="F59E0B"/>
            </a:solidFill>
            <a:prstDash val="solid"/>
          </a:ln>
        </p:spPr>
        <p:txBody>
          <a:bodyPr/>
          <a:lstStyle/>
          <a:p>
            <a:endParaRPr lang="en-GB"/>
          </a:p>
        </p:txBody>
      </p:sp>
      <p:sp>
        <p:nvSpPr>
          <p:cNvPr id="35" name="Shape 33"/>
          <p:cNvSpPr/>
          <p:nvPr/>
        </p:nvSpPr>
        <p:spPr>
          <a:xfrm>
            <a:off x="2587752" y="3154680"/>
            <a:ext cx="566928" cy="283464"/>
          </a:xfrm>
          <a:prstGeom prst="rect">
            <a:avLst/>
          </a:prstGeom>
          <a:solidFill>
            <a:srgbClr val="D7E9FF"/>
          </a:solidFill>
          <a:ln w="13335">
            <a:solidFill>
              <a:srgbClr val="2F6BEA"/>
            </a:solidFill>
            <a:prstDash val="solid"/>
          </a:ln>
        </p:spPr>
        <p:txBody>
          <a:bodyPr/>
          <a:lstStyle/>
          <a:p>
            <a:endParaRPr lang="en-GB"/>
          </a:p>
        </p:txBody>
      </p:sp>
      <p:sp>
        <p:nvSpPr>
          <p:cNvPr id="36" name="Shape 34"/>
          <p:cNvSpPr/>
          <p:nvPr/>
        </p:nvSpPr>
        <p:spPr>
          <a:xfrm>
            <a:off x="3218688" y="3154680"/>
            <a:ext cx="566928" cy="283464"/>
          </a:xfrm>
          <a:prstGeom prst="rect">
            <a:avLst/>
          </a:prstGeom>
          <a:solidFill>
            <a:srgbClr val="D7E9FF"/>
          </a:solidFill>
          <a:ln w="13335">
            <a:solidFill>
              <a:srgbClr val="2F6BEA"/>
            </a:solidFill>
            <a:prstDash val="solid"/>
          </a:ln>
        </p:spPr>
        <p:txBody>
          <a:bodyPr/>
          <a:lstStyle/>
          <a:p>
            <a:endParaRPr lang="en-GB"/>
          </a:p>
        </p:txBody>
      </p:sp>
      <p:sp>
        <p:nvSpPr>
          <p:cNvPr id="37" name="Shape 35"/>
          <p:cNvSpPr/>
          <p:nvPr/>
        </p:nvSpPr>
        <p:spPr>
          <a:xfrm>
            <a:off x="3849624" y="3154680"/>
            <a:ext cx="566928" cy="283464"/>
          </a:xfrm>
          <a:prstGeom prst="rect">
            <a:avLst/>
          </a:prstGeom>
          <a:solidFill>
            <a:srgbClr val="D7E9FF"/>
          </a:solidFill>
          <a:ln w="13335">
            <a:solidFill>
              <a:srgbClr val="2F6BEA"/>
            </a:solidFill>
            <a:prstDash val="solid"/>
          </a:ln>
        </p:spPr>
        <p:txBody>
          <a:bodyPr/>
          <a:lstStyle/>
          <a:p>
            <a:endParaRPr lang="en-GB"/>
          </a:p>
        </p:txBody>
      </p:sp>
      <p:sp>
        <p:nvSpPr>
          <p:cNvPr id="38" name="Text 36"/>
          <p:cNvSpPr/>
          <p:nvPr/>
        </p:nvSpPr>
        <p:spPr>
          <a:xfrm>
            <a:off x="6254496" y="1261872"/>
            <a:ext cx="5074920" cy="228600"/>
          </a:xfrm>
          <a:prstGeom prst="rect">
            <a:avLst/>
          </a:prstGeom>
          <a:noFill/>
          <a:ln/>
        </p:spPr>
        <p:txBody>
          <a:bodyPr wrap="square" lIns="0" tIns="0" rIns="0" bIns="0" rtlCol="0" anchor="ctr"/>
          <a:lstStyle/>
          <a:p>
            <a:pPr marL="0" indent="0">
              <a:buNone/>
            </a:pPr>
            <a:r>
              <a:rPr lang="en-US" sz="1480" b="1" dirty="0">
                <a:solidFill>
                  <a:srgbClr val="111827"/>
                </a:solidFill>
                <a:latin typeface="Aptos Display" pitchFamily="34" charset="0"/>
                <a:ea typeface="Aptos Display" pitchFamily="34" charset="-122"/>
                <a:cs typeface="Aptos Display" pitchFamily="34" charset="-120"/>
              </a:rPr>
              <a:t>2. Future-period split</a:t>
            </a:r>
            <a:endParaRPr lang="en-US" sz="1480" dirty="0"/>
          </a:p>
        </p:txBody>
      </p:sp>
      <p:sp>
        <p:nvSpPr>
          <p:cNvPr id="39" name="Text 37"/>
          <p:cNvSpPr/>
          <p:nvPr/>
        </p:nvSpPr>
        <p:spPr>
          <a:xfrm>
            <a:off x="6254496" y="1563624"/>
            <a:ext cx="5074920" cy="210312"/>
          </a:xfrm>
          <a:prstGeom prst="rect">
            <a:avLst/>
          </a:prstGeom>
          <a:noFill/>
          <a:ln/>
        </p:spPr>
        <p:txBody>
          <a:bodyPr wrap="square" lIns="0" tIns="0" rIns="0" bIns="0" rtlCol="0" anchor="ctr"/>
          <a:lstStyle/>
          <a:p>
            <a:pPr marL="0" indent="0">
              <a:buNone/>
            </a:pPr>
            <a:r>
              <a:rPr lang="en-US" sz="890" dirty="0">
                <a:solidFill>
                  <a:srgbClr val="5E6E84"/>
                </a:solidFill>
              </a:rPr>
              <a:t>P1 → P4 are chronological: train earlier cycles, test later cycles</a:t>
            </a:r>
            <a:endParaRPr lang="en-US" sz="890" dirty="0"/>
          </a:p>
        </p:txBody>
      </p:sp>
      <p:sp>
        <p:nvSpPr>
          <p:cNvPr id="40" name="Text 38"/>
          <p:cNvSpPr/>
          <p:nvPr/>
        </p:nvSpPr>
        <p:spPr>
          <a:xfrm>
            <a:off x="7552944"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P1</a:t>
            </a:r>
            <a:endParaRPr lang="en-US" sz="880" dirty="0"/>
          </a:p>
        </p:txBody>
      </p:sp>
      <p:sp>
        <p:nvSpPr>
          <p:cNvPr id="41" name="Text 39"/>
          <p:cNvSpPr/>
          <p:nvPr/>
        </p:nvSpPr>
        <p:spPr>
          <a:xfrm>
            <a:off x="8183880"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P2</a:t>
            </a:r>
            <a:endParaRPr lang="en-US" sz="880" dirty="0"/>
          </a:p>
        </p:txBody>
      </p:sp>
      <p:sp>
        <p:nvSpPr>
          <p:cNvPr id="42" name="Text 40"/>
          <p:cNvSpPr/>
          <p:nvPr/>
        </p:nvSpPr>
        <p:spPr>
          <a:xfrm>
            <a:off x="8814816"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P3</a:t>
            </a:r>
            <a:endParaRPr lang="en-US" sz="880" dirty="0"/>
          </a:p>
        </p:txBody>
      </p:sp>
      <p:sp>
        <p:nvSpPr>
          <p:cNvPr id="43" name="Text 41"/>
          <p:cNvSpPr/>
          <p:nvPr/>
        </p:nvSpPr>
        <p:spPr>
          <a:xfrm>
            <a:off x="9445752" y="1865376"/>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P4</a:t>
            </a:r>
            <a:endParaRPr lang="en-US" sz="880" dirty="0"/>
          </a:p>
        </p:txBody>
      </p:sp>
      <p:sp>
        <p:nvSpPr>
          <p:cNvPr id="44" name="Text 42"/>
          <p:cNvSpPr/>
          <p:nvPr/>
        </p:nvSpPr>
        <p:spPr>
          <a:xfrm>
            <a:off x="6300216" y="2176272"/>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A</a:t>
            </a:r>
            <a:endParaRPr lang="en-US" sz="870" dirty="0"/>
          </a:p>
        </p:txBody>
      </p:sp>
      <p:sp>
        <p:nvSpPr>
          <p:cNvPr id="45" name="Shape 43"/>
          <p:cNvSpPr/>
          <p:nvPr/>
        </p:nvSpPr>
        <p:spPr>
          <a:xfrm>
            <a:off x="7552944" y="2112264"/>
            <a:ext cx="566928" cy="283464"/>
          </a:xfrm>
          <a:prstGeom prst="rect">
            <a:avLst/>
          </a:prstGeom>
          <a:solidFill>
            <a:srgbClr val="D7E9FF"/>
          </a:solidFill>
          <a:ln w="13335">
            <a:solidFill>
              <a:srgbClr val="2F6BEA"/>
            </a:solidFill>
            <a:prstDash val="solid"/>
          </a:ln>
        </p:spPr>
        <p:txBody>
          <a:bodyPr/>
          <a:lstStyle/>
          <a:p>
            <a:endParaRPr lang="en-GB"/>
          </a:p>
        </p:txBody>
      </p:sp>
      <p:sp>
        <p:nvSpPr>
          <p:cNvPr id="46" name="Shape 44"/>
          <p:cNvSpPr/>
          <p:nvPr/>
        </p:nvSpPr>
        <p:spPr>
          <a:xfrm>
            <a:off x="8183880" y="2112264"/>
            <a:ext cx="566928" cy="283464"/>
          </a:xfrm>
          <a:prstGeom prst="rect">
            <a:avLst/>
          </a:prstGeom>
          <a:solidFill>
            <a:srgbClr val="D7E9FF"/>
          </a:solidFill>
          <a:ln w="13335">
            <a:solidFill>
              <a:srgbClr val="2F6BEA"/>
            </a:solidFill>
            <a:prstDash val="solid"/>
          </a:ln>
        </p:spPr>
        <p:txBody>
          <a:bodyPr/>
          <a:lstStyle/>
          <a:p>
            <a:endParaRPr lang="en-GB"/>
          </a:p>
        </p:txBody>
      </p:sp>
      <p:sp>
        <p:nvSpPr>
          <p:cNvPr id="47" name="Shape 45"/>
          <p:cNvSpPr/>
          <p:nvPr/>
        </p:nvSpPr>
        <p:spPr>
          <a:xfrm>
            <a:off x="8814816" y="2112264"/>
            <a:ext cx="566928" cy="283464"/>
          </a:xfrm>
          <a:prstGeom prst="rect">
            <a:avLst/>
          </a:prstGeom>
          <a:solidFill>
            <a:srgbClr val="FFE7B8"/>
          </a:solidFill>
          <a:ln w="13335">
            <a:solidFill>
              <a:srgbClr val="F59E0B"/>
            </a:solidFill>
            <a:prstDash val="solid"/>
          </a:ln>
        </p:spPr>
        <p:txBody>
          <a:bodyPr/>
          <a:lstStyle/>
          <a:p>
            <a:endParaRPr lang="en-GB"/>
          </a:p>
        </p:txBody>
      </p:sp>
      <p:sp>
        <p:nvSpPr>
          <p:cNvPr id="48" name="Shape 46"/>
          <p:cNvSpPr/>
          <p:nvPr/>
        </p:nvSpPr>
        <p:spPr>
          <a:xfrm>
            <a:off x="9445752" y="2112264"/>
            <a:ext cx="566928" cy="283464"/>
          </a:xfrm>
          <a:prstGeom prst="rect">
            <a:avLst/>
          </a:prstGeom>
          <a:solidFill>
            <a:srgbClr val="FFE7B8"/>
          </a:solidFill>
          <a:ln w="13335">
            <a:solidFill>
              <a:srgbClr val="F59E0B"/>
            </a:solidFill>
            <a:prstDash val="solid"/>
          </a:ln>
        </p:spPr>
        <p:txBody>
          <a:bodyPr/>
          <a:lstStyle/>
          <a:p>
            <a:endParaRPr lang="en-GB"/>
          </a:p>
        </p:txBody>
      </p:sp>
      <p:sp>
        <p:nvSpPr>
          <p:cNvPr id="49" name="Text 47"/>
          <p:cNvSpPr/>
          <p:nvPr/>
        </p:nvSpPr>
        <p:spPr>
          <a:xfrm>
            <a:off x="6300216" y="2523744"/>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B</a:t>
            </a:r>
            <a:endParaRPr lang="en-US" sz="870" dirty="0"/>
          </a:p>
        </p:txBody>
      </p:sp>
      <p:sp>
        <p:nvSpPr>
          <p:cNvPr id="50" name="Shape 48"/>
          <p:cNvSpPr/>
          <p:nvPr/>
        </p:nvSpPr>
        <p:spPr>
          <a:xfrm>
            <a:off x="7552944" y="2459736"/>
            <a:ext cx="566928" cy="283464"/>
          </a:xfrm>
          <a:prstGeom prst="rect">
            <a:avLst/>
          </a:prstGeom>
          <a:solidFill>
            <a:srgbClr val="D7E9FF"/>
          </a:solidFill>
          <a:ln w="13335">
            <a:solidFill>
              <a:srgbClr val="2F6BEA"/>
            </a:solidFill>
            <a:prstDash val="solid"/>
          </a:ln>
        </p:spPr>
        <p:txBody>
          <a:bodyPr/>
          <a:lstStyle/>
          <a:p>
            <a:endParaRPr lang="en-GB"/>
          </a:p>
        </p:txBody>
      </p:sp>
      <p:sp>
        <p:nvSpPr>
          <p:cNvPr id="51" name="Shape 49"/>
          <p:cNvSpPr/>
          <p:nvPr/>
        </p:nvSpPr>
        <p:spPr>
          <a:xfrm>
            <a:off x="8183880" y="2459736"/>
            <a:ext cx="566928" cy="283464"/>
          </a:xfrm>
          <a:prstGeom prst="rect">
            <a:avLst/>
          </a:prstGeom>
          <a:solidFill>
            <a:srgbClr val="D7E9FF"/>
          </a:solidFill>
          <a:ln w="13335">
            <a:solidFill>
              <a:srgbClr val="2F6BEA"/>
            </a:solidFill>
            <a:prstDash val="solid"/>
          </a:ln>
        </p:spPr>
        <p:txBody>
          <a:bodyPr/>
          <a:lstStyle/>
          <a:p>
            <a:endParaRPr lang="en-GB"/>
          </a:p>
        </p:txBody>
      </p:sp>
      <p:sp>
        <p:nvSpPr>
          <p:cNvPr id="52" name="Shape 50"/>
          <p:cNvSpPr/>
          <p:nvPr/>
        </p:nvSpPr>
        <p:spPr>
          <a:xfrm>
            <a:off x="8814816" y="2459736"/>
            <a:ext cx="566928" cy="283464"/>
          </a:xfrm>
          <a:prstGeom prst="rect">
            <a:avLst/>
          </a:prstGeom>
          <a:solidFill>
            <a:srgbClr val="FFE7B8"/>
          </a:solidFill>
          <a:ln w="13335">
            <a:solidFill>
              <a:srgbClr val="F59E0B"/>
            </a:solidFill>
            <a:prstDash val="solid"/>
          </a:ln>
        </p:spPr>
        <p:txBody>
          <a:bodyPr/>
          <a:lstStyle/>
          <a:p>
            <a:endParaRPr lang="en-GB"/>
          </a:p>
        </p:txBody>
      </p:sp>
      <p:sp>
        <p:nvSpPr>
          <p:cNvPr id="53" name="Shape 51"/>
          <p:cNvSpPr/>
          <p:nvPr/>
        </p:nvSpPr>
        <p:spPr>
          <a:xfrm>
            <a:off x="9445752" y="2459736"/>
            <a:ext cx="566928" cy="283464"/>
          </a:xfrm>
          <a:prstGeom prst="rect">
            <a:avLst/>
          </a:prstGeom>
          <a:solidFill>
            <a:srgbClr val="FFE7B8"/>
          </a:solidFill>
          <a:ln w="13335">
            <a:solidFill>
              <a:srgbClr val="F59E0B"/>
            </a:solidFill>
            <a:prstDash val="solid"/>
          </a:ln>
        </p:spPr>
        <p:txBody>
          <a:bodyPr/>
          <a:lstStyle/>
          <a:p>
            <a:endParaRPr lang="en-GB"/>
          </a:p>
        </p:txBody>
      </p:sp>
      <p:sp>
        <p:nvSpPr>
          <p:cNvPr id="54" name="Text 52"/>
          <p:cNvSpPr/>
          <p:nvPr/>
        </p:nvSpPr>
        <p:spPr>
          <a:xfrm>
            <a:off x="6300216" y="2871216"/>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C</a:t>
            </a:r>
            <a:endParaRPr lang="en-US" sz="870" dirty="0"/>
          </a:p>
        </p:txBody>
      </p:sp>
      <p:sp>
        <p:nvSpPr>
          <p:cNvPr id="55" name="Shape 53"/>
          <p:cNvSpPr/>
          <p:nvPr/>
        </p:nvSpPr>
        <p:spPr>
          <a:xfrm>
            <a:off x="7552944" y="2807208"/>
            <a:ext cx="566928" cy="283464"/>
          </a:xfrm>
          <a:prstGeom prst="rect">
            <a:avLst/>
          </a:prstGeom>
          <a:solidFill>
            <a:srgbClr val="D7E9FF"/>
          </a:solidFill>
          <a:ln w="13335">
            <a:solidFill>
              <a:srgbClr val="2F6BEA"/>
            </a:solidFill>
            <a:prstDash val="solid"/>
          </a:ln>
        </p:spPr>
        <p:txBody>
          <a:bodyPr/>
          <a:lstStyle/>
          <a:p>
            <a:endParaRPr lang="en-GB"/>
          </a:p>
        </p:txBody>
      </p:sp>
      <p:sp>
        <p:nvSpPr>
          <p:cNvPr id="56" name="Shape 54"/>
          <p:cNvSpPr/>
          <p:nvPr/>
        </p:nvSpPr>
        <p:spPr>
          <a:xfrm>
            <a:off x="8183880" y="2807208"/>
            <a:ext cx="566928" cy="283464"/>
          </a:xfrm>
          <a:prstGeom prst="rect">
            <a:avLst/>
          </a:prstGeom>
          <a:solidFill>
            <a:srgbClr val="D7E9FF"/>
          </a:solidFill>
          <a:ln w="13335">
            <a:solidFill>
              <a:srgbClr val="2F6BEA"/>
            </a:solidFill>
            <a:prstDash val="solid"/>
          </a:ln>
        </p:spPr>
        <p:txBody>
          <a:bodyPr/>
          <a:lstStyle/>
          <a:p>
            <a:endParaRPr lang="en-GB"/>
          </a:p>
        </p:txBody>
      </p:sp>
      <p:sp>
        <p:nvSpPr>
          <p:cNvPr id="57" name="Shape 55"/>
          <p:cNvSpPr/>
          <p:nvPr/>
        </p:nvSpPr>
        <p:spPr>
          <a:xfrm>
            <a:off x="8814816" y="2807208"/>
            <a:ext cx="566928" cy="283464"/>
          </a:xfrm>
          <a:prstGeom prst="rect">
            <a:avLst/>
          </a:prstGeom>
          <a:solidFill>
            <a:srgbClr val="FFE7B8"/>
          </a:solidFill>
          <a:ln w="13335">
            <a:solidFill>
              <a:srgbClr val="F59E0B"/>
            </a:solidFill>
            <a:prstDash val="solid"/>
          </a:ln>
        </p:spPr>
        <p:txBody>
          <a:bodyPr/>
          <a:lstStyle/>
          <a:p>
            <a:endParaRPr lang="en-GB"/>
          </a:p>
        </p:txBody>
      </p:sp>
      <p:sp>
        <p:nvSpPr>
          <p:cNvPr id="58" name="Shape 56"/>
          <p:cNvSpPr/>
          <p:nvPr/>
        </p:nvSpPr>
        <p:spPr>
          <a:xfrm>
            <a:off x="9445752" y="2807208"/>
            <a:ext cx="566928" cy="283464"/>
          </a:xfrm>
          <a:prstGeom prst="rect">
            <a:avLst/>
          </a:prstGeom>
          <a:solidFill>
            <a:srgbClr val="FFE7B8"/>
          </a:solidFill>
          <a:ln w="13335">
            <a:solidFill>
              <a:srgbClr val="F59E0B"/>
            </a:solidFill>
            <a:prstDash val="solid"/>
          </a:ln>
        </p:spPr>
        <p:txBody>
          <a:bodyPr/>
          <a:lstStyle/>
          <a:p>
            <a:endParaRPr lang="en-GB"/>
          </a:p>
        </p:txBody>
      </p:sp>
      <p:sp>
        <p:nvSpPr>
          <p:cNvPr id="59" name="Text 57"/>
          <p:cNvSpPr/>
          <p:nvPr/>
        </p:nvSpPr>
        <p:spPr>
          <a:xfrm>
            <a:off x="6300216" y="3218688"/>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D</a:t>
            </a:r>
            <a:endParaRPr lang="en-US" sz="870" dirty="0"/>
          </a:p>
        </p:txBody>
      </p:sp>
      <p:sp>
        <p:nvSpPr>
          <p:cNvPr id="60" name="Shape 58"/>
          <p:cNvSpPr/>
          <p:nvPr/>
        </p:nvSpPr>
        <p:spPr>
          <a:xfrm>
            <a:off x="7552944" y="3154680"/>
            <a:ext cx="566928" cy="283464"/>
          </a:xfrm>
          <a:prstGeom prst="rect">
            <a:avLst/>
          </a:prstGeom>
          <a:solidFill>
            <a:srgbClr val="D7E9FF"/>
          </a:solidFill>
          <a:ln w="13335">
            <a:solidFill>
              <a:srgbClr val="2F6BEA"/>
            </a:solidFill>
            <a:prstDash val="solid"/>
          </a:ln>
        </p:spPr>
        <p:txBody>
          <a:bodyPr/>
          <a:lstStyle/>
          <a:p>
            <a:endParaRPr lang="en-GB"/>
          </a:p>
        </p:txBody>
      </p:sp>
      <p:sp>
        <p:nvSpPr>
          <p:cNvPr id="61" name="Shape 59"/>
          <p:cNvSpPr/>
          <p:nvPr/>
        </p:nvSpPr>
        <p:spPr>
          <a:xfrm>
            <a:off x="8183880" y="3154680"/>
            <a:ext cx="566928" cy="283464"/>
          </a:xfrm>
          <a:prstGeom prst="rect">
            <a:avLst/>
          </a:prstGeom>
          <a:solidFill>
            <a:srgbClr val="D7E9FF"/>
          </a:solidFill>
          <a:ln w="13335">
            <a:solidFill>
              <a:srgbClr val="2F6BEA"/>
            </a:solidFill>
            <a:prstDash val="solid"/>
          </a:ln>
        </p:spPr>
        <p:txBody>
          <a:bodyPr/>
          <a:lstStyle/>
          <a:p>
            <a:endParaRPr lang="en-GB"/>
          </a:p>
        </p:txBody>
      </p:sp>
      <p:sp>
        <p:nvSpPr>
          <p:cNvPr id="62" name="Shape 60"/>
          <p:cNvSpPr/>
          <p:nvPr/>
        </p:nvSpPr>
        <p:spPr>
          <a:xfrm>
            <a:off x="8814816" y="3154680"/>
            <a:ext cx="566928" cy="283464"/>
          </a:xfrm>
          <a:prstGeom prst="rect">
            <a:avLst/>
          </a:prstGeom>
          <a:solidFill>
            <a:srgbClr val="FFE7B8"/>
          </a:solidFill>
          <a:ln w="13335">
            <a:solidFill>
              <a:srgbClr val="F59E0B"/>
            </a:solidFill>
            <a:prstDash val="solid"/>
          </a:ln>
        </p:spPr>
        <p:txBody>
          <a:bodyPr/>
          <a:lstStyle/>
          <a:p>
            <a:endParaRPr lang="en-GB"/>
          </a:p>
        </p:txBody>
      </p:sp>
      <p:sp>
        <p:nvSpPr>
          <p:cNvPr id="63" name="Shape 61"/>
          <p:cNvSpPr/>
          <p:nvPr/>
        </p:nvSpPr>
        <p:spPr>
          <a:xfrm>
            <a:off x="9445752" y="3154680"/>
            <a:ext cx="566928" cy="283464"/>
          </a:xfrm>
          <a:prstGeom prst="rect">
            <a:avLst/>
          </a:prstGeom>
          <a:solidFill>
            <a:srgbClr val="FFE7B8"/>
          </a:solidFill>
          <a:ln w="13335">
            <a:solidFill>
              <a:srgbClr val="F59E0B"/>
            </a:solidFill>
            <a:prstDash val="solid"/>
          </a:ln>
        </p:spPr>
        <p:txBody>
          <a:bodyPr/>
          <a:lstStyle/>
          <a:p>
            <a:endParaRPr lang="en-GB"/>
          </a:p>
        </p:txBody>
      </p:sp>
      <p:sp>
        <p:nvSpPr>
          <p:cNvPr id="64" name="Text 62"/>
          <p:cNvSpPr/>
          <p:nvPr/>
        </p:nvSpPr>
        <p:spPr>
          <a:xfrm>
            <a:off x="658368" y="3794760"/>
            <a:ext cx="5074920" cy="228600"/>
          </a:xfrm>
          <a:prstGeom prst="rect">
            <a:avLst/>
          </a:prstGeom>
          <a:noFill/>
          <a:ln/>
        </p:spPr>
        <p:txBody>
          <a:bodyPr wrap="square" lIns="0" tIns="0" rIns="0" bIns="0" rtlCol="0" anchor="ctr"/>
          <a:lstStyle/>
          <a:p>
            <a:pPr marL="0" indent="0">
              <a:buNone/>
            </a:pPr>
            <a:r>
              <a:rPr lang="en-US" sz="1480" b="1" dirty="0">
                <a:solidFill>
                  <a:srgbClr val="111827"/>
                </a:solidFill>
                <a:latin typeface="Aptos Display" pitchFamily="34" charset="0"/>
                <a:ea typeface="Aptos Display" pitchFamily="34" charset="-122"/>
                <a:cs typeface="Aptos Display" pitchFamily="34" charset="-120"/>
              </a:rPr>
              <a:t>3. New-machine split</a:t>
            </a:r>
            <a:endParaRPr lang="en-US" sz="1480" dirty="0"/>
          </a:p>
        </p:txBody>
      </p:sp>
      <p:sp>
        <p:nvSpPr>
          <p:cNvPr id="65" name="Text 63"/>
          <p:cNvSpPr/>
          <p:nvPr/>
        </p:nvSpPr>
        <p:spPr>
          <a:xfrm>
            <a:off x="658368" y="4096512"/>
            <a:ext cx="5074920" cy="210312"/>
          </a:xfrm>
          <a:prstGeom prst="rect">
            <a:avLst/>
          </a:prstGeom>
          <a:noFill/>
          <a:ln/>
        </p:spPr>
        <p:txBody>
          <a:bodyPr wrap="square" lIns="0" tIns="0" rIns="0" bIns="0" rtlCol="0" anchor="ctr"/>
          <a:lstStyle/>
          <a:p>
            <a:pPr marL="0" indent="0">
              <a:buNone/>
            </a:pPr>
            <a:r>
              <a:rPr lang="en-US" sz="890" dirty="0">
                <a:solidFill>
                  <a:srgbClr val="5E6E84"/>
                </a:solidFill>
              </a:rPr>
              <a:t>train on some machines, test on a held-out machine</a:t>
            </a:r>
            <a:endParaRPr lang="en-US" sz="890" dirty="0"/>
          </a:p>
        </p:txBody>
      </p:sp>
      <p:sp>
        <p:nvSpPr>
          <p:cNvPr id="66" name="Text 64"/>
          <p:cNvSpPr/>
          <p:nvPr/>
        </p:nvSpPr>
        <p:spPr>
          <a:xfrm>
            <a:off x="1956816"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C1</a:t>
            </a:r>
            <a:endParaRPr lang="en-US" sz="880" dirty="0"/>
          </a:p>
        </p:txBody>
      </p:sp>
      <p:sp>
        <p:nvSpPr>
          <p:cNvPr id="67" name="Text 65"/>
          <p:cNvSpPr/>
          <p:nvPr/>
        </p:nvSpPr>
        <p:spPr>
          <a:xfrm>
            <a:off x="2587752"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C2</a:t>
            </a:r>
            <a:endParaRPr lang="en-US" sz="880" dirty="0"/>
          </a:p>
        </p:txBody>
      </p:sp>
      <p:sp>
        <p:nvSpPr>
          <p:cNvPr id="68" name="Text 66"/>
          <p:cNvSpPr/>
          <p:nvPr/>
        </p:nvSpPr>
        <p:spPr>
          <a:xfrm>
            <a:off x="3218688"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C3</a:t>
            </a:r>
            <a:endParaRPr lang="en-US" sz="880" dirty="0"/>
          </a:p>
        </p:txBody>
      </p:sp>
      <p:sp>
        <p:nvSpPr>
          <p:cNvPr id="69" name="Text 67"/>
          <p:cNvSpPr/>
          <p:nvPr/>
        </p:nvSpPr>
        <p:spPr>
          <a:xfrm>
            <a:off x="3849624"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C4</a:t>
            </a:r>
            <a:endParaRPr lang="en-US" sz="880" dirty="0"/>
          </a:p>
        </p:txBody>
      </p:sp>
      <p:sp>
        <p:nvSpPr>
          <p:cNvPr id="70" name="Text 68"/>
          <p:cNvSpPr/>
          <p:nvPr/>
        </p:nvSpPr>
        <p:spPr>
          <a:xfrm>
            <a:off x="704088" y="4709160"/>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A</a:t>
            </a:r>
            <a:endParaRPr lang="en-US" sz="870" dirty="0"/>
          </a:p>
        </p:txBody>
      </p:sp>
      <p:sp>
        <p:nvSpPr>
          <p:cNvPr id="71" name="Shape 69"/>
          <p:cNvSpPr/>
          <p:nvPr/>
        </p:nvSpPr>
        <p:spPr>
          <a:xfrm>
            <a:off x="1956816" y="4645152"/>
            <a:ext cx="566928" cy="283464"/>
          </a:xfrm>
          <a:prstGeom prst="rect">
            <a:avLst/>
          </a:prstGeom>
          <a:solidFill>
            <a:srgbClr val="D7E9FF"/>
          </a:solidFill>
          <a:ln w="13335">
            <a:solidFill>
              <a:srgbClr val="2F6BEA"/>
            </a:solidFill>
            <a:prstDash val="solid"/>
          </a:ln>
        </p:spPr>
        <p:txBody>
          <a:bodyPr/>
          <a:lstStyle/>
          <a:p>
            <a:endParaRPr lang="en-GB"/>
          </a:p>
        </p:txBody>
      </p:sp>
      <p:sp>
        <p:nvSpPr>
          <p:cNvPr id="72" name="Shape 70"/>
          <p:cNvSpPr/>
          <p:nvPr/>
        </p:nvSpPr>
        <p:spPr>
          <a:xfrm>
            <a:off x="2587752" y="4645152"/>
            <a:ext cx="566928" cy="283464"/>
          </a:xfrm>
          <a:prstGeom prst="rect">
            <a:avLst/>
          </a:prstGeom>
          <a:solidFill>
            <a:srgbClr val="D7E9FF"/>
          </a:solidFill>
          <a:ln w="13335">
            <a:solidFill>
              <a:srgbClr val="2F6BEA"/>
            </a:solidFill>
            <a:prstDash val="solid"/>
          </a:ln>
        </p:spPr>
        <p:txBody>
          <a:bodyPr/>
          <a:lstStyle/>
          <a:p>
            <a:endParaRPr lang="en-GB"/>
          </a:p>
        </p:txBody>
      </p:sp>
      <p:sp>
        <p:nvSpPr>
          <p:cNvPr id="73" name="Shape 71"/>
          <p:cNvSpPr/>
          <p:nvPr/>
        </p:nvSpPr>
        <p:spPr>
          <a:xfrm>
            <a:off x="3218688" y="4645152"/>
            <a:ext cx="566928" cy="283464"/>
          </a:xfrm>
          <a:prstGeom prst="rect">
            <a:avLst/>
          </a:prstGeom>
          <a:solidFill>
            <a:srgbClr val="D7E9FF"/>
          </a:solidFill>
          <a:ln w="13335">
            <a:solidFill>
              <a:srgbClr val="2F6BEA"/>
            </a:solidFill>
            <a:prstDash val="solid"/>
          </a:ln>
        </p:spPr>
        <p:txBody>
          <a:bodyPr/>
          <a:lstStyle/>
          <a:p>
            <a:endParaRPr lang="en-GB"/>
          </a:p>
        </p:txBody>
      </p:sp>
      <p:sp>
        <p:nvSpPr>
          <p:cNvPr id="74" name="Shape 72"/>
          <p:cNvSpPr/>
          <p:nvPr/>
        </p:nvSpPr>
        <p:spPr>
          <a:xfrm>
            <a:off x="3849624" y="4645152"/>
            <a:ext cx="566928" cy="283464"/>
          </a:xfrm>
          <a:prstGeom prst="rect">
            <a:avLst/>
          </a:prstGeom>
          <a:solidFill>
            <a:srgbClr val="D7E9FF"/>
          </a:solidFill>
          <a:ln w="13335">
            <a:solidFill>
              <a:srgbClr val="2F6BEA"/>
            </a:solidFill>
            <a:prstDash val="solid"/>
          </a:ln>
        </p:spPr>
        <p:txBody>
          <a:bodyPr/>
          <a:lstStyle/>
          <a:p>
            <a:endParaRPr lang="en-GB"/>
          </a:p>
        </p:txBody>
      </p:sp>
      <p:sp>
        <p:nvSpPr>
          <p:cNvPr id="75" name="Text 73"/>
          <p:cNvSpPr/>
          <p:nvPr/>
        </p:nvSpPr>
        <p:spPr>
          <a:xfrm>
            <a:off x="704088" y="5056632"/>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B</a:t>
            </a:r>
            <a:endParaRPr lang="en-US" sz="870" dirty="0"/>
          </a:p>
        </p:txBody>
      </p:sp>
      <p:sp>
        <p:nvSpPr>
          <p:cNvPr id="76" name="Shape 74"/>
          <p:cNvSpPr/>
          <p:nvPr/>
        </p:nvSpPr>
        <p:spPr>
          <a:xfrm>
            <a:off x="1956816" y="4992624"/>
            <a:ext cx="566928" cy="283464"/>
          </a:xfrm>
          <a:prstGeom prst="rect">
            <a:avLst/>
          </a:prstGeom>
          <a:solidFill>
            <a:srgbClr val="D7E9FF"/>
          </a:solidFill>
          <a:ln w="13335">
            <a:solidFill>
              <a:srgbClr val="2F6BEA"/>
            </a:solidFill>
            <a:prstDash val="solid"/>
          </a:ln>
        </p:spPr>
        <p:txBody>
          <a:bodyPr/>
          <a:lstStyle/>
          <a:p>
            <a:endParaRPr lang="en-GB"/>
          </a:p>
        </p:txBody>
      </p:sp>
      <p:sp>
        <p:nvSpPr>
          <p:cNvPr id="77" name="Shape 75"/>
          <p:cNvSpPr/>
          <p:nvPr/>
        </p:nvSpPr>
        <p:spPr>
          <a:xfrm>
            <a:off x="2587752" y="4992624"/>
            <a:ext cx="566928" cy="283464"/>
          </a:xfrm>
          <a:prstGeom prst="rect">
            <a:avLst/>
          </a:prstGeom>
          <a:solidFill>
            <a:srgbClr val="D7E9FF"/>
          </a:solidFill>
          <a:ln w="13335">
            <a:solidFill>
              <a:srgbClr val="2F6BEA"/>
            </a:solidFill>
            <a:prstDash val="solid"/>
          </a:ln>
        </p:spPr>
        <p:txBody>
          <a:bodyPr/>
          <a:lstStyle/>
          <a:p>
            <a:endParaRPr lang="en-GB"/>
          </a:p>
        </p:txBody>
      </p:sp>
      <p:sp>
        <p:nvSpPr>
          <p:cNvPr id="78" name="Shape 76"/>
          <p:cNvSpPr/>
          <p:nvPr/>
        </p:nvSpPr>
        <p:spPr>
          <a:xfrm>
            <a:off x="3218688" y="4992624"/>
            <a:ext cx="566928" cy="283464"/>
          </a:xfrm>
          <a:prstGeom prst="rect">
            <a:avLst/>
          </a:prstGeom>
          <a:solidFill>
            <a:srgbClr val="D7E9FF"/>
          </a:solidFill>
          <a:ln w="13335">
            <a:solidFill>
              <a:srgbClr val="2F6BEA"/>
            </a:solidFill>
            <a:prstDash val="solid"/>
          </a:ln>
        </p:spPr>
        <p:txBody>
          <a:bodyPr/>
          <a:lstStyle/>
          <a:p>
            <a:endParaRPr lang="en-GB"/>
          </a:p>
        </p:txBody>
      </p:sp>
      <p:sp>
        <p:nvSpPr>
          <p:cNvPr id="79" name="Shape 77"/>
          <p:cNvSpPr/>
          <p:nvPr/>
        </p:nvSpPr>
        <p:spPr>
          <a:xfrm>
            <a:off x="3849624" y="4992624"/>
            <a:ext cx="566928" cy="283464"/>
          </a:xfrm>
          <a:prstGeom prst="rect">
            <a:avLst/>
          </a:prstGeom>
          <a:solidFill>
            <a:srgbClr val="D7E9FF"/>
          </a:solidFill>
          <a:ln w="13335">
            <a:solidFill>
              <a:srgbClr val="2F6BEA"/>
            </a:solidFill>
            <a:prstDash val="solid"/>
          </a:ln>
        </p:spPr>
        <p:txBody>
          <a:bodyPr/>
          <a:lstStyle/>
          <a:p>
            <a:endParaRPr lang="en-GB"/>
          </a:p>
        </p:txBody>
      </p:sp>
      <p:sp>
        <p:nvSpPr>
          <p:cNvPr id="80" name="Text 78"/>
          <p:cNvSpPr/>
          <p:nvPr/>
        </p:nvSpPr>
        <p:spPr>
          <a:xfrm>
            <a:off x="704088" y="5404104"/>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C</a:t>
            </a:r>
            <a:endParaRPr lang="en-US" sz="870" dirty="0"/>
          </a:p>
        </p:txBody>
      </p:sp>
      <p:sp>
        <p:nvSpPr>
          <p:cNvPr id="81" name="Shape 79"/>
          <p:cNvSpPr/>
          <p:nvPr/>
        </p:nvSpPr>
        <p:spPr>
          <a:xfrm>
            <a:off x="1956816" y="5340096"/>
            <a:ext cx="566928" cy="283464"/>
          </a:xfrm>
          <a:prstGeom prst="rect">
            <a:avLst/>
          </a:prstGeom>
          <a:solidFill>
            <a:srgbClr val="D7E9FF"/>
          </a:solidFill>
          <a:ln w="13335">
            <a:solidFill>
              <a:srgbClr val="2F6BEA"/>
            </a:solidFill>
            <a:prstDash val="solid"/>
          </a:ln>
        </p:spPr>
        <p:txBody>
          <a:bodyPr/>
          <a:lstStyle/>
          <a:p>
            <a:endParaRPr lang="en-GB"/>
          </a:p>
        </p:txBody>
      </p:sp>
      <p:sp>
        <p:nvSpPr>
          <p:cNvPr id="82" name="Shape 80"/>
          <p:cNvSpPr/>
          <p:nvPr/>
        </p:nvSpPr>
        <p:spPr>
          <a:xfrm>
            <a:off x="2587752" y="5340096"/>
            <a:ext cx="566928" cy="283464"/>
          </a:xfrm>
          <a:prstGeom prst="rect">
            <a:avLst/>
          </a:prstGeom>
          <a:solidFill>
            <a:srgbClr val="D7E9FF"/>
          </a:solidFill>
          <a:ln w="13335">
            <a:solidFill>
              <a:srgbClr val="2F6BEA"/>
            </a:solidFill>
            <a:prstDash val="solid"/>
          </a:ln>
        </p:spPr>
        <p:txBody>
          <a:bodyPr/>
          <a:lstStyle/>
          <a:p>
            <a:endParaRPr lang="en-GB"/>
          </a:p>
        </p:txBody>
      </p:sp>
      <p:sp>
        <p:nvSpPr>
          <p:cNvPr id="83" name="Shape 81"/>
          <p:cNvSpPr/>
          <p:nvPr/>
        </p:nvSpPr>
        <p:spPr>
          <a:xfrm>
            <a:off x="3218688" y="5340096"/>
            <a:ext cx="566928" cy="283464"/>
          </a:xfrm>
          <a:prstGeom prst="rect">
            <a:avLst/>
          </a:prstGeom>
          <a:solidFill>
            <a:srgbClr val="D7E9FF"/>
          </a:solidFill>
          <a:ln w="13335">
            <a:solidFill>
              <a:srgbClr val="2F6BEA"/>
            </a:solidFill>
            <a:prstDash val="solid"/>
          </a:ln>
        </p:spPr>
        <p:txBody>
          <a:bodyPr/>
          <a:lstStyle/>
          <a:p>
            <a:endParaRPr lang="en-GB"/>
          </a:p>
        </p:txBody>
      </p:sp>
      <p:sp>
        <p:nvSpPr>
          <p:cNvPr id="84" name="Shape 82"/>
          <p:cNvSpPr/>
          <p:nvPr/>
        </p:nvSpPr>
        <p:spPr>
          <a:xfrm>
            <a:off x="3849624" y="5340096"/>
            <a:ext cx="566928" cy="283464"/>
          </a:xfrm>
          <a:prstGeom prst="rect">
            <a:avLst/>
          </a:prstGeom>
          <a:solidFill>
            <a:srgbClr val="D7E9FF"/>
          </a:solidFill>
          <a:ln w="13335">
            <a:solidFill>
              <a:srgbClr val="2F6BEA"/>
            </a:solidFill>
            <a:prstDash val="solid"/>
          </a:ln>
        </p:spPr>
        <p:txBody>
          <a:bodyPr/>
          <a:lstStyle/>
          <a:p>
            <a:endParaRPr lang="en-GB"/>
          </a:p>
        </p:txBody>
      </p:sp>
      <p:sp>
        <p:nvSpPr>
          <p:cNvPr id="85" name="Text 83"/>
          <p:cNvSpPr/>
          <p:nvPr/>
        </p:nvSpPr>
        <p:spPr>
          <a:xfrm>
            <a:off x="704088" y="5751576"/>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D</a:t>
            </a:r>
            <a:endParaRPr lang="en-US" sz="870" dirty="0"/>
          </a:p>
        </p:txBody>
      </p:sp>
      <p:sp>
        <p:nvSpPr>
          <p:cNvPr id="86" name="Shape 84"/>
          <p:cNvSpPr/>
          <p:nvPr/>
        </p:nvSpPr>
        <p:spPr>
          <a:xfrm>
            <a:off x="1956816" y="5687568"/>
            <a:ext cx="566928" cy="283464"/>
          </a:xfrm>
          <a:prstGeom prst="rect">
            <a:avLst/>
          </a:prstGeom>
          <a:solidFill>
            <a:srgbClr val="FFE7B8"/>
          </a:solidFill>
          <a:ln w="13335">
            <a:solidFill>
              <a:srgbClr val="F59E0B"/>
            </a:solidFill>
            <a:prstDash val="solid"/>
          </a:ln>
        </p:spPr>
        <p:txBody>
          <a:bodyPr/>
          <a:lstStyle/>
          <a:p>
            <a:endParaRPr lang="en-GB"/>
          </a:p>
        </p:txBody>
      </p:sp>
      <p:sp>
        <p:nvSpPr>
          <p:cNvPr id="87" name="Shape 85"/>
          <p:cNvSpPr/>
          <p:nvPr/>
        </p:nvSpPr>
        <p:spPr>
          <a:xfrm>
            <a:off x="2587752" y="5687568"/>
            <a:ext cx="566928" cy="283464"/>
          </a:xfrm>
          <a:prstGeom prst="rect">
            <a:avLst/>
          </a:prstGeom>
          <a:solidFill>
            <a:srgbClr val="FFE7B8"/>
          </a:solidFill>
          <a:ln w="13335">
            <a:solidFill>
              <a:srgbClr val="F59E0B"/>
            </a:solidFill>
            <a:prstDash val="solid"/>
          </a:ln>
        </p:spPr>
        <p:txBody>
          <a:bodyPr/>
          <a:lstStyle/>
          <a:p>
            <a:endParaRPr lang="en-GB"/>
          </a:p>
        </p:txBody>
      </p:sp>
      <p:sp>
        <p:nvSpPr>
          <p:cNvPr id="88" name="Shape 86"/>
          <p:cNvSpPr/>
          <p:nvPr/>
        </p:nvSpPr>
        <p:spPr>
          <a:xfrm>
            <a:off x="3218688" y="5687568"/>
            <a:ext cx="566928" cy="283464"/>
          </a:xfrm>
          <a:prstGeom prst="rect">
            <a:avLst/>
          </a:prstGeom>
          <a:solidFill>
            <a:srgbClr val="FFE7B8"/>
          </a:solidFill>
          <a:ln w="13335">
            <a:solidFill>
              <a:srgbClr val="F59E0B"/>
            </a:solidFill>
            <a:prstDash val="solid"/>
          </a:ln>
        </p:spPr>
        <p:txBody>
          <a:bodyPr/>
          <a:lstStyle/>
          <a:p>
            <a:endParaRPr lang="en-GB"/>
          </a:p>
        </p:txBody>
      </p:sp>
      <p:sp>
        <p:nvSpPr>
          <p:cNvPr id="89" name="Shape 87"/>
          <p:cNvSpPr/>
          <p:nvPr/>
        </p:nvSpPr>
        <p:spPr>
          <a:xfrm>
            <a:off x="3849624" y="5687568"/>
            <a:ext cx="566928" cy="283464"/>
          </a:xfrm>
          <a:prstGeom prst="rect">
            <a:avLst/>
          </a:prstGeom>
          <a:solidFill>
            <a:srgbClr val="FFE7B8"/>
          </a:solidFill>
          <a:ln w="13335">
            <a:solidFill>
              <a:srgbClr val="F59E0B"/>
            </a:solidFill>
            <a:prstDash val="solid"/>
          </a:ln>
        </p:spPr>
        <p:txBody>
          <a:bodyPr/>
          <a:lstStyle/>
          <a:p>
            <a:endParaRPr lang="en-GB"/>
          </a:p>
        </p:txBody>
      </p:sp>
      <p:sp>
        <p:nvSpPr>
          <p:cNvPr id="90" name="Text 88"/>
          <p:cNvSpPr/>
          <p:nvPr/>
        </p:nvSpPr>
        <p:spPr>
          <a:xfrm>
            <a:off x="6254496" y="3794760"/>
            <a:ext cx="5074920" cy="228600"/>
          </a:xfrm>
          <a:prstGeom prst="rect">
            <a:avLst/>
          </a:prstGeom>
          <a:noFill/>
          <a:ln/>
        </p:spPr>
        <p:txBody>
          <a:bodyPr wrap="square" lIns="0" tIns="0" rIns="0" bIns="0" rtlCol="0" anchor="ctr"/>
          <a:lstStyle/>
          <a:p>
            <a:r>
              <a:rPr lang="en-US" sz="1400" b="1" dirty="0">
                <a:solidFill>
                  <a:srgbClr val="111827"/>
                </a:solidFill>
                <a:latin typeface="Aptos Display" pitchFamily="34" charset="0"/>
                <a:ea typeface="Aptos Display" pitchFamily="34" charset="-122"/>
                <a:cs typeface="Aptos Display" pitchFamily="34" charset="-120"/>
              </a:rPr>
              <a:t>4. </a:t>
            </a:r>
            <a:r>
              <a:rPr lang="en-GB" sz="1400" b="1" dirty="0"/>
              <a:t>New machines, future periods</a:t>
            </a:r>
            <a:endParaRPr lang="en-US" sz="1400" b="1" dirty="0"/>
          </a:p>
        </p:txBody>
      </p:sp>
      <p:sp>
        <p:nvSpPr>
          <p:cNvPr id="91" name="Text 89"/>
          <p:cNvSpPr/>
          <p:nvPr/>
        </p:nvSpPr>
        <p:spPr>
          <a:xfrm>
            <a:off x="6254496" y="4096512"/>
            <a:ext cx="5074920" cy="210312"/>
          </a:xfrm>
          <a:prstGeom prst="rect">
            <a:avLst/>
          </a:prstGeom>
          <a:noFill/>
          <a:ln/>
        </p:spPr>
        <p:txBody>
          <a:bodyPr wrap="square" lIns="0" tIns="0" rIns="0" bIns="0" rtlCol="0" anchor="ctr"/>
          <a:lstStyle/>
          <a:p>
            <a:pPr marL="0" indent="0">
              <a:buNone/>
            </a:pPr>
            <a:r>
              <a:rPr lang="en-US" sz="890" dirty="0">
                <a:solidFill>
                  <a:srgbClr val="5E6E84"/>
                </a:solidFill>
              </a:rPr>
              <a:t>train earlier cycles on known machines; test later cycles on a held-out machine</a:t>
            </a:r>
            <a:endParaRPr lang="en-US" sz="890" dirty="0"/>
          </a:p>
        </p:txBody>
      </p:sp>
      <p:sp>
        <p:nvSpPr>
          <p:cNvPr id="92" name="Text 90"/>
          <p:cNvSpPr/>
          <p:nvPr/>
        </p:nvSpPr>
        <p:spPr>
          <a:xfrm>
            <a:off x="7552944"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C1</a:t>
            </a:r>
            <a:endParaRPr lang="en-US" sz="880" dirty="0"/>
          </a:p>
        </p:txBody>
      </p:sp>
      <p:sp>
        <p:nvSpPr>
          <p:cNvPr id="93" name="Text 91"/>
          <p:cNvSpPr/>
          <p:nvPr/>
        </p:nvSpPr>
        <p:spPr>
          <a:xfrm>
            <a:off x="8183880"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C2</a:t>
            </a:r>
            <a:endParaRPr lang="en-US" sz="880" dirty="0"/>
          </a:p>
        </p:txBody>
      </p:sp>
      <p:sp>
        <p:nvSpPr>
          <p:cNvPr id="94" name="Text 92"/>
          <p:cNvSpPr/>
          <p:nvPr/>
        </p:nvSpPr>
        <p:spPr>
          <a:xfrm>
            <a:off x="8814816"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C3</a:t>
            </a:r>
            <a:endParaRPr lang="en-US" sz="880" dirty="0"/>
          </a:p>
        </p:txBody>
      </p:sp>
      <p:sp>
        <p:nvSpPr>
          <p:cNvPr id="95" name="Text 93"/>
          <p:cNvSpPr/>
          <p:nvPr/>
        </p:nvSpPr>
        <p:spPr>
          <a:xfrm>
            <a:off x="9445752" y="4398264"/>
            <a:ext cx="566928" cy="146304"/>
          </a:xfrm>
          <a:prstGeom prst="rect">
            <a:avLst/>
          </a:prstGeom>
          <a:noFill/>
          <a:ln/>
        </p:spPr>
        <p:txBody>
          <a:bodyPr wrap="square" lIns="0" tIns="0" rIns="0" bIns="0" rtlCol="0" anchor="ctr"/>
          <a:lstStyle/>
          <a:p>
            <a:pPr marL="0" indent="0" algn="ctr">
              <a:buNone/>
            </a:pPr>
            <a:r>
              <a:rPr lang="en-US" sz="880" b="1" dirty="0">
                <a:solidFill>
                  <a:srgbClr val="5E6E84"/>
                </a:solidFill>
              </a:rPr>
              <a:t>C4</a:t>
            </a:r>
            <a:endParaRPr lang="en-US" sz="880" dirty="0"/>
          </a:p>
        </p:txBody>
      </p:sp>
      <p:sp>
        <p:nvSpPr>
          <p:cNvPr id="96" name="Text 94"/>
          <p:cNvSpPr/>
          <p:nvPr/>
        </p:nvSpPr>
        <p:spPr>
          <a:xfrm>
            <a:off x="6300216" y="4709160"/>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A</a:t>
            </a:r>
            <a:endParaRPr lang="en-US" sz="870" dirty="0"/>
          </a:p>
        </p:txBody>
      </p:sp>
      <p:sp>
        <p:nvSpPr>
          <p:cNvPr id="97" name="Shape 95"/>
          <p:cNvSpPr/>
          <p:nvPr/>
        </p:nvSpPr>
        <p:spPr>
          <a:xfrm>
            <a:off x="7552944" y="4645152"/>
            <a:ext cx="566928" cy="283464"/>
          </a:xfrm>
          <a:prstGeom prst="rect">
            <a:avLst/>
          </a:prstGeom>
          <a:solidFill>
            <a:srgbClr val="D7E9FF"/>
          </a:solidFill>
          <a:ln w="13335">
            <a:solidFill>
              <a:srgbClr val="2F6BEA"/>
            </a:solidFill>
            <a:prstDash val="solid"/>
          </a:ln>
        </p:spPr>
        <p:txBody>
          <a:bodyPr/>
          <a:lstStyle/>
          <a:p>
            <a:endParaRPr lang="en-GB"/>
          </a:p>
        </p:txBody>
      </p:sp>
      <p:sp>
        <p:nvSpPr>
          <p:cNvPr id="98" name="Shape 96"/>
          <p:cNvSpPr/>
          <p:nvPr/>
        </p:nvSpPr>
        <p:spPr>
          <a:xfrm>
            <a:off x="8183880" y="4645152"/>
            <a:ext cx="566928" cy="283464"/>
          </a:xfrm>
          <a:prstGeom prst="rect">
            <a:avLst/>
          </a:prstGeom>
          <a:solidFill>
            <a:srgbClr val="D7E9FF"/>
          </a:solidFill>
          <a:ln w="13335">
            <a:solidFill>
              <a:srgbClr val="2F6BEA"/>
            </a:solidFill>
            <a:prstDash val="solid"/>
          </a:ln>
        </p:spPr>
        <p:txBody>
          <a:bodyPr/>
          <a:lstStyle/>
          <a:p>
            <a:endParaRPr lang="en-GB"/>
          </a:p>
        </p:txBody>
      </p:sp>
      <p:sp>
        <p:nvSpPr>
          <p:cNvPr id="99" name="Shape 97"/>
          <p:cNvSpPr/>
          <p:nvPr/>
        </p:nvSpPr>
        <p:spPr>
          <a:xfrm>
            <a:off x="8814816" y="4645152"/>
            <a:ext cx="566928" cy="283464"/>
          </a:xfrm>
          <a:prstGeom prst="rect">
            <a:avLst/>
          </a:prstGeom>
          <a:solidFill>
            <a:srgbClr val="EEF2F6"/>
          </a:solidFill>
          <a:ln w="13335">
            <a:solidFill>
              <a:srgbClr val="C8D3DF"/>
            </a:solidFill>
            <a:prstDash val="solid"/>
          </a:ln>
        </p:spPr>
        <p:txBody>
          <a:bodyPr/>
          <a:lstStyle/>
          <a:p>
            <a:endParaRPr lang="en-GB"/>
          </a:p>
        </p:txBody>
      </p:sp>
      <p:sp>
        <p:nvSpPr>
          <p:cNvPr id="100" name="Shape 98"/>
          <p:cNvSpPr/>
          <p:nvPr/>
        </p:nvSpPr>
        <p:spPr>
          <a:xfrm>
            <a:off x="9445752" y="4645152"/>
            <a:ext cx="566928" cy="283464"/>
          </a:xfrm>
          <a:prstGeom prst="rect">
            <a:avLst/>
          </a:prstGeom>
          <a:solidFill>
            <a:srgbClr val="EEF2F6"/>
          </a:solidFill>
          <a:ln w="13335">
            <a:solidFill>
              <a:srgbClr val="C8D3DF"/>
            </a:solidFill>
            <a:prstDash val="solid"/>
          </a:ln>
        </p:spPr>
        <p:txBody>
          <a:bodyPr/>
          <a:lstStyle/>
          <a:p>
            <a:endParaRPr lang="en-GB"/>
          </a:p>
        </p:txBody>
      </p:sp>
      <p:sp>
        <p:nvSpPr>
          <p:cNvPr id="101" name="Text 99"/>
          <p:cNvSpPr/>
          <p:nvPr/>
        </p:nvSpPr>
        <p:spPr>
          <a:xfrm>
            <a:off x="6300216" y="5056632"/>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B</a:t>
            </a:r>
            <a:endParaRPr lang="en-US" sz="870" dirty="0"/>
          </a:p>
        </p:txBody>
      </p:sp>
      <p:sp>
        <p:nvSpPr>
          <p:cNvPr id="102" name="Shape 100"/>
          <p:cNvSpPr/>
          <p:nvPr/>
        </p:nvSpPr>
        <p:spPr>
          <a:xfrm>
            <a:off x="7552944" y="4992624"/>
            <a:ext cx="566928" cy="283464"/>
          </a:xfrm>
          <a:prstGeom prst="rect">
            <a:avLst/>
          </a:prstGeom>
          <a:solidFill>
            <a:srgbClr val="D7E9FF"/>
          </a:solidFill>
          <a:ln w="13335">
            <a:solidFill>
              <a:srgbClr val="2F6BEA"/>
            </a:solidFill>
            <a:prstDash val="solid"/>
          </a:ln>
        </p:spPr>
        <p:txBody>
          <a:bodyPr/>
          <a:lstStyle/>
          <a:p>
            <a:endParaRPr lang="en-GB"/>
          </a:p>
        </p:txBody>
      </p:sp>
      <p:sp>
        <p:nvSpPr>
          <p:cNvPr id="103" name="Shape 101"/>
          <p:cNvSpPr/>
          <p:nvPr/>
        </p:nvSpPr>
        <p:spPr>
          <a:xfrm>
            <a:off x="8183880" y="4992624"/>
            <a:ext cx="566928" cy="283464"/>
          </a:xfrm>
          <a:prstGeom prst="rect">
            <a:avLst/>
          </a:prstGeom>
          <a:solidFill>
            <a:srgbClr val="D7E9FF"/>
          </a:solidFill>
          <a:ln w="13335">
            <a:solidFill>
              <a:srgbClr val="2F6BEA"/>
            </a:solidFill>
            <a:prstDash val="solid"/>
          </a:ln>
        </p:spPr>
        <p:txBody>
          <a:bodyPr/>
          <a:lstStyle/>
          <a:p>
            <a:endParaRPr lang="en-GB"/>
          </a:p>
        </p:txBody>
      </p:sp>
      <p:sp>
        <p:nvSpPr>
          <p:cNvPr id="104" name="Shape 102"/>
          <p:cNvSpPr/>
          <p:nvPr/>
        </p:nvSpPr>
        <p:spPr>
          <a:xfrm>
            <a:off x="8814816" y="4992624"/>
            <a:ext cx="566928" cy="283464"/>
          </a:xfrm>
          <a:prstGeom prst="rect">
            <a:avLst/>
          </a:prstGeom>
          <a:solidFill>
            <a:srgbClr val="EEF2F6"/>
          </a:solidFill>
          <a:ln w="13335">
            <a:solidFill>
              <a:srgbClr val="C8D3DF"/>
            </a:solidFill>
            <a:prstDash val="solid"/>
          </a:ln>
        </p:spPr>
        <p:txBody>
          <a:bodyPr/>
          <a:lstStyle/>
          <a:p>
            <a:endParaRPr lang="en-GB"/>
          </a:p>
        </p:txBody>
      </p:sp>
      <p:sp>
        <p:nvSpPr>
          <p:cNvPr id="105" name="Shape 103"/>
          <p:cNvSpPr/>
          <p:nvPr/>
        </p:nvSpPr>
        <p:spPr>
          <a:xfrm>
            <a:off x="9445752" y="4992624"/>
            <a:ext cx="566928" cy="283464"/>
          </a:xfrm>
          <a:prstGeom prst="rect">
            <a:avLst/>
          </a:prstGeom>
          <a:solidFill>
            <a:srgbClr val="EEF2F6"/>
          </a:solidFill>
          <a:ln w="13335">
            <a:solidFill>
              <a:srgbClr val="C8D3DF"/>
            </a:solidFill>
            <a:prstDash val="solid"/>
          </a:ln>
        </p:spPr>
        <p:txBody>
          <a:bodyPr/>
          <a:lstStyle/>
          <a:p>
            <a:endParaRPr lang="en-GB"/>
          </a:p>
        </p:txBody>
      </p:sp>
      <p:sp>
        <p:nvSpPr>
          <p:cNvPr id="106" name="Text 104"/>
          <p:cNvSpPr/>
          <p:nvPr/>
        </p:nvSpPr>
        <p:spPr>
          <a:xfrm>
            <a:off x="6300216" y="5404104"/>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C</a:t>
            </a:r>
            <a:endParaRPr lang="en-US" sz="870" dirty="0"/>
          </a:p>
        </p:txBody>
      </p:sp>
      <p:sp>
        <p:nvSpPr>
          <p:cNvPr id="107" name="Shape 105"/>
          <p:cNvSpPr/>
          <p:nvPr/>
        </p:nvSpPr>
        <p:spPr>
          <a:xfrm>
            <a:off x="7552944" y="5340096"/>
            <a:ext cx="566928" cy="283464"/>
          </a:xfrm>
          <a:prstGeom prst="rect">
            <a:avLst/>
          </a:prstGeom>
          <a:solidFill>
            <a:srgbClr val="D7E9FF"/>
          </a:solidFill>
          <a:ln w="13335">
            <a:solidFill>
              <a:srgbClr val="2F6BEA"/>
            </a:solidFill>
            <a:prstDash val="solid"/>
          </a:ln>
        </p:spPr>
        <p:txBody>
          <a:bodyPr/>
          <a:lstStyle/>
          <a:p>
            <a:endParaRPr lang="en-GB"/>
          </a:p>
        </p:txBody>
      </p:sp>
      <p:sp>
        <p:nvSpPr>
          <p:cNvPr id="108" name="Shape 106"/>
          <p:cNvSpPr/>
          <p:nvPr/>
        </p:nvSpPr>
        <p:spPr>
          <a:xfrm>
            <a:off x="8183880" y="5340096"/>
            <a:ext cx="566928" cy="283464"/>
          </a:xfrm>
          <a:prstGeom prst="rect">
            <a:avLst/>
          </a:prstGeom>
          <a:solidFill>
            <a:srgbClr val="D7E9FF"/>
          </a:solidFill>
          <a:ln w="13335">
            <a:solidFill>
              <a:srgbClr val="2F6BEA"/>
            </a:solidFill>
            <a:prstDash val="solid"/>
          </a:ln>
        </p:spPr>
        <p:txBody>
          <a:bodyPr/>
          <a:lstStyle/>
          <a:p>
            <a:endParaRPr lang="en-GB"/>
          </a:p>
        </p:txBody>
      </p:sp>
      <p:sp>
        <p:nvSpPr>
          <p:cNvPr id="109" name="Shape 107"/>
          <p:cNvSpPr/>
          <p:nvPr/>
        </p:nvSpPr>
        <p:spPr>
          <a:xfrm>
            <a:off x="8814816" y="5340096"/>
            <a:ext cx="566928" cy="283464"/>
          </a:xfrm>
          <a:prstGeom prst="rect">
            <a:avLst/>
          </a:prstGeom>
          <a:solidFill>
            <a:srgbClr val="EEF2F6"/>
          </a:solidFill>
          <a:ln w="13335">
            <a:solidFill>
              <a:srgbClr val="C8D3DF"/>
            </a:solidFill>
            <a:prstDash val="solid"/>
          </a:ln>
        </p:spPr>
        <p:txBody>
          <a:bodyPr/>
          <a:lstStyle/>
          <a:p>
            <a:endParaRPr lang="en-GB"/>
          </a:p>
        </p:txBody>
      </p:sp>
      <p:sp>
        <p:nvSpPr>
          <p:cNvPr id="110" name="Shape 108"/>
          <p:cNvSpPr/>
          <p:nvPr/>
        </p:nvSpPr>
        <p:spPr>
          <a:xfrm>
            <a:off x="9445752" y="5340096"/>
            <a:ext cx="566928" cy="283464"/>
          </a:xfrm>
          <a:prstGeom prst="rect">
            <a:avLst/>
          </a:prstGeom>
          <a:solidFill>
            <a:srgbClr val="EEF2F6"/>
          </a:solidFill>
          <a:ln w="13335">
            <a:solidFill>
              <a:srgbClr val="C8D3DF"/>
            </a:solidFill>
            <a:prstDash val="solid"/>
          </a:ln>
        </p:spPr>
        <p:txBody>
          <a:bodyPr/>
          <a:lstStyle/>
          <a:p>
            <a:endParaRPr lang="en-GB"/>
          </a:p>
        </p:txBody>
      </p:sp>
      <p:sp>
        <p:nvSpPr>
          <p:cNvPr id="111" name="Text 109"/>
          <p:cNvSpPr/>
          <p:nvPr/>
        </p:nvSpPr>
        <p:spPr>
          <a:xfrm>
            <a:off x="6300216" y="5751576"/>
            <a:ext cx="1078992" cy="137160"/>
          </a:xfrm>
          <a:prstGeom prst="rect">
            <a:avLst/>
          </a:prstGeom>
          <a:noFill/>
          <a:ln/>
        </p:spPr>
        <p:txBody>
          <a:bodyPr wrap="square" lIns="0" tIns="0" rIns="0" bIns="0" rtlCol="0" anchor="ctr"/>
          <a:lstStyle/>
          <a:p>
            <a:pPr marL="0" indent="0" algn="r">
              <a:buNone/>
            </a:pPr>
            <a:r>
              <a:rPr lang="en-US" sz="870" dirty="0">
                <a:solidFill>
                  <a:srgbClr val="111827"/>
                </a:solidFill>
              </a:rPr>
              <a:t>Machine D</a:t>
            </a:r>
            <a:endParaRPr lang="en-US" sz="870" dirty="0"/>
          </a:p>
        </p:txBody>
      </p:sp>
      <p:sp>
        <p:nvSpPr>
          <p:cNvPr id="112" name="Shape 110"/>
          <p:cNvSpPr/>
          <p:nvPr/>
        </p:nvSpPr>
        <p:spPr>
          <a:xfrm>
            <a:off x="7552944" y="5687568"/>
            <a:ext cx="566928" cy="283464"/>
          </a:xfrm>
          <a:prstGeom prst="rect">
            <a:avLst/>
          </a:prstGeom>
          <a:solidFill>
            <a:srgbClr val="EEF2F6"/>
          </a:solidFill>
          <a:ln w="13335">
            <a:solidFill>
              <a:srgbClr val="C8D3DF"/>
            </a:solidFill>
            <a:prstDash val="solid"/>
          </a:ln>
        </p:spPr>
        <p:txBody>
          <a:bodyPr/>
          <a:lstStyle/>
          <a:p>
            <a:endParaRPr lang="en-GB"/>
          </a:p>
        </p:txBody>
      </p:sp>
      <p:sp>
        <p:nvSpPr>
          <p:cNvPr id="113" name="Shape 111"/>
          <p:cNvSpPr/>
          <p:nvPr/>
        </p:nvSpPr>
        <p:spPr>
          <a:xfrm>
            <a:off x="8183880" y="5687568"/>
            <a:ext cx="566928" cy="283464"/>
          </a:xfrm>
          <a:prstGeom prst="rect">
            <a:avLst/>
          </a:prstGeom>
          <a:solidFill>
            <a:srgbClr val="EEF2F6"/>
          </a:solidFill>
          <a:ln w="13335">
            <a:solidFill>
              <a:srgbClr val="C8D3DF"/>
            </a:solidFill>
            <a:prstDash val="solid"/>
          </a:ln>
        </p:spPr>
        <p:txBody>
          <a:bodyPr/>
          <a:lstStyle/>
          <a:p>
            <a:endParaRPr lang="en-GB"/>
          </a:p>
        </p:txBody>
      </p:sp>
      <p:sp>
        <p:nvSpPr>
          <p:cNvPr id="114" name="Shape 112"/>
          <p:cNvSpPr/>
          <p:nvPr/>
        </p:nvSpPr>
        <p:spPr>
          <a:xfrm>
            <a:off x="8814816" y="5687568"/>
            <a:ext cx="566928" cy="283464"/>
          </a:xfrm>
          <a:prstGeom prst="rect">
            <a:avLst/>
          </a:prstGeom>
          <a:solidFill>
            <a:srgbClr val="FFE7B8"/>
          </a:solidFill>
          <a:ln w="13335">
            <a:solidFill>
              <a:srgbClr val="F59E0B"/>
            </a:solidFill>
            <a:prstDash val="solid"/>
          </a:ln>
        </p:spPr>
        <p:txBody>
          <a:bodyPr/>
          <a:lstStyle/>
          <a:p>
            <a:endParaRPr lang="en-GB"/>
          </a:p>
        </p:txBody>
      </p:sp>
      <p:sp>
        <p:nvSpPr>
          <p:cNvPr id="115" name="Shape 113"/>
          <p:cNvSpPr/>
          <p:nvPr/>
        </p:nvSpPr>
        <p:spPr>
          <a:xfrm>
            <a:off x="9445752" y="5687568"/>
            <a:ext cx="566928" cy="283464"/>
          </a:xfrm>
          <a:prstGeom prst="rect">
            <a:avLst/>
          </a:prstGeom>
          <a:solidFill>
            <a:srgbClr val="FFE7B8"/>
          </a:solidFill>
          <a:ln w="13335">
            <a:solidFill>
              <a:srgbClr val="F59E0B"/>
            </a:solidFill>
            <a:prstDash val="solid"/>
          </a:ln>
        </p:spPr>
        <p:txBody>
          <a:bodyPr/>
          <a:lstStyle/>
          <a:p>
            <a:endParaRPr lang="en-GB"/>
          </a:p>
        </p:txBody>
      </p:sp>
      <p:sp>
        <p:nvSpPr>
          <p:cNvPr id="116" name="Shape 114"/>
          <p:cNvSpPr/>
          <p:nvPr/>
        </p:nvSpPr>
        <p:spPr>
          <a:xfrm>
            <a:off x="228600" y="6601968"/>
            <a:ext cx="10287000" cy="0"/>
          </a:xfrm>
          <a:prstGeom prst="line">
            <a:avLst/>
          </a:prstGeom>
          <a:noFill/>
          <a:ln w="7620">
            <a:solidFill>
              <a:srgbClr val="D1D9E6"/>
            </a:solidFill>
            <a:prstDash val="solid"/>
          </a:ln>
        </p:spPr>
        <p:txBody>
          <a:bodyPr/>
          <a:lstStyle/>
          <a:p>
            <a:endParaRPr lang="en-GB"/>
          </a:p>
        </p:txBody>
      </p:sp>
      <p:sp>
        <p:nvSpPr>
          <p:cNvPr id="117" name="Text 115"/>
          <p:cNvSpPr/>
          <p:nvPr/>
        </p:nvSpPr>
        <p:spPr>
          <a:xfrm>
            <a:off x="2153412" y="6327648"/>
            <a:ext cx="7223760" cy="201168"/>
          </a:xfrm>
          <a:prstGeom prst="rect">
            <a:avLst/>
          </a:prstGeom>
          <a:noFill/>
          <a:ln/>
        </p:spPr>
        <p:txBody>
          <a:bodyPr wrap="square" lIns="0" tIns="0" rIns="0" bIns="0" rtlCol="0" anchor="ctr"/>
          <a:lstStyle/>
          <a:p>
            <a:pPr marL="0" indent="0" algn="ctr">
              <a:buNone/>
            </a:pPr>
            <a:r>
              <a:rPr lang="en-US" sz="910" b="1" i="1" dirty="0">
                <a:solidFill>
                  <a:srgbClr val="5E6E84"/>
                </a:solidFill>
              </a:rPr>
              <a:t>Each box represents one machine-period sample; P1 → P4 are chronologically ordered periods</a:t>
            </a:r>
            <a:endParaRPr lang="en-US" sz="910" b="1" dirty="0"/>
          </a:p>
        </p:txBody>
      </p:sp>
      <p:sp>
        <p:nvSpPr>
          <p:cNvPr id="122" name="CasellaDiTesto 121">
            <a:extLst>
              <a:ext uri="{FF2B5EF4-FFF2-40B4-BE49-F238E27FC236}">
                <a16:creationId xmlns:a16="http://schemas.microsoft.com/office/drawing/2014/main" id="{0C8EE28D-9F34-67A4-D535-941EB6117164}"/>
              </a:ext>
            </a:extLst>
          </p:cNvPr>
          <p:cNvSpPr txBox="1"/>
          <p:nvPr/>
        </p:nvSpPr>
        <p:spPr>
          <a:xfrm>
            <a:off x="4599432" y="2083969"/>
            <a:ext cx="2138359" cy="1446550"/>
          </a:xfrm>
          <a:prstGeom prst="rect">
            <a:avLst/>
          </a:prstGeom>
          <a:noFill/>
        </p:spPr>
        <p:txBody>
          <a:bodyPr wrap="square">
            <a:spAutoFit/>
          </a:bodyPr>
          <a:lstStyle/>
          <a:p>
            <a:r>
              <a:rPr lang="en-GB" sz="1100" dirty="0"/>
              <a:t>Within-machine, mixed-period split</a:t>
            </a:r>
          </a:p>
          <a:p>
            <a:pPr lvl="0"/>
            <a:r>
              <a:rPr lang="en-GB" sz="1100" dirty="0"/>
              <a:t>- the </a:t>
            </a:r>
            <a:r>
              <a:rPr lang="en-GB" sz="1100" b="1" dirty="0"/>
              <a:t>same set of machines</a:t>
            </a:r>
            <a:r>
              <a:rPr lang="en-GB" sz="1100" dirty="0"/>
              <a:t> contributes to both train and test;</a:t>
            </a:r>
          </a:p>
          <a:p>
            <a:pPr lvl="0"/>
            <a:r>
              <a:rPr lang="en-GB" sz="1100" dirty="0"/>
              <a:t>- observation periods are </a:t>
            </a:r>
            <a:r>
              <a:rPr lang="en-GB" sz="1100" b="1" dirty="0"/>
              <a:t>interleaved/mixed</a:t>
            </a:r>
            <a:r>
              <a:rPr lang="en-GB" sz="1100" dirty="0"/>
              <a:t> between train and test.</a:t>
            </a:r>
          </a:p>
        </p:txBody>
      </p:sp>
      <p:cxnSp>
        <p:nvCxnSpPr>
          <p:cNvPr id="124" name="Connettore 2 123">
            <a:extLst>
              <a:ext uri="{FF2B5EF4-FFF2-40B4-BE49-F238E27FC236}">
                <a16:creationId xmlns:a16="http://schemas.microsoft.com/office/drawing/2014/main" id="{266202C5-B44B-43EB-5EA0-F9B76377C212}"/>
              </a:ext>
            </a:extLst>
          </p:cNvPr>
          <p:cNvCxnSpPr>
            <a:endCxn id="13" idx="0"/>
          </p:cNvCxnSpPr>
          <p:nvPr/>
        </p:nvCxnSpPr>
        <p:spPr>
          <a:xfrm flipH="1" flipV="1">
            <a:off x="3195828" y="1563624"/>
            <a:ext cx="1911010" cy="4480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D420A5A-DA6A-D044-CECE-D21B22A78C87}"/>
              </a:ext>
            </a:extLst>
          </p:cNvPr>
          <p:cNvSpPr>
            <a:spLocks noGrp="1"/>
          </p:cNvSpPr>
          <p:nvPr>
            <p:ph type="title"/>
          </p:nvPr>
        </p:nvSpPr>
        <p:spPr/>
        <p:txBody>
          <a:bodyPr/>
          <a:lstStyle/>
          <a:p>
            <a:r>
              <a:rPr lang="it-IT" dirty="0"/>
              <a:t>B. </a:t>
            </a:r>
            <a:r>
              <a:rPr lang="en-GB" dirty="0">
                <a:highlight>
                  <a:srgbClr val="FFFF00"/>
                </a:highlight>
              </a:rPr>
              <a:t>Splitting One Long Time Series</a:t>
            </a:r>
          </a:p>
        </p:txBody>
      </p:sp>
      <p:sp>
        <p:nvSpPr>
          <p:cNvPr id="3" name="Segnaposto contenuto 2">
            <a:extLst>
              <a:ext uri="{FF2B5EF4-FFF2-40B4-BE49-F238E27FC236}">
                <a16:creationId xmlns:a16="http://schemas.microsoft.com/office/drawing/2014/main" id="{FBDA959C-B847-0DCA-6629-2BAE4F471749}"/>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61817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8CD3FA-6FBE-1838-64E8-B54995BC8652}"/>
              </a:ext>
            </a:extLst>
          </p:cNvPr>
          <p:cNvSpPr>
            <a:spLocks noGrp="1"/>
          </p:cNvSpPr>
          <p:nvPr>
            <p:ph type="title"/>
          </p:nvPr>
        </p:nvSpPr>
        <p:spPr/>
        <p:txBody>
          <a:bodyPr/>
          <a:lstStyle/>
          <a:p>
            <a:r>
              <a:rPr lang="en-GB" dirty="0"/>
              <a:t>Splitting One Long Time Series - Chronological holdout</a:t>
            </a:r>
          </a:p>
        </p:txBody>
      </p:sp>
      <p:sp>
        <p:nvSpPr>
          <p:cNvPr id="3" name="Segnaposto contenuto 2">
            <a:extLst>
              <a:ext uri="{FF2B5EF4-FFF2-40B4-BE49-F238E27FC236}">
                <a16:creationId xmlns:a16="http://schemas.microsoft.com/office/drawing/2014/main" id="{4EB9A23B-4BB6-A8DB-9962-B37EC1C09166}"/>
              </a:ext>
            </a:extLst>
          </p:cNvPr>
          <p:cNvSpPr>
            <a:spLocks noGrp="1"/>
          </p:cNvSpPr>
          <p:nvPr>
            <p:ph idx="1"/>
          </p:nvPr>
        </p:nvSpPr>
        <p:spPr/>
        <p:txBody>
          <a:bodyPr>
            <a:normAutofit fontScale="85000" lnSpcReduction="20000"/>
          </a:bodyPr>
          <a:lstStyle/>
          <a:p>
            <a:r>
              <a:rPr lang="en-GB" dirty="0"/>
              <a:t>Consider one continuous time series:</a:t>
            </a:r>
          </a:p>
          <a:p>
            <a:r>
              <a:rPr lang="en-GB" dirty="0"/>
              <a:t>x[1], x[2], …, x[T]</a:t>
            </a:r>
          </a:p>
          <a:p>
            <a:r>
              <a:rPr lang="en-GB" dirty="0"/>
              <a:t>For a future-prediction problem, the basic evaluation design is chronological.</a:t>
            </a:r>
          </a:p>
          <a:p>
            <a:r>
              <a:rPr lang="en-GB" dirty="0"/>
              <a:t>past                                                     future</a:t>
            </a:r>
          </a:p>
          <a:p>
            <a:endParaRPr lang="en-GB" dirty="0"/>
          </a:p>
          <a:p>
            <a:r>
              <a:rPr lang="en-GB" dirty="0"/>
              <a:t>|-------------- training --------------|-- validation --|-- test --|</a:t>
            </a:r>
          </a:p>
          <a:p>
            <a:endParaRPr lang="en-GB" b="1" dirty="0"/>
          </a:p>
          <a:p>
            <a:r>
              <a:rPr lang="en-GB" b="1" dirty="0"/>
              <a:t>Training interval</a:t>
            </a:r>
          </a:p>
          <a:p>
            <a:r>
              <a:rPr lang="en-GB" dirty="0"/>
              <a:t>Used to:</a:t>
            </a:r>
          </a:p>
          <a:p>
            <a:pPr lvl="1"/>
            <a:r>
              <a:rPr lang="en-GB" dirty="0"/>
              <a:t>fit preprocessing parameters;</a:t>
            </a:r>
          </a:p>
          <a:p>
            <a:pPr lvl="1"/>
            <a:r>
              <a:rPr lang="en-GB" dirty="0"/>
              <a:t>generate training samples.</a:t>
            </a:r>
          </a:p>
          <a:p>
            <a:pPr lvl="1"/>
            <a:r>
              <a:rPr lang="en-GB" dirty="0"/>
              <a:t>estimate model parameters;</a:t>
            </a:r>
          </a:p>
          <a:p>
            <a:endParaRPr lang="en-GB" dirty="0"/>
          </a:p>
        </p:txBody>
      </p:sp>
    </p:spTree>
    <p:extLst>
      <p:ext uri="{BB962C8B-B14F-4D97-AF65-F5344CB8AC3E}">
        <p14:creationId xmlns:p14="http://schemas.microsoft.com/office/powerpoint/2010/main" val="37128189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F464C4-B51D-0158-25C7-947D29276BF0}"/>
              </a:ext>
            </a:extLst>
          </p:cNvPr>
          <p:cNvSpPr>
            <a:spLocks noGrp="1"/>
          </p:cNvSpPr>
          <p:nvPr>
            <p:ph type="title"/>
          </p:nvPr>
        </p:nvSpPr>
        <p:spPr/>
        <p:txBody>
          <a:bodyPr/>
          <a:lstStyle/>
          <a:p>
            <a:r>
              <a:rPr lang="en-GB" dirty="0"/>
              <a:t>Splitting One Long Time Series - Chronological holdout</a:t>
            </a:r>
          </a:p>
        </p:txBody>
      </p:sp>
      <p:sp>
        <p:nvSpPr>
          <p:cNvPr id="3" name="Segnaposto contenuto 2">
            <a:extLst>
              <a:ext uri="{FF2B5EF4-FFF2-40B4-BE49-F238E27FC236}">
                <a16:creationId xmlns:a16="http://schemas.microsoft.com/office/drawing/2014/main" id="{893486D6-1BF0-62E3-349C-81867CD6AC52}"/>
              </a:ext>
            </a:extLst>
          </p:cNvPr>
          <p:cNvSpPr>
            <a:spLocks noGrp="1"/>
          </p:cNvSpPr>
          <p:nvPr>
            <p:ph sz="half" idx="1"/>
          </p:nvPr>
        </p:nvSpPr>
        <p:spPr>
          <a:xfrm>
            <a:off x="677334" y="2160589"/>
            <a:ext cx="6892843" cy="3880772"/>
          </a:xfrm>
        </p:spPr>
        <p:txBody>
          <a:bodyPr>
            <a:normAutofit/>
          </a:bodyPr>
          <a:lstStyle/>
          <a:p>
            <a:r>
              <a:rPr lang="en-GB" b="1" dirty="0"/>
              <a:t>Validation interval</a:t>
            </a:r>
          </a:p>
          <a:p>
            <a:r>
              <a:rPr lang="en-GB" dirty="0"/>
              <a:t>Occurs after the training interval.</a:t>
            </a:r>
          </a:p>
          <a:p>
            <a:r>
              <a:rPr lang="en-GB" dirty="0"/>
              <a:t>Used to:</a:t>
            </a:r>
          </a:p>
          <a:p>
            <a:pPr lvl="1"/>
            <a:r>
              <a:rPr lang="en-GB" dirty="0"/>
              <a:t>select the model type;</a:t>
            </a:r>
          </a:p>
          <a:p>
            <a:pPr lvl="1"/>
            <a:r>
              <a:rPr lang="en-GB" dirty="0"/>
              <a:t>choose hyperparameters;</a:t>
            </a:r>
          </a:p>
          <a:p>
            <a:pPr lvl="2"/>
            <a:r>
              <a:rPr lang="en-GB" dirty="0"/>
              <a:t>compare alternative window lengths;</a:t>
            </a:r>
          </a:p>
          <a:p>
            <a:pPr lvl="2"/>
            <a:r>
              <a:rPr lang="en-GB" dirty="0"/>
              <a:t>number of training epochs / early stopping rule.</a:t>
            </a:r>
          </a:p>
          <a:p>
            <a:r>
              <a:rPr lang="en-GB" b="1" dirty="0"/>
              <a:t>Test interval</a:t>
            </a:r>
          </a:p>
          <a:p>
            <a:pPr lvl="1"/>
            <a:r>
              <a:rPr lang="en-GB" dirty="0"/>
              <a:t>Occurs after both training and validation.</a:t>
            </a:r>
          </a:p>
          <a:p>
            <a:pPr lvl="1"/>
            <a:r>
              <a:rPr lang="en-GB" dirty="0"/>
              <a:t>Used only for the final evaluation.</a:t>
            </a:r>
          </a:p>
          <a:p>
            <a:endParaRPr lang="en-GB" dirty="0"/>
          </a:p>
        </p:txBody>
      </p:sp>
      <p:sp>
        <p:nvSpPr>
          <p:cNvPr id="6" name="CasellaDiTesto 5">
            <a:extLst>
              <a:ext uri="{FF2B5EF4-FFF2-40B4-BE49-F238E27FC236}">
                <a16:creationId xmlns:a16="http://schemas.microsoft.com/office/drawing/2014/main" id="{F0C980B0-E0BF-213E-88DE-D5CCB3728DD8}"/>
              </a:ext>
            </a:extLst>
          </p:cNvPr>
          <p:cNvSpPr txBox="1"/>
          <p:nvPr/>
        </p:nvSpPr>
        <p:spPr>
          <a:xfrm>
            <a:off x="6593881" y="5827836"/>
            <a:ext cx="5360242" cy="646331"/>
          </a:xfrm>
          <a:prstGeom prst="rect">
            <a:avLst/>
          </a:prstGeom>
          <a:noFill/>
        </p:spPr>
        <p:txBody>
          <a:bodyPr wrap="square">
            <a:spAutoFit/>
          </a:bodyPr>
          <a:lstStyle/>
          <a:p>
            <a:r>
              <a:rPr lang="en-GB" sz="1800" b="1" dirty="0"/>
              <a:t>The model should be evaluated on observations occurring after those used for development.</a:t>
            </a:r>
          </a:p>
        </p:txBody>
      </p:sp>
    </p:spTree>
    <p:extLst>
      <p:ext uri="{BB962C8B-B14F-4D97-AF65-F5344CB8AC3E}">
        <p14:creationId xmlns:p14="http://schemas.microsoft.com/office/powerpoint/2010/main" val="3001009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411480"/>
            <a:ext cx="10972800" cy="502920"/>
          </a:xfrm>
          <a:prstGeom prst="rect">
            <a:avLst/>
          </a:prstGeom>
          <a:noFill/>
          <a:ln/>
        </p:spPr>
        <p:txBody>
          <a:bodyPr wrap="square" lIns="0" tIns="0" rIns="0" bIns="0" rtlCol="0" anchor="ctr"/>
          <a:lstStyle/>
          <a:p>
            <a:pPr marL="0" indent="0">
              <a:buNone/>
            </a:pPr>
            <a:r>
              <a:rPr lang="en-US" sz="3400" b="1" dirty="0">
                <a:solidFill>
                  <a:srgbClr val="0F172A"/>
                </a:solidFill>
                <a:highlight>
                  <a:srgbClr val="FFFF00"/>
                </a:highlight>
                <a:latin typeface="Aptos Display" pitchFamily="34" charset="0"/>
                <a:ea typeface="Aptos Display" pitchFamily="34" charset="-122"/>
                <a:cs typeface="Aptos Display" pitchFamily="34" charset="-120"/>
              </a:rPr>
              <a:t>Time-aware data split</a:t>
            </a:r>
            <a:endParaRPr lang="en-US" sz="3400" dirty="0">
              <a:highlight>
                <a:srgbClr val="FFFF00"/>
              </a:highlight>
            </a:endParaRPr>
          </a:p>
        </p:txBody>
      </p:sp>
      <p:sp>
        <p:nvSpPr>
          <p:cNvPr id="3" name="Text 1"/>
          <p:cNvSpPr/>
          <p:nvPr/>
        </p:nvSpPr>
        <p:spPr>
          <a:xfrm>
            <a:off x="676656" y="978408"/>
            <a:ext cx="10607040" cy="292608"/>
          </a:xfrm>
          <a:prstGeom prst="rect">
            <a:avLst/>
          </a:prstGeom>
          <a:noFill/>
          <a:ln/>
        </p:spPr>
        <p:txBody>
          <a:bodyPr wrap="square" lIns="0" tIns="0" rIns="0" bIns="0" rtlCol="0" anchor="ctr"/>
          <a:lstStyle/>
          <a:p>
            <a:pPr marL="0" indent="0">
              <a:buNone/>
            </a:pPr>
            <a:r>
              <a:rPr lang="en-US" sz="1600" dirty="0">
                <a:solidFill>
                  <a:srgbClr val="475569"/>
                </a:solidFill>
                <a:latin typeface="Aptos" pitchFamily="34" charset="0"/>
                <a:ea typeface="Aptos" pitchFamily="34" charset="-122"/>
                <a:cs typeface="Aptos" pitchFamily="34" charset="-120"/>
              </a:rPr>
              <a:t>Training, validation and test follow the direction of time.</a:t>
            </a:r>
            <a:endParaRPr lang="en-US" sz="1600" dirty="0"/>
          </a:p>
        </p:txBody>
      </p:sp>
      <p:sp>
        <p:nvSpPr>
          <p:cNvPr id="4" name="Shape 2"/>
          <p:cNvSpPr/>
          <p:nvPr/>
        </p:nvSpPr>
        <p:spPr>
          <a:xfrm>
            <a:off x="850392" y="2130552"/>
            <a:ext cx="10232136" cy="1271016"/>
          </a:xfrm>
          <a:prstGeom prst="roundRect">
            <a:avLst>
              <a:gd name="adj" fmla="val 5755"/>
            </a:avLst>
          </a:prstGeom>
          <a:solidFill>
            <a:srgbClr val="E2E8F0">
              <a:alpha val="80000"/>
            </a:srgbClr>
          </a:solidFill>
          <a:ln w="12700">
            <a:solidFill>
              <a:srgbClr val="E2E8F0">
                <a:alpha val="0"/>
              </a:srgbClr>
            </a:solidFill>
            <a:prstDash val="solid"/>
          </a:ln>
        </p:spPr>
        <p:txBody>
          <a:bodyPr/>
          <a:lstStyle/>
          <a:p>
            <a:endParaRPr lang="en-GB"/>
          </a:p>
        </p:txBody>
      </p:sp>
      <p:sp>
        <p:nvSpPr>
          <p:cNvPr id="5" name="Shape 3"/>
          <p:cNvSpPr/>
          <p:nvPr/>
        </p:nvSpPr>
        <p:spPr>
          <a:xfrm>
            <a:off x="868680" y="2148840"/>
            <a:ext cx="5715000" cy="1234440"/>
          </a:xfrm>
          <a:prstGeom prst="rect">
            <a:avLst/>
          </a:prstGeom>
          <a:solidFill>
            <a:srgbClr val="DBEAFE"/>
          </a:solidFill>
          <a:ln w="17780">
            <a:solidFill>
              <a:srgbClr val="2563EB"/>
            </a:solidFill>
            <a:prstDash val="solid"/>
          </a:ln>
        </p:spPr>
        <p:txBody>
          <a:bodyPr/>
          <a:lstStyle/>
          <a:p>
            <a:endParaRPr lang="en-GB"/>
          </a:p>
        </p:txBody>
      </p:sp>
      <p:sp>
        <p:nvSpPr>
          <p:cNvPr id="6" name="Shape 4"/>
          <p:cNvSpPr/>
          <p:nvPr/>
        </p:nvSpPr>
        <p:spPr>
          <a:xfrm>
            <a:off x="6583680" y="2148840"/>
            <a:ext cx="2148840" cy="1234440"/>
          </a:xfrm>
          <a:prstGeom prst="rect">
            <a:avLst/>
          </a:prstGeom>
          <a:solidFill>
            <a:srgbClr val="FFEDD5"/>
          </a:solidFill>
          <a:ln w="17780">
            <a:solidFill>
              <a:srgbClr val="F97316"/>
            </a:solidFill>
            <a:prstDash val="solid"/>
          </a:ln>
        </p:spPr>
        <p:txBody>
          <a:bodyPr/>
          <a:lstStyle/>
          <a:p>
            <a:endParaRPr lang="en-GB"/>
          </a:p>
        </p:txBody>
      </p:sp>
      <p:sp>
        <p:nvSpPr>
          <p:cNvPr id="7" name="Shape 5"/>
          <p:cNvSpPr/>
          <p:nvPr/>
        </p:nvSpPr>
        <p:spPr>
          <a:xfrm>
            <a:off x="8732520" y="2148840"/>
            <a:ext cx="2331720" cy="1234440"/>
          </a:xfrm>
          <a:prstGeom prst="rect">
            <a:avLst/>
          </a:prstGeom>
          <a:solidFill>
            <a:srgbClr val="FEE2E2"/>
          </a:solidFill>
          <a:ln w="17780">
            <a:solidFill>
              <a:srgbClr val="DC2626"/>
            </a:solidFill>
            <a:prstDash val="solid"/>
          </a:ln>
        </p:spPr>
        <p:txBody>
          <a:bodyPr/>
          <a:lstStyle/>
          <a:p>
            <a:endParaRPr lang="en-GB"/>
          </a:p>
        </p:txBody>
      </p:sp>
      <p:sp>
        <p:nvSpPr>
          <p:cNvPr id="8" name="Text 6"/>
          <p:cNvSpPr/>
          <p:nvPr/>
        </p:nvSpPr>
        <p:spPr>
          <a:xfrm>
            <a:off x="1097280" y="2404872"/>
            <a:ext cx="5257800" cy="320040"/>
          </a:xfrm>
          <a:prstGeom prst="rect">
            <a:avLst/>
          </a:prstGeom>
          <a:noFill/>
          <a:ln/>
        </p:spPr>
        <p:txBody>
          <a:bodyPr wrap="square" lIns="0" tIns="0" rIns="0" bIns="0" rtlCol="0" anchor="ctr"/>
          <a:lstStyle/>
          <a:p>
            <a:pPr marL="0" indent="0" algn="ctr">
              <a:buNone/>
            </a:pPr>
            <a:r>
              <a:rPr lang="en-US" sz="2400" b="1" dirty="0">
                <a:solidFill>
                  <a:srgbClr val="2563EB"/>
                </a:solidFill>
                <a:latin typeface="Aptos Display" pitchFamily="34" charset="0"/>
                <a:ea typeface="Aptos Display" pitchFamily="34" charset="-122"/>
                <a:cs typeface="Aptos Display" pitchFamily="34" charset="-120"/>
              </a:rPr>
              <a:t>Training</a:t>
            </a:r>
            <a:endParaRPr lang="en-US" sz="2400" dirty="0"/>
          </a:p>
        </p:txBody>
      </p:sp>
      <p:sp>
        <p:nvSpPr>
          <p:cNvPr id="9" name="Text 7"/>
          <p:cNvSpPr/>
          <p:nvPr/>
        </p:nvSpPr>
        <p:spPr>
          <a:xfrm>
            <a:off x="1097280" y="2862072"/>
            <a:ext cx="5257800" cy="237744"/>
          </a:xfrm>
          <a:prstGeom prst="rect">
            <a:avLst/>
          </a:prstGeom>
          <a:noFill/>
          <a:ln/>
        </p:spPr>
        <p:txBody>
          <a:bodyPr wrap="square" lIns="0" tIns="0" rIns="0" bIns="0" rtlCol="0" anchor="ctr"/>
          <a:lstStyle/>
          <a:p>
            <a:pPr marL="0" indent="0" algn="ctr">
              <a:buNone/>
            </a:pPr>
            <a:r>
              <a:rPr lang="en-US" sz="1500" dirty="0">
                <a:solidFill>
                  <a:srgbClr val="0F172A"/>
                </a:solidFill>
                <a:latin typeface="Aptos" pitchFamily="34" charset="0"/>
                <a:ea typeface="Aptos" pitchFamily="34" charset="-122"/>
                <a:cs typeface="Aptos" pitchFamily="34" charset="-120"/>
              </a:rPr>
              <a:t>fit model parameters</a:t>
            </a:r>
            <a:endParaRPr lang="en-US" sz="1500" dirty="0"/>
          </a:p>
        </p:txBody>
      </p:sp>
      <p:sp>
        <p:nvSpPr>
          <p:cNvPr id="10" name="Text 8"/>
          <p:cNvSpPr/>
          <p:nvPr/>
        </p:nvSpPr>
        <p:spPr>
          <a:xfrm>
            <a:off x="6729984" y="2404872"/>
            <a:ext cx="1856232" cy="320040"/>
          </a:xfrm>
          <a:prstGeom prst="rect">
            <a:avLst/>
          </a:prstGeom>
          <a:noFill/>
          <a:ln/>
        </p:spPr>
        <p:txBody>
          <a:bodyPr wrap="square" lIns="0" tIns="0" rIns="0" bIns="0" rtlCol="0" anchor="ctr"/>
          <a:lstStyle/>
          <a:p>
            <a:pPr marL="0" indent="0" algn="ctr">
              <a:buNone/>
            </a:pPr>
            <a:r>
              <a:rPr lang="en-US" sz="2300" b="1" dirty="0">
                <a:solidFill>
                  <a:srgbClr val="F97316"/>
                </a:solidFill>
                <a:latin typeface="Aptos Display" pitchFamily="34" charset="0"/>
                <a:ea typeface="Aptos Display" pitchFamily="34" charset="-122"/>
                <a:cs typeface="Aptos Display" pitchFamily="34" charset="-120"/>
              </a:rPr>
              <a:t>Validation</a:t>
            </a:r>
            <a:endParaRPr lang="en-US" sz="2300" dirty="0"/>
          </a:p>
        </p:txBody>
      </p:sp>
      <p:sp>
        <p:nvSpPr>
          <p:cNvPr id="11" name="Text 9"/>
          <p:cNvSpPr/>
          <p:nvPr/>
        </p:nvSpPr>
        <p:spPr>
          <a:xfrm>
            <a:off x="6729984" y="2862072"/>
            <a:ext cx="1856232" cy="237744"/>
          </a:xfrm>
          <a:prstGeom prst="rect">
            <a:avLst/>
          </a:prstGeom>
          <a:noFill/>
          <a:ln/>
        </p:spPr>
        <p:txBody>
          <a:bodyPr wrap="square" lIns="0" tIns="0" rIns="0" bIns="0" rtlCol="0" anchor="ctr"/>
          <a:lstStyle/>
          <a:p>
            <a:pPr marL="0" indent="0" algn="ctr">
              <a:buNone/>
            </a:pPr>
            <a:r>
              <a:rPr lang="en-US" sz="1500" dirty="0">
                <a:solidFill>
                  <a:srgbClr val="0F172A"/>
                </a:solidFill>
                <a:latin typeface="Aptos" pitchFamily="34" charset="0"/>
                <a:ea typeface="Aptos" pitchFamily="34" charset="-122"/>
                <a:cs typeface="Aptos" pitchFamily="34" charset="-120"/>
              </a:rPr>
              <a:t>choose model</a:t>
            </a:r>
            <a:endParaRPr lang="en-US" sz="1500" dirty="0"/>
          </a:p>
        </p:txBody>
      </p:sp>
      <p:sp>
        <p:nvSpPr>
          <p:cNvPr id="12" name="Text 10"/>
          <p:cNvSpPr/>
          <p:nvPr/>
        </p:nvSpPr>
        <p:spPr>
          <a:xfrm>
            <a:off x="8897112" y="2404872"/>
            <a:ext cx="2002536" cy="320040"/>
          </a:xfrm>
          <a:prstGeom prst="rect">
            <a:avLst/>
          </a:prstGeom>
          <a:noFill/>
          <a:ln/>
        </p:spPr>
        <p:txBody>
          <a:bodyPr wrap="square" lIns="0" tIns="0" rIns="0" bIns="0" rtlCol="0" anchor="ctr"/>
          <a:lstStyle/>
          <a:p>
            <a:pPr marL="0" indent="0" algn="ctr">
              <a:buNone/>
            </a:pPr>
            <a:r>
              <a:rPr lang="en-US" sz="2300" b="1" dirty="0">
                <a:solidFill>
                  <a:srgbClr val="DC2626"/>
                </a:solidFill>
                <a:latin typeface="Aptos Display" pitchFamily="34" charset="0"/>
                <a:ea typeface="Aptos Display" pitchFamily="34" charset="-122"/>
                <a:cs typeface="Aptos Display" pitchFamily="34" charset="-120"/>
              </a:rPr>
              <a:t>Test</a:t>
            </a:r>
            <a:endParaRPr lang="en-US" sz="2300" dirty="0"/>
          </a:p>
        </p:txBody>
      </p:sp>
      <p:sp>
        <p:nvSpPr>
          <p:cNvPr id="13" name="Text 11"/>
          <p:cNvSpPr/>
          <p:nvPr/>
        </p:nvSpPr>
        <p:spPr>
          <a:xfrm>
            <a:off x="8897112" y="2862072"/>
            <a:ext cx="2002536" cy="237744"/>
          </a:xfrm>
          <a:prstGeom prst="rect">
            <a:avLst/>
          </a:prstGeom>
          <a:noFill/>
          <a:ln/>
        </p:spPr>
        <p:txBody>
          <a:bodyPr wrap="square" lIns="0" tIns="0" rIns="0" bIns="0" rtlCol="0" anchor="ctr"/>
          <a:lstStyle/>
          <a:p>
            <a:pPr marL="0" indent="0" algn="ctr">
              <a:buNone/>
            </a:pPr>
            <a:r>
              <a:rPr lang="en-US" sz="1500" dirty="0">
                <a:solidFill>
                  <a:srgbClr val="0F172A"/>
                </a:solidFill>
                <a:latin typeface="Aptos" pitchFamily="34" charset="0"/>
                <a:ea typeface="Aptos" pitchFamily="34" charset="-122"/>
                <a:cs typeface="Aptos" pitchFamily="34" charset="-120"/>
              </a:rPr>
              <a:t>final evaluation</a:t>
            </a:r>
            <a:endParaRPr lang="en-US" sz="1500" dirty="0"/>
          </a:p>
        </p:txBody>
      </p:sp>
      <p:sp>
        <p:nvSpPr>
          <p:cNvPr id="14" name="Shape 12"/>
          <p:cNvSpPr/>
          <p:nvPr/>
        </p:nvSpPr>
        <p:spPr>
          <a:xfrm>
            <a:off x="6583680" y="2011680"/>
            <a:ext cx="0" cy="1508760"/>
          </a:xfrm>
          <a:prstGeom prst="line">
            <a:avLst/>
          </a:prstGeom>
          <a:noFill/>
          <a:ln w="17780">
            <a:solidFill>
              <a:srgbClr val="64748B"/>
            </a:solidFill>
            <a:prstDash val="solid"/>
          </a:ln>
        </p:spPr>
        <p:txBody>
          <a:bodyPr/>
          <a:lstStyle/>
          <a:p>
            <a:endParaRPr lang="en-GB"/>
          </a:p>
        </p:txBody>
      </p:sp>
      <p:sp>
        <p:nvSpPr>
          <p:cNvPr id="15" name="Shape 13"/>
          <p:cNvSpPr/>
          <p:nvPr/>
        </p:nvSpPr>
        <p:spPr>
          <a:xfrm>
            <a:off x="8732520" y="2011680"/>
            <a:ext cx="0" cy="1508760"/>
          </a:xfrm>
          <a:prstGeom prst="line">
            <a:avLst/>
          </a:prstGeom>
          <a:noFill/>
          <a:ln w="17780">
            <a:solidFill>
              <a:srgbClr val="64748B"/>
            </a:solidFill>
            <a:prstDash val="solid"/>
          </a:ln>
        </p:spPr>
        <p:txBody>
          <a:bodyPr/>
          <a:lstStyle/>
          <a:p>
            <a:endParaRPr lang="en-GB"/>
          </a:p>
        </p:txBody>
      </p:sp>
      <p:sp>
        <p:nvSpPr>
          <p:cNvPr id="16" name="Shape 14"/>
          <p:cNvSpPr/>
          <p:nvPr/>
        </p:nvSpPr>
        <p:spPr>
          <a:xfrm>
            <a:off x="868680" y="4069080"/>
            <a:ext cx="10195560" cy="0"/>
          </a:xfrm>
          <a:prstGeom prst="line">
            <a:avLst/>
          </a:prstGeom>
          <a:noFill/>
          <a:ln w="27940">
            <a:solidFill>
              <a:srgbClr val="0F172A"/>
            </a:solidFill>
            <a:prstDash val="solid"/>
            <a:headEnd type="none"/>
            <a:tailEnd type="triangle"/>
          </a:ln>
        </p:spPr>
        <p:txBody>
          <a:bodyPr/>
          <a:lstStyle/>
          <a:p>
            <a:endParaRPr lang="en-GB"/>
          </a:p>
        </p:txBody>
      </p:sp>
      <p:sp>
        <p:nvSpPr>
          <p:cNvPr id="17" name="Text 15"/>
          <p:cNvSpPr/>
          <p:nvPr/>
        </p:nvSpPr>
        <p:spPr>
          <a:xfrm>
            <a:off x="10259568" y="4215384"/>
            <a:ext cx="731520" cy="228600"/>
          </a:xfrm>
          <a:prstGeom prst="rect">
            <a:avLst/>
          </a:prstGeom>
          <a:noFill/>
          <a:ln/>
        </p:spPr>
        <p:txBody>
          <a:bodyPr wrap="square" lIns="0" tIns="0" rIns="0" bIns="0" rtlCol="0" anchor="ctr"/>
          <a:lstStyle/>
          <a:p>
            <a:pPr marL="0" indent="0" algn="r">
              <a:buNone/>
            </a:pPr>
            <a:r>
              <a:rPr lang="en-US" sz="1600" b="1" dirty="0">
                <a:solidFill>
                  <a:srgbClr val="0F172A"/>
                </a:solidFill>
                <a:latin typeface="Aptos" pitchFamily="34" charset="0"/>
                <a:ea typeface="Aptos" pitchFamily="34" charset="-122"/>
                <a:cs typeface="Aptos" pitchFamily="34" charset="-120"/>
              </a:rPr>
              <a:t>time</a:t>
            </a:r>
            <a:endParaRPr lang="en-US" sz="1600" dirty="0"/>
          </a:p>
        </p:txBody>
      </p:sp>
      <p:sp>
        <p:nvSpPr>
          <p:cNvPr id="18" name="Text 16"/>
          <p:cNvSpPr/>
          <p:nvPr/>
        </p:nvSpPr>
        <p:spPr>
          <a:xfrm>
            <a:off x="868680" y="3675888"/>
            <a:ext cx="731520" cy="228600"/>
          </a:xfrm>
          <a:prstGeom prst="rect">
            <a:avLst/>
          </a:prstGeom>
          <a:noFill/>
          <a:ln/>
        </p:spPr>
        <p:txBody>
          <a:bodyPr wrap="square" lIns="0" tIns="0" rIns="0" bIns="0" rtlCol="0" anchor="ctr"/>
          <a:lstStyle/>
          <a:p>
            <a:pPr marL="0" indent="0">
              <a:buNone/>
            </a:pPr>
            <a:r>
              <a:rPr lang="en-US" sz="1400" dirty="0">
                <a:solidFill>
                  <a:srgbClr val="475569"/>
                </a:solidFill>
                <a:latin typeface="Aptos" pitchFamily="34" charset="0"/>
                <a:ea typeface="Aptos" pitchFamily="34" charset="-122"/>
                <a:cs typeface="Aptos" pitchFamily="34" charset="-120"/>
              </a:rPr>
              <a:t>past</a:t>
            </a:r>
            <a:endParaRPr lang="en-US" sz="1400" dirty="0"/>
          </a:p>
        </p:txBody>
      </p:sp>
      <p:sp>
        <p:nvSpPr>
          <p:cNvPr id="19" name="Text 17"/>
          <p:cNvSpPr/>
          <p:nvPr/>
        </p:nvSpPr>
        <p:spPr>
          <a:xfrm>
            <a:off x="10405872" y="3675888"/>
            <a:ext cx="658368" cy="228600"/>
          </a:xfrm>
          <a:prstGeom prst="rect">
            <a:avLst/>
          </a:prstGeom>
          <a:noFill/>
          <a:ln/>
        </p:spPr>
        <p:txBody>
          <a:bodyPr wrap="square" lIns="0" tIns="0" rIns="0" bIns="0" rtlCol="0" anchor="ctr"/>
          <a:lstStyle/>
          <a:p>
            <a:pPr marL="0" indent="0" algn="r">
              <a:buNone/>
            </a:pPr>
            <a:r>
              <a:rPr lang="en-US" sz="1400" dirty="0">
                <a:solidFill>
                  <a:srgbClr val="475569"/>
                </a:solidFill>
                <a:latin typeface="Aptos" pitchFamily="34" charset="0"/>
                <a:ea typeface="Aptos" pitchFamily="34" charset="-122"/>
                <a:cs typeface="Aptos" pitchFamily="34" charset="-120"/>
              </a:rPr>
              <a:t>future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E8A1B98-A60C-67CA-D77E-9E04240FFD0B}"/>
              </a:ext>
            </a:extLst>
          </p:cNvPr>
          <p:cNvSpPr>
            <a:spLocks noGrp="1"/>
          </p:cNvSpPr>
          <p:nvPr>
            <p:ph type="title"/>
          </p:nvPr>
        </p:nvSpPr>
        <p:spPr/>
        <p:txBody>
          <a:bodyPr/>
          <a:lstStyle/>
          <a:p>
            <a:r>
              <a:rPr lang="en-GB" dirty="0"/>
              <a:t>Why random splitting can be misleading</a:t>
            </a:r>
          </a:p>
        </p:txBody>
      </p:sp>
      <p:sp>
        <p:nvSpPr>
          <p:cNvPr id="3" name="Segnaposto contenuto 2">
            <a:extLst>
              <a:ext uri="{FF2B5EF4-FFF2-40B4-BE49-F238E27FC236}">
                <a16:creationId xmlns:a16="http://schemas.microsoft.com/office/drawing/2014/main" id="{D01A0188-20D5-B371-2894-D1A1BA5B972F}"/>
              </a:ext>
            </a:extLst>
          </p:cNvPr>
          <p:cNvSpPr>
            <a:spLocks noGrp="1"/>
          </p:cNvSpPr>
          <p:nvPr>
            <p:ph idx="1"/>
          </p:nvPr>
        </p:nvSpPr>
        <p:spPr/>
        <p:txBody>
          <a:bodyPr>
            <a:normAutofit fontScale="77500" lnSpcReduction="20000"/>
          </a:bodyPr>
          <a:lstStyle/>
          <a:p>
            <a:r>
              <a:rPr lang="en-GB" dirty="0"/>
              <a:t>Suppose observations from one long series are randomly distributed across training and test sets.</a:t>
            </a:r>
          </a:p>
          <a:p>
            <a:r>
              <a:rPr lang="en-GB" dirty="0"/>
              <a:t>The training set may then contain observations occurring after some test observations.</a:t>
            </a:r>
          </a:p>
          <a:p>
            <a:r>
              <a:rPr lang="en-GB" dirty="0"/>
              <a:t>Time:       1     2    3    4    5    6    7    8    9    10</a:t>
            </a:r>
          </a:p>
          <a:p>
            <a:r>
              <a:rPr lang="en-GB" dirty="0"/>
              <a:t>Partition:  TR  TE  TR  </a:t>
            </a:r>
            <a:r>
              <a:rPr lang="en-GB" dirty="0" err="1"/>
              <a:t>TR</a:t>
            </a:r>
            <a:r>
              <a:rPr lang="en-GB" dirty="0"/>
              <a:t>  TE  TR  TE  TR  </a:t>
            </a:r>
            <a:r>
              <a:rPr lang="en-GB" dirty="0" err="1"/>
              <a:t>TR</a:t>
            </a:r>
            <a:r>
              <a:rPr lang="en-GB" dirty="0"/>
              <a:t>  TE</a:t>
            </a:r>
          </a:p>
          <a:p>
            <a:endParaRPr lang="en-GB" b="1" dirty="0"/>
          </a:p>
          <a:p>
            <a:r>
              <a:rPr lang="en-GB" b="1" dirty="0"/>
              <a:t>Problem 1 — Future information in training</a:t>
            </a:r>
          </a:p>
          <a:p>
            <a:pPr lvl="1"/>
            <a:r>
              <a:rPr lang="en-GB" dirty="0"/>
              <a:t>To predict the observation at time 5, the model may have been trained on observations from times 6, 8 and 9.</a:t>
            </a:r>
          </a:p>
          <a:p>
            <a:pPr lvl="1"/>
            <a:r>
              <a:rPr lang="en-GB" dirty="0"/>
              <a:t>This does not reproduce real forecasting.</a:t>
            </a:r>
          </a:p>
          <a:p>
            <a:endParaRPr lang="en-GB" b="1" dirty="0"/>
          </a:p>
          <a:p>
            <a:r>
              <a:rPr lang="en-GB" b="1" dirty="0"/>
              <a:t>Problem 2 — Temporal dependence</a:t>
            </a:r>
          </a:p>
          <a:p>
            <a:pPr lvl="1"/>
            <a:r>
              <a:rPr lang="en-GB" dirty="0"/>
              <a:t>Nearby observations may be highly similar.</a:t>
            </a:r>
          </a:p>
          <a:p>
            <a:pPr lvl="1"/>
            <a:r>
              <a:rPr lang="en-GB" dirty="0"/>
              <a:t>A random split can place strongly correlated samples in both training and test.</a:t>
            </a:r>
          </a:p>
          <a:p>
            <a:endParaRPr lang="en-GB" dirty="0"/>
          </a:p>
        </p:txBody>
      </p:sp>
    </p:spTree>
    <p:extLst>
      <p:ext uri="{BB962C8B-B14F-4D97-AF65-F5344CB8AC3E}">
        <p14:creationId xmlns:p14="http://schemas.microsoft.com/office/powerpoint/2010/main" val="3360829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B3C3D055-1AEA-3621-ED7C-AD1E93FC7F77}"/>
              </a:ext>
            </a:extLst>
          </p:cNvPr>
          <p:cNvSpPr>
            <a:spLocks noGrp="1"/>
          </p:cNvSpPr>
          <p:nvPr>
            <p:ph type="title"/>
          </p:nvPr>
        </p:nvSpPr>
        <p:spPr/>
        <p:txBody>
          <a:bodyPr/>
          <a:lstStyle/>
          <a:p>
            <a:r>
              <a:rPr lang="en-GB" dirty="0"/>
              <a:t>Why random splitting can be misleading</a:t>
            </a:r>
          </a:p>
        </p:txBody>
      </p:sp>
      <p:sp>
        <p:nvSpPr>
          <p:cNvPr id="3" name="Segnaposto contenuto 2">
            <a:extLst>
              <a:ext uri="{FF2B5EF4-FFF2-40B4-BE49-F238E27FC236}">
                <a16:creationId xmlns:a16="http://schemas.microsoft.com/office/drawing/2014/main" id="{09E0F395-95F3-111C-71C5-4CE45AB28DFB}"/>
              </a:ext>
            </a:extLst>
          </p:cNvPr>
          <p:cNvSpPr>
            <a:spLocks noGrp="1"/>
          </p:cNvSpPr>
          <p:nvPr>
            <p:ph sz="half" idx="1"/>
          </p:nvPr>
        </p:nvSpPr>
        <p:spPr>
          <a:xfrm>
            <a:off x="677334" y="2160589"/>
            <a:ext cx="8690402" cy="3880772"/>
          </a:xfrm>
        </p:spPr>
        <p:txBody>
          <a:bodyPr>
            <a:normAutofit fontScale="70000" lnSpcReduction="20000"/>
          </a:bodyPr>
          <a:lstStyle/>
          <a:p>
            <a:r>
              <a:rPr lang="en-GB" b="1" dirty="0"/>
              <a:t>Problem 3 — Regime mixing</a:t>
            </a:r>
          </a:p>
          <a:p>
            <a:r>
              <a:rPr lang="en-GB" dirty="0"/>
              <a:t>Training and test may contain the same:</a:t>
            </a:r>
          </a:p>
          <a:p>
            <a:pPr lvl="1"/>
            <a:r>
              <a:rPr lang="en-GB" dirty="0"/>
              <a:t>seasonal periods;</a:t>
            </a:r>
          </a:p>
          <a:p>
            <a:pPr lvl="1"/>
            <a:r>
              <a:rPr lang="en-GB" dirty="0"/>
              <a:t>operating regimes;</a:t>
            </a:r>
          </a:p>
          <a:p>
            <a:pPr lvl="1"/>
            <a:r>
              <a:rPr lang="en-GB" dirty="0"/>
              <a:t>trends;</a:t>
            </a:r>
          </a:p>
          <a:p>
            <a:pPr lvl="1"/>
            <a:r>
              <a:rPr lang="en-GB" dirty="0"/>
              <a:t>local disturbances.</a:t>
            </a:r>
          </a:p>
          <a:p>
            <a:r>
              <a:rPr lang="en-GB" dirty="0"/>
              <a:t>The test set therefore becomes easier than the real future.</a:t>
            </a:r>
          </a:p>
          <a:p>
            <a:endParaRPr lang="en-GB" b="1" dirty="0"/>
          </a:p>
          <a:p>
            <a:r>
              <a:rPr lang="en-GB" b="1" dirty="0"/>
              <a:t>Problem 4 — Preprocessing contamination</a:t>
            </a:r>
          </a:p>
          <a:p>
            <a:r>
              <a:rPr lang="en-GB" dirty="0"/>
              <a:t>If the full series is processed before the split, future periods may influence:</a:t>
            </a:r>
          </a:p>
          <a:p>
            <a:pPr lvl="1"/>
            <a:r>
              <a:rPr lang="en-GB" dirty="0"/>
              <a:t>scaling;</a:t>
            </a:r>
          </a:p>
          <a:p>
            <a:pPr lvl="1"/>
            <a:r>
              <a:rPr lang="en-GB" dirty="0"/>
              <a:t>imputation;</a:t>
            </a:r>
          </a:p>
          <a:p>
            <a:pPr lvl="1"/>
            <a:r>
              <a:rPr lang="en-GB" dirty="0"/>
              <a:t>feature extraction;</a:t>
            </a:r>
          </a:p>
          <a:p>
            <a:pPr lvl="1"/>
            <a:r>
              <a:rPr lang="en-GB" dirty="0"/>
              <a:t>threshold estimation.</a:t>
            </a:r>
          </a:p>
          <a:p>
            <a:endParaRPr lang="en-GB" dirty="0"/>
          </a:p>
        </p:txBody>
      </p:sp>
    </p:spTree>
    <p:extLst>
      <p:ext uri="{BB962C8B-B14F-4D97-AF65-F5344CB8AC3E}">
        <p14:creationId xmlns:p14="http://schemas.microsoft.com/office/powerpoint/2010/main" val="9538540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B0175DD0-3633-475C-61B0-C37C3A2D4A80}"/>
              </a:ext>
            </a:extLst>
          </p:cNvPr>
          <p:cNvSpPr>
            <a:spLocks noGrp="1"/>
          </p:cNvSpPr>
          <p:nvPr>
            <p:ph type="title"/>
          </p:nvPr>
        </p:nvSpPr>
        <p:spPr/>
        <p:txBody>
          <a:bodyPr/>
          <a:lstStyle/>
          <a:p>
            <a:r>
              <a:rPr lang="en-GB" dirty="0">
                <a:highlight>
                  <a:srgbClr val="FFFF00"/>
                </a:highlight>
              </a:rPr>
              <a:t>1. Fixed-origin evaluation</a:t>
            </a:r>
          </a:p>
        </p:txBody>
      </p:sp>
      <p:sp>
        <p:nvSpPr>
          <p:cNvPr id="6" name="Segnaposto contenuto 5">
            <a:extLst>
              <a:ext uri="{FF2B5EF4-FFF2-40B4-BE49-F238E27FC236}">
                <a16:creationId xmlns:a16="http://schemas.microsoft.com/office/drawing/2014/main" id="{6CAD1C2C-9969-0A70-2CBD-2A936D048B04}"/>
              </a:ext>
            </a:extLst>
          </p:cNvPr>
          <p:cNvSpPr>
            <a:spLocks noGrp="1"/>
          </p:cNvSpPr>
          <p:nvPr>
            <p:ph sz="half" idx="1"/>
          </p:nvPr>
        </p:nvSpPr>
        <p:spPr/>
        <p:txBody>
          <a:bodyPr>
            <a:normAutofit fontScale="40000" lnSpcReduction="20000"/>
          </a:bodyPr>
          <a:lstStyle/>
          <a:p>
            <a:r>
              <a:rPr lang="en-GB" sz="2500" dirty="0"/>
              <a:t>In fixed-origin evaluation, one historical origin defines the end of training.</a:t>
            </a:r>
          </a:p>
          <a:p>
            <a:r>
              <a:rPr lang="en-GB" sz="2500" dirty="0"/>
              <a:t>|--------------- training ---------------|--- validation ---|--- test ---|</a:t>
            </a:r>
          </a:p>
          <a:p>
            <a:r>
              <a:rPr lang="en-GB" sz="2500" dirty="0"/>
              <a:t>                                                    ^</a:t>
            </a:r>
          </a:p>
          <a:p>
            <a:r>
              <a:rPr lang="en-GB" sz="2500" dirty="0"/>
              <a:t>                                  fixed training origin</a:t>
            </a:r>
          </a:p>
          <a:p>
            <a:r>
              <a:rPr lang="en-GB" sz="2500" dirty="0"/>
              <a:t>The split is constructed once.</a:t>
            </a:r>
          </a:p>
          <a:p>
            <a:r>
              <a:rPr lang="en-GB" sz="2500" b="1" dirty="0"/>
              <a:t>Example</a:t>
            </a:r>
          </a:p>
          <a:p>
            <a:r>
              <a:rPr lang="en-GB" sz="2500" dirty="0"/>
              <a:t>Training:   January 2022 to December 2024</a:t>
            </a:r>
          </a:p>
          <a:p>
            <a:r>
              <a:rPr lang="en-GB" sz="2500" dirty="0"/>
              <a:t>Validation: January 2025 to June 2025</a:t>
            </a:r>
          </a:p>
          <a:p>
            <a:r>
              <a:rPr lang="en-GB" sz="2500" dirty="0"/>
              <a:t>Test:       July 2025 to December 2025</a:t>
            </a:r>
          </a:p>
          <a:p>
            <a:r>
              <a:rPr lang="en-GB" sz="2500" b="1" dirty="0"/>
              <a:t>Advantages</a:t>
            </a:r>
          </a:p>
          <a:p>
            <a:r>
              <a:rPr lang="en-GB" sz="2500" dirty="0"/>
              <a:t>simple; computationally efficient; easy to communicate; closely simulates one deployment date; suitable for initial model comparison.</a:t>
            </a:r>
          </a:p>
          <a:p>
            <a:pPr marL="0" indent="0">
              <a:buNone/>
            </a:pPr>
            <a:endParaRPr lang="en-GB" sz="2500" b="1" dirty="0"/>
          </a:p>
          <a:p>
            <a:r>
              <a:rPr lang="en-GB" sz="2500" b="1" dirty="0"/>
              <a:t>Is the selected validation period representative of the future conditions that matter?</a:t>
            </a:r>
          </a:p>
          <a:p>
            <a:endParaRPr lang="en-GB" dirty="0"/>
          </a:p>
        </p:txBody>
      </p:sp>
      <p:sp>
        <p:nvSpPr>
          <p:cNvPr id="11" name="Segnaposto contenuto 10">
            <a:extLst>
              <a:ext uri="{FF2B5EF4-FFF2-40B4-BE49-F238E27FC236}">
                <a16:creationId xmlns:a16="http://schemas.microsoft.com/office/drawing/2014/main" id="{6740CCEE-15C6-CEBC-9E58-2BE26600DCB2}"/>
              </a:ext>
            </a:extLst>
          </p:cNvPr>
          <p:cNvSpPr txBox="1">
            <a:spLocks noGrp="1"/>
          </p:cNvSpPr>
          <p:nvPr>
            <p:ph sz="half" idx="2"/>
          </p:nvPr>
        </p:nvSpPr>
        <p:spPr>
          <a:xfrm>
            <a:off x="5089970" y="2160589"/>
            <a:ext cx="4184034" cy="4206280"/>
          </a:xfrm>
          <a:prstGeom prst="rect">
            <a:avLst/>
          </a:prstGeom>
          <a:noFill/>
        </p:spPr>
        <p:txBody>
          <a:bodyPr wrap="square">
            <a:spAutoFit/>
          </a:bodyPr>
          <a:lstStyle/>
          <a:p>
            <a:r>
              <a:rPr lang="en-GB" sz="1400" b="1" dirty="0">
                <a:highlight>
                  <a:srgbClr val="FFFF00"/>
                </a:highlight>
              </a:rPr>
              <a:t>Limitations</a:t>
            </a:r>
          </a:p>
          <a:p>
            <a:pPr lvl="1"/>
            <a:r>
              <a:rPr lang="en-GB" sz="1200" dirty="0"/>
              <a:t>performance may depend strongly on one selected period;</a:t>
            </a:r>
          </a:p>
          <a:p>
            <a:pPr lvl="1"/>
            <a:r>
              <a:rPr lang="en-GB" sz="1200" dirty="0"/>
              <a:t>validation may represent only one season or regime;</a:t>
            </a:r>
          </a:p>
          <a:p>
            <a:pPr lvl="1"/>
            <a:r>
              <a:rPr lang="en-GB" sz="1200" dirty="0"/>
              <a:t>results may be sensitive to the exact split date;</a:t>
            </a:r>
          </a:p>
          <a:p>
            <a:pPr lvl="1"/>
            <a:r>
              <a:rPr lang="en-GB" sz="1200" dirty="0"/>
              <a:t>the model is evaluated from only one historical origin.</a:t>
            </a:r>
          </a:p>
          <a:p>
            <a:r>
              <a:rPr lang="en-GB" sz="1400" b="1" dirty="0">
                <a:highlight>
                  <a:srgbClr val="FFFF00"/>
                </a:highlight>
              </a:rPr>
              <a:t>When it is appropriate</a:t>
            </a:r>
          </a:p>
          <a:p>
            <a:pPr lvl="1"/>
            <a:r>
              <a:rPr lang="en-GB" sz="1200" dirty="0"/>
              <a:t>limited computational resources;</a:t>
            </a:r>
          </a:p>
          <a:p>
            <a:pPr lvl="1"/>
            <a:r>
              <a:rPr lang="en-GB" sz="1200" dirty="0"/>
              <a:t>one natural deployment date;</a:t>
            </a:r>
          </a:p>
          <a:p>
            <a:pPr lvl="1"/>
            <a:r>
              <a:rPr lang="en-GB" sz="1200" dirty="0"/>
              <a:t>large validation and test intervals;</a:t>
            </a:r>
          </a:p>
          <a:p>
            <a:pPr lvl="1"/>
            <a:r>
              <a:rPr lang="en-GB" sz="1200" dirty="0"/>
              <a:t>relatively stable processes;</a:t>
            </a:r>
          </a:p>
          <a:p>
            <a:pPr lvl="1"/>
            <a:r>
              <a:rPr lang="en-GB" sz="1200" dirty="0"/>
              <a:t>educational or preliminary studies.</a:t>
            </a:r>
          </a:p>
        </p:txBody>
      </p:sp>
    </p:spTree>
    <p:extLst>
      <p:ext uri="{BB962C8B-B14F-4D97-AF65-F5344CB8AC3E}">
        <p14:creationId xmlns:p14="http://schemas.microsoft.com/office/powerpoint/2010/main" val="712260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384048"/>
            <a:ext cx="10881360" cy="502920"/>
          </a:xfrm>
          <a:prstGeom prst="rect">
            <a:avLst/>
          </a:prstGeom>
          <a:noFill/>
          <a:ln/>
        </p:spPr>
        <p:txBody>
          <a:bodyPr wrap="square" lIns="381" tIns="381" rIns="381" bIns="381" rtlCol="0" anchor="ctr">
            <a:normAutofit/>
          </a:bodyPr>
          <a:lstStyle/>
          <a:p>
            <a:pPr marL="0" indent="0" algn="l">
              <a:buNone/>
            </a:pPr>
            <a:r>
              <a:rPr lang="en-US" sz="3000" b="1" dirty="0">
                <a:solidFill>
                  <a:srgbClr val="172033"/>
                </a:solidFill>
                <a:latin typeface="Aptos" pitchFamily="34" charset="0"/>
                <a:ea typeface="Aptos" pitchFamily="34" charset="-122"/>
                <a:cs typeface="Aptos" pitchFamily="34" charset="-120"/>
              </a:rPr>
              <a:t>Retrospective evaluation as simulated deployment</a:t>
            </a:r>
            <a:endParaRPr lang="en-US" sz="3000" dirty="0"/>
          </a:p>
        </p:txBody>
      </p:sp>
      <p:sp>
        <p:nvSpPr>
          <p:cNvPr id="3" name="Text 1"/>
          <p:cNvSpPr/>
          <p:nvPr/>
        </p:nvSpPr>
        <p:spPr>
          <a:xfrm>
            <a:off x="676656" y="896112"/>
            <a:ext cx="10698480" cy="347472"/>
          </a:xfrm>
          <a:prstGeom prst="rect">
            <a:avLst/>
          </a:prstGeom>
          <a:noFill/>
          <a:ln/>
        </p:spPr>
        <p:txBody>
          <a:bodyPr wrap="square" lIns="381" tIns="381" rIns="381" bIns="381" rtlCol="0" anchor="ctr">
            <a:normAutofit/>
          </a:bodyPr>
          <a:lstStyle/>
          <a:p>
            <a:pPr marL="0" indent="0" algn="l">
              <a:buNone/>
            </a:pPr>
            <a:r>
              <a:rPr lang="en-US" sz="1550" dirty="0">
                <a:solidFill>
                  <a:srgbClr val="5B6473"/>
                </a:solidFill>
                <a:latin typeface="Aptos" pitchFamily="34" charset="0"/>
                <a:ea typeface="Aptos" pitchFamily="34" charset="-122"/>
                <a:cs typeface="Aptos" pitchFamily="34" charset="-120"/>
              </a:rPr>
              <a:t>Train and select the model using only the development period, then assess it as if deployed on later data.</a:t>
            </a:r>
            <a:endParaRPr lang="en-US" sz="1550" dirty="0"/>
          </a:p>
        </p:txBody>
      </p:sp>
      <p:sp>
        <p:nvSpPr>
          <p:cNvPr id="4" name="Shape 2"/>
          <p:cNvSpPr/>
          <p:nvPr/>
        </p:nvSpPr>
        <p:spPr>
          <a:xfrm>
            <a:off x="822960" y="4443984"/>
            <a:ext cx="10588752" cy="0"/>
          </a:xfrm>
          <a:prstGeom prst="line">
            <a:avLst/>
          </a:prstGeom>
          <a:noFill/>
          <a:ln w="15875">
            <a:solidFill>
              <a:srgbClr val="334155"/>
            </a:solidFill>
            <a:prstDash val="solid"/>
            <a:headEnd type="none"/>
            <a:tailEnd type="triangle"/>
          </a:ln>
        </p:spPr>
        <p:txBody>
          <a:bodyPr/>
          <a:lstStyle/>
          <a:p>
            <a:endParaRPr lang="en-GB"/>
          </a:p>
        </p:txBody>
      </p:sp>
      <p:sp>
        <p:nvSpPr>
          <p:cNvPr id="5" name="Shape 3"/>
          <p:cNvSpPr/>
          <p:nvPr/>
        </p:nvSpPr>
        <p:spPr>
          <a:xfrm>
            <a:off x="1051560" y="3401568"/>
            <a:ext cx="5212080" cy="548640"/>
          </a:xfrm>
          <a:prstGeom prst="roundRect">
            <a:avLst>
              <a:gd name="adj" fmla="val 13333"/>
            </a:avLst>
          </a:prstGeom>
          <a:solidFill>
            <a:srgbClr val="DCEAFE">
              <a:alpha val="97000"/>
            </a:srgbClr>
          </a:solidFill>
          <a:ln w="17780">
            <a:solidFill>
              <a:srgbClr val="2563EB"/>
            </a:solidFill>
            <a:prstDash val="solid"/>
          </a:ln>
        </p:spPr>
        <p:txBody>
          <a:bodyPr/>
          <a:lstStyle/>
          <a:p>
            <a:endParaRPr lang="en-GB"/>
          </a:p>
        </p:txBody>
      </p:sp>
      <p:sp>
        <p:nvSpPr>
          <p:cNvPr id="6" name="Shape 4"/>
          <p:cNvSpPr/>
          <p:nvPr/>
        </p:nvSpPr>
        <p:spPr>
          <a:xfrm>
            <a:off x="6263640" y="3401568"/>
            <a:ext cx="4873752" cy="548640"/>
          </a:xfrm>
          <a:prstGeom prst="roundRect">
            <a:avLst>
              <a:gd name="adj" fmla="val 13333"/>
            </a:avLst>
          </a:prstGeom>
          <a:solidFill>
            <a:srgbClr val="FFEDD5">
              <a:alpha val="98000"/>
            </a:srgbClr>
          </a:solidFill>
          <a:ln w="17780">
            <a:solidFill>
              <a:srgbClr val="F97316"/>
            </a:solidFill>
            <a:prstDash val="solid"/>
          </a:ln>
        </p:spPr>
        <p:txBody>
          <a:bodyPr/>
          <a:lstStyle/>
          <a:p>
            <a:endParaRPr lang="en-GB"/>
          </a:p>
        </p:txBody>
      </p:sp>
      <p:sp>
        <p:nvSpPr>
          <p:cNvPr id="7" name="Shape 5"/>
          <p:cNvSpPr/>
          <p:nvPr/>
        </p:nvSpPr>
        <p:spPr>
          <a:xfrm>
            <a:off x="2093976" y="3465576"/>
            <a:ext cx="0" cy="420624"/>
          </a:xfrm>
          <a:prstGeom prst="line">
            <a:avLst/>
          </a:prstGeom>
          <a:noFill/>
          <a:ln w="8890">
            <a:solidFill>
              <a:srgbClr val="CBD5E1"/>
            </a:solidFill>
            <a:prstDash val="solid"/>
          </a:ln>
        </p:spPr>
        <p:txBody>
          <a:bodyPr/>
          <a:lstStyle/>
          <a:p>
            <a:endParaRPr lang="en-GB"/>
          </a:p>
        </p:txBody>
      </p:sp>
      <p:sp>
        <p:nvSpPr>
          <p:cNvPr id="8" name="Shape 6"/>
          <p:cNvSpPr/>
          <p:nvPr/>
        </p:nvSpPr>
        <p:spPr>
          <a:xfrm>
            <a:off x="3136392" y="3465576"/>
            <a:ext cx="0" cy="420624"/>
          </a:xfrm>
          <a:prstGeom prst="line">
            <a:avLst/>
          </a:prstGeom>
          <a:noFill/>
          <a:ln w="8890">
            <a:solidFill>
              <a:srgbClr val="CBD5E1"/>
            </a:solidFill>
            <a:prstDash val="solid"/>
          </a:ln>
        </p:spPr>
        <p:txBody>
          <a:bodyPr/>
          <a:lstStyle/>
          <a:p>
            <a:endParaRPr lang="en-GB"/>
          </a:p>
        </p:txBody>
      </p:sp>
      <p:sp>
        <p:nvSpPr>
          <p:cNvPr id="9" name="Shape 7"/>
          <p:cNvSpPr/>
          <p:nvPr/>
        </p:nvSpPr>
        <p:spPr>
          <a:xfrm>
            <a:off x="4178808" y="3465576"/>
            <a:ext cx="0" cy="420624"/>
          </a:xfrm>
          <a:prstGeom prst="line">
            <a:avLst/>
          </a:prstGeom>
          <a:noFill/>
          <a:ln w="8890">
            <a:solidFill>
              <a:srgbClr val="CBD5E1"/>
            </a:solidFill>
            <a:prstDash val="solid"/>
          </a:ln>
        </p:spPr>
        <p:txBody>
          <a:bodyPr/>
          <a:lstStyle/>
          <a:p>
            <a:endParaRPr lang="en-GB"/>
          </a:p>
        </p:txBody>
      </p:sp>
      <p:sp>
        <p:nvSpPr>
          <p:cNvPr id="10" name="Shape 8"/>
          <p:cNvSpPr/>
          <p:nvPr/>
        </p:nvSpPr>
        <p:spPr>
          <a:xfrm>
            <a:off x="5221224" y="3465576"/>
            <a:ext cx="0" cy="420624"/>
          </a:xfrm>
          <a:prstGeom prst="line">
            <a:avLst/>
          </a:prstGeom>
          <a:noFill/>
          <a:ln w="8890">
            <a:solidFill>
              <a:srgbClr val="CBD5E1"/>
            </a:solidFill>
            <a:prstDash val="solid"/>
          </a:ln>
        </p:spPr>
        <p:txBody>
          <a:bodyPr/>
          <a:lstStyle/>
          <a:p>
            <a:endParaRPr lang="en-GB"/>
          </a:p>
        </p:txBody>
      </p:sp>
      <p:sp>
        <p:nvSpPr>
          <p:cNvPr id="11" name="Shape 9"/>
          <p:cNvSpPr/>
          <p:nvPr/>
        </p:nvSpPr>
        <p:spPr>
          <a:xfrm>
            <a:off x="7238390" y="3465576"/>
            <a:ext cx="0" cy="420624"/>
          </a:xfrm>
          <a:prstGeom prst="line">
            <a:avLst/>
          </a:prstGeom>
          <a:noFill/>
          <a:ln w="8890">
            <a:solidFill>
              <a:srgbClr val="CBD5E1"/>
            </a:solidFill>
            <a:prstDash val="solid"/>
          </a:ln>
        </p:spPr>
        <p:txBody>
          <a:bodyPr/>
          <a:lstStyle/>
          <a:p>
            <a:endParaRPr lang="en-GB"/>
          </a:p>
        </p:txBody>
      </p:sp>
      <p:sp>
        <p:nvSpPr>
          <p:cNvPr id="12" name="Shape 10"/>
          <p:cNvSpPr/>
          <p:nvPr/>
        </p:nvSpPr>
        <p:spPr>
          <a:xfrm>
            <a:off x="8213141" y="3465576"/>
            <a:ext cx="0" cy="420624"/>
          </a:xfrm>
          <a:prstGeom prst="line">
            <a:avLst/>
          </a:prstGeom>
          <a:noFill/>
          <a:ln w="8890">
            <a:solidFill>
              <a:srgbClr val="CBD5E1"/>
            </a:solidFill>
            <a:prstDash val="solid"/>
          </a:ln>
        </p:spPr>
        <p:txBody>
          <a:bodyPr/>
          <a:lstStyle/>
          <a:p>
            <a:endParaRPr lang="en-GB"/>
          </a:p>
        </p:txBody>
      </p:sp>
      <p:sp>
        <p:nvSpPr>
          <p:cNvPr id="13" name="Shape 11"/>
          <p:cNvSpPr/>
          <p:nvPr/>
        </p:nvSpPr>
        <p:spPr>
          <a:xfrm>
            <a:off x="9187891" y="3465576"/>
            <a:ext cx="0" cy="420624"/>
          </a:xfrm>
          <a:prstGeom prst="line">
            <a:avLst/>
          </a:prstGeom>
          <a:noFill/>
          <a:ln w="8890">
            <a:solidFill>
              <a:srgbClr val="CBD5E1"/>
            </a:solidFill>
            <a:prstDash val="solid"/>
          </a:ln>
        </p:spPr>
        <p:txBody>
          <a:bodyPr/>
          <a:lstStyle/>
          <a:p>
            <a:endParaRPr lang="en-GB"/>
          </a:p>
        </p:txBody>
      </p:sp>
      <p:sp>
        <p:nvSpPr>
          <p:cNvPr id="14" name="Shape 12"/>
          <p:cNvSpPr/>
          <p:nvPr/>
        </p:nvSpPr>
        <p:spPr>
          <a:xfrm>
            <a:off x="10162642" y="3465576"/>
            <a:ext cx="0" cy="420624"/>
          </a:xfrm>
          <a:prstGeom prst="line">
            <a:avLst/>
          </a:prstGeom>
          <a:noFill/>
          <a:ln w="8890">
            <a:solidFill>
              <a:srgbClr val="CBD5E1"/>
            </a:solidFill>
            <a:prstDash val="solid"/>
          </a:ln>
        </p:spPr>
        <p:txBody>
          <a:bodyPr/>
          <a:lstStyle/>
          <a:p>
            <a:endParaRPr lang="en-GB"/>
          </a:p>
        </p:txBody>
      </p:sp>
      <p:sp>
        <p:nvSpPr>
          <p:cNvPr id="15" name="Shape 13"/>
          <p:cNvSpPr/>
          <p:nvPr/>
        </p:nvSpPr>
        <p:spPr>
          <a:xfrm>
            <a:off x="6263640" y="1938528"/>
            <a:ext cx="0" cy="2313432"/>
          </a:xfrm>
          <a:prstGeom prst="line">
            <a:avLst/>
          </a:prstGeom>
          <a:noFill/>
          <a:ln w="27940">
            <a:solidFill>
              <a:srgbClr val="0F172A"/>
            </a:solidFill>
            <a:prstDash val="solid"/>
          </a:ln>
        </p:spPr>
        <p:txBody>
          <a:bodyPr/>
          <a:lstStyle/>
          <a:p>
            <a:endParaRPr lang="en-GB"/>
          </a:p>
        </p:txBody>
      </p:sp>
      <p:sp>
        <p:nvSpPr>
          <p:cNvPr id="16" name="Shape 14"/>
          <p:cNvSpPr/>
          <p:nvPr/>
        </p:nvSpPr>
        <p:spPr>
          <a:xfrm>
            <a:off x="6263640" y="3950208"/>
            <a:ext cx="0" cy="475488"/>
          </a:xfrm>
          <a:prstGeom prst="line">
            <a:avLst/>
          </a:prstGeom>
          <a:noFill/>
          <a:ln w="27940">
            <a:solidFill>
              <a:srgbClr val="0F172A"/>
            </a:solidFill>
            <a:prstDash val="solid"/>
          </a:ln>
        </p:spPr>
        <p:txBody>
          <a:bodyPr/>
          <a:lstStyle/>
          <a:p>
            <a:endParaRPr lang="en-GB"/>
          </a:p>
        </p:txBody>
      </p:sp>
      <p:sp>
        <p:nvSpPr>
          <p:cNvPr id="17" name="Text 15"/>
          <p:cNvSpPr/>
          <p:nvPr/>
        </p:nvSpPr>
        <p:spPr>
          <a:xfrm>
            <a:off x="1188720" y="1920240"/>
            <a:ext cx="4206240" cy="402336"/>
          </a:xfrm>
          <a:prstGeom prst="rect">
            <a:avLst/>
          </a:prstGeom>
          <a:noFill/>
          <a:ln/>
        </p:spPr>
        <p:txBody>
          <a:bodyPr wrap="square" lIns="381" tIns="381" rIns="381" bIns="381" rtlCol="0" anchor="ctr">
            <a:normAutofit/>
          </a:bodyPr>
          <a:lstStyle/>
          <a:p>
            <a:pPr marL="0" indent="0" algn="l">
              <a:buNone/>
            </a:pPr>
            <a:r>
              <a:rPr lang="en-US" sz="2200" b="1" dirty="0">
                <a:solidFill>
                  <a:srgbClr val="1D4ED8"/>
                </a:solidFill>
                <a:latin typeface="Aptos" pitchFamily="34" charset="0"/>
                <a:ea typeface="Aptos" pitchFamily="34" charset="-122"/>
                <a:cs typeface="Aptos" pitchFamily="34" charset="-120"/>
              </a:rPr>
              <a:t>Model development period</a:t>
            </a:r>
            <a:endParaRPr lang="en-US" sz="2200" dirty="0"/>
          </a:p>
        </p:txBody>
      </p:sp>
      <p:sp>
        <p:nvSpPr>
          <p:cNvPr id="18" name="Text 16"/>
          <p:cNvSpPr/>
          <p:nvPr/>
        </p:nvSpPr>
        <p:spPr>
          <a:xfrm>
            <a:off x="1188720" y="2331720"/>
            <a:ext cx="4663440" cy="320040"/>
          </a:xfrm>
          <a:prstGeom prst="rect">
            <a:avLst/>
          </a:prstGeom>
          <a:noFill/>
          <a:ln/>
        </p:spPr>
        <p:txBody>
          <a:bodyPr wrap="square" lIns="381" tIns="381" rIns="381" bIns="381" rtlCol="0" anchor="ctr">
            <a:normAutofit/>
          </a:bodyPr>
          <a:lstStyle/>
          <a:p>
            <a:pPr marL="0" indent="0" algn="l">
              <a:buNone/>
            </a:pPr>
            <a:r>
              <a:rPr lang="en-US" sz="1450" dirty="0">
                <a:solidFill>
                  <a:srgbClr val="475569"/>
                </a:solidFill>
                <a:latin typeface="Aptos" pitchFamily="34" charset="0"/>
                <a:ea typeface="Aptos" pitchFamily="34" charset="-122"/>
                <a:cs typeface="Aptos" pitchFamily="34" charset="-120"/>
              </a:rPr>
              <a:t>fit parameters • choose features • tune hyperparameters</a:t>
            </a:r>
            <a:endParaRPr lang="en-US" sz="1450" dirty="0"/>
          </a:p>
        </p:txBody>
      </p:sp>
      <p:sp>
        <p:nvSpPr>
          <p:cNvPr id="19" name="Text 17"/>
          <p:cNvSpPr/>
          <p:nvPr/>
        </p:nvSpPr>
        <p:spPr>
          <a:xfrm>
            <a:off x="5202936" y="1261872"/>
            <a:ext cx="2121408" cy="658368"/>
          </a:xfrm>
          <a:prstGeom prst="rect">
            <a:avLst/>
          </a:prstGeom>
          <a:noFill/>
          <a:ln/>
        </p:spPr>
        <p:txBody>
          <a:bodyPr wrap="square" lIns="381" tIns="381" rIns="381" bIns="381" rtlCol="0" anchor="ctr">
            <a:normAutofit/>
          </a:bodyPr>
          <a:lstStyle/>
          <a:p>
            <a:pPr marL="0" indent="0" algn="ctr">
              <a:buNone/>
            </a:pPr>
            <a:r>
              <a:rPr lang="en-US" sz="2000" b="1" dirty="0">
                <a:solidFill>
                  <a:srgbClr val="0F172A"/>
                </a:solidFill>
                <a:highlight>
                  <a:srgbClr val="FFFF00"/>
                </a:highlight>
                <a:latin typeface="Aptos" pitchFamily="34" charset="0"/>
                <a:ea typeface="Aptos" pitchFamily="34" charset="-122"/>
                <a:cs typeface="Aptos" pitchFamily="34" charset="-120"/>
              </a:rPr>
              <a:t>Simulated</a:t>
            </a:r>
            <a:endParaRPr lang="en-US" sz="2000" dirty="0">
              <a:highlight>
                <a:srgbClr val="FFFF00"/>
              </a:highlight>
            </a:endParaRPr>
          </a:p>
          <a:p>
            <a:pPr marL="0" indent="0" algn="ctr">
              <a:buNone/>
            </a:pPr>
            <a:r>
              <a:rPr lang="en-US" sz="2000" b="1" dirty="0">
                <a:solidFill>
                  <a:srgbClr val="0F172A"/>
                </a:solidFill>
                <a:highlight>
                  <a:srgbClr val="FFFF00"/>
                </a:highlight>
                <a:latin typeface="Aptos" pitchFamily="34" charset="0"/>
                <a:ea typeface="Aptos" pitchFamily="34" charset="-122"/>
                <a:cs typeface="Aptos" pitchFamily="34" charset="-120"/>
              </a:rPr>
              <a:t>deployment date</a:t>
            </a:r>
            <a:endParaRPr lang="en-US" sz="2000" dirty="0">
              <a:highlight>
                <a:srgbClr val="FFFF00"/>
              </a:highlight>
            </a:endParaRPr>
          </a:p>
        </p:txBody>
      </p:sp>
      <p:sp>
        <p:nvSpPr>
          <p:cNvPr id="20" name="Text 18"/>
          <p:cNvSpPr/>
          <p:nvPr/>
        </p:nvSpPr>
        <p:spPr>
          <a:xfrm>
            <a:off x="5532120" y="4535424"/>
            <a:ext cx="1463040" cy="274320"/>
          </a:xfrm>
          <a:prstGeom prst="rect">
            <a:avLst/>
          </a:prstGeom>
          <a:noFill/>
          <a:ln/>
        </p:spPr>
        <p:txBody>
          <a:bodyPr wrap="square" lIns="381" tIns="381" rIns="381" bIns="381" rtlCol="0" anchor="ctr">
            <a:normAutofit/>
          </a:bodyPr>
          <a:lstStyle/>
          <a:p>
            <a:pPr marL="0" indent="0" algn="ctr">
              <a:buNone/>
            </a:pPr>
            <a:r>
              <a:rPr lang="en-US" sz="1350" dirty="0">
                <a:solidFill>
                  <a:srgbClr val="475569"/>
                </a:solidFill>
                <a:latin typeface="Aptos" pitchFamily="34" charset="0"/>
                <a:ea typeface="Aptos" pitchFamily="34" charset="-122"/>
                <a:cs typeface="Aptos" pitchFamily="34" charset="-120"/>
              </a:rPr>
              <a:t>freeze model</a:t>
            </a:r>
            <a:endParaRPr lang="en-US" sz="1350" dirty="0"/>
          </a:p>
        </p:txBody>
      </p:sp>
      <p:sp>
        <p:nvSpPr>
          <p:cNvPr id="21" name="Text 19"/>
          <p:cNvSpPr/>
          <p:nvPr/>
        </p:nvSpPr>
        <p:spPr>
          <a:xfrm>
            <a:off x="6766560" y="1920240"/>
            <a:ext cx="4434840" cy="402336"/>
          </a:xfrm>
          <a:prstGeom prst="rect">
            <a:avLst/>
          </a:prstGeom>
          <a:noFill/>
          <a:ln/>
        </p:spPr>
        <p:txBody>
          <a:bodyPr wrap="square" lIns="381" tIns="381" rIns="381" bIns="381" rtlCol="0" anchor="ctr">
            <a:normAutofit/>
          </a:bodyPr>
          <a:lstStyle/>
          <a:p>
            <a:pPr marL="0" indent="0" algn="l">
              <a:buNone/>
            </a:pPr>
            <a:r>
              <a:rPr lang="en-US" sz="2200" b="1" dirty="0">
                <a:solidFill>
                  <a:srgbClr val="C2410C"/>
                </a:solidFill>
                <a:latin typeface="Aptos" pitchFamily="34" charset="0"/>
                <a:ea typeface="Aptos" pitchFamily="34" charset="-122"/>
                <a:cs typeface="Aptos" pitchFamily="34" charset="-120"/>
              </a:rPr>
              <a:t>Future assessment period</a:t>
            </a:r>
            <a:endParaRPr lang="en-US" sz="2200" dirty="0"/>
          </a:p>
        </p:txBody>
      </p:sp>
      <p:sp>
        <p:nvSpPr>
          <p:cNvPr id="22" name="Text 20"/>
          <p:cNvSpPr/>
          <p:nvPr/>
        </p:nvSpPr>
        <p:spPr>
          <a:xfrm>
            <a:off x="6766560" y="2331720"/>
            <a:ext cx="4526280" cy="320040"/>
          </a:xfrm>
          <a:prstGeom prst="rect">
            <a:avLst/>
          </a:prstGeom>
          <a:noFill/>
          <a:ln/>
        </p:spPr>
        <p:txBody>
          <a:bodyPr wrap="square" lIns="381" tIns="381" rIns="381" bIns="381" rtlCol="0" anchor="ctr">
            <a:normAutofit fontScale="85000" lnSpcReduction="10000"/>
          </a:bodyPr>
          <a:lstStyle/>
          <a:p>
            <a:pPr marL="0" indent="0" algn="l">
              <a:buNone/>
            </a:pPr>
            <a:r>
              <a:rPr lang="en-US" sz="1450" dirty="0">
                <a:solidFill>
                  <a:srgbClr val="475569"/>
                </a:solidFill>
                <a:latin typeface="Aptos" pitchFamily="34" charset="0"/>
                <a:ea typeface="Aptos" pitchFamily="34" charset="-122"/>
                <a:cs typeface="Aptos" pitchFamily="34" charset="-120"/>
              </a:rPr>
              <a:t>evaluate on data that occur after the simulated deployment date</a:t>
            </a:r>
            <a:endParaRPr lang="en-US" sz="1450" dirty="0"/>
          </a:p>
        </p:txBody>
      </p:sp>
      <p:sp>
        <p:nvSpPr>
          <p:cNvPr id="23" name="Text 21"/>
          <p:cNvSpPr/>
          <p:nvPr/>
        </p:nvSpPr>
        <p:spPr>
          <a:xfrm>
            <a:off x="1280160" y="3977640"/>
            <a:ext cx="4617720" cy="274320"/>
          </a:xfrm>
          <a:prstGeom prst="rect">
            <a:avLst/>
          </a:prstGeom>
          <a:noFill/>
          <a:ln/>
        </p:spPr>
        <p:txBody>
          <a:bodyPr wrap="square" lIns="381" tIns="381" rIns="381" bIns="381" rtlCol="0" anchor="ctr">
            <a:normAutofit/>
          </a:bodyPr>
          <a:lstStyle/>
          <a:p>
            <a:pPr marL="0" indent="0" algn="ctr">
              <a:buNone/>
            </a:pPr>
            <a:r>
              <a:rPr lang="en-US" sz="1350" dirty="0">
                <a:solidFill>
                  <a:srgbClr val="1E40AF"/>
                </a:solidFill>
                <a:latin typeface="Aptos" pitchFamily="34" charset="0"/>
                <a:ea typeface="Aptos" pitchFamily="34" charset="-122"/>
                <a:cs typeface="Aptos" pitchFamily="34" charset="-120"/>
              </a:rPr>
              <a:t>available historical data for model development</a:t>
            </a:r>
            <a:endParaRPr lang="en-US" sz="1350" dirty="0"/>
          </a:p>
        </p:txBody>
      </p:sp>
      <p:sp>
        <p:nvSpPr>
          <p:cNvPr id="24" name="Text 22"/>
          <p:cNvSpPr/>
          <p:nvPr/>
        </p:nvSpPr>
        <p:spPr>
          <a:xfrm>
            <a:off x="6611112" y="3977640"/>
            <a:ext cx="4251960" cy="274320"/>
          </a:xfrm>
          <a:prstGeom prst="rect">
            <a:avLst/>
          </a:prstGeom>
          <a:noFill/>
          <a:ln/>
        </p:spPr>
        <p:txBody>
          <a:bodyPr wrap="square" lIns="381" tIns="381" rIns="381" bIns="381" rtlCol="0" anchor="ctr">
            <a:normAutofit/>
          </a:bodyPr>
          <a:lstStyle/>
          <a:p>
            <a:pPr marL="0" indent="0" algn="ctr">
              <a:buNone/>
            </a:pPr>
            <a:r>
              <a:rPr lang="en-US" sz="1350" dirty="0">
                <a:solidFill>
                  <a:srgbClr val="9A3412"/>
                </a:solidFill>
                <a:latin typeface="Aptos" pitchFamily="34" charset="0"/>
                <a:ea typeface="Aptos" pitchFamily="34" charset="-122"/>
                <a:cs typeface="Aptos" pitchFamily="34" charset="-120"/>
              </a:rPr>
              <a:t>later data for unbiased assessment</a:t>
            </a:r>
            <a:endParaRPr lang="en-US" sz="1350" dirty="0"/>
          </a:p>
        </p:txBody>
      </p:sp>
      <p:sp>
        <p:nvSpPr>
          <p:cNvPr id="25" name="Shape 23"/>
          <p:cNvSpPr/>
          <p:nvPr/>
        </p:nvSpPr>
        <p:spPr>
          <a:xfrm>
            <a:off x="1051560" y="3950208"/>
            <a:ext cx="0" cy="146304"/>
          </a:xfrm>
          <a:prstGeom prst="line">
            <a:avLst/>
          </a:prstGeom>
          <a:noFill/>
          <a:ln w="12700">
            <a:solidFill>
              <a:srgbClr val="64748B"/>
            </a:solidFill>
            <a:prstDash val="solid"/>
          </a:ln>
        </p:spPr>
        <p:txBody>
          <a:bodyPr/>
          <a:lstStyle/>
          <a:p>
            <a:endParaRPr lang="en-GB"/>
          </a:p>
        </p:txBody>
      </p:sp>
      <p:sp>
        <p:nvSpPr>
          <p:cNvPr id="26" name="Shape 24"/>
          <p:cNvSpPr/>
          <p:nvPr/>
        </p:nvSpPr>
        <p:spPr>
          <a:xfrm>
            <a:off x="11137392" y="3950208"/>
            <a:ext cx="0" cy="146304"/>
          </a:xfrm>
          <a:prstGeom prst="line">
            <a:avLst/>
          </a:prstGeom>
          <a:noFill/>
          <a:ln w="12700">
            <a:solidFill>
              <a:srgbClr val="64748B"/>
            </a:solidFill>
            <a:prstDash val="solid"/>
          </a:ln>
        </p:spPr>
        <p:txBody>
          <a:bodyPr/>
          <a:lstStyle/>
          <a:p>
            <a:endParaRPr lang="en-GB"/>
          </a:p>
        </p:txBody>
      </p:sp>
      <p:sp>
        <p:nvSpPr>
          <p:cNvPr id="27" name="Text 25"/>
          <p:cNvSpPr/>
          <p:nvPr/>
        </p:nvSpPr>
        <p:spPr>
          <a:xfrm>
            <a:off x="612648" y="4736592"/>
            <a:ext cx="1280160" cy="256032"/>
          </a:xfrm>
          <a:prstGeom prst="rect">
            <a:avLst/>
          </a:prstGeom>
          <a:noFill/>
          <a:ln/>
        </p:spPr>
        <p:txBody>
          <a:bodyPr wrap="square" lIns="381" tIns="381" rIns="381" bIns="381" rtlCol="0" anchor="ctr">
            <a:normAutofit/>
          </a:bodyPr>
          <a:lstStyle/>
          <a:p>
            <a:pPr marL="0" indent="0" algn="ctr">
              <a:buNone/>
            </a:pPr>
            <a:r>
              <a:rPr lang="en-US" sz="1250" dirty="0">
                <a:solidFill>
                  <a:srgbClr val="64748B"/>
                </a:solidFill>
                <a:latin typeface="Aptos" pitchFamily="34" charset="0"/>
                <a:ea typeface="Aptos" pitchFamily="34" charset="-122"/>
                <a:cs typeface="Aptos" pitchFamily="34" charset="-120"/>
              </a:rPr>
              <a:t>start of records</a:t>
            </a:r>
            <a:endParaRPr lang="en-US" sz="1250" dirty="0"/>
          </a:p>
        </p:txBody>
      </p:sp>
      <p:sp>
        <p:nvSpPr>
          <p:cNvPr id="28" name="Text 26"/>
          <p:cNvSpPr/>
          <p:nvPr/>
        </p:nvSpPr>
        <p:spPr>
          <a:xfrm>
            <a:off x="10177272" y="4736592"/>
            <a:ext cx="1234440" cy="256032"/>
          </a:xfrm>
          <a:prstGeom prst="rect">
            <a:avLst/>
          </a:prstGeom>
          <a:noFill/>
          <a:ln/>
        </p:spPr>
        <p:txBody>
          <a:bodyPr wrap="square" lIns="381" tIns="381" rIns="381" bIns="381" rtlCol="0" anchor="ctr">
            <a:normAutofit fontScale="85000" lnSpcReduction="10000"/>
          </a:bodyPr>
          <a:lstStyle/>
          <a:p>
            <a:pPr marL="0" indent="0" algn="ctr">
              <a:buNone/>
            </a:pPr>
            <a:r>
              <a:rPr lang="en-US" sz="1250" dirty="0">
                <a:solidFill>
                  <a:srgbClr val="64748B"/>
                </a:solidFill>
                <a:latin typeface="Aptos" pitchFamily="34" charset="0"/>
                <a:ea typeface="Aptos" pitchFamily="34" charset="-122"/>
                <a:cs typeface="Aptos" pitchFamily="34" charset="-120"/>
              </a:rPr>
              <a:t>End of assessment</a:t>
            </a:r>
            <a:endParaRPr lang="en-US" sz="1250" dirty="0"/>
          </a:p>
        </p:txBody>
      </p:sp>
      <p:sp>
        <p:nvSpPr>
          <p:cNvPr id="29" name="Shape 27"/>
          <p:cNvSpPr/>
          <p:nvPr/>
        </p:nvSpPr>
        <p:spPr>
          <a:xfrm>
            <a:off x="1307592" y="5321808"/>
            <a:ext cx="9555480" cy="603504"/>
          </a:xfrm>
          <a:prstGeom prst="roundRect">
            <a:avLst>
              <a:gd name="adj" fmla="val 12121"/>
            </a:avLst>
          </a:prstGeom>
          <a:solidFill>
            <a:srgbClr val="FFFFFF"/>
          </a:solidFill>
          <a:ln w="12700">
            <a:solidFill>
              <a:srgbClr val="E2E8F0"/>
            </a:solidFill>
            <a:prstDash val="solid"/>
          </a:ln>
        </p:spPr>
        <p:txBody>
          <a:bodyPr/>
          <a:lstStyle/>
          <a:p>
            <a:endParaRPr lang="en-GB"/>
          </a:p>
        </p:txBody>
      </p:sp>
      <p:sp>
        <p:nvSpPr>
          <p:cNvPr id="30" name="Text 28"/>
          <p:cNvSpPr/>
          <p:nvPr/>
        </p:nvSpPr>
        <p:spPr>
          <a:xfrm>
            <a:off x="1627632" y="5468112"/>
            <a:ext cx="8915400" cy="292608"/>
          </a:xfrm>
          <a:prstGeom prst="rect">
            <a:avLst/>
          </a:prstGeom>
          <a:noFill/>
          <a:ln/>
        </p:spPr>
        <p:txBody>
          <a:bodyPr wrap="square" lIns="381" tIns="381" rIns="381" bIns="381" rtlCol="0" anchor="ctr">
            <a:normAutofit/>
          </a:bodyPr>
          <a:lstStyle/>
          <a:p>
            <a:pPr marL="0" indent="0" algn="ctr">
              <a:buNone/>
            </a:pPr>
            <a:r>
              <a:rPr lang="en-US" sz="1720" b="1" dirty="0">
                <a:solidFill>
                  <a:srgbClr val="334155"/>
                </a:solidFill>
                <a:latin typeface="Aptos" pitchFamily="34" charset="0"/>
                <a:ea typeface="Aptos" pitchFamily="34" charset="-122"/>
                <a:cs typeface="Aptos" pitchFamily="34" charset="-120"/>
              </a:rPr>
              <a:t>Use the future assessment period only once, after the model has been fixed.</a:t>
            </a:r>
            <a:endParaRPr lang="en-US" sz="1720" dirty="0"/>
          </a:p>
        </p:txBody>
      </p:sp>
      <p:sp>
        <p:nvSpPr>
          <p:cNvPr id="31" name="Slide Number Placeholder 0"/>
          <p:cNvSpPr>
            <a:spLocks noGrp="1"/>
          </p:cNvSpPr>
          <p:nvPr>
            <p:ph type="sldNum" sz="quarter" idx="4294967295"/>
          </p:nvPr>
        </p:nvSpPr>
        <p:spPr>
          <a:xfrm>
            <a:off x="11475720" y="6400800"/>
            <a:ext cx="800000" cy="30000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A94A6"/>
                </a:solidFill>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1F33A2B-6F61-E117-6164-9DA99AB8D4B8}"/>
              </a:ext>
            </a:extLst>
          </p:cNvPr>
          <p:cNvSpPr>
            <a:spLocks noGrp="1"/>
          </p:cNvSpPr>
          <p:nvPr>
            <p:ph type="title"/>
          </p:nvPr>
        </p:nvSpPr>
        <p:spPr/>
        <p:txBody>
          <a:bodyPr/>
          <a:lstStyle/>
          <a:p>
            <a:r>
              <a:rPr lang="en-GB" dirty="0"/>
              <a:t>2. </a:t>
            </a:r>
            <a:r>
              <a:rPr lang="en-GB" dirty="0">
                <a:highlight>
                  <a:srgbClr val="FFFF00"/>
                </a:highlight>
              </a:rPr>
              <a:t>Expanding-window evaluation </a:t>
            </a:r>
          </a:p>
        </p:txBody>
      </p:sp>
      <p:sp>
        <p:nvSpPr>
          <p:cNvPr id="3" name="Segnaposto contenuto 2">
            <a:extLst>
              <a:ext uri="{FF2B5EF4-FFF2-40B4-BE49-F238E27FC236}">
                <a16:creationId xmlns:a16="http://schemas.microsoft.com/office/drawing/2014/main" id="{FA21292D-7750-A922-B24D-0739146BA6DA}"/>
              </a:ext>
            </a:extLst>
          </p:cNvPr>
          <p:cNvSpPr>
            <a:spLocks noGrp="1"/>
          </p:cNvSpPr>
          <p:nvPr>
            <p:ph idx="1"/>
          </p:nvPr>
        </p:nvSpPr>
        <p:spPr/>
        <p:txBody>
          <a:bodyPr>
            <a:normAutofit fontScale="62500" lnSpcReduction="20000"/>
          </a:bodyPr>
          <a:lstStyle/>
          <a:p>
            <a:r>
              <a:rPr lang="en-GB" b="1" dirty="0">
                <a:highlight>
                  <a:srgbClr val="FFFF00"/>
                </a:highlight>
              </a:rPr>
              <a:t>Round 1</a:t>
            </a:r>
          </a:p>
          <a:p>
            <a:r>
              <a:rPr lang="en-GB" dirty="0"/>
              <a:t>|---- training ----|-- validation --|</a:t>
            </a:r>
          </a:p>
          <a:p>
            <a:r>
              <a:rPr lang="en-GB" b="1" dirty="0">
                <a:highlight>
                  <a:srgbClr val="FFFF00"/>
                </a:highlight>
              </a:rPr>
              <a:t>Round 2</a:t>
            </a:r>
          </a:p>
          <a:p>
            <a:r>
              <a:rPr lang="en-GB" dirty="0"/>
              <a:t>|---------- training ----------|-- validation --|</a:t>
            </a:r>
          </a:p>
          <a:p>
            <a:r>
              <a:rPr lang="en-GB" b="1" dirty="0">
                <a:highlight>
                  <a:srgbClr val="FFFF00"/>
                </a:highlight>
              </a:rPr>
              <a:t>Round 3</a:t>
            </a:r>
          </a:p>
          <a:p>
            <a:r>
              <a:rPr lang="en-GB" dirty="0"/>
              <a:t>|---------------- training ----------------|-- validation --|</a:t>
            </a:r>
          </a:p>
          <a:p>
            <a:r>
              <a:rPr lang="en-GB" dirty="0"/>
              <a:t>The beginning of the training interval is kept fixed, while its end moves forward.</a:t>
            </a:r>
          </a:p>
          <a:p>
            <a:endParaRPr lang="en-GB" b="1" dirty="0"/>
          </a:p>
          <a:p>
            <a:r>
              <a:rPr lang="en-GB" b="1" dirty="0"/>
              <a:t>Procedure</a:t>
            </a:r>
          </a:p>
          <a:p>
            <a:r>
              <a:rPr lang="en-GB" b="1" dirty="0"/>
              <a:t>For each round:</a:t>
            </a:r>
          </a:p>
          <a:p>
            <a:pPr lvl="1"/>
            <a:r>
              <a:rPr lang="en-GB" dirty="0"/>
              <a:t>fit preprocessing using the current training interval;</a:t>
            </a:r>
          </a:p>
          <a:p>
            <a:pPr lvl="1"/>
            <a:r>
              <a:rPr lang="en-GB" dirty="0"/>
              <a:t>train the model;</a:t>
            </a:r>
          </a:p>
          <a:p>
            <a:pPr lvl="1"/>
            <a:r>
              <a:rPr lang="en-GB" dirty="0"/>
              <a:t>evaluate on the following validation interval;</a:t>
            </a:r>
          </a:p>
          <a:p>
            <a:pPr lvl="1"/>
            <a:r>
              <a:rPr lang="en-GB" dirty="0"/>
              <a:t>record performance;</a:t>
            </a:r>
          </a:p>
          <a:p>
            <a:pPr lvl="1"/>
            <a:r>
              <a:rPr lang="en-GB" dirty="0"/>
              <a:t>extend the training interval.</a:t>
            </a:r>
          </a:p>
          <a:p>
            <a:endParaRPr lang="en-GB" dirty="0"/>
          </a:p>
        </p:txBody>
      </p:sp>
      <p:sp>
        <p:nvSpPr>
          <p:cNvPr id="5" name="CasellaDiTesto 4">
            <a:extLst>
              <a:ext uri="{FF2B5EF4-FFF2-40B4-BE49-F238E27FC236}">
                <a16:creationId xmlns:a16="http://schemas.microsoft.com/office/drawing/2014/main" id="{BD085635-4766-996D-E07E-63D4506CADDA}"/>
              </a:ext>
            </a:extLst>
          </p:cNvPr>
          <p:cNvSpPr txBox="1"/>
          <p:nvPr/>
        </p:nvSpPr>
        <p:spPr>
          <a:xfrm>
            <a:off x="2324611" y="1491497"/>
            <a:ext cx="8596668" cy="369332"/>
          </a:xfrm>
          <a:prstGeom prst="rect">
            <a:avLst/>
          </a:prstGeom>
          <a:noFill/>
        </p:spPr>
        <p:txBody>
          <a:bodyPr wrap="square">
            <a:spAutoFit/>
          </a:bodyPr>
          <a:lstStyle/>
          <a:p>
            <a:r>
              <a:rPr lang="en-GB" sz="1800" dirty="0"/>
              <a:t>Expanding-window evaluation </a:t>
            </a:r>
            <a:r>
              <a:rPr lang="en-GB" sz="1800" b="1" dirty="0">
                <a:highlight>
                  <a:srgbClr val="FFFF00"/>
                </a:highlight>
              </a:rPr>
              <a:t>repeats validation from several temporal origins.</a:t>
            </a:r>
          </a:p>
        </p:txBody>
      </p:sp>
    </p:spTree>
    <p:extLst>
      <p:ext uri="{BB962C8B-B14F-4D97-AF65-F5344CB8AC3E}">
        <p14:creationId xmlns:p14="http://schemas.microsoft.com/office/powerpoint/2010/main" val="949510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56BD-0A61-576E-FC04-61FFF5AB4EB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A570F86-4DD5-4519-583C-57796E395BB9}"/>
              </a:ext>
            </a:extLst>
          </p:cNvPr>
          <p:cNvSpPr>
            <a:spLocks noGrp="1"/>
          </p:cNvSpPr>
          <p:nvPr>
            <p:ph type="title"/>
          </p:nvPr>
        </p:nvSpPr>
        <p:spPr/>
        <p:txBody>
          <a:bodyPr/>
          <a:lstStyle/>
          <a:p>
            <a:r>
              <a:rPr lang="en-GB" dirty="0"/>
              <a:t>Expanding-window evaluation</a:t>
            </a:r>
          </a:p>
        </p:txBody>
      </p:sp>
      <p:sp>
        <p:nvSpPr>
          <p:cNvPr id="3" name="Segnaposto contenuto 2">
            <a:extLst>
              <a:ext uri="{FF2B5EF4-FFF2-40B4-BE49-F238E27FC236}">
                <a16:creationId xmlns:a16="http://schemas.microsoft.com/office/drawing/2014/main" id="{85B635D6-0588-1F64-3309-D6CCA52F787F}"/>
              </a:ext>
            </a:extLst>
          </p:cNvPr>
          <p:cNvSpPr>
            <a:spLocks noGrp="1"/>
          </p:cNvSpPr>
          <p:nvPr>
            <p:ph sz="half" idx="1"/>
          </p:nvPr>
        </p:nvSpPr>
        <p:spPr/>
        <p:txBody>
          <a:bodyPr>
            <a:normAutofit fontScale="85000" lnSpcReduction="20000"/>
          </a:bodyPr>
          <a:lstStyle/>
          <a:p>
            <a:r>
              <a:rPr lang="en-GB" b="1" dirty="0"/>
              <a:t>Advantages</a:t>
            </a:r>
          </a:p>
          <a:p>
            <a:pPr lvl="1"/>
            <a:r>
              <a:rPr lang="en-GB" dirty="0"/>
              <a:t>evaluates several future periods;</a:t>
            </a:r>
          </a:p>
          <a:p>
            <a:pPr lvl="1"/>
            <a:r>
              <a:rPr lang="en-GB" dirty="0"/>
              <a:t>reveals seasonal or regime-dependent performance;</a:t>
            </a:r>
          </a:p>
          <a:p>
            <a:pPr lvl="1"/>
            <a:r>
              <a:rPr lang="en-GB" dirty="0"/>
              <a:t>uses increasing amounts of historical data;</a:t>
            </a:r>
          </a:p>
          <a:p>
            <a:pPr lvl="1"/>
            <a:r>
              <a:rPr lang="en-GB" dirty="0"/>
              <a:t>resembles periodic model retraining.</a:t>
            </a:r>
          </a:p>
          <a:p>
            <a:r>
              <a:rPr lang="en-GB" b="1" dirty="0"/>
              <a:t>Limitations</a:t>
            </a:r>
          </a:p>
          <a:p>
            <a:pPr lvl="1"/>
            <a:r>
              <a:rPr lang="en-GB" dirty="0"/>
              <a:t>higher computational cost;</a:t>
            </a:r>
          </a:p>
          <a:p>
            <a:pPr lvl="1"/>
            <a:r>
              <a:rPr lang="en-GB" dirty="0"/>
              <a:t>validation scores are not statistically independent;</a:t>
            </a:r>
          </a:p>
          <a:p>
            <a:pPr lvl="1"/>
            <a:r>
              <a:rPr lang="en-GB" dirty="0"/>
              <a:t>later rounds contain more training data than earlier rounds;</a:t>
            </a:r>
          </a:p>
          <a:p>
            <a:pPr lvl="1"/>
            <a:r>
              <a:rPr lang="en-GB" dirty="0"/>
              <a:t>old and potentially obsolete observations are always kept.</a:t>
            </a:r>
          </a:p>
          <a:p>
            <a:endParaRPr lang="en-GB" dirty="0"/>
          </a:p>
        </p:txBody>
      </p:sp>
      <p:sp>
        <p:nvSpPr>
          <p:cNvPr id="4" name="Segnaposto contenuto 3">
            <a:extLst>
              <a:ext uri="{FF2B5EF4-FFF2-40B4-BE49-F238E27FC236}">
                <a16:creationId xmlns:a16="http://schemas.microsoft.com/office/drawing/2014/main" id="{AE36C6A8-B3ED-928F-5D9C-6E9B3BE0A057}"/>
              </a:ext>
            </a:extLst>
          </p:cNvPr>
          <p:cNvSpPr>
            <a:spLocks noGrp="1"/>
          </p:cNvSpPr>
          <p:nvPr>
            <p:ph sz="half" idx="2"/>
          </p:nvPr>
        </p:nvSpPr>
        <p:spPr/>
        <p:txBody>
          <a:bodyPr>
            <a:normAutofit fontScale="85000" lnSpcReduction="20000"/>
          </a:bodyPr>
          <a:lstStyle/>
          <a:p>
            <a:r>
              <a:rPr lang="en-GB" b="1" dirty="0"/>
              <a:t>Suitable assumption</a:t>
            </a:r>
          </a:p>
          <a:p>
            <a:pPr lvl="1"/>
            <a:r>
              <a:rPr lang="en-GB" dirty="0"/>
              <a:t>Expanding windows are appropriate when historical observations are still useful as the process evolves.</a:t>
            </a:r>
          </a:p>
          <a:p>
            <a:r>
              <a:rPr lang="en-GB" b="1" dirty="0"/>
              <a:t>Performance reporting</a:t>
            </a:r>
          </a:p>
          <a:p>
            <a:pPr lvl="1"/>
            <a:r>
              <a:rPr lang="en-GB" dirty="0"/>
              <a:t>Report both:</a:t>
            </a:r>
          </a:p>
          <a:p>
            <a:pPr lvl="2"/>
            <a:r>
              <a:rPr lang="en-GB" dirty="0"/>
              <a:t>average validation performance;</a:t>
            </a:r>
          </a:p>
          <a:p>
            <a:pPr lvl="2"/>
            <a:r>
              <a:rPr lang="en-GB" dirty="0"/>
              <a:t>performance for each temporal round.</a:t>
            </a:r>
          </a:p>
          <a:p>
            <a:pPr lvl="1"/>
            <a:r>
              <a:rPr lang="en-GB" dirty="0"/>
              <a:t>A mean score alone may hide failure in a specific period.</a:t>
            </a:r>
          </a:p>
          <a:p>
            <a:endParaRPr lang="en-GB" dirty="0"/>
          </a:p>
        </p:txBody>
      </p:sp>
    </p:spTree>
    <p:extLst>
      <p:ext uri="{BB962C8B-B14F-4D97-AF65-F5344CB8AC3E}">
        <p14:creationId xmlns:p14="http://schemas.microsoft.com/office/powerpoint/2010/main" val="937565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CB414ED-BB5C-0145-9DBC-164F4E53A947}"/>
              </a:ext>
            </a:extLst>
          </p:cNvPr>
          <p:cNvSpPr>
            <a:spLocks noGrp="1"/>
          </p:cNvSpPr>
          <p:nvPr>
            <p:ph type="title"/>
          </p:nvPr>
        </p:nvSpPr>
        <p:spPr/>
        <p:txBody>
          <a:bodyPr/>
          <a:lstStyle/>
          <a:p>
            <a:r>
              <a:rPr lang="en-GB" dirty="0">
                <a:highlight>
                  <a:srgbClr val="FFFF00"/>
                </a:highlight>
              </a:rPr>
              <a:t>3. Sliding-window evaluation</a:t>
            </a:r>
          </a:p>
        </p:txBody>
      </p:sp>
      <p:sp>
        <p:nvSpPr>
          <p:cNvPr id="3" name="Segnaposto contenuto 2">
            <a:extLst>
              <a:ext uri="{FF2B5EF4-FFF2-40B4-BE49-F238E27FC236}">
                <a16:creationId xmlns:a16="http://schemas.microsoft.com/office/drawing/2014/main" id="{2BF320DE-2FEC-D596-2E64-BACAE999A3B8}"/>
              </a:ext>
            </a:extLst>
          </p:cNvPr>
          <p:cNvSpPr>
            <a:spLocks noGrp="1"/>
          </p:cNvSpPr>
          <p:nvPr>
            <p:ph idx="1"/>
          </p:nvPr>
        </p:nvSpPr>
        <p:spPr/>
        <p:txBody>
          <a:bodyPr>
            <a:normAutofit fontScale="47500" lnSpcReduction="20000"/>
          </a:bodyPr>
          <a:lstStyle/>
          <a:p>
            <a:r>
              <a:rPr lang="en-GB" dirty="0"/>
              <a:t>In sliding-window evaluation, both the beginning and end of the training interval move forward.</a:t>
            </a:r>
          </a:p>
          <a:p>
            <a:r>
              <a:rPr lang="en-GB" b="1" dirty="0">
                <a:highlight>
                  <a:srgbClr val="FFFF00"/>
                </a:highlight>
              </a:rPr>
              <a:t>Round 1</a:t>
            </a:r>
          </a:p>
          <a:p>
            <a:r>
              <a:rPr lang="en-GB" dirty="0"/>
              <a:t>|------ training ------|-- validation --|</a:t>
            </a:r>
          </a:p>
          <a:p>
            <a:r>
              <a:rPr lang="en-GB" b="1" dirty="0">
                <a:highlight>
                  <a:srgbClr val="FFFF00"/>
                </a:highlight>
              </a:rPr>
              <a:t>Round 2</a:t>
            </a:r>
          </a:p>
          <a:p>
            <a:r>
              <a:rPr lang="en-GB" dirty="0"/>
              <a:t>       |------ training ------|-- validation --|</a:t>
            </a:r>
          </a:p>
          <a:p>
            <a:r>
              <a:rPr lang="en-GB" b="1" dirty="0">
                <a:highlight>
                  <a:srgbClr val="FFFF00"/>
                </a:highlight>
              </a:rPr>
              <a:t>Round 3</a:t>
            </a:r>
          </a:p>
          <a:p>
            <a:r>
              <a:rPr lang="en-GB" dirty="0"/>
              <a:t>              |------ training ------|-- validation --|</a:t>
            </a:r>
          </a:p>
          <a:p>
            <a:r>
              <a:rPr lang="en-GB" dirty="0"/>
              <a:t>The training interval has approximately constant duration.</a:t>
            </a:r>
          </a:p>
          <a:p>
            <a:endParaRPr lang="en-GB" b="1" dirty="0"/>
          </a:p>
          <a:p>
            <a:r>
              <a:rPr lang="en-GB" b="1" dirty="0"/>
              <a:t>Procedure</a:t>
            </a:r>
          </a:p>
          <a:p>
            <a:r>
              <a:rPr lang="en-GB" dirty="0"/>
              <a:t>At every round:</a:t>
            </a:r>
          </a:p>
          <a:p>
            <a:pPr lvl="1"/>
            <a:r>
              <a:rPr lang="en-GB" dirty="0"/>
              <a:t>discard sufficiently old observations;</a:t>
            </a:r>
          </a:p>
          <a:p>
            <a:pPr lvl="1"/>
            <a:r>
              <a:rPr lang="en-GB" dirty="0"/>
              <a:t>retain a recent training history;</a:t>
            </a:r>
          </a:p>
          <a:p>
            <a:pPr lvl="1"/>
            <a:r>
              <a:rPr lang="en-GB" dirty="0"/>
              <a:t>fit preprocessing on that history;</a:t>
            </a:r>
          </a:p>
          <a:p>
            <a:pPr lvl="1"/>
            <a:r>
              <a:rPr lang="en-GB" dirty="0"/>
              <a:t>train the model;</a:t>
            </a:r>
          </a:p>
          <a:p>
            <a:pPr lvl="1"/>
            <a:r>
              <a:rPr lang="en-GB" dirty="0"/>
              <a:t>evaluate on the following interval.</a:t>
            </a:r>
          </a:p>
          <a:p>
            <a:endParaRPr lang="en-GB" dirty="0"/>
          </a:p>
        </p:txBody>
      </p:sp>
    </p:spTree>
    <p:extLst>
      <p:ext uri="{BB962C8B-B14F-4D97-AF65-F5344CB8AC3E}">
        <p14:creationId xmlns:p14="http://schemas.microsoft.com/office/powerpoint/2010/main" val="1350899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86B255C-49FC-4431-9A79-AF5480A5BB36}"/>
              </a:ext>
            </a:extLst>
          </p:cNvPr>
          <p:cNvSpPr>
            <a:spLocks noGrp="1"/>
          </p:cNvSpPr>
          <p:nvPr>
            <p:ph type="title"/>
          </p:nvPr>
        </p:nvSpPr>
        <p:spPr/>
        <p:txBody>
          <a:bodyPr/>
          <a:lstStyle/>
          <a:p>
            <a:r>
              <a:rPr lang="en-GB" dirty="0">
                <a:highlight>
                  <a:srgbClr val="FFFF00"/>
                </a:highlight>
              </a:rPr>
              <a:t>Sliding-window evaluation</a:t>
            </a:r>
          </a:p>
        </p:txBody>
      </p:sp>
      <p:sp>
        <p:nvSpPr>
          <p:cNvPr id="3" name="Segnaposto contenuto 2">
            <a:extLst>
              <a:ext uri="{FF2B5EF4-FFF2-40B4-BE49-F238E27FC236}">
                <a16:creationId xmlns:a16="http://schemas.microsoft.com/office/drawing/2014/main" id="{C03E1C8D-B4C9-352B-81AE-3C09AF546944}"/>
              </a:ext>
            </a:extLst>
          </p:cNvPr>
          <p:cNvSpPr>
            <a:spLocks noGrp="1"/>
          </p:cNvSpPr>
          <p:nvPr>
            <p:ph sz="half" idx="1"/>
          </p:nvPr>
        </p:nvSpPr>
        <p:spPr/>
        <p:txBody>
          <a:bodyPr>
            <a:normAutofit fontScale="77500" lnSpcReduction="20000"/>
          </a:bodyPr>
          <a:lstStyle/>
          <a:p>
            <a:r>
              <a:rPr lang="en-GB" b="1" dirty="0"/>
              <a:t>Advantages</a:t>
            </a:r>
          </a:p>
          <a:p>
            <a:pPr lvl="1"/>
            <a:r>
              <a:rPr lang="en-GB" dirty="0"/>
              <a:t>focuses on recent behaviour;</a:t>
            </a:r>
          </a:p>
          <a:p>
            <a:pPr lvl="1"/>
            <a:r>
              <a:rPr lang="en-GB" dirty="0"/>
              <a:t>adapts more naturally to non-stationary processes;</a:t>
            </a:r>
          </a:p>
          <a:p>
            <a:pPr lvl="1"/>
            <a:r>
              <a:rPr lang="en-GB" dirty="0"/>
              <a:t>keeps training-set size approximately constant;</a:t>
            </a:r>
          </a:p>
          <a:p>
            <a:pPr lvl="1"/>
            <a:r>
              <a:rPr lang="en-GB" dirty="0"/>
              <a:t>limits computational growth.</a:t>
            </a:r>
          </a:p>
          <a:p>
            <a:endParaRPr lang="en-GB" b="1" dirty="0"/>
          </a:p>
          <a:p>
            <a:r>
              <a:rPr lang="en-GB" b="1" dirty="0"/>
              <a:t>Limitations</a:t>
            </a:r>
          </a:p>
          <a:p>
            <a:pPr lvl="1"/>
            <a:r>
              <a:rPr lang="en-GB" dirty="0"/>
              <a:t>discards potentially useful historical information;</a:t>
            </a:r>
          </a:p>
          <a:p>
            <a:pPr lvl="1"/>
            <a:r>
              <a:rPr lang="en-GB" dirty="0"/>
              <a:t>results depend on the selected training-window length;</a:t>
            </a:r>
          </a:p>
          <a:p>
            <a:pPr lvl="1"/>
            <a:r>
              <a:rPr lang="en-GB" dirty="0"/>
              <a:t>rare seasonal events may disappear from the retained history;</a:t>
            </a:r>
          </a:p>
          <a:p>
            <a:pPr lvl="1"/>
            <a:r>
              <a:rPr lang="en-GB" dirty="0"/>
              <a:t>short windows may produce unstable models.</a:t>
            </a:r>
          </a:p>
          <a:p>
            <a:endParaRPr lang="en-GB" dirty="0"/>
          </a:p>
        </p:txBody>
      </p:sp>
      <p:sp>
        <p:nvSpPr>
          <p:cNvPr id="4" name="Segnaposto contenuto 3">
            <a:extLst>
              <a:ext uri="{FF2B5EF4-FFF2-40B4-BE49-F238E27FC236}">
                <a16:creationId xmlns:a16="http://schemas.microsoft.com/office/drawing/2014/main" id="{4970E1A8-2256-F5C8-5F21-B9133ED8E323}"/>
              </a:ext>
            </a:extLst>
          </p:cNvPr>
          <p:cNvSpPr>
            <a:spLocks noGrp="1"/>
          </p:cNvSpPr>
          <p:nvPr>
            <p:ph sz="half" idx="2"/>
          </p:nvPr>
        </p:nvSpPr>
        <p:spPr/>
        <p:txBody>
          <a:bodyPr>
            <a:normAutofit fontScale="77500" lnSpcReduction="20000"/>
          </a:bodyPr>
          <a:lstStyle/>
          <a:p>
            <a:r>
              <a:rPr lang="en-GB" b="1" dirty="0"/>
              <a:t>Suitable assumption</a:t>
            </a:r>
          </a:p>
          <a:p>
            <a:pPr lvl="1"/>
            <a:r>
              <a:rPr lang="en-GB" dirty="0"/>
              <a:t>Sliding windows are appropriate when </a:t>
            </a:r>
            <a:r>
              <a:rPr lang="en-GB" dirty="0">
                <a:highlight>
                  <a:srgbClr val="FFFF00"/>
                </a:highlight>
              </a:rPr>
              <a:t>recent observations are more informative than distant historical data.</a:t>
            </a:r>
          </a:p>
          <a:p>
            <a:endParaRPr lang="en-GB" b="1" dirty="0"/>
          </a:p>
          <a:p>
            <a:r>
              <a:rPr lang="en-GB" b="1" dirty="0"/>
              <a:t>Examples</a:t>
            </a:r>
          </a:p>
          <a:p>
            <a:pPr lvl="1"/>
            <a:r>
              <a:rPr lang="en-GB" dirty="0"/>
              <a:t>rapidly changing customer behaviour;</a:t>
            </a:r>
          </a:p>
          <a:p>
            <a:pPr lvl="1"/>
            <a:r>
              <a:rPr lang="en-GB" dirty="0"/>
              <a:t>ageing equipment;</a:t>
            </a:r>
          </a:p>
          <a:p>
            <a:pPr lvl="1"/>
            <a:r>
              <a:rPr lang="en-GB" dirty="0"/>
              <a:t>changing market conditions;</a:t>
            </a:r>
          </a:p>
          <a:p>
            <a:pPr lvl="1"/>
            <a:r>
              <a:rPr lang="en-GB" dirty="0"/>
              <a:t>processes affected by recent policy or control changes.</a:t>
            </a:r>
          </a:p>
          <a:p>
            <a:endParaRPr lang="en-GB" dirty="0"/>
          </a:p>
        </p:txBody>
      </p:sp>
    </p:spTree>
    <p:extLst>
      <p:ext uri="{BB962C8B-B14F-4D97-AF65-F5344CB8AC3E}">
        <p14:creationId xmlns:p14="http://schemas.microsoft.com/office/powerpoint/2010/main" val="36455868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4A941B-8A70-C67A-3C51-59030C3C12A5}"/>
              </a:ext>
            </a:extLst>
          </p:cNvPr>
          <p:cNvSpPr>
            <a:spLocks noGrp="1"/>
          </p:cNvSpPr>
          <p:nvPr>
            <p:ph type="title"/>
          </p:nvPr>
        </p:nvSpPr>
        <p:spPr/>
        <p:txBody>
          <a:bodyPr/>
          <a:lstStyle/>
          <a:p>
            <a:r>
              <a:rPr lang="en-GB" dirty="0"/>
              <a:t>Expanding or sliding training window?</a:t>
            </a:r>
          </a:p>
        </p:txBody>
      </p:sp>
      <p:graphicFrame>
        <p:nvGraphicFramePr>
          <p:cNvPr id="6" name="Segnaposto contenuto 5">
            <a:extLst>
              <a:ext uri="{FF2B5EF4-FFF2-40B4-BE49-F238E27FC236}">
                <a16:creationId xmlns:a16="http://schemas.microsoft.com/office/drawing/2014/main" id="{0892E55F-7678-65C1-2D44-62EF940BC527}"/>
              </a:ext>
            </a:extLst>
          </p:cNvPr>
          <p:cNvGraphicFramePr>
            <a:graphicFrameLocks noGrp="1"/>
          </p:cNvGraphicFramePr>
          <p:nvPr>
            <p:ph idx="1"/>
            <p:extLst>
              <p:ext uri="{D42A27DB-BD31-4B8C-83A1-F6EECF244321}">
                <p14:modId xmlns:p14="http://schemas.microsoft.com/office/powerpoint/2010/main" val="3313188915"/>
              </p:ext>
            </p:extLst>
          </p:nvPr>
        </p:nvGraphicFramePr>
        <p:xfrm>
          <a:off x="2986391" y="2608060"/>
          <a:ext cx="4503908" cy="2174212"/>
        </p:xfrm>
        <a:graphic>
          <a:graphicData uri="http://schemas.openxmlformats.org/drawingml/2006/table">
            <a:tbl>
              <a:tblPr>
                <a:tableStyleId>{5C22544A-7EE6-4342-B048-85BDC9FD1C3A}</a:tableStyleId>
              </a:tblPr>
              <a:tblGrid>
                <a:gridCol w="2573662">
                  <a:extLst>
                    <a:ext uri="{9D8B030D-6E8A-4147-A177-3AD203B41FA5}">
                      <a16:colId xmlns:a16="http://schemas.microsoft.com/office/drawing/2014/main" val="2171613002"/>
                    </a:ext>
                  </a:extLst>
                </a:gridCol>
                <a:gridCol w="965123">
                  <a:extLst>
                    <a:ext uri="{9D8B030D-6E8A-4147-A177-3AD203B41FA5}">
                      <a16:colId xmlns:a16="http://schemas.microsoft.com/office/drawing/2014/main" val="82288135"/>
                    </a:ext>
                  </a:extLst>
                </a:gridCol>
                <a:gridCol w="965123">
                  <a:extLst>
                    <a:ext uri="{9D8B030D-6E8A-4147-A177-3AD203B41FA5}">
                      <a16:colId xmlns:a16="http://schemas.microsoft.com/office/drawing/2014/main" val="1191953184"/>
                    </a:ext>
                  </a:extLst>
                </a:gridCol>
              </a:tblGrid>
              <a:tr h="254004">
                <a:tc>
                  <a:txBody>
                    <a:bodyPr/>
                    <a:lstStyle/>
                    <a:p>
                      <a:pPr algn="l" fontAlgn="ctr">
                        <a:buNone/>
                      </a:pPr>
                      <a:r>
                        <a:rPr lang="en-GB" sz="1050" b="1" u="none" strike="noStrike" dirty="0">
                          <a:effectLst/>
                        </a:rPr>
                        <a:t>Question</a:t>
                      </a:r>
                      <a:endParaRPr lang="en-GB" sz="1050" b="1" i="0" u="none" strike="noStrike" dirty="0">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b="1" u="none" strike="noStrike">
                          <a:effectLst/>
                        </a:rPr>
                        <a:t>Expanding window</a:t>
                      </a:r>
                      <a:endParaRPr lang="en-GB" sz="1050" b="1"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b="1" u="none" strike="noStrike" dirty="0">
                          <a:effectLst/>
                        </a:rPr>
                        <a:t>Sliding window</a:t>
                      </a:r>
                      <a:endParaRPr lang="en-GB" sz="1050" b="1" i="0" u="none" strike="noStrike" dirty="0">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4080481826"/>
                  </a:ext>
                </a:extLst>
              </a:tr>
              <a:tr h="254004">
                <a:tc>
                  <a:txBody>
                    <a:bodyPr/>
                    <a:lstStyle/>
                    <a:p>
                      <a:pPr algn="l" fontAlgn="ctr">
                        <a:buNone/>
                      </a:pPr>
                      <a:r>
                        <a:rPr lang="en-GB" sz="1050" u="none" strike="noStrike" dirty="0">
                          <a:effectLst/>
                        </a:rPr>
                        <a:t>Are old observations retained?</a:t>
                      </a:r>
                      <a:endParaRPr lang="en-GB" sz="1050" b="0" i="0" u="none" strike="noStrike" dirty="0">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a:effectLst/>
                        </a:rPr>
                        <a:t>Yes</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No</a:t>
                      </a:r>
                      <a:endParaRPr lang="en-GB" sz="1050" b="0" i="0" u="none" strike="noStrike" dirty="0">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3990161649"/>
                  </a:ext>
                </a:extLst>
              </a:tr>
              <a:tr h="317505">
                <a:tc>
                  <a:txBody>
                    <a:bodyPr/>
                    <a:lstStyle/>
                    <a:p>
                      <a:pPr algn="l" fontAlgn="ctr">
                        <a:buNone/>
                      </a:pPr>
                      <a:r>
                        <a:rPr lang="en-GB" sz="1050" u="none" strike="noStrike" dirty="0">
                          <a:effectLst/>
                        </a:rPr>
                        <a:t>Does training size increase?</a:t>
                      </a:r>
                      <a:endParaRPr lang="en-GB" sz="1050" b="0" i="0" u="none" strike="noStrike" dirty="0">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Yes</a:t>
                      </a:r>
                      <a:endParaRPr lang="en-GB" sz="1050" b="0" i="0" u="none" strike="noStrike" dirty="0">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a:effectLst/>
                        </a:rPr>
                        <a:t>Usually no</a:t>
                      </a:r>
                      <a:endParaRPr lang="en-GB" sz="1050" b="0" i="0" u="none" strike="noStrike">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3803906768"/>
                  </a:ext>
                </a:extLst>
              </a:tr>
              <a:tr h="317505">
                <a:tc>
                  <a:txBody>
                    <a:bodyPr/>
                    <a:lstStyle/>
                    <a:p>
                      <a:pPr algn="l" fontAlgn="ctr">
                        <a:buNone/>
                      </a:pPr>
                      <a:r>
                        <a:rPr lang="en-GB" sz="1050" u="none" strike="noStrike">
                          <a:effectLst/>
                        </a:rPr>
                        <a:t>Is long-term history exploited?</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Fully</a:t>
                      </a:r>
                      <a:endParaRPr lang="en-GB" sz="1050" b="0" i="0" u="none" strike="noStrike" dirty="0">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Partially</a:t>
                      </a:r>
                      <a:endParaRPr lang="en-GB" sz="1050" b="0" i="0" u="none" strike="noStrike" dirty="0">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3355262880"/>
                  </a:ext>
                </a:extLst>
              </a:tr>
              <a:tr h="317505">
                <a:tc>
                  <a:txBody>
                    <a:bodyPr/>
                    <a:lstStyle/>
                    <a:p>
                      <a:pPr algn="l" fontAlgn="ctr">
                        <a:buNone/>
                      </a:pPr>
                      <a:r>
                        <a:rPr lang="en-GB" sz="1050" u="none" strike="noStrike">
                          <a:effectLst/>
                        </a:rPr>
                        <a:t>Does the model focus on recent regimes?</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a:effectLst/>
                        </a:rPr>
                        <a:t>Less strongly</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More strongly</a:t>
                      </a:r>
                      <a:endParaRPr lang="en-GB" sz="1050" b="0" i="0" u="none" strike="noStrike" dirty="0">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1650285022"/>
                  </a:ext>
                </a:extLst>
              </a:tr>
              <a:tr h="317505">
                <a:tc>
                  <a:txBody>
                    <a:bodyPr/>
                    <a:lstStyle/>
                    <a:p>
                      <a:pPr algn="l" fontAlgn="ctr">
                        <a:buNone/>
                      </a:pPr>
                      <a:r>
                        <a:rPr lang="en-GB" sz="1050" u="none" strike="noStrike">
                          <a:effectLst/>
                        </a:rPr>
                        <a:t>Is computational cost stable?</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a:effectLst/>
                        </a:rPr>
                        <a:t>No</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Approximately</a:t>
                      </a:r>
                      <a:endParaRPr lang="en-GB" sz="1050" b="0" i="0" u="none" strike="noStrike" dirty="0">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2830348697"/>
                  </a:ext>
                </a:extLst>
              </a:tr>
              <a:tr h="254004">
                <a:tc>
                  <a:txBody>
                    <a:bodyPr/>
                    <a:lstStyle/>
                    <a:p>
                      <a:pPr algn="l" fontAlgn="ctr">
                        <a:buNone/>
                      </a:pPr>
                      <a:r>
                        <a:rPr lang="en-GB" sz="1050" u="none" strike="noStrike">
                          <a:effectLst/>
                        </a:rPr>
                        <a:t>Main risk</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a:effectLst/>
                        </a:rPr>
                        <a:t>Obsolete data remain</a:t>
                      </a:r>
                      <a:endParaRPr lang="en-GB" sz="1050" b="0" i="0" u="none" strike="noStrike">
                        <a:solidFill>
                          <a:srgbClr val="000000"/>
                        </a:solidFill>
                        <a:effectLst/>
                        <a:latin typeface="Aptos Narrow" panose="020B0004020202020204" pitchFamily="34" charset="0"/>
                      </a:endParaRPr>
                    </a:p>
                  </a:txBody>
                  <a:tcPr marL="5054" marR="5054" marT="5054" marB="0" anchor="ctr"/>
                </a:tc>
                <a:tc>
                  <a:txBody>
                    <a:bodyPr/>
                    <a:lstStyle/>
                    <a:p>
                      <a:pPr algn="l" fontAlgn="ctr">
                        <a:buNone/>
                      </a:pPr>
                      <a:r>
                        <a:rPr lang="en-GB" sz="1050" u="none" strike="noStrike" dirty="0">
                          <a:effectLst/>
                        </a:rPr>
                        <a:t>Useful history is discarded</a:t>
                      </a:r>
                      <a:endParaRPr lang="en-GB" sz="1050" b="0" i="0" u="none" strike="noStrike" dirty="0">
                        <a:solidFill>
                          <a:srgbClr val="000000"/>
                        </a:solidFill>
                        <a:effectLst/>
                        <a:latin typeface="Aptos Narrow" panose="020B0004020202020204" pitchFamily="34" charset="0"/>
                      </a:endParaRPr>
                    </a:p>
                  </a:txBody>
                  <a:tcPr marL="5054" marR="5054" marT="5054" marB="0" anchor="ctr"/>
                </a:tc>
                <a:extLst>
                  <a:ext uri="{0D108BD9-81ED-4DB2-BD59-A6C34878D82A}">
                    <a16:rowId xmlns:a16="http://schemas.microsoft.com/office/drawing/2014/main" val="4015510056"/>
                  </a:ext>
                </a:extLst>
              </a:tr>
            </a:tbl>
          </a:graphicData>
        </a:graphic>
      </p:graphicFrame>
      <p:sp>
        <p:nvSpPr>
          <p:cNvPr id="5" name="CasellaDiTesto 4">
            <a:extLst>
              <a:ext uri="{FF2B5EF4-FFF2-40B4-BE49-F238E27FC236}">
                <a16:creationId xmlns:a16="http://schemas.microsoft.com/office/drawing/2014/main" id="{52F7B10D-0778-A7EB-D208-468608BC17A5}"/>
              </a:ext>
            </a:extLst>
          </p:cNvPr>
          <p:cNvSpPr txBox="1"/>
          <p:nvPr/>
        </p:nvSpPr>
        <p:spPr>
          <a:xfrm>
            <a:off x="3360906" y="1676163"/>
            <a:ext cx="6099242" cy="369332"/>
          </a:xfrm>
          <a:prstGeom prst="rect">
            <a:avLst/>
          </a:prstGeom>
          <a:noFill/>
        </p:spPr>
        <p:txBody>
          <a:bodyPr wrap="square">
            <a:spAutoFit/>
          </a:bodyPr>
          <a:lstStyle/>
          <a:p>
            <a:r>
              <a:rPr lang="en-GB" dirty="0">
                <a:highlight>
                  <a:srgbClr val="FFFF00"/>
                </a:highlight>
              </a:rPr>
              <a:t>The choice depends on how quickly the process changes</a:t>
            </a:r>
            <a:r>
              <a:rPr lang="en-GB" dirty="0"/>
              <a:t>.</a:t>
            </a:r>
          </a:p>
        </p:txBody>
      </p:sp>
    </p:spTree>
    <p:extLst>
      <p:ext uri="{BB962C8B-B14F-4D97-AF65-F5344CB8AC3E}">
        <p14:creationId xmlns:p14="http://schemas.microsoft.com/office/powerpoint/2010/main" val="3655954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538A99C-3212-130C-227E-5D7285BCB95B}"/>
              </a:ext>
            </a:extLst>
          </p:cNvPr>
          <p:cNvSpPr>
            <a:spLocks noGrp="1"/>
          </p:cNvSpPr>
          <p:nvPr>
            <p:ph type="title"/>
          </p:nvPr>
        </p:nvSpPr>
        <p:spPr/>
        <p:txBody>
          <a:bodyPr/>
          <a:lstStyle/>
          <a:p>
            <a:r>
              <a:rPr lang="en-GB" b="1" dirty="0"/>
              <a:t>Practical decision criteria</a:t>
            </a:r>
            <a:br>
              <a:rPr lang="en-GB" b="1" dirty="0"/>
            </a:br>
            <a:endParaRPr lang="en-GB" dirty="0"/>
          </a:p>
        </p:txBody>
      </p:sp>
      <p:sp>
        <p:nvSpPr>
          <p:cNvPr id="3" name="Segnaposto contenuto 2">
            <a:extLst>
              <a:ext uri="{FF2B5EF4-FFF2-40B4-BE49-F238E27FC236}">
                <a16:creationId xmlns:a16="http://schemas.microsoft.com/office/drawing/2014/main" id="{2A7362DA-FF66-6F1C-1539-980A8717B5E6}"/>
              </a:ext>
            </a:extLst>
          </p:cNvPr>
          <p:cNvSpPr>
            <a:spLocks noGrp="1"/>
          </p:cNvSpPr>
          <p:nvPr>
            <p:ph idx="1"/>
          </p:nvPr>
        </p:nvSpPr>
        <p:spPr/>
        <p:txBody>
          <a:bodyPr>
            <a:normAutofit fontScale="92500" lnSpcReduction="10000"/>
          </a:bodyPr>
          <a:lstStyle/>
          <a:p>
            <a:r>
              <a:rPr lang="en-GB" dirty="0"/>
              <a:t>Use an expanding window when:</a:t>
            </a:r>
          </a:p>
          <a:p>
            <a:pPr lvl="1"/>
            <a:r>
              <a:rPr lang="en-GB" dirty="0"/>
              <a:t>the process is relatively stable;</a:t>
            </a:r>
          </a:p>
          <a:p>
            <a:pPr lvl="1"/>
            <a:r>
              <a:rPr lang="en-GB" b="1" dirty="0"/>
              <a:t>long seasonal cycles matter;</a:t>
            </a:r>
          </a:p>
          <a:p>
            <a:pPr lvl="1"/>
            <a:r>
              <a:rPr lang="en-GB" dirty="0"/>
              <a:t>rare historical events remain relevant;</a:t>
            </a:r>
          </a:p>
          <a:p>
            <a:pPr lvl="1"/>
            <a:r>
              <a:rPr lang="en-GB" dirty="0"/>
              <a:t>more data generally improve estimation.</a:t>
            </a:r>
          </a:p>
          <a:p>
            <a:endParaRPr lang="en-GB" dirty="0"/>
          </a:p>
          <a:p>
            <a:r>
              <a:rPr lang="en-GB" dirty="0"/>
              <a:t>Use a sliding window when:</a:t>
            </a:r>
          </a:p>
          <a:p>
            <a:pPr lvl="1"/>
            <a:r>
              <a:rPr lang="en-GB" dirty="0"/>
              <a:t>strong drift is expected;</a:t>
            </a:r>
          </a:p>
          <a:p>
            <a:pPr lvl="1"/>
            <a:r>
              <a:rPr lang="en-GB" dirty="0"/>
              <a:t>recent behaviour dominates;</a:t>
            </a:r>
          </a:p>
          <a:p>
            <a:pPr lvl="1"/>
            <a:r>
              <a:rPr lang="en-GB" dirty="0"/>
              <a:t>old operating regimes are no longer relevant;</a:t>
            </a:r>
          </a:p>
          <a:p>
            <a:pPr lvl="1"/>
            <a:r>
              <a:rPr lang="en-GB" dirty="0"/>
              <a:t>a fixed retraining cost is required.</a:t>
            </a:r>
          </a:p>
          <a:p>
            <a:endParaRPr lang="en-GB" b="1" dirty="0"/>
          </a:p>
          <a:p>
            <a:endParaRPr lang="en-GB" dirty="0"/>
          </a:p>
        </p:txBody>
      </p:sp>
      <p:sp>
        <p:nvSpPr>
          <p:cNvPr id="5" name="CasellaDiTesto 4">
            <a:extLst>
              <a:ext uri="{FF2B5EF4-FFF2-40B4-BE49-F238E27FC236}">
                <a16:creationId xmlns:a16="http://schemas.microsoft.com/office/drawing/2014/main" id="{0FA130D1-8B02-0A87-521C-072BB081D270}"/>
              </a:ext>
            </a:extLst>
          </p:cNvPr>
          <p:cNvSpPr txBox="1"/>
          <p:nvPr/>
        </p:nvSpPr>
        <p:spPr>
          <a:xfrm>
            <a:off x="6818453" y="4163925"/>
            <a:ext cx="5373547" cy="1877437"/>
          </a:xfrm>
          <a:prstGeom prst="rect">
            <a:avLst/>
          </a:prstGeom>
          <a:noFill/>
        </p:spPr>
        <p:txBody>
          <a:bodyPr wrap="square">
            <a:spAutoFit/>
          </a:bodyPr>
          <a:lstStyle/>
          <a:p>
            <a:r>
              <a:rPr lang="en-GB" sz="1800" b="1" dirty="0"/>
              <a:t>Hybrid alternatives</a:t>
            </a:r>
          </a:p>
          <a:p>
            <a:r>
              <a:rPr lang="en-GB" sz="1800" dirty="0"/>
              <a:t>A model may use:</a:t>
            </a:r>
          </a:p>
          <a:p>
            <a:pPr lvl="1"/>
            <a:r>
              <a:rPr lang="en-GB" sz="1600" dirty="0"/>
              <a:t>- a long historical interval with larger weights on recent observations;</a:t>
            </a:r>
          </a:p>
          <a:p>
            <a:pPr lvl="1"/>
            <a:r>
              <a:rPr lang="en-GB" sz="1600" dirty="0"/>
              <a:t>- a recent sliding window plus selected historical seasonal periods;</a:t>
            </a:r>
          </a:p>
          <a:p>
            <a:pPr lvl="1"/>
            <a:r>
              <a:rPr lang="en-GB" sz="1600" dirty="0"/>
              <a:t>- separate models for different regimes.</a:t>
            </a:r>
          </a:p>
        </p:txBody>
      </p:sp>
    </p:spTree>
    <p:extLst>
      <p:ext uri="{BB962C8B-B14F-4D97-AF65-F5344CB8AC3E}">
        <p14:creationId xmlns:p14="http://schemas.microsoft.com/office/powerpoint/2010/main" val="16183400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5943600" cy="411480"/>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D3557"/>
                </a:solidFill>
                <a:latin typeface="Aptos Display" pitchFamily="34" charset="0"/>
                <a:ea typeface="Aptos Display" pitchFamily="34" charset="-122"/>
                <a:cs typeface="Aptos Display" pitchFamily="34" charset="-120"/>
              </a:rPr>
              <a:t>Training-data weighting profiles</a:t>
            </a:r>
            <a:endParaRPr lang="en-US" sz="2800" dirty="0"/>
          </a:p>
        </p:txBody>
      </p:sp>
      <p:sp>
        <p:nvSpPr>
          <p:cNvPr id="3" name="Text 1"/>
          <p:cNvSpPr/>
          <p:nvPr/>
        </p:nvSpPr>
        <p:spPr>
          <a:xfrm>
            <a:off x="566928" y="786384"/>
            <a:ext cx="8412480" cy="256032"/>
          </a:xfrm>
          <a:prstGeom prst="rect">
            <a:avLst/>
          </a:prstGeom>
          <a:noFill/>
          <a:ln/>
        </p:spPr>
        <p:txBody>
          <a:bodyPr wrap="square" lIns="0" tIns="0" rIns="0" bIns="0" rtlCol="0" anchor="ctr">
            <a:normAutofit/>
          </a:bodyPr>
          <a:lstStyle/>
          <a:p>
            <a:pPr marL="0" indent="0" algn="l">
              <a:buNone/>
            </a:pPr>
            <a:r>
              <a:rPr lang="en-US" sz="1450" dirty="0">
                <a:solidFill>
                  <a:srgbClr val="65758B"/>
                </a:solidFill>
                <a:latin typeface="Aptos" pitchFamily="34" charset="0"/>
                <a:ea typeface="Aptos" pitchFamily="34" charset="-122"/>
                <a:cs typeface="Aptos" pitchFamily="34" charset="-120"/>
              </a:rPr>
              <a:t>Two common ways to decide which historical observations contribute to model fitting.</a:t>
            </a:r>
            <a:endParaRPr lang="en-US" sz="1450" dirty="0"/>
          </a:p>
        </p:txBody>
      </p:sp>
      <p:sp>
        <p:nvSpPr>
          <p:cNvPr id="4" name="Shape 2"/>
          <p:cNvSpPr/>
          <p:nvPr/>
        </p:nvSpPr>
        <p:spPr>
          <a:xfrm>
            <a:off x="9326880" y="411480"/>
            <a:ext cx="201168" cy="146304"/>
          </a:xfrm>
          <a:prstGeom prst="rect">
            <a:avLst/>
          </a:prstGeom>
          <a:solidFill>
            <a:srgbClr val="2F80ED"/>
          </a:solidFill>
          <a:ln w="12700">
            <a:solidFill>
              <a:srgbClr val="2F80ED"/>
            </a:solidFill>
            <a:prstDash val="solid"/>
          </a:ln>
        </p:spPr>
        <p:txBody>
          <a:bodyPr/>
          <a:lstStyle/>
          <a:p>
            <a:endParaRPr lang="en-GB"/>
          </a:p>
        </p:txBody>
      </p:sp>
      <p:sp>
        <p:nvSpPr>
          <p:cNvPr id="5" name="Text 3"/>
          <p:cNvSpPr/>
          <p:nvPr/>
        </p:nvSpPr>
        <p:spPr>
          <a:xfrm>
            <a:off x="9582912" y="356616"/>
            <a:ext cx="822960" cy="256032"/>
          </a:xfrm>
          <a:prstGeom prst="rect">
            <a:avLst/>
          </a:prstGeom>
          <a:noFill/>
          <a:ln/>
        </p:spPr>
        <p:txBody>
          <a:bodyPr wrap="square" lIns="0" tIns="0" rIns="0" bIns="0" rtlCol="0" anchor="ctr">
            <a:normAutofit/>
          </a:bodyPr>
          <a:lstStyle/>
          <a:p>
            <a:pPr marL="0" indent="0" algn="l">
              <a:buNone/>
            </a:pPr>
            <a:r>
              <a:rPr lang="en-US" sz="1250" dirty="0">
                <a:solidFill>
                  <a:srgbClr val="65758B"/>
                </a:solidFill>
                <a:latin typeface="Aptos" pitchFamily="34" charset="0"/>
                <a:ea typeface="Aptos" pitchFamily="34" charset="-122"/>
                <a:cs typeface="Aptos" pitchFamily="34" charset="-120"/>
              </a:rPr>
              <a:t>retained</a:t>
            </a:r>
            <a:endParaRPr lang="en-US" sz="1250" dirty="0"/>
          </a:p>
        </p:txBody>
      </p:sp>
      <p:sp>
        <p:nvSpPr>
          <p:cNvPr id="6" name="Shape 4"/>
          <p:cNvSpPr/>
          <p:nvPr/>
        </p:nvSpPr>
        <p:spPr>
          <a:xfrm>
            <a:off x="10561320" y="411480"/>
            <a:ext cx="201168" cy="146304"/>
          </a:xfrm>
          <a:prstGeom prst="rect">
            <a:avLst/>
          </a:prstGeom>
          <a:solidFill>
            <a:srgbClr val="EEF1F5"/>
          </a:solidFill>
          <a:ln w="12700">
            <a:solidFill>
              <a:srgbClr val="B8C0CC"/>
            </a:solidFill>
            <a:prstDash val="solid"/>
          </a:ln>
        </p:spPr>
        <p:txBody>
          <a:bodyPr/>
          <a:lstStyle/>
          <a:p>
            <a:endParaRPr lang="en-GB"/>
          </a:p>
        </p:txBody>
      </p:sp>
      <p:sp>
        <p:nvSpPr>
          <p:cNvPr id="7" name="Text 5"/>
          <p:cNvSpPr/>
          <p:nvPr/>
        </p:nvSpPr>
        <p:spPr>
          <a:xfrm>
            <a:off x="10817352" y="356616"/>
            <a:ext cx="914400" cy="256032"/>
          </a:xfrm>
          <a:prstGeom prst="rect">
            <a:avLst/>
          </a:prstGeom>
          <a:noFill/>
          <a:ln/>
        </p:spPr>
        <p:txBody>
          <a:bodyPr wrap="square" lIns="0" tIns="0" rIns="0" bIns="0" rtlCol="0" anchor="ctr">
            <a:normAutofit/>
          </a:bodyPr>
          <a:lstStyle/>
          <a:p>
            <a:pPr marL="0" indent="0" algn="l">
              <a:buNone/>
            </a:pPr>
            <a:r>
              <a:rPr lang="en-US" sz="1250" dirty="0">
                <a:solidFill>
                  <a:srgbClr val="65758B"/>
                </a:solidFill>
                <a:latin typeface="Aptos" pitchFamily="34" charset="0"/>
                <a:ea typeface="Aptos" pitchFamily="34" charset="-122"/>
                <a:cs typeface="Aptos" pitchFamily="34" charset="-120"/>
              </a:rPr>
              <a:t>discarded</a:t>
            </a:r>
            <a:endParaRPr lang="en-US" sz="1250" dirty="0"/>
          </a:p>
        </p:txBody>
      </p:sp>
      <p:sp>
        <p:nvSpPr>
          <p:cNvPr id="8" name="Shape 6"/>
          <p:cNvSpPr/>
          <p:nvPr/>
        </p:nvSpPr>
        <p:spPr>
          <a:xfrm>
            <a:off x="685800" y="1325880"/>
            <a:ext cx="10835640" cy="2057400"/>
          </a:xfrm>
          <a:prstGeom prst="roundRect">
            <a:avLst>
              <a:gd name="adj" fmla="val 5333"/>
            </a:avLst>
          </a:prstGeom>
          <a:solidFill>
            <a:srgbClr val="FFFFFF"/>
          </a:solidFill>
          <a:ln w="15240">
            <a:solidFill>
              <a:srgbClr val="D5DCE6"/>
            </a:solidFill>
            <a:prstDash val="solid"/>
          </a:ln>
          <a:effectLst>
            <a:outerShdw blurRad="15240" dist="50800" dir="2700000" algn="bl" rotWithShape="0">
              <a:srgbClr val="D0D8E4">
                <a:alpha val="18000"/>
              </a:srgbClr>
            </a:outerShdw>
          </a:effectLst>
        </p:spPr>
        <p:txBody>
          <a:bodyPr/>
          <a:lstStyle/>
          <a:p>
            <a:endParaRPr lang="en-GB"/>
          </a:p>
        </p:txBody>
      </p:sp>
      <p:sp>
        <p:nvSpPr>
          <p:cNvPr id="9" name="Shape 7"/>
          <p:cNvSpPr/>
          <p:nvPr/>
        </p:nvSpPr>
        <p:spPr>
          <a:xfrm>
            <a:off x="685800" y="3794760"/>
            <a:ext cx="10835640" cy="2057400"/>
          </a:xfrm>
          <a:prstGeom prst="roundRect">
            <a:avLst>
              <a:gd name="adj" fmla="val 5333"/>
            </a:avLst>
          </a:prstGeom>
          <a:solidFill>
            <a:srgbClr val="FFFFFF"/>
          </a:solidFill>
          <a:ln w="15240">
            <a:solidFill>
              <a:srgbClr val="D5DCE6"/>
            </a:solidFill>
            <a:prstDash val="solid"/>
          </a:ln>
          <a:effectLst>
            <a:outerShdw blurRad="15240" dist="50800" dir="2700000" algn="bl" rotWithShape="0">
              <a:srgbClr val="D0D8E4">
                <a:alpha val="18000"/>
              </a:srgbClr>
            </a:outerShdw>
          </a:effectLst>
        </p:spPr>
        <p:txBody>
          <a:bodyPr/>
          <a:lstStyle/>
          <a:p>
            <a:endParaRPr lang="en-GB"/>
          </a:p>
        </p:txBody>
      </p:sp>
      <p:sp>
        <p:nvSpPr>
          <p:cNvPr id="10" name="Text 8"/>
          <p:cNvSpPr/>
          <p:nvPr/>
        </p:nvSpPr>
        <p:spPr>
          <a:xfrm>
            <a:off x="1005840" y="1581912"/>
            <a:ext cx="2468880" cy="347472"/>
          </a:xfrm>
          <a:prstGeom prst="rect">
            <a:avLst/>
          </a:prstGeom>
          <a:noFill/>
          <a:ln/>
        </p:spPr>
        <p:txBody>
          <a:bodyPr wrap="square" lIns="0" tIns="0" rIns="0" bIns="0" rtlCol="0" anchor="ctr">
            <a:normAutofit/>
          </a:bodyPr>
          <a:lstStyle/>
          <a:p>
            <a:pPr marL="0" indent="0" algn="l">
              <a:buNone/>
            </a:pPr>
            <a:r>
              <a:rPr lang="en-US" sz="2000" b="1" dirty="0">
                <a:solidFill>
                  <a:srgbClr val="1D3557"/>
                </a:solidFill>
                <a:latin typeface="Aptos" pitchFamily="34" charset="0"/>
                <a:ea typeface="Aptos" pitchFamily="34" charset="-122"/>
                <a:cs typeface="Aptos" pitchFamily="34" charset="-120"/>
              </a:rPr>
              <a:t>Expanding window</a:t>
            </a:r>
            <a:endParaRPr lang="en-US" sz="2000" dirty="0"/>
          </a:p>
        </p:txBody>
      </p:sp>
      <p:sp>
        <p:nvSpPr>
          <p:cNvPr id="11" name="Text 9"/>
          <p:cNvSpPr/>
          <p:nvPr/>
        </p:nvSpPr>
        <p:spPr>
          <a:xfrm>
            <a:off x="4526280" y="1517904"/>
            <a:ext cx="1371600" cy="237744"/>
          </a:xfrm>
          <a:prstGeom prst="rect">
            <a:avLst/>
          </a:prstGeom>
          <a:noFill/>
          <a:ln/>
        </p:spPr>
        <p:txBody>
          <a:bodyPr wrap="square" lIns="0" tIns="0" rIns="0" bIns="0" rtlCol="0" anchor="ctr">
            <a:normAutofit/>
          </a:bodyPr>
          <a:lstStyle/>
          <a:p>
            <a:pPr marL="0" indent="0" algn="ctr">
              <a:buNone/>
            </a:pPr>
            <a:r>
              <a:rPr lang="en-US" sz="1200" dirty="0">
                <a:solidFill>
                  <a:srgbClr val="65758B"/>
                </a:solidFill>
                <a:latin typeface="Aptos" pitchFamily="34" charset="0"/>
                <a:ea typeface="Aptos" pitchFamily="34" charset="-122"/>
                <a:cs typeface="Aptos" pitchFamily="34" charset="-120"/>
              </a:rPr>
              <a:t>old observations</a:t>
            </a:r>
            <a:endParaRPr lang="en-US" sz="1200" dirty="0"/>
          </a:p>
        </p:txBody>
      </p:sp>
      <p:sp>
        <p:nvSpPr>
          <p:cNvPr id="12" name="Text 10"/>
          <p:cNvSpPr/>
          <p:nvPr/>
        </p:nvSpPr>
        <p:spPr>
          <a:xfrm>
            <a:off x="8595360" y="1517904"/>
            <a:ext cx="1645920" cy="237744"/>
          </a:xfrm>
          <a:prstGeom prst="rect">
            <a:avLst/>
          </a:prstGeom>
          <a:noFill/>
          <a:ln/>
        </p:spPr>
        <p:txBody>
          <a:bodyPr wrap="square" lIns="0" tIns="0" rIns="0" bIns="0" rtlCol="0" anchor="ctr">
            <a:normAutofit/>
          </a:bodyPr>
          <a:lstStyle/>
          <a:p>
            <a:pPr marL="0" indent="0" algn="ctr">
              <a:buNone/>
            </a:pPr>
            <a:r>
              <a:rPr lang="en-US" sz="1200" dirty="0">
                <a:solidFill>
                  <a:srgbClr val="65758B"/>
                </a:solidFill>
                <a:latin typeface="Aptos" pitchFamily="34" charset="0"/>
                <a:ea typeface="Aptos" pitchFamily="34" charset="-122"/>
                <a:cs typeface="Aptos" pitchFamily="34" charset="-120"/>
              </a:rPr>
              <a:t>recent observations</a:t>
            </a:r>
            <a:endParaRPr lang="en-US" sz="1200" dirty="0"/>
          </a:p>
        </p:txBody>
      </p:sp>
      <p:sp>
        <p:nvSpPr>
          <p:cNvPr id="13" name="Shape 11"/>
          <p:cNvSpPr/>
          <p:nvPr/>
        </p:nvSpPr>
        <p:spPr>
          <a:xfrm>
            <a:off x="4297680" y="1874520"/>
            <a:ext cx="5715000" cy="0"/>
          </a:xfrm>
          <a:prstGeom prst="line">
            <a:avLst/>
          </a:prstGeom>
          <a:noFill/>
          <a:ln w="15240">
            <a:solidFill>
              <a:srgbClr val="65758B"/>
            </a:solidFill>
            <a:prstDash val="solid"/>
            <a:headEnd type="none"/>
            <a:tailEnd type="triangle"/>
          </a:ln>
        </p:spPr>
        <p:txBody>
          <a:bodyPr/>
          <a:lstStyle/>
          <a:p>
            <a:endParaRPr lang="en-GB"/>
          </a:p>
        </p:txBody>
      </p:sp>
      <p:sp>
        <p:nvSpPr>
          <p:cNvPr id="14" name="Text 12"/>
          <p:cNvSpPr/>
          <p:nvPr/>
        </p:nvSpPr>
        <p:spPr>
          <a:xfrm>
            <a:off x="10085832" y="1764792"/>
            <a:ext cx="457200" cy="201168"/>
          </a:xfrm>
          <a:prstGeom prst="rect">
            <a:avLst/>
          </a:prstGeom>
          <a:noFill/>
          <a:ln/>
        </p:spPr>
        <p:txBody>
          <a:bodyPr wrap="square" lIns="0" tIns="0" rIns="0" bIns="0" rtlCol="0" anchor="ctr">
            <a:normAutofit/>
          </a:bodyPr>
          <a:lstStyle/>
          <a:p>
            <a:pPr marL="0" indent="0" algn="l">
              <a:buNone/>
            </a:pPr>
            <a:r>
              <a:rPr lang="en-US" sz="1200" dirty="0">
                <a:solidFill>
                  <a:srgbClr val="65758B"/>
                </a:solidFill>
                <a:latin typeface="Aptos" pitchFamily="34" charset="0"/>
                <a:ea typeface="Aptos" pitchFamily="34" charset="-122"/>
                <a:cs typeface="Aptos" pitchFamily="34" charset="-120"/>
              </a:rPr>
              <a:t>time</a:t>
            </a:r>
            <a:endParaRPr lang="en-US" sz="1200" dirty="0"/>
          </a:p>
        </p:txBody>
      </p:sp>
      <p:sp>
        <p:nvSpPr>
          <p:cNvPr id="15" name="Shape 13"/>
          <p:cNvSpPr/>
          <p:nvPr/>
        </p:nvSpPr>
        <p:spPr>
          <a:xfrm>
            <a:off x="4389120" y="2212848"/>
            <a:ext cx="5440680" cy="502920"/>
          </a:xfrm>
          <a:prstGeom prst="rect">
            <a:avLst/>
          </a:prstGeom>
          <a:solidFill>
            <a:srgbClr val="2F80ED"/>
          </a:solidFill>
          <a:ln w="13970">
            <a:solidFill>
              <a:srgbClr val="2F80ED"/>
            </a:solidFill>
            <a:prstDash val="solid"/>
          </a:ln>
        </p:spPr>
        <p:txBody>
          <a:bodyPr/>
          <a:lstStyle/>
          <a:p>
            <a:endParaRPr lang="en-GB"/>
          </a:p>
        </p:txBody>
      </p:sp>
      <p:sp>
        <p:nvSpPr>
          <p:cNvPr id="16" name="Shape 14"/>
          <p:cNvSpPr/>
          <p:nvPr/>
        </p:nvSpPr>
        <p:spPr>
          <a:xfrm>
            <a:off x="4389120" y="2779776"/>
            <a:ext cx="0" cy="109728"/>
          </a:xfrm>
          <a:prstGeom prst="line">
            <a:avLst/>
          </a:prstGeom>
          <a:noFill/>
          <a:ln w="12700">
            <a:solidFill>
              <a:srgbClr val="D5DCE6"/>
            </a:solidFill>
            <a:prstDash val="solid"/>
          </a:ln>
        </p:spPr>
        <p:txBody>
          <a:bodyPr/>
          <a:lstStyle/>
          <a:p>
            <a:endParaRPr lang="en-GB"/>
          </a:p>
        </p:txBody>
      </p:sp>
      <p:sp>
        <p:nvSpPr>
          <p:cNvPr id="17" name="Shape 15"/>
          <p:cNvSpPr/>
          <p:nvPr/>
        </p:nvSpPr>
        <p:spPr>
          <a:xfrm>
            <a:off x="4933188" y="2779776"/>
            <a:ext cx="0" cy="109728"/>
          </a:xfrm>
          <a:prstGeom prst="line">
            <a:avLst/>
          </a:prstGeom>
          <a:noFill/>
          <a:ln w="12700">
            <a:solidFill>
              <a:srgbClr val="D5DCE6"/>
            </a:solidFill>
            <a:prstDash val="solid"/>
          </a:ln>
        </p:spPr>
        <p:txBody>
          <a:bodyPr/>
          <a:lstStyle/>
          <a:p>
            <a:endParaRPr lang="en-GB"/>
          </a:p>
        </p:txBody>
      </p:sp>
      <p:sp>
        <p:nvSpPr>
          <p:cNvPr id="18" name="Shape 16"/>
          <p:cNvSpPr/>
          <p:nvPr/>
        </p:nvSpPr>
        <p:spPr>
          <a:xfrm>
            <a:off x="5477256" y="2779776"/>
            <a:ext cx="0" cy="109728"/>
          </a:xfrm>
          <a:prstGeom prst="line">
            <a:avLst/>
          </a:prstGeom>
          <a:noFill/>
          <a:ln w="12700">
            <a:solidFill>
              <a:srgbClr val="D5DCE6"/>
            </a:solidFill>
            <a:prstDash val="solid"/>
          </a:ln>
        </p:spPr>
        <p:txBody>
          <a:bodyPr/>
          <a:lstStyle/>
          <a:p>
            <a:endParaRPr lang="en-GB"/>
          </a:p>
        </p:txBody>
      </p:sp>
      <p:sp>
        <p:nvSpPr>
          <p:cNvPr id="19" name="Shape 17"/>
          <p:cNvSpPr/>
          <p:nvPr/>
        </p:nvSpPr>
        <p:spPr>
          <a:xfrm>
            <a:off x="6021324" y="2779776"/>
            <a:ext cx="0" cy="109728"/>
          </a:xfrm>
          <a:prstGeom prst="line">
            <a:avLst/>
          </a:prstGeom>
          <a:noFill/>
          <a:ln w="12700">
            <a:solidFill>
              <a:srgbClr val="D5DCE6"/>
            </a:solidFill>
            <a:prstDash val="solid"/>
          </a:ln>
        </p:spPr>
        <p:txBody>
          <a:bodyPr/>
          <a:lstStyle/>
          <a:p>
            <a:endParaRPr lang="en-GB"/>
          </a:p>
        </p:txBody>
      </p:sp>
      <p:sp>
        <p:nvSpPr>
          <p:cNvPr id="20" name="Shape 18"/>
          <p:cNvSpPr/>
          <p:nvPr/>
        </p:nvSpPr>
        <p:spPr>
          <a:xfrm>
            <a:off x="6565392" y="2779776"/>
            <a:ext cx="0" cy="109728"/>
          </a:xfrm>
          <a:prstGeom prst="line">
            <a:avLst/>
          </a:prstGeom>
          <a:noFill/>
          <a:ln w="12700">
            <a:solidFill>
              <a:srgbClr val="D5DCE6"/>
            </a:solidFill>
            <a:prstDash val="solid"/>
          </a:ln>
        </p:spPr>
        <p:txBody>
          <a:bodyPr/>
          <a:lstStyle/>
          <a:p>
            <a:endParaRPr lang="en-GB"/>
          </a:p>
        </p:txBody>
      </p:sp>
      <p:sp>
        <p:nvSpPr>
          <p:cNvPr id="21" name="Shape 19"/>
          <p:cNvSpPr/>
          <p:nvPr/>
        </p:nvSpPr>
        <p:spPr>
          <a:xfrm>
            <a:off x="7109460" y="2779776"/>
            <a:ext cx="0" cy="109728"/>
          </a:xfrm>
          <a:prstGeom prst="line">
            <a:avLst/>
          </a:prstGeom>
          <a:noFill/>
          <a:ln w="12700">
            <a:solidFill>
              <a:srgbClr val="D5DCE6"/>
            </a:solidFill>
            <a:prstDash val="solid"/>
          </a:ln>
        </p:spPr>
        <p:txBody>
          <a:bodyPr/>
          <a:lstStyle/>
          <a:p>
            <a:endParaRPr lang="en-GB"/>
          </a:p>
        </p:txBody>
      </p:sp>
      <p:sp>
        <p:nvSpPr>
          <p:cNvPr id="22" name="Shape 20"/>
          <p:cNvSpPr/>
          <p:nvPr/>
        </p:nvSpPr>
        <p:spPr>
          <a:xfrm>
            <a:off x="7653528" y="2779776"/>
            <a:ext cx="0" cy="109728"/>
          </a:xfrm>
          <a:prstGeom prst="line">
            <a:avLst/>
          </a:prstGeom>
          <a:noFill/>
          <a:ln w="12700">
            <a:solidFill>
              <a:srgbClr val="D5DCE6"/>
            </a:solidFill>
            <a:prstDash val="solid"/>
          </a:ln>
        </p:spPr>
        <p:txBody>
          <a:bodyPr/>
          <a:lstStyle/>
          <a:p>
            <a:endParaRPr lang="en-GB"/>
          </a:p>
        </p:txBody>
      </p:sp>
      <p:sp>
        <p:nvSpPr>
          <p:cNvPr id="23" name="Shape 21"/>
          <p:cNvSpPr/>
          <p:nvPr/>
        </p:nvSpPr>
        <p:spPr>
          <a:xfrm>
            <a:off x="8197596" y="2779776"/>
            <a:ext cx="0" cy="109728"/>
          </a:xfrm>
          <a:prstGeom prst="line">
            <a:avLst/>
          </a:prstGeom>
          <a:noFill/>
          <a:ln w="12700">
            <a:solidFill>
              <a:srgbClr val="D5DCE6"/>
            </a:solidFill>
            <a:prstDash val="solid"/>
          </a:ln>
        </p:spPr>
        <p:txBody>
          <a:bodyPr/>
          <a:lstStyle/>
          <a:p>
            <a:endParaRPr lang="en-GB"/>
          </a:p>
        </p:txBody>
      </p:sp>
      <p:sp>
        <p:nvSpPr>
          <p:cNvPr id="24" name="Shape 22"/>
          <p:cNvSpPr/>
          <p:nvPr/>
        </p:nvSpPr>
        <p:spPr>
          <a:xfrm>
            <a:off x="8741664" y="2779776"/>
            <a:ext cx="0" cy="109728"/>
          </a:xfrm>
          <a:prstGeom prst="line">
            <a:avLst/>
          </a:prstGeom>
          <a:noFill/>
          <a:ln w="12700">
            <a:solidFill>
              <a:srgbClr val="D5DCE6"/>
            </a:solidFill>
            <a:prstDash val="solid"/>
          </a:ln>
        </p:spPr>
        <p:txBody>
          <a:bodyPr/>
          <a:lstStyle/>
          <a:p>
            <a:endParaRPr lang="en-GB"/>
          </a:p>
        </p:txBody>
      </p:sp>
      <p:sp>
        <p:nvSpPr>
          <p:cNvPr id="25" name="Shape 23"/>
          <p:cNvSpPr/>
          <p:nvPr/>
        </p:nvSpPr>
        <p:spPr>
          <a:xfrm>
            <a:off x="9285732" y="2779776"/>
            <a:ext cx="0" cy="109728"/>
          </a:xfrm>
          <a:prstGeom prst="line">
            <a:avLst/>
          </a:prstGeom>
          <a:noFill/>
          <a:ln w="12700">
            <a:solidFill>
              <a:srgbClr val="D5DCE6"/>
            </a:solidFill>
            <a:prstDash val="solid"/>
          </a:ln>
        </p:spPr>
        <p:txBody>
          <a:bodyPr/>
          <a:lstStyle/>
          <a:p>
            <a:endParaRPr lang="en-GB"/>
          </a:p>
        </p:txBody>
      </p:sp>
      <p:sp>
        <p:nvSpPr>
          <p:cNvPr id="26" name="Shape 24"/>
          <p:cNvSpPr/>
          <p:nvPr/>
        </p:nvSpPr>
        <p:spPr>
          <a:xfrm>
            <a:off x="9829800" y="2779776"/>
            <a:ext cx="0" cy="109728"/>
          </a:xfrm>
          <a:prstGeom prst="line">
            <a:avLst/>
          </a:prstGeom>
          <a:noFill/>
          <a:ln w="12700">
            <a:solidFill>
              <a:srgbClr val="D5DCE6"/>
            </a:solidFill>
            <a:prstDash val="solid"/>
          </a:ln>
        </p:spPr>
        <p:txBody>
          <a:bodyPr/>
          <a:lstStyle/>
          <a:p>
            <a:endParaRPr lang="en-GB"/>
          </a:p>
        </p:txBody>
      </p:sp>
      <p:sp>
        <p:nvSpPr>
          <p:cNvPr id="27" name="Text 25"/>
          <p:cNvSpPr/>
          <p:nvPr/>
        </p:nvSpPr>
        <p:spPr>
          <a:xfrm>
            <a:off x="6309360" y="2862072"/>
            <a:ext cx="1645920" cy="256032"/>
          </a:xfrm>
          <a:prstGeom prst="rect">
            <a:avLst/>
          </a:prstGeom>
          <a:noFill/>
          <a:ln/>
        </p:spPr>
        <p:txBody>
          <a:bodyPr wrap="square" lIns="0" tIns="0" rIns="0" bIns="0" rtlCol="0" anchor="ctr">
            <a:normAutofit/>
          </a:bodyPr>
          <a:lstStyle/>
          <a:p>
            <a:pPr marL="0" indent="0" algn="ctr">
              <a:buNone/>
            </a:pPr>
            <a:r>
              <a:rPr lang="en-US" sz="1600" b="1" dirty="0">
                <a:solidFill>
                  <a:srgbClr val="2F80ED"/>
                </a:solidFill>
                <a:latin typeface="Aptos" pitchFamily="34" charset="0"/>
                <a:ea typeface="Aptos" pitchFamily="34" charset="-122"/>
                <a:cs typeface="Aptos" pitchFamily="34" charset="-120"/>
              </a:rPr>
              <a:t>all retained</a:t>
            </a:r>
            <a:endParaRPr lang="en-US" sz="1600" dirty="0"/>
          </a:p>
        </p:txBody>
      </p:sp>
      <p:sp>
        <p:nvSpPr>
          <p:cNvPr id="28" name="Text 26"/>
          <p:cNvSpPr/>
          <p:nvPr/>
        </p:nvSpPr>
        <p:spPr>
          <a:xfrm>
            <a:off x="1005840" y="2240280"/>
            <a:ext cx="1737360" cy="685800"/>
          </a:xfrm>
          <a:prstGeom prst="rect">
            <a:avLst/>
          </a:prstGeom>
          <a:noFill/>
          <a:ln/>
        </p:spPr>
        <p:txBody>
          <a:bodyPr wrap="square" lIns="0" tIns="0" rIns="0" bIns="0" rtlCol="0" anchor="ctr">
            <a:normAutofit/>
          </a:bodyPr>
          <a:lstStyle/>
          <a:p>
            <a:pPr marL="0" indent="0" algn="l">
              <a:buNone/>
            </a:pPr>
            <a:r>
              <a:rPr lang="en-US" sz="1350" dirty="0">
                <a:solidFill>
                  <a:srgbClr val="65758B"/>
                </a:solidFill>
                <a:latin typeface="Aptos" pitchFamily="34" charset="0"/>
                <a:ea typeface="Aptos" pitchFamily="34" charset="-122"/>
                <a:cs typeface="Aptos" pitchFamily="34" charset="-120"/>
              </a:rPr>
              <a:t>Older observations remain in the training set as new data arrive.</a:t>
            </a:r>
            <a:endParaRPr lang="en-US" sz="1350" dirty="0"/>
          </a:p>
        </p:txBody>
      </p:sp>
      <p:sp>
        <p:nvSpPr>
          <p:cNvPr id="29" name="Text 27"/>
          <p:cNvSpPr/>
          <p:nvPr/>
        </p:nvSpPr>
        <p:spPr>
          <a:xfrm>
            <a:off x="1005840" y="4050792"/>
            <a:ext cx="3474720" cy="347472"/>
          </a:xfrm>
          <a:prstGeom prst="rect">
            <a:avLst/>
          </a:prstGeom>
          <a:noFill/>
          <a:ln/>
        </p:spPr>
        <p:txBody>
          <a:bodyPr wrap="square" lIns="0" tIns="0" rIns="0" bIns="0" rtlCol="0" anchor="ctr">
            <a:normAutofit fontScale="85000" lnSpcReduction="10000"/>
          </a:bodyPr>
          <a:lstStyle/>
          <a:p>
            <a:pPr marL="0" indent="0" algn="l">
              <a:buNone/>
            </a:pPr>
            <a:r>
              <a:rPr lang="en-US" sz="2000" b="1" dirty="0">
                <a:solidFill>
                  <a:srgbClr val="1D3557"/>
                </a:solidFill>
                <a:latin typeface="Aptos" pitchFamily="34" charset="0"/>
                <a:ea typeface="Aptos" pitchFamily="34" charset="-122"/>
                <a:cs typeface="Aptos" pitchFamily="34" charset="-120"/>
              </a:rPr>
              <a:t>Sliding or recency-focused window</a:t>
            </a:r>
            <a:endParaRPr lang="en-US" sz="2000" dirty="0"/>
          </a:p>
        </p:txBody>
      </p:sp>
      <p:sp>
        <p:nvSpPr>
          <p:cNvPr id="30" name="Text 28"/>
          <p:cNvSpPr/>
          <p:nvPr/>
        </p:nvSpPr>
        <p:spPr>
          <a:xfrm>
            <a:off x="4526280" y="3986784"/>
            <a:ext cx="1371600" cy="237744"/>
          </a:xfrm>
          <a:prstGeom prst="rect">
            <a:avLst/>
          </a:prstGeom>
          <a:noFill/>
          <a:ln/>
        </p:spPr>
        <p:txBody>
          <a:bodyPr wrap="square" lIns="0" tIns="0" rIns="0" bIns="0" rtlCol="0" anchor="ctr">
            <a:normAutofit/>
          </a:bodyPr>
          <a:lstStyle/>
          <a:p>
            <a:pPr marL="0" indent="0" algn="ctr">
              <a:buNone/>
            </a:pPr>
            <a:r>
              <a:rPr lang="en-US" sz="1200" dirty="0">
                <a:solidFill>
                  <a:srgbClr val="65758B"/>
                </a:solidFill>
                <a:latin typeface="Aptos" pitchFamily="34" charset="0"/>
                <a:ea typeface="Aptos" pitchFamily="34" charset="-122"/>
                <a:cs typeface="Aptos" pitchFamily="34" charset="-120"/>
              </a:rPr>
              <a:t>old observations</a:t>
            </a:r>
            <a:endParaRPr lang="en-US" sz="1200" dirty="0"/>
          </a:p>
        </p:txBody>
      </p:sp>
      <p:sp>
        <p:nvSpPr>
          <p:cNvPr id="31" name="Text 29"/>
          <p:cNvSpPr/>
          <p:nvPr/>
        </p:nvSpPr>
        <p:spPr>
          <a:xfrm>
            <a:off x="8595360" y="3986784"/>
            <a:ext cx="1645920" cy="237744"/>
          </a:xfrm>
          <a:prstGeom prst="rect">
            <a:avLst/>
          </a:prstGeom>
          <a:noFill/>
          <a:ln/>
        </p:spPr>
        <p:txBody>
          <a:bodyPr wrap="square" lIns="0" tIns="0" rIns="0" bIns="0" rtlCol="0" anchor="ctr">
            <a:normAutofit/>
          </a:bodyPr>
          <a:lstStyle/>
          <a:p>
            <a:pPr marL="0" indent="0" algn="ctr">
              <a:buNone/>
            </a:pPr>
            <a:r>
              <a:rPr lang="en-US" sz="1200" dirty="0">
                <a:solidFill>
                  <a:srgbClr val="65758B"/>
                </a:solidFill>
                <a:latin typeface="Aptos" pitchFamily="34" charset="0"/>
                <a:ea typeface="Aptos" pitchFamily="34" charset="-122"/>
                <a:cs typeface="Aptos" pitchFamily="34" charset="-120"/>
              </a:rPr>
              <a:t>recent observations</a:t>
            </a:r>
            <a:endParaRPr lang="en-US" sz="1200" dirty="0"/>
          </a:p>
        </p:txBody>
      </p:sp>
      <p:sp>
        <p:nvSpPr>
          <p:cNvPr id="32" name="Shape 30"/>
          <p:cNvSpPr/>
          <p:nvPr/>
        </p:nvSpPr>
        <p:spPr>
          <a:xfrm>
            <a:off x="4297680" y="4343400"/>
            <a:ext cx="5715000" cy="0"/>
          </a:xfrm>
          <a:prstGeom prst="line">
            <a:avLst/>
          </a:prstGeom>
          <a:noFill/>
          <a:ln w="15240">
            <a:solidFill>
              <a:srgbClr val="65758B"/>
            </a:solidFill>
            <a:prstDash val="solid"/>
            <a:headEnd type="none"/>
            <a:tailEnd type="triangle"/>
          </a:ln>
        </p:spPr>
        <p:txBody>
          <a:bodyPr/>
          <a:lstStyle/>
          <a:p>
            <a:endParaRPr lang="en-GB"/>
          </a:p>
        </p:txBody>
      </p:sp>
      <p:sp>
        <p:nvSpPr>
          <p:cNvPr id="33" name="Text 31"/>
          <p:cNvSpPr/>
          <p:nvPr/>
        </p:nvSpPr>
        <p:spPr>
          <a:xfrm>
            <a:off x="10085832" y="4233672"/>
            <a:ext cx="457200" cy="201168"/>
          </a:xfrm>
          <a:prstGeom prst="rect">
            <a:avLst/>
          </a:prstGeom>
          <a:noFill/>
          <a:ln/>
        </p:spPr>
        <p:txBody>
          <a:bodyPr wrap="square" lIns="0" tIns="0" rIns="0" bIns="0" rtlCol="0" anchor="ctr">
            <a:normAutofit/>
          </a:bodyPr>
          <a:lstStyle/>
          <a:p>
            <a:pPr marL="0" indent="0" algn="l">
              <a:buNone/>
            </a:pPr>
            <a:r>
              <a:rPr lang="en-US" sz="1200" dirty="0">
                <a:solidFill>
                  <a:srgbClr val="65758B"/>
                </a:solidFill>
                <a:latin typeface="Aptos" pitchFamily="34" charset="0"/>
                <a:ea typeface="Aptos" pitchFamily="34" charset="-122"/>
                <a:cs typeface="Aptos" pitchFamily="34" charset="-120"/>
              </a:rPr>
              <a:t>time</a:t>
            </a:r>
            <a:endParaRPr lang="en-US" sz="1200" dirty="0"/>
          </a:p>
        </p:txBody>
      </p:sp>
      <p:sp>
        <p:nvSpPr>
          <p:cNvPr id="34" name="Shape 32"/>
          <p:cNvSpPr/>
          <p:nvPr/>
        </p:nvSpPr>
        <p:spPr>
          <a:xfrm>
            <a:off x="4389120" y="4681728"/>
            <a:ext cx="3155594" cy="502920"/>
          </a:xfrm>
          <a:prstGeom prst="rect">
            <a:avLst/>
          </a:prstGeom>
          <a:solidFill>
            <a:srgbClr val="EEF1F5"/>
          </a:solidFill>
          <a:ln w="13970">
            <a:solidFill>
              <a:srgbClr val="B8C0CC"/>
            </a:solidFill>
            <a:prstDash val="solid"/>
          </a:ln>
        </p:spPr>
        <p:txBody>
          <a:bodyPr/>
          <a:lstStyle/>
          <a:p>
            <a:endParaRPr lang="en-GB"/>
          </a:p>
        </p:txBody>
      </p:sp>
      <p:sp>
        <p:nvSpPr>
          <p:cNvPr id="35" name="Shape 33"/>
          <p:cNvSpPr/>
          <p:nvPr/>
        </p:nvSpPr>
        <p:spPr>
          <a:xfrm>
            <a:off x="7544714" y="4681728"/>
            <a:ext cx="2285086" cy="502920"/>
          </a:xfrm>
          <a:prstGeom prst="rect">
            <a:avLst/>
          </a:prstGeom>
          <a:solidFill>
            <a:srgbClr val="2F80ED"/>
          </a:solidFill>
          <a:ln w="13970">
            <a:solidFill>
              <a:srgbClr val="2F80ED"/>
            </a:solidFill>
            <a:prstDash val="solid"/>
          </a:ln>
        </p:spPr>
        <p:txBody>
          <a:bodyPr/>
          <a:lstStyle/>
          <a:p>
            <a:endParaRPr lang="en-GB"/>
          </a:p>
        </p:txBody>
      </p:sp>
      <p:sp>
        <p:nvSpPr>
          <p:cNvPr id="36" name="Shape 34"/>
          <p:cNvSpPr/>
          <p:nvPr/>
        </p:nvSpPr>
        <p:spPr>
          <a:xfrm>
            <a:off x="4389120" y="5248656"/>
            <a:ext cx="0" cy="109728"/>
          </a:xfrm>
          <a:prstGeom prst="line">
            <a:avLst/>
          </a:prstGeom>
          <a:noFill/>
          <a:ln w="12700">
            <a:solidFill>
              <a:srgbClr val="D5DCE6"/>
            </a:solidFill>
            <a:prstDash val="solid"/>
          </a:ln>
        </p:spPr>
        <p:txBody>
          <a:bodyPr/>
          <a:lstStyle/>
          <a:p>
            <a:endParaRPr lang="en-GB"/>
          </a:p>
        </p:txBody>
      </p:sp>
      <p:sp>
        <p:nvSpPr>
          <p:cNvPr id="37" name="Shape 35"/>
          <p:cNvSpPr/>
          <p:nvPr/>
        </p:nvSpPr>
        <p:spPr>
          <a:xfrm>
            <a:off x="4933188" y="5248656"/>
            <a:ext cx="0" cy="109728"/>
          </a:xfrm>
          <a:prstGeom prst="line">
            <a:avLst/>
          </a:prstGeom>
          <a:noFill/>
          <a:ln w="12700">
            <a:solidFill>
              <a:srgbClr val="D5DCE6"/>
            </a:solidFill>
            <a:prstDash val="solid"/>
          </a:ln>
        </p:spPr>
        <p:txBody>
          <a:bodyPr/>
          <a:lstStyle/>
          <a:p>
            <a:endParaRPr lang="en-GB"/>
          </a:p>
        </p:txBody>
      </p:sp>
      <p:sp>
        <p:nvSpPr>
          <p:cNvPr id="38" name="Shape 36"/>
          <p:cNvSpPr/>
          <p:nvPr/>
        </p:nvSpPr>
        <p:spPr>
          <a:xfrm>
            <a:off x="5477256" y="5248656"/>
            <a:ext cx="0" cy="109728"/>
          </a:xfrm>
          <a:prstGeom prst="line">
            <a:avLst/>
          </a:prstGeom>
          <a:noFill/>
          <a:ln w="12700">
            <a:solidFill>
              <a:srgbClr val="D5DCE6"/>
            </a:solidFill>
            <a:prstDash val="solid"/>
          </a:ln>
        </p:spPr>
        <p:txBody>
          <a:bodyPr/>
          <a:lstStyle/>
          <a:p>
            <a:endParaRPr lang="en-GB"/>
          </a:p>
        </p:txBody>
      </p:sp>
      <p:sp>
        <p:nvSpPr>
          <p:cNvPr id="39" name="Shape 37"/>
          <p:cNvSpPr/>
          <p:nvPr/>
        </p:nvSpPr>
        <p:spPr>
          <a:xfrm>
            <a:off x="6021324" y="5248656"/>
            <a:ext cx="0" cy="109728"/>
          </a:xfrm>
          <a:prstGeom prst="line">
            <a:avLst/>
          </a:prstGeom>
          <a:noFill/>
          <a:ln w="12700">
            <a:solidFill>
              <a:srgbClr val="D5DCE6"/>
            </a:solidFill>
            <a:prstDash val="solid"/>
          </a:ln>
        </p:spPr>
        <p:txBody>
          <a:bodyPr/>
          <a:lstStyle/>
          <a:p>
            <a:endParaRPr lang="en-GB"/>
          </a:p>
        </p:txBody>
      </p:sp>
      <p:sp>
        <p:nvSpPr>
          <p:cNvPr id="40" name="Shape 38"/>
          <p:cNvSpPr/>
          <p:nvPr/>
        </p:nvSpPr>
        <p:spPr>
          <a:xfrm>
            <a:off x="6565392" y="5248656"/>
            <a:ext cx="0" cy="109728"/>
          </a:xfrm>
          <a:prstGeom prst="line">
            <a:avLst/>
          </a:prstGeom>
          <a:noFill/>
          <a:ln w="12700">
            <a:solidFill>
              <a:srgbClr val="D5DCE6"/>
            </a:solidFill>
            <a:prstDash val="solid"/>
          </a:ln>
        </p:spPr>
        <p:txBody>
          <a:bodyPr/>
          <a:lstStyle/>
          <a:p>
            <a:endParaRPr lang="en-GB"/>
          </a:p>
        </p:txBody>
      </p:sp>
      <p:sp>
        <p:nvSpPr>
          <p:cNvPr id="41" name="Shape 39"/>
          <p:cNvSpPr/>
          <p:nvPr/>
        </p:nvSpPr>
        <p:spPr>
          <a:xfrm>
            <a:off x="7109460" y="5248656"/>
            <a:ext cx="0" cy="109728"/>
          </a:xfrm>
          <a:prstGeom prst="line">
            <a:avLst/>
          </a:prstGeom>
          <a:noFill/>
          <a:ln w="12700">
            <a:solidFill>
              <a:srgbClr val="D5DCE6"/>
            </a:solidFill>
            <a:prstDash val="solid"/>
          </a:ln>
        </p:spPr>
        <p:txBody>
          <a:bodyPr/>
          <a:lstStyle/>
          <a:p>
            <a:endParaRPr lang="en-GB"/>
          </a:p>
        </p:txBody>
      </p:sp>
      <p:sp>
        <p:nvSpPr>
          <p:cNvPr id="42" name="Shape 40"/>
          <p:cNvSpPr/>
          <p:nvPr/>
        </p:nvSpPr>
        <p:spPr>
          <a:xfrm>
            <a:off x="7653528" y="5248656"/>
            <a:ext cx="0" cy="109728"/>
          </a:xfrm>
          <a:prstGeom prst="line">
            <a:avLst/>
          </a:prstGeom>
          <a:noFill/>
          <a:ln w="12700">
            <a:solidFill>
              <a:srgbClr val="D5DCE6"/>
            </a:solidFill>
            <a:prstDash val="solid"/>
          </a:ln>
        </p:spPr>
        <p:txBody>
          <a:bodyPr/>
          <a:lstStyle/>
          <a:p>
            <a:endParaRPr lang="en-GB"/>
          </a:p>
        </p:txBody>
      </p:sp>
      <p:sp>
        <p:nvSpPr>
          <p:cNvPr id="43" name="Shape 41"/>
          <p:cNvSpPr/>
          <p:nvPr/>
        </p:nvSpPr>
        <p:spPr>
          <a:xfrm>
            <a:off x="8197596" y="5248656"/>
            <a:ext cx="0" cy="109728"/>
          </a:xfrm>
          <a:prstGeom prst="line">
            <a:avLst/>
          </a:prstGeom>
          <a:noFill/>
          <a:ln w="12700">
            <a:solidFill>
              <a:srgbClr val="D5DCE6"/>
            </a:solidFill>
            <a:prstDash val="solid"/>
          </a:ln>
        </p:spPr>
        <p:txBody>
          <a:bodyPr/>
          <a:lstStyle/>
          <a:p>
            <a:endParaRPr lang="en-GB"/>
          </a:p>
        </p:txBody>
      </p:sp>
      <p:sp>
        <p:nvSpPr>
          <p:cNvPr id="44" name="Shape 42"/>
          <p:cNvSpPr/>
          <p:nvPr/>
        </p:nvSpPr>
        <p:spPr>
          <a:xfrm>
            <a:off x="8741664" y="5248656"/>
            <a:ext cx="0" cy="109728"/>
          </a:xfrm>
          <a:prstGeom prst="line">
            <a:avLst/>
          </a:prstGeom>
          <a:noFill/>
          <a:ln w="12700">
            <a:solidFill>
              <a:srgbClr val="D5DCE6"/>
            </a:solidFill>
            <a:prstDash val="solid"/>
          </a:ln>
        </p:spPr>
        <p:txBody>
          <a:bodyPr/>
          <a:lstStyle/>
          <a:p>
            <a:endParaRPr lang="en-GB"/>
          </a:p>
        </p:txBody>
      </p:sp>
      <p:sp>
        <p:nvSpPr>
          <p:cNvPr id="45" name="Shape 43"/>
          <p:cNvSpPr/>
          <p:nvPr/>
        </p:nvSpPr>
        <p:spPr>
          <a:xfrm>
            <a:off x="9285732" y="5248656"/>
            <a:ext cx="0" cy="109728"/>
          </a:xfrm>
          <a:prstGeom prst="line">
            <a:avLst/>
          </a:prstGeom>
          <a:noFill/>
          <a:ln w="12700">
            <a:solidFill>
              <a:srgbClr val="D5DCE6"/>
            </a:solidFill>
            <a:prstDash val="solid"/>
          </a:ln>
        </p:spPr>
        <p:txBody>
          <a:bodyPr/>
          <a:lstStyle/>
          <a:p>
            <a:endParaRPr lang="en-GB"/>
          </a:p>
        </p:txBody>
      </p:sp>
      <p:sp>
        <p:nvSpPr>
          <p:cNvPr id="46" name="Shape 44"/>
          <p:cNvSpPr/>
          <p:nvPr/>
        </p:nvSpPr>
        <p:spPr>
          <a:xfrm>
            <a:off x="9829800" y="5248656"/>
            <a:ext cx="0" cy="109728"/>
          </a:xfrm>
          <a:prstGeom prst="line">
            <a:avLst/>
          </a:prstGeom>
          <a:noFill/>
          <a:ln w="12700">
            <a:solidFill>
              <a:srgbClr val="D5DCE6"/>
            </a:solidFill>
            <a:prstDash val="solid"/>
          </a:ln>
        </p:spPr>
        <p:txBody>
          <a:bodyPr/>
          <a:lstStyle/>
          <a:p>
            <a:endParaRPr lang="en-GB"/>
          </a:p>
        </p:txBody>
      </p:sp>
      <p:sp>
        <p:nvSpPr>
          <p:cNvPr id="47" name="Text 45"/>
          <p:cNvSpPr/>
          <p:nvPr/>
        </p:nvSpPr>
        <p:spPr>
          <a:xfrm>
            <a:off x="5349240" y="5330952"/>
            <a:ext cx="1280160" cy="256032"/>
          </a:xfrm>
          <a:prstGeom prst="rect">
            <a:avLst/>
          </a:prstGeom>
          <a:noFill/>
          <a:ln/>
        </p:spPr>
        <p:txBody>
          <a:bodyPr wrap="square" lIns="0" tIns="0" rIns="0" bIns="0" rtlCol="0" anchor="ctr">
            <a:normAutofit/>
          </a:bodyPr>
          <a:lstStyle/>
          <a:p>
            <a:pPr marL="0" indent="0" algn="ctr">
              <a:buNone/>
            </a:pPr>
            <a:r>
              <a:rPr lang="en-US" sz="1600" b="1" dirty="0">
                <a:solidFill>
                  <a:srgbClr val="65758B"/>
                </a:solidFill>
                <a:latin typeface="Aptos" pitchFamily="34" charset="0"/>
                <a:ea typeface="Aptos" pitchFamily="34" charset="-122"/>
                <a:cs typeface="Aptos" pitchFamily="34" charset="-120"/>
              </a:rPr>
              <a:t>discarded</a:t>
            </a:r>
            <a:endParaRPr lang="en-US" sz="1600" dirty="0"/>
          </a:p>
        </p:txBody>
      </p:sp>
      <p:sp>
        <p:nvSpPr>
          <p:cNvPr id="48" name="Text 46"/>
          <p:cNvSpPr/>
          <p:nvPr/>
        </p:nvSpPr>
        <p:spPr>
          <a:xfrm>
            <a:off x="8138160" y="5330952"/>
            <a:ext cx="1234440" cy="256032"/>
          </a:xfrm>
          <a:prstGeom prst="rect">
            <a:avLst/>
          </a:prstGeom>
          <a:noFill/>
          <a:ln/>
        </p:spPr>
        <p:txBody>
          <a:bodyPr wrap="square" lIns="0" tIns="0" rIns="0" bIns="0" rtlCol="0" anchor="ctr">
            <a:normAutofit/>
          </a:bodyPr>
          <a:lstStyle/>
          <a:p>
            <a:pPr marL="0" indent="0" algn="ctr">
              <a:buNone/>
            </a:pPr>
            <a:r>
              <a:rPr lang="en-US" sz="1600" b="1" dirty="0">
                <a:solidFill>
                  <a:srgbClr val="2F80ED"/>
                </a:solidFill>
                <a:latin typeface="Aptos" pitchFamily="34" charset="0"/>
                <a:ea typeface="Aptos" pitchFamily="34" charset="-122"/>
                <a:cs typeface="Aptos" pitchFamily="34" charset="-120"/>
              </a:rPr>
              <a:t>retained</a:t>
            </a:r>
            <a:endParaRPr lang="en-US" sz="1600" dirty="0"/>
          </a:p>
        </p:txBody>
      </p:sp>
      <p:sp>
        <p:nvSpPr>
          <p:cNvPr id="49" name="Text 47"/>
          <p:cNvSpPr/>
          <p:nvPr/>
        </p:nvSpPr>
        <p:spPr>
          <a:xfrm>
            <a:off x="1005840" y="4645152"/>
            <a:ext cx="1737360" cy="685800"/>
          </a:xfrm>
          <a:prstGeom prst="rect">
            <a:avLst/>
          </a:prstGeom>
          <a:noFill/>
          <a:ln/>
        </p:spPr>
        <p:txBody>
          <a:bodyPr wrap="square" lIns="0" tIns="0" rIns="0" bIns="0" rtlCol="0" anchor="ctr">
            <a:normAutofit fontScale="92500"/>
          </a:bodyPr>
          <a:lstStyle/>
          <a:p>
            <a:pPr marL="0" indent="0" algn="l">
              <a:buNone/>
            </a:pPr>
            <a:r>
              <a:rPr lang="en-US" sz="1350" dirty="0">
                <a:solidFill>
                  <a:srgbClr val="65758B"/>
                </a:solidFill>
                <a:latin typeface="Aptos" pitchFamily="34" charset="0"/>
                <a:ea typeface="Aptos" pitchFamily="34" charset="-122"/>
                <a:cs typeface="Aptos" pitchFamily="34" charset="-120"/>
              </a:rPr>
              <a:t>Only recent observations are used, or they receive much larger weight.</a:t>
            </a:r>
            <a:endParaRPr lang="en-US" sz="1350" dirty="0"/>
          </a:p>
        </p:txBody>
      </p:sp>
      <p:sp>
        <p:nvSpPr>
          <p:cNvPr id="50" name="Text 48"/>
          <p:cNvSpPr/>
          <p:nvPr/>
        </p:nvSpPr>
        <p:spPr>
          <a:xfrm>
            <a:off x="713232" y="6236208"/>
            <a:ext cx="10789920" cy="228600"/>
          </a:xfrm>
          <a:prstGeom prst="rect">
            <a:avLst/>
          </a:prstGeom>
          <a:noFill/>
          <a:ln/>
        </p:spPr>
        <p:txBody>
          <a:bodyPr wrap="square" lIns="0" tIns="0" rIns="0" bIns="0" rtlCol="0" anchor="ctr">
            <a:normAutofit/>
          </a:bodyPr>
          <a:lstStyle/>
          <a:p>
            <a:pPr marL="0" indent="0" algn="ctr">
              <a:buNone/>
            </a:pPr>
            <a:r>
              <a:rPr lang="en-US" sz="1250" dirty="0">
                <a:solidFill>
                  <a:srgbClr val="65758B"/>
                </a:solidFill>
                <a:latin typeface="Aptos" pitchFamily="34" charset="0"/>
                <a:ea typeface="Aptos" pitchFamily="34" charset="-122"/>
                <a:cs typeface="Aptos" pitchFamily="34" charset="-120"/>
              </a:rPr>
              <a:t>The split is temporal; the weighting profile defines how much historical data influences the fitted model.</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4B7FBA9-C3CB-884F-73B5-43A37D42F612}"/>
              </a:ext>
            </a:extLst>
          </p:cNvPr>
          <p:cNvSpPr>
            <a:spLocks noGrp="1"/>
          </p:cNvSpPr>
          <p:nvPr>
            <p:ph type="title"/>
          </p:nvPr>
        </p:nvSpPr>
        <p:spPr/>
        <p:txBody>
          <a:bodyPr/>
          <a:lstStyle/>
          <a:p>
            <a:r>
              <a:rPr lang="en-GB" dirty="0"/>
              <a:t>Choosing temporal interval lengths</a:t>
            </a:r>
          </a:p>
        </p:txBody>
      </p:sp>
      <p:sp>
        <p:nvSpPr>
          <p:cNvPr id="3" name="Segnaposto contenuto 2">
            <a:extLst>
              <a:ext uri="{FF2B5EF4-FFF2-40B4-BE49-F238E27FC236}">
                <a16:creationId xmlns:a16="http://schemas.microsoft.com/office/drawing/2014/main" id="{25B6C7FC-CF18-96D8-817F-8D4EBFF95B04}"/>
              </a:ext>
            </a:extLst>
          </p:cNvPr>
          <p:cNvSpPr>
            <a:spLocks noGrp="1"/>
          </p:cNvSpPr>
          <p:nvPr>
            <p:ph idx="1"/>
          </p:nvPr>
        </p:nvSpPr>
        <p:spPr/>
        <p:txBody>
          <a:bodyPr>
            <a:normAutofit fontScale="77500" lnSpcReduction="20000"/>
          </a:bodyPr>
          <a:lstStyle/>
          <a:p>
            <a:r>
              <a:rPr lang="en-GB" b="1" dirty="0"/>
              <a:t>Training length</a:t>
            </a:r>
          </a:p>
          <a:p>
            <a:r>
              <a:rPr lang="en-GB" dirty="0"/>
              <a:t>Should provide enough data to represent:</a:t>
            </a:r>
          </a:p>
          <a:p>
            <a:pPr lvl="1"/>
            <a:r>
              <a:rPr lang="en-GB" dirty="0"/>
              <a:t>seasonal cycles;</a:t>
            </a:r>
          </a:p>
          <a:p>
            <a:pPr lvl="1"/>
            <a:r>
              <a:rPr lang="en-GB" dirty="0"/>
              <a:t>operating modes;</a:t>
            </a:r>
          </a:p>
          <a:p>
            <a:pPr lvl="1"/>
            <a:r>
              <a:rPr lang="en-GB" dirty="0"/>
              <a:t>relevant events;</a:t>
            </a:r>
          </a:p>
          <a:p>
            <a:pPr lvl="1"/>
            <a:r>
              <a:rPr lang="en-GB" dirty="0"/>
              <a:t>entity variability;</a:t>
            </a:r>
          </a:p>
          <a:p>
            <a:pPr lvl="1"/>
            <a:r>
              <a:rPr lang="en-GB" dirty="0"/>
              <a:t>feature distributions.</a:t>
            </a:r>
          </a:p>
          <a:p>
            <a:r>
              <a:rPr lang="en-GB" b="1" dirty="0"/>
              <a:t>Validation length</a:t>
            </a:r>
          </a:p>
          <a:p>
            <a:r>
              <a:rPr lang="en-GB" dirty="0"/>
              <a:t>Should be long enough to support stable model comparison.</a:t>
            </a:r>
          </a:p>
          <a:p>
            <a:r>
              <a:rPr lang="en-GB" dirty="0"/>
              <a:t>It should ideally contain:</a:t>
            </a:r>
          </a:p>
          <a:p>
            <a:pPr lvl="1"/>
            <a:r>
              <a:rPr lang="en-GB" dirty="0"/>
              <a:t>relevant seasons;</a:t>
            </a:r>
          </a:p>
          <a:p>
            <a:pPr lvl="1"/>
            <a:r>
              <a:rPr lang="en-GB" dirty="0"/>
              <a:t>typical and difficult conditions;</a:t>
            </a:r>
          </a:p>
          <a:p>
            <a:pPr lvl="1"/>
            <a:r>
              <a:rPr lang="en-GB" dirty="0"/>
              <a:t>enough events for meaningful metrics.</a:t>
            </a:r>
          </a:p>
          <a:p>
            <a:endParaRPr lang="en-GB" dirty="0"/>
          </a:p>
        </p:txBody>
      </p:sp>
      <p:sp>
        <p:nvSpPr>
          <p:cNvPr id="5" name="CasellaDiTesto 4">
            <a:extLst>
              <a:ext uri="{FF2B5EF4-FFF2-40B4-BE49-F238E27FC236}">
                <a16:creationId xmlns:a16="http://schemas.microsoft.com/office/drawing/2014/main" id="{55E1FA95-ED59-ECA9-B327-D6DD8CF9E70A}"/>
              </a:ext>
            </a:extLst>
          </p:cNvPr>
          <p:cNvSpPr txBox="1"/>
          <p:nvPr/>
        </p:nvSpPr>
        <p:spPr>
          <a:xfrm>
            <a:off x="4696428" y="1399163"/>
            <a:ext cx="5199926" cy="646331"/>
          </a:xfrm>
          <a:prstGeom prst="rect">
            <a:avLst/>
          </a:prstGeom>
          <a:noFill/>
        </p:spPr>
        <p:txBody>
          <a:bodyPr wrap="square">
            <a:spAutoFit/>
          </a:bodyPr>
          <a:lstStyle/>
          <a:p>
            <a:r>
              <a:rPr lang="en-GB" sz="1800" dirty="0"/>
              <a:t>A chronological split is not completely specified until interval lengths are defined.</a:t>
            </a:r>
          </a:p>
        </p:txBody>
      </p:sp>
    </p:spTree>
    <p:extLst>
      <p:ext uri="{BB962C8B-B14F-4D97-AF65-F5344CB8AC3E}">
        <p14:creationId xmlns:p14="http://schemas.microsoft.com/office/powerpoint/2010/main" val="9464561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F7A6CB-1B18-C757-BF7F-9BFA0CF60305}"/>
              </a:ext>
            </a:extLst>
          </p:cNvPr>
          <p:cNvSpPr>
            <a:spLocks noGrp="1"/>
          </p:cNvSpPr>
          <p:nvPr>
            <p:ph type="title"/>
          </p:nvPr>
        </p:nvSpPr>
        <p:spPr/>
        <p:txBody>
          <a:bodyPr/>
          <a:lstStyle/>
          <a:p>
            <a:r>
              <a:rPr lang="en-GB" dirty="0">
                <a:highlight>
                  <a:srgbClr val="FFFF00"/>
                </a:highlight>
              </a:rPr>
              <a:t>Choosing temporal interval lengths</a:t>
            </a:r>
          </a:p>
        </p:txBody>
      </p:sp>
      <p:sp>
        <p:nvSpPr>
          <p:cNvPr id="3" name="Segnaposto contenuto 2">
            <a:extLst>
              <a:ext uri="{FF2B5EF4-FFF2-40B4-BE49-F238E27FC236}">
                <a16:creationId xmlns:a16="http://schemas.microsoft.com/office/drawing/2014/main" id="{FA2FDDCC-D6D2-843F-A194-703E481E978A}"/>
              </a:ext>
            </a:extLst>
          </p:cNvPr>
          <p:cNvSpPr>
            <a:spLocks noGrp="1"/>
          </p:cNvSpPr>
          <p:nvPr>
            <p:ph idx="1"/>
          </p:nvPr>
        </p:nvSpPr>
        <p:spPr/>
        <p:txBody>
          <a:bodyPr>
            <a:normAutofit fontScale="85000" lnSpcReduction="20000"/>
          </a:bodyPr>
          <a:lstStyle/>
          <a:p>
            <a:r>
              <a:rPr lang="en-GB" b="1" dirty="0"/>
              <a:t>Test length</a:t>
            </a:r>
          </a:p>
          <a:p>
            <a:pPr lvl="1"/>
            <a:r>
              <a:rPr lang="en-GB" dirty="0"/>
              <a:t>Should support a credible final assessment.</a:t>
            </a:r>
          </a:p>
          <a:p>
            <a:pPr lvl="1"/>
            <a:r>
              <a:rPr lang="en-GB" dirty="0"/>
              <a:t>A very short test interval may produce highly variable estimates.</a:t>
            </a:r>
          </a:p>
          <a:p>
            <a:r>
              <a:rPr lang="en-GB" b="1" dirty="0"/>
              <a:t>Forecast horizon</a:t>
            </a:r>
          </a:p>
          <a:p>
            <a:pPr lvl="1"/>
            <a:r>
              <a:rPr lang="en-GB" dirty="0"/>
              <a:t>The test design should include all target observations required by the horizon.</a:t>
            </a:r>
          </a:p>
          <a:p>
            <a:pPr lvl="1"/>
            <a:r>
              <a:rPr lang="en-GB" dirty="0"/>
              <a:t>For a forecast horizon of H steps, an input window ending near the dataset boundary may not have a complete target.</a:t>
            </a:r>
          </a:p>
          <a:p>
            <a:endParaRPr lang="en-GB" b="1" dirty="0"/>
          </a:p>
          <a:p>
            <a:r>
              <a:rPr lang="en-GB" b="1" dirty="0"/>
              <a:t>Example</a:t>
            </a:r>
          </a:p>
          <a:p>
            <a:r>
              <a:rPr lang="en-GB" dirty="0"/>
              <a:t>For daily demand with annual seasonality:</a:t>
            </a:r>
          </a:p>
          <a:p>
            <a:pPr lvl="1"/>
            <a:r>
              <a:rPr lang="en-GB" dirty="0"/>
              <a:t>a training set shorter than one year cannot show a complete annual cycle;</a:t>
            </a:r>
          </a:p>
          <a:p>
            <a:pPr lvl="1"/>
            <a:r>
              <a:rPr lang="en-GB" dirty="0"/>
              <a:t>a validation set containing only one month may not assess seasonal robustness;</a:t>
            </a:r>
          </a:p>
          <a:p>
            <a:pPr lvl="1"/>
            <a:r>
              <a:rPr lang="en-GB" dirty="0"/>
              <a:t>a test set from one mild month may not represent peak-demand periods.</a:t>
            </a:r>
          </a:p>
          <a:p>
            <a:endParaRPr lang="en-GB" dirty="0"/>
          </a:p>
          <a:p>
            <a:endParaRPr lang="en-GB" dirty="0"/>
          </a:p>
        </p:txBody>
      </p:sp>
      <p:sp>
        <p:nvSpPr>
          <p:cNvPr id="5" name="CasellaDiTesto 4">
            <a:extLst>
              <a:ext uri="{FF2B5EF4-FFF2-40B4-BE49-F238E27FC236}">
                <a16:creationId xmlns:a16="http://schemas.microsoft.com/office/drawing/2014/main" id="{DA151D5A-6761-FFEA-C968-B48577FB1EC1}"/>
              </a:ext>
            </a:extLst>
          </p:cNvPr>
          <p:cNvSpPr txBox="1"/>
          <p:nvPr/>
        </p:nvSpPr>
        <p:spPr>
          <a:xfrm>
            <a:off x="6782765" y="5934670"/>
            <a:ext cx="5324140" cy="923330"/>
          </a:xfrm>
          <a:prstGeom prst="rect">
            <a:avLst/>
          </a:prstGeom>
          <a:noFill/>
        </p:spPr>
        <p:txBody>
          <a:bodyPr wrap="square">
            <a:spAutoFit/>
          </a:bodyPr>
          <a:lstStyle/>
          <a:p>
            <a:r>
              <a:rPr lang="en-GB" sz="1800" b="1" dirty="0"/>
              <a:t>Interval lengths should be selected using temporal and operational reasoning, not only desired train/validation/test percentages.</a:t>
            </a:r>
          </a:p>
        </p:txBody>
      </p:sp>
    </p:spTree>
    <p:extLst>
      <p:ext uri="{BB962C8B-B14F-4D97-AF65-F5344CB8AC3E}">
        <p14:creationId xmlns:p14="http://schemas.microsoft.com/office/powerpoint/2010/main" val="10596978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AF3F40-817B-0414-CC48-7F58F52D1EB2}"/>
              </a:ext>
            </a:extLst>
          </p:cNvPr>
          <p:cNvSpPr>
            <a:spLocks noGrp="1"/>
          </p:cNvSpPr>
          <p:nvPr>
            <p:ph type="title"/>
          </p:nvPr>
        </p:nvSpPr>
        <p:spPr/>
        <p:txBody>
          <a:bodyPr/>
          <a:lstStyle/>
          <a:p>
            <a:r>
              <a:rPr lang="en-GB" dirty="0"/>
              <a:t>Percentage splits are not sufficient descriptions</a:t>
            </a:r>
          </a:p>
        </p:txBody>
      </p:sp>
      <p:sp>
        <p:nvSpPr>
          <p:cNvPr id="3" name="Segnaposto contenuto 2">
            <a:extLst>
              <a:ext uri="{FF2B5EF4-FFF2-40B4-BE49-F238E27FC236}">
                <a16:creationId xmlns:a16="http://schemas.microsoft.com/office/drawing/2014/main" id="{86340C9A-7ED8-B696-DCB9-6E0FC1C30F23}"/>
              </a:ext>
            </a:extLst>
          </p:cNvPr>
          <p:cNvSpPr>
            <a:spLocks noGrp="1"/>
          </p:cNvSpPr>
          <p:nvPr>
            <p:ph idx="1"/>
          </p:nvPr>
        </p:nvSpPr>
        <p:spPr/>
        <p:txBody>
          <a:bodyPr>
            <a:normAutofit fontScale="70000" lnSpcReduction="20000"/>
          </a:bodyPr>
          <a:lstStyle/>
          <a:p>
            <a:r>
              <a:rPr lang="en-GB" dirty="0"/>
              <a:t>Statements such as:</a:t>
            </a:r>
          </a:p>
          <a:p>
            <a:r>
              <a:rPr lang="en-GB" dirty="0"/>
              <a:t>70% training, 15% validation, 15% test</a:t>
            </a:r>
          </a:p>
          <a:p>
            <a:r>
              <a:rPr lang="en-GB" dirty="0"/>
              <a:t>do not fully describe a temporal evaluation protocol.</a:t>
            </a:r>
          </a:p>
          <a:p>
            <a:endParaRPr lang="en-GB" dirty="0"/>
          </a:p>
          <a:p>
            <a:r>
              <a:rPr lang="en-GB" dirty="0"/>
              <a:t>A reproducible description should include:</a:t>
            </a:r>
          </a:p>
          <a:p>
            <a:pPr lvl="1"/>
            <a:r>
              <a:rPr lang="en-GB" dirty="0"/>
              <a:t>exact time boundaries;</a:t>
            </a:r>
          </a:p>
          <a:p>
            <a:pPr lvl="1"/>
            <a:r>
              <a:rPr lang="en-GB" dirty="0"/>
              <a:t>sampling frequency;</a:t>
            </a:r>
          </a:p>
          <a:p>
            <a:pPr lvl="1"/>
            <a:r>
              <a:rPr lang="en-GB" dirty="0"/>
              <a:t>whether intervals are contiguous;</a:t>
            </a:r>
          </a:p>
          <a:p>
            <a:pPr lvl="1"/>
            <a:r>
              <a:rPr lang="en-GB" dirty="0"/>
              <a:t>whether a gap is present;</a:t>
            </a:r>
          </a:p>
          <a:p>
            <a:pPr lvl="1"/>
            <a:r>
              <a:rPr lang="en-GB" dirty="0"/>
              <a:t>window length;</a:t>
            </a:r>
          </a:p>
          <a:p>
            <a:pPr lvl="1"/>
            <a:r>
              <a:rPr lang="en-GB" dirty="0"/>
              <a:t>forecast horizon;</a:t>
            </a:r>
          </a:p>
          <a:p>
            <a:pPr lvl="1"/>
            <a:r>
              <a:rPr lang="en-GB" dirty="0"/>
              <a:t>retraining scheme;</a:t>
            </a:r>
          </a:p>
          <a:p>
            <a:pPr lvl="1"/>
            <a:r>
              <a:rPr lang="en-GB" dirty="0"/>
              <a:t>number of validation origins;</a:t>
            </a:r>
          </a:p>
          <a:p>
            <a:pPr lvl="1"/>
            <a:r>
              <a:rPr lang="en-GB" dirty="0"/>
              <a:t>whether preprocessing is refitted at every origin.</a:t>
            </a:r>
          </a:p>
          <a:p>
            <a:endParaRPr lang="en-GB" dirty="0"/>
          </a:p>
        </p:txBody>
      </p:sp>
      <p:cxnSp>
        <p:nvCxnSpPr>
          <p:cNvPr id="5" name="Connettore 2 4">
            <a:extLst>
              <a:ext uri="{FF2B5EF4-FFF2-40B4-BE49-F238E27FC236}">
                <a16:creationId xmlns:a16="http://schemas.microsoft.com/office/drawing/2014/main" id="{DDD1A258-08D1-A33B-0BB8-B237176BC254}"/>
              </a:ext>
            </a:extLst>
          </p:cNvPr>
          <p:cNvCxnSpPr>
            <a:cxnSpLocks/>
          </p:cNvCxnSpPr>
          <p:nvPr/>
        </p:nvCxnSpPr>
        <p:spPr>
          <a:xfrm>
            <a:off x="2855343" y="1173192"/>
            <a:ext cx="120770" cy="11731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42890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E111CCB-A7D1-F9E5-D33E-AF02243F4985}"/>
              </a:ext>
            </a:extLst>
          </p:cNvPr>
          <p:cNvSpPr>
            <a:spLocks noGrp="1"/>
          </p:cNvSpPr>
          <p:nvPr>
            <p:ph type="title"/>
          </p:nvPr>
        </p:nvSpPr>
        <p:spPr/>
        <p:txBody>
          <a:bodyPr>
            <a:normAutofit fontScale="90000"/>
          </a:bodyPr>
          <a:lstStyle/>
          <a:p>
            <a:r>
              <a:rPr lang="en-GB" dirty="0">
                <a:highlight>
                  <a:srgbClr val="FFFF00"/>
                </a:highlight>
              </a:rPr>
              <a:t>Percentage splits should be accompanied by a clear description of how the data are partitioned</a:t>
            </a:r>
          </a:p>
        </p:txBody>
      </p:sp>
      <p:sp>
        <p:nvSpPr>
          <p:cNvPr id="3" name="Segnaposto contenuto 2">
            <a:extLst>
              <a:ext uri="{FF2B5EF4-FFF2-40B4-BE49-F238E27FC236}">
                <a16:creationId xmlns:a16="http://schemas.microsoft.com/office/drawing/2014/main" id="{19A8A86F-F90D-9EAA-C1F2-222404A3B092}"/>
              </a:ext>
            </a:extLst>
          </p:cNvPr>
          <p:cNvSpPr>
            <a:spLocks noGrp="1"/>
          </p:cNvSpPr>
          <p:nvPr>
            <p:ph sz="half" idx="1"/>
          </p:nvPr>
        </p:nvSpPr>
        <p:spPr/>
        <p:txBody>
          <a:bodyPr>
            <a:normAutofit fontScale="92500" lnSpcReduction="10000"/>
          </a:bodyPr>
          <a:lstStyle/>
          <a:p>
            <a:r>
              <a:rPr lang="en-GB" b="1" dirty="0"/>
              <a:t>Better description</a:t>
            </a:r>
          </a:p>
          <a:p>
            <a:pPr lvl="1"/>
            <a:r>
              <a:rPr lang="en-GB" dirty="0"/>
              <a:t>Training:</a:t>
            </a:r>
          </a:p>
          <a:p>
            <a:pPr lvl="1"/>
            <a:r>
              <a:rPr lang="en-GB" dirty="0"/>
              <a:t>1 January 2022 to 31 December 2024</a:t>
            </a:r>
          </a:p>
          <a:p>
            <a:endParaRPr lang="en-GB" dirty="0"/>
          </a:p>
          <a:p>
            <a:r>
              <a:rPr lang="en-GB" b="1" dirty="0"/>
              <a:t>Validation:</a:t>
            </a:r>
          </a:p>
          <a:p>
            <a:pPr lvl="1"/>
            <a:r>
              <a:rPr lang="en-GB" dirty="0"/>
              <a:t>monthly expanding-window evaluation from</a:t>
            </a:r>
          </a:p>
          <a:p>
            <a:pPr lvl="1"/>
            <a:r>
              <a:rPr lang="en-GB" dirty="0"/>
              <a:t>1 January 2025 to 30 June 2025</a:t>
            </a:r>
          </a:p>
          <a:p>
            <a:endParaRPr lang="en-GB" dirty="0"/>
          </a:p>
          <a:p>
            <a:r>
              <a:rPr lang="en-GB" b="1" dirty="0"/>
              <a:t>Test:</a:t>
            </a:r>
          </a:p>
          <a:p>
            <a:pPr lvl="1"/>
            <a:r>
              <a:rPr lang="en-GB" dirty="0"/>
              <a:t>1 July 2025 to 31 December 2025</a:t>
            </a:r>
          </a:p>
          <a:p>
            <a:endParaRPr lang="en-GB" dirty="0"/>
          </a:p>
          <a:p>
            <a:endParaRPr lang="en-GB" dirty="0"/>
          </a:p>
        </p:txBody>
      </p:sp>
      <p:sp>
        <p:nvSpPr>
          <p:cNvPr id="4" name="Segnaposto contenuto 3">
            <a:extLst>
              <a:ext uri="{FF2B5EF4-FFF2-40B4-BE49-F238E27FC236}">
                <a16:creationId xmlns:a16="http://schemas.microsoft.com/office/drawing/2014/main" id="{C693DF43-BB0B-C972-91A7-4A2F3C374D8B}"/>
              </a:ext>
            </a:extLst>
          </p:cNvPr>
          <p:cNvSpPr>
            <a:spLocks noGrp="1"/>
          </p:cNvSpPr>
          <p:nvPr>
            <p:ph sz="half" idx="2"/>
          </p:nvPr>
        </p:nvSpPr>
        <p:spPr/>
        <p:txBody>
          <a:bodyPr>
            <a:normAutofit fontScale="92500" lnSpcReduction="10000"/>
          </a:bodyPr>
          <a:lstStyle/>
          <a:p>
            <a:r>
              <a:rPr lang="en-GB" b="1" dirty="0"/>
              <a:t>Input window:</a:t>
            </a:r>
          </a:p>
          <a:p>
            <a:r>
              <a:rPr lang="en-GB" dirty="0"/>
              <a:t>previous 168 hourly observations</a:t>
            </a:r>
          </a:p>
          <a:p>
            <a:endParaRPr lang="en-GB" dirty="0"/>
          </a:p>
          <a:p>
            <a:r>
              <a:rPr lang="en-GB" b="1" dirty="0"/>
              <a:t>Forecast horizon:</a:t>
            </a:r>
          </a:p>
          <a:p>
            <a:r>
              <a:rPr lang="en-GB" dirty="0"/>
              <a:t>next 24 hourly observations</a:t>
            </a:r>
          </a:p>
          <a:p>
            <a:endParaRPr lang="en-GB" dirty="0"/>
          </a:p>
          <a:p>
            <a:r>
              <a:rPr lang="en-GB" b="1" dirty="0"/>
              <a:t>Preprocessing:</a:t>
            </a:r>
          </a:p>
          <a:p>
            <a:r>
              <a:rPr lang="en-GB" dirty="0"/>
              <a:t>refitted using the training interval at each origin</a:t>
            </a:r>
          </a:p>
          <a:p>
            <a:endParaRPr lang="en-GB" dirty="0"/>
          </a:p>
        </p:txBody>
      </p:sp>
    </p:spTree>
    <p:extLst>
      <p:ext uri="{BB962C8B-B14F-4D97-AF65-F5344CB8AC3E}">
        <p14:creationId xmlns:p14="http://schemas.microsoft.com/office/powerpoint/2010/main" val="3088732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683615-F256-DAE6-D3D8-F6375AA379BD}"/>
              </a:ext>
            </a:extLst>
          </p:cNvPr>
          <p:cNvSpPr>
            <a:spLocks noGrp="1"/>
          </p:cNvSpPr>
          <p:nvPr>
            <p:ph type="title"/>
          </p:nvPr>
        </p:nvSpPr>
        <p:spPr/>
        <p:txBody>
          <a:bodyPr/>
          <a:lstStyle/>
          <a:p>
            <a:r>
              <a:rPr lang="en-GB" dirty="0"/>
              <a:t>2.C — Multiple Sequences, Groups and Entities</a:t>
            </a:r>
          </a:p>
        </p:txBody>
      </p:sp>
      <p:sp>
        <p:nvSpPr>
          <p:cNvPr id="3" name="Segnaposto contenuto 2">
            <a:extLst>
              <a:ext uri="{FF2B5EF4-FFF2-40B4-BE49-F238E27FC236}">
                <a16:creationId xmlns:a16="http://schemas.microsoft.com/office/drawing/2014/main" id="{DADC58D6-9945-DAE4-6A84-32874E3E48AE}"/>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5892185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E40B80-B4C6-04B0-0EF1-8ED8EBC638D3}"/>
              </a:ext>
            </a:extLst>
          </p:cNvPr>
          <p:cNvSpPr>
            <a:spLocks noGrp="1"/>
          </p:cNvSpPr>
          <p:nvPr>
            <p:ph type="title"/>
          </p:nvPr>
        </p:nvSpPr>
        <p:spPr/>
        <p:txBody>
          <a:bodyPr/>
          <a:lstStyle/>
          <a:p>
            <a:r>
              <a:rPr lang="en-GB" dirty="0"/>
              <a:t>Temporal datasets often have a grouped structure</a:t>
            </a:r>
          </a:p>
        </p:txBody>
      </p:sp>
      <p:sp>
        <p:nvSpPr>
          <p:cNvPr id="3" name="Segnaposto contenuto 2">
            <a:extLst>
              <a:ext uri="{FF2B5EF4-FFF2-40B4-BE49-F238E27FC236}">
                <a16:creationId xmlns:a16="http://schemas.microsoft.com/office/drawing/2014/main" id="{B6C82B92-6B52-12C5-3E91-B5FFD1EC3530}"/>
              </a:ext>
            </a:extLst>
          </p:cNvPr>
          <p:cNvSpPr>
            <a:spLocks noGrp="1"/>
          </p:cNvSpPr>
          <p:nvPr>
            <p:ph idx="1"/>
          </p:nvPr>
        </p:nvSpPr>
        <p:spPr/>
        <p:txBody>
          <a:bodyPr>
            <a:normAutofit fontScale="62500" lnSpcReduction="20000"/>
          </a:bodyPr>
          <a:lstStyle/>
          <a:p>
            <a:r>
              <a:rPr lang="en-GB" dirty="0"/>
              <a:t>Factory</a:t>
            </a:r>
          </a:p>
          <a:p>
            <a:r>
              <a:rPr lang="en-GB" dirty="0"/>
              <a:t>  └── Machine</a:t>
            </a:r>
          </a:p>
          <a:p>
            <a:r>
              <a:rPr lang="en-GB" dirty="0"/>
              <a:t>        └── Production cycle</a:t>
            </a:r>
          </a:p>
          <a:p>
            <a:r>
              <a:rPr lang="en-GB" dirty="0"/>
              <a:t>              └── Temporal window</a:t>
            </a:r>
          </a:p>
          <a:p>
            <a:r>
              <a:rPr lang="en-GB" dirty="0"/>
              <a:t>Other examples include:</a:t>
            </a:r>
          </a:p>
          <a:p>
            <a:r>
              <a:rPr lang="en-GB" dirty="0"/>
              <a:t>Store</a:t>
            </a:r>
          </a:p>
          <a:p>
            <a:r>
              <a:rPr lang="en-GB" dirty="0"/>
              <a:t>  └── Customer</a:t>
            </a:r>
          </a:p>
          <a:p>
            <a:r>
              <a:rPr lang="en-GB" dirty="0"/>
              <a:t>        └── Session</a:t>
            </a:r>
          </a:p>
          <a:p>
            <a:r>
              <a:rPr lang="en-GB" dirty="0"/>
              <a:t>              └── Event sequence</a:t>
            </a:r>
          </a:p>
          <a:p>
            <a:r>
              <a:rPr lang="en-GB" dirty="0"/>
              <a:t>or:</a:t>
            </a:r>
          </a:p>
          <a:p>
            <a:r>
              <a:rPr lang="en-GB" dirty="0"/>
              <a:t>Hospital</a:t>
            </a:r>
          </a:p>
          <a:p>
            <a:r>
              <a:rPr lang="en-GB" dirty="0"/>
              <a:t>  └── Patient</a:t>
            </a:r>
          </a:p>
          <a:p>
            <a:r>
              <a:rPr lang="en-GB" dirty="0"/>
              <a:t>        └── Recording</a:t>
            </a:r>
          </a:p>
          <a:p>
            <a:r>
              <a:rPr lang="en-GB" dirty="0"/>
              <a:t>              └── Temporal segment</a:t>
            </a:r>
          </a:p>
          <a:p>
            <a:endParaRPr lang="en-GB" dirty="0"/>
          </a:p>
        </p:txBody>
      </p:sp>
      <p:sp>
        <p:nvSpPr>
          <p:cNvPr id="5" name="CasellaDiTesto 4">
            <a:extLst>
              <a:ext uri="{FF2B5EF4-FFF2-40B4-BE49-F238E27FC236}">
                <a16:creationId xmlns:a16="http://schemas.microsoft.com/office/drawing/2014/main" id="{4F4CF2C7-7F1B-F144-171D-21F66835BFD6}"/>
              </a:ext>
            </a:extLst>
          </p:cNvPr>
          <p:cNvSpPr txBox="1"/>
          <p:nvPr/>
        </p:nvSpPr>
        <p:spPr>
          <a:xfrm>
            <a:off x="5102157" y="3004811"/>
            <a:ext cx="6099242" cy="1354217"/>
          </a:xfrm>
          <a:prstGeom prst="rect">
            <a:avLst/>
          </a:prstGeom>
          <a:noFill/>
        </p:spPr>
        <p:txBody>
          <a:bodyPr wrap="square">
            <a:spAutoFit/>
          </a:bodyPr>
          <a:lstStyle/>
          <a:p>
            <a:r>
              <a:rPr lang="en-GB" sz="1800" b="1" dirty="0">
                <a:highlight>
                  <a:srgbClr val="FFFF00"/>
                </a:highlight>
              </a:rPr>
              <a:t>Typical levels</a:t>
            </a:r>
          </a:p>
          <a:p>
            <a:pPr lvl="1"/>
            <a:r>
              <a:rPr lang="en-GB" sz="1600" b="1" dirty="0"/>
              <a:t>entity</a:t>
            </a:r>
            <a:r>
              <a:rPr lang="en-GB" sz="1600" dirty="0"/>
              <a:t>: machine, customer, patient, product or vehicle;</a:t>
            </a:r>
          </a:p>
          <a:p>
            <a:pPr lvl="1"/>
            <a:r>
              <a:rPr lang="en-GB" sz="1600" b="1" dirty="0"/>
              <a:t>sequence</a:t>
            </a:r>
            <a:r>
              <a:rPr lang="en-GB" sz="1600" dirty="0"/>
              <a:t>: cycle, session, trip or recording;</a:t>
            </a:r>
          </a:p>
          <a:p>
            <a:pPr lvl="1"/>
            <a:r>
              <a:rPr lang="en-GB" sz="1600" b="1" dirty="0"/>
              <a:t>window</a:t>
            </a:r>
            <a:r>
              <a:rPr lang="en-GB" sz="1600" dirty="0"/>
              <a:t>: temporal interval extracted from a sequence;</a:t>
            </a:r>
          </a:p>
          <a:p>
            <a:pPr lvl="1"/>
            <a:r>
              <a:rPr lang="en-GB" sz="1600" b="1" dirty="0"/>
              <a:t>time step</a:t>
            </a:r>
            <a:r>
              <a:rPr lang="en-GB" sz="1600" dirty="0"/>
              <a:t>: individual </a:t>
            </a:r>
            <a:r>
              <a:rPr lang="en-GB" sz="1600" b="1" dirty="0"/>
              <a:t>observation.</a:t>
            </a:r>
          </a:p>
        </p:txBody>
      </p:sp>
      <p:sp>
        <p:nvSpPr>
          <p:cNvPr id="7" name="CasellaDiTesto 6">
            <a:extLst>
              <a:ext uri="{FF2B5EF4-FFF2-40B4-BE49-F238E27FC236}">
                <a16:creationId xmlns:a16="http://schemas.microsoft.com/office/drawing/2014/main" id="{CE4E5581-CE8F-589E-3A62-08478587C4C0}"/>
              </a:ext>
            </a:extLst>
          </p:cNvPr>
          <p:cNvSpPr txBox="1"/>
          <p:nvPr/>
        </p:nvSpPr>
        <p:spPr>
          <a:xfrm>
            <a:off x="3067755" y="1561068"/>
            <a:ext cx="6805819" cy="369332"/>
          </a:xfrm>
          <a:prstGeom prst="rect">
            <a:avLst/>
          </a:prstGeom>
          <a:noFill/>
        </p:spPr>
        <p:txBody>
          <a:bodyPr wrap="square">
            <a:spAutoFit/>
          </a:bodyPr>
          <a:lstStyle/>
          <a:p>
            <a:r>
              <a:rPr lang="en-GB" sz="1800" dirty="0"/>
              <a:t>Many temporal datasets contain </a:t>
            </a:r>
            <a:r>
              <a:rPr lang="en-GB" sz="1800" dirty="0">
                <a:highlight>
                  <a:srgbClr val="FFFF00"/>
                </a:highlight>
              </a:rPr>
              <a:t>several levels of organization.</a:t>
            </a:r>
          </a:p>
        </p:txBody>
      </p:sp>
    </p:spTree>
    <p:extLst>
      <p:ext uri="{BB962C8B-B14F-4D97-AF65-F5344CB8AC3E}">
        <p14:creationId xmlns:p14="http://schemas.microsoft.com/office/powerpoint/2010/main" val="42655971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F785F4-1D86-D76D-42C6-488D86934DCE}"/>
              </a:ext>
            </a:extLst>
          </p:cNvPr>
          <p:cNvSpPr>
            <a:spLocks noGrp="1"/>
          </p:cNvSpPr>
          <p:nvPr>
            <p:ph type="title"/>
          </p:nvPr>
        </p:nvSpPr>
        <p:spPr/>
        <p:txBody>
          <a:bodyPr/>
          <a:lstStyle/>
          <a:p>
            <a:r>
              <a:rPr lang="en-GB" b="1" dirty="0"/>
              <a:t>Example dataset</a:t>
            </a:r>
            <a:br>
              <a:rPr lang="en-GB" b="1" dirty="0"/>
            </a:br>
            <a:endParaRPr lang="en-GB" dirty="0"/>
          </a:p>
        </p:txBody>
      </p:sp>
      <p:sp>
        <p:nvSpPr>
          <p:cNvPr id="3" name="Segnaposto contenuto 2">
            <a:extLst>
              <a:ext uri="{FF2B5EF4-FFF2-40B4-BE49-F238E27FC236}">
                <a16:creationId xmlns:a16="http://schemas.microsoft.com/office/drawing/2014/main" id="{0DE21C9B-9FCF-D0F3-77D2-85CFBA51B486}"/>
              </a:ext>
            </a:extLst>
          </p:cNvPr>
          <p:cNvSpPr>
            <a:spLocks noGrp="1"/>
          </p:cNvSpPr>
          <p:nvPr>
            <p:ph idx="1"/>
          </p:nvPr>
        </p:nvSpPr>
        <p:spPr/>
        <p:txBody>
          <a:bodyPr>
            <a:normAutofit fontScale="62500" lnSpcReduction="20000"/>
          </a:bodyPr>
          <a:lstStyle/>
          <a:p>
            <a:r>
              <a:rPr lang="en-GB" dirty="0"/>
              <a:t>Machine A</a:t>
            </a:r>
          </a:p>
          <a:p>
            <a:pPr lvl="1"/>
            <a:r>
              <a:rPr lang="en-GB" dirty="0"/>
              <a:t>  Cycle A1</a:t>
            </a:r>
          </a:p>
          <a:p>
            <a:pPr lvl="1"/>
            <a:r>
              <a:rPr lang="en-GB" dirty="0"/>
              <a:t>  Cycle A2</a:t>
            </a:r>
          </a:p>
          <a:p>
            <a:pPr lvl="1"/>
            <a:r>
              <a:rPr lang="en-GB" dirty="0"/>
              <a:t>  Cycle A3</a:t>
            </a:r>
          </a:p>
          <a:p>
            <a:endParaRPr lang="en-GB" dirty="0"/>
          </a:p>
          <a:p>
            <a:r>
              <a:rPr lang="en-GB" dirty="0"/>
              <a:t>Machine B</a:t>
            </a:r>
          </a:p>
          <a:p>
            <a:pPr lvl="1"/>
            <a:r>
              <a:rPr lang="en-GB" dirty="0"/>
              <a:t>  Cycle B1</a:t>
            </a:r>
          </a:p>
          <a:p>
            <a:pPr lvl="1"/>
            <a:r>
              <a:rPr lang="en-GB" dirty="0"/>
              <a:t>  Cycle B2</a:t>
            </a:r>
          </a:p>
          <a:p>
            <a:endParaRPr lang="en-GB" dirty="0"/>
          </a:p>
          <a:p>
            <a:r>
              <a:rPr lang="en-GB" dirty="0"/>
              <a:t>Machine C</a:t>
            </a:r>
          </a:p>
          <a:p>
            <a:pPr lvl="1"/>
            <a:r>
              <a:rPr lang="en-GB" dirty="0"/>
              <a:t>  Cycle C1</a:t>
            </a:r>
          </a:p>
          <a:p>
            <a:pPr lvl="1"/>
            <a:r>
              <a:rPr lang="en-GB" dirty="0"/>
              <a:t>  Cycle C2</a:t>
            </a:r>
          </a:p>
          <a:p>
            <a:pPr lvl="1"/>
            <a:r>
              <a:rPr lang="en-GB" dirty="0"/>
              <a:t>  Cycle C3</a:t>
            </a:r>
          </a:p>
          <a:p>
            <a:endParaRPr lang="en-GB" dirty="0"/>
          </a:p>
          <a:p>
            <a:r>
              <a:rPr lang="en-GB" dirty="0"/>
              <a:t>Each cycle may generate several windows.</a:t>
            </a:r>
          </a:p>
          <a:p>
            <a:endParaRPr lang="en-GB" dirty="0"/>
          </a:p>
        </p:txBody>
      </p:sp>
    </p:spTree>
    <p:extLst>
      <p:ext uri="{BB962C8B-B14F-4D97-AF65-F5344CB8AC3E}">
        <p14:creationId xmlns:p14="http://schemas.microsoft.com/office/powerpoint/2010/main" val="3775155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1B9A2E5-740B-0977-1249-878FEEA12A66}"/>
              </a:ext>
            </a:extLst>
          </p:cNvPr>
          <p:cNvSpPr>
            <a:spLocks noGrp="1"/>
          </p:cNvSpPr>
          <p:nvPr>
            <p:ph type="title"/>
          </p:nvPr>
        </p:nvSpPr>
        <p:spPr/>
        <p:txBody>
          <a:bodyPr/>
          <a:lstStyle/>
          <a:p>
            <a:r>
              <a:rPr lang="en-GB" b="1" dirty="0"/>
              <a:t>Example dataset</a:t>
            </a:r>
            <a:br>
              <a:rPr lang="en-GB" b="1" dirty="0"/>
            </a:br>
            <a:endParaRPr lang="en-GB" dirty="0"/>
          </a:p>
        </p:txBody>
      </p:sp>
      <p:sp>
        <p:nvSpPr>
          <p:cNvPr id="3" name="Segnaposto contenuto 2">
            <a:extLst>
              <a:ext uri="{FF2B5EF4-FFF2-40B4-BE49-F238E27FC236}">
                <a16:creationId xmlns:a16="http://schemas.microsoft.com/office/drawing/2014/main" id="{4F0AF31D-5BBB-7B2A-D42C-4831B0A48DDC}"/>
              </a:ext>
            </a:extLst>
          </p:cNvPr>
          <p:cNvSpPr>
            <a:spLocks noGrp="1"/>
          </p:cNvSpPr>
          <p:nvPr>
            <p:ph idx="1"/>
          </p:nvPr>
        </p:nvSpPr>
        <p:spPr/>
        <p:txBody>
          <a:bodyPr>
            <a:normAutofit fontScale="92500" lnSpcReduction="10000"/>
          </a:bodyPr>
          <a:lstStyle/>
          <a:p>
            <a:r>
              <a:rPr lang="en-GB" dirty="0"/>
              <a:t>Windows coming from the same sequence or entity are usually not independent.</a:t>
            </a:r>
          </a:p>
          <a:p>
            <a:r>
              <a:rPr lang="en-GB" dirty="0"/>
              <a:t>They may share:</a:t>
            </a:r>
          </a:p>
          <a:p>
            <a:pPr lvl="1"/>
            <a:r>
              <a:rPr lang="en-GB" dirty="0"/>
              <a:t>physical characteristics;</a:t>
            </a:r>
          </a:p>
          <a:p>
            <a:pPr lvl="1"/>
            <a:r>
              <a:rPr lang="en-GB" dirty="0"/>
              <a:t>calibration;</a:t>
            </a:r>
          </a:p>
          <a:p>
            <a:pPr lvl="1"/>
            <a:r>
              <a:rPr lang="en-GB" dirty="0"/>
              <a:t>operating conditions;</a:t>
            </a:r>
          </a:p>
          <a:p>
            <a:pPr lvl="1"/>
            <a:r>
              <a:rPr lang="en-GB" dirty="0"/>
              <a:t>background noise;</a:t>
            </a:r>
          </a:p>
          <a:p>
            <a:pPr lvl="1"/>
            <a:r>
              <a:rPr lang="en-GB" dirty="0"/>
              <a:t>sequence-specific patterns;</a:t>
            </a:r>
          </a:p>
          <a:p>
            <a:pPr lvl="1"/>
            <a:r>
              <a:rPr lang="en-GB" dirty="0"/>
              <a:t>overlapping raw observations.</a:t>
            </a:r>
          </a:p>
          <a:p>
            <a:endParaRPr lang="en-GB" b="1" dirty="0"/>
          </a:p>
          <a:p>
            <a:r>
              <a:rPr lang="en-GB" b="1" dirty="0"/>
              <a:t>The split must be defined at the level corresponding to the intended generalization.</a:t>
            </a:r>
          </a:p>
          <a:p>
            <a:endParaRPr lang="en-GB" dirty="0"/>
          </a:p>
        </p:txBody>
      </p:sp>
    </p:spTree>
    <p:extLst>
      <p:ext uri="{BB962C8B-B14F-4D97-AF65-F5344CB8AC3E}">
        <p14:creationId xmlns:p14="http://schemas.microsoft.com/office/powerpoint/2010/main" val="21406186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5A95AFAF-CF8E-2B81-CE0D-F2DFCB76FDE0}"/>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766486" y="399660"/>
            <a:ext cx="10755087" cy="5837237"/>
          </a:xfrm>
          <a:prstGeom prst="rect">
            <a:avLst/>
          </a:prstGeom>
        </p:spPr>
      </p:pic>
      <p:sp>
        <p:nvSpPr>
          <p:cNvPr id="2" name="Rettangolo 1">
            <a:extLst>
              <a:ext uri="{FF2B5EF4-FFF2-40B4-BE49-F238E27FC236}">
                <a16:creationId xmlns:a16="http://schemas.microsoft.com/office/drawing/2014/main" id="{88472032-3A18-70A9-E01D-6D157F5FE879}"/>
              </a:ext>
            </a:extLst>
          </p:cNvPr>
          <p:cNvSpPr/>
          <p:nvPr/>
        </p:nvSpPr>
        <p:spPr>
          <a:xfrm>
            <a:off x="766486" y="655608"/>
            <a:ext cx="4064306" cy="370935"/>
          </a:xfrm>
          <a:prstGeom prst="rect">
            <a:avLst/>
          </a:prstGeom>
          <a:solidFill>
            <a:srgbClr val="FFFF00">
              <a:alpha val="56000"/>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ttangolo 3">
            <a:extLst>
              <a:ext uri="{FF2B5EF4-FFF2-40B4-BE49-F238E27FC236}">
                <a16:creationId xmlns:a16="http://schemas.microsoft.com/office/drawing/2014/main" id="{BA6A31BA-82AF-5DA7-0726-25C1E692E042}"/>
              </a:ext>
            </a:extLst>
          </p:cNvPr>
          <p:cNvSpPr/>
          <p:nvPr/>
        </p:nvSpPr>
        <p:spPr>
          <a:xfrm>
            <a:off x="2708357" y="5751871"/>
            <a:ext cx="5924366" cy="206478"/>
          </a:xfrm>
          <a:prstGeom prst="rect">
            <a:avLst/>
          </a:prstGeom>
          <a:solidFill>
            <a:srgbClr val="FFFF00">
              <a:alpha val="56000"/>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0102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BCBCF50-11F9-2AFD-6679-147E05E2D8AC}"/>
              </a:ext>
            </a:extLst>
          </p:cNvPr>
          <p:cNvSpPr>
            <a:spLocks noGrp="1"/>
          </p:cNvSpPr>
          <p:nvPr>
            <p:ph type="title"/>
          </p:nvPr>
        </p:nvSpPr>
        <p:spPr/>
        <p:txBody>
          <a:bodyPr/>
          <a:lstStyle/>
          <a:p>
            <a:r>
              <a:rPr lang="en-GB" dirty="0"/>
              <a:t>Window-level, sequence-level and entity-level splits – 1. Window-level split</a:t>
            </a:r>
          </a:p>
        </p:txBody>
      </p:sp>
      <p:sp>
        <p:nvSpPr>
          <p:cNvPr id="3" name="Segnaposto contenuto 2">
            <a:extLst>
              <a:ext uri="{FF2B5EF4-FFF2-40B4-BE49-F238E27FC236}">
                <a16:creationId xmlns:a16="http://schemas.microsoft.com/office/drawing/2014/main" id="{B82DE71E-8650-A287-E68C-EE1084602908}"/>
              </a:ext>
            </a:extLst>
          </p:cNvPr>
          <p:cNvSpPr>
            <a:spLocks noGrp="1"/>
          </p:cNvSpPr>
          <p:nvPr>
            <p:ph idx="1"/>
          </p:nvPr>
        </p:nvSpPr>
        <p:spPr/>
        <p:txBody>
          <a:bodyPr>
            <a:normAutofit fontScale="85000" lnSpcReduction="10000"/>
          </a:bodyPr>
          <a:lstStyle/>
          <a:p>
            <a:r>
              <a:rPr lang="en-GB" b="1" dirty="0">
                <a:highlight>
                  <a:srgbClr val="FFFF00"/>
                </a:highlight>
              </a:rPr>
              <a:t>Individual windows are randomly assigned to training, validation and test.</a:t>
            </a:r>
          </a:p>
          <a:p>
            <a:r>
              <a:rPr lang="en-GB" dirty="0"/>
              <a:t>Cycle A1:</a:t>
            </a:r>
          </a:p>
          <a:p>
            <a:pPr lvl="1"/>
            <a:r>
              <a:rPr lang="en-GB" dirty="0"/>
              <a:t>window 1 → training</a:t>
            </a:r>
          </a:p>
          <a:p>
            <a:pPr lvl="1"/>
            <a:r>
              <a:rPr lang="en-GB" dirty="0"/>
              <a:t>window 2 → test</a:t>
            </a:r>
          </a:p>
          <a:p>
            <a:pPr lvl="1"/>
            <a:r>
              <a:rPr lang="en-GB" dirty="0"/>
              <a:t>window 3 → training</a:t>
            </a:r>
          </a:p>
          <a:p>
            <a:pPr lvl="1"/>
            <a:r>
              <a:rPr lang="en-GB" dirty="0"/>
              <a:t>window 4 → validation</a:t>
            </a:r>
          </a:p>
          <a:p>
            <a:r>
              <a:rPr lang="en-GB" dirty="0"/>
              <a:t>This evaluates performance on windows that may be highly similar to training samples.</a:t>
            </a:r>
          </a:p>
          <a:p>
            <a:r>
              <a:rPr lang="en-GB" dirty="0">
                <a:highlight>
                  <a:srgbClr val="FFFF00"/>
                </a:highlight>
              </a:rPr>
              <a:t>It may be suitable only when:</a:t>
            </a:r>
          </a:p>
          <a:p>
            <a:pPr lvl="1"/>
            <a:r>
              <a:rPr lang="en-GB" dirty="0"/>
              <a:t>windows are independent;</a:t>
            </a:r>
          </a:p>
          <a:p>
            <a:pPr lvl="1"/>
            <a:r>
              <a:rPr lang="en-GB" dirty="0"/>
              <a:t>no raw observations are shared;</a:t>
            </a:r>
          </a:p>
          <a:p>
            <a:pPr lvl="1"/>
            <a:r>
              <a:rPr lang="en-GB" dirty="0"/>
              <a:t>deployment data are expected to come from the same sequences or entities.</a:t>
            </a:r>
          </a:p>
          <a:p>
            <a:r>
              <a:rPr lang="en-GB" dirty="0"/>
              <a:t>In many time-series applications, </a:t>
            </a:r>
            <a:r>
              <a:rPr lang="en-GB" b="1" dirty="0"/>
              <a:t>this is an unrealistically easy setting.</a:t>
            </a:r>
          </a:p>
          <a:p>
            <a:endParaRPr lang="en-GB" dirty="0"/>
          </a:p>
        </p:txBody>
      </p:sp>
      <p:sp>
        <p:nvSpPr>
          <p:cNvPr id="5" name="CasellaDiTesto 4">
            <a:extLst>
              <a:ext uri="{FF2B5EF4-FFF2-40B4-BE49-F238E27FC236}">
                <a16:creationId xmlns:a16="http://schemas.microsoft.com/office/drawing/2014/main" id="{B58FB56C-B59F-8A0C-B3C0-0CD797C8B967}"/>
              </a:ext>
            </a:extLst>
          </p:cNvPr>
          <p:cNvSpPr txBox="1"/>
          <p:nvPr/>
        </p:nvSpPr>
        <p:spPr>
          <a:xfrm>
            <a:off x="6645101" y="1745734"/>
            <a:ext cx="5257801" cy="369332"/>
          </a:xfrm>
          <a:prstGeom prst="rect">
            <a:avLst/>
          </a:prstGeom>
          <a:noFill/>
        </p:spPr>
        <p:txBody>
          <a:bodyPr wrap="square">
            <a:spAutoFit/>
          </a:bodyPr>
          <a:lstStyle/>
          <a:p>
            <a:r>
              <a:rPr lang="en-GB" dirty="0"/>
              <a:t>Different split levels answer different questions.</a:t>
            </a:r>
          </a:p>
        </p:txBody>
      </p:sp>
    </p:spTree>
    <p:extLst>
      <p:ext uri="{BB962C8B-B14F-4D97-AF65-F5344CB8AC3E}">
        <p14:creationId xmlns:p14="http://schemas.microsoft.com/office/powerpoint/2010/main" val="37422231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EA70AC5-9A81-F4C8-9F4C-7249297C782D}"/>
              </a:ext>
            </a:extLst>
          </p:cNvPr>
          <p:cNvSpPr>
            <a:spLocks noGrp="1"/>
          </p:cNvSpPr>
          <p:nvPr>
            <p:ph type="title"/>
          </p:nvPr>
        </p:nvSpPr>
        <p:spPr/>
        <p:txBody>
          <a:bodyPr/>
          <a:lstStyle/>
          <a:p>
            <a:r>
              <a:rPr lang="en-GB" dirty="0"/>
              <a:t>2. Sequence-level split</a:t>
            </a:r>
          </a:p>
        </p:txBody>
      </p:sp>
      <p:sp>
        <p:nvSpPr>
          <p:cNvPr id="3" name="Segnaposto contenuto 2">
            <a:extLst>
              <a:ext uri="{FF2B5EF4-FFF2-40B4-BE49-F238E27FC236}">
                <a16:creationId xmlns:a16="http://schemas.microsoft.com/office/drawing/2014/main" id="{8BCF5D63-D6E5-2123-F998-E619F7BC78AE}"/>
              </a:ext>
            </a:extLst>
          </p:cNvPr>
          <p:cNvSpPr>
            <a:spLocks noGrp="1"/>
          </p:cNvSpPr>
          <p:nvPr>
            <p:ph idx="1"/>
          </p:nvPr>
        </p:nvSpPr>
        <p:spPr/>
        <p:txBody>
          <a:bodyPr>
            <a:normAutofit fontScale="85000" lnSpcReduction="20000"/>
          </a:bodyPr>
          <a:lstStyle/>
          <a:p>
            <a:r>
              <a:rPr lang="en-GB" dirty="0"/>
              <a:t>Complete cycles, sessions or recordings are assigned to one partition only.</a:t>
            </a:r>
          </a:p>
          <a:p>
            <a:r>
              <a:rPr lang="en-GB" dirty="0"/>
              <a:t>Training:</a:t>
            </a:r>
          </a:p>
          <a:p>
            <a:r>
              <a:rPr lang="en-GB" dirty="0"/>
              <a:t>Cycle A1, Cycle A2, Cycle B1</a:t>
            </a:r>
          </a:p>
          <a:p>
            <a:endParaRPr lang="en-GB" dirty="0"/>
          </a:p>
          <a:p>
            <a:r>
              <a:rPr lang="en-GB" dirty="0"/>
              <a:t>Validation:</a:t>
            </a:r>
          </a:p>
          <a:p>
            <a:r>
              <a:rPr lang="en-GB" dirty="0"/>
              <a:t>Cycle A3, Cycle B2</a:t>
            </a:r>
          </a:p>
          <a:p>
            <a:endParaRPr lang="en-GB" dirty="0"/>
          </a:p>
          <a:p>
            <a:r>
              <a:rPr lang="en-GB" dirty="0"/>
              <a:t>Test:</a:t>
            </a:r>
          </a:p>
          <a:p>
            <a:r>
              <a:rPr lang="en-GB" dirty="0"/>
              <a:t>Cycle A4, Cycle B3</a:t>
            </a:r>
          </a:p>
          <a:p>
            <a:endParaRPr lang="en-GB" dirty="0"/>
          </a:p>
          <a:p>
            <a:r>
              <a:rPr lang="en-GB" dirty="0"/>
              <a:t>This evaluates generalization to new sequences.</a:t>
            </a:r>
          </a:p>
          <a:p>
            <a:r>
              <a:rPr lang="en-GB" dirty="0"/>
              <a:t>However, </a:t>
            </a:r>
            <a:r>
              <a:rPr lang="en-GB" b="1" dirty="0"/>
              <a:t>the same entities may still appear in every partition.</a:t>
            </a:r>
          </a:p>
          <a:p>
            <a:endParaRPr lang="en-GB" dirty="0"/>
          </a:p>
        </p:txBody>
      </p:sp>
    </p:spTree>
    <p:extLst>
      <p:ext uri="{BB962C8B-B14F-4D97-AF65-F5344CB8AC3E}">
        <p14:creationId xmlns:p14="http://schemas.microsoft.com/office/powerpoint/2010/main" val="14352972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FEBF538-F079-D7CD-10BD-3F87DF628341}"/>
              </a:ext>
            </a:extLst>
          </p:cNvPr>
          <p:cNvSpPr>
            <a:spLocks noGrp="1"/>
          </p:cNvSpPr>
          <p:nvPr>
            <p:ph type="title"/>
          </p:nvPr>
        </p:nvSpPr>
        <p:spPr/>
        <p:txBody>
          <a:bodyPr/>
          <a:lstStyle/>
          <a:p>
            <a:r>
              <a:rPr lang="it-IT" dirty="0"/>
              <a:t>3. </a:t>
            </a:r>
            <a:r>
              <a:rPr lang="it-IT" dirty="0" err="1"/>
              <a:t>Entity-level</a:t>
            </a:r>
            <a:r>
              <a:rPr lang="it-IT" dirty="0"/>
              <a:t> split</a:t>
            </a:r>
            <a:endParaRPr lang="en-GB" dirty="0"/>
          </a:p>
        </p:txBody>
      </p:sp>
      <p:sp>
        <p:nvSpPr>
          <p:cNvPr id="3" name="Segnaposto contenuto 2">
            <a:extLst>
              <a:ext uri="{FF2B5EF4-FFF2-40B4-BE49-F238E27FC236}">
                <a16:creationId xmlns:a16="http://schemas.microsoft.com/office/drawing/2014/main" id="{181D4A97-1A58-71F2-F0E3-A4788DE81F38}"/>
              </a:ext>
            </a:extLst>
          </p:cNvPr>
          <p:cNvSpPr>
            <a:spLocks noGrp="1"/>
          </p:cNvSpPr>
          <p:nvPr>
            <p:ph idx="1"/>
          </p:nvPr>
        </p:nvSpPr>
        <p:spPr/>
        <p:txBody>
          <a:bodyPr>
            <a:normAutofit fontScale="85000" lnSpcReduction="20000"/>
          </a:bodyPr>
          <a:lstStyle/>
          <a:p>
            <a:r>
              <a:rPr lang="en-GB" b="1" dirty="0"/>
              <a:t>Complete entities are held out.</a:t>
            </a:r>
          </a:p>
          <a:p>
            <a:endParaRPr lang="en-GB" dirty="0"/>
          </a:p>
          <a:p>
            <a:r>
              <a:rPr lang="en-GB" dirty="0"/>
              <a:t>Training:</a:t>
            </a:r>
          </a:p>
          <a:p>
            <a:r>
              <a:rPr lang="en-GB" dirty="0"/>
              <a:t>all cycles from Machines A and B</a:t>
            </a:r>
          </a:p>
          <a:p>
            <a:endParaRPr lang="en-GB" dirty="0"/>
          </a:p>
          <a:p>
            <a:r>
              <a:rPr lang="en-GB" dirty="0"/>
              <a:t>Validation:</a:t>
            </a:r>
          </a:p>
          <a:p>
            <a:r>
              <a:rPr lang="en-GB" dirty="0"/>
              <a:t>all cycles from Machine C</a:t>
            </a:r>
          </a:p>
          <a:p>
            <a:endParaRPr lang="en-GB" dirty="0"/>
          </a:p>
          <a:p>
            <a:r>
              <a:rPr lang="en-GB" dirty="0"/>
              <a:t>Test:</a:t>
            </a:r>
          </a:p>
          <a:p>
            <a:r>
              <a:rPr lang="en-GB" dirty="0"/>
              <a:t>all cycles from Machine D</a:t>
            </a:r>
          </a:p>
          <a:p>
            <a:endParaRPr lang="en-GB" dirty="0"/>
          </a:p>
          <a:p>
            <a:r>
              <a:rPr lang="en-GB" dirty="0">
                <a:highlight>
                  <a:srgbClr val="FFFF00"/>
                </a:highlight>
              </a:rPr>
              <a:t>This evaluates performance on unseen entities.</a:t>
            </a:r>
          </a:p>
          <a:p>
            <a:endParaRPr lang="en-GB" dirty="0"/>
          </a:p>
        </p:txBody>
      </p:sp>
    </p:spTree>
    <p:extLst>
      <p:ext uri="{BB962C8B-B14F-4D97-AF65-F5344CB8AC3E}">
        <p14:creationId xmlns:p14="http://schemas.microsoft.com/office/powerpoint/2010/main" val="40178436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1AC5181-EF6D-857D-1F7D-6D961311E6BD}"/>
              </a:ext>
            </a:extLst>
          </p:cNvPr>
          <p:cNvSpPr>
            <a:spLocks noGrp="1"/>
          </p:cNvSpPr>
          <p:nvPr>
            <p:ph type="title"/>
          </p:nvPr>
        </p:nvSpPr>
        <p:spPr/>
        <p:txBody>
          <a:bodyPr/>
          <a:lstStyle/>
          <a:p>
            <a:r>
              <a:rPr lang="it-IT" dirty="0" err="1"/>
              <a:t>Comparison</a:t>
            </a:r>
            <a:endParaRPr lang="en-GB" dirty="0"/>
          </a:p>
        </p:txBody>
      </p:sp>
      <p:graphicFrame>
        <p:nvGraphicFramePr>
          <p:cNvPr id="4" name="Segnaposto contenuto 3">
            <a:extLst>
              <a:ext uri="{FF2B5EF4-FFF2-40B4-BE49-F238E27FC236}">
                <a16:creationId xmlns:a16="http://schemas.microsoft.com/office/drawing/2014/main" id="{DB65BD03-1E35-539B-BE5C-9079423D3598}"/>
              </a:ext>
            </a:extLst>
          </p:cNvPr>
          <p:cNvGraphicFramePr>
            <a:graphicFrameLocks noGrp="1"/>
          </p:cNvGraphicFramePr>
          <p:nvPr>
            <p:ph idx="1"/>
            <p:extLst>
              <p:ext uri="{D42A27DB-BD31-4B8C-83A1-F6EECF244321}">
                <p14:modId xmlns:p14="http://schemas.microsoft.com/office/powerpoint/2010/main" val="1175241317"/>
              </p:ext>
            </p:extLst>
          </p:nvPr>
        </p:nvGraphicFramePr>
        <p:xfrm>
          <a:off x="1725017" y="2459212"/>
          <a:ext cx="7477349" cy="1720747"/>
        </p:xfrm>
        <a:graphic>
          <a:graphicData uri="http://schemas.openxmlformats.org/drawingml/2006/table">
            <a:tbl>
              <a:tblPr>
                <a:tableStyleId>{5C22544A-7EE6-4342-B048-85BDC9FD1C3A}</a:tableStyleId>
              </a:tblPr>
              <a:tblGrid>
                <a:gridCol w="1022752">
                  <a:extLst>
                    <a:ext uri="{9D8B030D-6E8A-4147-A177-3AD203B41FA5}">
                      <a16:colId xmlns:a16="http://schemas.microsoft.com/office/drawing/2014/main" val="2024123633"/>
                    </a:ext>
                  </a:extLst>
                </a:gridCol>
                <a:gridCol w="6454597">
                  <a:extLst>
                    <a:ext uri="{9D8B030D-6E8A-4147-A177-3AD203B41FA5}">
                      <a16:colId xmlns:a16="http://schemas.microsoft.com/office/drawing/2014/main" val="1134456264"/>
                    </a:ext>
                  </a:extLst>
                </a:gridCol>
              </a:tblGrid>
              <a:tr h="275320">
                <a:tc>
                  <a:txBody>
                    <a:bodyPr/>
                    <a:lstStyle/>
                    <a:p>
                      <a:pPr algn="ctr" fontAlgn="ctr">
                        <a:buNone/>
                      </a:pPr>
                      <a:r>
                        <a:rPr lang="en-GB" sz="1600" b="1" u="none" strike="noStrike">
                          <a:effectLst/>
                        </a:rPr>
                        <a:t>Split level</a:t>
                      </a:r>
                      <a:endParaRPr lang="en-GB" sz="1600" b="1" i="0" u="none" strike="noStrike">
                        <a:solidFill>
                          <a:srgbClr val="000000"/>
                        </a:solidFill>
                        <a:effectLst/>
                        <a:latin typeface="Aptos Narrow" panose="020B0004020202020204" pitchFamily="34" charset="0"/>
                      </a:endParaRPr>
                    </a:p>
                  </a:txBody>
                  <a:tcPr marL="6469" marR="6469" marT="6469" marB="0" anchor="ctr"/>
                </a:tc>
                <a:tc>
                  <a:txBody>
                    <a:bodyPr/>
                    <a:lstStyle/>
                    <a:p>
                      <a:pPr algn="ctr" fontAlgn="ctr">
                        <a:buNone/>
                      </a:pPr>
                      <a:r>
                        <a:rPr lang="en-GB" sz="1600" b="1" u="none" strike="noStrike" dirty="0">
                          <a:effectLst/>
                        </a:rPr>
                        <a:t>Main question</a:t>
                      </a:r>
                      <a:endParaRPr lang="en-GB" sz="1600" b="1" i="0" u="none" strike="noStrike" dirty="0">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3333940357"/>
                  </a:ext>
                </a:extLst>
              </a:tr>
              <a:tr h="412979">
                <a:tc>
                  <a:txBody>
                    <a:bodyPr/>
                    <a:lstStyle/>
                    <a:p>
                      <a:pPr algn="l" fontAlgn="ctr">
                        <a:buNone/>
                      </a:pPr>
                      <a:r>
                        <a:rPr lang="en-GB" sz="1600" u="none" strike="noStrike">
                          <a:effectLst/>
                        </a:rPr>
                        <a:t>Window</a:t>
                      </a:r>
                      <a:endParaRPr lang="en-GB" sz="16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600" u="none" strike="noStrike" dirty="0">
                          <a:effectLst/>
                        </a:rPr>
                        <a:t>Can the model </a:t>
                      </a:r>
                      <a:r>
                        <a:rPr lang="en-GB" sz="1600" u="none" strike="noStrike" dirty="0">
                          <a:effectLst/>
                          <a:highlight>
                            <a:srgbClr val="FFFF00"/>
                          </a:highlight>
                        </a:rPr>
                        <a:t>classify or predict similar windows?</a:t>
                      </a:r>
                      <a:endParaRPr lang="en-GB" sz="1600" b="0" i="0" u="none" strike="noStrike" dirty="0">
                        <a:solidFill>
                          <a:srgbClr val="000000"/>
                        </a:solidFill>
                        <a:effectLst/>
                        <a:highlight>
                          <a:srgbClr val="FFFF00"/>
                        </a:highlight>
                        <a:latin typeface="Aptos Narrow" panose="020B0004020202020204" pitchFamily="34" charset="0"/>
                      </a:endParaRPr>
                    </a:p>
                  </a:txBody>
                  <a:tcPr marL="6469" marR="6469" marT="6469" marB="0" anchor="ctr"/>
                </a:tc>
                <a:extLst>
                  <a:ext uri="{0D108BD9-81ED-4DB2-BD59-A6C34878D82A}">
                    <a16:rowId xmlns:a16="http://schemas.microsoft.com/office/drawing/2014/main" val="1713412690"/>
                  </a:ext>
                </a:extLst>
              </a:tr>
              <a:tr h="481809">
                <a:tc>
                  <a:txBody>
                    <a:bodyPr/>
                    <a:lstStyle/>
                    <a:p>
                      <a:pPr algn="l" fontAlgn="ctr">
                        <a:buNone/>
                      </a:pPr>
                      <a:r>
                        <a:rPr lang="en-GB" sz="1600" u="none" strike="noStrike">
                          <a:effectLst/>
                        </a:rPr>
                        <a:t>Sequence</a:t>
                      </a:r>
                      <a:endParaRPr lang="en-GB" sz="16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600" u="none" strike="noStrike" dirty="0">
                          <a:effectLst/>
                        </a:rPr>
                        <a:t>Can the model generalize to new recordings or cycles?</a:t>
                      </a:r>
                      <a:endParaRPr lang="en-GB" sz="1600" b="0" i="0" u="none" strike="noStrike" dirty="0">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2523860185"/>
                  </a:ext>
                </a:extLst>
              </a:tr>
              <a:tr h="550639">
                <a:tc>
                  <a:txBody>
                    <a:bodyPr/>
                    <a:lstStyle/>
                    <a:p>
                      <a:pPr algn="l" fontAlgn="ctr">
                        <a:buNone/>
                      </a:pPr>
                      <a:r>
                        <a:rPr lang="en-GB" sz="1600" u="none" strike="noStrike">
                          <a:effectLst/>
                        </a:rPr>
                        <a:t>Entity</a:t>
                      </a:r>
                      <a:endParaRPr lang="en-GB" sz="1600" b="0" i="0" u="none" strike="noStrike">
                        <a:solidFill>
                          <a:srgbClr val="000000"/>
                        </a:solidFill>
                        <a:effectLst/>
                        <a:latin typeface="Aptos Narrow" panose="020B0004020202020204" pitchFamily="34" charset="0"/>
                      </a:endParaRPr>
                    </a:p>
                  </a:txBody>
                  <a:tcPr marL="6469" marR="6469" marT="6469" marB="0" anchor="ctr"/>
                </a:tc>
                <a:tc>
                  <a:txBody>
                    <a:bodyPr/>
                    <a:lstStyle/>
                    <a:p>
                      <a:pPr algn="l" fontAlgn="ctr">
                        <a:buNone/>
                      </a:pPr>
                      <a:r>
                        <a:rPr lang="en-GB" sz="1600" u="none" strike="noStrike" dirty="0">
                          <a:effectLst/>
                        </a:rPr>
                        <a:t>Can the model generalize to a new machine, customer or subject?</a:t>
                      </a:r>
                      <a:endParaRPr lang="en-GB" sz="1600" b="0" i="0" u="none" strike="noStrike" dirty="0">
                        <a:solidFill>
                          <a:srgbClr val="000000"/>
                        </a:solidFill>
                        <a:effectLst/>
                        <a:latin typeface="Aptos Narrow" panose="020B0004020202020204" pitchFamily="34" charset="0"/>
                      </a:endParaRPr>
                    </a:p>
                  </a:txBody>
                  <a:tcPr marL="6469" marR="6469" marT="6469" marB="0" anchor="ctr"/>
                </a:tc>
                <a:extLst>
                  <a:ext uri="{0D108BD9-81ED-4DB2-BD59-A6C34878D82A}">
                    <a16:rowId xmlns:a16="http://schemas.microsoft.com/office/drawing/2014/main" val="2179980706"/>
                  </a:ext>
                </a:extLst>
              </a:tr>
            </a:tbl>
          </a:graphicData>
        </a:graphic>
      </p:graphicFrame>
      <p:sp>
        <p:nvSpPr>
          <p:cNvPr id="6" name="CasellaDiTesto 5">
            <a:extLst>
              <a:ext uri="{FF2B5EF4-FFF2-40B4-BE49-F238E27FC236}">
                <a16:creationId xmlns:a16="http://schemas.microsoft.com/office/drawing/2014/main" id="{5A43A90B-484E-9B90-98FE-4FF588C5DC24}"/>
              </a:ext>
            </a:extLst>
          </p:cNvPr>
          <p:cNvSpPr txBox="1"/>
          <p:nvPr/>
        </p:nvSpPr>
        <p:spPr>
          <a:xfrm>
            <a:off x="1822085" y="5148644"/>
            <a:ext cx="6099242" cy="646331"/>
          </a:xfrm>
          <a:prstGeom prst="rect">
            <a:avLst/>
          </a:prstGeom>
          <a:noFill/>
        </p:spPr>
        <p:txBody>
          <a:bodyPr wrap="square">
            <a:spAutoFit/>
          </a:bodyPr>
          <a:lstStyle/>
          <a:p>
            <a:r>
              <a:rPr lang="en-GB" b="1" dirty="0"/>
              <a:t>A high score under a window-level split does not imply strong entity-level generalization.</a:t>
            </a:r>
          </a:p>
        </p:txBody>
      </p:sp>
    </p:spTree>
    <p:extLst>
      <p:ext uri="{BB962C8B-B14F-4D97-AF65-F5344CB8AC3E}">
        <p14:creationId xmlns:p14="http://schemas.microsoft.com/office/powerpoint/2010/main" val="12541050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210597-DD65-A684-ABC4-AB6A7BA87456}"/>
              </a:ext>
            </a:extLst>
          </p:cNvPr>
          <p:cNvSpPr>
            <a:spLocks noGrp="1"/>
          </p:cNvSpPr>
          <p:nvPr>
            <p:ph type="title"/>
          </p:nvPr>
        </p:nvSpPr>
        <p:spPr/>
        <p:txBody>
          <a:bodyPr/>
          <a:lstStyle/>
          <a:p>
            <a:r>
              <a:rPr lang="en-GB" dirty="0"/>
              <a:t>Temporal generalization within known entities</a:t>
            </a:r>
          </a:p>
        </p:txBody>
      </p:sp>
      <p:sp>
        <p:nvSpPr>
          <p:cNvPr id="3" name="Segnaposto contenuto 2">
            <a:extLst>
              <a:ext uri="{FF2B5EF4-FFF2-40B4-BE49-F238E27FC236}">
                <a16:creationId xmlns:a16="http://schemas.microsoft.com/office/drawing/2014/main" id="{88D6A513-F97B-8616-09DC-51168E0BD0E9}"/>
              </a:ext>
            </a:extLst>
          </p:cNvPr>
          <p:cNvSpPr>
            <a:spLocks noGrp="1"/>
          </p:cNvSpPr>
          <p:nvPr>
            <p:ph idx="1"/>
          </p:nvPr>
        </p:nvSpPr>
        <p:spPr/>
        <p:txBody>
          <a:bodyPr>
            <a:normAutofit fontScale="62500" lnSpcReduction="20000"/>
          </a:bodyPr>
          <a:lstStyle/>
          <a:p>
            <a:r>
              <a:rPr lang="en-GB" dirty="0"/>
              <a:t>Example:</a:t>
            </a:r>
          </a:p>
          <a:p>
            <a:pPr lvl="1"/>
            <a:r>
              <a:rPr lang="en-GB" dirty="0"/>
              <a:t>Machine A: cycles 1, 2, 3, 4, 5</a:t>
            </a:r>
          </a:p>
          <a:p>
            <a:pPr lvl="1"/>
            <a:r>
              <a:rPr lang="en-GB" dirty="0"/>
              <a:t>Machine B: cycles 1, 2, 3, 4, 5</a:t>
            </a:r>
          </a:p>
          <a:p>
            <a:pPr lvl="1"/>
            <a:r>
              <a:rPr lang="en-GB" dirty="0"/>
              <a:t>Machine C: cycles 1, 2, 3, 4, 5</a:t>
            </a:r>
          </a:p>
          <a:p>
            <a:r>
              <a:rPr lang="en-GB" dirty="0"/>
              <a:t>A temporal split can be applied within each entity.</a:t>
            </a:r>
          </a:p>
          <a:p>
            <a:endParaRPr lang="en-GB" dirty="0"/>
          </a:p>
          <a:p>
            <a:r>
              <a:rPr lang="en-GB" dirty="0"/>
              <a:t>Training:</a:t>
            </a:r>
          </a:p>
          <a:p>
            <a:r>
              <a:rPr lang="en-GB" dirty="0"/>
              <a:t>earlier cycles from A, B and C</a:t>
            </a:r>
          </a:p>
          <a:p>
            <a:endParaRPr lang="en-GB" dirty="0"/>
          </a:p>
          <a:p>
            <a:r>
              <a:rPr lang="en-GB" dirty="0"/>
              <a:t>Validation:</a:t>
            </a:r>
          </a:p>
          <a:p>
            <a:r>
              <a:rPr lang="en-GB" dirty="0"/>
              <a:t>later cycles from A, B and C</a:t>
            </a:r>
          </a:p>
          <a:p>
            <a:endParaRPr lang="en-GB" dirty="0"/>
          </a:p>
          <a:p>
            <a:r>
              <a:rPr lang="en-GB" dirty="0"/>
              <a:t>Test:</a:t>
            </a:r>
          </a:p>
          <a:p>
            <a:r>
              <a:rPr lang="en-GB" dirty="0"/>
              <a:t>latest cycles from A, B and C</a:t>
            </a:r>
          </a:p>
          <a:p>
            <a:endParaRPr lang="en-GB" b="1" dirty="0"/>
          </a:p>
          <a:p>
            <a:endParaRPr lang="en-GB" dirty="0"/>
          </a:p>
        </p:txBody>
      </p:sp>
      <p:sp>
        <p:nvSpPr>
          <p:cNvPr id="5" name="CasellaDiTesto 4">
            <a:extLst>
              <a:ext uri="{FF2B5EF4-FFF2-40B4-BE49-F238E27FC236}">
                <a16:creationId xmlns:a16="http://schemas.microsoft.com/office/drawing/2014/main" id="{385D4F02-0453-0E69-F5D1-7F8C1F7C3F0D}"/>
              </a:ext>
            </a:extLst>
          </p:cNvPr>
          <p:cNvSpPr txBox="1"/>
          <p:nvPr/>
        </p:nvSpPr>
        <p:spPr>
          <a:xfrm>
            <a:off x="3253902" y="1284069"/>
            <a:ext cx="6099242" cy="646331"/>
          </a:xfrm>
          <a:prstGeom prst="rect">
            <a:avLst/>
          </a:prstGeom>
          <a:noFill/>
        </p:spPr>
        <p:txBody>
          <a:bodyPr wrap="square">
            <a:spAutoFit/>
          </a:bodyPr>
          <a:lstStyle/>
          <a:p>
            <a:r>
              <a:rPr lang="en-GB" sz="1800" b="1" dirty="0"/>
              <a:t>In some applications, the model will continue to operate on entities already observed during training.</a:t>
            </a:r>
          </a:p>
        </p:txBody>
      </p:sp>
      <p:sp>
        <p:nvSpPr>
          <p:cNvPr id="7" name="CasellaDiTesto 6">
            <a:extLst>
              <a:ext uri="{FF2B5EF4-FFF2-40B4-BE49-F238E27FC236}">
                <a16:creationId xmlns:a16="http://schemas.microsoft.com/office/drawing/2014/main" id="{8823A9E3-0FA4-17D6-B823-52E6D62963D7}"/>
              </a:ext>
            </a:extLst>
          </p:cNvPr>
          <p:cNvSpPr txBox="1"/>
          <p:nvPr/>
        </p:nvSpPr>
        <p:spPr>
          <a:xfrm>
            <a:off x="4537952" y="4188937"/>
            <a:ext cx="5880371" cy="1477328"/>
          </a:xfrm>
          <a:prstGeom prst="rect">
            <a:avLst/>
          </a:prstGeom>
          <a:noFill/>
        </p:spPr>
        <p:txBody>
          <a:bodyPr wrap="square">
            <a:spAutoFit/>
          </a:bodyPr>
          <a:lstStyle/>
          <a:p>
            <a:r>
              <a:rPr lang="en-GB" sz="1800" b="1" dirty="0">
                <a:highlight>
                  <a:srgbClr val="FFFF00"/>
                </a:highlight>
              </a:rPr>
              <a:t>What this evaluates</a:t>
            </a:r>
          </a:p>
          <a:p>
            <a:r>
              <a:rPr lang="en-GB" sz="1800" dirty="0"/>
              <a:t>- future behaviour of known machines;</a:t>
            </a:r>
          </a:p>
          <a:p>
            <a:r>
              <a:rPr lang="en-GB" sz="1800" dirty="0"/>
              <a:t>- later sessions from known customers;</a:t>
            </a:r>
          </a:p>
          <a:p>
            <a:r>
              <a:rPr lang="en-GB" sz="1800" dirty="0"/>
              <a:t>- future production from known lines;</a:t>
            </a:r>
          </a:p>
          <a:p>
            <a:r>
              <a:rPr lang="en-GB" sz="1800" dirty="0"/>
              <a:t>- subsequent operation under possible ageing or drift.</a:t>
            </a:r>
          </a:p>
        </p:txBody>
      </p:sp>
    </p:spTree>
    <p:extLst>
      <p:ext uri="{BB962C8B-B14F-4D97-AF65-F5344CB8AC3E}">
        <p14:creationId xmlns:p14="http://schemas.microsoft.com/office/powerpoint/2010/main" val="20458866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6EF94F4-B0FD-6883-49E1-7F82B8D69C21}"/>
              </a:ext>
            </a:extLst>
          </p:cNvPr>
          <p:cNvSpPr>
            <a:spLocks noGrp="1"/>
          </p:cNvSpPr>
          <p:nvPr>
            <p:ph type="title"/>
          </p:nvPr>
        </p:nvSpPr>
        <p:spPr/>
        <p:txBody>
          <a:bodyPr/>
          <a:lstStyle/>
          <a:p>
            <a:r>
              <a:rPr lang="en-GB" b="1" dirty="0"/>
              <a:t>Example</a:t>
            </a:r>
            <a:endParaRPr lang="en-GB" dirty="0"/>
          </a:p>
        </p:txBody>
      </p:sp>
      <p:sp>
        <p:nvSpPr>
          <p:cNvPr id="3" name="Segnaposto contenuto 2">
            <a:extLst>
              <a:ext uri="{FF2B5EF4-FFF2-40B4-BE49-F238E27FC236}">
                <a16:creationId xmlns:a16="http://schemas.microsoft.com/office/drawing/2014/main" id="{C4AF94DD-A58D-9F68-25D8-0180A8D83F60}"/>
              </a:ext>
            </a:extLst>
          </p:cNvPr>
          <p:cNvSpPr>
            <a:spLocks noGrp="1"/>
          </p:cNvSpPr>
          <p:nvPr>
            <p:ph idx="1"/>
          </p:nvPr>
        </p:nvSpPr>
        <p:spPr/>
        <p:txBody>
          <a:bodyPr>
            <a:normAutofit fontScale="92500" lnSpcReduction="10000"/>
          </a:bodyPr>
          <a:lstStyle/>
          <a:p>
            <a:r>
              <a:rPr lang="en-GB" dirty="0"/>
              <a:t>Machine A:</a:t>
            </a:r>
          </a:p>
          <a:p>
            <a:pPr lvl="1"/>
            <a:r>
              <a:rPr lang="en-GB" dirty="0"/>
              <a:t>cycles 1–3 → training</a:t>
            </a:r>
          </a:p>
          <a:p>
            <a:pPr lvl="1"/>
            <a:r>
              <a:rPr lang="en-GB" dirty="0"/>
              <a:t>cycle 4    → validation</a:t>
            </a:r>
          </a:p>
          <a:p>
            <a:pPr lvl="1"/>
            <a:r>
              <a:rPr lang="en-GB" dirty="0"/>
              <a:t>cycle 5    → test</a:t>
            </a:r>
          </a:p>
          <a:p>
            <a:r>
              <a:rPr lang="en-GB" dirty="0"/>
              <a:t>The same procedure is repeated for Machines B and C.</a:t>
            </a:r>
          </a:p>
          <a:p>
            <a:r>
              <a:rPr lang="en-GB" b="1" dirty="0"/>
              <a:t>Strengths</a:t>
            </a:r>
          </a:p>
          <a:p>
            <a:pPr lvl="1"/>
            <a:r>
              <a:rPr lang="en-GB" dirty="0"/>
              <a:t>realistic for monitoring an existing installed fleet;</a:t>
            </a:r>
          </a:p>
          <a:p>
            <a:pPr lvl="1"/>
            <a:r>
              <a:rPr lang="en-GB" dirty="0"/>
              <a:t>preserves temporal ordering;</a:t>
            </a:r>
          </a:p>
          <a:p>
            <a:pPr lvl="1"/>
            <a:r>
              <a:rPr lang="en-GB" dirty="0"/>
              <a:t>evaluates future changes in known entities.</a:t>
            </a:r>
          </a:p>
          <a:p>
            <a:r>
              <a:rPr lang="en-GB" b="1" dirty="0"/>
              <a:t>Limitation</a:t>
            </a:r>
          </a:p>
          <a:p>
            <a:pPr lvl="1"/>
            <a:r>
              <a:rPr lang="en-GB" dirty="0"/>
              <a:t>It does not demonstrate performance on a completely new entity.</a:t>
            </a:r>
          </a:p>
          <a:p>
            <a:endParaRPr lang="en-GB" dirty="0"/>
          </a:p>
        </p:txBody>
      </p:sp>
      <p:sp>
        <p:nvSpPr>
          <p:cNvPr id="5" name="CasellaDiTesto 4">
            <a:extLst>
              <a:ext uri="{FF2B5EF4-FFF2-40B4-BE49-F238E27FC236}">
                <a16:creationId xmlns:a16="http://schemas.microsoft.com/office/drawing/2014/main" id="{BF8EB7EB-4EE3-CB47-0C0D-053410034190}"/>
              </a:ext>
            </a:extLst>
          </p:cNvPr>
          <p:cNvSpPr txBox="1"/>
          <p:nvPr/>
        </p:nvSpPr>
        <p:spPr>
          <a:xfrm>
            <a:off x="7918315" y="5948385"/>
            <a:ext cx="3954292" cy="646331"/>
          </a:xfrm>
          <a:prstGeom prst="rect">
            <a:avLst/>
          </a:prstGeom>
          <a:noFill/>
        </p:spPr>
        <p:txBody>
          <a:bodyPr wrap="square">
            <a:spAutoFit/>
          </a:bodyPr>
          <a:lstStyle/>
          <a:p>
            <a:r>
              <a:rPr lang="en-GB" sz="1800" dirty="0"/>
              <a:t>Temporal holdout and entity holdout measure different capabilities.</a:t>
            </a:r>
          </a:p>
        </p:txBody>
      </p:sp>
    </p:spTree>
    <p:extLst>
      <p:ext uri="{BB962C8B-B14F-4D97-AF65-F5344CB8AC3E}">
        <p14:creationId xmlns:p14="http://schemas.microsoft.com/office/powerpoint/2010/main" val="881103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65760"/>
            <a:ext cx="10881360" cy="411480"/>
          </a:xfrm>
          <a:prstGeom prst="rect">
            <a:avLst/>
          </a:prstGeom>
          <a:noFill/>
          <a:ln/>
        </p:spPr>
        <p:txBody>
          <a:bodyPr wrap="square" lIns="0" tIns="0" rIns="0" bIns="0" rtlCol="0" anchor="ctr"/>
          <a:lstStyle/>
          <a:p>
            <a:pPr marL="0" indent="0">
              <a:buNone/>
            </a:pPr>
            <a:r>
              <a:rPr lang="en-US" sz="3000" b="1" dirty="0">
                <a:solidFill>
                  <a:srgbClr val="172033"/>
                </a:solidFill>
                <a:latin typeface="Aptos Display" pitchFamily="34" charset="0"/>
                <a:ea typeface="Aptos Display" pitchFamily="34" charset="-122"/>
                <a:cs typeface="Aptos Display" pitchFamily="34" charset="-120"/>
              </a:rPr>
              <a:t>Time-based split repeated for each entity</a:t>
            </a:r>
            <a:endParaRPr lang="en-US" sz="3000" dirty="0"/>
          </a:p>
        </p:txBody>
      </p:sp>
      <p:sp>
        <p:nvSpPr>
          <p:cNvPr id="3" name="Text 1"/>
          <p:cNvSpPr/>
          <p:nvPr/>
        </p:nvSpPr>
        <p:spPr>
          <a:xfrm>
            <a:off x="658368" y="841248"/>
            <a:ext cx="9601200" cy="320040"/>
          </a:xfrm>
          <a:prstGeom prst="rect">
            <a:avLst/>
          </a:prstGeom>
          <a:noFill/>
          <a:ln/>
        </p:spPr>
        <p:txBody>
          <a:bodyPr wrap="square" lIns="0" tIns="0" rIns="0" bIns="0" rtlCol="0" anchor="ctr"/>
          <a:lstStyle/>
          <a:p>
            <a:pPr marL="0" indent="0">
              <a:buNone/>
            </a:pPr>
            <a:r>
              <a:rPr lang="en-US" sz="1550" dirty="0">
                <a:solidFill>
                  <a:srgbClr val="64748B"/>
                </a:solidFill>
                <a:latin typeface="Aptos" pitchFamily="34" charset="0"/>
                <a:ea typeface="Aptos" pitchFamily="34" charset="-122"/>
                <a:cs typeface="Aptos" pitchFamily="34" charset="-120"/>
              </a:rPr>
              <a:t>Each machine keeps chronological order: training first, then validation, then test.</a:t>
            </a:r>
            <a:endParaRPr lang="en-US" sz="1550" dirty="0"/>
          </a:p>
        </p:txBody>
      </p:sp>
      <p:sp>
        <p:nvSpPr>
          <p:cNvPr id="4" name="Shape 2"/>
          <p:cNvSpPr/>
          <p:nvPr/>
        </p:nvSpPr>
        <p:spPr>
          <a:xfrm>
            <a:off x="685800" y="1417320"/>
            <a:ext cx="10835640" cy="4480560"/>
          </a:xfrm>
          <a:prstGeom prst="roundRect">
            <a:avLst>
              <a:gd name="adj" fmla="val 1633"/>
            </a:avLst>
          </a:prstGeom>
          <a:solidFill>
            <a:srgbClr val="FFFFFF"/>
          </a:solidFill>
          <a:ln w="12700">
            <a:solidFill>
              <a:srgbClr val="E2E8F0"/>
            </a:solidFill>
            <a:prstDash val="solid"/>
          </a:ln>
        </p:spPr>
        <p:txBody>
          <a:bodyPr/>
          <a:lstStyle/>
          <a:p>
            <a:endParaRPr lang="en-GB"/>
          </a:p>
        </p:txBody>
      </p:sp>
      <p:sp>
        <p:nvSpPr>
          <p:cNvPr id="5" name="Text 3"/>
          <p:cNvSpPr/>
          <p:nvPr/>
        </p:nvSpPr>
        <p:spPr>
          <a:xfrm>
            <a:off x="1234440" y="1673352"/>
            <a:ext cx="594360" cy="256032"/>
          </a:xfrm>
          <a:prstGeom prst="rect">
            <a:avLst/>
          </a:prstGeom>
          <a:noFill/>
          <a:ln/>
        </p:spPr>
        <p:txBody>
          <a:bodyPr wrap="square" lIns="0" tIns="0" rIns="0" bIns="0" rtlCol="0" anchor="ctr"/>
          <a:lstStyle/>
          <a:p>
            <a:pPr marL="0" indent="0">
              <a:buNone/>
            </a:pPr>
            <a:r>
              <a:rPr lang="en-US" sz="1300" i="1" dirty="0">
                <a:solidFill>
                  <a:srgbClr val="64748B"/>
                </a:solidFill>
              </a:rPr>
              <a:t>time</a:t>
            </a:r>
            <a:endParaRPr lang="en-US" sz="1300" dirty="0"/>
          </a:p>
        </p:txBody>
      </p:sp>
      <p:sp>
        <p:nvSpPr>
          <p:cNvPr id="6" name="Shape 4"/>
          <p:cNvSpPr/>
          <p:nvPr/>
        </p:nvSpPr>
        <p:spPr>
          <a:xfrm>
            <a:off x="1874520" y="1801368"/>
            <a:ext cx="8503920" cy="0"/>
          </a:xfrm>
          <a:prstGeom prst="line">
            <a:avLst/>
          </a:prstGeom>
          <a:noFill/>
          <a:ln w="25400">
            <a:solidFill>
              <a:srgbClr val="CBD5E1"/>
            </a:solidFill>
            <a:prstDash val="solid"/>
            <a:tailEnd type="triangle"/>
          </a:ln>
        </p:spPr>
        <p:txBody>
          <a:bodyPr/>
          <a:lstStyle/>
          <a:p>
            <a:endParaRPr lang="en-GB"/>
          </a:p>
        </p:txBody>
      </p:sp>
      <p:sp>
        <p:nvSpPr>
          <p:cNvPr id="7" name="Text 5"/>
          <p:cNvSpPr/>
          <p:nvPr/>
        </p:nvSpPr>
        <p:spPr>
          <a:xfrm>
            <a:off x="1234440" y="2221992"/>
            <a:ext cx="1188720" cy="320040"/>
          </a:xfrm>
          <a:prstGeom prst="rect">
            <a:avLst/>
          </a:prstGeom>
          <a:noFill/>
          <a:ln/>
        </p:spPr>
        <p:txBody>
          <a:bodyPr wrap="square" lIns="0" tIns="0" rIns="0" bIns="0" rtlCol="0" anchor="ctr"/>
          <a:lstStyle/>
          <a:p>
            <a:pPr marL="0" indent="0">
              <a:buNone/>
            </a:pPr>
            <a:r>
              <a:rPr lang="en-US" sz="1500" b="1" dirty="0">
                <a:solidFill>
                  <a:srgbClr val="172033"/>
                </a:solidFill>
                <a:latin typeface="Aptos" pitchFamily="34" charset="0"/>
                <a:ea typeface="Aptos" pitchFamily="34" charset="-122"/>
                <a:cs typeface="Aptos" pitchFamily="34" charset="-120"/>
              </a:rPr>
              <a:t>Machine A</a:t>
            </a:r>
            <a:endParaRPr lang="en-US" sz="1500" dirty="0"/>
          </a:p>
        </p:txBody>
      </p:sp>
      <p:sp>
        <p:nvSpPr>
          <p:cNvPr id="8" name="Text 6"/>
          <p:cNvSpPr/>
          <p:nvPr/>
        </p:nvSpPr>
        <p:spPr>
          <a:xfrm>
            <a:off x="2606040" y="2148840"/>
            <a:ext cx="4069080" cy="530352"/>
          </a:xfrm>
          <a:prstGeom prst="rect">
            <a:avLst/>
          </a:prstGeom>
          <a:solidFill>
            <a:srgbClr val="2563EB"/>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training</a:t>
            </a:r>
            <a:endParaRPr lang="en-US" sz="1500" dirty="0"/>
          </a:p>
        </p:txBody>
      </p:sp>
      <p:sp>
        <p:nvSpPr>
          <p:cNvPr id="9" name="Text 7"/>
          <p:cNvSpPr/>
          <p:nvPr/>
        </p:nvSpPr>
        <p:spPr>
          <a:xfrm>
            <a:off x="6702552" y="2148840"/>
            <a:ext cx="2148840" cy="530352"/>
          </a:xfrm>
          <a:prstGeom prst="rect">
            <a:avLst/>
          </a:prstGeom>
          <a:solidFill>
            <a:srgbClr val="F59E0B"/>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validation</a:t>
            </a:r>
            <a:endParaRPr lang="en-US" sz="1500" dirty="0"/>
          </a:p>
        </p:txBody>
      </p:sp>
      <p:sp>
        <p:nvSpPr>
          <p:cNvPr id="10" name="Text 8"/>
          <p:cNvSpPr/>
          <p:nvPr/>
        </p:nvSpPr>
        <p:spPr>
          <a:xfrm>
            <a:off x="8878824" y="2148840"/>
            <a:ext cx="2148840" cy="530352"/>
          </a:xfrm>
          <a:prstGeom prst="rect">
            <a:avLst/>
          </a:prstGeom>
          <a:solidFill>
            <a:srgbClr val="EF4444"/>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test</a:t>
            </a:r>
            <a:endParaRPr lang="en-US" sz="1500" dirty="0"/>
          </a:p>
        </p:txBody>
      </p:sp>
      <p:sp>
        <p:nvSpPr>
          <p:cNvPr id="11" name="Text 9"/>
          <p:cNvSpPr/>
          <p:nvPr/>
        </p:nvSpPr>
        <p:spPr>
          <a:xfrm>
            <a:off x="1234440" y="3026664"/>
            <a:ext cx="1188720" cy="320040"/>
          </a:xfrm>
          <a:prstGeom prst="rect">
            <a:avLst/>
          </a:prstGeom>
          <a:noFill/>
          <a:ln/>
        </p:spPr>
        <p:txBody>
          <a:bodyPr wrap="square" lIns="0" tIns="0" rIns="0" bIns="0" rtlCol="0" anchor="ctr"/>
          <a:lstStyle/>
          <a:p>
            <a:pPr marL="0" indent="0">
              <a:buNone/>
            </a:pPr>
            <a:r>
              <a:rPr lang="en-US" sz="1500" b="1" dirty="0">
                <a:solidFill>
                  <a:srgbClr val="172033"/>
                </a:solidFill>
                <a:latin typeface="Aptos" pitchFamily="34" charset="0"/>
                <a:ea typeface="Aptos" pitchFamily="34" charset="-122"/>
                <a:cs typeface="Aptos" pitchFamily="34" charset="-120"/>
              </a:rPr>
              <a:t>Machine B</a:t>
            </a:r>
            <a:endParaRPr lang="en-US" sz="1500" dirty="0"/>
          </a:p>
        </p:txBody>
      </p:sp>
      <p:sp>
        <p:nvSpPr>
          <p:cNvPr id="12" name="Text 10"/>
          <p:cNvSpPr/>
          <p:nvPr/>
        </p:nvSpPr>
        <p:spPr>
          <a:xfrm>
            <a:off x="2606040" y="2953512"/>
            <a:ext cx="4069080" cy="530352"/>
          </a:xfrm>
          <a:prstGeom prst="rect">
            <a:avLst/>
          </a:prstGeom>
          <a:solidFill>
            <a:srgbClr val="2563EB"/>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training</a:t>
            </a:r>
            <a:endParaRPr lang="en-US" sz="1500" dirty="0"/>
          </a:p>
        </p:txBody>
      </p:sp>
      <p:sp>
        <p:nvSpPr>
          <p:cNvPr id="13" name="Text 11"/>
          <p:cNvSpPr/>
          <p:nvPr/>
        </p:nvSpPr>
        <p:spPr>
          <a:xfrm>
            <a:off x="6702552" y="2953512"/>
            <a:ext cx="2148840" cy="530352"/>
          </a:xfrm>
          <a:prstGeom prst="rect">
            <a:avLst/>
          </a:prstGeom>
          <a:solidFill>
            <a:srgbClr val="F59E0B"/>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validation</a:t>
            </a:r>
            <a:endParaRPr lang="en-US" sz="1500" dirty="0"/>
          </a:p>
        </p:txBody>
      </p:sp>
      <p:sp>
        <p:nvSpPr>
          <p:cNvPr id="14" name="Text 12"/>
          <p:cNvSpPr/>
          <p:nvPr/>
        </p:nvSpPr>
        <p:spPr>
          <a:xfrm>
            <a:off x="8878824" y="2953512"/>
            <a:ext cx="2148840" cy="530352"/>
          </a:xfrm>
          <a:prstGeom prst="rect">
            <a:avLst/>
          </a:prstGeom>
          <a:solidFill>
            <a:srgbClr val="EF4444"/>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test</a:t>
            </a:r>
            <a:endParaRPr lang="en-US" sz="1500" dirty="0"/>
          </a:p>
        </p:txBody>
      </p:sp>
      <p:sp>
        <p:nvSpPr>
          <p:cNvPr id="15" name="Text 13"/>
          <p:cNvSpPr/>
          <p:nvPr/>
        </p:nvSpPr>
        <p:spPr>
          <a:xfrm>
            <a:off x="1234440" y="3831336"/>
            <a:ext cx="1188720" cy="320040"/>
          </a:xfrm>
          <a:prstGeom prst="rect">
            <a:avLst/>
          </a:prstGeom>
          <a:noFill/>
          <a:ln/>
        </p:spPr>
        <p:txBody>
          <a:bodyPr wrap="square" lIns="0" tIns="0" rIns="0" bIns="0" rtlCol="0" anchor="ctr"/>
          <a:lstStyle/>
          <a:p>
            <a:pPr marL="0" indent="0">
              <a:buNone/>
            </a:pPr>
            <a:r>
              <a:rPr lang="en-US" sz="1500" b="1" dirty="0">
                <a:solidFill>
                  <a:srgbClr val="172033"/>
                </a:solidFill>
                <a:latin typeface="Aptos" pitchFamily="34" charset="0"/>
                <a:ea typeface="Aptos" pitchFamily="34" charset="-122"/>
                <a:cs typeface="Aptos" pitchFamily="34" charset="-120"/>
              </a:rPr>
              <a:t>Machine C</a:t>
            </a:r>
            <a:endParaRPr lang="en-US" sz="1500" dirty="0"/>
          </a:p>
        </p:txBody>
      </p:sp>
      <p:sp>
        <p:nvSpPr>
          <p:cNvPr id="16" name="Text 14"/>
          <p:cNvSpPr/>
          <p:nvPr/>
        </p:nvSpPr>
        <p:spPr>
          <a:xfrm>
            <a:off x="2606040" y="3758184"/>
            <a:ext cx="4069080" cy="530352"/>
          </a:xfrm>
          <a:prstGeom prst="rect">
            <a:avLst/>
          </a:prstGeom>
          <a:solidFill>
            <a:srgbClr val="2563EB"/>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training</a:t>
            </a:r>
            <a:endParaRPr lang="en-US" sz="1500" dirty="0"/>
          </a:p>
        </p:txBody>
      </p:sp>
      <p:sp>
        <p:nvSpPr>
          <p:cNvPr id="17" name="Text 15"/>
          <p:cNvSpPr/>
          <p:nvPr/>
        </p:nvSpPr>
        <p:spPr>
          <a:xfrm>
            <a:off x="6702552" y="3758184"/>
            <a:ext cx="2148840" cy="530352"/>
          </a:xfrm>
          <a:prstGeom prst="rect">
            <a:avLst/>
          </a:prstGeom>
          <a:solidFill>
            <a:srgbClr val="F59E0B"/>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validation</a:t>
            </a:r>
            <a:endParaRPr lang="en-US" sz="1500" dirty="0"/>
          </a:p>
        </p:txBody>
      </p:sp>
      <p:sp>
        <p:nvSpPr>
          <p:cNvPr id="18" name="Text 16"/>
          <p:cNvSpPr/>
          <p:nvPr/>
        </p:nvSpPr>
        <p:spPr>
          <a:xfrm>
            <a:off x="8878824" y="3758184"/>
            <a:ext cx="2148840" cy="530352"/>
          </a:xfrm>
          <a:prstGeom prst="rect">
            <a:avLst/>
          </a:prstGeom>
          <a:solidFill>
            <a:srgbClr val="EF4444"/>
          </a:solidFill>
          <a:ln w="16510">
            <a:solidFill>
              <a:srgbClr val="FFFFFF"/>
            </a:solid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test</a:t>
            </a:r>
            <a:endParaRPr lang="en-US" sz="1500" dirty="0"/>
          </a:p>
        </p:txBody>
      </p:sp>
      <p:sp>
        <p:nvSpPr>
          <p:cNvPr id="19" name="Text 17"/>
          <p:cNvSpPr/>
          <p:nvPr/>
        </p:nvSpPr>
        <p:spPr>
          <a:xfrm>
            <a:off x="1234440" y="4663440"/>
            <a:ext cx="5577840" cy="256032"/>
          </a:xfrm>
          <a:prstGeom prst="rect">
            <a:avLst/>
          </a:prstGeom>
          <a:noFill/>
          <a:ln/>
        </p:spPr>
        <p:txBody>
          <a:bodyPr wrap="square" lIns="0" tIns="0" rIns="0" bIns="0" rtlCol="0" anchor="ctr"/>
          <a:lstStyle/>
          <a:p>
            <a:pPr marL="0" indent="0">
              <a:buNone/>
            </a:pPr>
            <a:r>
              <a:rPr lang="en-US" sz="1350" dirty="0">
                <a:solidFill>
                  <a:srgbClr val="64748B"/>
                </a:solidFill>
                <a:latin typeface="Aptos" pitchFamily="34" charset="0"/>
                <a:ea typeface="Aptos" pitchFamily="34" charset="-122"/>
                <a:cs typeface="Aptos" pitchFamily="34" charset="-120"/>
              </a:rPr>
              <a:t>Chronological split is applied within each entity timeline.</a:t>
            </a:r>
            <a:endParaRPr lang="en-US" sz="1350" dirty="0"/>
          </a:p>
        </p:txBody>
      </p:sp>
      <p:sp>
        <p:nvSpPr>
          <p:cNvPr id="20" name="Text 18"/>
          <p:cNvSpPr/>
          <p:nvPr/>
        </p:nvSpPr>
        <p:spPr>
          <a:xfrm>
            <a:off x="7178040" y="5029200"/>
            <a:ext cx="1033272" cy="347472"/>
          </a:xfrm>
          <a:prstGeom prst="roundRect">
            <a:avLst>
              <a:gd name="adj" fmla="val 10526"/>
            </a:avLst>
          </a:prstGeom>
          <a:solidFill>
            <a:srgbClr val="2563EB"/>
          </a:solidFill>
          <a:ln>
            <a:solidFill>
              <a:srgbClr val="2563EB">
                <a:alpha val="0"/>
              </a:srgbClr>
            </a:solidFill>
          </a:ln>
        </p:spPr>
        <p:txBody>
          <a:bodyPr wrap="square" lIns="254" tIns="254" rIns="254" bIns="254" rtlCol="0" anchor="ctr"/>
          <a:lstStyle/>
          <a:p>
            <a:pPr marL="0" indent="0" algn="ctr">
              <a:buNone/>
            </a:pPr>
            <a:r>
              <a:rPr lang="en-US" sz="1150" b="1" dirty="0">
                <a:solidFill>
                  <a:srgbClr val="FFFFFF"/>
                </a:solidFill>
                <a:latin typeface="Aptos" pitchFamily="34" charset="0"/>
                <a:ea typeface="Aptos" pitchFamily="34" charset="-122"/>
                <a:cs typeface="Aptos" pitchFamily="34" charset="-120"/>
              </a:rPr>
              <a:t>training</a:t>
            </a:r>
            <a:endParaRPr lang="en-US" sz="1150" dirty="0"/>
          </a:p>
        </p:txBody>
      </p:sp>
      <p:sp>
        <p:nvSpPr>
          <p:cNvPr id="21" name="Text 19"/>
          <p:cNvSpPr/>
          <p:nvPr/>
        </p:nvSpPr>
        <p:spPr>
          <a:xfrm>
            <a:off x="8348472" y="5029200"/>
            <a:ext cx="1033272" cy="347472"/>
          </a:xfrm>
          <a:prstGeom prst="roundRect">
            <a:avLst>
              <a:gd name="adj" fmla="val 10526"/>
            </a:avLst>
          </a:prstGeom>
          <a:solidFill>
            <a:srgbClr val="F59E0B"/>
          </a:solidFill>
          <a:ln>
            <a:solidFill>
              <a:srgbClr val="F59E0B">
                <a:alpha val="0"/>
              </a:srgbClr>
            </a:solidFill>
          </a:ln>
        </p:spPr>
        <p:txBody>
          <a:bodyPr wrap="square" lIns="254" tIns="254" rIns="254" bIns="254" rtlCol="0" anchor="ctr"/>
          <a:lstStyle/>
          <a:p>
            <a:pPr marL="0" indent="0" algn="ctr">
              <a:buNone/>
            </a:pPr>
            <a:r>
              <a:rPr lang="en-US" sz="1150" b="1" dirty="0">
                <a:solidFill>
                  <a:srgbClr val="FFFFFF"/>
                </a:solidFill>
                <a:latin typeface="Aptos" pitchFamily="34" charset="0"/>
                <a:ea typeface="Aptos" pitchFamily="34" charset="-122"/>
                <a:cs typeface="Aptos" pitchFamily="34" charset="-120"/>
              </a:rPr>
              <a:t>validation</a:t>
            </a:r>
            <a:endParaRPr lang="en-US" sz="1150" dirty="0"/>
          </a:p>
        </p:txBody>
      </p:sp>
      <p:sp>
        <p:nvSpPr>
          <p:cNvPr id="22" name="Text 20"/>
          <p:cNvSpPr/>
          <p:nvPr/>
        </p:nvSpPr>
        <p:spPr>
          <a:xfrm>
            <a:off x="9518904" y="5029200"/>
            <a:ext cx="1033272" cy="347472"/>
          </a:xfrm>
          <a:prstGeom prst="roundRect">
            <a:avLst>
              <a:gd name="adj" fmla="val 10526"/>
            </a:avLst>
          </a:prstGeom>
          <a:solidFill>
            <a:srgbClr val="EF4444"/>
          </a:solidFill>
          <a:ln>
            <a:solidFill>
              <a:srgbClr val="EF4444">
                <a:alpha val="0"/>
              </a:srgbClr>
            </a:solidFill>
          </a:ln>
        </p:spPr>
        <p:txBody>
          <a:bodyPr wrap="square" lIns="254" tIns="254" rIns="254" bIns="254" rtlCol="0" anchor="ctr"/>
          <a:lstStyle/>
          <a:p>
            <a:pPr marL="0" indent="0" algn="ctr">
              <a:buNone/>
            </a:pPr>
            <a:r>
              <a:rPr lang="en-US" sz="1150" b="1" dirty="0">
                <a:solidFill>
                  <a:srgbClr val="FFFFFF"/>
                </a:solidFill>
                <a:latin typeface="Aptos" pitchFamily="34" charset="0"/>
                <a:ea typeface="Aptos" pitchFamily="34" charset="-122"/>
                <a:cs typeface="Aptos" pitchFamily="34" charset="-120"/>
              </a:rPr>
              <a:t>test</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2BDC6BA-CE4E-F008-01A7-EC987E74E5C6}"/>
              </a:ext>
            </a:extLst>
          </p:cNvPr>
          <p:cNvSpPr>
            <a:spLocks noGrp="1"/>
          </p:cNvSpPr>
          <p:nvPr>
            <p:ph type="title"/>
          </p:nvPr>
        </p:nvSpPr>
        <p:spPr/>
        <p:txBody>
          <a:bodyPr/>
          <a:lstStyle/>
          <a:p>
            <a:r>
              <a:rPr lang="en-GB" dirty="0"/>
              <a:t>Generalization to unseen entities</a:t>
            </a:r>
          </a:p>
        </p:txBody>
      </p:sp>
      <p:sp>
        <p:nvSpPr>
          <p:cNvPr id="3" name="Segnaposto contenuto 2">
            <a:extLst>
              <a:ext uri="{FF2B5EF4-FFF2-40B4-BE49-F238E27FC236}">
                <a16:creationId xmlns:a16="http://schemas.microsoft.com/office/drawing/2014/main" id="{7D29C7B5-918A-883B-4345-8DC9AD479653}"/>
              </a:ext>
            </a:extLst>
          </p:cNvPr>
          <p:cNvSpPr>
            <a:spLocks noGrp="1"/>
          </p:cNvSpPr>
          <p:nvPr>
            <p:ph idx="1"/>
          </p:nvPr>
        </p:nvSpPr>
        <p:spPr/>
        <p:txBody>
          <a:bodyPr>
            <a:normAutofit fontScale="55000" lnSpcReduction="20000"/>
          </a:bodyPr>
          <a:lstStyle/>
          <a:p>
            <a:r>
              <a:rPr lang="en-GB" dirty="0"/>
              <a:t>Suppose the model must be deployed on machines not represented during training.</a:t>
            </a:r>
          </a:p>
          <a:p>
            <a:r>
              <a:rPr lang="en-GB" dirty="0"/>
              <a:t>A valid test set must then contain complete held-out machines.</a:t>
            </a:r>
          </a:p>
          <a:p>
            <a:r>
              <a:rPr lang="en-GB" dirty="0"/>
              <a:t>Training: Machines A, B, C</a:t>
            </a:r>
          </a:p>
          <a:p>
            <a:r>
              <a:rPr lang="en-GB" dirty="0"/>
              <a:t>Validation: Machine D</a:t>
            </a:r>
          </a:p>
          <a:p>
            <a:r>
              <a:rPr lang="en-GB" dirty="0"/>
              <a:t>Test: Machine E</a:t>
            </a:r>
          </a:p>
          <a:p>
            <a:r>
              <a:rPr lang="en-GB" b="1" dirty="0"/>
              <a:t>Why complete entity separation matters</a:t>
            </a:r>
          </a:p>
          <a:p>
            <a:r>
              <a:rPr lang="en-GB" dirty="0"/>
              <a:t>Different entities may have distinctive characteristics:</a:t>
            </a:r>
          </a:p>
          <a:p>
            <a:pPr lvl="1"/>
            <a:r>
              <a:rPr lang="en-GB" dirty="0"/>
              <a:t>sensor calibration;</a:t>
            </a:r>
          </a:p>
          <a:p>
            <a:pPr lvl="1"/>
            <a:r>
              <a:rPr lang="en-GB" dirty="0"/>
              <a:t>baseline levels;</a:t>
            </a:r>
          </a:p>
          <a:p>
            <a:pPr lvl="1"/>
            <a:r>
              <a:rPr lang="en-GB" dirty="0"/>
              <a:t>background noise;</a:t>
            </a:r>
          </a:p>
          <a:p>
            <a:pPr lvl="1"/>
            <a:r>
              <a:rPr lang="en-GB" dirty="0"/>
              <a:t>manufacturing tolerances;</a:t>
            </a:r>
          </a:p>
          <a:p>
            <a:pPr lvl="1"/>
            <a:r>
              <a:rPr lang="en-GB" dirty="0"/>
              <a:t>usage history;</a:t>
            </a:r>
          </a:p>
          <a:p>
            <a:pPr lvl="1"/>
            <a:r>
              <a:rPr lang="en-GB" dirty="0"/>
              <a:t>customer behaviour;</a:t>
            </a:r>
          </a:p>
          <a:p>
            <a:pPr lvl="1"/>
            <a:r>
              <a:rPr lang="en-GB" dirty="0"/>
              <a:t>site-specific conditions.</a:t>
            </a:r>
          </a:p>
          <a:p>
            <a:r>
              <a:rPr lang="en-GB" b="1" dirty="0">
                <a:highlight>
                  <a:srgbClr val="FFFF00"/>
                </a:highlight>
              </a:rPr>
              <a:t>If the same entity appears in both training and test sets</a:t>
            </a:r>
            <a:r>
              <a:rPr lang="en-GB" b="1" dirty="0"/>
              <a:t>, the model may learn entity identity rather than the desired general pattern.</a:t>
            </a:r>
          </a:p>
          <a:p>
            <a:endParaRPr lang="en-GB" dirty="0"/>
          </a:p>
        </p:txBody>
      </p:sp>
    </p:spTree>
    <p:extLst>
      <p:ext uri="{BB962C8B-B14F-4D97-AF65-F5344CB8AC3E}">
        <p14:creationId xmlns:p14="http://schemas.microsoft.com/office/powerpoint/2010/main" val="1311886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D2FE66-E5A9-A41B-AB48-2DB0121B6DBA}"/>
              </a:ext>
            </a:extLst>
          </p:cNvPr>
          <p:cNvSpPr>
            <a:spLocks noGrp="1"/>
          </p:cNvSpPr>
          <p:nvPr>
            <p:ph type="title"/>
          </p:nvPr>
        </p:nvSpPr>
        <p:spPr/>
        <p:txBody>
          <a:bodyPr/>
          <a:lstStyle/>
          <a:p>
            <a:r>
              <a:rPr lang="en-GB" b="1" dirty="0"/>
              <a:t>Example</a:t>
            </a:r>
            <a:br>
              <a:rPr lang="en-GB" b="1" dirty="0"/>
            </a:br>
            <a:endParaRPr lang="en-GB" dirty="0"/>
          </a:p>
        </p:txBody>
      </p:sp>
      <p:sp>
        <p:nvSpPr>
          <p:cNvPr id="3" name="Segnaposto contenuto 2">
            <a:extLst>
              <a:ext uri="{FF2B5EF4-FFF2-40B4-BE49-F238E27FC236}">
                <a16:creationId xmlns:a16="http://schemas.microsoft.com/office/drawing/2014/main" id="{13B94FA8-4ADB-1C6D-A01A-3975048BBA48}"/>
              </a:ext>
            </a:extLst>
          </p:cNvPr>
          <p:cNvSpPr>
            <a:spLocks noGrp="1"/>
          </p:cNvSpPr>
          <p:nvPr>
            <p:ph idx="1"/>
          </p:nvPr>
        </p:nvSpPr>
        <p:spPr/>
        <p:txBody>
          <a:bodyPr>
            <a:normAutofit fontScale="62500" lnSpcReduction="20000"/>
          </a:bodyPr>
          <a:lstStyle/>
          <a:p>
            <a:r>
              <a:rPr lang="en-GB" dirty="0"/>
              <a:t>A vibration model may recognize the characteristic baseline spectrum of Machine A.</a:t>
            </a:r>
          </a:p>
          <a:p>
            <a:r>
              <a:rPr lang="en-GB" dirty="0"/>
              <a:t>It may then classify windows from Machine A correctly without learning a fault pattern that transfers to Machine B.</a:t>
            </a:r>
          </a:p>
          <a:p>
            <a:r>
              <a:rPr lang="en-GB" b="1" dirty="0"/>
              <a:t>Grouped splitting rule</a:t>
            </a:r>
          </a:p>
          <a:p>
            <a:r>
              <a:rPr lang="en-GB" dirty="0"/>
              <a:t>All samples derived from one entity must be assigned to the same partition.</a:t>
            </a:r>
          </a:p>
          <a:p>
            <a:r>
              <a:rPr lang="en-GB" dirty="0" err="1"/>
              <a:t>entity_id</a:t>
            </a:r>
            <a:r>
              <a:rPr lang="en-GB" dirty="0"/>
              <a:t> → one partition only</a:t>
            </a:r>
          </a:p>
          <a:p>
            <a:r>
              <a:rPr lang="en-GB" b="1" dirty="0"/>
              <a:t>Validation design</a:t>
            </a:r>
          </a:p>
          <a:p>
            <a:r>
              <a:rPr lang="en-GB" dirty="0"/>
              <a:t>Validation entities should also be different from test entities.</a:t>
            </a:r>
          </a:p>
          <a:p>
            <a:r>
              <a:rPr lang="en-GB" dirty="0"/>
              <a:t>Otherwise, model selection can become specialized to the eventual test group.</a:t>
            </a:r>
          </a:p>
          <a:p>
            <a:r>
              <a:rPr lang="en-GB" b="1" dirty="0">
                <a:highlight>
                  <a:srgbClr val="FFFF00"/>
                </a:highlight>
              </a:rPr>
              <a:t>Challenge</a:t>
            </a:r>
          </a:p>
          <a:p>
            <a:r>
              <a:rPr lang="en-GB" dirty="0"/>
              <a:t>Entity-level evaluation may have higher variance when only a small number of entities are available.</a:t>
            </a:r>
          </a:p>
          <a:p>
            <a:r>
              <a:rPr lang="en-GB" dirty="0"/>
              <a:t>Performance should therefore be reported:</a:t>
            </a:r>
          </a:p>
          <a:p>
            <a:pPr lvl="1"/>
            <a:r>
              <a:rPr lang="en-GB" dirty="0"/>
              <a:t>across individual entities;</a:t>
            </a:r>
          </a:p>
          <a:p>
            <a:pPr lvl="1"/>
            <a:r>
              <a:rPr lang="en-GB" dirty="0"/>
              <a:t>as an aggregate;</a:t>
            </a:r>
          </a:p>
          <a:p>
            <a:pPr lvl="1"/>
            <a:r>
              <a:rPr lang="en-GB" dirty="0"/>
              <a:t>with variability across held-out groups.</a:t>
            </a:r>
          </a:p>
          <a:p>
            <a:endParaRPr lang="en-GB" dirty="0"/>
          </a:p>
        </p:txBody>
      </p:sp>
    </p:spTree>
    <p:extLst>
      <p:ext uri="{BB962C8B-B14F-4D97-AF65-F5344CB8AC3E}">
        <p14:creationId xmlns:p14="http://schemas.microsoft.com/office/powerpoint/2010/main" val="19116712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20040"/>
            <a:ext cx="10881360" cy="502920"/>
          </a:xfrm>
          <a:prstGeom prst="rect">
            <a:avLst/>
          </a:prstGeom>
          <a:noFill/>
          <a:ln/>
        </p:spPr>
        <p:txBody>
          <a:bodyPr wrap="square" lIns="1016" tIns="1016" rIns="1016" bIns="1016" rtlCol="0" anchor="ctr">
            <a:normAutofit/>
          </a:bodyPr>
          <a:lstStyle/>
          <a:p>
            <a:pPr marL="0" indent="0" algn="l">
              <a:buNone/>
            </a:pPr>
            <a:r>
              <a:rPr lang="en-US" sz="3000" b="1" dirty="0">
                <a:solidFill>
                  <a:srgbClr val="111827"/>
                </a:solidFill>
                <a:latin typeface="Aptos" pitchFamily="34" charset="0"/>
                <a:ea typeface="Aptos" pitchFamily="34" charset="-122"/>
                <a:cs typeface="Aptos" pitchFamily="34" charset="-120"/>
              </a:rPr>
              <a:t>Entity-level split</a:t>
            </a:r>
            <a:endParaRPr lang="en-US" sz="3000" dirty="0"/>
          </a:p>
        </p:txBody>
      </p:sp>
      <p:sp>
        <p:nvSpPr>
          <p:cNvPr id="3" name="Text 1"/>
          <p:cNvSpPr/>
          <p:nvPr/>
        </p:nvSpPr>
        <p:spPr>
          <a:xfrm>
            <a:off x="658368" y="841248"/>
            <a:ext cx="10789920" cy="320040"/>
          </a:xfrm>
          <a:prstGeom prst="rect">
            <a:avLst/>
          </a:prstGeom>
          <a:noFill/>
          <a:ln/>
        </p:spPr>
        <p:txBody>
          <a:bodyPr wrap="square" lIns="1016" tIns="1016" rIns="1016" bIns="1016" rtlCol="0" anchor="ctr">
            <a:normAutofit/>
          </a:bodyPr>
          <a:lstStyle/>
          <a:p>
            <a:pPr marL="0" indent="0" algn="l">
              <a:buNone/>
            </a:pPr>
            <a:r>
              <a:rPr lang="en-US" sz="1600" dirty="0">
                <a:solidFill>
                  <a:srgbClr val="64748B"/>
                </a:solidFill>
                <a:latin typeface="Aptos" pitchFamily="34" charset="0"/>
                <a:ea typeface="Aptos" pitchFamily="34" charset="-122"/>
                <a:cs typeface="Aptos" pitchFamily="34" charset="-120"/>
              </a:rPr>
              <a:t>Each entity belongs to exactly one partition</a:t>
            </a:r>
            <a:endParaRPr lang="en-US" sz="1600" dirty="0"/>
          </a:p>
        </p:txBody>
      </p:sp>
      <p:sp>
        <p:nvSpPr>
          <p:cNvPr id="4" name="Text 2"/>
          <p:cNvSpPr/>
          <p:nvPr/>
        </p:nvSpPr>
        <p:spPr>
          <a:xfrm>
            <a:off x="998068" y="1874520"/>
            <a:ext cx="3063240" cy="2788920"/>
          </a:xfrm>
          <a:prstGeom prst="rect">
            <a:avLst/>
          </a:prstGeom>
          <a:solidFill>
            <a:srgbClr val="E8F2FF"/>
          </a:solidFill>
          <a:ln w="25400">
            <a:solidFill>
              <a:srgbClr val="2F80ED"/>
            </a:solidFill>
          </a:ln>
        </p:spPr>
        <p:txBody>
          <a:bodyPr wrap="square" lIns="2286" tIns="2286" rIns="2286" bIns="2286" rtlCol="0" anchor="ctr">
            <a:normAutofit/>
          </a:bodyPr>
          <a:lstStyle/>
          <a:p>
            <a:pPr marL="0" indent="0" algn="ctr">
              <a:buNone/>
            </a:pPr>
            <a:r>
              <a:rPr lang="en-US" sz="2400" b="1" dirty="0">
                <a:solidFill>
                  <a:srgbClr val="2F80ED"/>
                </a:solidFill>
                <a:latin typeface="Aptos" pitchFamily="34" charset="0"/>
                <a:ea typeface="Aptos" pitchFamily="34" charset="-122"/>
                <a:cs typeface="Aptos" pitchFamily="34" charset="-120"/>
              </a:rPr>
              <a:t>Training entities</a:t>
            </a:r>
            <a:endParaRPr lang="en-US" sz="2400" dirty="0"/>
          </a:p>
          <a:p>
            <a:pPr marL="0" indent="0" algn="ctr">
              <a:buNone/>
            </a:pPr>
            <a:endParaRPr lang="en-US" sz="2400" dirty="0"/>
          </a:p>
          <a:p>
            <a:pPr marL="0" indent="0" algn="ctr">
              <a:buNone/>
            </a:pPr>
            <a:r>
              <a:rPr lang="en-US" sz="2400" b="1" dirty="0">
                <a:solidFill>
                  <a:srgbClr val="2F80ED"/>
                </a:solidFill>
                <a:latin typeface="Aptos" pitchFamily="34" charset="0"/>
                <a:ea typeface="Aptos" pitchFamily="34" charset="-122"/>
                <a:cs typeface="Aptos" pitchFamily="34" charset="-120"/>
              </a:rPr>
              <a:t>A   B   C</a:t>
            </a:r>
            <a:endParaRPr lang="en-US" sz="2400" dirty="0"/>
          </a:p>
        </p:txBody>
      </p:sp>
      <p:sp>
        <p:nvSpPr>
          <p:cNvPr id="5" name="Text 3"/>
          <p:cNvSpPr/>
          <p:nvPr/>
        </p:nvSpPr>
        <p:spPr>
          <a:xfrm>
            <a:off x="1592428" y="4864608"/>
            <a:ext cx="1874520" cy="292608"/>
          </a:xfrm>
          <a:prstGeom prst="rect">
            <a:avLst/>
          </a:prstGeom>
          <a:solidFill>
            <a:srgbClr val="FFFFFF"/>
          </a:solidFill>
          <a:ln w="7620">
            <a:solidFill>
              <a:srgbClr val="CBD5E1"/>
            </a:solidFill>
          </a:ln>
        </p:spPr>
        <p:txBody>
          <a:bodyPr wrap="square" lIns="1016" tIns="1016" rIns="1016" bIns="1016" rtlCol="0" anchor="ctr">
            <a:normAutofit/>
          </a:bodyPr>
          <a:lstStyle/>
          <a:p>
            <a:pPr marL="0" indent="0" algn="ctr">
              <a:buNone/>
            </a:pPr>
            <a:r>
              <a:rPr lang="en-US" sz="1200" dirty="0">
                <a:solidFill>
                  <a:srgbClr val="64748B"/>
                </a:solidFill>
                <a:latin typeface="Aptos" pitchFamily="34" charset="0"/>
                <a:ea typeface="Aptos" pitchFamily="34" charset="-122"/>
                <a:cs typeface="Aptos" pitchFamily="34" charset="-120"/>
              </a:rPr>
              <a:t>separate box</a:t>
            </a:r>
            <a:endParaRPr lang="en-US" sz="1200" dirty="0"/>
          </a:p>
        </p:txBody>
      </p:sp>
      <p:sp>
        <p:nvSpPr>
          <p:cNvPr id="6" name="Text 4"/>
          <p:cNvSpPr/>
          <p:nvPr/>
        </p:nvSpPr>
        <p:spPr>
          <a:xfrm>
            <a:off x="4564228" y="1874520"/>
            <a:ext cx="3063240" cy="2788920"/>
          </a:xfrm>
          <a:prstGeom prst="rect">
            <a:avLst/>
          </a:prstGeom>
          <a:solidFill>
            <a:srgbClr val="FFF3E8"/>
          </a:solidFill>
          <a:ln w="25400">
            <a:solidFill>
              <a:srgbClr val="F2994A"/>
            </a:solidFill>
          </a:ln>
        </p:spPr>
        <p:txBody>
          <a:bodyPr wrap="square" lIns="2286" tIns="2286" rIns="2286" bIns="2286" rtlCol="0" anchor="ctr">
            <a:normAutofit/>
          </a:bodyPr>
          <a:lstStyle/>
          <a:p>
            <a:pPr marL="0" indent="0" algn="ctr">
              <a:buNone/>
            </a:pPr>
            <a:r>
              <a:rPr lang="en-US" sz="2400" b="1" dirty="0">
                <a:solidFill>
                  <a:srgbClr val="F2994A"/>
                </a:solidFill>
                <a:latin typeface="Aptos" pitchFamily="34" charset="0"/>
                <a:ea typeface="Aptos" pitchFamily="34" charset="-122"/>
                <a:cs typeface="Aptos" pitchFamily="34" charset="-120"/>
              </a:rPr>
              <a:t>Validation entities</a:t>
            </a:r>
            <a:endParaRPr lang="en-US" sz="2400" dirty="0"/>
          </a:p>
          <a:p>
            <a:pPr marL="0" indent="0" algn="ctr">
              <a:buNone/>
            </a:pPr>
            <a:endParaRPr lang="en-US" sz="2400" dirty="0"/>
          </a:p>
          <a:p>
            <a:pPr marL="0" indent="0" algn="ctr">
              <a:buNone/>
            </a:pPr>
            <a:r>
              <a:rPr lang="en-US" sz="2400" b="1" dirty="0">
                <a:solidFill>
                  <a:srgbClr val="F2994A"/>
                </a:solidFill>
                <a:latin typeface="Aptos" pitchFamily="34" charset="0"/>
                <a:ea typeface="Aptos" pitchFamily="34" charset="-122"/>
                <a:cs typeface="Aptos" pitchFamily="34" charset="-120"/>
              </a:rPr>
              <a:t>D</a:t>
            </a:r>
            <a:endParaRPr lang="en-US" sz="2400" dirty="0"/>
          </a:p>
        </p:txBody>
      </p:sp>
      <p:sp>
        <p:nvSpPr>
          <p:cNvPr id="7" name="Text 5"/>
          <p:cNvSpPr/>
          <p:nvPr/>
        </p:nvSpPr>
        <p:spPr>
          <a:xfrm>
            <a:off x="5158588" y="4864608"/>
            <a:ext cx="1874520" cy="292608"/>
          </a:xfrm>
          <a:prstGeom prst="rect">
            <a:avLst/>
          </a:prstGeom>
          <a:solidFill>
            <a:srgbClr val="FFFFFF"/>
          </a:solidFill>
          <a:ln w="7620">
            <a:solidFill>
              <a:srgbClr val="CBD5E1"/>
            </a:solidFill>
          </a:ln>
        </p:spPr>
        <p:txBody>
          <a:bodyPr wrap="square" lIns="1016" tIns="1016" rIns="1016" bIns="1016" rtlCol="0" anchor="ctr">
            <a:normAutofit/>
          </a:bodyPr>
          <a:lstStyle/>
          <a:p>
            <a:pPr marL="0" indent="0" algn="ctr">
              <a:buNone/>
            </a:pPr>
            <a:r>
              <a:rPr lang="en-US" sz="1200" dirty="0">
                <a:solidFill>
                  <a:srgbClr val="64748B"/>
                </a:solidFill>
                <a:latin typeface="Aptos" pitchFamily="34" charset="0"/>
                <a:ea typeface="Aptos" pitchFamily="34" charset="-122"/>
                <a:cs typeface="Aptos" pitchFamily="34" charset="-120"/>
              </a:rPr>
              <a:t>separate box</a:t>
            </a:r>
            <a:endParaRPr lang="en-US" sz="1200" dirty="0"/>
          </a:p>
        </p:txBody>
      </p:sp>
      <p:sp>
        <p:nvSpPr>
          <p:cNvPr id="8" name="Text 6"/>
          <p:cNvSpPr/>
          <p:nvPr/>
        </p:nvSpPr>
        <p:spPr>
          <a:xfrm>
            <a:off x="8130388" y="1874520"/>
            <a:ext cx="3063240" cy="2788920"/>
          </a:xfrm>
          <a:prstGeom prst="rect">
            <a:avLst/>
          </a:prstGeom>
          <a:solidFill>
            <a:srgbClr val="FDECEC"/>
          </a:solidFill>
          <a:ln w="25400">
            <a:solidFill>
              <a:srgbClr val="EB5757"/>
            </a:solidFill>
          </a:ln>
        </p:spPr>
        <p:txBody>
          <a:bodyPr wrap="square" lIns="2286" tIns="2286" rIns="2286" bIns="2286" rtlCol="0" anchor="ctr">
            <a:normAutofit/>
          </a:bodyPr>
          <a:lstStyle/>
          <a:p>
            <a:pPr marL="0" indent="0" algn="ctr">
              <a:buNone/>
            </a:pPr>
            <a:r>
              <a:rPr lang="en-US" sz="2400" b="1" dirty="0">
                <a:solidFill>
                  <a:srgbClr val="EB5757"/>
                </a:solidFill>
                <a:latin typeface="Aptos" pitchFamily="34" charset="0"/>
                <a:ea typeface="Aptos" pitchFamily="34" charset="-122"/>
                <a:cs typeface="Aptos" pitchFamily="34" charset="-120"/>
              </a:rPr>
              <a:t>Test entities</a:t>
            </a:r>
            <a:endParaRPr lang="en-US" sz="2400" dirty="0"/>
          </a:p>
          <a:p>
            <a:pPr marL="0" indent="0" algn="ctr">
              <a:buNone/>
            </a:pPr>
            <a:endParaRPr lang="en-US" sz="2400" dirty="0"/>
          </a:p>
          <a:p>
            <a:pPr marL="0" indent="0" algn="ctr">
              <a:buNone/>
            </a:pPr>
            <a:r>
              <a:rPr lang="en-US" sz="2400" b="1" dirty="0">
                <a:solidFill>
                  <a:srgbClr val="EB5757"/>
                </a:solidFill>
                <a:latin typeface="Aptos" pitchFamily="34" charset="0"/>
                <a:ea typeface="Aptos" pitchFamily="34" charset="-122"/>
                <a:cs typeface="Aptos" pitchFamily="34" charset="-120"/>
              </a:rPr>
              <a:t>E</a:t>
            </a:r>
            <a:endParaRPr lang="en-US" sz="2400" dirty="0"/>
          </a:p>
        </p:txBody>
      </p:sp>
      <p:sp>
        <p:nvSpPr>
          <p:cNvPr id="9" name="Text 7"/>
          <p:cNvSpPr/>
          <p:nvPr/>
        </p:nvSpPr>
        <p:spPr>
          <a:xfrm>
            <a:off x="8724748" y="4864608"/>
            <a:ext cx="1874520" cy="292608"/>
          </a:xfrm>
          <a:prstGeom prst="rect">
            <a:avLst/>
          </a:prstGeom>
          <a:solidFill>
            <a:srgbClr val="FFFFFF"/>
          </a:solidFill>
          <a:ln w="7620">
            <a:solidFill>
              <a:srgbClr val="CBD5E1"/>
            </a:solidFill>
          </a:ln>
        </p:spPr>
        <p:txBody>
          <a:bodyPr wrap="square" lIns="1016" tIns="1016" rIns="1016" bIns="1016" rtlCol="0" anchor="ctr">
            <a:normAutofit/>
          </a:bodyPr>
          <a:lstStyle/>
          <a:p>
            <a:pPr marL="0" indent="0" algn="ctr">
              <a:buNone/>
            </a:pPr>
            <a:r>
              <a:rPr lang="en-US" sz="1200" dirty="0">
                <a:solidFill>
                  <a:srgbClr val="64748B"/>
                </a:solidFill>
                <a:latin typeface="Aptos" pitchFamily="34" charset="0"/>
                <a:ea typeface="Aptos" pitchFamily="34" charset="-122"/>
                <a:cs typeface="Aptos" pitchFamily="34" charset="-120"/>
              </a:rPr>
              <a:t>separate box</a:t>
            </a:r>
            <a:endParaRPr lang="en-US" sz="1200" dirty="0"/>
          </a:p>
        </p:txBody>
      </p:sp>
      <p:sp>
        <p:nvSpPr>
          <p:cNvPr id="10" name="Text 8"/>
          <p:cNvSpPr/>
          <p:nvPr/>
        </p:nvSpPr>
        <p:spPr>
          <a:xfrm>
            <a:off x="1234440" y="5440680"/>
            <a:ext cx="9738360" cy="530352"/>
          </a:xfrm>
          <a:prstGeom prst="rect">
            <a:avLst/>
          </a:prstGeom>
          <a:solidFill>
            <a:srgbClr val="ECFDF5"/>
          </a:solidFill>
          <a:ln w="12700">
            <a:solidFill>
              <a:srgbClr val="99F6E4"/>
            </a:solidFill>
          </a:ln>
        </p:spPr>
        <p:txBody>
          <a:bodyPr wrap="square" lIns="1016" tIns="1016" rIns="1016" bIns="1016" rtlCol="0" anchor="ctr">
            <a:normAutofit/>
          </a:bodyPr>
          <a:lstStyle/>
          <a:p>
            <a:pPr marL="0" indent="0" algn="ctr">
              <a:buNone/>
            </a:pPr>
            <a:r>
              <a:rPr lang="en-US" sz="1800" b="1" dirty="0">
                <a:solidFill>
                  <a:srgbClr val="0F766E"/>
                </a:solidFill>
                <a:latin typeface="Aptos" pitchFamily="34" charset="0"/>
                <a:ea typeface="Aptos" pitchFamily="34" charset="-122"/>
                <a:cs typeface="Aptos" pitchFamily="34" charset="-120"/>
              </a:rPr>
              <a:t>No leakage by entity: an entity used for testing was never seen during model development.</a:t>
            </a:r>
            <a:endParaRPr lang="en-US" sz="1800" dirty="0"/>
          </a:p>
        </p:txBody>
      </p:sp>
      <p:sp>
        <p:nvSpPr>
          <p:cNvPr id="11" name="Text 9"/>
          <p:cNvSpPr/>
          <p:nvPr/>
        </p:nvSpPr>
        <p:spPr>
          <a:xfrm>
            <a:off x="3611880" y="6144768"/>
            <a:ext cx="4983480" cy="256032"/>
          </a:xfrm>
          <a:prstGeom prst="rect">
            <a:avLst/>
          </a:prstGeom>
          <a:noFill/>
          <a:ln/>
        </p:spPr>
        <p:txBody>
          <a:bodyPr wrap="square" lIns="1016" tIns="1016" rIns="1016" bIns="1016" rtlCol="0" anchor="ctr">
            <a:normAutofit/>
          </a:bodyPr>
          <a:lstStyle/>
          <a:p>
            <a:pPr marL="0" indent="0" algn="ctr">
              <a:buNone/>
            </a:pPr>
            <a:r>
              <a:rPr lang="en-US" sz="1200" dirty="0">
                <a:solidFill>
                  <a:srgbClr val="64748B"/>
                </a:solidFill>
                <a:latin typeface="Aptos" pitchFamily="34" charset="0"/>
                <a:ea typeface="Aptos" pitchFamily="34" charset="-122"/>
                <a:cs typeface="Aptos" pitchFamily="34" charset="-120"/>
              </a:rPr>
              <a:t>partition assignment, not a timeline</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570E73B-703C-9727-A23A-04F0E33F8FB6}"/>
              </a:ext>
            </a:extLst>
          </p:cNvPr>
          <p:cNvSpPr>
            <a:spLocks noGrp="1"/>
          </p:cNvSpPr>
          <p:nvPr>
            <p:ph type="title"/>
          </p:nvPr>
        </p:nvSpPr>
        <p:spPr/>
        <p:txBody>
          <a:bodyPr/>
          <a:lstStyle/>
          <a:p>
            <a:r>
              <a:rPr lang="en-GB" dirty="0"/>
              <a:t>Combined temporal and entity generalization</a:t>
            </a:r>
          </a:p>
        </p:txBody>
      </p:sp>
      <p:sp>
        <p:nvSpPr>
          <p:cNvPr id="3" name="Segnaposto contenuto 2">
            <a:extLst>
              <a:ext uri="{FF2B5EF4-FFF2-40B4-BE49-F238E27FC236}">
                <a16:creationId xmlns:a16="http://schemas.microsoft.com/office/drawing/2014/main" id="{51906C21-3375-3014-5CF5-D6BAC06824E0}"/>
              </a:ext>
            </a:extLst>
          </p:cNvPr>
          <p:cNvSpPr>
            <a:spLocks noGrp="1"/>
          </p:cNvSpPr>
          <p:nvPr>
            <p:ph idx="1"/>
          </p:nvPr>
        </p:nvSpPr>
        <p:spPr/>
        <p:txBody>
          <a:bodyPr/>
          <a:lstStyle/>
          <a:p>
            <a:r>
              <a:rPr lang="en-GB" b="1" dirty="0"/>
              <a:t>The most demanding deployment scenarios </a:t>
            </a:r>
            <a:r>
              <a:rPr lang="en-GB" dirty="0"/>
              <a:t>combine several forms of novelty.</a:t>
            </a:r>
          </a:p>
          <a:p>
            <a:r>
              <a:rPr lang="en-GB" dirty="0">
                <a:highlight>
                  <a:srgbClr val="FFFF00"/>
                </a:highlight>
              </a:rPr>
              <a:t>Example:</a:t>
            </a:r>
          </a:p>
          <a:p>
            <a:pPr lvl="1"/>
            <a:r>
              <a:rPr lang="en-GB" dirty="0"/>
              <a:t>the model is trained on historical data;</a:t>
            </a:r>
          </a:p>
          <a:p>
            <a:pPr lvl="1"/>
            <a:r>
              <a:rPr lang="en-GB" dirty="0"/>
              <a:t>it is deployed later;</a:t>
            </a:r>
          </a:p>
          <a:p>
            <a:pPr lvl="1"/>
            <a:r>
              <a:rPr lang="en-GB" dirty="0"/>
              <a:t>some deployment entities are new;</a:t>
            </a:r>
          </a:p>
          <a:p>
            <a:pPr lvl="1"/>
            <a:r>
              <a:rPr lang="en-GB" dirty="0"/>
              <a:t>operating conditions may also have changed.</a:t>
            </a:r>
          </a:p>
          <a:p>
            <a:endParaRPr lang="en-GB" dirty="0"/>
          </a:p>
        </p:txBody>
      </p:sp>
    </p:spTree>
    <p:extLst>
      <p:ext uri="{BB962C8B-B14F-4D97-AF65-F5344CB8AC3E}">
        <p14:creationId xmlns:p14="http://schemas.microsoft.com/office/powerpoint/2010/main" val="6999063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C67FE97-0AE1-8069-D1F3-B31FCA2CE784}"/>
              </a:ext>
            </a:extLst>
          </p:cNvPr>
          <p:cNvSpPr>
            <a:spLocks noGrp="1"/>
          </p:cNvSpPr>
          <p:nvPr>
            <p:ph type="title"/>
          </p:nvPr>
        </p:nvSpPr>
        <p:spPr/>
        <p:txBody>
          <a:bodyPr/>
          <a:lstStyle/>
          <a:p>
            <a:r>
              <a:rPr lang="en-GB" b="1" dirty="0"/>
              <a:t>Possible test scenarios</a:t>
            </a:r>
            <a:endParaRPr lang="en-GB" dirty="0"/>
          </a:p>
        </p:txBody>
      </p:sp>
      <p:sp>
        <p:nvSpPr>
          <p:cNvPr id="3" name="Segnaposto contenuto 2">
            <a:extLst>
              <a:ext uri="{FF2B5EF4-FFF2-40B4-BE49-F238E27FC236}">
                <a16:creationId xmlns:a16="http://schemas.microsoft.com/office/drawing/2014/main" id="{D794F7C8-4680-84ED-F023-4797BB4D1389}"/>
              </a:ext>
            </a:extLst>
          </p:cNvPr>
          <p:cNvSpPr>
            <a:spLocks noGrp="1"/>
          </p:cNvSpPr>
          <p:nvPr>
            <p:ph idx="1"/>
          </p:nvPr>
        </p:nvSpPr>
        <p:spPr/>
        <p:txBody>
          <a:bodyPr>
            <a:normAutofit/>
          </a:bodyPr>
          <a:lstStyle/>
          <a:p>
            <a:r>
              <a:rPr lang="en-GB" b="1" dirty="0"/>
              <a:t>Scenario A — Future data from known entities</a:t>
            </a:r>
          </a:p>
          <a:p>
            <a:r>
              <a:rPr lang="en-GB" dirty="0"/>
              <a:t>known machines + later time</a:t>
            </a:r>
          </a:p>
          <a:p>
            <a:r>
              <a:rPr lang="en-GB" b="1" dirty="0"/>
              <a:t>Scenario B — Historical data from unseen entities</a:t>
            </a:r>
          </a:p>
          <a:p>
            <a:r>
              <a:rPr lang="en-GB" dirty="0"/>
              <a:t>new machines + similar historical regime</a:t>
            </a:r>
          </a:p>
          <a:p>
            <a:r>
              <a:rPr lang="en-GB" b="1" dirty="0"/>
              <a:t>Scenario C — Future data from unseen entities</a:t>
            </a:r>
          </a:p>
          <a:p>
            <a:r>
              <a:rPr lang="en-GB" dirty="0"/>
              <a:t>new machines + later time</a:t>
            </a:r>
          </a:p>
          <a:p>
            <a:r>
              <a:rPr lang="en-GB" b="1" dirty="0"/>
              <a:t>Scenario C combines:</a:t>
            </a:r>
          </a:p>
          <a:p>
            <a:pPr lvl="1"/>
            <a:r>
              <a:rPr lang="en-GB" dirty="0"/>
              <a:t>entity shift;</a:t>
            </a:r>
          </a:p>
          <a:p>
            <a:pPr lvl="1"/>
            <a:r>
              <a:rPr lang="en-GB" dirty="0"/>
              <a:t>temporal shift;</a:t>
            </a:r>
          </a:p>
          <a:p>
            <a:pPr lvl="2"/>
            <a:r>
              <a:rPr lang="en-GB" dirty="0"/>
              <a:t>(possible regime shift).</a:t>
            </a:r>
          </a:p>
          <a:p>
            <a:endParaRPr lang="en-GB" dirty="0"/>
          </a:p>
        </p:txBody>
      </p:sp>
    </p:spTree>
    <p:extLst>
      <p:ext uri="{BB962C8B-B14F-4D97-AF65-F5344CB8AC3E}">
        <p14:creationId xmlns:p14="http://schemas.microsoft.com/office/powerpoint/2010/main" val="2092483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BA28A22-2CF5-A01A-C1B8-A8A32DEDEE1F}"/>
              </a:ext>
            </a:extLst>
          </p:cNvPr>
          <p:cNvSpPr>
            <a:spLocks noGrp="1"/>
          </p:cNvSpPr>
          <p:nvPr>
            <p:ph type="title"/>
          </p:nvPr>
        </p:nvSpPr>
        <p:spPr/>
        <p:txBody>
          <a:bodyPr/>
          <a:lstStyle/>
          <a:p>
            <a:r>
              <a:rPr lang="en-GB" dirty="0"/>
              <a:t>Combined temporal and entity generalization</a:t>
            </a:r>
          </a:p>
        </p:txBody>
      </p:sp>
      <p:sp>
        <p:nvSpPr>
          <p:cNvPr id="3" name="Segnaposto contenuto 2">
            <a:extLst>
              <a:ext uri="{FF2B5EF4-FFF2-40B4-BE49-F238E27FC236}">
                <a16:creationId xmlns:a16="http://schemas.microsoft.com/office/drawing/2014/main" id="{047C2D86-52E5-ED4C-61BF-C796D0C916F0}"/>
              </a:ext>
            </a:extLst>
          </p:cNvPr>
          <p:cNvSpPr>
            <a:spLocks noGrp="1"/>
          </p:cNvSpPr>
          <p:nvPr>
            <p:ph idx="1"/>
          </p:nvPr>
        </p:nvSpPr>
        <p:spPr/>
        <p:txBody>
          <a:bodyPr>
            <a:normAutofit fontScale="92500" lnSpcReduction="10000"/>
          </a:bodyPr>
          <a:lstStyle/>
          <a:p>
            <a:r>
              <a:rPr lang="en-GB" b="1" dirty="0"/>
              <a:t>Recommended evaluation</a:t>
            </a:r>
          </a:p>
          <a:p>
            <a:r>
              <a:rPr lang="en-GB" dirty="0"/>
              <a:t>When possible, report multiple test conditions separately.</a:t>
            </a:r>
          </a:p>
          <a:p>
            <a:r>
              <a:rPr lang="en-GB" b="1" dirty="0"/>
              <a:t>Why separate reporting matters</a:t>
            </a:r>
          </a:p>
          <a:p>
            <a:r>
              <a:rPr lang="en-GB" dirty="0"/>
              <a:t>One aggregate score may hide very different behaviour.</a:t>
            </a:r>
          </a:p>
          <a:p>
            <a:r>
              <a:rPr lang="en-GB" dirty="0"/>
              <a:t>Example:</a:t>
            </a:r>
          </a:p>
          <a:p>
            <a:pPr lvl="1"/>
            <a:r>
              <a:rPr lang="en-GB" dirty="0">
                <a:latin typeface="Courier New" panose="02070309020205020404" pitchFamily="49" charset="0"/>
              </a:rPr>
              <a:t>Known machines: accuracy = 94%</a:t>
            </a:r>
          </a:p>
          <a:p>
            <a:pPr lvl="1"/>
            <a:r>
              <a:rPr lang="en-GB" dirty="0">
                <a:latin typeface="Courier New" panose="02070309020205020404" pitchFamily="49" charset="0"/>
              </a:rPr>
              <a:t>New machines:   accuracy = 71%</a:t>
            </a:r>
          </a:p>
          <a:p>
            <a:r>
              <a:rPr lang="en-GB" dirty="0"/>
              <a:t>The average may appear acceptable while transfer to new machines is poor.</a:t>
            </a:r>
          </a:p>
          <a:p>
            <a:endParaRPr lang="en-GB" dirty="0"/>
          </a:p>
          <a:p>
            <a:r>
              <a:rPr lang="en-GB" b="1" dirty="0">
                <a:highlight>
                  <a:srgbClr val="FFFF00"/>
                </a:highlight>
              </a:rPr>
              <a:t>A single test set may not be sufficient when the deployment scenario includes multiple types of novelty</a:t>
            </a:r>
          </a:p>
        </p:txBody>
      </p:sp>
      <p:sp>
        <p:nvSpPr>
          <p:cNvPr id="6" name="CasellaDiTesto 5">
            <a:extLst>
              <a:ext uri="{FF2B5EF4-FFF2-40B4-BE49-F238E27FC236}">
                <a16:creationId xmlns:a16="http://schemas.microsoft.com/office/drawing/2014/main" id="{2B81D5DA-2E65-A8BC-0972-17F509737BB0}"/>
              </a:ext>
            </a:extLst>
          </p:cNvPr>
          <p:cNvSpPr txBox="1"/>
          <p:nvPr/>
        </p:nvSpPr>
        <p:spPr>
          <a:xfrm>
            <a:off x="3052763" y="1587103"/>
            <a:ext cx="6105524" cy="369332"/>
          </a:xfrm>
          <a:prstGeom prst="rect">
            <a:avLst/>
          </a:prstGeom>
          <a:noFill/>
        </p:spPr>
        <p:txBody>
          <a:bodyPr wrap="square">
            <a:spAutoFit/>
          </a:bodyPr>
          <a:lstStyle/>
          <a:p>
            <a:pPr>
              <a:buNone/>
            </a:pPr>
            <a:r>
              <a:rPr lang="en-GB" dirty="0"/>
              <a:t>.</a:t>
            </a:r>
          </a:p>
        </p:txBody>
      </p:sp>
    </p:spTree>
    <p:extLst>
      <p:ext uri="{BB962C8B-B14F-4D97-AF65-F5344CB8AC3E}">
        <p14:creationId xmlns:p14="http://schemas.microsoft.com/office/powerpoint/2010/main" val="2722004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5DCBD-1574-AB89-EC21-E2EBEB4F7DF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BD45740-6842-A073-A526-495D3F6A53EF}"/>
              </a:ext>
            </a:extLst>
          </p:cNvPr>
          <p:cNvSpPr/>
          <p:nvPr/>
        </p:nvSpPr>
        <p:spPr>
          <a:xfrm>
            <a:off x="502920" y="256032"/>
            <a:ext cx="8046720" cy="384048"/>
          </a:xfrm>
          <a:prstGeom prst="rect">
            <a:avLst/>
          </a:prstGeom>
          <a:noFill/>
          <a:ln/>
        </p:spPr>
        <p:txBody>
          <a:bodyPr wrap="square" lIns="254" tIns="254" rIns="254" bIns="254" rtlCol="0" anchor="ctr">
            <a:normAutofit/>
          </a:bodyPr>
          <a:lstStyle/>
          <a:p>
            <a:pPr marL="0" indent="0" algn="l">
              <a:buNone/>
            </a:pPr>
            <a:r>
              <a:rPr lang="en-US" sz="2400" b="1" dirty="0">
                <a:solidFill>
                  <a:srgbClr val="1F2937"/>
                </a:solidFill>
                <a:latin typeface="Aptos" pitchFamily="34" charset="0"/>
                <a:ea typeface="Aptos" pitchFamily="34" charset="-122"/>
                <a:cs typeface="Aptos" pitchFamily="34" charset="-120"/>
              </a:rPr>
              <a:t>Train/test splits over a machine-cycle table</a:t>
            </a:r>
            <a:endParaRPr lang="en-US" sz="2400" dirty="0"/>
          </a:p>
        </p:txBody>
      </p:sp>
      <p:sp>
        <p:nvSpPr>
          <p:cNvPr id="3" name="Text 1">
            <a:extLst>
              <a:ext uri="{FF2B5EF4-FFF2-40B4-BE49-F238E27FC236}">
                <a16:creationId xmlns:a16="http://schemas.microsoft.com/office/drawing/2014/main" id="{5029D5CE-F26B-9EFB-96AD-3532424843E2}"/>
              </a:ext>
            </a:extLst>
          </p:cNvPr>
          <p:cNvSpPr/>
          <p:nvPr/>
        </p:nvSpPr>
        <p:spPr>
          <a:xfrm>
            <a:off x="512064" y="694944"/>
            <a:ext cx="7132320" cy="237744"/>
          </a:xfrm>
          <a:prstGeom prst="rect">
            <a:avLst/>
          </a:prstGeom>
          <a:noFill/>
          <a:ln/>
        </p:spPr>
        <p:txBody>
          <a:bodyPr wrap="square" lIns="254" tIns="254" rIns="254" bIns="254" rtlCol="0" anchor="ctr">
            <a:normAutofit/>
          </a:bodyPr>
          <a:lstStyle/>
          <a:p>
            <a:pPr marL="0" indent="0" algn="l">
              <a:buNone/>
            </a:pPr>
            <a:r>
              <a:rPr lang="en-US" sz="1250" dirty="0">
                <a:solidFill>
                  <a:srgbClr val="64748B"/>
                </a:solidFill>
                <a:latin typeface="Aptos" pitchFamily="34" charset="0"/>
                <a:ea typeface="Aptos" pitchFamily="34" charset="-122"/>
                <a:cs typeface="Aptos" pitchFamily="34" charset="-120"/>
              </a:rPr>
              <a:t>The same data layout can define different generalization questions.</a:t>
            </a:r>
            <a:endParaRPr lang="en-US" sz="1250" dirty="0"/>
          </a:p>
        </p:txBody>
      </p:sp>
      <p:sp>
        <p:nvSpPr>
          <p:cNvPr id="4" name="Text 2">
            <a:extLst>
              <a:ext uri="{FF2B5EF4-FFF2-40B4-BE49-F238E27FC236}">
                <a16:creationId xmlns:a16="http://schemas.microsoft.com/office/drawing/2014/main" id="{541FD602-5A01-495E-6B22-4C04BE518813}"/>
              </a:ext>
            </a:extLst>
          </p:cNvPr>
          <p:cNvSpPr/>
          <p:nvPr/>
        </p:nvSpPr>
        <p:spPr>
          <a:xfrm>
            <a:off x="8732520" y="329184"/>
            <a:ext cx="594360" cy="201168"/>
          </a:xfrm>
          <a:prstGeom prst="rect">
            <a:avLst/>
          </a:prstGeom>
          <a:noFill/>
          <a:ln/>
        </p:spPr>
        <p:txBody>
          <a:bodyPr wrap="square" lIns="254" tIns="254" rIns="254" bIns="254" rtlCol="0" anchor="ctr">
            <a:normAutofit/>
          </a:bodyPr>
          <a:lstStyle/>
          <a:p>
            <a:pPr marL="0" indent="0" algn="l">
              <a:buNone/>
            </a:pPr>
            <a:r>
              <a:rPr lang="en-US" sz="1050" b="1" dirty="0">
                <a:solidFill>
                  <a:srgbClr val="64748B"/>
                </a:solidFill>
                <a:latin typeface="Aptos" pitchFamily="34" charset="0"/>
                <a:ea typeface="Aptos" pitchFamily="34" charset="-122"/>
                <a:cs typeface="Aptos" pitchFamily="34" charset="-120"/>
              </a:rPr>
              <a:t>Legend</a:t>
            </a:r>
            <a:endParaRPr lang="en-US" sz="1050" dirty="0"/>
          </a:p>
        </p:txBody>
      </p:sp>
      <p:sp>
        <p:nvSpPr>
          <p:cNvPr id="5" name="Text 3">
            <a:extLst>
              <a:ext uri="{FF2B5EF4-FFF2-40B4-BE49-F238E27FC236}">
                <a16:creationId xmlns:a16="http://schemas.microsoft.com/office/drawing/2014/main" id="{87F29299-238F-F61F-3C10-D5F6734932D0}"/>
              </a:ext>
            </a:extLst>
          </p:cNvPr>
          <p:cNvSpPr/>
          <p:nvPr/>
        </p:nvSpPr>
        <p:spPr>
          <a:xfrm>
            <a:off x="9765792" y="301752"/>
            <a:ext cx="219456" cy="201168"/>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6" name="Text 4">
            <a:extLst>
              <a:ext uri="{FF2B5EF4-FFF2-40B4-BE49-F238E27FC236}">
                <a16:creationId xmlns:a16="http://schemas.microsoft.com/office/drawing/2014/main" id="{058786C2-425C-2D21-0BC4-B291333AB39D}"/>
              </a:ext>
            </a:extLst>
          </p:cNvPr>
          <p:cNvSpPr/>
          <p:nvPr/>
        </p:nvSpPr>
        <p:spPr>
          <a:xfrm>
            <a:off x="10021824" y="292608"/>
            <a:ext cx="502920" cy="219456"/>
          </a:xfrm>
          <a:prstGeom prst="rect">
            <a:avLst/>
          </a:prstGeom>
          <a:noFill/>
          <a:ln/>
        </p:spPr>
        <p:txBody>
          <a:bodyPr wrap="square" lIns="254" tIns="254" rIns="254" bIns="254" rtlCol="0" anchor="ctr">
            <a:normAutofit/>
          </a:bodyPr>
          <a:lstStyle/>
          <a:p>
            <a:pPr marL="0" indent="0" algn="l">
              <a:buNone/>
            </a:pPr>
            <a:r>
              <a:rPr lang="en-US" sz="1050" dirty="0">
                <a:solidFill>
                  <a:srgbClr val="1F2937"/>
                </a:solidFill>
                <a:latin typeface="Aptos" pitchFamily="34" charset="0"/>
                <a:ea typeface="Aptos" pitchFamily="34" charset="-122"/>
                <a:cs typeface="Aptos" pitchFamily="34" charset="-120"/>
              </a:rPr>
              <a:t>Train</a:t>
            </a:r>
            <a:endParaRPr lang="en-US" sz="1050" dirty="0"/>
          </a:p>
        </p:txBody>
      </p:sp>
      <p:sp>
        <p:nvSpPr>
          <p:cNvPr id="7" name="Text 5">
            <a:extLst>
              <a:ext uri="{FF2B5EF4-FFF2-40B4-BE49-F238E27FC236}">
                <a16:creationId xmlns:a16="http://schemas.microsoft.com/office/drawing/2014/main" id="{B16F39CC-13C6-CF34-706E-F8812442EF3A}"/>
              </a:ext>
            </a:extLst>
          </p:cNvPr>
          <p:cNvSpPr/>
          <p:nvPr/>
        </p:nvSpPr>
        <p:spPr>
          <a:xfrm>
            <a:off x="10588752" y="301752"/>
            <a:ext cx="219456" cy="201168"/>
          </a:xfrm>
          <a:prstGeom prst="rect">
            <a:avLst/>
          </a:prstGeom>
          <a:solidFill>
            <a:srgbClr val="FFE3B3"/>
          </a:solidFill>
          <a:ln w="12700">
            <a:solidFill>
              <a:srgbClr val="D97706"/>
            </a:solidFill>
          </a:ln>
        </p:spPr>
        <p:txBody>
          <a:bodyPr wrap="square" lIns="254" tIns="254" rIns="254" bIns="254" rtlCol="0" anchor="ctr">
            <a:normAutofit/>
          </a:bodyPr>
          <a:lstStyle/>
          <a:p>
            <a:pPr marL="0" indent="0" algn="l">
              <a:buNone/>
            </a:pPr>
            <a:endParaRPr lang="en-US" sz="1200" dirty="0"/>
          </a:p>
        </p:txBody>
      </p:sp>
      <p:sp>
        <p:nvSpPr>
          <p:cNvPr id="8" name="Text 6">
            <a:extLst>
              <a:ext uri="{FF2B5EF4-FFF2-40B4-BE49-F238E27FC236}">
                <a16:creationId xmlns:a16="http://schemas.microsoft.com/office/drawing/2014/main" id="{9F92F3B8-04B4-B5D6-CF8D-1877798CF52F}"/>
              </a:ext>
            </a:extLst>
          </p:cNvPr>
          <p:cNvSpPr/>
          <p:nvPr/>
        </p:nvSpPr>
        <p:spPr>
          <a:xfrm>
            <a:off x="10844784" y="292608"/>
            <a:ext cx="384048" cy="219456"/>
          </a:xfrm>
          <a:prstGeom prst="rect">
            <a:avLst/>
          </a:prstGeom>
          <a:noFill/>
          <a:ln/>
        </p:spPr>
        <p:txBody>
          <a:bodyPr wrap="square" lIns="254" tIns="254" rIns="254" bIns="254" rtlCol="0" anchor="ctr">
            <a:normAutofit/>
          </a:bodyPr>
          <a:lstStyle/>
          <a:p>
            <a:pPr marL="0" indent="0" algn="l">
              <a:buNone/>
            </a:pPr>
            <a:r>
              <a:rPr lang="en-US" sz="1050" dirty="0">
                <a:solidFill>
                  <a:srgbClr val="1F2937"/>
                </a:solidFill>
                <a:latin typeface="Aptos" pitchFamily="34" charset="0"/>
                <a:ea typeface="Aptos" pitchFamily="34" charset="-122"/>
                <a:cs typeface="Aptos" pitchFamily="34" charset="-120"/>
              </a:rPr>
              <a:t>Test</a:t>
            </a:r>
            <a:endParaRPr lang="en-US" sz="1050" dirty="0"/>
          </a:p>
        </p:txBody>
      </p:sp>
      <p:sp>
        <p:nvSpPr>
          <p:cNvPr id="9" name="Text 7">
            <a:extLst>
              <a:ext uri="{FF2B5EF4-FFF2-40B4-BE49-F238E27FC236}">
                <a16:creationId xmlns:a16="http://schemas.microsoft.com/office/drawing/2014/main" id="{34A205B0-C400-A1D0-AEE3-96AA1655EF2E}"/>
              </a:ext>
            </a:extLst>
          </p:cNvPr>
          <p:cNvSpPr/>
          <p:nvPr/>
        </p:nvSpPr>
        <p:spPr>
          <a:xfrm>
            <a:off x="9765792" y="576072"/>
            <a:ext cx="219456" cy="201168"/>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0" name="Text 8">
            <a:extLst>
              <a:ext uri="{FF2B5EF4-FFF2-40B4-BE49-F238E27FC236}">
                <a16:creationId xmlns:a16="http://schemas.microsoft.com/office/drawing/2014/main" id="{EC925AD4-376A-F7C4-2173-FB411EE48813}"/>
              </a:ext>
            </a:extLst>
          </p:cNvPr>
          <p:cNvSpPr/>
          <p:nvPr/>
        </p:nvSpPr>
        <p:spPr>
          <a:xfrm>
            <a:off x="10021824" y="566928"/>
            <a:ext cx="868680" cy="219456"/>
          </a:xfrm>
          <a:prstGeom prst="rect">
            <a:avLst/>
          </a:prstGeom>
          <a:noFill/>
          <a:ln/>
        </p:spPr>
        <p:txBody>
          <a:bodyPr wrap="square" lIns="254" tIns="254" rIns="254" bIns="254" rtlCol="0" anchor="ctr">
            <a:normAutofit/>
          </a:bodyPr>
          <a:lstStyle/>
          <a:p>
            <a:pPr marL="0" indent="0" algn="l">
              <a:buNone/>
            </a:pPr>
            <a:r>
              <a:rPr lang="en-US" sz="1050" dirty="0">
                <a:solidFill>
                  <a:srgbClr val="64748B"/>
                </a:solidFill>
                <a:latin typeface="Aptos" pitchFamily="34" charset="0"/>
                <a:ea typeface="Aptos" pitchFamily="34" charset="-122"/>
                <a:cs typeface="Aptos" pitchFamily="34" charset="-120"/>
              </a:rPr>
              <a:t>Not used</a:t>
            </a:r>
            <a:endParaRPr lang="en-US" sz="1050" dirty="0"/>
          </a:p>
        </p:txBody>
      </p:sp>
      <p:sp>
        <p:nvSpPr>
          <p:cNvPr id="11" name="Text 9">
            <a:extLst>
              <a:ext uri="{FF2B5EF4-FFF2-40B4-BE49-F238E27FC236}">
                <a16:creationId xmlns:a16="http://schemas.microsoft.com/office/drawing/2014/main" id="{177820F5-2671-1CBC-C3F8-65450C699553}"/>
              </a:ext>
            </a:extLst>
          </p:cNvPr>
          <p:cNvSpPr/>
          <p:nvPr/>
        </p:nvSpPr>
        <p:spPr>
          <a:xfrm>
            <a:off x="640080" y="1207008"/>
            <a:ext cx="4343400" cy="237744"/>
          </a:xfrm>
          <a:prstGeom prst="rect">
            <a:avLst/>
          </a:prstGeom>
          <a:noFill/>
          <a:ln/>
        </p:spPr>
        <p:txBody>
          <a:bodyPr wrap="square" lIns="254" tIns="254" rIns="254" bIns="254" rtlCol="0" anchor="ctr">
            <a:normAutofit/>
          </a:bodyPr>
          <a:lstStyle/>
          <a:p>
            <a:pPr marL="0" indent="0" algn="l">
              <a:buNone/>
            </a:pPr>
            <a:r>
              <a:rPr lang="en-US" sz="1500" b="1" dirty="0">
                <a:solidFill>
                  <a:srgbClr val="1F2937"/>
                </a:solidFill>
                <a:latin typeface="Aptos" pitchFamily="34" charset="0"/>
                <a:ea typeface="Aptos" pitchFamily="34" charset="-122"/>
                <a:cs typeface="Aptos" pitchFamily="34" charset="-120"/>
              </a:rPr>
              <a:t>1. Same entities, same regime</a:t>
            </a:r>
            <a:endParaRPr lang="en-US" sz="1500" dirty="0"/>
          </a:p>
        </p:txBody>
      </p:sp>
      <p:sp>
        <p:nvSpPr>
          <p:cNvPr id="12" name="Text 10">
            <a:extLst>
              <a:ext uri="{FF2B5EF4-FFF2-40B4-BE49-F238E27FC236}">
                <a16:creationId xmlns:a16="http://schemas.microsoft.com/office/drawing/2014/main" id="{22C75826-0509-F854-FBD7-D9211404AB3B}"/>
              </a:ext>
            </a:extLst>
          </p:cNvPr>
          <p:cNvSpPr/>
          <p:nvPr/>
        </p:nvSpPr>
        <p:spPr>
          <a:xfrm>
            <a:off x="640080" y="1463040"/>
            <a:ext cx="4343400" cy="201168"/>
          </a:xfrm>
          <a:prstGeom prst="rect">
            <a:avLst/>
          </a:prstGeom>
          <a:noFill/>
          <a:ln/>
        </p:spPr>
        <p:txBody>
          <a:bodyPr wrap="square" lIns="254" tIns="254" rIns="254" bIns="254" rtlCol="0" anchor="ctr">
            <a:normAutofit/>
          </a:bodyPr>
          <a:lstStyle/>
          <a:p>
            <a:pPr marL="0" indent="0" algn="l">
              <a:buNone/>
            </a:pPr>
            <a:r>
              <a:rPr lang="en-US" sz="950" dirty="0">
                <a:solidFill>
                  <a:srgbClr val="64748B"/>
                </a:solidFill>
                <a:latin typeface="Aptos" pitchFamily="34" charset="0"/>
                <a:ea typeface="Aptos" pitchFamily="34" charset="-122"/>
                <a:cs typeface="Aptos" pitchFamily="34" charset="-120"/>
              </a:rPr>
              <a:t>test cells are interleaved with training cells</a:t>
            </a:r>
            <a:endParaRPr lang="en-US" sz="950" dirty="0"/>
          </a:p>
        </p:txBody>
      </p:sp>
      <p:sp>
        <p:nvSpPr>
          <p:cNvPr id="13" name="Text 11">
            <a:extLst>
              <a:ext uri="{FF2B5EF4-FFF2-40B4-BE49-F238E27FC236}">
                <a16:creationId xmlns:a16="http://schemas.microsoft.com/office/drawing/2014/main" id="{9F1CE45F-4D15-113A-8669-3938A10E0B46}"/>
              </a:ext>
            </a:extLst>
          </p:cNvPr>
          <p:cNvSpPr/>
          <p:nvPr/>
        </p:nvSpPr>
        <p:spPr>
          <a:xfrm>
            <a:off x="1810512"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C1</a:t>
            </a:r>
            <a:endParaRPr lang="en-US" sz="1050" dirty="0"/>
          </a:p>
        </p:txBody>
      </p:sp>
      <p:sp>
        <p:nvSpPr>
          <p:cNvPr id="14" name="Text 12">
            <a:extLst>
              <a:ext uri="{FF2B5EF4-FFF2-40B4-BE49-F238E27FC236}">
                <a16:creationId xmlns:a16="http://schemas.microsoft.com/office/drawing/2014/main" id="{7CB4A112-5FCF-1889-B81A-8254E3BE8285}"/>
              </a:ext>
            </a:extLst>
          </p:cNvPr>
          <p:cNvSpPr/>
          <p:nvPr/>
        </p:nvSpPr>
        <p:spPr>
          <a:xfrm>
            <a:off x="2436876"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C2</a:t>
            </a:r>
            <a:endParaRPr lang="en-US" sz="1050" dirty="0"/>
          </a:p>
        </p:txBody>
      </p:sp>
      <p:sp>
        <p:nvSpPr>
          <p:cNvPr id="15" name="Text 13">
            <a:extLst>
              <a:ext uri="{FF2B5EF4-FFF2-40B4-BE49-F238E27FC236}">
                <a16:creationId xmlns:a16="http://schemas.microsoft.com/office/drawing/2014/main" id="{E9319D86-4DDC-20F6-5194-EC04E8574DB0}"/>
              </a:ext>
            </a:extLst>
          </p:cNvPr>
          <p:cNvSpPr/>
          <p:nvPr/>
        </p:nvSpPr>
        <p:spPr>
          <a:xfrm>
            <a:off x="3063240"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C3</a:t>
            </a:r>
            <a:endParaRPr lang="en-US" sz="1050" dirty="0"/>
          </a:p>
        </p:txBody>
      </p:sp>
      <p:sp>
        <p:nvSpPr>
          <p:cNvPr id="16" name="Text 14">
            <a:extLst>
              <a:ext uri="{FF2B5EF4-FFF2-40B4-BE49-F238E27FC236}">
                <a16:creationId xmlns:a16="http://schemas.microsoft.com/office/drawing/2014/main" id="{C8DF11FE-0C79-598D-5ED9-B07BEF94881B}"/>
              </a:ext>
            </a:extLst>
          </p:cNvPr>
          <p:cNvSpPr/>
          <p:nvPr/>
        </p:nvSpPr>
        <p:spPr>
          <a:xfrm>
            <a:off x="3689604"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C4</a:t>
            </a:r>
            <a:endParaRPr lang="en-US" sz="1050" dirty="0"/>
          </a:p>
        </p:txBody>
      </p:sp>
      <p:sp>
        <p:nvSpPr>
          <p:cNvPr id="17" name="Text 15">
            <a:extLst>
              <a:ext uri="{FF2B5EF4-FFF2-40B4-BE49-F238E27FC236}">
                <a16:creationId xmlns:a16="http://schemas.microsoft.com/office/drawing/2014/main" id="{9A988F43-64C3-39E0-CB8E-8C227280C0DD}"/>
              </a:ext>
            </a:extLst>
          </p:cNvPr>
          <p:cNvSpPr/>
          <p:nvPr/>
        </p:nvSpPr>
        <p:spPr>
          <a:xfrm>
            <a:off x="640080" y="20482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A</a:t>
            </a:r>
            <a:endParaRPr lang="en-US" sz="1050" dirty="0"/>
          </a:p>
        </p:txBody>
      </p:sp>
      <p:sp>
        <p:nvSpPr>
          <p:cNvPr id="18" name="Text 16">
            <a:extLst>
              <a:ext uri="{FF2B5EF4-FFF2-40B4-BE49-F238E27FC236}">
                <a16:creationId xmlns:a16="http://schemas.microsoft.com/office/drawing/2014/main" id="{3DFB1CD4-969D-1301-5E15-322C02EADB2F}"/>
              </a:ext>
            </a:extLst>
          </p:cNvPr>
          <p:cNvSpPr/>
          <p:nvPr/>
        </p:nvSpPr>
        <p:spPr>
          <a:xfrm>
            <a:off x="1810512" y="20482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19" name="Text 17">
            <a:extLst>
              <a:ext uri="{FF2B5EF4-FFF2-40B4-BE49-F238E27FC236}">
                <a16:creationId xmlns:a16="http://schemas.microsoft.com/office/drawing/2014/main" id="{5D5A25AD-41DD-460E-0A79-DC400A71BC04}"/>
              </a:ext>
            </a:extLst>
          </p:cNvPr>
          <p:cNvSpPr/>
          <p:nvPr/>
        </p:nvSpPr>
        <p:spPr>
          <a:xfrm>
            <a:off x="2436876" y="20482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20" name="Text 18">
            <a:extLst>
              <a:ext uri="{FF2B5EF4-FFF2-40B4-BE49-F238E27FC236}">
                <a16:creationId xmlns:a16="http://schemas.microsoft.com/office/drawing/2014/main" id="{E4B368B9-526A-A122-5073-6A51C7617874}"/>
              </a:ext>
            </a:extLst>
          </p:cNvPr>
          <p:cNvSpPr/>
          <p:nvPr/>
        </p:nvSpPr>
        <p:spPr>
          <a:xfrm>
            <a:off x="3063240" y="20482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21" name="Text 19">
            <a:extLst>
              <a:ext uri="{FF2B5EF4-FFF2-40B4-BE49-F238E27FC236}">
                <a16:creationId xmlns:a16="http://schemas.microsoft.com/office/drawing/2014/main" id="{57A6EFCC-E549-5F63-EBD8-9BB46BE605D8}"/>
              </a:ext>
            </a:extLst>
          </p:cNvPr>
          <p:cNvSpPr/>
          <p:nvPr/>
        </p:nvSpPr>
        <p:spPr>
          <a:xfrm>
            <a:off x="3689604" y="20482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22" name="Text 20">
            <a:extLst>
              <a:ext uri="{FF2B5EF4-FFF2-40B4-BE49-F238E27FC236}">
                <a16:creationId xmlns:a16="http://schemas.microsoft.com/office/drawing/2014/main" id="{C1DB60C5-7589-7E72-BB63-D36A968053BC}"/>
              </a:ext>
            </a:extLst>
          </p:cNvPr>
          <p:cNvSpPr/>
          <p:nvPr/>
        </p:nvSpPr>
        <p:spPr>
          <a:xfrm>
            <a:off x="640080" y="23911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B</a:t>
            </a:r>
            <a:endParaRPr lang="en-US" sz="1050" dirty="0"/>
          </a:p>
        </p:txBody>
      </p:sp>
      <p:sp>
        <p:nvSpPr>
          <p:cNvPr id="23" name="Text 21">
            <a:extLst>
              <a:ext uri="{FF2B5EF4-FFF2-40B4-BE49-F238E27FC236}">
                <a16:creationId xmlns:a16="http://schemas.microsoft.com/office/drawing/2014/main" id="{A894A3D9-F243-5EF9-F5F8-29EEBEF8E457}"/>
              </a:ext>
            </a:extLst>
          </p:cNvPr>
          <p:cNvSpPr/>
          <p:nvPr/>
        </p:nvSpPr>
        <p:spPr>
          <a:xfrm>
            <a:off x="1810512" y="23911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24" name="Text 22">
            <a:extLst>
              <a:ext uri="{FF2B5EF4-FFF2-40B4-BE49-F238E27FC236}">
                <a16:creationId xmlns:a16="http://schemas.microsoft.com/office/drawing/2014/main" id="{AC2C0DB8-E2CC-9AB7-EA25-7EBE49FDAE95}"/>
              </a:ext>
            </a:extLst>
          </p:cNvPr>
          <p:cNvSpPr/>
          <p:nvPr/>
        </p:nvSpPr>
        <p:spPr>
          <a:xfrm>
            <a:off x="2436876" y="23911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25" name="Text 23">
            <a:extLst>
              <a:ext uri="{FF2B5EF4-FFF2-40B4-BE49-F238E27FC236}">
                <a16:creationId xmlns:a16="http://schemas.microsoft.com/office/drawing/2014/main" id="{1DF0BB9E-4D4A-9610-12CD-EB44ED829756}"/>
              </a:ext>
            </a:extLst>
          </p:cNvPr>
          <p:cNvSpPr/>
          <p:nvPr/>
        </p:nvSpPr>
        <p:spPr>
          <a:xfrm>
            <a:off x="3063240" y="23911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26" name="Text 24">
            <a:extLst>
              <a:ext uri="{FF2B5EF4-FFF2-40B4-BE49-F238E27FC236}">
                <a16:creationId xmlns:a16="http://schemas.microsoft.com/office/drawing/2014/main" id="{427C4A2D-39DB-AE1E-06D8-3985C23B3372}"/>
              </a:ext>
            </a:extLst>
          </p:cNvPr>
          <p:cNvSpPr/>
          <p:nvPr/>
        </p:nvSpPr>
        <p:spPr>
          <a:xfrm>
            <a:off x="3689604" y="23911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27" name="Text 25">
            <a:extLst>
              <a:ext uri="{FF2B5EF4-FFF2-40B4-BE49-F238E27FC236}">
                <a16:creationId xmlns:a16="http://schemas.microsoft.com/office/drawing/2014/main" id="{4DDD34A2-E1C6-7604-9196-8EAE4BDABC64}"/>
              </a:ext>
            </a:extLst>
          </p:cNvPr>
          <p:cNvSpPr/>
          <p:nvPr/>
        </p:nvSpPr>
        <p:spPr>
          <a:xfrm>
            <a:off x="640080" y="27340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C</a:t>
            </a:r>
            <a:endParaRPr lang="en-US" sz="1050" dirty="0"/>
          </a:p>
        </p:txBody>
      </p:sp>
      <p:sp>
        <p:nvSpPr>
          <p:cNvPr id="28" name="Text 26">
            <a:extLst>
              <a:ext uri="{FF2B5EF4-FFF2-40B4-BE49-F238E27FC236}">
                <a16:creationId xmlns:a16="http://schemas.microsoft.com/office/drawing/2014/main" id="{01E8D673-467F-FB1B-E703-680E460C71B7}"/>
              </a:ext>
            </a:extLst>
          </p:cNvPr>
          <p:cNvSpPr/>
          <p:nvPr/>
        </p:nvSpPr>
        <p:spPr>
          <a:xfrm>
            <a:off x="1810512" y="27340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29" name="Text 27">
            <a:extLst>
              <a:ext uri="{FF2B5EF4-FFF2-40B4-BE49-F238E27FC236}">
                <a16:creationId xmlns:a16="http://schemas.microsoft.com/office/drawing/2014/main" id="{B81A50D6-3393-6B2D-B65A-3C1AF77684B7}"/>
              </a:ext>
            </a:extLst>
          </p:cNvPr>
          <p:cNvSpPr/>
          <p:nvPr/>
        </p:nvSpPr>
        <p:spPr>
          <a:xfrm>
            <a:off x="2436876" y="27340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30" name="Text 28">
            <a:extLst>
              <a:ext uri="{FF2B5EF4-FFF2-40B4-BE49-F238E27FC236}">
                <a16:creationId xmlns:a16="http://schemas.microsoft.com/office/drawing/2014/main" id="{578BFA61-78E1-1653-B791-D1130DC632EB}"/>
              </a:ext>
            </a:extLst>
          </p:cNvPr>
          <p:cNvSpPr/>
          <p:nvPr/>
        </p:nvSpPr>
        <p:spPr>
          <a:xfrm>
            <a:off x="3063240" y="27340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31" name="Text 29">
            <a:extLst>
              <a:ext uri="{FF2B5EF4-FFF2-40B4-BE49-F238E27FC236}">
                <a16:creationId xmlns:a16="http://schemas.microsoft.com/office/drawing/2014/main" id="{C1DAD0F1-8D28-8EA6-8192-F2E06C861F78}"/>
              </a:ext>
            </a:extLst>
          </p:cNvPr>
          <p:cNvSpPr/>
          <p:nvPr/>
        </p:nvSpPr>
        <p:spPr>
          <a:xfrm>
            <a:off x="3689604" y="27340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32" name="Text 30">
            <a:extLst>
              <a:ext uri="{FF2B5EF4-FFF2-40B4-BE49-F238E27FC236}">
                <a16:creationId xmlns:a16="http://schemas.microsoft.com/office/drawing/2014/main" id="{443F800C-F07F-424D-E162-AF1E2D937AF0}"/>
              </a:ext>
            </a:extLst>
          </p:cNvPr>
          <p:cNvSpPr/>
          <p:nvPr/>
        </p:nvSpPr>
        <p:spPr>
          <a:xfrm>
            <a:off x="640080" y="30769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D</a:t>
            </a:r>
            <a:endParaRPr lang="en-US" sz="1050" dirty="0"/>
          </a:p>
        </p:txBody>
      </p:sp>
      <p:sp>
        <p:nvSpPr>
          <p:cNvPr id="33" name="Text 31">
            <a:extLst>
              <a:ext uri="{FF2B5EF4-FFF2-40B4-BE49-F238E27FC236}">
                <a16:creationId xmlns:a16="http://schemas.microsoft.com/office/drawing/2014/main" id="{16858A50-2205-FEE5-848B-A5A3F9F63382}"/>
              </a:ext>
            </a:extLst>
          </p:cNvPr>
          <p:cNvSpPr/>
          <p:nvPr/>
        </p:nvSpPr>
        <p:spPr>
          <a:xfrm>
            <a:off x="1810512" y="30769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34" name="Text 32">
            <a:extLst>
              <a:ext uri="{FF2B5EF4-FFF2-40B4-BE49-F238E27FC236}">
                <a16:creationId xmlns:a16="http://schemas.microsoft.com/office/drawing/2014/main" id="{00DDBEF3-C323-0546-E1E1-06B2F584322F}"/>
              </a:ext>
            </a:extLst>
          </p:cNvPr>
          <p:cNvSpPr/>
          <p:nvPr/>
        </p:nvSpPr>
        <p:spPr>
          <a:xfrm>
            <a:off x="2436876" y="30769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35" name="Text 33">
            <a:extLst>
              <a:ext uri="{FF2B5EF4-FFF2-40B4-BE49-F238E27FC236}">
                <a16:creationId xmlns:a16="http://schemas.microsoft.com/office/drawing/2014/main" id="{52D80A3A-7E25-925F-992F-407C3059040C}"/>
              </a:ext>
            </a:extLst>
          </p:cNvPr>
          <p:cNvSpPr/>
          <p:nvPr/>
        </p:nvSpPr>
        <p:spPr>
          <a:xfrm>
            <a:off x="3063240" y="30769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36" name="Text 34">
            <a:extLst>
              <a:ext uri="{FF2B5EF4-FFF2-40B4-BE49-F238E27FC236}">
                <a16:creationId xmlns:a16="http://schemas.microsoft.com/office/drawing/2014/main" id="{4A849EB4-1F78-E9F8-DEAE-CC76EA778F81}"/>
              </a:ext>
            </a:extLst>
          </p:cNvPr>
          <p:cNvSpPr/>
          <p:nvPr/>
        </p:nvSpPr>
        <p:spPr>
          <a:xfrm>
            <a:off x="3689604" y="30769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37" name="Text 35">
            <a:extLst>
              <a:ext uri="{FF2B5EF4-FFF2-40B4-BE49-F238E27FC236}">
                <a16:creationId xmlns:a16="http://schemas.microsoft.com/office/drawing/2014/main" id="{0276A510-996C-0EED-0694-DF5E92CC7C7A}"/>
              </a:ext>
            </a:extLst>
          </p:cNvPr>
          <p:cNvSpPr/>
          <p:nvPr/>
        </p:nvSpPr>
        <p:spPr>
          <a:xfrm>
            <a:off x="6400800" y="1207008"/>
            <a:ext cx="4343400" cy="237744"/>
          </a:xfrm>
          <a:prstGeom prst="rect">
            <a:avLst/>
          </a:prstGeom>
          <a:noFill/>
          <a:ln/>
        </p:spPr>
        <p:txBody>
          <a:bodyPr wrap="square" lIns="254" tIns="254" rIns="254" bIns="254" rtlCol="0" anchor="ctr">
            <a:normAutofit/>
          </a:bodyPr>
          <a:lstStyle/>
          <a:p>
            <a:pPr marL="0" indent="0" algn="l">
              <a:buNone/>
            </a:pPr>
            <a:r>
              <a:rPr lang="en-US" sz="1500" b="1" dirty="0">
                <a:solidFill>
                  <a:srgbClr val="1F2937"/>
                </a:solidFill>
                <a:latin typeface="Aptos" pitchFamily="34" charset="0"/>
                <a:ea typeface="Aptos" pitchFamily="34" charset="-122"/>
                <a:cs typeface="Aptos" pitchFamily="34" charset="-120"/>
              </a:rPr>
              <a:t>2. Future-cycle split</a:t>
            </a:r>
            <a:endParaRPr lang="en-US" sz="1500" dirty="0"/>
          </a:p>
        </p:txBody>
      </p:sp>
      <p:sp>
        <p:nvSpPr>
          <p:cNvPr id="38" name="Text 36">
            <a:extLst>
              <a:ext uri="{FF2B5EF4-FFF2-40B4-BE49-F238E27FC236}">
                <a16:creationId xmlns:a16="http://schemas.microsoft.com/office/drawing/2014/main" id="{97024BE1-F7E8-35D9-B964-927EA036B142}"/>
              </a:ext>
            </a:extLst>
          </p:cNvPr>
          <p:cNvSpPr/>
          <p:nvPr/>
        </p:nvSpPr>
        <p:spPr>
          <a:xfrm>
            <a:off x="6400800" y="1463040"/>
            <a:ext cx="4343400" cy="201168"/>
          </a:xfrm>
          <a:prstGeom prst="rect">
            <a:avLst/>
          </a:prstGeom>
          <a:noFill/>
          <a:ln/>
        </p:spPr>
        <p:txBody>
          <a:bodyPr wrap="square" lIns="254" tIns="254" rIns="254" bIns="254" rtlCol="0" anchor="ctr">
            <a:normAutofit/>
          </a:bodyPr>
          <a:lstStyle/>
          <a:p>
            <a:pPr marL="0" indent="0" algn="l">
              <a:buNone/>
            </a:pPr>
            <a:r>
              <a:rPr lang="en-US" sz="950" dirty="0">
                <a:solidFill>
                  <a:srgbClr val="64748B"/>
                </a:solidFill>
                <a:latin typeface="Aptos" pitchFamily="34" charset="0"/>
                <a:ea typeface="Aptos" pitchFamily="34" charset="-122"/>
                <a:cs typeface="Aptos" pitchFamily="34" charset="-120"/>
              </a:rPr>
              <a:t>train on earlier cycles, test on later cycles</a:t>
            </a:r>
            <a:endParaRPr lang="en-US" sz="950" dirty="0"/>
          </a:p>
        </p:txBody>
      </p:sp>
      <p:sp>
        <p:nvSpPr>
          <p:cNvPr id="39" name="Text 37">
            <a:extLst>
              <a:ext uri="{FF2B5EF4-FFF2-40B4-BE49-F238E27FC236}">
                <a16:creationId xmlns:a16="http://schemas.microsoft.com/office/drawing/2014/main" id="{860B5B55-D9DC-3E3F-C529-46592C6CED93}"/>
              </a:ext>
            </a:extLst>
          </p:cNvPr>
          <p:cNvSpPr/>
          <p:nvPr/>
        </p:nvSpPr>
        <p:spPr>
          <a:xfrm>
            <a:off x="7571232"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C1</a:t>
            </a:r>
            <a:endParaRPr lang="en-US" sz="1050" dirty="0"/>
          </a:p>
        </p:txBody>
      </p:sp>
      <p:sp>
        <p:nvSpPr>
          <p:cNvPr id="40" name="Text 38">
            <a:extLst>
              <a:ext uri="{FF2B5EF4-FFF2-40B4-BE49-F238E27FC236}">
                <a16:creationId xmlns:a16="http://schemas.microsoft.com/office/drawing/2014/main" id="{453B1FE1-6365-2E04-CD01-F1D0048C1592}"/>
              </a:ext>
            </a:extLst>
          </p:cNvPr>
          <p:cNvSpPr/>
          <p:nvPr/>
        </p:nvSpPr>
        <p:spPr>
          <a:xfrm>
            <a:off x="8197596"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C2</a:t>
            </a:r>
            <a:endParaRPr lang="en-US" sz="1050" dirty="0"/>
          </a:p>
        </p:txBody>
      </p:sp>
      <p:sp>
        <p:nvSpPr>
          <p:cNvPr id="41" name="Text 39">
            <a:extLst>
              <a:ext uri="{FF2B5EF4-FFF2-40B4-BE49-F238E27FC236}">
                <a16:creationId xmlns:a16="http://schemas.microsoft.com/office/drawing/2014/main" id="{9B737DE8-B03E-F866-6309-878D20AE6815}"/>
              </a:ext>
            </a:extLst>
          </p:cNvPr>
          <p:cNvSpPr/>
          <p:nvPr/>
        </p:nvSpPr>
        <p:spPr>
          <a:xfrm>
            <a:off x="8823960"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C3</a:t>
            </a:r>
            <a:endParaRPr lang="en-US" sz="1050" dirty="0"/>
          </a:p>
        </p:txBody>
      </p:sp>
      <p:sp>
        <p:nvSpPr>
          <p:cNvPr id="42" name="Text 40">
            <a:extLst>
              <a:ext uri="{FF2B5EF4-FFF2-40B4-BE49-F238E27FC236}">
                <a16:creationId xmlns:a16="http://schemas.microsoft.com/office/drawing/2014/main" id="{AE5E720D-9EA4-9909-968A-ED7679462AE2}"/>
              </a:ext>
            </a:extLst>
          </p:cNvPr>
          <p:cNvSpPr/>
          <p:nvPr/>
        </p:nvSpPr>
        <p:spPr>
          <a:xfrm>
            <a:off x="9450324" y="1755648"/>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C4</a:t>
            </a:r>
            <a:endParaRPr lang="en-US" sz="1050" dirty="0"/>
          </a:p>
        </p:txBody>
      </p:sp>
      <p:sp>
        <p:nvSpPr>
          <p:cNvPr id="43" name="Text 41">
            <a:extLst>
              <a:ext uri="{FF2B5EF4-FFF2-40B4-BE49-F238E27FC236}">
                <a16:creationId xmlns:a16="http://schemas.microsoft.com/office/drawing/2014/main" id="{574564D2-6BCF-6665-7C67-64111C04582A}"/>
              </a:ext>
            </a:extLst>
          </p:cNvPr>
          <p:cNvSpPr/>
          <p:nvPr/>
        </p:nvSpPr>
        <p:spPr>
          <a:xfrm>
            <a:off x="6400800" y="20482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A</a:t>
            </a:r>
            <a:endParaRPr lang="en-US" sz="1050" dirty="0"/>
          </a:p>
        </p:txBody>
      </p:sp>
      <p:sp>
        <p:nvSpPr>
          <p:cNvPr id="44" name="Text 42">
            <a:extLst>
              <a:ext uri="{FF2B5EF4-FFF2-40B4-BE49-F238E27FC236}">
                <a16:creationId xmlns:a16="http://schemas.microsoft.com/office/drawing/2014/main" id="{A3F6E47F-F879-36CA-E5C3-C8D44D99E19B}"/>
              </a:ext>
            </a:extLst>
          </p:cNvPr>
          <p:cNvSpPr/>
          <p:nvPr/>
        </p:nvSpPr>
        <p:spPr>
          <a:xfrm>
            <a:off x="7571232" y="20482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45" name="Text 43">
            <a:extLst>
              <a:ext uri="{FF2B5EF4-FFF2-40B4-BE49-F238E27FC236}">
                <a16:creationId xmlns:a16="http://schemas.microsoft.com/office/drawing/2014/main" id="{8E76D38B-D391-E359-66F8-C92904A2F248}"/>
              </a:ext>
            </a:extLst>
          </p:cNvPr>
          <p:cNvSpPr/>
          <p:nvPr/>
        </p:nvSpPr>
        <p:spPr>
          <a:xfrm>
            <a:off x="8197596" y="20482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46" name="Text 44">
            <a:extLst>
              <a:ext uri="{FF2B5EF4-FFF2-40B4-BE49-F238E27FC236}">
                <a16:creationId xmlns:a16="http://schemas.microsoft.com/office/drawing/2014/main" id="{30C1B52D-2B5C-0F17-998E-8258FF7F3C75}"/>
              </a:ext>
            </a:extLst>
          </p:cNvPr>
          <p:cNvSpPr/>
          <p:nvPr/>
        </p:nvSpPr>
        <p:spPr>
          <a:xfrm>
            <a:off x="8823960" y="20482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47" name="Text 45">
            <a:extLst>
              <a:ext uri="{FF2B5EF4-FFF2-40B4-BE49-F238E27FC236}">
                <a16:creationId xmlns:a16="http://schemas.microsoft.com/office/drawing/2014/main" id="{0A901D1C-66EC-9CC2-5AF1-EF53F5D420A1}"/>
              </a:ext>
            </a:extLst>
          </p:cNvPr>
          <p:cNvSpPr/>
          <p:nvPr/>
        </p:nvSpPr>
        <p:spPr>
          <a:xfrm>
            <a:off x="9450324" y="20482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48" name="Text 46">
            <a:extLst>
              <a:ext uri="{FF2B5EF4-FFF2-40B4-BE49-F238E27FC236}">
                <a16:creationId xmlns:a16="http://schemas.microsoft.com/office/drawing/2014/main" id="{D6CB8DA8-8B57-510E-8C4F-BEB47CBF59A3}"/>
              </a:ext>
            </a:extLst>
          </p:cNvPr>
          <p:cNvSpPr/>
          <p:nvPr/>
        </p:nvSpPr>
        <p:spPr>
          <a:xfrm>
            <a:off x="6400800" y="23911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B</a:t>
            </a:r>
            <a:endParaRPr lang="en-US" sz="1050" dirty="0"/>
          </a:p>
        </p:txBody>
      </p:sp>
      <p:sp>
        <p:nvSpPr>
          <p:cNvPr id="49" name="Text 47">
            <a:extLst>
              <a:ext uri="{FF2B5EF4-FFF2-40B4-BE49-F238E27FC236}">
                <a16:creationId xmlns:a16="http://schemas.microsoft.com/office/drawing/2014/main" id="{0E9E3120-308C-F644-9CC6-607ABFB2A25A}"/>
              </a:ext>
            </a:extLst>
          </p:cNvPr>
          <p:cNvSpPr/>
          <p:nvPr/>
        </p:nvSpPr>
        <p:spPr>
          <a:xfrm>
            <a:off x="7571232" y="23911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50" name="Text 48">
            <a:extLst>
              <a:ext uri="{FF2B5EF4-FFF2-40B4-BE49-F238E27FC236}">
                <a16:creationId xmlns:a16="http://schemas.microsoft.com/office/drawing/2014/main" id="{43968B24-82FC-A97B-C27D-56A0C8E6DA78}"/>
              </a:ext>
            </a:extLst>
          </p:cNvPr>
          <p:cNvSpPr/>
          <p:nvPr/>
        </p:nvSpPr>
        <p:spPr>
          <a:xfrm>
            <a:off x="8197596" y="23911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51" name="Text 49">
            <a:extLst>
              <a:ext uri="{FF2B5EF4-FFF2-40B4-BE49-F238E27FC236}">
                <a16:creationId xmlns:a16="http://schemas.microsoft.com/office/drawing/2014/main" id="{37A83118-18FB-BB87-534D-67873B613043}"/>
              </a:ext>
            </a:extLst>
          </p:cNvPr>
          <p:cNvSpPr/>
          <p:nvPr/>
        </p:nvSpPr>
        <p:spPr>
          <a:xfrm>
            <a:off x="8823960" y="23911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52" name="Text 50">
            <a:extLst>
              <a:ext uri="{FF2B5EF4-FFF2-40B4-BE49-F238E27FC236}">
                <a16:creationId xmlns:a16="http://schemas.microsoft.com/office/drawing/2014/main" id="{9E367FE9-ABDA-E1F1-5D63-1B91080F9673}"/>
              </a:ext>
            </a:extLst>
          </p:cNvPr>
          <p:cNvSpPr/>
          <p:nvPr/>
        </p:nvSpPr>
        <p:spPr>
          <a:xfrm>
            <a:off x="9450324" y="23911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53" name="Text 51">
            <a:extLst>
              <a:ext uri="{FF2B5EF4-FFF2-40B4-BE49-F238E27FC236}">
                <a16:creationId xmlns:a16="http://schemas.microsoft.com/office/drawing/2014/main" id="{317B03E9-7F54-5C13-BA75-0E4B653734D3}"/>
              </a:ext>
            </a:extLst>
          </p:cNvPr>
          <p:cNvSpPr/>
          <p:nvPr/>
        </p:nvSpPr>
        <p:spPr>
          <a:xfrm>
            <a:off x="6400800" y="27340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C</a:t>
            </a:r>
            <a:endParaRPr lang="en-US" sz="1050" dirty="0"/>
          </a:p>
        </p:txBody>
      </p:sp>
      <p:sp>
        <p:nvSpPr>
          <p:cNvPr id="54" name="Text 52">
            <a:extLst>
              <a:ext uri="{FF2B5EF4-FFF2-40B4-BE49-F238E27FC236}">
                <a16:creationId xmlns:a16="http://schemas.microsoft.com/office/drawing/2014/main" id="{FCE38631-7F37-BC93-81F7-1D9743EDC616}"/>
              </a:ext>
            </a:extLst>
          </p:cNvPr>
          <p:cNvSpPr/>
          <p:nvPr/>
        </p:nvSpPr>
        <p:spPr>
          <a:xfrm>
            <a:off x="7571232" y="27340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55" name="Text 53">
            <a:extLst>
              <a:ext uri="{FF2B5EF4-FFF2-40B4-BE49-F238E27FC236}">
                <a16:creationId xmlns:a16="http://schemas.microsoft.com/office/drawing/2014/main" id="{1B0BACFA-6AAE-D36B-0234-1AB1573735A3}"/>
              </a:ext>
            </a:extLst>
          </p:cNvPr>
          <p:cNvSpPr/>
          <p:nvPr/>
        </p:nvSpPr>
        <p:spPr>
          <a:xfrm>
            <a:off x="8197596" y="27340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56" name="Text 54">
            <a:extLst>
              <a:ext uri="{FF2B5EF4-FFF2-40B4-BE49-F238E27FC236}">
                <a16:creationId xmlns:a16="http://schemas.microsoft.com/office/drawing/2014/main" id="{11DB83A7-F98C-F8FD-EC35-A2D87AD8ACC1}"/>
              </a:ext>
            </a:extLst>
          </p:cNvPr>
          <p:cNvSpPr/>
          <p:nvPr/>
        </p:nvSpPr>
        <p:spPr>
          <a:xfrm>
            <a:off x="8823960" y="27340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57" name="Text 55">
            <a:extLst>
              <a:ext uri="{FF2B5EF4-FFF2-40B4-BE49-F238E27FC236}">
                <a16:creationId xmlns:a16="http://schemas.microsoft.com/office/drawing/2014/main" id="{6106AE27-36AF-90E6-A3A0-9B8376B93A25}"/>
              </a:ext>
            </a:extLst>
          </p:cNvPr>
          <p:cNvSpPr/>
          <p:nvPr/>
        </p:nvSpPr>
        <p:spPr>
          <a:xfrm>
            <a:off x="9450324" y="27340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58" name="Text 56">
            <a:extLst>
              <a:ext uri="{FF2B5EF4-FFF2-40B4-BE49-F238E27FC236}">
                <a16:creationId xmlns:a16="http://schemas.microsoft.com/office/drawing/2014/main" id="{5CF3F27F-791D-D24C-9B68-FCBA6F93AFCC}"/>
              </a:ext>
            </a:extLst>
          </p:cNvPr>
          <p:cNvSpPr/>
          <p:nvPr/>
        </p:nvSpPr>
        <p:spPr>
          <a:xfrm>
            <a:off x="6400800" y="3076956"/>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D</a:t>
            </a:r>
            <a:endParaRPr lang="en-US" sz="1050" dirty="0"/>
          </a:p>
        </p:txBody>
      </p:sp>
      <p:sp>
        <p:nvSpPr>
          <p:cNvPr id="59" name="Text 57">
            <a:extLst>
              <a:ext uri="{FF2B5EF4-FFF2-40B4-BE49-F238E27FC236}">
                <a16:creationId xmlns:a16="http://schemas.microsoft.com/office/drawing/2014/main" id="{288ACDEE-ECB1-D71D-CA89-E470AEA4CEA6}"/>
              </a:ext>
            </a:extLst>
          </p:cNvPr>
          <p:cNvSpPr/>
          <p:nvPr/>
        </p:nvSpPr>
        <p:spPr>
          <a:xfrm>
            <a:off x="7571232" y="30769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60" name="Text 58">
            <a:extLst>
              <a:ext uri="{FF2B5EF4-FFF2-40B4-BE49-F238E27FC236}">
                <a16:creationId xmlns:a16="http://schemas.microsoft.com/office/drawing/2014/main" id="{AF623001-0543-F5BD-2069-F5088A7E8FAF}"/>
              </a:ext>
            </a:extLst>
          </p:cNvPr>
          <p:cNvSpPr/>
          <p:nvPr/>
        </p:nvSpPr>
        <p:spPr>
          <a:xfrm>
            <a:off x="8197596" y="3076956"/>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61" name="Text 59">
            <a:extLst>
              <a:ext uri="{FF2B5EF4-FFF2-40B4-BE49-F238E27FC236}">
                <a16:creationId xmlns:a16="http://schemas.microsoft.com/office/drawing/2014/main" id="{7945204C-3A9A-AB0A-4FBA-2492BDFDBAFD}"/>
              </a:ext>
            </a:extLst>
          </p:cNvPr>
          <p:cNvSpPr/>
          <p:nvPr/>
        </p:nvSpPr>
        <p:spPr>
          <a:xfrm>
            <a:off x="8823960" y="30769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62" name="Text 60">
            <a:extLst>
              <a:ext uri="{FF2B5EF4-FFF2-40B4-BE49-F238E27FC236}">
                <a16:creationId xmlns:a16="http://schemas.microsoft.com/office/drawing/2014/main" id="{2B865913-E210-343D-162E-81C0AA3EB516}"/>
              </a:ext>
            </a:extLst>
          </p:cNvPr>
          <p:cNvSpPr/>
          <p:nvPr/>
        </p:nvSpPr>
        <p:spPr>
          <a:xfrm>
            <a:off x="9450324" y="3076956"/>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63" name="Text 61">
            <a:extLst>
              <a:ext uri="{FF2B5EF4-FFF2-40B4-BE49-F238E27FC236}">
                <a16:creationId xmlns:a16="http://schemas.microsoft.com/office/drawing/2014/main" id="{5BFDFC97-DBF1-4D77-EAC8-3B727381AF03}"/>
              </a:ext>
            </a:extLst>
          </p:cNvPr>
          <p:cNvSpPr/>
          <p:nvPr/>
        </p:nvSpPr>
        <p:spPr>
          <a:xfrm>
            <a:off x="640080" y="3749040"/>
            <a:ext cx="4343400" cy="237744"/>
          </a:xfrm>
          <a:prstGeom prst="rect">
            <a:avLst/>
          </a:prstGeom>
          <a:noFill/>
          <a:ln/>
        </p:spPr>
        <p:txBody>
          <a:bodyPr wrap="square" lIns="254" tIns="254" rIns="254" bIns="254" rtlCol="0" anchor="ctr">
            <a:normAutofit/>
          </a:bodyPr>
          <a:lstStyle/>
          <a:p>
            <a:pPr marL="0" indent="0" algn="l">
              <a:buNone/>
            </a:pPr>
            <a:r>
              <a:rPr lang="en-US" sz="1500" b="1" dirty="0">
                <a:solidFill>
                  <a:srgbClr val="1F2937"/>
                </a:solidFill>
                <a:latin typeface="Aptos" pitchFamily="34" charset="0"/>
                <a:ea typeface="Aptos" pitchFamily="34" charset="-122"/>
                <a:cs typeface="Aptos" pitchFamily="34" charset="-120"/>
              </a:rPr>
              <a:t>3. New-machine split</a:t>
            </a:r>
            <a:endParaRPr lang="en-US" sz="1500" dirty="0"/>
          </a:p>
        </p:txBody>
      </p:sp>
      <p:sp>
        <p:nvSpPr>
          <p:cNvPr id="64" name="Text 62">
            <a:extLst>
              <a:ext uri="{FF2B5EF4-FFF2-40B4-BE49-F238E27FC236}">
                <a16:creationId xmlns:a16="http://schemas.microsoft.com/office/drawing/2014/main" id="{AAF86780-CB85-EDE5-037D-44F209B97AA6}"/>
              </a:ext>
            </a:extLst>
          </p:cNvPr>
          <p:cNvSpPr/>
          <p:nvPr/>
        </p:nvSpPr>
        <p:spPr>
          <a:xfrm>
            <a:off x="640080" y="4005072"/>
            <a:ext cx="4343400" cy="201168"/>
          </a:xfrm>
          <a:prstGeom prst="rect">
            <a:avLst/>
          </a:prstGeom>
          <a:noFill/>
          <a:ln/>
        </p:spPr>
        <p:txBody>
          <a:bodyPr wrap="square" lIns="254" tIns="254" rIns="254" bIns="254" rtlCol="0" anchor="ctr">
            <a:normAutofit/>
          </a:bodyPr>
          <a:lstStyle/>
          <a:p>
            <a:pPr marL="0" indent="0" algn="l">
              <a:buNone/>
            </a:pPr>
            <a:r>
              <a:rPr lang="en-US" sz="950" dirty="0">
                <a:solidFill>
                  <a:srgbClr val="64748B"/>
                </a:solidFill>
                <a:latin typeface="Aptos" pitchFamily="34" charset="0"/>
                <a:ea typeface="Aptos" pitchFamily="34" charset="-122"/>
                <a:cs typeface="Aptos" pitchFamily="34" charset="-120"/>
              </a:rPr>
              <a:t>train on some machines, test on held-out machines</a:t>
            </a:r>
            <a:endParaRPr lang="en-US" sz="950" dirty="0"/>
          </a:p>
        </p:txBody>
      </p:sp>
      <p:sp>
        <p:nvSpPr>
          <p:cNvPr id="65" name="Text 63">
            <a:extLst>
              <a:ext uri="{FF2B5EF4-FFF2-40B4-BE49-F238E27FC236}">
                <a16:creationId xmlns:a16="http://schemas.microsoft.com/office/drawing/2014/main" id="{EB257801-4BC0-59BF-F0C2-29BDE1B80920}"/>
              </a:ext>
            </a:extLst>
          </p:cNvPr>
          <p:cNvSpPr/>
          <p:nvPr/>
        </p:nvSpPr>
        <p:spPr>
          <a:xfrm>
            <a:off x="1810512"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C1</a:t>
            </a:r>
            <a:endParaRPr lang="en-US" sz="1050" dirty="0"/>
          </a:p>
        </p:txBody>
      </p:sp>
      <p:sp>
        <p:nvSpPr>
          <p:cNvPr id="66" name="Text 64">
            <a:extLst>
              <a:ext uri="{FF2B5EF4-FFF2-40B4-BE49-F238E27FC236}">
                <a16:creationId xmlns:a16="http://schemas.microsoft.com/office/drawing/2014/main" id="{6777C99A-E040-7488-59A4-D040E8BCD7E2}"/>
              </a:ext>
            </a:extLst>
          </p:cNvPr>
          <p:cNvSpPr/>
          <p:nvPr/>
        </p:nvSpPr>
        <p:spPr>
          <a:xfrm>
            <a:off x="2436876"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C2</a:t>
            </a:r>
            <a:endParaRPr lang="en-US" sz="1050" dirty="0"/>
          </a:p>
        </p:txBody>
      </p:sp>
      <p:sp>
        <p:nvSpPr>
          <p:cNvPr id="67" name="Text 65">
            <a:extLst>
              <a:ext uri="{FF2B5EF4-FFF2-40B4-BE49-F238E27FC236}">
                <a16:creationId xmlns:a16="http://schemas.microsoft.com/office/drawing/2014/main" id="{9048CAA2-2EC2-AE5C-4C72-FE60C5798181}"/>
              </a:ext>
            </a:extLst>
          </p:cNvPr>
          <p:cNvSpPr/>
          <p:nvPr/>
        </p:nvSpPr>
        <p:spPr>
          <a:xfrm>
            <a:off x="3063240"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C3</a:t>
            </a:r>
            <a:endParaRPr lang="en-US" sz="1050" dirty="0"/>
          </a:p>
        </p:txBody>
      </p:sp>
      <p:sp>
        <p:nvSpPr>
          <p:cNvPr id="68" name="Text 66">
            <a:extLst>
              <a:ext uri="{FF2B5EF4-FFF2-40B4-BE49-F238E27FC236}">
                <a16:creationId xmlns:a16="http://schemas.microsoft.com/office/drawing/2014/main" id="{CE94557F-95EA-2EDE-A482-6192D3B28849}"/>
              </a:ext>
            </a:extLst>
          </p:cNvPr>
          <p:cNvSpPr/>
          <p:nvPr/>
        </p:nvSpPr>
        <p:spPr>
          <a:xfrm>
            <a:off x="3689604"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C4</a:t>
            </a:r>
            <a:endParaRPr lang="en-US" sz="1050" dirty="0"/>
          </a:p>
        </p:txBody>
      </p:sp>
      <p:sp>
        <p:nvSpPr>
          <p:cNvPr id="69" name="Text 67">
            <a:extLst>
              <a:ext uri="{FF2B5EF4-FFF2-40B4-BE49-F238E27FC236}">
                <a16:creationId xmlns:a16="http://schemas.microsoft.com/office/drawing/2014/main" id="{C2771E7E-F6D3-4D49-14D5-B1B3DE4CE223}"/>
              </a:ext>
            </a:extLst>
          </p:cNvPr>
          <p:cNvSpPr/>
          <p:nvPr/>
        </p:nvSpPr>
        <p:spPr>
          <a:xfrm>
            <a:off x="640080" y="45902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A</a:t>
            </a:r>
            <a:endParaRPr lang="en-US" sz="1050" dirty="0"/>
          </a:p>
        </p:txBody>
      </p:sp>
      <p:sp>
        <p:nvSpPr>
          <p:cNvPr id="70" name="Text 68">
            <a:extLst>
              <a:ext uri="{FF2B5EF4-FFF2-40B4-BE49-F238E27FC236}">
                <a16:creationId xmlns:a16="http://schemas.microsoft.com/office/drawing/2014/main" id="{408BE182-F89C-7FF0-5657-3028B7137116}"/>
              </a:ext>
            </a:extLst>
          </p:cNvPr>
          <p:cNvSpPr/>
          <p:nvPr/>
        </p:nvSpPr>
        <p:spPr>
          <a:xfrm>
            <a:off x="1810512" y="45902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1" name="Text 69">
            <a:extLst>
              <a:ext uri="{FF2B5EF4-FFF2-40B4-BE49-F238E27FC236}">
                <a16:creationId xmlns:a16="http://schemas.microsoft.com/office/drawing/2014/main" id="{9BA551A0-9309-BD18-16C0-62549B3043E7}"/>
              </a:ext>
            </a:extLst>
          </p:cNvPr>
          <p:cNvSpPr/>
          <p:nvPr/>
        </p:nvSpPr>
        <p:spPr>
          <a:xfrm>
            <a:off x="2436876" y="45902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2" name="Text 70">
            <a:extLst>
              <a:ext uri="{FF2B5EF4-FFF2-40B4-BE49-F238E27FC236}">
                <a16:creationId xmlns:a16="http://schemas.microsoft.com/office/drawing/2014/main" id="{8BC7560F-21E9-6E87-1180-520011BEFDDB}"/>
              </a:ext>
            </a:extLst>
          </p:cNvPr>
          <p:cNvSpPr/>
          <p:nvPr/>
        </p:nvSpPr>
        <p:spPr>
          <a:xfrm>
            <a:off x="3063240" y="45902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3" name="Text 71">
            <a:extLst>
              <a:ext uri="{FF2B5EF4-FFF2-40B4-BE49-F238E27FC236}">
                <a16:creationId xmlns:a16="http://schemas.microsoft.com/office/drawing/2014/main" id="{5F3B3345-E963-763C-6135-F59F898B28B7}"/>
              </a:ext>
            </a:extLst>
          </p:cNvPr>
          <p:cNvSpPr/>
          <p:nvPr/>
        </p:nvSpPr>
        <p:spPr>
          <a:xfrm>
            <a:off x="3689604" y="45902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4" name="Text 72">
            <a:extLst>
              <a:ext uri="{FF2B5EF4-FFF2-40B4-BE49-F238E27FC236}">
                <a16:creationId xmlns:a16="http://schemas.microsoft.com/office/drawing/2014/main" id="{DFC2B31B-F677-FD77-3BF1-D79D21570ABE}"/>
              </a:ext>
            </a:extLst>
          </p:cNvPr>
          <p:cNvSpPr/>
          <p:nvPr/>
        </p:nvSpPr>
        <p:spPr>
          <a:xfrm>
            <a:off x="640080" y="49331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B</a:t>
            </a:r>
            <a:endParaRPr lang="en-US" sz="1050" dirty="0"/>
          </a:p>
        </p:txBody>
      </p:sp>
      <p:sp>
        <p:nvSpPr>
          <p:cNvPr id="75" name="Text 73">
            <a:extLst>
              <a:ext uri="{FF2B5EF4-FFF2-40B4-BE49-F238E27FC236}">
                <a16:creationId xmlns:a16="http://schemas.microsoft.com/office/drawing/2014/main" id="{890A9E47-1487-C539-CB86-FD519D87E87E}"/>
              </a:ext>
            </a:extLst>
          </p:cNvPr>
          <p:cNvSpPr/>
          <p:nvPr/>
        </p:nvSpPr>
        <p:spPr>
          <a:xfrm>
            <a:off x="1810512" y="49331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6" name="Text 74">
            <a:extLst>
              <a:ext uri="{FF2B5EF4-FFF2-40B4-BE49-F238E27FC236}">
                <a16:creationId xmlns:a16="http://schemas.microsoft.com/office/drawing/2014/main" id="{EDFDD5BB-4F3D-A451-525C-6DC28DD7BDED}"/>
              </a:ext>
            </a:extLst>
          </p:cNvPr>
          <p:cNvSpPr/>
          <p:nvPr/>
        </p:nvSpPr>
        <p:spPr>
          <a:xfrm>
            <a:off x="2436876" y="49331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7" name="Text 75">
            <a:extLst>
              <a:ext uri="{FF2B5EF4-FFF2-40B4-BE49-F238E27FC236}">
                <a16:creationId xmlns:a16="http://schemas.microsoft.com/office/drawing/2014/main" id="{877E76DC-1B8A-3D87-7E5B-E831B9F6120C}"/>
              </a:ext>
            </a:extLst>
          </p:cNvPr>
          <p:cNvSpPr/>
          <p:nvPr/>
        </p:nvSpPr>
        <p:spPr>
          <a:xfrm>
            <a:off x="3063240" y="49331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8" name="Text 76">
            <a:extLst>
              <a:ext uri="{FF2B5EF4-FFF2-40B4-BE49-F238E27FC236}">
                <a16:creationId xmlns:a16="http://schemas.microsoft.com/office/drawing/2014/main" id="{CFED494A-F346-43AC-3481-D4C19F391262}"/>
              </a:ext>
            </a:extLst>
          </p:cNvPr>
          <p:cNvSpPr/>
          <p:nvPr/>
        </p:nvSpPr>
        <p:spPr>
          <a:xfrm>
            <a:off x="3689604" y="49331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79" name="Text 77">
            <a:extLst>
              <a:ext uri="{FF2B5EF4-FFF2-40B4-BE49-F238E27FC236}">
                <a16:creationId xmlns:a16="http://schemas.microsoft.com/office/drawing/2014/main" id="{E348B189-C2C0-0B5A-D989-FEDFB02EF547}"/>
              </a:ext>
            </a:extLst>
          </p:cNvPr>
          <p:cNvSpPr/>
          <p:nvPr/>
        </p:nvSpPr>
        <p:spPr>
          <a:xfrm>
            <a:off x="640080" y="52760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C</a:t>
            </a:r>
            <a:endParaRPr lang="en-US" sz="1050" dirty="0"/>
          </a:p>
        </p:txBody>
      </p:sp>
      <p:sp>
        <p:nvSpPr>
          <p:cNvPr id="80" name="Text 78">
            <a:extLst>
              <a:ext uri="{FF2B5EF4-FFF2-40B4-BE49-F238E27FC236}">
                <a16:creationId xmlns:a16="http://schemas.microsoft.com/office/drawing/2014/main" id="{CF259B7A-8394-B9E1-8A42-7446B77993F8}"/>
              </a:ext>
            </a:extLst>
          </p:cNvPr>
          <p:cNvSpPr/>
          <p:nvPr/>
        </p:nvSpPr>
        <p:spPr>
          <a:xfrm>
            <a:off x="1810512" y="52760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81" name="Text 79">
            <a:extLst>
              <a:ext uri="{FF2B5EF4-FFF2-40B4-BE49-F238E27FC236}">
                <a16:creationId xmlns:a16="http://schemas.microsoft.com/office/drawing/2014/main" id="{D7C26993-D42E-59F8-05D9-0F2D421F814F}"/>
              </a:ext>
            </a:extLst>
          </p:cNvPr>
          <p:cNvSpPr/>
          <p:nvPr/>
        </p:nvSpPr>
        <p:spPr>
          <a:xfrm>
            <a:off x="2436876" y="52760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82" name="Text 80">
            <a:extLst>
              <a:ext uri="{FF2B5EF4-FFF2-40B4-BE49-F238E27FC236}">
                <a16:creationId xmlns:a16="http://schemas.microsoft.com/office/drawing/2014/main" id="{7F2A192D-57BC-27C5-F3EB-7731EC8B2972}"/>
              </a:ext>
            </a:extLst>
          </p:cNvPr>
          <p:cNvSpPr/>
          <p:nvPr/>
        </p:nvSpPr>
        <p:spPr>
          <a:xfrm>
            <a:off x="3063240" y="52760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83" name="Text 81">
            <a:extLst>
              <a:ext uri="{FF2B5EF4-FFF2-40B4-BE49-F238E27FC236}">
                <a16:creationId xmlns:a16="http://schemas.microsoft.com/office/drawing/2014/main" id="{79E3A141-27DE-C28D-D5E5-D0489BB72834}"/>
              </a:ext>
            </a:extLst>
          </p:cNvPr>
          <p:cNvSpPr/>
          <p:nvPr/>
        </p:nvSpPr>
        <p:spPr>
          <a:xfrm>
            <a:off x="3689604" y="52760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84" name="Text 82">
            <a:extLst>
              <a:ext uri="{FF2B5EF4-FFF2-40B4-BE49-F238E27FC236}">
                <a16:creationId xmlns:a16="http://schemas.microsoft.com/office/drawing/2014/main" id="{4DCD1442-8DFE-4B3F-C2B3-FEEEFA6B01FC}"/>
              </a:ext>
            </a:extLst>
          </p:cNvPr>
          <p:cNvSpPr/>
          <p:nvPr/>
        </p:nvSpPr>
        <p:spPr>
          <a:xfrm>
            <a:off x="640080" y="56189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D</a:t>
            </a:r>
            <a:endParaRPr lang="en-US" sz="1050" dirty="0"/>
          </a:p>
        </p:txBody>
      </p:sp>
      <p:sp>
        <p:nvSpPr>
          <p:cNvPr id="85" name="Text 83">
            <a:extLst>
              <a:ext uri="{FF2B5EF4-FFF2-40B4-BE49-F238E27FC236}">
                <a16:creationId xmlns:a16="http://schemas.microsoft.com/office/drawing/2014/main" id="{E2BF3D9D-A6D0-7E26-984D-06E8FFFA0AB7}"/>
              </a:ext>
            </a:extLst>
          </p:cNvPr>
          <p:cNvSpPr/>
          <p:nvPr/>
        </p:nvSpPr>
        <p:spPr>
          <a:xfrm>
            <a:off x="1810512" y="5618988"/>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86" name="Text 84">
            <a:extLst>
              <a:ext uri="{FF2B5EF4-FFF2-40B4-BE49-F238E27FC236}">
                <a16:creationId xmlns:a16="http://schemas.microsoft.com/office/drawing/2014/main" id="{AD4317EE-8229-C271-3E4B-9A66269AA1AA}"/>
              </a:ext>
            </a:extLst>
          </p:cNvPr>
          <p:cNvSpPr/>
          <p:nvPr/>
        </p:nvSpPr>
        <p:spPr>
          <a:xfrm>
            <a:off x="2436876" y="5618988"/>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87" name="Text 85">
            <a:extLst>
              <a:ext uri="{FF2B5EF4-FFF2-40B4-BE49-F238E27FC236}">
                <a16:creationId xmlns:a16="http://schemas.microsoft.com/office/drawing/2014/main" id="{414ED4F2-BBE0-FB8A-2D9B-8468A1B63AA8}"/>
              </a:ext>
            </a:extLst>
          </p:cNvPr>
          <p:cNvSpPr/>
          <p:nvPr/>
        </p:nvSpPr>
        <p:spPr>
          <a:xfrm>
            <a:off x="3063240" y="5618988"/>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88" name="Text 86">
            <a:extLst>
              <a:ext uri="{FF2B5EF4-FFF2-40B4-BE49-F238E27FC236}">
                <a16:creationId xmlns:a16="http://schemas.microsoft.com/office/drawing/2014/main" id="{ADD5B1D0-DA10-381D-9B29-1FE7433C59EF}"/>
              </a:ext>
            </a:extLst>
          </p:cNvPr>
          <p:cNvSpPr/>
          <p:nvPr/>
        </p:nvSpPr>
        <p:spPr>
          <a:xfrm>
            <a:off x="3689604" y="5618988"/>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89" name="Text 87">
            <a:extLst>
              <a:ext uri="{FF2B5EF4-FFF2-40B4-BE49-F238E27FC236}">
                <a16:creationId xmlns:a16="http://schemas.microsoft.com/office/drawing/2014/main" id="{BD71DD8C-8204-37F4-443C-45703926F796}"/>
              </a:ext>
            </a:extLst>
          </p:cNvPr>
          <p:cNvSpPr/>
          <p:nvPr/>
        </p:nvSpPr>
        <p:spPr>
          <a:xfrm>
            <a:off x="6400800" y="3749040"/>
            <a:ext cx="4343400" cy="237744"/>
          </a:xfrm>
          <a:prstGeom prst="rect">
            <a:avLst/>
          </a:prstGeom>
          <a:noFill/>
          <a:ln/>
        </p:spPr>
        <p:txBody>
          <a:bodyPr wrap="square" lIns="254" tIns="254" rIns="254" bIns="254" rtlCol="0" anchor="ctr">
            <a:normAutofit/>
          </a:bodyPr>
          <a:lstStyle/>
          <a:p>
            <a:pPr marL="0" indent="0" algn="l">
              <a:buNone/>
            </a:pPr>
            <a:r>
              <a:rPr lang="en-US" sz="1500" b="1" dirty="0">
                <a:solidFill>
                  <a:srgbClr val="1F2937"/>
                </a:solidFill>
                <a:latin typeface="Aptos" pitchFamily="34" charset="0"/>
                <a:ea typeface="Aptos" pitchFamily="34" charset="-122"/>
                <a:cs typeface="Aptos" pitchFamily="34" charset="-120"/>
              </a:rPr>
              <a:t>4. Future + new machine</a:t>
            </a:r>
            <a:endParaRPr lang="en-US" sz="1500" dirty="0"/>
          </a:p>
        </p:txBody>
      </p:sp>
      <p:sp>
        <p:nvSpPr>
          <p:cNvPr id="90" name="Text 88">
            <a:extLst>
              <a:ext uri="{FF2B5EF4-FFF2-40B4-BE49-F238E27FC236}">
                <a16:creationId xmlns:a16="http://schemas.microsoft.com/office/drawing/2014/main" id="{824F5984-439F-17CB-DE8A-7DFEC6FAA1D6}"/>
              </a:ext>
            </a:extLst>
          </p:cNvPr>
          <p:cNvSpPr/>
          <p:nvPr/>
        </p:nvSpPr>
        <p:spPr>
          <a:xfrm>
            <a:off x="6400800" y="4005072"/>
            <a:ext cx="4343400" cy="201168"/>
          </a:xfrm>
          <a:prstGeom prst="rect">
            <a:avLst/>
          </a:prstGeom>
          <a:noFill/>
          <a:ln/>
        </p:spPr>
        <p:txBody>
          <a:bodyPr wrap="square" lIns="254" tIns="254" rIns="254" bIns="254" rtlCol="0" anchor="ctr">
            <a:normAutofit/>
          </a:bodyPr>
          <a:lstStyle/>
          <a:p>
            <a:pPr marL="0" indent="0" algn="l">
              <a:buNone/>
            </a:pPr>
            <a:r>
              <a:rPr lang="en-US" sz="950" dirty="0">
                <a:solidFill>
                  <a:srgbClr val="64748B"/>
                </a:solidFill>
                <a:latin typeface="Aptos" pitchFamily="34" charset="0"/>
                <a:ea typeface="Aptos" pitchFamily="34" charset="-122"/>
                <a:cs typeface="Aptos" pitchFamily="34" charset="-120"/>
              </a:rPr>
              <a:t>evaluate both temporal and entity transfer</a:t>
            </a:r>
            <a:endParaRPr lang="en-US" sz="950" dirty="0"/>
          </a:p>
        </p:txBody>
      </p:sp>
      <p:sp>
        <p:nvSpPr>
          <p:cNvPr id="91" name="Text 89">
            <a:extLst>
              <a:ext uri="{FF2B5EF4-FFF2-40B4-BE49-F238E27FC236}">
                <a16:creationId xmlns:a16="http://schemas.microsoft.com/office/drawing/2014/main" id="{284F5959-90DD-7D33-002A-A7691BCEFDBE}"/>
              </a:ext>
            </a:extLst>
          </p:cNvPr>
          <p:cNvSpPr/>
          <p:nvPr/>
        </p:nvSpPr>
        <p:spPr>
          <a:xfrm>
            <a:off x="7571232"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C1</a:t>
            </a:r>
            <a:endParaRPr lang="en-US" sz="1050" dirty="0"/>
          </a:p>
        </p:txBody>
      </p:sp>
      <p:sp>
        <p:nvSpPr>
          <p:cNvPr id="92" name="Text 90">
            <a:extLst>
              <a:ext uri="{FF2B5EF4-FFF2-40B4-BE49-F238E27FC236}">
                <a16:creationId xmlns:a16="http://schemas.microsoft.com/office/drawing/2014/main" id="{88CB8BB4-1649-39B5-19FE-CA16A61CA09E}"/>
              </a:ext>
            </a:extLst>
          </p:cNvPr>
          <p:cNvSpPr/>
          <p:nvPr/>
        </p:nvSpPr>
        <p:spPr>
          <a:xfrm>
            <a:off x="8197596"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C2</a:t>
            </a:r>
            <a:endParaRPr lang="en-US" sz="1050" dirty="0"/>
          </a:p>
        </p:txBody>
      </p:sp>
      <p:sp>
        <p:nvSpPr>
          <p:cNvPr id="93" name="Text 91">
            <a:extLst>
              <a:ext uri="{FF2B5EF4-FFF2-40B4-BE49-F238E27FC236}">
                <a16:creationId xmlns:a16="http://schemas.microsoft.com/office/drawing/2014/main" id="{FF5DD551-0624-5B3C-6793-3B13199BFAE8}"/>
              </a:ext>
            </a:extLst>
          </p:cNvPr>
          <p:cNvSpPr/>
          <p:nvPr/>
        </p:nvSpPr>
        <p:spPr>
          <a:xfrm>
            <a:off x="8823960"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C3</a:t>
            </a:r>
            <a:endParaRPr lang="en-US" sz="1050" dirty="0"/>
          </a:p>
        </p:txBody>
      </p:sp>
      <p:sp>
        <p:nvSpPr>
          <p:cNvPr id="94" name="Text 92">
            <a:extLst>
              <a:ext uri="{FF2B5EF4-FFF2-40B4-BE49-F238E27FC236}">
                <a16:creationId xmlns:a16="http://schemas.microsoft.com/office/drawing/2014/main" id="{E4891948-09C0-55D8-DB2E-0938B7DD20DF}"/>
              </a:ext>
            </a:extLst>
          </p:cNvPr>
          <p:cNvSpPr/>
          <p:nvPr/>
        </p:nvSpPr>
        <p:spPr>
          <a:xfrm>
            <a:off x="9450324" y="4297680"/>
            <a:ext cx="576072" cy="201168"/>
          </a:xfrm>
          <a:prstGeom prst="rect">
            <a:avLst/>
          </a:prstGeom>
          <a:noFill/>
          <a:ln/>
        </p:spPr>
        <p:txBody>
          <a:bodyPr wrap="square" lIns="254" tIns="254" rIns="254" bIns="254" rtlCol="0" anchor="ctr">
            <a:normAutofit/>
          </a:bodyPr>
          <a:lstStyle/>
          <a:p>
            <a:pPr marL="0" indent="0" algn="ctr">
              <a:buNone/>
            </a:pPr>
            <a:r>
              <a:rPr lang="en-US" sz="1050" b="1" dirty="0">
                <a:solidFill>
                  <a:srgbClr val="64748B"/>
                </a:solidFill>
                <a:latin typeface="Aptos" pitchFamily="34" charset="0"/>
                <a:ea typeface="Aptos" pitchFamily="34" charset="-122"/>
                <a:cs typeface="Aptos" pitchFamily="34" charset="-120"/>
              </a:rPr>
              <a:t>C4</a:t>
            </a:r>
            <a:endParaRPr lang="en-US" sz="1050" dirty="0"/>
          </a:p>
        </p:txBody>
      </p:sp>
      <p:sp>
        <p:nvSpPr>
          <p:cNvPr id="95" name="Text 93">
            <a:extLst>
              <a:ext uri="{FF2B5EF4-FFF2-40B4-BE49-F238E27FC236}">
                <a16:creationId xmlns:a16="http://schemas.microsoft.com/office/drawing/2014/main" id="{AD73BABB-CAFE-6FB9-91D6-E86BFA0CED40}"/>
              </a:ext>
            </a:extLst>
          </p:cNvPr>
          <p:cNvSpPr/>
          <p:nvPr/>
        </p:nvSpPr>
        <p:spPr>
          <a:xfrm>
            <a:off x="6400800" y="45902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A</a:t>
            </a:r>
            <a:endParaRPr lang="en-US" sz="1050" dirty="0"/>
          </a:p>
        </p:txBody>
      </p:sp>
      <p:sp>
        <p:nvSpPr>
          <p:cNvPr id="96" name="Text 94">
            <a:extLst>
              <a:ext uri="{FF2B5EF4-FFF2-40B4-BE49-F238E27FC236}">
                <a16:creationId xmlns:a16="http://schemas.microsoft.com/office/drawing/2014/main" id="{95A06E0D-4EF5-49E6-6BEB-695FA1257D79}"/>
              </a:ext>
            </a:extLst>
          </p:cNvPr>
          <p:cNvSpPr/>
          <p:nvPr/>
        </p:nvSpPr>
        <p:spPr>
          <a:xfrm>
            <a:off x="7571232" y="45902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97" name="Text 95">
            <a:extLst>
              <a:ext uri="{FF2B5EF4-FFF2-40B4-BE49-F238E27FC236}">
                <a16:creationId xmlns:a16="http://schemas.microsoft.com/office/drawing/2014/main" id="{4E41C2EA-5D5D-4849-B211-8037B9D0DEF7}"/>
              </a:ext>
            </a:extLst>
          </p:cNvPr>
          <p:cNvSpPr/>
          <p:nvPr/>
        </p:nvSpPr>
        <p:spPr>
          <a:xfrm>
            <a:off x="8197596" y="45902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98" name="Text 96">
            <a:extLst>
              <a:ext uri="{FF2B5EF4-FFF2-40B4-BE49-F238E27FC236}">
                <a16:creationId xmlns:a16="http://schemas.microsoft.com/office/drawing/2014/main" id="{F25762BB-1B14-BC29-C397-E72215CFB0CD}"/>
              </a:ext>
            </a:extLst>
          </p:cNvPr>
          <p:cNvSpPr/>
          <p:nvPr/>
        </p:nvSpPr>
        <p:spPr>
          <a:xfrm>
            <a:off x="8823960" y="45902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99" name="Text 97">
            <a:extLst>
              <a:ext uri="{FF2B5EF4-FFF2-40B4-BE49-F238E27FC236}">
                <a16:creationId xmlns:a16="http://schemas.microsoft.com/office/drawing/2014/main" id="{DD2BC06E-3E0E-5A8B-CCBE-684336470B75}"/>
              </a:ext>
            </a:extLst>
          </p:cNvPr>
          <p:cNvSpPr/>
          <p:nvPr/>
        </p:nvSpPr>
        <p:spPr>
          <a:xfrm>
            <a:off x="9450324" y="45902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00" name="Text 98">
            <a:extLst>
              <a:ext uri="{FF2B5EF4-FFF2-40B4-BE49-F238E27FC236}">
                <a16:creationId xmlns:a16="http://schemas.microsoft.com/office/drawing/2014/main" id="{C031A04B-C9F5-5F99-6145-569398D0C6C3}"/>
              </a:ext>
            </a:extLst>
          </p:cNvPr>
          <p:cNvSpPr/>
          <p:nvPr/>
        </p:nvSpPr>
        <p:spPr>
          <a:xfrm>
            <a:off x="6400800" y="49331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B</a:t>
            </a:r>
            <a:endParaRPr lang="en-US" sz="1050" dirty="0"/>
          </a:p>
        </p:txBody>
      </p:sp>
      <p:sp>
        <p:nvSpPr>
          <p:cNvPr id="101" name="Text 99">
            <a:extLst>
              <a:ext uri="{FF2B5EF4-FFF2-40B4-BE49-F238E27FC236}">
                <a16:creationId xmlns:a16="http://schemas.microsoft.com/office/drawing/2014/main" id="{4C705D8E-D822-6016-21C0-16F0A31E6DD0}"/>
              </a:ext>
            </a:extLst>
          </p:cNvPr>
          <p:cNvSpPr/>
          <p:nvPr/>
        </p:nvSpPr>
        <p:spPr>
          <a:xfrm>
            <a:off x="7571232" y="49331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102" name="Text 100">
            <a:extLst>
              <a:ext uri="{FF2B5EF4-FFF2-40B4-BE49-F238E27FC236}">
                <a16:creationId xmlns:a16="http://schemas.microsoft.com/office/drawing/2014/main" id="{2DBF76A6-C0A4-901A-3AB7-FC7EA7A1B6B5}"/>
              </a:ext>
            </a:extLst>
          </p:cNvPr>
          <p:cNvSpPr/>
          <p:nvPr/>
        </p:nvSpPr>
        <p:spPr>
          <a:xfrm>
            <a:off x="8197596" y="49331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103" name="Text 101">
            <a:extLst>
              <a:ext uri="{FF2B5EF4-FFF2-40B4-BE49-F238E27FC236}">
                <a16:creationId xmlns:a16="http://schemas.microsoft.com/office/drawing/2014/main" id="{73FBE02A-99A9-E5DD-9AA1-3B949299A060}"/>
              </a:ext>
            </a:extLst>
          </p:cNvPr>
          <p:cNvSpPr/>
          <p:nvPr/>
        </p:nvSpPr>
        <p:spPr>
          <a:xfrm>
            <a:off x="8823960" y="49331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04" name="Text 102">
            <a:extLst>
              <a:ext uri="{FF2B5EF4-FFF2-40B4-BE49-F238E27FC236}">
                <a16:creationId xmlns:a16="http://schemas.microsoft.com/office/drawing/2014/main" id="{DD5A09DF-BA08-41ED-338F-2B3500499574}"/>
              </a:ext>
            </a:extLst>
          </p:cNvPr>
          <p:cNvSpPr/>
          <p:nvPr/>
        </p:nvSpPr>
        <p:spPr>
          <a:xfrm>
            <a:off x="9450324" y="49331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05" name="Text 103">
            <a:extLst>
              <a:ext uri="{FF2B5EF4-FFF2-40B4-BE49-F238E27FC236}">
                <a16:creationId xmlns:a16="http://schemas.microsoft.com/office/drawing/2014/main" id="{9018652C-776F-C7B3-7D9F-02EC0A504244}"/>
              </a:ext>
            </a:extLst>
          </p:cNvPr>
          <p:cNvSpPr/>
          <p:nvPr/>
        </p:nvSpPr>
        <p:spPr>
          <a:xfrm>
            <a:off x="6400800" y="52760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C</a:t>
            </a:r>
            <a:endParaRPr lang="en-US" sz="1050" dirty="0"/>
          </a:p>
        </p:txBody>
      </p:sp>
      <p:sp>
        <p:nvSpPr>
          <p:cNvPr id="106" name="Text 104">
            <a:extLst>
              <a:ext uri="{FF2B5EF4-FFF2-40B4-BE49-F238E27FC236}">
                <a16:creationId xmlns:a16="http://schemas.microsoft.com/office/drawing/2014/main" id="{4FE34D67-D11A-CE51-E624-4D48D0522D06}"/>
              </a:ext>
            </a:extLst>
          </p:cNvPr>
          <p:cNvSpPr/>
          <p:nvPr/>
        </p:nvSpPr>
        <p:spPr>
          <a:xfrm>
            <a:off x="7571232" y="52760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107" name="Text 105">
            <a:extLst>
              <a:ext uri="{FF2B5EF4-FFF2-40B4-BE49-F238E27FC236}">
                <a16:creationId xmlns:a16="http://schemas.microsoft.com/office/drawing/2014/main" id="{6F522A45-9D5D-AC8B-6E3A-58E4730C14BF}"/>
              </a:ext>
            </a:extLst>
          </p:cNvPr>
          <p:cNvSpPr/>
          <p:nvPr/>
        </p:nvSpPr>
        <p:spPr>
          <a:xfrm>
            <a:off x="8197596" y="5276088"/>
            <a:ext cx="576072" cy="274320"/>
          </a:xfrm>
          <a:prstGeom prst="rect">
            <a:avLst/>
          </a:prstGeom>
          <a:solidFill>
            <a:srgbClr val="D7E8FF"/>
          </a:solidFill>
          <a:ln w="12700">
            <a:solidFill>
              <a:srgbClr val="2F6FDB"/>
            </a:solidFill>
          </a:ln>
        </p:spPr>
        <p:txBody>
          <a:bodyPr wrap="square" lIns="254" tIns="254" rIns="254" bIns="254" rtlCol="0" anchor="ctr">
            <a:normAutofit/>
          </a:bodyPr>
          <a:lstStyle/>
          <a:p>
            <a:pPr marL="0" indent="0" algn="l">
              <a:buNone/>
            </a:pPr>
            <a:endParaRPr lang="en-US" sz="1200" dirty="0"/>
          </a:p>
        </p:txBody>
      </p:sp>
      <p:sp>
        <p:nvSpPr>
          <p:cNvPr id="108" name="Text 106">
            <a:extLst>
              <a:ext uri="{FF2B5EF4-FFF2-40B4-BE49-F238E27FC236}">
                <a16:creationId xmlns:a16="http://schemas.microsoft.com/office/drawing/2014/main" id="{90311E9F-44A9-86E4-8499-23D0753CDD37}"/>
              </a:ext>
            </a:extLst>
          </p:cNvPr>
          <p:cNvSpPr/>
          <p:nvPr/>
        </p:nvSpPr>
        <p:spPr>
          <a:xfrm>
            <a:off x="8823960" y="52760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09" name="Text 107">
            <a:extLst>
              <a:ext uri="{FF2B5EF4-FFF2-40B4-BE49-F238E27FC236}">
                <a16:creationId xmlns:a16="http://schemas.microsoft.com/office/drawing/2014/main" id="{3380EBC4-567B-EE57-5966-8B1F4CC4BA68}"/>
              </a:ext>
            </a:extLst>
          </p:cNvPr>
          <p:cNvSpPr/>
          <p:nvPr/>
        </p:nvSpPr>
        <p:spPr>
          <a:xfrm>
            <a:off x="9450324" y="52760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10" name="Text 108">
            <a:extLst>
              <a:ext uri="{FF2B5EF4-FFF2-40B4-BE49-F238E27FC236}">
                <a16:creationId xmlns:a16="http://schemas.microsoft.com/office/drawing/2014/main" id="{31BE3790-D590-2160-4E85-9BD71095A490}"/>
              </a:ext>
            </a:extLst>
          </p:cNvPr>
          <p:cNvSpPr/>
          <p:nvPr/>
        </p:nvSpPr>
        <p:spPr>
          <a:xfrm>
            <a:off x="6400800" y="5618988"/>
            <a:ext cx="1078992" cy="274320"/>
          </a:xfrm>
          <a:prstGeom prst="rect">
            <a:avLst/>
          </a:prstGeom>
          <a:noFill/>
          <a:ln/>
        </p:spPr>
        <p:txBody>
          <a:bodyPr wrap="square" lIns="254" tIns="254" rIns="254" bIns="254" rtlCol="0" anchor="ctr">
            <a:normAutofit/>
          </a:bodyPr>
          <a:lstStyle/>
          <a:p>
            <a:pPr marL="0" indent="0" algn="r">
              <a:buNone/>
            </a:pPr>
            <a:r>
              <a:rPr lang="en-US" sz="1050" dirty="0">
                <a:solidFill>
                  <a:srgbClr val="1F2937"/>
                </a:solidFill>
                <a:latin typeface="Aptos" pitchFamily="34" charset="0"/>
                <a:ea typeface="Aptos" pitchFamily="34" charset="-122"/>
                <a:cs typeface="Aptos" pitchFamily="34" charset="-120"/>
              </a:rPr>
              <a:t>Machine D</a:t>
            </a:r>
            <a:endParaRPr lang="en-US" sz="1050" dirty="0"/>
          </a:p>
        </p:txBody>
      </p:sp>
      <p:sp>
        <p:nvSpPr>
          <p:cNvPr id="111" name="Text 109">
            <a:extLst>
              <a:ext uri="{FF2B5EF4-FFF2-40B4-BE49-F238E27FC236}">
                <a16:creationId xmlns:a16="http://schemas.microsoft.com/office/drawing/2014/main" id="{BB8864E8-825B-DB40-81F7-8358E8D71C2C}"/>
              </a:ext>
            </a:extLst>
          </p:cNvPr>
          <p:cNvSpPr/>
          <p:nvPr/>
        </p:nvSpPr>
        <p:spPr>
          <a:xfrm>
            <a:off x="7571232" y="56189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12" name="Text 110">
            <a:extLst>
              <a:ext uri="{FF2B5EF4-FFF2-40B4-BE49-F238E27FC236}">
                <a16:creationId xmlns:a16="http://schemas.microsoft.com/office/drawing/2014/main" id="{F5A001EF-6A07-1BE1-160A-EDA4CCF921AF}"/>
              </a:ext>
            </a:extLst>
          </p:cNvPr>
          <p:cNvSpPr/>
          <p:nvPr/>
        </p:nvSpPr>
        <p:spPr>
          <a:xfrm>
            <a:off x="8197596" y="5618988"/>
            <a:ext cx="576072" cy="274320"/>
          </a:xfrm>
          <a:prstGeom prst="rect">
            <a:avLst/>
          </a:prstGeom>
          <a:solidFill>
            <a:srgbClr val="F1F5F9"/>
          </a:solidFill>
          <a:ln w="12700">
            <a:solidFill>
              <a:srgbClr val="CBD5E1"/>
            </a:solidFill>
          </a:ln>
        </p:spPr>
        <p:txBody>
          <a:bodyPr wrap="square" lIns="254" tIns="254" rIns="254" bIns="254" rtlCol="0" anchor="ctr">
            <a:normAutofit/>
          </a:bodyPr>
          <a:lstStyle/>
          <a:p>
            <a:pPr marL="0" indent="0" algn="l">
              <a:buNone/>
            </a:pPr>
            <a:endParaRPr lang="en-US" sz="1200" dirty="0"/>
          </a:p>
        </p:txBody>
      </p:sp>
      <p:sp>
        <p:nvSpPr>
          <p:cNvPr id="113" name="Text 111">
            <a:extLst>
              <a:ext uri="{FF2B5EF4-FFF2-40B4-BE49-F238E27FC236}">
                <a16:creationId xmlns:a16="http://schemas.microsoft.com/office/drawing/2014/main" id="{9C331F2C-DC8C-40C2-FCEB-EBF14D5FB1C2}"/>
              </a:ext>
            </a:extLst>
          </p:cNvPr>
          <p:cNvSpPr/>
          <p:nvPr/>
        </p:nvSpPr>
        <p:spPr>
          <a:xfrm>
            <a:off x="8823960" y="5618988"/>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114" name="Text 112">
            <a:extLst>
              <a:ext uri="{FF2B5EF4-FFF2-40B4-BE49-F238E27FC236}">
                <a16:creationId xmlns:a16="http://schemas.microsoft.com/office/drawing/2014/main" id="{4FACB31F-E999-D57D-FD70-2C504B5BD361}"/>
              </a:ext>
            </a:extLst>
          </p:cNvPr>
          <p:cNvSpPr/>
          <p:nvPr/>
        </p:nvSpPr>
        <p:spPr>
          <a:xfrm>
            <a:off x="9450324" y="5618988"/>
            <a:ext cx="576072" cy="274320"/>
          </a:xfrm>
          <a:prstGeom prst="rect">
            <a:avLst/>
          </a:prstGeom>
          <a:solidFill>
            <a:srgbClr val="FFE3B3"/>
          </a:solidFill>
          <a:ln w="17780">
            <a:solidFill>
              <a:srgbClr val="D97706"/>
            </a:solidFill>
          </a:ln>
        </p:spPr>
        <p:txBody>
          <a:bodyPr wrap="square" lIns="254" tIns="254" rIns="254" bIns="254" rtlCol="0" anchor="ctr">
            <a:normAutofit/>
          </a:bodyPr>
          <a:lstStyle/>
          <a:p>
            <a:pPr marL="0" indent="0" algn="l">
              <a:buNone/>
            </a:pPr>
            <a:endParaRPr lang="en-US" sz="1200" dirty="0"/>
          </a:p>
        </p:txBody>
      </p:sp>
      <p:sp>
        <p:nvSpPr>
          <p:cNvPr id="115" name="Text 113">
            <a:extLst>
              <a:ext uri="{FF2B5EF4-FFF2-40B4-BE49-F238E27FC236}">
                <a16:creationId xmlns:a16="http://schemas.microsoft.com/office/drawing/2014/main" id="{9C181C23-F35A-91AF-9DF9-DF258D0996B9}"/>
              </a:ext>
            </a:extLst>
          </p:cNvPr>
          <p:cNvSpPr/>
          <p:nvPr/>
        </p:nvSpPr>
        <p:spPr>
          <a:xfrm>
            <a:off x="530352" y="6446520"/>
            <a:ext cx="11064240" cy="228600"/>
          </a:xfrm>
          <a:prstGeom prst="rect">
            <a:avLst/>
          </a:prstGeom>
          <a:noFill/>
          <a:ln/>
        </p:spPr>
        <p:txBody>
          <a:bodyPr wrap="square" lIns="254" tIns="254" rIns="254" bIns="254" rtlCol="0" anchor="ctr">
            <a:normAutofit/>
          </a:bodyPr>
          <a:lstStyle/>
          <a:p>
            <a:pPr marL="0" indent="0" algn="ctr">
              <a:buNone/>
            </a:pPr>
            <a:r>
              <a:rPr lang="en-US" sz="1050" i="1" dirty="0">
                <a:solidFill>
                  <a:srgbClr val="64748B"/>
                </a:solidFill>
                <a:latin typeface="Aptos" pitchFamily="34" charset="0"/>
                <a:ea typeface="Aptos" pitchFamily="34" charset="-122"/>
                <a:cs typeface="Aptos" pitchFamily="34" charset="-120"/>
              </a:rPr>
              <a:t>Each colored cell is one machine-cycle example.</a:t>
            </a:r>
            <a:endParaRPr lang="en-US" sz="1050" dirty="0"/>
          </a:p>
        </p:txBody>
      </p:sp>
    </p:spTree>
    <p:extLst>
      <p:ext uri="{BB962C8B-B14F-4D97-AF65-F5344CB8AC3E}">
        <p14:creationId xmlns:p14="http://schemas.microsoft.com/office/powerpoint/2010/main" val="35909507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0EC916-6266-6F7B-FF04-11B8B23C8D69}"/>
              </a:ext>
            </a:extLst>
          </p:cNvPr>
          <p:cNvSpPr>
            <a:spLocks noGrp="1"/>
          </p:cNvSpPr>
          <p:nvPr>
            <p:ph type="title"/>
          </p:nvPr>
        </p:nvSpPr>
        <p:spPr/>
        <p:txBody>
          <a:bodyPr/>
          <a:lstStyle/>
          <a:p>
            <a:r>
              <a:rPr lang="en-GB" dirty="0"/>
              <a:t>Sites, environments and acquisition systems</a:t>
            </a:r>
          </a:p>
        </p:txBody>
      </p:sp>
      <p:sp>
        <p:nvSpPr>
          <p:cNvPr id="3" name="Segnaposto contenuto 2">
            <a:extLst>
              <a:ext uri="{FF2B5EF4-FFF2-40B4-BE49-F238E27FC236}">
                <a16:creationId xmlns:a16="http://schemas.microsoft.com/office/drawing/2014/main" id="{51A219E3-FCBB-B393-1259-6BAB94B4DAC2}"/>
              </a:ext>
            </a:extLst>
          </p:cNvPr>
          <p:cNvSpPr>
            <a:spLocks noGrp="1"/>
          </p:cNvSpPr>
          <p:nvPr>
            <p:ph idx="1"/>
          </p:nvPr>
        </p:nvSpPr>
        <p:spPr/>
        <p:txBody>
          <a:bodyPr>
            <a:normAutofit fontScale="70000" lnSpcReduction="20000"/>
          </a:bodyPr>
          <a:lstStyle/>
          <a:p>
            <a:r>
              <a:rPr lang="en-GB" dirty="0"/>
              <a:t>Example:</a:t>
            </a:r>
          </a:p>
          <a:p>
            <a:r>
              <a:rPr lang="en-GB" dirty="0"/>
              <a:t>Site 1: Machines A, B, C</a:t>
            </a:r>
          </a:p>
          <a:p>
            <a:r>
              <a:rPr lang="en-GB" dirty="0"/>
              <a:t>Site 2: Machines D, E, F</a:t>
            </a:r>
          </a:p>
          <a:p>
            <a:endParaRPr lang="en-GB" dirty="0"/>
          </a:p>
          <a:p>
            <a:r>
              <a:rPr lang="en-GB" dirty="0"/>
              <a:t>A machine-level random split could place:</a:t>
            </a:r>
          </a:p>
          <a:p>
            <a:pPr lvl="1"/>
            <a:r>
              <a:rPr lang="en-GB" dirty="0"/>
              <a:t>Machine A from Site 1 in training;</a:t>
            </a:r>
          </a:p>
          <a:p>
            <a:pPr lvl="1"/>
            <a:r>
              <a:rPr lang="en-GB" dirty="0"/>
              <a:t>Machine B from Site 1 in test.</a:t>
            </a:r>
          </a:p>
          <a:p>
            <a:r>
              <a:rPr lang="en-GB" dirty="0"/>
              <a:t>The test set would still share:</a:t>
            </a:r>
          </a:p>
          <a:p>
            <a:pPr lvl="1"/>
            <a:r>
              <a:rPr lang="en-GB" dirty="0"/>
              <a:t>environmental conditions;</a:t>
            </a:r>
          </a:p>
          <a:p>
            <a:pPr lvl="1"/>
            <a:r>
              <a:rPr lang="en-GB" dirty="0"/>
              <a:t>sensor installation;</a:t>
            </a:r>
          </a:p>
          <a:p>
            <a:pPr lvl="1"/>
            <a:r>
              <a:rPr lang="en-GB" dirty="0"/>
              <a:t>maintenance procedures;</a:t>
            </a:r>
          </a:p>
          <a:p>
            <a:pPr lvl="1"/>
            <a:r>
              <a:rPr lang="en-GB" dirty="0"/>
              <a:t>acquisition hardware;</a:t>
            </a:r>
          </a:p>
          <a:p>
            <a:pPr lvl="1"/>
            <a:r>
              <a:rPr lang="en-GB" dirty="0"/>
              <a:t>operational policies;</a:t>
            </a:r>
          </a:p>
          <a:p>
            <a:pPr lvl="1"/>
            <a:r>
              <a:rPr lang="en-GB" dirty="0"/>
              <a:t>local staff practices.</a:t>
            </a:r>
          </a:p>
          <a:p>
            <a:endParaRPr lang="en-GB" dirty="0"/>
          </a:p>
        </p:txBody>
      </p:sp>
      <p:sp>
        <p:nvSpPr>
          <p:cNvPr id="5" name="CasellaDiTesto 4">
            <a:extLst>
              <a:ext uri="{FF2B5EF4-FFF2-40B4-BE49-F238E27FC236}">
                <a16:creationId xmlns:a16="http://schemas.microsoft.com/office/drawing/2014/main" id="{5F72DAD7-998A-3F3D-24D3-ACE80A171A34}"/>
              </a:ext>
            </a:extLst>
          </p:cNvPr>
          <p:cNvSpPr txBox="1"/>
          <p:nvPr/>
        </p:nvSpPr>
        <p:spPr>
          <a:xfrm>
            <a:off x="3929063" y="1399163"/>
            <a:ext cx="6105524" cy="646331"/>
          </a:xfrm>
          <a:prstGeom prst="rect">
            <a:avLst/>
          </a:prstGeom>
          <a:noFill/>
        </p:spPr>
        <p:txBody>
          <a:bodyPr wrap="square">
            <a:spAutoFit/>
          </a:bodyPr>
          <a:lstStyle/>
          <a:p>
            <a:r>
              <a:rPr lang="en-GB" sz="1800" b="1" dirty="0"/>
              <a:t>Entity-level splitting may still be too weak if entities share the same environment.</a:t>
            </a:r>
          </a:p>
        </p:txBody>
      </p:sp>
    </p:spTree>
    <p:extLst>
      <p:ext uri="{BB962C8B-B14F-4D97-AF65-F5344CB8AC3E}">
        <p14:creationId xmlns:p14="http://schemas.microsoft.com/office/powerpoint/2010/main" val="27329023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73A07B8-3897-16DE-C593-CAD04291D374}"/>
              </a:ext>
            </a:extLst>
          </p:cNvPr>
          <p:cNvSpPr>
            <a:spLocks noGrp="1"/>
          </p:cNvSpPr>
          <p:nvPr>
            <p:ph type="title"/>
          </p:nvPr>
        </p:nvSpPr>
        <p:spPr/>
        <p:txBody>
          <a:bodyPr/>
          <a:lstStyle/>
          <a:p>
            <a:r>
              <a:rPr lang="en-GB" b="1" dirty="0"/>
              <a:t>Site-level holdout</a:t>
            </a:r>
            <a:br>
              <a:rPr lang="en-GB" b="1" dirty="0"/>
            </a:br>
            <a:endParaRPr lang="en-GB" dirty="0"/>
          </a:p>
        </p:txBody>
      </p:sp>
      <p:sp>
        <p:nvSpPr>
          <p:cNvPr id="3" name="Segnaposto contenuto 2">
            <a:extLst>
              <a:ext uri="{FF2B5EF4-FFF2-40B4-BE49-F238E27FC236}">
                <a16:creationId xmlns:a16="http://schemas.microsoft.com/office/drawing/2014/main" id="{AF13A499-CA58-536D-111A-6150E85F6F3E}"/>
              </a:ext>
            </a:extLst>
          </p:cNvPr>
          <p:cNvSpPr>
            <a:spLocks noGrp="1"/>
          </p:cNvSpPr>
          <p:nvPr>
            <p:ph idx="1"/>
          </p:nvPr>
        </p:nvSpPr>
        <p:spPr/>
        <p:txBody>
          <a:bodyPr>
            <a:normAutofit fontScale="62500" lnSpcReduction="20000"/>
          </a:bodyPr>
          <a:lstStyle/>
          <a:p>
            <a:r>
              <a:rPr lang="en-GB" dirty="0"/>
              <a:t>Training:</a:t>
            </a:r>
          </a:p>
          <a:p>
            <a:pPr lvl="1"/>
            <a:r>
              <a:rPr lang="en-GB" dirty="0"/>
              <a:t>all machines from Sites 1 and 2</a:t>
            </a:r>
          </a:p>
          <a:p>
            <a:r>
              <a:rPr lang="en-GB" dirty="0"/>
              <a:t>Validation:</a:t>
            </a:r>
          </a:p>
          <a:p>
            <a:pPr lvl="1"/>
            <a:r>
              <a:rPr lang="en-GB" dirty="0"/>
              <a:t>all machines from Site 3</a:t>
            </a:r>
          </a:p>
          <a:p>
            <a:r>
              <a:rPr lang="en-GB" dirty="0"/>
              <a:t>Test:</a:t>
            </a:r>
          </a:p>
          <a:p>
            <a:pPr lvl="1"/>
            <a:r>
              <a:rPr lang="en-GB" dirty="0"/>
              <a:t>all machines from Site 4</a:t>
            </a:r>
          </a:p>
          <a:p>
            <a:r>
              <a:rPr lang="en-GB" b="1" dirty="0"/>
              <a:t>This evaluates transfer to a new environment.</a:t>
            </a:r>
          </a:p>
          <a:p>
            <a:r>
              <a:rPr lang="en-GB" b="1" dirty="0"/>
              <a:t>Similar group structures</a:t>
            </a:r>
          </a:p>
          <a:p>
            <a:pPr lvl="1"/>
            <a:r>
              <a:rPr lang="en-GB" dirty="0"/>
              <a:t>hospital;</a:t>
            </a:r>
          </a:p>
          <a:p>
            <a:pPr lvl="1"/>
            <a:r>
              <a:rPr lang="en-GB" dirty="0"/>
              <a:t>factory;</a:t>
            </a:r>
          </a:p>
          <a:p>
            <a:pPr lvl="1"/>
            <a:r>
              <a:rPr lang="en-GB" dirty="0"/>
              <a:t>store;</a:t>
            </a:r>
          </a:p>
          <a:p>
            <a:pPr lvl="1"/>
            <a:r>
              <a:rPr lang="en-GB" dirty="0"/>
              <a:t>geographic region;</a:t>
            </a:r>
          </a:p>
          <a:p>
            <a:pPr lvl="1"/>
            <a:r>
              <a:rPr lang="en-GB" dirty="0"/>
              <a:t>data-acquisition device;</a:t>
            </a:r>
          </a:p>
          <a:p>
            <a:pPr lvl="1"/>
            <a:r>
              <a:rPr lang="en-GB" dirty="0"/>
              <a:t>production batch;</a:t>
            </a:r>
          </a:p>
          <a:p>
            <a:pPr lvl="1"/>
            <a:r>
              <a:rPr lang="en-GB" dirty="0"/>
              <a:t>experimental campaign.</a:t>
            </a:r>
          </a:p>
          <a:p>
            <a:endParaRPr lang="en-GB" dirty="0"/>
          </a:p>
        </p:txBody>
      </p:sp>
      <p:sp>
        <p:nvSpPr>
          <p:cNvPr id="5" name="CasellaDiTesto 4">
            <a:extLst>
              <a:ext uri="{FF2B5EF4-FFF2-40B4-BE49-F238E27FC236}">
                <a16:creationId xmlns:a16="http://schemas.microsoft.com/office/drawing/2014/main" id="{DB27172A-401D-AD30-5AC2-CD4F470E6C3F}"/>
              </a:ext>
            </a:extLst>
          </p:cNvPr>
          <p:cNvSpPr txBox="1"/>
          <p:nvPr/>
        </p:nvSpPr>
        <p:spPr>
          <a:xfrm>
            <a:off x="7967663" y="5508646"/>
            <a:ext cx="3643312" cy="923330"/>
          </a:xfrm>
          <a:prstGeom prst="rect">
            <a:avLst/>
          </a:prstGeom>
          <a:noFill/>
        </p:spPr>
        <p:txBody>
          <a:bodyPr wrap="square">
            <a:spAutoFit/>
          </a:bodyPr>
          <a:lstStyle/>
          <a:p>
            <a:r>
              <a:rPr lang="en-GB" sz="1800" b="1" dirty="0">
                <a:highlight>
                  <a:srgbClr val="FFFF00"/>
                </a:highlight>
              </a:rPr>
              <a:t>Split at the highest level whose characteristics may create dependence among samples.</a:t>
            </a:r>
          </a:p>
        </p:txBody>
      </p:sp>
    </p:spTree>
    <p:extLst>
      <p:ext uri="{BB962C8B-B14F-4D97-AF65-F5344CB8AC3E}">
        <p14:creationId xmlns:p14="http://schemas.microsoft.com/office/powerpoint/2010/main" val="15530488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4360" y="310896"/>
            <a:ext cx="4297680" cy="502920"/>
          </a:xfrm>
          <a:prstGeom prst="rect">
            <a:avLst/>
          </a:prstGeom>
          <a:noFill/>
          <a:ln/>
        </p:spPr>
        <p:txBody>
          <a:bodyPr wrap="square" lIns="0" tIns="0" rIns="0" bIns="0" rtlCol="0" anchor="ctr">
            <a:normAutofit lnSpcReduction="10000"/>
          </a:bodyPr>
          <a:lstStyle/>
          <a:p>
            <a:pPr marL="0" indent="0" algn="l">
              <a:buNone/>
            </a:pPr>
            <a:r>
              <a:rPr lang="en-US" sz="3400" b="1" dirty="0">
                <a:solidFill>
                  <a:srgbClr val="1D2433"/>
                </a:solidFill>
                <a:latin typeface="Aptos" pitchFamily="34" charset="0"/>
                <a:ea typeface="Aptos" pitchFamily="34" charset="-122"/>
                <a:cs typeface="Aptos" pitchFamily="34" charset="-120"/>
              </a:rPr>
              <a:t>Site-level split</a:t>
            </a:r>
            <a:endParaRPr lang="en-US" sz="3400" dirty="0"/>
          </a:p>
        </p:txBody>
      </p:sp>
      <p:sp>
        <p:nvSpPr>
          <p:cNvPr id="3" name="Text 1"/>
          <p:cNvSpPr/>
          <p:nvPr/>
        </p:nvSpPr>
        <p:spPr>
          <a:xfrm>
            <a:off x="612648" y="832104"/>
            <a:ext cx="9692640" cy="310896"/>
          </a:xfrm>
          <a:prstGeom prst="rect">
            <a:avLst/>
          </a:prstGeom>
          <a:noFill/>
          <a:ln/>
        </p:spPr>
        <p:txBody>
          <a:bodyPr wrap="square" lIns="0" tIns="0" rIns="0" bIns="0" rtlCol="0" anchor="ctr">
            <a:normAutofit/>
          </a:bodyPr>
          <a:lstStyle/>
          <a:p>
            <a:pPr marL="0" indent="0" algn="l">
              <a:buNone/>
            </a:pPr>
            <a:r>
              <a:rPr lang="en-US" sz="1550" dirty="0">
                <a:solidFill>
                  <a:srgbClr val="64748B"/>
                </a:solidFill>
                <a:latin typeface="Aptos" pitchFamily="34" charset="0"/>
                <a:ea typeface="Aptos" pitchFamily="34" charset="-122"/>
                <a:cs typeface="Aptos" pitchFamily="34" charset="-120"/>
              </a:rPr>
              <a:t>Assign the whole site to one partition, so machines from the same site do not cross train/test boundaries.</a:t>
            </a:r>
            <a:endParaRPr lang="en-US" sz="1550" dirty="0"/>
          </a:p>
        </p:txBody>
      </p:sp>
      <p:sp>
        <p:nvSpPr>
          <p:cNvPr id="4" name="Text 2"/>
          <p:cNvSpPr/>
          <p:nvPr/>
        </p:nvSpPr>
        <p:spPr>
          <a:xfrm>
            <a:off x="9464040" y="411480"/>
            <a:ext cx="987552" cy="283464"/>
          </a:xfrm>
          <a:prstGeom prst="rect">
            <a:avLst/>
          </a:prstGeom>
          <a:solidFill>
            <a:srgbClr val="D9F2E6"/>
          </a:solidFill>
          <a:ln w="12700">
            <a:solidFill>
              <a:srgbClr val="2B8A5F"/>
            </a:solidFill>
          </a:ln>
        </p:spPr>
        <p:txBody>
          <a:bodyPr wrap="square" lIns="254" tIns="254" rIns="254" bIns="254" rtlCol="0" anchor="ctr"/>
          <a:lstStyle/>
          <a:p>
            <a:pPr marL="0" indent="0" algn="ctr">
              <a:buNone/>
            </a:pPr>
            <a:r>
              <a:rPr lang="en-US" sz="1250" b="1" dirty="0">
                <a:solidFill>
                  <a:srgbClr val="2B8A5F"/>
                </a:solidFill>
                <a:latin typeface="Aptos" pitchFamily="34" charset="0"/>
                <a:ea typeface="Aptos" pitchFamily="34" charset="-122"/>
                <a:cs typeface="Aptos" pitchFamily="34" charset="-120"/>
              </a:rPr>
              <a:t>training</a:t>
            </a:r>
            <a:endParaRPr lang="en-US" sz="1250" dirty="0"/>
          </a:p>
        </p:txBody>
      </p:sp>
      <p:sp>
        <p:nvSpPr>
          <p:cNvPr id="5" name="Text 3"/>
          <p:cNvSpPr/>
          <p:nvPr/>
        </p:nvSpPr>
        <p:spPr>
          <a:xfrm>
            <a:off x="10588752" y="411480"/>
            <a:ext cx="658368" cy="283464"/>
          </a:xfrm>
          <a:prstGeom prst="rect">
            <a:avLst/>
          </a:prstGeom>
          <a:solidFill>
            <a:srgbClr val="FFE4E1"/>
          </a:solidFill>
          <a:ln w="12700">
            <a:solidFill>
              <a:srgbClr val="C2413D"/>
            </a:solidFill>
          </a:ln>
        </p:spPr>
        <p:txBody>
          <a:bodyPr wrap="square" lIns="254" tIns="254" rIns="254" bIns="254" rtlCol="0" anchor="ctr"/>
          <a:lstStyle/>
          <a:p>
            <a:pPr marL="0" indent="0" algn="ctr">
              <a:buNone/>
            </a:pPr>
            <a:r>
              <a:rPr lang="en-US" sz="1250" b="1" dirty="0">
                <a:solidFill>
                  <a:srgbClr val="C2413D"/>
                </a:solidFill>
                <a:latin typeface="Aptos" pitchFamily="34" charset="0"/>
                <a:ea typeface="Aptos" pitchFamily="34" charset="-122"/>
                <a:cs typeface="Aptos" pitchFamily="34" charset="-120"/>
              </a:rPr>
              <a:t>test</a:t>
            </a:r>
            <a:endParaRPr lang="en-US" sz="1250" dirty="0"/>
          </a:p>
        </p:txBody>
      </p:sp>
      <p:sp>
        <p:nvSpPr>
          <p:cNvPr id="6" name="Shape 4"/>
          <p:cNvSpPr/>
          <p:nvPr/>
        </p:nvSpPr>
        <p:spPr>
          <a:xfrm>
            <a:off x="6089904" y="1508760"/>
            <a:ext cx="0" cy="4160520"/>
          </a:xfrm>
          <a:prstGeom prst="line">
            <a:avLst/>
          </a:prstGeom>
          <a:noFill/>
          <a:ln w="17780">
            <a:solidFill>
              <a:srgbClr val="CBD5E1"/>
            </a:solidFill>
            <a:prstDash val="solid"/>
          </a:ln>
        </p:spPr>
        <p:txBody>
          <a:bodyPr/>
          <a:lstStyle/>
          <a:p>
            <a:endParaRPr lang="en-GB"/>
          </a:p>
        </p:txBody>
      </p:sp>
      <p:sp>
        <p:nvSpPr>
          <p:cNvPr id="7" name="Shape 5"/>
          <p:cNvSpPr/>
          <p:nvPr/>
        </p:nvSpPr>
        <p:spPr>
          <a:xfrm>
            <a:off x="777240" y="1508760"/>
            <a:ext cx="4983480" cy="4526280"/>
          </a:xfrm>
          <a:prstGeom prst="roundRect">
            <a:avLst>
              <a:gd name="adj" fmla="val 3232"/>
            </a:avLst>
          </a:prstGeom>
          <a:solidFill>
            <a:srgbClr val="D9F2E6">
              <a:alpha val="96000"/>
            </a:srgbClr>
          </a:solidFill>
          <a:ln w="26670">
            <a:solidFill>
              <a:srgbClr val="2B8A5F"/>
            </a:solidFill>
            <a:prstDash val="solid"/>
          </a:ln>
        </p:spPr>
        <p:txBody>
          <a:bodyPr/>
          <a:lstStyle/>
          <a:p>
            <a:endParaRPr lang="en-GB"/>
          </a:p>
        </p:txBody>
      </p:sp>
      <p:sp>
        <p:nvSpPr>
          <p:cNvPr id="8" name="Text 6"/>
          <p:cNvSpPr/>
          <p:nvPr/>
        </p:nvSpPr>
        <p:spPr>
          <a:xfrm>
            <a:off x="1097280" y="1764792"/>
            <a:ext cx="2011680" cy="347472"/>
          </a:xfrm>
          <a:prstGeom prst="rect">
            <a:avLst/>
          </a:prstGeom>
          <a:noFill/>
          <a:ln/>
        </p:spPr>
        <p:txBody>
          <a:bodyPr wrap="square" lIns="0" tIns="0" rIns="0" bIns="0" rtlCol="0" anchor="ctr">
            <a:normAutofit lnSpcReduction="10000"/>
          </a:bodyPr>
          <a:lstStyle/>
          <a:p>
            <a:pPr marL="0" indent="0" algn="l">
              <a:buNone/>
            </a:pPr>
            <a:r>
              <a:rPr lang="en-US" sz="2500" b="1" dirty="0">
                <a:solidFill>
                  <a:srgbClr val="1D2433"/>
                </a:solidFill>
                <a:latin typeface="Aptos" pitchFamily="34" charset="0"/>
                <a:ea typeface="Aptos" pitchFamily="34" charset="-122"/>
                <a:cs typeface="Aptos" pitchFamily="34" charset="-120"/>
              </a:rPr>
              <a:t>Site 1</a:t>
            </a:r>
            <a:endParaRPr lang="en-US" sz="2500" dirty="0"/>
          </a:p>
        </p:txBody>
      </p:sp>
      <p:sp>
        <p:nvSpPr>
          <p:cNvPr id="9" name="Text 7"/>
          <p:cNvSpPr/>
          <p:nvPr/>
        </p:nvSpPr>
        <p:spPr>
          <a:xfrm>
            <a:off x="3337560" y="1737360"/>
            <a:ext cx="2011680" cy="384048"/>
          </a:xfrm>
          <a:prstGeom prst="rect">
            <a:avLst/>
          </a:prstGeom>
          <a:solidFill>
            <a:srgbClr val="FFFFFF"/>
          </a:solidFill>
          <a:ln w="16510">
            <a:solidFill>
              <a:srgbClr val="2B8A5F"/>
            </a:solidFill>
          </a:ln>
        </p:spPr>
        <p:txBody>
          <a:bodyPr wrap="square" lIns="508" tIns="508" rIns="508" bIns="508" rtlCol="0" anchor="ctr">
            <a:normAutofit/>
          </a:bodyPr>
          <a:lstStyle/>
          <a:p>
            <a:pPr marL="0" indent="0" algn="ctr">
              <a:buNone/>
            </a:pPr>
            <a:r>
              <a:rPr lang="en-US" sz="1500" b="1" dirty="0">
                <a:solidFill>
                  <a:srgbClr val="2B8A5F"/>
                </a:solidFill>
                <a:latin typeface="Aptos" pitchFamily="34" charset="0"/>
                <a:ea typeface="Aptos" pitchFamily="34" charset="-122"/>
                <a:cs typeface="Aptos" pitchFamily="34" charset="-120"/>
              </a:rPr>
              <a:t>TRAINING PARTITION</a:t>
            </a:r>
            <a:endParaRPr lang="en-US" sz="1500" dirty="0"/>
          </a:p>
        </p:txBody>
      </p:sp>
      <p:sp>
        <p:nvSpPr>
          <p:cNvPr id="10" name="Shape 8"/>
          <p:cNvSpPr/>
          <p:nvPr/>
        </p:nvSpPr>
        <p:spPr>
          <a:xfrm>
            <a:off x="1691640" y="2670048"/>
            <a:ext cx="0" cy="2029968"/>
          </a:xfrm>
          <a:prstGeom prst="line">
            <a:avLst/>
          </a:prstGeom>
          <a:noFill/>
          <a:ln w="22860">
            <a:solidFill>
              <a:srgbClr val="2B8A5F"/>
            </a:solidFill>
            <a:prstDash val="solid"/>
            <a:headEnd type="none"/>
            <a:tailEnd type="none"/>
          </a:ln>
        </p:spPr>
        <p:txBody>
          <a:bodyPr/>
          <a:lstStyle/>
          <a:p>
            <a:endParaRPr lang="en-GB"/>
          </a:p>
        </p:txBody>
      </p:sp>
      <p:sp>
        <p:nvSpPr>
          <p:cNvPr id="11" name="Shape 9"/>
          <p:cNvSpPr/>
          <p:nvPr/>
        </p:nvSpPr>
        <p:spPr>
          <a:xfrm>
            <a:off x="1691640" y="2999232"/>
            <a:ext cx="594360" cy="0"/>
          </a:xfrm>
          <a:prstGeom prst="line">
            <a:avLst/>
          </a:prstGeom>
          <a:noFill/>
          <a:ln w="22860">
            <a:solidFill>
              <a:srgbClr val="2B8A5F"/>
            </a:solidFill>
            <a:prstDash val="solid"/>
            <a:headEnd type="none"/>
            <a:tailEnd type="none"/>
          </a:ln>
        </p:spPr>
        <p:txBody>
          <a:bodyPr/>
          <a:lstStyle/>
          <a:p>
            <a:endParaRPr lang="en-GB"/>
          </a:p>
        </p:txBody>
      </p:sp>
      <p:sp>
        <p:nvSpPr>
          <p:cNvPr id="12" name="Shape 10"/>
          <p:cNvSpPr/>
          <p:nvPr/>
        </p:nvSpPr>
        <p:spPr>
          <a:xfrm>
            <a:off x="1691640" y="3849624"/>
            <a:ext cx="594360" cy="0"/>
          </a:xfrm>
          <a:prstGeom prst="line">
            <a:avLst/>
          </a:prstGeom>
          <a:noFill/>
          <a:ln w="22860">
            <a:solidFill>
              <a:srgbClr val="2B8A5F"/>
            </a:solidFill>
            <a:prstDash val="solid"/>
            <a:headEnd type="none"/>
            <a:tailEnd type="none"/>
          </a:ln>
        </p:spPr>
        <p:txBody>
          <a:bodyPr/>
          <a:lstStyle/>
          <a:p>
            <a:endParaRPr lang="en-GB"/>
          </a:p>
        </p:txBody>
      </p:sp>
      <p:sp>
        <p:nvSpPr>
          <p:cNvPr id="13" name="Shape 11"/>
          <p:cNvSpPr/>
          <p:nvPr/>
        </p:nvSpPr>
        <p:spPr>
          <a:xfrm>
            <a:off x="1691640" y="4700016"/>
            <a:ext cx="594360" cy="0"/>
          </a:xfrm>
          <a:prstGeom prst="line">
            <a:avLst/>
          </a:prstGeom>
          <a:noFill/>
          <a:ln w="22860">
            <a:solidFill>
              <a:srgbClr val="2B8A5F"/>
            </a:solidFill>
            <a:prstDash val="solid"/>
            <a:headEnd type="none"/>
            <a:tailEnd type="none"/>
          </a:ln>
        </p:spPr>
        <p:txBody>
          <a:bodyPr/>
          <a:lstStyle/>
          <a:p>
            <a:endParaRPr lang="en-GB"/>
          </a:p>
        </p:txBody>
      </p:sp>
      <p:sp>
        <p:nvSpPr>
          <p:cNvPr id="14" name="Text 12"/>
          <p:cNvSpPr/>
          <p:nvPr/>
        </p:nvSpPr>
        <p:spPr>
          <a:xfrm>
            <a:off x="2377440" y="2743200"/>
            <a:ext cx="2926080" cy="512064"/>
          </a:xfrm>
          <a:prstGeom prst="rect">
            <a:avLst/>
          </a:prstGeom>
          <a:solidFill>
            <a:srgbClr val="FFFFFF"/>
          </a:solidFill>
          <a:ln w="15240">
            <a:solidFill>
              <a:srgbClr val="2B8A5F"/>
            </a:solidFill>
          </a:ln>
        </p:spPr>
        <p:txBody>
          <a:bodyPr wrap="square" lIns="1524" tIns="1524" rIns="1524" bIns="1524" rtlCol="0" anchor="ctr">
            <a:normAutofit/>
          </a:bodyPr>
          <a:lstStyle/>
          <a:p>
            <a:pPr marL="0" indent="0" algn="l">
              <a:buNone/>
            </a:pPr>
            <a:r>
              <a:rPr lang="en-US" sz="1800" dirty="0">
                <a:solidFill>
                  <a:srgbClr val="1D2433"/>
                </a:solidFill>
                <a:latin typeface="Aptos" pitchFamily="34" charset="0"/>
                <a:ea typeface="Aptos" pitchFamily="34" charset="-122"/>
                <a:cs typeface="Aptos" pitchFamily="34" charset="-120"/>
              </a:rPr>
              <a:t>Machine A</a:t>
            </a:r>
            <a:endParaRPr lang="en-US" sz="1800" dirty="0"/>
          </a:p>
        </p:txBody>
      </p:sp>
      <p:sp>
        <p:nvSpPr>
          <p:cNvPr id="15" name="Text 13"/>
          <p:cNvSpPr/>
          <p:nvPr/>
        </p:nvSpPr>
        <p:spPr>
          <a:xfrm>
            <a:off x="2377440" y="3593592"/>
            <a:ext cx="2926080" cy="512064"/>
          </a:xfrm>
          <a:prstGeom prst="rect">
            <a:avLst/>
          </a:prstGeom>
          <a:solidFill>
            <a:srgbClr val="FFFFFF"/>
          </a:solidFill>
          <a:ln w="15240">
            <a:solidFill>
              <a:srgbClr val="2B8A5F"/>
            </a:solidFill>
          </a:ln>
        </p:spPr>
        <p:txBody>
          <a:bodyPr wrap="square" lIns="1524" tIns="1524" rIns="1524" bIns="1524" rtlCol="0" anchor="ctr">
            <a:normAutofit/>
          </a:bodyPr>
          <a:lstStyle/>
          <a:p>
            <a:pPr marL="0" indent="0" algn="l">
              <a:buNone/>
            </a:pPr>
            <a:r>
              <a:rPr lang="en-US" sz="1800" dirty="0">
                <a:solidFill>
                  <a:srgbClr val="1D2433"/>
                </a:solidFill>
                <a:latin typeface="Aptos" pitchFamily="34" charset="0"/>
                <a:ea typeface="Aptos" pitchFamily="34" charset="-122"/>
                <a:cs typeface="Aptos" pitchFamily="34" charset="-120"/>
              </a:rPr>
              <a:t>Machine B</a:t>
            </a:r>
            <a:endParaRPr lang="en-US" sz="1800" dirty="0"/>
          </a:p>
        </p:txBody>
      </p:sp>
      <p:sp>
        <p:nvSpPr>
          <p:cNvPr id="16" name="Text 14"/>
          <p:cNvSpPr/>
          <p:nvPr/>
        </p:nvSpPr>
        <p:spPr>
          <a:xfrm>
            <a:off x="2377440" y="4443984"/>
            <a:ext cx="2926080" cy="512064"/>
          </a:xfrm>
          <a:prstGeom prst="rect">
            <a:avLst/>
          </a:prstGeom>
          <a:solidFill>
            <a:srgbClr val="FFFFFF"/>
          </a:solidFill>
          <a:ln w="15240">
            <a:solidFill>
              <a:srgbClr val="2B8A5F"/>
            </a:solidFill>
          </a:ln>
        </p:spPr>
        <p:txBody>
          <a:bodyPr wrap="square" lIns="1524" tIns="1524" rIns="1524" bIns="1524" rtlCol="0" anchor="ctr">
            <a:normAutofit/>
          </a:bodyPr>
          <a:lstStyle/>
          <a:p>
            <a:pPr marL="0" indent="0" algn="l">
              <a:buNone/>
            </a:pPr>
            <a:r>
              <a:rPr lang="en-US" sz="1800" dirty="0">
                <a:solidFill>
                  <a:srgbClr val="1D2433"/>
                </a:solidFill>
                <a:latin typeface="Aptos" pitchFamily="34" charset="0"/>
                <a:ea typeface="Aptos" pitchFamily="34" charset="-122"/>
                <a:cs typeface="Aptos" pitchFamily="34" charset="-120"/>
              </a:rPr>
              <a:t>Machine C</a:t>
            </a:r>
            <a:endParaRPr lang="en-US" sz="1800" dirty="0"/>
          </a:p>
        </p:txBody>
      </p:sp>
      <p:sp>
        <p:nvSpPr>
          <p:cNvPr id="17" name="Text 15"/>
          <p:cNvSpPr/>
          <p:nvPr/>
        </p:nvSpPr>
        <p:spPr>
          <a:xfrm>
            <a:off x="1216152" y="5413248"/>
            <a:ext cx="4105656" cy="347472"/>
          </a:xfrm>
          <a:prstGeom prst="rect">
            <a:avLst/>
          </a:prstGeom>
          <a:noFill/>
          <a:ln/>
        </p:spPr>
        <p:txBody>
          <a:bodyPr wrap="square" lIns="0" tIns="0" rIns="0" bIns="0" rtlCol="0" anchor="ctr">
            <a:normAutofit/>
          </a:bodyPr>
          <a:lstStyle/>
          <a:p>
            <a:pPr marL="0" indent="0" algn="ctr">
              <a:buNone/>
            </a:pPr>
            <a:r>
              <a:rPr lang="en-US" sz="1350" i="1" dirty="0">
                <a:solidFill>
                  <a:srgbClr val="64748B"/>
                </a:solidFill>
                <a:latin typeface="Aptos" pitchFamily="34" charset="0"/>
                <a:ea typeface="Aptos" pitchFamily="34" charset="-122"/>
                <a:cs typeface="Aptos" pitchFamily="34" charset="-120"/>
              </a:rPr>
              <a:t>All child machines stay in the same partition.</a:t>
            </a:r>
            <a:endParaRPr lang="en-US" sz="1350" dirty="0"/>
          </a:p>
        </p:txBody>
      </p:sp>
      <p:sp>
        <p:nvSpPr>
          <p:cNvPr id="18" name="Shape 16"/>
          <p:cNvSpPr/>
          <p:nvPr/>
        </p:nvSpPr>
        <p:spPr>
          <a:xfrm>
            <a:off x="6428232" y="1508760"/>
            <a:ext cx="4983480" cy="4526280"/>
          </a:xfrm>
          <a:prstGeom prst="roundRect">
            <a:avLst>
              <a:gd name="adj" fmla="val 3232"/>
            </a:avLst>
          </a:prstGeom>
          <a:solidFill>
            <a:srgbClr val="FFE4E1">
              <a:alpha val="96000"/>
            </a:srgbClr>
          </a:solidFill>
          <a:ln w="26670">
            <a:solidFill>
              <a:srgbClr val="C2413D"/>
            </a:solidFill>
            <a:prstDash val="solid"/>
          </a:ln>
        </p:spPr>
        <p:txBody>
          <a:bodyPr/>
          <a:lstStyle/>
          <a:p>
            <a:endParaRPr lang="en-GB"/>
          </a:p>
        </p:txBody>
      </p:sp>
      <p:sp>
        <p:nvSpPr>
          <p:cNvPr id="19" name="Text 17"/>
          <p:cNvSpPr/>
          <p:nvPr/>
        </p:nvSpPr>
        <p:spPr>
          <a:xfrm>
            <a:off x="6748272" y="1764792"/>
            <a:ext cx="2011680" cy="347472"/>
          </a:xfrm>
          <a:prstGeom prst="rect">
            <a:avLst/>
          </a:prstGeom>
          <a:noFill/>
          <a:ln/>
        </p:spPr>
        <p:txBody>
          <a:bodyPr wrap="square" lIns="0" tIns="0" rIns="0" bIns="0" rtlCol="0" anchor="ctr">
            <a:normAutofit lnSpcReduction="10000"/>
          </a:bodyPr>
          <a:lstStyle/>
          <a:p>
            <a:pPr marL="0" indent="0" algn="l">
              <a:buNone/>
            </a:pPr>
            <a:r>
              <a:rPr lang="en-US" sz="2500" b="1" dirty="0">
                <a:solidFill>
                  <a:srgbClr val="1D2433"/>
                </a:solidFill>
                <a:latin typeface="Aptos" pitchFamily="34" charset="0"/>
                <a:ea typeface="Aptos" pitchFamily="34" charset="-122"/>
                <a:cs typeface="Aptos" pitchFamily="34" charset="-120"/>
              </a:rPr>
              <a:t>Site 2</a:t>
            </a:r>
            <a:endParaRPr lang="en-US" sz="2500" dirty="0"/>
          </a:p>
        </p:txBody>
      </p:sp>
      <p:sp>
        <p:nvSpPr>
          <p:cNvPr id="20" name="Text 18"/>
          <p:cNvSpPr/>
          <p:nvPr/>
        </p:nvSpPr>
        <p:spPr>
          <a:xfrm>
            <a:off x="8988552" y="1737360"/>
            <a:ext cx="2011680" cy="384048"/>
          </a:xfrm>
          <a:prstGeom prst="rect">
            <a:avLst/>
          </a:prstGeom>
          <a:solidFill>
            <a:srgbClr val="FFFFFF"/>
          </a:solidFill>
          <a:ln w="16510">
            <a:solidFill>
              <a:srgbClr val="C2413D"/>
            </a:solidFill>
          </a:ln>
        </p:spPr>
        <p:txBody>
          <a:bodyPr wrap="square" lIns="508" tIns="508" rIns="508" bIns="508" rtlCol="0" anchor="ctr">
            <a:normAutofit/>
          </a:bodyPr>
          <a:lstStyle/>
          <a:p>
            <a:pPr marL="0" indent="0" algn="ctr">
              <a:buNone/>
            </a:pPr>
            <a:r>
              <a:rPr lang="en-US" sz="1500" b="1" dirty="0">
                <a:solidFill>
                  <a:srgbClr val="C2413D"/>
                </a:solidFill>
                <a:latin typeface="Aptos" pitchFamily="34" charset="0"/>
                <a:ea typeface="Aptos" pitchFamily="34" charset="-122"/>
                <a:cs typeface="Aptos" pitchFamily="34" charset="-120"/>
              </a:rPr>
              <a:t>TEST PARTITION</a:t>
            </a:r>
            <a:endParaRPr lang="en-US" sz="1500" dirty="0"/>
          </a:p>
        </p:txBody>
      </p:sp>
      <p:sp>
        <p:nvSpPr>
          <p:cNvPr id="21" name="Shape 19"/>
          <p:cNvSpPr/>
          <p:nvPr/>
        </p:nvSpPr>
        <p:spPr>
          <a:xfrm>
            <a:off x="7342632" y="2670048"/>
            <a:ext cx="0" cy="2029968"/>
          </a:xfrm>
          <a:prstGeom prst="line">
            <a:avLst/>
          </a:prstGeom>
          <a:noFill/>
          <a:ln w="22860">
            <a:solidFill>
              <a:srgbClr val="C2413D"/>
            </a:solidFill>
            <a:prstDash val="solid"/>
            <a:headEnd type="none"/>
            <a:tailEnd type="none"/>
          </a:ln>
        </p:spPr>
        <p:txBody>
          <a:bodyPr/>
          <a:lstStyle/>
          <a:p>
            <a:endParaRPr lang="en-GB"/>
          </a:p>
        </p:txBody>
      </p:sp>
      <p:sp>
        <p:nvSpPr>
          <p:cNvPr id="22" name="Shape 20"/>
          <p:cNvSpPr/>
          <p:nvPr/>
        </p:nvSpPr>
        <p:spPr>
          <a:xfrm>
            <a:off x="7342632" y="2999232"/>
            <a:ext cx="594360" cy="0"/>
          </a:xfrm>
          <a:prstGeom prst="line">
            <a:avLst/>
          </a:prstGeom>
          <a:noFill/>
          <a:ln w="22860">
            <a:solidFill>
              <a:srgbClr val="C2413D"/>
            </a:solidFill>
            <a:prstDash val="solid"/>
            <a:headEnd type="none"/>
            <a:tailEnd type="none"/>
          </a:ln>
        </p:spPr>
        <p:txBody>
          <a:bodyPr/>
          <a:lstStyle/>
          <a:p>
            <a:endParaRPr lang="en-GB"/>
          </a:p>
        </p:txBody>
      </p:sp>
      <p:sp>
        <p:nvSpPr>
          <p:cNvPr id="23" name="Shape 21"/>
          <p:cNvSpPr/>
          <p:nvPr/>
        </p:nvSpPr>
        <p:spPr>
          <a:xfrm>
            <a:off x="7342632" y="3849624"/>
            <a:ext cx="594360" cy="0"/>
          </a:xfrm>
          <a:prstGeom prst="line">
            <a:avLst/>
          </a:prstGeom>
          <a:noFill/>
          <a:ln w="22860">
            <a:solidFill>
              <a:srgbClr val="C2413D"/>
            </a:solidFill>
            <a:prstDash val="solid"/>
            <a:headEnd type="none"/>
            <a:tailEnd type="none"/>
          </a:ln>
        </p:spPr>
        <p:txBody>
          <a:bodyPr/>
          <a:lstStyle/>
          <a:p>
            <a:endParaRPr lang="en-GB"/>
          </a:p>
        </p:txBody>
      </p:sp>
      <p:sp>
        <p:nvSpPr>
          <p:cNvPr id="24" name="Shape 22"/>
          <p:cNvSpPr/>
          <p:nvPr/>
        </p:nvSpPr>
        <p:spPr>
          <a:xfrm>
            <a:off x="7342632" y="4700016"/>
            <a:ext cx="594360" cy="0"/>
          </a:xfrm>
          <a:prstGeom prst="line">
            <a:avLst/>
          </a:prstGeom>
          <a:noFill/>
          <a:ln w="22860">
            <a:solidFill>
              <a:srgbClr val="C2413D"/>
            </a:solidFill>
            <a:prstDash val="solid"/>
            <a:headEnd type="none"/>
            <a:tailEnd type="none"/>
          </a:ln>
        </p:spPr>
        <p:txBody>
          <a:bodyPr/>
          <a:lstStyle/>
          <a:p>
            <a:endParaRPr lang="en-GB"/>
          </a:p>
        </p:txBody>
      </p:sp>
      <p:sp>
        <p:nvSpPr>
          <p:cNvPr id="25" name="Text 23"/>
          <p:cNvSpPr/>
          <p:nvPr/>
        </p:nvSpPr>
        <p:spPr>
          <a:xfrm>
            <a:off x="8028432" y="2743200"/>
            <a:ext cx="2926080" cy="512064"/>
          </a:xfrm>
          <a:prstGeom prst="rect">
            <a:avLst/>
          </a:prstGeom>
          <a:solidFill>
            <a:srgbClr val="FFFFFF"/>
          </a:solidFill>
          <a:ln w="15240">
            <a:solidFill>
              <a:srgbClr val="C2413D"/>
            </a:solidFill>
          </a:ln>
        </p:spPr>
        <p:txBody>
          <a:bodyPr wrap="square" lIns="1524" tIns="1524" rIns="1524" bIns="1524" rtlCol="0" anchor="ctr">
            <a:normAutofit/>
          </a:bodyPr>
          <a:lstStyle/>
          <a:p>
            <a:pPr marL="0" indent="0" algn="l">
              <a:buNone/>
            </a:pPr>
            <a:r>
              <a:rPr lang="en-US" sz="1800" dirty="0">
                <a:solidFill>
                  <a:srgbClr val="1D2433"/>
                </a:solidFill>
                <a:latin typeface="Aptos" pitchFamily="34" charset="0"/>
                <a:ea typeface="Aptos" pitchFamily="34" charset="-122"/>
                <a:cs typeface="Aptos" pitchFamily="34" charset="-120"/>
              </a:rPr>
              <a:t>Machine D</a:t>
            </a:r>
            <a:endParaRPr lang="en-US" sz="1800" dirty="0"/>
          </a:p>
        </p:txBody>
      </p:sp>
      <p:sp>
        <p:nvSpPr>
          <p:cNvPr id="26" name="Text 24"/>
          <p:cNvSpPr/>
          <p:nvPr/>
        </p:nvSpPr>
        <p:spPr>
          <a:xfrm>
            <a:off x="8028432" y="3593592"/>
            <a:ext cx="2926080" cy="512064"/>
          </a:xfrm>
          <a:prstGeom prst="rect">
            <a:avLst/>
          </a:prstGeom>
          <a:solidFill>
            <a:srgbClr val="FFFFFF"/>
          </a:solidFill>
          <a:ln w="15240">
            <a:solidFill>
              <a:srgbClr val="C2413D"/>
            </a:solidFill>
          </a:ln>
        </p:spPr>
        <p:txBody>
          <a:bodyPr wrap="square" lIns="1524" tIns="1524" rIns="1524" bIns="1524" rtlCol="0" anchor="ctr">
            <a:normAutofit/>
          </a:bodyPr>
          <a:lstStyle/>
          <a:p>
            <a:pPr marL="0" indent="0" algn="l">
              <a:buNone/>
            </a:pPr>
            <a:r>
              <a:rPr lang="en-US" sz="1800" dirty="0">
                <a:solidFill>
                  <a:srgbClr val="1D2433"/>
                </a:solidFill>
                <a:latin typeface="Aptos" pitchFamily="34" charset="0"/>
                <a:ea typeface="Aptos" pitchFamily="34" charset="-122"/>
                <a:cs typeface="Aptos" pitchFamily="34" charset="-120"/>
              </a:rPr>
              <a:t>Machine E</a:t>
            </a:r>
            <a:endParaRPr lang="en-US" sz="1800" dirty="0"/>
          </a:p>
        </p:txBody>
      </p:sp>
      <p:sp>
        <p:nvSpPr>
          <p:cNvPr id="27" name="Text 25"/>
          <p:cNvSpPr/>
          <p:nvPr/>
        </p:nvSpPr>
        <p:spPr>
          <a:xfrm>
            <a:off x="8028432" y="4443984"/>
            <a:ext cx="2926080" cy="512064"/>
          </a:xfrm>
          <a:prstGeom prst="rect">
            <a:avLst/>
          </a:prstGeom>
          <a:solidFill>
            <a:srgbClr val="FFFFFF"/>
          </a:solidFill>
          <a:ln w="15240">
            <a:solidFill>
              <a:srgbClr val="C2413D"/>
            </a:solidFill>
          </a:ln>
        </p:spPr>
        <p:txBody>
          <a:bodyPr wrap="square" lIns="1524" tIns="1524" rIns="1524" bIns="1524" rtlCol="0" anchor="ctr">
            <a:normAutofit/>
          </a:bodyPr>
          <a:lstStyle/>
          <a:p>
            <a:pPr marL="0" indent="0" algn="l">
              <a:buNone/>
            </a:pPr>
            <a:r>
              <a:rPr lang="en-US" sz="1800" dirty="0">
                <a:solidFill>
                  <a:srgbClr val="1D2433"/>
                </a:solidFill>
                <a:latin typeface="Aptos" pitchFamily="34" charset="0"/>
                <a:ea typeface="Aptos" pitchFamily="34" charset="-122"/>
                <a:cs typeface="Aptos" pitchFamily="34" charset="-120"/>
              </a:rPr>
              <a:t>Machine F</a:t>
            </a:r>
            <a:endParaRPr lang="en-US" sz="1800" dirty="0"/>
          </a:p>
        </p:txBody>
      </p:sp>
      <p:sp>
        <p:nvSpPr>
          <p:cNvPr id="28" name="Text 26"/>
          <p:cNvSpPr/>
          <p:nvPr/>
        </p:nvSpPr>
        <p:spPr>
          <a:xfrm>
            <a:off x="6867144" y="5413248"/>
            <a:ext cx="4105656" cy="347472"/>
          </a:xfrm>
          <a:prstGeom prst="rect">
            <a:avLst/>
          </a:prstGeom>
          <a:noFill/>
          <a:ln/>
        </p:spPr>
        <p:txBody>
          <a:bodyPr wrap="square" lIns="0" tIns="0" rIns="0" bIns="0" rtlCol="0" anchor="ctr">
            <a:normAutofit/>
          </a:bodyPr>
          <a:lstStyle/>
          <a:p>
            <a:pPr marL="0" indent="0" algn="ctr">
              <a:buNone/>
            </a:pPr>
            <a:r>
              <a:rPr lang="en-US" sz="1350" i="1" dirty="0">
                <a:solidFill>
                  <a:srgbClr val="64748B"/>
                </a:solidFill>
                <a:latin typeface="Aptos" pitchFamily="34" charset="0"/>
                <a:ea typeface="Aptos" pitchFamily="34" charset="-122"/>
                <a:cs typeface="Aptos" pitchFamily="34" charset="-120"/>
              </a:rPr>
              <a:t>All child machines stay in the same partition.</a:t>
            </a:r>
            <a:endParaRPr lang="en-US" sz="1350" dirty="0"/>
          </a:p>
        </p:txBody>
      </p:sp>
      <p:sp>
        <p:nvSpPr>
          <p:cNvPr id="29" name="Text 27"/>
          <p:cNvSpPr/>
          <p:nvPr/>
        </p:nvSpPr>
        <p:spPr>
          <a:xfrm>
            <a:off x="3749040" y="6263640"/>
            <a:ext cx="4709160" cy="329184"/>
          </a:xfrm>
          <a:prstGeom prst="rect">
            <a:avLst/>
          </a:prstGeom>
          <a:solidFill>
            <a:srgbClr val="FFFFFF"/>
          </a:solidFill>
          <a:ln w="15240">
            <a:solidFill>
              <a:srgbClr val="E2E8F0"/>
            </a:solidFill>
          </a:ln>
        </p:spPr>
        <p:txBody>
          <a:bodyPr wrap="square" lIns="0" tIns="0" rIns="0" bIns="0" rtlCol="0" anchor="ctr"/>
          <a:lstStyle/>
          <a:p>
            <a:pPr marL="0" indent="0" algn="ctr">
              <a:buNone/>
            </a:pPr>
            <a:r>
              <a:rPr lang="en-US" sz="1800" b="1" dirty="0">
                <a:solidFill>
                  <a:srgbClr val="1D2433"/>
                </a:solidFill>
                <a:latin typeface="Aptos" pitchFamily="34" charset="0"/>
                <a:ea typeface="Aptos" pitchFamily="34" charset="-122"/>
                <a:cs typeface="Aptos" pitchFamily="34" charset="-120"/>
              </a:rPr>
              <a:t>Partitioning unit: site</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92DDFDA-234C-A222-49EF-BCD7E258F886}"/>
              </a:ext>
            </a:extLst>
          </p:cNvPr>
          <p:cNvSpPr>
            <a:spLocks noGrp="1"/>
          </p:cNvSpPr>
          <p:nvPr>
            <p:ph type="title"/>
          </p:nvPr>
        </p:nvSpPr>
        <p:spPr/>
        <p:txBody>
          <a:bodyPr/>
          <a:lstStyle/>
          <a:p>
            <a:r>
              <a:rPr lang="en-GB" dirty="0"/>
              <a:t>Documenting a grouped evaluation protocol</a:t>
            </a:r>
          </a:p>
        </p:txBody>
      </p:sp>
      <p:sp>
        <p:nvSpPr>
          <p:cNvPr id="3" name="Segnaposto contenuto 2">
            <a:extLst>
              <a:ext uri="{FF2B5EF4-FFF2-40B4-BE49-F238E27FC236}">
                <a16:creationId xmlns:a16="http://schemas.microsoft.com/office/drawing/2014/main" id="{9902CF2C-D917-82E4-82FE-A13158AB696C}"/>
              </a:ext>
            </a:extLst>
          </p:cNvPr>
          <p:cNvSpPr>
            <a:spLocks noGrp="1"/>
          </p:cNvSpPr>
          <p:nvPr>
            <p:ph idx="1"/>
          </p:nvPr>
        </p:nvSpPr>
        <p:spPr/>
        <p:txBody>
          <a:bodyPr>
            <a:normAutofit fontScale="92500" lnSpcReduction="20000"/>
          </a:bodyPr>
          <a:lstStyle/>
          <a:p>
            <a:r>
              <a:rPr lang="en-GB" dirty="0"/>
              <a:t>Statements such as: “The dataset was randomly divided into training and test sets.” are insufficient.</a:t>
            </a:r>
          </a:p>
          <a:p>
            <a:r>
              <a:rPr lang="en-GB" dirty="0"/>
              <a:t>A reproducible description should state:</a:t>
            </a:r>
          </a:p>
          <a:p>
            <a:pPr lvl="1"/>
            <a:r>
              <a:rPr lang="en-GB" dirty="0"/>
              <a:t>the entity definition;</a:t>
            </a:r>
          </a:p>
          <a:p>
            <a:pPr lvl="1"/>
            <a:r>
              <a:rPr lang="en-GB" dirty="0"/>
              <a:t>the sequence definition;</a:t>
            </a:r>
          </a:p>
          <a:p>
            <a:pPr lvl="1"/>
            <a:r>
              <a:rPr lang="en-GB" dirty="0"/>
              <a:t>the number of entities;</a:t>
            </a:r>
          </a:p>
          <a:p>
            <a:pPr lvl="1"/>
            <a:r>
              <a:rPr lang="en-GB" dirty="0"/>
              <a:t>the number of sequences per entity;</a:t>
            </a:r>
          </a:p>
          <a:p>
            <a:pPr lvl="1"/>
            <a:r>
              <a:rPr lang="en-GB" dirty="0"/>
              <a:t>the level at which splitting was performed;</a:t>
            </a:r>
          </a:p>
          <a:p>
            <a:pPr lvl="1"/>
            <a:r>
              <a:rPr lang="en-GB" dirty="0"/>
              <a:t>whether time ordering was preserved;</a:t>
            </a:r>
          </a:p>
          <a:p>
            <a:pPr lvl="1"/>
            <a:r>
              <a:rPr lang="en-GB" dirty="0"/>
              <a:t>whether entities appear in more than one partition;</a:t>
            </a:r>
          </a:p>
          <a:p>
            <a:pPr lvl="1"/>
            <a:r>
              <a:rPr lang="en-GB" dirty="0"/>
              <a:t>whether windows from the same sequence can cross partitions;</a:t>
            </a:r>
          </a:p>
          <a:p>
            <a:pPr lvl="1"/>
            <a:r>
              <a:rPr lang="en-GB" dirty="0"/>
              <a:t>how validation groups were selected.</a:t>
            </a:r>
          </a:p>
          <a:p>
            <a:endParaRPr lang="en-GB" dirty="0"/>
          </a:p>
        </p:txBody>
      </p:sp>
    </p:spTree>
    <p:extLst>
      <p:ext uri="{BB962C8B-B14F-4D97-AF65-F5344CB8AC3E}">
        <p14:creationId xmlns:p14="http://schemas.microsoft.com/office/powerpoint/2010/main" val="21971741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EC8ADB6-F572-1030-66BB-DE7C94264F64}"/>
              </a:ext>
            </a:extLst>
          </p:cNvPr>
          <p:cNvSpPr>
            <a:spLocks noGrp="1"/>
          </p:cNvSpPr>
          <p:nvPr>
            <p:ph type="title"/>
          </p:nvPr>
        </p:nvSpPr>
        <p:spPr/>
        <p:txBody>
          <a:bodyPr/>
          <a:lstStyle/>
          <a:p>
            <a:r>
              <a:rPr lang="en-GB" b="1" dirty="0">
                <a:highlight>
                  <a:srgbClr val="FFFF00"/>
                </a:highlight>
              </a:rPr>
              <a:t>Example of an adequate description</a:t>
            </a:r>
            <a:br>
              <a:rPr lang="en-GB" b="1" dirty="0"/>
            </a:br>
            <a:endParaRPr lang="en-GB" dirty="0"/>
          </a:p>
        </p:txBody>
      </p:sp>
      <p:sp>
        <p:nvSpPr>
          <p:cNvPr id="3" name="Segnaposto contenuto 2">
            <a:extLst>
              <a:ext uri="{FF2B5EF4-FFF2-40B4-BE49-F238E27FC236}">
                <a16:creationId xmlns:a16="http://schemas.microsoft.com/office/drawing/2014/main" id="{0CD91558-5632-141C-1B73-0E3F5D0278A7}"/>
              </a:ext>
            </a:extLst>
          </p:cNvPr>
          <p:cNvSpPr>
            <a:spLocks noGrp="1"/>
          </p:cNvSpPr>
          <p:nvPr>
            <p:ph idx="1"/>
          </p:nvPr>
        </p:nvSpPr>
        <p:spPr/>
        <p:txBody>
          <a:bodyPr>
            <a:normAutofit fontScale="85000" lnSpcReduction="20000"/>
          </a:bodyPr>
          <a:lstStyle/>
          <a:p>
            <a:r>
              <a:rPr lang="en-GB" dirty="0"/>
              <a:t>The dataset contained 30 machines and 420 complete operating cycles.</a:t>
            </a:r>
          </a:p>
          <a:p>
            <a:r>
              <a:rPr lang="en-GB" dirty="0"/>
              <a:t>Twenty machines were assigned to training, five to validation and five to test.</a:t>
            </a:r>
          </a:p>
          <a:p>
            <a:r>
              <a:rPr lang="en-GB" dirty="0"/>
              <a:t>All cycles and all windows from a machine were assigned to the same partition.</a:t>
            </a:r>
          </a:p>
          <a:p>
            <a:r>
              <a:rPr lang="en-GB" dirty="0"/>
              <a:t>Machines were assigned chronologically according to their installation batch, and no machine appeared in more than one partition.</a:t>
            </a:r>
          </a:p>
          <a:p>
            <a:r>
              <a:rPr lang="en-GB" b="1" dirty="0"/>
              <a:t>Additional reporting</a:t>
            </a:r>
          </a:p>
          <a:p>
            <a:r>
              <a:rPr lang="en-GB" dirty="0"/>
              <a:t>For each partition, report:</a:t>
            </a:r>
          </a:p>
          <a:p>
            <a:pPr lvl="1"/>
            <a:r>
              <a:rPr lang="en-GB" dirty="0"/>
              <a:t>number of entities;</a:t>
            </a:r>
          </a:p>
          <a:p>
            <a:pPr lvl="1"/>
            <a:r>
              <a:rPr lang="en-GB" dirty="0"/>
              <a:t>number of sequences;</a:t>
            </a:r>
          </a:p>
          <a:p>
            <a:pPr lvl="1"/>
            <a:r>
              <a:rPr lang="en-GB" dirty="0"/>
              <a:t>number of windows;</a:t>
            </a:r>
          </a:p>
          <a:p>
            <a:pPr lvl="1"/>
            <a:r>
              <a:rPr lang="en-GB" dirty="0"/>
              <a:t>target-class distribution;</a:t>
            </a:r>
          </a:p>
          <a:p>
            <a:pPr lvl="1"/>
            <a:r>
              <a:rPr lang="en-GB" dirty="0"/>
              <a:t>temporal period covered.</a:t>
            </a:r>
            <a:br>
              <a:rPr lang="en-GB" dirty="0"/>
            </a:br>
            <a:endParaRPr lang="en-GB" dirty="0"/>
          </a:p>
          <a:p>
            <a:endParaRPr lang="en-GB" dirty="0"/>
          </a:p>
        </p:txBody>
      </p:sp>
      <p:sp>
        <p:nvSpPr>
          <p:cNvPr id="5" name="CasellaDiTesto 4">
            <a:extLst>
              <a:ext uri="{FF2B5EF4-FFF2-40B4-BE49-F238E27FC236}">
                <a16:creationId xmlns:a16="http://schemas.microsoft.com/office/drawing/2014/main" id="{F344DE35-B5E4-3C65-5621-D42C51B5BC54}"/>
              </a:ext>
            </a:extLst>
          </p:cNvPr>
          <p:cNvSpPr txBox="1"/>
          <p:nvPr/>
        </p:nvSpPr>
        <p:spPr>
          <a:xfrm>
            <a:off x="4205288" y="5718196"/>
            <a:ext cx="6105524" cy="923330"/>
          </a:xfrm>
          <a:prstGeom prst="rect">
            <a:avLst/>
          </a:prstGeom>
          <a:noFill/>
        </p:spPr>
        <p:txBody>
          <a:bodyPr wrap="square">
            <a:spAutoFit/>
          </a:bodyPr>
          <a:lstStyle/>
          <a:p>
            <a:r>
              <a:rPr lang="en-GB" sz="1800" b="1" dirty="0"/>
              <a:t>The number of windows is not sufficient to describe the effective size or independence of a temporal dataset.</a:t>
            </a:r>
          </a:p>
        </p:txBody>
      </p:sp>
    </p:spTree>
    <p:extLst>
      <p:ext uri="{BB962C8B-B14F-4D97-AF65-F5344CB8AC3E}">
        <p14:creationId xmlns:p14="http://schemas.microsoft.com/office/powerpoint/2010/main" val="7271405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0D8322F-3737-6950-AFFA-734BD57BCB7B}"/>
              </a:ext>
            </a:extLst>
          </p:cNvPr>
          <p:cNvSpPr>
            <a:spLocks noGrp="1"/>
          </p:cNvSpPr>
          <p:nvPr>
            <p:ph type="title"/>
          </p:nvPr>
        </p:nvSpPr>
        <p:spPr/>
        <p:txBody>
          <a:bodyPr/>
          <a:lstStyle/>
          <a:p>
            <a:r>
              <a:rPr lang="en-GB" dirty="0"/>
              <a:t>D. Leakage Caused by Window Generation</a:t>
            </a:r>
          </a:p>
        </p:txBody>
      </p:sp>
      <p:sp>
        <p:nvSpPr>
          <p:cNvPr id="3" name="Segnaposto contenuto 2">
            <a:extLst>
              <a:ext uri="{FF2B5EF4-FFF2-40B4-BE49-F238E27FC236}">
                <a16:creationId xmlns:a16="http://schemas.microsoft.com/office/drawing/2014/main" id="{7A962BE4-2E6A-3BF5-1C47-B780775D900F}"/>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4710064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5085469-6035-E5D9-EDDB-56EEF872C4D5}"/>
              </a:ext>
            </a:extLst>
          </p:cNvPr>
          <p:cNvSpPr>
            <a:spLocks noGrp="1"/>
          </p:cNvSpPr>
          <p:nvPr>
            <p:ph type="title"/>
          </p:nvPr>
        </p:nvSpPr>
        <p:spPr/>
        <p:txBody>
          <a:bodyPr/>
          <a:lstStyle/>
          <a:p>
            <a:r>
              <a:rPr lang="en-GB" dirty="0"/>
              <a:t>Overlapping windows are strongly dependent</a:t>
            </a:r>
          </a:p>
        </p:txBody>
      </p:sp>
      <p:sp>
        <p:nvSpPr>
          <p:cNvPr id="3" name="Segnaposto contenuto 2">
            <a:extLst>
              <a:ext uri="{FF2B5EF4-FFF2-40B4-BE49-F238E27FC236}">
                <a16:creationId xmlns:a16="http://schemas.microsoft.com/office/drawing/2014/main" id="{5656899C-5430-1004-DF55-B383BEB9E577}"/>
              </a:ext>
            </a:extLst>
          </p:cNvPr>
          <p:cNvSpPr>
            <a:spLocks noGrp="1"/>
          </p:cNvSpPr>
          <p:nvPr>
            <p:ph idx="1"/>
          </p:nvPr>
        </p:nvSpPr>
        <p:spPr>
          <a:xfrm>
            <a:off x="677334" y="2160589"/>
            <a:ext cx="8596668" cy="4087811"/>
          </a:xfrm>
        </p:spPr>
        <p:txBody>
          <a:bodyPr>
            <a:normAutofit fontScale="62500" lnSpcReduction="20000"/>
          </a:bodyPr>
          <a:lstStyle/>
          <a:p>
            <a:r>
              <a:rPr lang="en-GB" dirty="0"/>
              <a:t>Consider a sequence: x[1], x[2], …, x[101]</a:t>
            </a:r>
          </a:p>
          <a:p>
            <a:r>
              <a:rPr lang="en-GB" dirty="0"/>
              <a:t>Generate two windows of length 100 with stride 1.</a:t>
            </a:r>
          </a:p>
          <a:p>
            <a:r>
              <a:rPr lang="en-GB" dirty="0"/>
              <a:t>Window A: [x[1], x[2], …, x[100]]</a:t>
            </a:r>
          </a:p>
          <a:p>
            <a:r>
              <a:rPr lang="en-GB" dirty="0"/>
              <a:t>Window B: [x[2], x[3], …, x[101]]</a:t>
            </a:r>
          </a:p>
          <a:p>
            <a:r>
              <a:rPr lang="en-GB" dirty="0"/>
              <a:t>The two windows share:</a:t>
            </a:r>
          </a:p>
          <a:p>
            <a:r>
              <a:rPr lang="en-GB" dirty="0"/>
              <a:t>99 observations out of 100</a:t>
            </a:r>
          </a:p>
          <a:p>
            <a:r>
              <a:rPr lang="en-GB" dirty="0"/>
              <a:t>Overlap fraction:</a:t>
            </a:r>
          </a:p>
          <a:p>
            <a:r>
              <a:rPr lang="en-GB" dirty="0"/>
              <a:t>99 / 100 = 0.99</a:t>
            </a:r>
          </a:p>
          <a:p>
            <a:r>
              <a:rPr lang="en-GB" b="1" dirty="0"/>
              <a:t>Consequence</a:t>
            </a:r>
          </a:p>
          <a:p>
            <a:r>
              <a:rPr lang="en-GB" dirty="0">
                <a:highlight>
                  <a:srgbClr val="FFFF00"/>
                </a:highlight>
              </a:rPr>
              <a:t>If Window A is used for training and Window B for testing, the test input is almost identical to a training input.</a:t>
            </a:r>
          </a:p>
          <a:p>
            <a:r>
              <a:rPr lang="en-GB" dirty="0"/>
              <a:t>The resulting test performance may reflect:</a:t>
            </a:r>
          </a:p>
          <a:p>
            <a:pPr lvl="1"/>
            <a:r>
              <a:rPr lang="en-GB" dirty="0"/>
              <a:t>memorization of local signal patterns;</a:t>
            </a:r>
          </a:p>
          <a:p>
            <a:pPr lvl="1"/>
            <a:r>
              <a:rPr lang="en-GB" dirty="0"/>
              <a:t>shared noise;</a:t>
            </a:r>
          </a:p>
          <a:p>
            <a:pPr lvl="1"/>
            <a:r>
              <a:rPr lang="en-GB" dirty="0"/>
              <a:t>shared event structure;</a:t>
            </a:r>
          </a:p>
          <a:p>
            <a:pPr lvl="1"/>
            <a:r>
              <a:rPr lang="en-GB" dirty="0"/>
              <a:t>duplicated raw measurements;</a:t>
            </a:r>
          </a:p>
          <a:p>
            <a:pPr lvl="1"/>
            <a:r>
              <a:rPr lang="en-GB" dirty="0"/>
              <a:t>rather than real generalization.</a:t>
            </a:r>
          </a:p>
          <a:p>
            <a:endParaRPr lang="en-GB" dirty="0"/>
          </a:p>
        </p:txBody>
      </p:sp>
      <p:sp>
        <p:nvSpPr>
          <p:cNvPr id="5" name="CasellaDiTesto 4">
            <a:extLst>
              <a:ext uri="{FF2B5EF4-FFF2-40B4-BE49-F238E27FC236}">
                <a16:creationId xmlns:a16="http://schemas.microsoft.com/office/drawing/2014/main" id="{680E12C8-36C3-3758-1F24-8A0531D3521E}"/>
              </a:ext>
            </a:extLst>
          </p:cNvPr>
          <p:cNvSpPr txBox="1"/>
          <p:nvPr/>
        </p:nvSpPr>
        <p:spPr>
          <a:xfrm>
            <a:off x="7389340" y="4549676"/>
            <a:ext cx="4802659" cy="2308324"/>
          </a:xfrm>
          <a:prstGeom prst="rect">
            <a:avLst/>
          </a:prstGeom>
          <a:noFill/>
        </p:spPr>
        <p:txBody>
          <a:bodyPr wrap="square">
            <a:spAutoFit/>
          </a:bodyPr>
          <a:lstStyle/>
          <a:p>
            <a:r>
              <a:rPr lang="en-GB" sz="1800" b="1" dirty="0"/>
              <a:t>Important</a:t>
            </a:r>
          </a:p>
          <a:p>
            <a:r>
              <a:rPr lang="en-GB" sz="1800" b="1" dirty="0"/>
              <a:t>Overlap is not inherently incorrect.</a:t>
            </a:r>
          </a:p>
          <a:p>
            <a:r>
              <a:rPr lang="en-GB" sz="1800" dirty="0"/>
              <a:t>Overlapping windows can be useful for:</a:t>
            </a:r>
          </a:p>
          <a:p>
            <a:pPr lvl="1"/>
            <a:r>
              <a:rPr lang="en-GB" dirty="0"/>
              <a:t>increasing temporal resolution;</a:t>
            </a:r>
          </a:p>
          <a:p>
            <a:pPr lvl="1"/>
            <a:r>
              <a:rPr lang="en-GB" dirty="0"/>
              <a:t>locating short events;</a:t>
            </a:r>
          </a:p>
          <a:p>
            <a:pPr lvl="1"/>
            <a:r>
              <a:rPr lang="en-GB" dirty="0"/>
              <a:t>generating more training examples.</a:t>
            </a:r>
          </a:p>
          <a:p>
            <a:r>
              <a:rPr lang="en-GB" sz="1800" b="1" dirty="0">
                <a:highlight>
                  <a:srgbClr val="FFFF00"/>
                </a:highlight>
              </a:rPr>
              <a:t>The problem arises when related windows are distributed across partitions.</a:t>
            </a:r>
          </a:p>
        </p:txBody>
      </p:sp>
    </p:spTree>
    <p:extLst>
      <p:ext uri="{BB962C8B-B14F-4D97-AF65-F5344CB8AC3E}">
        <p14:creationId xmlns:p14="http://schemas.microsoft.com/office/powerpoint/2010/main" val="37338253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Overlapping windows are strongly dependent</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Two windows may be different samples but almost identical inputs.</a:t>
            </a:r>
            <a:endParaRPr lang="en-US" sz="1150" dirty="0"/>
          </a:p>
        </p:txBody>
      </p:sp>
      <p:sp>
        <p:nvSpPr>
          <p:cNvPr id="6" name="Shape 4"/>
          <p:cNvSpPr/>
          <p:nvPr/>
        </p:nvSpPr>
        <p:spPr>
          <a:xfrm>
            <a:off x="822960" y="1417320"/>
            <a:ext cx="9966960" cy="0"/>
          </a:xfrm>
          <a:prstGeom prst="line">
            <a:avLst/>
          </a:prstGeom>
          <a:noFill/>
          <a:ln w="15240">
            <a:solidFill>
              <a:srgbClr val="94A3B8"/>
            </a:solidFill>
            <a:prstDash val="solid"/>
            <a:headEnd type="none"/>
            <a:tailEnd type="triangle"/>
          </a:ln>
        </p:spPr>
        <p:txBody>
          <a:bodyPr/>
          <a:lstStyle/>
          <a:p>
            <a:endParaRPr lang="en-GB"/>
          </a:p>
        </p:txBody>
      </p:sp>
      <p:sp>
        <p:nvSpPr>
          <p:cNvPr id="7" name="Text 5"/>
          <p:cNvSpPr/>
          <p:nvPr/>
        </p:nvSpPr>
        <p:spPr>
          <a:xfrm>
            <a:off x="10863072" y="133502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8" name="Text 6"/>
          <p:cNvSpPr/>
          <p:nvPr/>
        </p:nvSpPr>
        <p:spPr>
          <a:xfrm>
            <a:off x="694944"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x[1]</a:t>
            </a:r>
            <a:endParaRPr lang="en-US" sz="800" dirty="0"/>
          </a:p>
        </p:txBody>
      </p:sp>
      <p:sp>
        <p:nvSpPr>
          <p:cNvPr id="9" name="Text 7"/>
          <p:cNvSpPr/>
          <p:nvPr/>
        </p:nvSpPr>
        <p:spPr>
          <a:xfrm>
            <a:off x="1691640"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x[11]</a:t>
            </a:r>
            <a:endParaRPr lang="en-US" sz="800" dirty="0"/>
          </a:p>
        </p:txBody>
      </p:sp>
      <p:sp>
        <p:nvSpPr>
          <p:cNvPr id="10" name="Text 8"/>
          <p:cNvSpPr/>
          <p:nvPr/>
        </p:nvSpPr>
        <p:spPr>
          <a:xfrm>
            <a:off x="2688336"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x[21]</a:t>
            </a:r>
            <a:endParaRPr lang="en-US" sz="800" dirty="0"/>
          </a:p>
        </p:txBody>
      </p:sp>
      <p:sp>
        <p:nvSpPr>
          <p:cNvPr id="11" name="Text 9"/>
          <p:cNvSpPr/>
          <p:nvPr/>
        </p:nvSpPr>
        <p:spPr>
          <a:xfrm>
            <a:off x="3685032"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x[31]</a:t>
            </a:r>
            <a:endParaRPr lang="en-US" sz="800" dirty="0"/>
          </a:p>
        </p:txBody>
      </p:sp>
      <p:sp>
        <p:nvSpPr>
          <p:cNvPr id="12" name="Text 10"/>
          <p:cNvSpPr/>
          <p:nvPr/>
        </p:nvSpPr>
        <p:spPr>
          <a:xfrm>
            <a:off x="4681728"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x[41]</a:t>
            </a:r>
            <a:endParaRPr lang="en-US" sz="800" dirty="0"/>
          </a:p>
        </p:txBody>
      </p:sp>
      <p:sp>
        <p:nvSpPr>
          <p:cNvPr id="13" name="Text 11"/>
          <p:cNvSpPr/>
          <p:nvPr/>
        </p:nvSpPr>
        <p:spPr>
          <a:xfrm>
            <a:off x="5678424"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x[51]</a:t>
            </a:r>
            <a:endParaRPr lang="en-US" sz="800" dirty="0"/>
          </a:p>
        </p:txBody>
      </p:sp>
      <p:sp>
        <p:nvSpPr>
          <p:cNvPr id="14" name="Text 12"/>
          <p:cNvSpPr/>
          <p:nvPr/>
        </p:nvSpPr>
        <p:spPr>
          <a:xfrm>
            <a:off x="6675120"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x[61]</a:t>
            </a:r>
            <a:endParaRPr lang="en-US" sz="800" dirty="0"/>
          </a:p>
        </p:txBody>
      </p:sp>
      <p:sp>
        <p:nvSpPr>
          <p:cNvPr id="15" name="Text 13"/>
          <p:cNvSpPr/>
          <p:nvPr/>
        </p:nvSpPr>
        <p:spPr>
          <a:xfrm>
            <a:off x="7671816"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x[71]</a:t>
            </a:r>
            <a:endParaRPr lang="en-US" sz="800" dirty="0"/>
          </a:p>
        </p:txBody>
      </p:sp>
      <p:sp>
        <p:nvSpPr>
          <p:cNvPr id="16" name="Text 14"/>
          <p:cNvSpPr/>
          <p:nvPr/>
        </p:nvSpPr>
        <p:spPr>
          <a:xfrm>
            <a:off x="8668512"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x[81]</a:t>
            </a:r>
            <a:endParaRPr lang="en-US" sz="800" dirty="0"/>
          </a:p>
        </p:txBody>
      </p:sp>
      <p:sp>
        <p:nvSpPr>
          <p:cNvPr id="17" name="Text 15"/>
          <p:cNvSpPr/>
          <p:nvPr/>
        </p:nvSpPr>
        <p:spPr>
          <a:xfrm>
            <a:off x="9665208"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x[91]</a:t>
            </a:r>
            <a:endParaRPr lang="en-US" sz="800" dirty="0"/>
          </a:p>
        </p:txBody>
      </p:sp>
      <p:sp>
        <p:nvSpPr>
          <p:cNvPr id="18" name="Text 16"/>
          <p:cNvSpPr/>
          <p:nvPr/>
        </p:nvSpPr>
        <p:spPr>
          <a:xfrm>
            <a:off x="10661904" y="1078992"/>
            <a:ext cx="347472" cy="164592"/>
          </a:xfrm>
          <a:prstGeom prst="rect">
            <a:avLst/>
          </a:prstGeom>
          <a:noFill/>
          <a:ln/>
        </p:spPr>
        <p:txBody>
          <a:bodyPr wrap="square" lIns="381" tIns="381" rIns="381" bIns="381" rtlCol="0" anchor="ctr">
            <a:normAutofit/>
          </a:bodyPr>
          <a:lstStyle/>
          <a:p>
            <a:pPr marL="0" indent="0" algn="ctr">
              <a:buNone/>
            </a:pPr>
            <a:r>
              <a:rPr lang="en-US" sz="800" dirty="0">
                <a:solidFill>
                  <a:srgbClr val="475569"/>
                </a:solidFill>
                <a:latin typeface="Aptos" pitchFamily="34" charset="0"/>
                <a:ea typeface="Aptos" pitchFamily="34" charset="-122"/>
                <a:cs typeface="Aptos" pitchFamily="34" charset="-120"/>
              </a:rPr>
              <a:t>x[101]</a:t>
            </a:r>
            <a:endParaRPr lang="en-US" sz="800" dirty="0"/>
          </a:p>
        </p:txBody>
      </p:sp>
      <p:sp>
        <p:nvSpPr>
          <p:cNvPr id="19" name="Shape 17"/>
          <p:cNvSpPr/>
          <p:nvPr/>
        </p:nvSpPr>
        <p:spPr>
          <a:xfrm>
            <a:off x="960120" y="1874520"/>
            <a:ext cx="9052560" cy="502920"/>
          </a:xfrm>
          <a:prstGeom prst="rect">
            <a:avLst/>
          </a:prstGeom>
          <a:solidFill>
            <a:srgbClr val="2563EB"/>
          </a:solidFill>
          <a:ln w="10160">
            <a:solidFill>
              <a:srgbClr val="2563EB"/>
            </a:solidFill>
            <a:prstDash val="solid"/>
          </a:ln>
        </p:spPr>
        <p:txBody>
          <a:bodyPr/>
          <a:lstStyle/>
          <a:p>
            <a:endParaRPr lang="en-GB"/>
          </a:p>
        </p:txBody>
      </p:sp>
      <p:sp>
        <p:nvSpPr>
          <p:cNvPr id="20" name="Text 18"/>
          <p:cNvSpPr/>
          <p:nvPr/>
        </p:nvSpPr>
        <p:spPr>
          <a:xfrm>
            <a:off x="996696" y="1965046"/>
            <a:ext cx="8979408" cy="321869"/>
          </a:xfrm>
          <a:prstGeom prst="rect">
            <a:avLst/>
          </a:prstGeom>
          <a:noFill/>
          <a:ln/>
        </p:spPr>
        <p:txBody>
          <a:bodyPr wrap="square" lIns="381" tIns="381" rIns="381" bIns="381"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Window A: x[1] ... x[100]</a:t>
            </a:r>
            <a:endParaRPr lang="en-US" sz="1400" dirty="0"/>
          </a:p>
        </p:txBody>
      </p:sp>
      <p:sp>
        <p:nvSpPr>
          <p:cNvPr id="21" name="Shape 19"/>
          <p:cNvSpPr/>
          <p:nvPr/>
        </p:nvSpPr>
        <p:spPr>
          <a:xfrm>
            <a:off x="1051560" y="2697480"/>
            <a:ext cx="9052560" cy="502920"/>
          </a:xfrm>
          <a:prstGeom prst="rect">
            <a:avLst/>
          </a:prstGeom>
          <a:solidFill>
            <a:srgbClr val="DC2626"/>
          </a:solidFill>
          <a:ln w="10160">
            <a:solidFill>
              <a:srgbClr val="DC2626"/>
            </a:solidFill>
            <a:prstDash val="solid"/>
          </a:ln>
        </p:spPr>
        <p:txBody>
          <a:bodyPr/>
          <a:lstStyle/>
          <a:p>
            <a:endParaRPr lang="en-GB"/>
          </a:p>
        </p:txBody>
      </p:sp>
      <p:sp>
        <p:nvSpPr>
          <p:cNvPr id="22" name="Text 20"/>
          <p:cNvSpPr/>
          <p:nvPr/>
        </p:nvSpPr>
        <p:spPr>
          <a:xfrm>
            <a:off x="1088136" y="2788006"/>
            <a:ext cx="8979408" cy="321869"/>
          </a:xfrm>
          <a:prstGeom prst="rect">
            <a:avLst/>
          </a:prstGeom>
          <a:noFill/>
          <a:ln/>
        </p:spPr>
        <p:txBody>
          <a:bodyPr wrap="square" lIns="381" tIns="381" rIns="381" bIns="381"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Window B: x[2] ... x[101]</a:t>
            </a:r>
            <a:endParaRPr lang="en-US" sz="1400" dirty="0"/>
          </a:p>
        </p:txBody>
      </p:sp>
      <p:sp>
        <p:nvSpPr>
          <p:cNvPr id="23" name="Shape 21"/>
          <p:cNvSpPr/>
          <p:nvPr/>
        </p:nvSpPr>
        <p:spPr>
          <a:xfrm>
            <a:off x="1051560" y="3456432"/>
            <a:ext cx="8961120" cy="164592"/>
          </a:xfrm>
          <a:prstGeom prst="rect">
            <a:avLst/>
          </a:prstGeom>
          <a:solidFill>
            <a:srgbClr val="FDE68A"/>
          </a:solidFill>
          <a:ln w="10160">
            <a:solidFill>
              <a:srgbClr val="F59E0B"/>
            </a:solidFill>
            <a:prstDash val="solid"/>
          </a:ln>
        </p:spPr>
        <p:txBody>
          <a:bodyPr/>
          <a:lstStyle/>
          <a:p>
            <a:endParaRPr lang="en-GB"/>
          </a:p>
        </p:txBody>
      </p:sp>
      <p:sp>
        <p:nvSpPr>
          <p:cNvPr id="24" name="Text 22"/>
          <p:cNvSpPr/>
          <p:nvPr/>
        </p:nvSpPr>
        <p:spPr>
          <a:xfrm>
            <a:off x="1188720" y="3703320"/>
            <a:ext cx="5212080" cy="320040"/>
          </a:xfrm>
          <a:prstGeom prst="rect">
            <a:avLst/>
          </a:prstGeom>
          <a:noFill/>
          <a:ln/>
        </p:spPr>
        <p:txBody>
          <a:bodyPr wrap="square" lIns="381" tIns="381" rIns="381" bIns="381" rtlCol="0" anchor="ctr">
            <a:normAutofit/>
          </a:bodyPr>
          <a:lstStyle/>
          <a:p>
            <a:pPr marL="0" indent="0" algn="l">
              <a:buNone/>
            </a:pPr>
            <a:r>
              <a:rPr lang="en-US" sz="1500" b="1" dirty="0">
                <a:solidFill>
                  <a:srgbClr val="0F172A"/>
                </a:solidFill>
                <a:latin typeface="Aptos" pitchFamily="34" charset="0"/>
                <a:ea typeface="Aptos" pitchFamily="34" charset="-122"/>
                <a:cs typeface="Aptos" pitchFamily="34" charset="-120"/>
              </a:rPr>
              <a:t>Shared region: 99 observations out of 100</a:t>
            </a:r>
            <a:endParaRPr lang="en-US" sz="1500" dirty="0"/>
          </a:p>
        </p:txBody>
      </p:sp>
      <p:sp>
        <p:nvSpPr>
          <p:cNvPr id="25" name="Shape 23"/>
          <p:cNvSpPr/>
          <p:nvPr/>
        </p:nvSpPr>
        <p:spPr>
          <a:xfrm>
            <a:off x="6492240" y="3657600"/>
            <a:ext cx="4389120" cy="658368"/>
          </a:xfrm>
          <a:prstGeom prst="rect">
            <a:avLst/>
          </a:prstGeom>
          <a:solidFill>
            <a:srgbClr val="FFFFFF"/>
          </a:solidFill>
          <a:ln w="11430">
            <a:solidFill>
              <a:srgbClr val="CBD5E1"/>
            </a:solidFill>
            <a:prstDash val="solid"/>
          </a:ln>
        </p:spPr>
        <p:txBody>
          <a:bodyPr/>
          <a:lstStyle/>
          <a:p>
            <a:endParaRPr lang="en-GB"/>
          </a:p>
        </p:txBody>
      </p:sp>
      <p:sp>
        <p:nvSpPr>
          <p:cNvPr id="26" name="Shape 24"/>
          <p:cNvSpPr/>
          <p:nvPr/>
        </p:nvSpPr>
        <p:spPr>
          <a:xfrm>
            <a:off x="6601968" y="3657600"/>
            <a:ext cx="0" cy="658368"/>
          </a:xfrm>
          <a:prstGeom prst="line">
            <a:avLst/>
          </a:prstGeom>
          <a:noFill/>
          <a:ln w="38100">
            <a:solidFill>
              <a:srgbClr val="DC2626"/>
            </a:solidFill>
            <a:prstDash val="solid"/>
          </a:ln>
        </p:spPr>
        <p:txBody>
          <a:bodyPr/>
          <a:lstStyle/>
          <a:p>
            <a:endParaRPr lang="en-GB"/>
          </a:p>
        </p:txBody>
      </p:sp>
      <p:sp>
        <p:nvSpPr>
          <p:cNvPr id="27" name="Text 25"/>
          <p:cNvSpPr/>
          <p:nvPr/>
        </p:nvSpPr>
        <p:spPr>
          <a:xfrm>
            <a:off x="6693408" y="3730752"/>
            <a:ext cx="4114800" cy="530352"/>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If A is used for training and B for testing, the test input is almost duplicated.</a:t>
            </a:r>
            <a:endParaRPr lang="en-US" sz="1100" dirty="0"/>
          </a:p>
        </p:txBody>
      </p:sp>
      <p:sp>
        <p:nvSpPr>
          <p:cNvPr id="28" name="Shape 26"/>
          <p:cNvSpPr/>
          <p:nvPr/>
        </p:nvSpPr>
        <p:spPr>
          <a:xfrm>
            <a:off x="960120" y="4663440"/>
            <a:ext cx="2011680" cy="411480"/>
          </a:xfrm>
          <a:prstGeom prst="roundRect">
            <a:avLst>
              <a:gd name="adj" fmla="val 17778"/>
            </a:avLst>
          </a:prstGeom>
          <a:solidFill>
            <a:srgbClr val="7C3AED"/>
          </a:solidFill>
          <a:ln w="8890">
            <a:solidFill>
              <a:srgbClr val="7C3AED"/>
            </a:solidFill>
            <a:prstDash val="solid"/>
          </a:ln>
        </p:spPr>
        <p:txBody>
          <a:bodyPr/>
          <a:lstStyle/>
          <a:p>
            <a:endParaRPr lang="en-GB"/>
          </a:p>
        </p:txBody>
      </p:sp>
      <p:sp>
        <p:nvSpPr>
          <p:cNvPr id="29" name="Text 27"/>
          <p:cNvSpPr/>
          <p:nvPr/>
        </p:nvSpPr>
        <p:spPr>
          <a:xfrm>
            <a:off x="1005840" y="4737506"/>
            <a:ext cx="1920240" cy="263347"/>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Not independent</a:t>
            </a:r>
            <a:endParaRPr lang="en-US" sz="1050" dirty="0"/>
          </a:p>
        </p:txBody>
      </p:sp>
      <p:sp>
        <p:nvSpPr>
          <p:cNvPr id="30" name="Shape 28"/>
          <p:cNvSpPr/>
          <p:nvPr/>
        </p:nvSpPr>
        <p:spPr>
          <a:xfrm>
            <a:off x="3246120" y="4663440"/>
            <a:ext cx="1920240" cy="411480"/>
          </a:xfrm>
          <a:prstGeom prst="roundRect">
            <a:avLst>
              <a:gd name="adj" fmla="val 17778"/>
            </a:avLst>
          </a:prstGeom>
          <a:solidFill>
            <a:srgbClr val="EA580C"/>
          </a:solidFill>
          <a:ln w="8890">
            <a:solidFill>
              <a:srgbClr val="EA580C"/>
            </a:solidFill>
            <a:prstDash val="solid"/>
          </a:ln>
        </p:spPr>
        <p:txBody>
          <a:bodyPr/>
          <a:lstStyle/>
          <a:p>
            <a:endParaRPr lang="en-GB"/>
          </a:p>
        </p:txBody>
      </p:sp>
      <p:sp>
        <p:nvSpPr>
          <p:cNvPr id="31" name="Text 29"/>
          <p:cNvSpPr/>
          <p:nvPr/>
        </p:nvSpPr>
        <p:spPr>
          <a:xfrm>
            <a:off x="3291840" y="4737506"/>
            <a:ext cx="1828800" cy="263347"/>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Shared noise</a:t>
            </a:r>
            <a:endParaRPr lang="en-US" sz="1050" dirty="0"/>
          </a:p>
        </p:txBody>
      </p:sp>
      <p:sp>
        <p:nvSpPr>
          <p:cNvPr id="32" name="Shape 30"/>
          <p:cNvSpPr/>
          <p:nvPr/>
        </p:nvSpPr>
        <p:spPr>
          <a:xfrm>
            <a:off x="5440680" y="4663440"/>
            <a:ext cx="2331720" cy="411480"/>
          </a:xfrm>
          <a:prstGeom prst="roundRect">
            <a:avLst>
              <a:gd name="adj" fmla="val 17778"/>
            </a:avLst>
          </a:prstGeom>
          <a:solidFill>
            <a:srgbClr val="0F766E"/>
          </a:solidFill>
          <a:ln w="8890">
            <a:solidFill>
              <a:srgbClr val="0F766E"/>
            </a:solidFill>
            <a:prstDash val="solid"/>
          </a:ln>
        </p:spPr>
        <p:txBody>
          <a:bodyPr/>
          <a:lstStyle/>
          <a:p>
            <a:endParaRPr lang="en-GB"/>
          </a:p>
        </p:txBody>
      </p:sp>
      <p:sp>
        <p:nvSpPr>
          <p:cNvPr id="33" name="Text 31"/>
          <p:cNvSpPr/>
          <p:nvPr/>
        </p:nvSpPr>
        <p:spPr>
          <a:xfrm>
            <a:off x="5486400" y="4737506"/>
            <a:ext cx="2240280" cy="263347"/>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Shared event pattern</a:t>
            </a:r>
            <a:endParaRPr lang="en-US" sz="1050" dirty="0"/>
          </a:p>
        </p:txBody>
      </p:sp>
      <p:sp>
        <p:nvSpPr>
          <p:cNvPr id="34" name="Shape 32"/>
          <p:cNvSpPr/>
          <p:nvPr/>
        </p:nvSpPr>
        <p:spPr>
          <a:xfrm>
            <a:off x="8092440" y="4663440"/>
            <a:ext cx="1920240" cy="411480"/>
          </a:xfrm>
          <a:prstGeom prst="roundRect">
            <a:avLst>
              <a:gd name="adj" fmla="val 17778"/>
            </a:avLst>
          </a:prstGeom>
          <a:solidFill>
            <a:srgbClr val="DC2626"/>
          </a:solidFill>
          <a:ln w="8890">
            <a:solidFill>
              <a:srgbClr val="DC2626"/>
            </a:solidFill>
            <a:prstDash val="solid"/>
          </a:ln>
        </p:spPr>
        <p:txBody>
          <a:bodyPr/>
          <a:lstStyle/>
          <a:p>
            <a:endParaRPr lang="en-GB"/>
          </a:p>
        </p:txBody>
      </p:sp>
      <p:sp>
        <p:nvSpPr>
          <p:cNvPr id="35" name="Text 33"/>
          <p:cNvSpPr/>
          <p:nvPr/>
        </p:nvSpPr>
        <p:spPr>
          <a:xfrm>
            <a:off x="8138160" y="4737506"/>
            <a:ext cx="1828800" cy="263347"/>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Leakage risk</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0AB15A6-2644-50AE-25BA-FDCBBDBFA8DC}"/>
              </a:ext>
            </a:extLst>
          </p:cNvPr>
          <p:cNvSpPr>
            <a:spLocks noGrp="1"/>
          </p:cNvSpPr>
          <p:nvPr>
            <p:ph type="title"/>
          </p:nvPr>
        </p:nvSpPr>
        <p:spPr/>
        <p:txBody>
          <a:bodyPr/>
          <a:lstStyle/>
          <a:p>
            <a:r>
              <a:rPr lang="en-GB" dirty="0"/>
              <a:t>The incorrect workflow</a:t>
            </a:r>
          </a:p>
        </p:txBody>
      </p:sp>
      <p:sp>
        <p:nvSpPr>
          <p:cNvPr id="3" name="Segnaposto contenuto 2">
            <a:extLst>
              <a:ext uri="{FF2B5EF4-FFF2-40B4-BE49-F238E27FC236}">
                <a16:creationId xmlns:a16="http://schemas.microsoft.com/office/drawing/2014/main" id="{60792400-AD6A-C0CB-164E-121C09378817}"/>
              </a:ext>
            </a:extLst>
          </p:cNvPr>
          <p:cNvSpPr>
            <a:spLocks noGrp="1"/>
          </p:cNvSpPr>
          <p:nvPr>
            <p:ph sz="half" idx="1"/>
          </p:nvPr>
        </p:nvSpPr>
        <p:spPr/>
        <p:txBody>
          <a:bodyPr>
            <a:normAutofit fontScale="92500" lnSpcReduction="20000"/>
          </a:bodyPr>
          <a:lstStyle/>
          <a:p>
            <a:r>
              <a:rPr lang="en-GB" dirty="0"/>
              <a:t>A common but </a:t>
            </a:r>
            <a:r>
              <a:rPr lang="en-GB" dirty="0">
                <a:highlight>
                  <a:srgbClr val="FF00FF"/>
                </a:highlight>
              </a:rPr>
              <a:t>problematic procedure </a:t>
            </a:r>
            <a:r>
              <a:rPr lang="en-GB" dirty="0"/>
              <a:t>is:</a:t>
            </a:r>
          </a:p>
          <a:p>
            <a:pPr lvl="1"/>
            <a:r>
              <a:rPr lang="en-GB" dirty="0"/>
              <a:t>complete recording</a:t>
            </a:r>
          </a:p>
          <a:p>
            <a:pPr lvl="1"/>
            <a:r>
              <a:rPr lang="en-GB" dirty="0"/>
              <a:t>        ↓</a:t>
            </a:r>
          </a:p>
          <a:p>
            <a:pPr lvl="1"/>
            <a:r>
              <a:rPr lang="en-GB" dirty="0"/>
              <a:t>generate all windows</a:t>
            </a:r>
          </a:p>
          <a:p>
            <a:pPr lvl="1"/>
            <a:r>
              <a:rPr lang="en-GB" dirty="0"/>
              <a:t>        ↓</a:t>
            </a:r>
          </a:p>
          <a:p>
            <a:pPr lvl="1"/>
            <a:r>
              <a:rPr lang="en-GB" dirty="0"/>
              <a:t>shuffle windows</a:t>
            </a:r>
          </a:p>
          <a:p>
            <a:pPr lvl="1"/>
            <a:r>
              <a:rPr lang="en-GB" dirty="0"/>
              <a:t>        ↓</a:t>
            </a:r>
          </a:p>
          <a:p>
            <a:pPr lvl="1"/>
            <a:r>
              <a:rPr lang="en-GB" dirty="0"/>
              <a:t>random train / validation / test split</a:t>
            </a:r>
          </a:p>
          <a:p>
            <a:endParaRPr lang="en-GB" dirty="0"/>
          </a:p>
        </p:txBody>
      </p:sp>
      <p:sp>
        <p:nvSpPr>
          <p:cNvPr id="4" name="Segnaposto contenuto 3">
            <a:extLst>
              <a:ext uri="{FF2B5EF4-FFF2-40B4-BE49-F238E27FC236}">
                <a16:creationId xmlns:a16="http://schemas.microsoft.com/office/drawing/2014/main" id="{278A06C3-895A-3840-08EA-641E13940978}"/>
              </a:ext>
            </a:extLst>
          </p:cNvPr>
          <p:cNvSpPr>
            <a:spLocks noGrp="1"/>
          </p:cNvSpPr>
          <p:nvPr>
            <p:ph sz="half" idx="2"/>
          </p:nvPr>
        </p:nvSpPr>
        <p:spPr/>
        <p:txBody>
          <a:bodyPr>
            <a:normAutofit fontScale="92500" lnSpcReduction="20000"/>
          </a:bodyPr>
          <a:lstStyle/>
          <a:p>
            <a:r>
              <a:rPr lang="en-GB" b="1" dirty="0"/>
              <a:t>Why it fails</a:t>
            </a:r>
          </a:p>
          <a:p>
            <a:r>
              <a:rPr lang="en-GB" dirty="0"/>
              <a:t>Suppose a signal contains one fault event.</a:t>
            </a:r>
          </a:p>
          <a:p>
            <a:pPr lvl="1"/>
            <a:r>
              <a:rPr lang="en-GB" dirty="0"/>
              <a:t>Many overlapping windows around that event may be generated.</a:t>
            </a:r>
          </a:p>
          <a:p>
            <a:r>
              <a:rPr lang="en-GB" dirty="0"/>
              <a:t>After shuffling:</a:t>
            </a:r>
          </a:p>
          <a:p>
            <a:pPr lvl="1"/>
            <a:r>
              <a:rPr lang="en-GB" dirty="0"/>
              <a:t>some event windows enter training;</a:t>
            </a:r>
          </a:p>
          <a:p>
            <a:pPr lvl="1"/>
            <a:r>
              <a:rPr lang="en-GB" dirty="0"/>
              <a:t>nearly identical event windows enter validation;</a:t>
            </a:r>
          </a:p>
          <a:p>
            <a:pPr lvl="1"/>
            <a:r>
              <a:rPr lang="en-GB" dirty="0"/>
              <a:t>other nearly identical windows enter test.</a:t>
            </a:r>
          </a:p>
          <a:p>
            <a:r>
              <a:rPr lang="en-GB" dirty="0">
                <a:highlight>
                  <a:srgbClr val="FFFF00"/>
                </a:highlight>
              </a:rPr>
              <a:t>The model is therefore tested on local patterns it has effectively already seen.</a:t>
            </a:r>
          </a:p>
          <a:p>
            <a:endParaRPr lang="en-GB" dirty="0"/>
          </a:p>
        </p:txBody>
      </p:sp>
    </p:spTree>
    <p:extLst>
      <p:ext uri="{BB962C8B-B14F-4D97-AF65-F5344CB8AC3E}">
        <p14:creationId xmlns:p14="http://schemas.microsoft.com/office/powerpoint/2010/main" val="18879214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87A29B-7300-D743-71C7-D22930ED189F}"/>
              </a:ext>
            </a:extLst>
          </p:cNvPr>
          <p:cNvSpPr>
            <a:spLocks noGrp="1"/>
          </p:cNvSpPr>
          <p:nvPr>
            <p:ph type="title"/>
          </p:nvPr>
        </p:nvSpPr>
        <p:spPr/>
        <p:txBody>
          <a:bodyPr/>
          <a:lstStyle/>
          <a:p>
            <a:r>
              <a:rPr lang="en-GB" b="1" dirty="0"/>
              <a:t>Example</a:t>
            </a:r>
            <a:br>
              <a:rPr lang="en-GB" b="1" dirty="0"/>
            </a:br>
            <a:endParaRPr lang="en-GB" dirty="0"/>
          </a:p>
        </p:txBody>
      </p:sp>
      <p:sp>
        <p:nvSpPr>
          <p:cNvPr id="3" name="Segnaposto contenuto 2">
            <a:extLst>
              <a:ext uri="{FF2B5EF4-FFF2-40B4-BE49-F238E27FC236}">
                <a16:creationId xmlns:a16="http://schemas.microsoft.com/office/drawing/2014/main" id="{090D962F-3ECD-F842-F87A-5654D596F3D0}"/>
              </a:ext>
            </a:extLst>
          </p:cNvPr>
          <p:cNvSpPr>
            <a:spLocks noGrp="1"/>
          </p:cNvSpPr>
          <p:nvPr>
            <p:ph idx="1"/>
          </p:nvPr>
        </p:nvSpPr>
        <p:spPr/>
        <p:txBody>
          <a:bodyPr>
            <a:normAutofit fontScale="77500" lnSpcReduction="20000"/>
          </a:bodyPr>
          <a:lstStyle/>
          <a:p>
            <a:r>
              <a:rPr lang="en-GB" dirty="0"/>
              <a:t>Event occurs between times 500 and 550</a:t>
            </a:r>
          </a:p>
          <a:p>
            <a:r>
              <a:rPr lang="en-GB" dirty="0"/>
              <a:t>Training window: times 470–530</a:t>
            </a:r>
          </a:p>
          <a:p>
            <a:r>
              <a:rPr lang="en-GB" dirty="0"/>
              <a:t>Test window: times 480–540</a:t>
            </a:r>
          </a:p>
          <a:p>
            <a:r>
              <a:rPr lang="en-GB" dirty="0"/>
              <a:t>The two windows share most of their input and the same event.</a:t>
            </a:r>
          </a:p>
          <a:p>
            <a:r>
              <a:rPr lang="en-GB" b="1" dirty="0"/>
              <a:t>Apparent result</a:t>
            </a:r>
          </a:p>
          <a:p>
            <a:pPr lvl="1"/>
            <a:r>
              <a:rPr lang="en-GB" dirty="0"/>
              <a:t>Test accuracy = 99%</a:t>
            </a:r>
          </a:p>
          <a:p>
            <a:r>
              <a:rPr lang="en-GB" b="1" dirty="0"/>
              <a:t>Possible real deployment result</a:t>
            </a:r>
          </a:p>
          <a:p>
            <a:pPr lvl="1"/>
            <a:r>
              <a:rPr lang="en-GB" dirty="0"/>
              <a:t>Accuracy on a new recording = substantially lower</a:t>
            </a:r>
          </a:p>
          <a:p>
            <a:endParaRPr lang="en-GB" dirty="0"/>
          </a:p>
          <a:p>
            <a:r>
              <a:rPr lang="en-GB" dirty="0">
                <a:highlight>
                  <a:srgbClr val="FFFF00"/>
                </a:highlight>
              </a:rPr>
              <a:t>The original result answered:</a:t>
            </a:r>
          </a:p>
          <a:p>
            <a:r>
              <a:rPr lang="en-GB" dirty="0">
                <a:highlight>
                  <a:srgbClr val="FFFF00"/>
                </a:highlight>
              </a:rPr>
              <a:t>Can the model recognize almost duplicated windows?</a:t>
            </a:r>
          </a:p>
          <a:p>
            <a:r>
              <a:rPr lang="en-GB" dirty="0"/>
              <a:t>It did not necessarily answer:</a:t>
            </a:r>
          </a:p>
          <a:p>
            <a:r>
              <a:rPr lang="en-GB" dirty="0"/>
              <a:t>Can the model detect the event in new data?</a:t>
            </a:r>
          </a:p>
          <a:p>
            <a:endParaRPr lang="en-GB" dirty="0"/>
          </a:p>
        </p:txBody>
      </p:sp>
    </p:spTree>
    <p:extLst>
      <p:ext uri="{BB962C8B-B14F-4D97-AF65-F5344CB8AC3E}">
        <p14:creationId xmlns:p14="http://schemas.microsoft.com/office/powerpoint/2010/main" val="19081224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Incorrect workflow: window first, then random split</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This often tests near-duplicates, not actual generalization.</a:t>
            </a:r>
            <a:endParaRPr lang="en-US" sz="1150" dirty="0"/>
          </a:p>
        </p:txBody>
      </p:sp>
      <p:sp>
        <p:nvSpPr>
          <p:cNvPr id="6" name="Shape 4"/>
          <p:cNvSpPr/>
          <p:nvPr/>
        </p:nvSpPr>
        <p:spPr>
          <a:xfrm>
            <a:off x="685800" y="1143000"/>
            <a:ext cx="2240280" cy="475488"/>
          </a:xfrm>
          <a:prstGeom prst="roundRect">
            <a:avLst>
              <a:gd name="adj" fmla="val 15385"/>
            </a:avLst>
          </a:prstGeom>
          <a:solidFill>
            <a:srgbClr val="1E293B"/>
          </a:solidFill>
          <a:ln w="8890">
            <a:solidFill>
              <a:srgbClr val="1E293B"/>
            </a:solidFill>
            <a:prstDash val="solid"/>
          </a:ln>
        </p:spPr>
        <p:txBody>
          <a:bodyPr/>
          <a:lstStyle/>
          <a:p>
            <a:endParaRPr lang="en-GB"/>
          </a:p>
        </p:txBody>
      </p:sp>
      <p:sp>
        <p:nvSpPr>
          <p:cNvPr id="7" name="Text 5"/>
          <p:cNvSpPr/>
          <p:nvPr/>
        </p:nvSpPr>
        <p:spPr>
          <a:xfrm>
            <a:off x="731520" y="1228588"/>
            <a:ext cx="2148840" cy="304312"/>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Complete recording</a:t>
            </a:r>
            <a:endParaRPr lang="en-US" sz="1050" dirty="0"/>
          </a:p>
        </p:txBody>
      </p:sp>
      <p:sp>
        <p:nvSpPr>
          <p:cNvPr id="8" name="Shape 6"/>
          <p:cNvSpPr/>
          <p:nvPr/>
        </p:nvSpPr>
        <p:spPr>
          <a:xfrm>
            <a:off x="2953512" y="1380744"/>
            <a:ext cx="466344" cy="0"/>
          </a:xfrm>
          <a:prstGeom prst="line">
            <a:avLst/>
          </a:prstGeom>
          <a:noFill/>
          <a:ln w="15240">
            <a:solidFill>
              <a:srgbClr val="94A3B8"/>
            </a:solidFill>
            <a:prstDash val="solid"/>
            <a:headEnd type="none"/>
            <a:tailEnd type="triangle"/>
          </a:ln>
        </p:spPr>
        <p:txBody>
          <a:bodyPr/>
          <a:lstStyle/>
          <a:p>
            <a:endParaRPr lang="en-GB"/>
          </a:p>
        </p:txBody>
      </p:sp>
      <p:sp>
        <p:nvSpPr>
          <p:cNvPr id="9" name="Shape 7"/>
          <p:cNvSpPr/>
          <p:nvPr/>
        </p:nvSpPr>
        <p:spPr>
          <a:xfrm>
            <a:off x="3520440" y="1143000"/>
            <a:ext cx="2240280" cy="475488"/>
          </a:xfrm>
          <a:prstGeom prst="roundRect">
            <a:avLst>
              <a:gd name="adj" fmla="val 15385"/>
            </a:avLst>
          </a:prstGeom>
          <a:solidFill>
            <a:srgbClr val="7C3AED"/>
          </a:solidFill>
          <a:ln w="8890">
            <a:solidFill>
              <a:srgbClr val="7C3AED"/>
            </a:solidFill>
            <a:prstDash val="solid"/>
          </a:ln>
        </p:spPr>
        <p:txBody>
          <a:bodyPr/>
          <a:lstStyle/>
          <a:p>
            <a:endParaRPr lang="en-GB"/>
          </a:p>
        </p:txBody>
      </p:sp>
      <p:sp>
        <p:nvSpPr>
          <p:cNvPr id="10" name="Text 8"/>
          <p:cNvSpPr/>
          <p:nvPr/>
        </p:nvSpPr>
        <p:spPr>
          <a:xfrm>
            <a:off x="3566160" y="1228588"/>
            <a:ext cx="2148840" cy="304312"/>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Generate all overlapping windows</a:t>
            </a:r>
            <a:endParaRPr lang="en-US" sz="1050" dirty="0"/>
          </a:p>
        </p:txBody>
      </p:sp>
      <p:sp>
        <p:nvSpPr>
          <p:cNvPr id="11" name="Shape 9"/>
          <p:cNvSpPr/>
          <p:nvPr/>
        </p:nvSpPr>
        <p:spPr>
          <a:xfrm>
            <a:off x="5788152" y="1380744"/>
            <a:ext cx="466344" cy="0"/>
          </a:xfrm>
          <a:prstGeom prst="line">
            <a:avLst/>
          </a:prstGeom>
          <a:noFill/>
          <a:ln w="15240">
            <a:solidFill>
              <a:srgbClr val="94A3B8"/>
            </a:solidFill>
            <a:prstDash val="solid"/>
            <a:headEnd type="none"/>
            <a:tailEnd type="triangle"/>
          </a:ln>
        </p:spPr>
        <p:txBody>
          <a:bodyPr/>
          <a:lstStyle/>
          <a:p>
            <a:endParaRPr lang="en-GB"/>
          </a:p>
        </p:txBody>
      </p:sp>
      <p:sp>
        <p:nvSpPr>
          <p:cNvPr id="12" name="Shape 10"/>
          <p:cNvSpPr/>
          <p:nvPr/>
        </p:nvSpPr>
        <p:spPr>
          <a:xfrm>
            <a:off x="6355080" y="1143000"/>
            <a:ext cx="2240280" cy="475488"/>
          </a:xfrm>
          <a:prstGeom prst="roundRect">
            <a:avLst>
              <a:gd name="adj" fmla="val 15385"/>
            </a:avLst>
          </a:prstGeom>
          <a:solidFill>
            <a:srgbClr val="EA580C"/>
          </a:solidFill>
          <a:ln w="8890">
            <a:solidFill>
              <a:srgbClr val="EA580C"/>
            </a:solidFill>
            <a:prstDash val="solid"/>
          </a:ln>
        </p:spPr>
        <p:txBody>
          <a:bodyPr/>
          <a:lstStyle/>
          <a:p>
            <a:endParaRPr lang="en-GB"/>
          </a:p>
        </p:txBody>
      </p:sp>
      <p:sp>
        <p:nvSpPr>
          <p:cNvPr id="13" name="Text 11"/>
          <p:cNvSpPr/>
          <p:nvPr/>
        </p:nvSpPr>
        <p:spPr>
          <a:xfrm>
            <a:off x="6400800" y="1228588"/>
            <a:ext cx="2148840" cy="304312"/>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Shuffle windows</a:t>
            </a:r>
            <a:endParaRPr lang="en-US" sz="1050" dirty="0"/>
          </a:p>
        </p:txBody>
      </p:sp>
      <p:sp>
        <p:nvSpPr>
          <p:cNvPr id="14" name="Shape 12"/>
          <p:cNvSpPr/>
          <p:nvPr/>
        </p:nvSpPr>
        <p:spPr>
          <a:xfrm>
            <a:off x="8622792" y="1380744"/>
            <a:ext cx="466344" cy="0"/>
          </a:xfrm>
          <a:prstGeom prst="line">
            <a:avLst/>
          </a:prstGeom>
          <a:noFill/>
          <a:ln w="15240">
            <a:solidFill>
              <a:srgbClr val="94A3B8"/>
            </a:solidFill>
            <a:prstDash val="solid"/>
            <a:headEnd type="none"/>
            <a:tailEnd type="triangle"/>
          </a:ln>
        </p:spPr>
        <p:txBody>
          <a:bodyPr/>
          <a:lstStyle/>
          <a:p>
            <a:endParaRPr lang="en-GB"/>
          </a:p>
        </p:txBody>
      </p:sp>
      <p:sp>
        <p:nvSpPr>
          <p:cNvPr id="15" name="Shape 13"/>
          <p:cNvSpPr/>
          <p:nvPr/>
        </p:nvSpPr>
        <p:spPr>
          <a:xfrm>
            <a:off x="9189720" y="1143000"/>
            <a:ext cx="2240280" cy="475488"/>
          </a:xfrm>
          <a:prstGeom prst="roundRect">
            <a:avLst>
              <a:gd name="adj" fmla="val 15385"/>
            </a:avLst>
          </a:prstGeom>
          <a:solidFill>
            <a:srgbClr val="DC2626"/>
          </a:solidFill>
          <a:ln w="8890">
            <a:solidFill>
              <a:srgbClr val="DC2626"/>
            </a:solidFill>
            <a:prstDash val="solid"/>
          </a:ln>
        </p:spPr>
        <p:txBody>
          <a:bodyPr/>
          <a:lstStyle/>
          <a:p>
            <a:endParaRPr lang="en-GB"/>
          </a:p>
        </p:txBody>
      </p:sp>
      <p:sp>
        <p:nvSpPr>
          <p:cNvPr id="16" name="Text 14"/>
          <p:cNvSpPr/>
          <p:nvPr/>
        </p:nvSpPr>
        <p:spPr>
          <a:xfrm>
            <a:off x="9235440" y="1228588"/>
            <a:ext cx="2148840" cy="304312"/>
          </a:xfrm>
          <a:prstGeom prst="rect">
            <a:avLst/>
          </a:prstGeom>
          <a:noFill/>
          <a:ln/>
        </p:spPr>
        <p:txBody>
          <a:bodyPr wrap="square" lIns="381" tIns="381" rIns="381" bIns="381" rtlCol="0" anchor="ctr">
            <a:normAutofit lnSpcReduction="10000"/>
          </a:bodyPr>
          <a:lstStyle/>
          <a:p>
            <a:pPr marL="0" indent="0" algn="ctr">
              <a:buNone/>
            </a:pPr>
            <a:r>
              <a:rPr lang="en-US" sz="1050" b="1" dirty="0">
                <a:solidFill>
                  <a:srgbClr val="FFFFFF"/>
                </a:solidFill>
                <a:latin typeface="Aptos" pitchFamily="34" charset="0"/>
                <a:ea typeface="Aptos" pitchFamily="34" charset="-122"/>
                <a:cs typeface="Aptos" pitchFamily="34" charset="-120"/>
              </a:rPr>
              <a:t>Random train / validation / test split</a:t>
            </a:r>
            <a:endParaRPr lang="en-US" sz="1050" dirty="0"/>
          </a:p>
        </p:txBody>
      </p:sp>
      <p:sp>
        <p:nvSpPr>
          <p:cNvPr id="17" name="Shape 15"/>
          <p:cNvSpPr/>
          <p:nvPr/>
        </p:nvSpPr>
        <p:spPr>
          <a:xfrm>
            <a:off x="969645" y="3284220"/>
            <a:ext cx="9692640" cy="0"/>
          </a:xfrm>
          <a:prstGeom prst="line">
            <a:avLst/>
          </a:prstGeom>
          <a:noFill/>
          <a:ln w="15240">
            <a:solidFill>
              <a:srgbClr val="94A3B8"/>
            </a:solidFill>
            <a:prstDash val="solid"/>
            <a:headEnd type="none"/>
            <a:tailEnd type="triangle"/>
          </a:ln>
        </p:spPr>
        <p:txBody>
          <a:bodyPr/>
          <a:lstStyle/>
          <a:p>
            <a:endParaRPr lang="en-GB"/>
          </a:p>
        </p:txBody>
      </p:sp>
      <p:sp>
        <p:nvSpPr>
          <p:cNvPr id="18" name="Text 16"/>
          <p:cNvSpPr/>
          <p:nvPr/>
        </p:nvSpPr>
        <p:spPr>
          <a:xfrm>
            <a:off x="10735437" y="320192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19" name="Shape 17"/>
          <p:cNvSpPr/>
          <p:nvPr/>
        </p:nvSpPr>
        <p:spPr>
          <a:xfrm>
            <a:off x="923925" y="3467100"/>
            <a:ext cx="9692640" cy="109728"/>
          </a:xfrm>
          <a:prstGeom prst="rect">
            <a:avLst/>
          </a:prstGeom>
          <a:solidFill>
            <a:srgbClr val="94A3B8"/>
          </a:solidFill>
          <a:ln w="10160">
            <a:solidFill>
              <a:srgbClr val="94A3B8"/>
            </a:solidFill>
            <a:prstDash val="solid"/>
          </a:ln>
        </p:spPr>
        <p:txBody>
          <a:bodyPr/>
          <a:lstStyle/>
          <a:p>
            <a:endParaRPr lang="en-GB"/>
          </a:p>
        </p:txBody>
      </p:sp>
      <p:sp>
        <p:nvSpPr>
          <p:cNvPr id="20" name="Shape 18"/>
          <p:cNvSpPr/>
          <p:nvPr/>
        </p:nvSpPr>
        <p:spPr>
          <a:xfrm>
            <a:off x="4627245" y="2644140"/>
            <a:ext cx="1234440" cy="384048"/>
          </a:xfrm>
          <a:prstGeom prst="rect">
            <a:avLst/>
          </a:prstGeom>
          <a:solidFill>
            <a:srgbClr val="FCA5A5"/>
          </a:solidFill>
          <a:ln w="10160">
            <a:solidFill>
              <a:srgbClr val="DC2626"/>
            </a:solidFill>
            <a:prstDash val="solid"/>
          </a:ln>
        </p:spPr>
        <p:txBody>
          <a:bodyPr/>
          <a:lstStyle/>
          <a:p>
            <a:endParaRPr lang="en-GB"/>
          </a:p>
        </p:txBody>
      </p:sp>
      <p:sp>
        <p:nvSpPr>
          <p:cNvPr id="21" name="Text 19"/>
          <p:cNvSpPr/>
          <p:nvPr/>
        </p:nvSpPr>
        <p:spPr>
          <a:xfrm>
            <a:off x="4883277" y="2717292"/>
            <a:ext cx="685800" cy="182880"/>
          </a:xfrm>
          <a:prstGeom prst="rect">
            <a:avLst/>
          </a:prstGeom>
          <a:noFill/>
          <a:ln/>
        </p:spPr>
        <p:txBody>
          <a:bodyPr wrap="square" lIns="381" tIns="381" rIns="381" bIns="381" rtlCol="0" anchor="ctr">
            <a:normAutofit/>
          </a:bodyPr>
          <a:lstStyle/>
          <a:p>
            <a:pPr marL="0" indent="0" algn="ctr">
              <a:buNone/>
            </a:pPr>
            <a:r>
              <a:rPr lang="en-US" sz="1000" b="1" dirty="0">
                <a:solidFill>
                  <a:srgbClr val="DC2626"/>
                </a:solidFill>
                <a:latin typeface="Aptos" pitchFamily="34" charset="0"/>
                <a:ea typeface="Aptos" pitchFamily="34" charset="-122"/>
                <a:cs typeface="Aptos" pitchFamily="34" charset="-120"/>
              </a:rPr>
              <a:t>event</a:t>
            </a:r>
            <a:endParaRPr lang="en-US" sz="1000" dirty="0"/>
          </a:p>
        </p:txBody>
      </p:sp>
      <p:sp>
        <p:nvSpPr>
          <p:cNvPr id="22" name="Shape 20"/>
          <p:cNvSpPr/>
          <p:nvPr/>
        </p:nvSpPr>
        <p:spPr>
          <a:xfrm>
            <a:off x="3987165" y="3860292"/>
            <a:ext cx="1828800" cy="237744"/>
          </a:xfrm>
          <a:prstGeom prst="rect">
            <a:avLst/>
          </a:prstGeom>
          <a:solidFill>
            <a:srgbClr val="2563EB"/>
          </a:solidFill>
          <a:ln w="10160">
            <a:solidFill>
              <a:srgbClr val="2563EB"/>
            </a:solidFill>
            <a:prstDash val="solid"/>
          </a:ln>
        </p:spPr>
        <p:txBody>
          <a:bodyPr/>
          <a:lstStyle/>
          <a:p>
            <a:endParaRPr lang="en-GB"/>
          </a:p>
        </p:txBody>
      </p:sp>
      <p:sp>
        <p:nvSpPr>
          <p:cNvPr id="23" name="Text 21"/>
          <p:cNvSpPr/>
          <p:nvPr/>
        </p:nvSpPr>
        <p:spPr>
          <a:xfrm>
            <a:off x="4023741" y="3903086"/>
            <a:ext cx="1755648" cy="152156"/>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TR</a:t>
            </a:r>
            <a:endParaRPr lang="en-US" sz="900" dirty="0"/>
          </a:p>
        </p:txBody>
      </p:sp>
      <p:sp>
        <p:nvSpPr>
          <p:cNvPr id="24" name="Shape 22"/>
          <p:cNvSpPr/>
          <p:nvPr/>
        </p:nvSpPr>
        <p:spPr>
          <a:xfrm>
            <a:off x="4170045" y="4198620"/>
            <a:ext cx="1828800" cy="237744"/>
          </a:xfrm>
          <a:prstGeom prst="rect">
            <a:avLst/>
          </a:prstGeom>
          <a:solidFill>
            <a:srgbClr val="DC2626"/>
          </a:solidFill>
          <a:ln w="10160">
            <a:solidFill>
              <a:srgbClr val="DC2626"/>
            </a:solidFill>
            <a:prstDash val="solid"/>
          </a:ln>
        </p:spPr>
        <p:txBody>
          <a:bodyPr/>
          <a:lstStyle/>
          <a:p>
            <a:endParaRPr lang="en-GB"/>
          </a:p>
        </p:txBody>
      </p:sp>
      <p:sp>
        <p:nvSpPr>
          <p:cNvPr id="25" name="Text 23"/>
          <p:cNvSpPr/>
          <p:nvPr/>
        </p:nvSpPr>
        <p:spPr>
          <a:xfrm>
            <a:off x="4206621" y="4241414"/>
            <a:ext cx="1755648" cy="152156"/>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TE</a:t>
            </a:r>
            <a:endParaRPr lang="en-US" sz="900" dirty="0"/>
          </a:p>
        </p:txBody>
      </p:sp>
      <p:sp>
        <p:nvSpPr>
          <p:cNvPr id="26" name="Shape 24"/>
          <p:cNvSpPr/>
          <p:nvPr/>
        </p:nvSpPr>
        <p:spPr>
          <a:xfrm>
            <a:off x="4352925" y="4536948"/>
            <a:ext cx="1828800" cy="237744"/>
          </a:xfrm>
          <a:prstGeom prst="rect">
            <a:avLst/>
          </a:prstGeom>
          <a:solidFill>
            <a:srgbClr val="F59E0B"/>
          </a:solidFill>
          <a:ln w="10160">
            <a:solidFill>
              <a:srgbClr val="F59E0B"/>
            </a:solidFill>
            <a:prstDash val="solid"/>
          </a:ln>
        </p:spPr>
        <p:txBody>
          <a:bodyPr/>
          <a:lstStyle/>
          <a:p>
            <a:endParaRPr lang="en-GB"/>
          </a:p>
        </p:txBody>
      </p:sp>
      <p:sp>
        <p:nvSpPr>
          <p:cNvPr id="27" name="Text 25"/>
          <p:cNvSpPr/>
          <p:nvPr/>
        </p:nvSpPr>
        <p:spPr>
          <a:xfrm>
            <a:off x="4389501" y="4579742"/>
            <a:ext cx="1755648" cy="152156"/>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VA</a:t>
            </a:r>
            <a:endParaRPr lang="en-US" sz="900" dirty="0"/>
          </a:p>
        </p:txBody>
      </p:sp>
      <p:sp>
        <p:nvSpPr>
          <p:cNvPr id="28" name="Shape 26"/>
          <p:cNvSpPr/>
          <p:nvPr/>
        </p:nvSpPr>
        <p:spPr>
          <a:xfrm>
            <a:off x="4535805" y="4875276"/>
            <a:ext cx="1828800" cy="237744"/>
          </a:xfrm>
          <a:prstGeom prst="rect">
            <a:avLst/>
          </a:prstGeom>
          <a:solidFill>
            <a:srgbClr val="2563EB"/>
          </a:solidFill>
          <a:ln w="10160">
            <a:solidFill>
              <a:srgbClr val="2563EB"/>
            </a:solidFill>
            <a:prstDash val="solid"/>
          </a:ln>
        </p:spPr>
        <p:txBody>
          <a:bodyPr/>
          <a:lstStyle/>
          <a:p>
            <a:endParaRPr lang="en-GB"/>
          </a:p>
        </p:txBody>
      </p:sp>
      <p:sp>
        <p:nvSpPr>
          <p:cNvPr id="29" name="Text 27"/>
          <p:cNvSpPr/>
          <p:nvPr/>
        </p:nvSpPr>
        <p:spPr>
          <a:xfrm>
            <a:off x="4572381" y="4918070"/>
            <a:ext cx="1755648" cy="152156"/>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TR</a:t>
            </a:r>
            <a:endParaRPr lang="en-US" sz="900" dirty="0"/>
          </a:p>
        </p:txBody>
      </p:sp>
      <p:sp>
        <p:nvSpPr>
          <p:cNvPr id="30" name="Shape 28"/>
          <p:cNvSpPr/>
          <p:nvPr/>
        </p:nvSpPr>
        <p:spPr>
          <a:xfrm>
            <a:off x="4718685" y="5213604"/>
            <a:ext cx="1828800" cy="237744"/>
          </a:xfrm>
          <a:prstGeom prst="rect">
            <a:avLst/>
          </a:prstGeom>
          <a:solidFill>
            <a:srgbClr val="DC2626"/>
          </a:solidFill>
          <a:ln w="10160">
            <a:solidFill>
              <a:srgbClr val="DC2626"/>
            </a:solidFill>
            <a:prstDash val="solid"/>
          </a:ln>
        </p:spPr>
        <p:txBody>
          <a:bodyPr/>
          <a:lstStyle/>
          <a:p>
            <a:endParaRPr lang="en-GB"/>
          </a:p>
        </p:txBody>
      </p:sp>
      <p:sp>
        <p:nvSpPr>
          <p:cNvPr id="31" name="Text 29"/>
          <p:cNvSpPr/>
          <p:nvPr/>
        </p:nvSpPr>
        <p:spPr>
          <a:xfrm>
            <a:off x="4755261" y="5256398"/>
            <a:ext cx="1755648" cy="152156"/>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TE</a:t>
            </a:r>
            <a:endParaRPr lang="en-US" sz="900" dirty="0"/>
          </a:p>
        </p:txBody>
      </p:sp>
      <p:sp>
        <p:nvSpPr>
          <p:cNvPr id="32" name="Shape 30"/>
          <p:cNvSpPr/>
          <p:nvPr/>
        </p:nvSpPr>
        <p:spPr>
          <a:xfrm>
            <a:off x="969645" y="5753100"/>
            <a:ext cx="164592" cy="164592"/>
          </a:xfrm>
          <a:prstGeom prst="rect">
            <a:avLst/>
          </a:prstGeom>
          <a:solidFill>
            <a:srgbClr val="2563EB"/>
          </a:solidFill>
          <a:ln w="10160">
            <a:solidFill>
              <a:srgbClr val="2563EB"/>
            </a:solidFill>
            <a:prstDash val="solid"/>
          </a:ln>
        </p:spPr>
        <p:txBody>
          <a:bodyPr/>
          <a:lstStyle/>
          <a:p>
            <a:endParaRPr lang="en-GB"/>
          </a:p>
        </p:txBody>
      </p:sp>
      <p:sp>
        <p:nvSpPr>
          <p:cNvPr id="33" name="Text 31"/>
          <p:cNvSpPr/>
          <p:nvPr/>
        </p:nvSpPr>
        <p:spPr>
          <a:xfrm>
            <a:off x="1198245" y="5734812"/>
            <a:ext cx="1234440" cy="201168"/>
          </a:xfrm>
          <a:prstGeom prst="rect">
            <a:avLst/>
          </a:prstGeom>
          <a:noFill/>
          <a:ln/>
        </p:spPr>
        <p:txBody>
          <a:bodyPr wrap="square" lIns="381" tIns="381" rIns="381" bIns="381" rtlCol="0" anchor="ctr">
            <a:normAutofit/>
          </a:bodyPr>
          <a:lstStyle/>
          <a:p>
            <a:pPr marL="0" indent="0" algn="l">
              <a:buNone/>
            </a:pPr>
            <a:r>
              <a:rPr lang="en-US" sz="850" dirty="0">
                <a:solidFill>
                  <a:srgbClr val="475569"/>
                </a:solidFill>
                <a:latin typeface="Aptos" pitchFamily="34" charset="0"/>
                <a:ea typeface="Aptos" pitchFamily="34" charset="-122"/>
                <a:cs typeface="Aptos" pitchFamily="34" charset="-120"/>
              </a:rPr>
              <a:t>training</a:t>
            </a:r>
            <a:endParaRPr lang="en-US" sz="850" dirty="0"/>
          </a:p>
        </p:txBody>
      </p:sp>
      <p:sp>
        <p:nvSpPr>
          <p:cNvPr id="34" name="Shape 32"/>
          <p:cNvSpPr/>
          <p:nvPr/>
        </p:nvSpPr>
        <p:spPr>
          <a:xfrm>
            <a:off x="2478405" y="5753100"/>
            <a:ext cx="164592" cy="164592"/>
          </a:xfrm>
          <a:prstGeom prst="rect">
            <a:avLst/>
          </a:prstGeom>
          <a:solidFill>
            <a:srgbClr val="F59E0B"/>
          </a:solidFill>
          <a:ln w="10160">
            <a:solidFill>
              <a:srgbClr val="F59E0B"/>
            </a:solidFill>
            <a:prstDash val="solid"/>
          </a:ln>
        </p:spPr>
        <p:txBody>
          <a:bodyPr/>
          <a:lstStyle/>
          <a:p>
            <a:endParaRPr lang="en-GB"/>
          </a:p>
        </p:txBody>
      </p:sp>
      <p:sp>
        <p:nvSpPr>
          <p:cNvPr id="35" name="Text 33"/>
          <p:cNvSpPr/>
          <p:nvPr/>
        </p:nvSpPr>
        <p:spPr>
          <a:xfrm>
            <a:off x="2707005" y="5734812"/>
            <a:ext cx="1234440" cy="201168"/>
          </a:xfrm>
          <a:prstGeom prst="rect">
            <a:avLst/>
          </a:prstGeom>
          <a:noFill/>
          <a:ln/>
        </p:spPr>
        <p:txBody>
          <a:bodyPr wrap="square" lIns="381" tIns="381" rIns="381" bIns="381" rtlCol="0" anchor="ctr">
            <a:normAutofit/>
          </a:bodyPr>
          <a:lstStyle/>
          <a:p>
            <a:pPr marL="0" indent="0" algn="l">
              <a:buNone/>
            </a:pPr>
            <a:r>
              <a:rPr lang="en-US" sz="850" dirty="0">
                <a:solidFill>
                  <a:srgbClr val="475569"/>
                </a:solidFill>
                <a:latin typeface="Aptos" pitchFamily="34" charset="0"/>
                <a:ea typeface="Aptos" pitchFamily="34" charset="-122"/>
                <a:cs typeface="Aptos" pitchFamily="34" charset="-120"/>
              </a:rPr>
              <a:t>validation</a:t>
            </a:r>
            <a:endParaRPr lang="en-US" sz="850" dirty="0"/>
          </a:p>
        </p:txBody>
      </p:sp>
      <p:sp>
        <p:nvSpPr>
          <p:cNvPr id="36" name="Shape 34"/>
          <p:cNvSpPr/>
          <p:nvPr/>
        </p:nvSpPr>
        <p:spPr>
          <a:xfrm>
            <a:off x="3987165" y="5753100"/>
            <a:ext cx="164592" cy="164592"/>
          </a:xfrm>
          <a:prstGeom prst="rect">
            <a:avLst/>
          </a:prstGeom>
          <a:solidFill>
            <a:srgbClr val="DC2626"/>
          </a:solidFill>
          <a:ln w="10160">
            <a:solidFill>
              <a:srgbClr val="DC2626"/>
            </a:solidFill>
            <a:prstDash val="solid"/>
          </a:ln>
        </p:spPr>
        <p:txBody>
          <a:bodyPr/>
          <a:lstStyle/>
          <a:p>
            <a:endParaRPr lang="en-GB"/>
          </a:p>
        </p:txBody>
      </p:sp>
      <p:sp>
        <p:nvSpPr>
          <p:cNvPr id="37" name="Text 35"/>
          <p:cNvSpPr/>
          <p:nvPr/>
        </p:nvSpPr>
        <p:spPr>
          <a:xfrm>
            <a:off x="4215765" y="5734812"/>
            <a:ext cx="1234440" cy="201168"/>
          </a:xfrm>
          <a:prstGeom prst="rect">
            <a:avLst/>
          </a:prstGeom>
          <a:noFill/>
          <a:ln/>
        </p:spPr>
        <p:txBody>
          <a:bodyPr wrap="square" lIns="381" tIns="381" rIns="381" bIns="381" rtlCol="0" anchor="ctr">
            <a:normAutofit/>
          </a:bodyPr>
          <a:lstStyle/>
          <a:p>
            <a:pPr marL="0" indent="0" algn="l">
              <a:buNone/>
            </a:pPr>
            <a:r>
              <a:rPr lang="en-US" sz="850" dirty="0">
                <a:solidFill>
                  <a:srgbClr val="475569"/>
                </a:solidFill>
                <a:latin typeface="Aptos" pitchFamily="34" charset="0"/>
                <a:ea typeface="Aptos" pitchFamily="34" charset="-122"/>
                <a:cs typeface="Aptos" pitchFamily="34" charset="-120"/>
              </a:rPr>
              <a:t>test</a:t>
            </a:r>
            <a:endParaRPr lang="en-US" sz="850" dirty="0"/>
          </a:p>
        </p:txBody>
      </p:sp>
      <p:sp>
        <p:nvSpPr>
          <p:cNvPr id="38" name="Shape 36"/>
          <p:cNvSpPr/>
          <p:nvPr/>
        </p:nvSpPr>
        <p:spPr>
          <a:xfrm>
            <a:off x="7324725" y="3924300"/>
            <a:ext cx="3657600" cy="1143000"/>
          </a:xfrm>
          <a:prstGeom prst="rect">
            <a:avLst/>
          </a:prstGeom>
          <a:solidFill>
            <a:srgbClr val="FFFFFF"/>
          </a:solidFill>
          <a:ln w="11430">
            <a:solidFill>
              <a:srgbClr val="CBD5E1"/>
            </a:solidFill>
            <a:prstDash val="solid"/>
          </a:ln>
        </p:spPr>
        <p:txBody>
          <a:bodyPr/>
          <a:lstStyle/>
          <a:p>
            <a:endParaRPr lang="en-GB"/>
          </a:p>
        </p:txBody>
      </p:sp>
      <p:sp>
        <p:nvSpPr>
          <p:cNvPr id="39" name="Shape 37"/>
          <p:cNvSpPr/>
          <p:nvPr/>
        </p:nvSpPr>
        <p:spPr>
          <a:xfrm>
            <a:off x="7434453" y="3924300"/>
            <a:ext cx="0" cy="1143000"/>
          </a:xfrm>
          <a:prstGeom prst="line">
            <a:avLst/>
          </a:prstGeom>
          <a:noFill/>
          <a:ln w="38100">
            <a:solidFill>
              <a:srgbClr val="DC2626"/>
            </a:solidFill>
            <a:prstDash val="solid"/>
          </a:ln>
        </p:spPr>
        <p:txBody>
          <a:bodyPr/>
          <a:lstStyle/>
          <a:p>
            <a:endParaRPr lang="en-GB"/>
          </a:p>
        </p:txBody>
      </p:sp>
      <p:sp>
        <p:nvSpPr>
          <p:cNvPr id="40" name="Text 38"/>
          <p:cNvSpPr/>
          <p:nvPr/>
        </p:nvSpPr>
        <p:spPr>
          <a:xfrm>
            <a:off x="7525893" y="3997452"/>
            <a:ext cx="3383280" cy="1014984"/>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Nearly identical windows around the same event are distributed across all partitions.</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504FF0E-B70B-6D2A-BEB0-F67DCD459234}"/>
              </a:ext>
            </a:extLst>
          </p:cNvPr>
          <p:cNvSpPr>
            <a:spLocks noGrp="1"/>
          </p:cNvSpPr>
          <p:nvPr>
            <p:ph type="title"/>
          </p:nvPr>
        </p:nvSpPr>
        <p:spPr/>
        <p:txBody>
          <a:bodyPr/>
          <a:lstStyle/>
          <a:p>
            <a:r>
              <a:rPr lang="en-GB" dirty="0"/>
              <a:t>The </a:t>
            </a:r>
            <a:r>
              <a:rPr lang="en-GB" dirty="0">
                <a:highlight>
                  <a:srgbClr val="FFFF00"/>
                </a:highlight>
              </a:rPr>
              <a:t>correct split-before-windowing workflow</a:t>
            </a:r>
          </a:p>
        </p:txBody>
      </p:sp>
      <p:sp>
        <p:nvSpPr>
          <p:cNvPr id="3" name="Segnaposto contenuto 2">
            <a:extLst>
              <a:ext uri="{FF2B5EF4-FFF2-40B4-BE49-F238E27FC236}">
                <a16:creationId xmlns:a16="http://schemas.microsoft.com/office/drawing/2014/main" id="{EEED4CCF-9633-C597-439D-8B36AB854F33}"/>
              </a:ext>
            </a:extLst>
          </p:cNvPr>
          <p:cNvSpPr>
            <a:spLocks noGrp="1"/>
          </p:cNvSpPr>
          <p:nvPr>
            <p:ph idx="1"/>
          </p:nvPr>
        </p:nvSpPr>
        <p:spPr/>
        <p:txBody>
          <a:bodyPr>
            <a:normAutofit/>
          </a:bodyPr>
          <a:lstStyle/>
          <a:p>
            <a:r>
              <a:rPr lang="en-GB" dirty="0"/>
              <a:t>A safer general procedure is:</a:t>
            </a:r>
          </a:p>
          <a:p>
            <a:pPr lvl="1"/>
            <a:r>
              <a:rPr lang="en-GB" dirty="0"/>
              <a:t>1. identify recordings, entities or temporal intervals</a:t>
            </a:r>
          </a:p>
          <a:p>
            <a:pPr lvl="1"/>
            <a:r>
              <a:rPr lang="en-GB" dirty="0"/>
              <a:t>2. assign them to training, validation and test</a:t>
            </a:r>
          </a:p>
          <a:p>
            <a:pPr lvl="1"/>
            <a:r>
              <a:rPr lang="en-GB" dirty="0"/>
              <a:t>3</a:t>
            </a:r>
            <a:r>
              <a:rPr lang="en-GB" dirty="0">
                <a:highlight>
                  <a:srgbClr val="FFFF00"/>
                </a:highlight>
              </a:rPr>
              <a:t>. generate windows separately within each partition</a:t>
            </a:r>
          </a:p>
          <a:p>
            <a:r>
              <a:rPr lang="en-GB" b="1" dirty="0"/>
              <a:t>Example: split by recording</a:t>
            </a:r>
          </a:p>
          <a:p>
            <a:pPr lvl="1"/>
            <a:r>
              <a:rPr lang="en-GB" dirty="0"/>
              <a:t>Recording 1 → training</a:t>
            </a:r>
          </a:p>
          <a:p>
            <a:pPr lvl="1"/>
            <a:r>
              <a:rPr lang="en-GB" dirty="0"/>
              <a:t>Recording 2 → training</a:t>
            </a:r>
          </a:p>
          <a:p>
            <a:pPr lvl="1"/>
            <a:r>
              <a:rPr lang="en-GB" dirty="0"/>
              <a:t>Recording 3 → validation</a:t>
            </a:r>
          </a:p>
          <a:p>
            <a:pPr lvl="1"/>
            <a:r>
              <a:rPr lang="en-GB" dirty="0"/>
              <a:t>Recording 4 → test</a:t>
            </a:r>
          </a:p>
          <a:p>
            <a:r>
              <a:rPr lang="en-GB" dirty="0"/>
              <a:t>Windows are generated only after the assignment.</a:t>
            </a:r>
          </a:p>
          <a:p>
            <a:endParaRPr lang="en-GB" dirty="0"/>
          </a:p>
        </p:txBody>
      </p:sp>
      <p:sp>
        <p:nvSpPr>
          <p:cNvPr id="5" name="CasellaDiTesto 4">
            <a:extLst>
              <a:ext uri="{FF2B5EF4-FFF2-40B4-BE49-F238E27FC236}">
                <a16:creationId xmlns:a16="http://schemas.microsoft.com/office/drawing/2014/main" id="{5DAEB782-DE2E-83A2-1DCB-64804CC8CAAA}"/>
              </a:ext>
            </a:extLst>
          </p:cNvPr>
          <p:cNvSpPr txBox="1"/>
          <p:nvPr/>
        </p:nvSpPr>
        <p:spPr>
          <a:xfrm>
            <a:off x="8030990" y="5022116"/>
            <a:ext cx="3341860" cy="1661993"/>
          </a:xfrm>
          <a:prstGeom prst="rect">
            <a:avLst/>
          </a:prstGeom>
          <a:noFill/>
        </p:spPr>
        <p:txBody>
          <a:bodyPr wrap="square">
            <a:spAutoFit/>
          </a:bodyPr>
          <a:lstStyle/>
          <a:p>
            <a:r>
              <a:rPr lang="en-GB" sz="1800" dirty="0"/>
              <a:t>Training windows:</a:t>
            </a:r>
          </a:p>
          <a:p>
            <a:pPr lvl="1"/>
            <a:r>
              <a:rPr lang="en-GB" sz="1600" dirty="0"/>
              <a:t>only from Recordings 1 and 2</a:t>
            </a:r>
          </a:p>
          <a:p>
            <a:r>
              <a:rPr lang="en-GB" sz="1800" dirty="0"/>
              <a:t>Validation windows:</a:t>
            </a:r>
          </a:p>
          <a:p>
            <a:pPr lvl="1"/>
            <a:r>
              <a:rPr lang="en-GB" sz="1600" dirty="0"/>
              <a:t>only from Recording 3</a:t>
            </a:r>
          </a:p>
          <a:p>
            <a:r>
              <a:rPr lang="en-GB" sz="1800" dirty="0"/>
              <a:t>Test windows:</a:t>
            </a:r>
          </a:p>
          <a:p>
            <a:pPr lvl="1"/>
            <a:r>
              <a:rPr lang="en-GB" sz="1600" dirty="0"/>
              <a:t>only from Recording 4</a:t>
            </a:r>
          </a:p>
        </p:txBody>
      </p:sp>
      <p:sp>
        <p:nvSpPr>
          <p:cNvPr id="6" name="Freccia a destra 5">
            <a:extLst>
              <a:ext uri="{FF2B5EF4-FFF2-40B4-BE49-F238E27FC236}">
                <a16:creationId xmlns:a16="http://schemas.microsoft.com/office/drawing/2014/main" id="{3456CD08-E2B4-5B6A-4B5D-5F9F67524D98}"/>
              </a:ext>
            </a:extLst>
          </p:cNvPr>
          <p:cNvSpPr/>
          <p:nvPr/>
        </p:nvSpPr>
        <p:spPr>
          <a:xfrm>
            <a:off x="6877050" y="5686425"/>
            <a:ext cx="781050" cy="35493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232477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E68D4F5-C9A6-4697-884E-F58F6E4C3339}"/>
              </a:ext>
            </a:extLst>
          </p:cNvPr>
          <p:cNvSpPr>
            <a:spLocks noGrp="1"/>
          </p:cNvSpPr>
          <p:nvPr>
            <p:ph type="title"/>
          </p:nvPr>
        </p:nvSpPr>
        <p:spPr/>
        <p:txBody>
          <a:bodyPr/>
          <a:lstStyle/>
          <a:p>
            <a:r>
              <a:rPr lang="it-IT" dirty="0" err="1"/>
              <a:t>Example</a:t>
            </a:r>
            <a:endParaRPr lang="en-GB" dirty="0"/>
          </a:p>
        </p:txBody>
      </p:sp>
      <p:sp>
        <p:nvSpPr>
          <p:cNvPr id="3" name="Segnaposto contenuto 2">
            <a:extLst>
              <a:ext uri="{FF2B5EF4-FFF2-40B4-BE49-F238E27FC236}">
                <a16:creationId xmlns:a16="http://schemas.microsoft.com/office/drawing/2014/main" id="{B8A7FCCD-A728-72D1-9E79-E8C0D53DEEA6}"/>
              </a:ext>
            </a:extLst>
          </p:cNvPr>
          <p:cNvSpPr>
            <a:spLocks noGrp="1"/>
          </p:cNvSpPr>
          <p:nvPr>
            <p:ph idx="1"/>
          </p:nvPr>
        </p:nvSpPr>
        <p:spPr/>
        <p:txBody>
          <a:bodyPr>
            <a:normAutofit/>
          </a:bodyPr>
          <a:lstStyle/>
          <a:p>
            <a:r>
              <a:rPr lang="en-GB" b="1" dirty="0"/>
              <a:t>Example: </a:t>
            </a:r>
            <a:r>
              <a:rPr lang="en-GB" b="1" dirty="0">
                <a:highlight>
                  <a:srgbClr val="FFFF00"/>
                </a:highlight>
              </a:rPr>
              <a:t>one long series</a:t>
            </a:r>
          </a:p>
          <a:p>
            <a:r>
              <a:rPr lang="en-GB" dirty="0"/>
              <a:t>| training interval | validation interval | test interval |</a:t>
            </a:r>
          </a:p>
          <a:p>
            <a:r>
              <a:rPr lang="en-GB" dirty="0"/>
              <a:t>Window generation is performed independently within each interval.</a:t>
            </a:r>
          </a:p>
          <a:p>
            <a:r>
              <a:rPr lang="en-GB" dirty="0"/>
              <a:t>No window is allowed to cross a partition boundary.</a:t>
            </a:r>
          </a:p>
          <a:p>
            <a:endParaRPr lang="en-GB" b="1" dirty="0"/>
          </a:p>
          <a:p>
            <a:r>
              <a:rPr lang="en-GB" b="1" dirty="0"/>
              <a:t>Advantages</a:t>
            </a:r>
          </a:p>
          <a:p>
            <a:pPr lvl="1"/>
            <a:r>
              <a:rPr lang="en-GB" dirty="0"/>
              <a:t>raw observations are not shared across partitions;</a:t>
            </a:r>
          </a:p>
          <a:p>
            <a:pPr lvl="1"/>
            <a:r>
              <a:rPr lang="en-GB" dirty="0"/>
              <a:t>events are confined to one partition;</a:t>
            </a:r>
          </a:p>
          <a:p>
            <a:pPr lvl="1"/>
            <a:r>
              <a:rPr lang="en-GB" dirty="0"/>
              <a:t>target periods are easier to control;</a:t>
            </a:r>
          </a:p>
          <a:p>
            <a:pPr lvl="1"/>
            <a:r>
              <a:rPr lang="en-GB" dirty="0"/>
              <a:t>evaluation better reflects future or unseen data.</a:t>
            </a:r>
          </a:p>
          <a:p>
            <a:endParaRPr lang="en-GB" dirty="0"/>
          </a:p>
        </p:txBody>
      </p:sp>
      <p:sp>
        <p:nvSpPr>
          <p:cNvPr id="5" name="CasellaDiTesto 4">
            <a:extLst>
              <a:ext uri="{FF2B5EF4-FFF2-40B4-BE49-F238E27FC236}">
                <a16:creationId xmlns:a16="http://schemas.microsoft.com/office/drawing/2014/main" id="{3730231F-588B-94C3-AA2A-58E946E4B672}"/>
              </a:ext>
            </a:extLst>
          </p:cNvPr>
          <p:cNvSpPr txBox="1"/>
          <p:nvPr/>
        </p:nvSpPr>
        <p:spPr>
          <a:xfrm>
            <a:off x="8362949" y="5625220"/>
            <a:ext cx="3614737" cy="1200329"/>
          </a:xfrm>
          <a:prstGeom prst="rect">
            <a:avLst/>
          </a:prstGeom>
          <a:noFill/>
        </p:spPr>
        <p:txBody>
          <a:bodyPr wrap="square">
            <a:spAutoFit/>
          </a:bodyPr>
          <a:lstStyle/>
          <a:p>
            <a:r>
              <a:rPr lang="en-GB" sz="1800" b="1" dirty="0">
                <a:highlight>
                  <a:srgbClr val="FFFF00"/>
                </a:highlight>
              </a:rPr>
              <a:t>Split the highest-level independent units first; generate lower-level samples afterwards.</a:t>
            </a:r>
          </a:p>
        </p:txBody>
      </p:sp>
    </p:spTree>
    <p:extLst>
      <p:ext uri="{BB962C8B-B14F-4D97-AF65-F5344CB8AC3E}">
        <p14:creationId xmlns:p14="http://schemas.microsoft.com/office/powerpoint/2010/main" val="8074187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Correct workflow: split first, window afterwards</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Define independent units or time intervals before generating samples.</a:t>
            </a:r>
            <a:endParaRPr lang="en-US" sz="1150" dirty="0"/>
          </a:p>
        </p:txBody>
      </p:sp>
      <p:sp>
        <p:nvSpPr>
          <p:cNvPr id="6" name="Shape 4"/>
          <p:cNvSpPr/>
          <p:nvPr/>
        </p:nvSpPr>
        <p:spPr>
          <a:xfrm>
            <a:off x="731520" y="1005840"/>
            <a:ext cx="2194560" cy="475488"/>
          </a:xfrm>
          <a:prstGeom prst="roundRect">
            <a:avLst>
              <a:gd name="adj" fmla="val 15385"/>
            </a:avLst>
          </a:prstGeom>
          <a:solidFill>
            <a:srgbClr val="1E293B"/>
          </a:solidFill>
          <a:ln w="8890">
            <a:solidFill>
              <a:srgbClr val="1E293B"/>
            </a:solidFill>
            <a:prstDash val="solid"/>
          </a:ln>
        </p:spPr>
        <p:txBody>
          <a:bodyPr/>
          <a:lstStyle/>
          <a:p>
            <a:endParaRPr lang="en-GB"/>
          </a:p>
        </p:txBody>
      </p:sp>
      <p:sp>
        <p:nvSpPr>
          <p:cNvPr id="7" name="Text 5"/>
          <p:cNvSpPr/>
          <p:nvPr/>
        </p:nvSpPr>
        <p:spPr>
          <a:xfrm>
            <a:off x="777240" y="1091428"/>
            <a:ext cx="2103120" cy="304312"/>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Original recordings</a:t>
            </a:r>
            <a:endParaRPr lang="en-US" sz="1050" dirty="0"/>
          </a:p>
        </p:txBody>
      </p:sp>
      <p:sp>
        <p:nvSpPr>
          <p:cNvPr id="8" name="Shape 6"/>
          <p:cNvSpPr/>
          <p:nvPr/>
        </p:nvSpPr>
        <p:spPr>
          <a:xfrm>
            <a:off x="3017520" y="1243584"/>
            <a:ext cx="548640" cy="0"/>
          </a:xfrm>
          <a:prstGeom prst="line">
            <a:avLst/>
          </a:prstGeom>
          <a:noFill/>
          <a:ln w="15240">
            <a:solidFill>
              <a:srgbClr val="94A3B8"/>
            </a:solidFill>
            <a:prstDash val="solid"/>
            <a:headEnd type="none"/>
            <a:tailEnd type="triangle"/>
          </a:ln>
        </p:spPr>
        <p:txBody>
          <a:bodyPr/>
          <a:lstStyle/>
          <a:p>
            <a:endParaRPr lang="en-GB"/>
          </a:p>
        </p:txBody>
      </p:sp>
      <p:sp>
        <p:nvSpPr>
          <p:cNvPr id="9" name="Shape 7"/>
          <p:cNvSpPr/>
          <p:nvPr/>
        </p:nvSpPr>
        <p:spPr>
          <a:xfrm>
            <a:off x="3657600" y="1005840"/>
            <a:ext cx="2743200" cy="475488"/>
          </a:xfrm>
          <a:prstGeom prst="roundRect">
            <a:avLst>
              <a:gd name="adj" fmla="val 15385"/>
            </a:avLst>
          </a:prstGeom>
          <a:solidFill>
            <a:srgbClr val="7C3AED"/>
          </a:solidFill>
          <a:ln w="8890">
            <a:solidFill>
              <a:srgbClr val="7C3AED"/>
            </a:solidFill>
            <a:prstDash val="solid"/>
          </a:ln>
        </p:spPr>
        <p:txBody>
          <a:bodyPr/>
          <a:lstStyle/>
          <a:p>
            <a:endParaRPr lang="en-GB"/>
          </a:p>
        </p:txBody>
      </p:sp>
      <p:sp>
        <p:nvSpPr>
          <p:cNvPr id="10" name="Text 8"/>
          <p:cNvSpPr/>
          <p:nvPr/>
        </p:nvSpPr>
        <p:spPr>
          <a:xfrm>
            <a:off x="3703320" y="1091428"/>
            <a:ext cx="2651760" cy="304312"/>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Grouped / temporal split</a:t>
            </a:r>
            <a:endParaRPr lang="en-US" sz="1050" dirty="0"/>
          </a:p>
        </p:txBody>
      </p:sp>
      <p:sp>
        <p:nvSpPr>
          <p:cNvPr id="11" name="Shape 9"/>
          <p:cNvSpPr/>
          <p:nvPr/>
        </p:nvSpPr>
        <p:spPr>
          <a:xfrm>
            <a:off x="6492240" y="1243584"/>
            <a:ext cx="548640" cy="0"/>
          </a:xfrm>
          <a:prstGeom prst="line">
            <a:avLst/>
          </a:prstGeom>
          <a:noFill/>
          <a:ln w="15240">
            <a:solidFill>
              <a:srgbClr val="94A3B8"/>
            </a:solidFill>
            <a:prstDash val="solid"/>
            <a:headEnd type="none"/>
            <a:tailEnd type="triangle"/>
          </a:ln>
        </p:spPr>
        <p:txBody>
          <a:bodyPr/>
          <a:lstStyle/>
          <a:p>
            <a:endParaRPr lang="en-GB"/>
          </a:p>
        </p:txBody>
      </p:sp>
      <p:sp>
        <p:nvSpPr>
          <p:cNvPr id="12" name="Shape 10"/>
          <p:cNvSpPr/>
          <p:nvPr/>
        </p:nvSpPr>
        <p:spPr>
          <a:xfrm>
            <a:off x="7132320" y="1005840"/>
            <a:ext cx="3566160" cy="475488"/>
          </a:xfrm>
          <a:prstGeom prst="roundRect">
            <a:avLst>
              <a:gd name="adj" fmla="val 15385"/>
            </a:avLst>
          </a:prstGeom>
          <a:solidFill>
            <a:srgbClr val="0F766E"/>
          </a:solidFill>
          <a:ln w="8890">
            <a:solidFill>
              <a:srgbClr val="0F766E"/>
            </a:solidFill>
            <a:prstDash val="solid"/>
          </a:ln>
        </p:spPr>
        <p:txBody>
          <a:bodyPr/>
          <a:lstStyle/>
          <a:p>
            <a:endParaRPr lang="en-GB"/>
          </a:p>
        </p:txBody>
      </p:sp>
      <p:sp>
        <p:nvSpPr>
          <p:cNvPr id="13" name="Text 11"/>
          <p:cNvSpPr/>
          <p:nvPr/>
        </p:nvSpPr>
        <p:spPr>
          <a:xfrm>
            <a:off x="7178040" y="1091428"/>
            <a:ext cx="3474720" cy="304312"/>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Generate windows within each partition</a:t>
            </a:r>
            <a:endParaRPr lang="en-US" sz="1050" dirty="0"/>
          </a:p>
        </p:txBody>
      </p:sp>
      <p:sp>
        <p:nvSpPr>
          <p:cNvPr id="14" name="Shape 12"/>
          <p:cNvSpPr/>
          <p:nvPr/>
        </p:nvSpPr>
        <p:spPr>
          <a:xfrm>
            <a:off x="914400" y="2148840"/>
            <a:ext cx="2743200" cy="2331720"/>
          </a:xfrm>
          <a:prstGeom prst="rect">
            <a:avLst/>
          </a:prstGeom>
          <a:solidFill>
            <a:srgbClr val="FFFFFF"/>
          </a:solidFill>
          <a:ln w="19050">
            <a:solidFill>
              <a:srgbClr val="2563EB"/>
            </a:solidFill>
            <a:prstDash val="solid"/>
          </a:ln>
        </p:spPr>
        <p:txBody>
          <a:bodyPr/>
          <a:lstStyle/>
          <a:p>
            <a:endParaRPr lang="en-GB"/>
          </a:p>
        </p:txBody>
      </p:sp>
      <p:sp>
        <p:nvSpPr>
          <p:cNvPr id="15" name="Text 13"/>
          <p:cNvSpPr/>
          <p:nvPr/>
        </p:nvSpPr>
        <p:spPr>
          <a:xfrm>
            <a:off x="1051560" y="2304288"/>
            <a:ext cx="2468880" cy="228600"/>
          </a:xfrm>
          <a:prstGeom prst="rect">
            <a:avLst/>
          </a:prstGeom>
          <a:noFill/>
          <a:ln/>
        </p:spPr>
        <p:txBody>
          <a:bodyPr wrap="square" lIns="381" tIns="381" rIns="381" bIns="381" rtlCol="0" anchor="ctr">
            <a:normAutofit lnSpcReduction="10000"/>
          </a:bodyPr>
          <a:lstStyle/>
          <a:p>
            <a:pPr marL="0" indent="0" algn="ctr">
              <a:buNone/>
            </a:pPr>
            <a:r>
              <a:rPr lang="en-US" sz="1500" b="1" dirty="0">
                <a:solidFill>
                  <a:srgbClr val="2563EB"/>
                </a:solidFill>
                <a:latin typeface="Aptos" pitchFamily="34" charset="0"/>
                <a:ea typeface="Aptos" pitchFamily="34" charset="-122"/>
                <a:cs typeface="Aptos" pitchFamily="34" charset="-120"/>
              </a:rPr>
              <a:t>Training</a:t>
            </a:r>
            <a:endParaRPr lang="en-US" sz="1500" dirty="0"/>
          </a:p>
        </p:txBody>
      </p:sp>
      <p:sp>
        <p:nvSpPr>
          <p:cNvPr id="16" name="Shape 14"/>
          <p:cNvSpPr/>
          <p:nvPr/>
        </p:nvSpPr>
        <p:spPr>
          <a:xfrm>
            <a:off x="1234440" y="2743200"/>
            <a:ext cx="1737360" cy="256032"/>
          </a:xfrm>
          <a:prstGeom prst="rect">
            <a:avLst/>
          </a:prstGeom>
          <a:solidFill>
            <a:srgbClr val="2563EB"/>
          </a:solidFill>
          <a:ln w="10160">
            <a:solidFill>
              <a:srgbClr val="2563EB"/>
            </a:solidFill>
            <a:prstDash val="solid"/>
          </a:ln>
        </p:spPr>
        <p:txBody>
          <a:bodyPr/>
          <a:lstStyle/>
          <a:p>
            <a:endParaRPr lang="en-GB"/>
          </a:p>
        </p:txBody>
      </p:sp>
      <p:sp>
        <p:nvSpPr>
          <p:cNvPr id="17" name="Text 15"/>
          <p:cNvSpPr/>
          <p:nvPr/>
        </p:nvSpPr>
        <p:spPr>
          <a:xfrm>
            <a:off x="1271016" y="2789286"/>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1</a:t>
            </a:r>
            <a:endParaRPr lang="en-US" sz="800" dirty="0"/>
          </a:p>
        </p:txBody>
      </p:sp>
      <p:sp>
        <p:nvSpPr>
          <p:cNvPr id="18" name="Shape 16"/>
          <p:cNvSpPr/>
          <p:nvPr/>
        </p:nvSpPr>
        <p:spPr>
          <a:xfrm>
            <a:off x="1417320" y="3127248"/>
            <a:ext cx="1737360" cy="256032"/>
          </a:xfrm>
          <a:prstGeom prst="rect">
            <a:avLst/>
          </a:prstGeom>
          <a:solidFill>
            <a:srgbClr val="2563EB"/>
          </a:solidFill>
          <a:ln w="10160">
            <a:solidFill>
              <a:srgbClr val="2563EB"/>
            </a:solidFill>
            <a:prstDash val="solid"/>
          </a:ln>
        </p:spPr>
        <p:txBody>
          <a:bodyPr/>
          <a:lstStyle/>
          <a:p>
            <a:endParaRPr lang="en-GB"/>
          </a:p>
        </p:txBody>
      </p:sp>
      <p:sp>
        <p:nvSpPr>
          <p:cNvPr id="19" name="Text 17"/>
          <p:cNvSpPr/>
          <p:nvPr/>
        </p:nvSpPr>
        <p:spPr>
          <a:xfrm>
            <a:off x="1453896" y="3173334"/>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2</a:t>
            </a:r>
            <a:endParaRPr lang="en-US" sz="800" dirty="0"/>
          </a:p>
        </p:txBody>
      </p:sp>
      <p:sp>
        <p:nvSpPr>
          <p:cNvPr id="20" name="Shape 18"/>
          <p:cNvSpPr/>
          <p:nvPr/>
        </p:nvSpPr>
        <p:spPr>
          <a:xfrm>
            <a:off x="1600200" y="3511296"/>
            <a:ext cx="1737360" cy="256032"/>
          </a:xfrm>
          <a:prstGeom prst="rect">
            <a:avLst/>
          </a:prstGeom>
          <a:solidFill>
            <a:srgbClr val="2563EB"/>
          </a:solidFill>
          <a:ln w="10160">
            <a:solidFill>
              <a:srgbClr val="2563EB"/>
            </a:solidFill>
            <a:prstDash val="solid"/>
          </a:ln>
        </p:spPr>
        <p:txBody>
          <a:bodyPr/>
          <a:lstStyle/>
          <a:p>
            <a:endParaRPr lang="en-GB"/>
          </a:p>
        </p:txBody>
      </p:sp>
      <p:sp>
        <p:nvSpPr>
          <p:cNvPr id="21" name="Text 19"/>
          <p:cNvSpPr/>
          <p:nvPr/>
        </p:nvSpPr>
        <p:spPr>
          <a:xfrm>
            <a:off x="1636776" y="3557382"/>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3</a:t>
            </a:r>
            <a:endParaRPr lang="en-US" sz="800" dirty="0"/>
          </a:p>
        </p:txBody>
      </p:sp>
      <p:sp>
        <p:nvSpPr>
          <p:cNvPr id="22" name="Shape 20"/>
          <p:cNvSpPr/>
          <p:nvPr/>
        </p:nvSpPr>
        <p:spPr>
          <a:xfrm>
            <a:off x="4297680" y="2148840"/>
            <a:ext cx="2743200" cy="2331720"/>
          </a:xfrm>
          <a:prstGeom prst="rect">
            <a:avLst/>
          </a:prstGeom>
          <a:solidFill>
            <a:srgbClr val="FFFFFF"/>
          </a:solidFill>
          <a:ln w="19050">
            <a:solidFill>
              <a:srgbClr val="F59E0B"/>
            </a:solidFill>
            <a:prstDash val="solid"/>
          </a:ln>
        </p:spPr>
        <p:txBody>
          <a:bodyPr/>
          <a:lstStyle/>
          <a:p>
            <a:endParaRPr lang="en-GB"/>
          </a:p>
        </p:txBody>
      </p:sp>
      <p:sp>
        <p:nvSpPr>
          <p:cNvPr id="23" name="Text 21"/>
          <p:cNvSpPr/>
          <p:nvPr/>
        </p:nvSpPr>
        <p:spPr>
          <a:xfrm>
            <a:off x="4434840" y="2304288"/>
            <a:ext cx="2468880" cy="228600"/>
          </a:xfrm>
          <a:prstGeom prst="rect">
            <a:avLst/>
          </a:prstGeom>
          <a:noFill/>
          <a:ln/>
        </p:spPr>
        <p:txBody>
          <a:bodyPr wrap="square" lIns="381" tIns="381" rIns="381" bIns="381" rtlCol="0" anchor="ctr">
            <a:normAutofit lnSpcReduction="10000"/>
          </a:bodyPr>
          <a:lstStyle/>
          <a:p>
            <a:pPr marL="0" indent="0" algn="ctr">
              <a:buNone/>
            </a:pPr>
            <a:r>
              <a:rPr lang="en-US" sz="1500" b="1" dirty="0">
                <a:solidFill>
                  <a:srgbClr val="F59E0B"/>
                </a:solidFill>
                <a:latin typeface="Aptos" pitchFamily="34" charset="0"/>
                <a:ea typeface="Aptos" pitchFamily="34" charset="-122"/>
                <a:cs typeface="Aptos" pitchFamily="34" charset="-120"/>
              </a:rPr>
              <a:t>Validation</a:t>
            </a:r>
            <a:endParaRPr lang="en-US" sz="1500" dirty="0"/>
          </a:p>
        </p:txBody>
      </p:sp>
      <p:sp>
        <p:nvSpPr>
          <p:cNvPr id="24" name="Shape 22"/>
          <p:cNvSpPr/>
          <p:nvPr/>
        </p:nvSpPr>
        <p:spPr>
          <a:xfrm>
            <a:off x="4617720" y="2743200"/>
            <a:ext cx="1737360" cy="256032"/>
          </a:xfrm>
          <a:prstGeom prst="rect">
            <a:avLst/>
          </a:prstGeom>
          <a:solidFill>
            <a:srgbClr val="F59E0B"/>
          </a:solidFill>
          <a:ln w="10160">
            <a:solidFill>
              <a:srgbClr val="F59E0B"/>
            </a:solidFill>
            <a:prstDash val="solid"/>
          </a:ln>
        </p:spPr>
        <p:txBody>
          <a:bodyPr/>
          <a:lstStyle/>
          <a:p>
            <a:endParaRPr lang="en-GB"/>
          </a:p>
        </p:txBody>
      </p:sp>
      <p:sp>
        <p:nvSpPr>
          <p:cNvPr id="25" name="Text 23"/>
          <p:cNvSpPr/>
          <p:nvPr/>
        </p:nvSpPr>
        <p:spPr>
          <a:xfrm>
            <a:off x="4654296" y="2789286"/>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1</a:t>
            </a:r>
            <a:endParaRPr lang="en-US" sz="800" dirty="0"/>
          </a:p>
        </p:txBody>
      </p:sp>
      <p:sp>
        <p:nvSpPr>
          <p:cNvPr id="26" name="Shape 24"/>
          <p:cNvSpPr/>
          <p:nvPr/>
        </p:nvSpPr>
        <p:spPr>
          <a:xfrm>
            <a:off x="4800600" y="3127248"/>
            <a:ext cx="1737360" cy="256032"/>
          </a:xfrm>
          <a:prstGeom prst="rect">
            <a:avLst/>
          </a:prstGeom>
          <a:solidFill>
            <a:srgbClr val="F59E0B"/>
          </a:solidFill>
          <a:ln w="10160">
            <a:solidFill>
              <a:srgbClr val="F59E0B"/>
            </a:solidFill>
            <a:prstDash val="solid"/>
          </a:ln>
        </p:spPr>
        <p:txBody>
          <a:bodyPr/>
          <a:lstStyle/>
          <a:p>
            <a:endParaRPr lang="en-GB"/>
          </a:p>
        </p:txBody>
      </p:sp>
      <p:sp>
        <p:nvSpPr>
          <p:cNvPr id="27" name="Text 25"/>
          <p:cNvSpPr/>
          <p:nvPr/>
        </p:nvSpPr>
        <p:spPr>
          <a:xfrm>
            <a:off x="4837176" y="3173334"/>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2</a:t>
            </a:r>
            <a:endParaRPr lang="en-US" sz="800" dirty="0"/>
          </a:p>
        </p:txBody>
      </p:sp>
      <p:sp>
        <p:nvSpPr>
          <p:cNvPr id="28" name="Shape 26"/>
          <p:cNvSpPr/>
          <p:nvPr/>
        </p:nvSpPr>
        <p:spPr>
          <a:xfrm>
            <a:off x="4983480" y="3511296"/>
            <a:ext cx="1737360" cy="256032"/>
          </a:xfrm>
          <a:prstGeom prst="rect">
            <a:avLst/>
          </a:prstGeom>
          <a:solidFill>
            <a:srgbClr val="F59E0B"/>
          </a:solidFill>
          <a:ln w="10160">
            <a:solidFill>
              <a:srgbClr val="F59E0B"/>
            </a:solidFill>
            <a:prstDash val="solid"/>
          </a:ln>
        </p:spPr>
        <p:txBody>
          <a:bodyPr/>
          <a:lstStyle/>
          <a:p>
            <a:endParaRPr lang="en-GB"/>
          </a:p>
        </p:txBody>
      </p:sp>
      <p:sp>
        <p:nvSpPr>
          <p:cNvPr id="29" name="Text 27"/>
          <p:cNvSpPr/>
          <p:nvPr/>
        </p:nvSpPr>
        <p:spPr>
          <a:xfrm>
            <a:off x="5020056" y="3557382"/>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3</a:t>
            </a:r>
            <a:endParaRPr lang="en-US" sz="800" dirty="0"/>
          </a:p>
        </p:txBody>
      </p:sp>
      <p:sp>
        <p:nvSpPr>
          <p:cNvPr id="30" name="Shape 28"/>
          <p:cNvSpPr/>
          <p:nvPr/>
        </p:nvSpPr>
        <p:spPr>
          <a:xfrm>
            <a:off x="7680960" y="2148840"/>
            <a:ext cx="2743200" cy="2331720"/>
          </a:xfrm>
          <a:prstGeom prst="rect">
            <a:avLst/>
          </a:prstGeom>
          <a:solidFill>
            <a:srgbClr val="FFFFFF"/>
          </a:solidFill>
          <a:ln w="19050">
            <a:solidFill>
              <a:srgbClr val="DC2626"/>
            </a:solidFill>
            <a:prstDash val="solid"/>
          </a:ln>
        </p:spPr>
        <p:txBody>
          <a:bodyPr/>
          <a:lstStyle/>
          <a:p>
            <a:endParaRPr lang="en-GB"/>
          </a:p>
        </p:txBody>
      </p:sp>
      <p:sp>
        <p:nvSpPr>
          <p:cNvPr id="31" name="Text 29"/>
          <p:cNvSpPr/>
          <p:nvPr/>
        </p:nvSpPr>
        <p:spPr>
          <a:xfrm>
            <a:off x="7818120" y="2304288"/>
            <a:ext cx="2468880" cy="228600"/>
          </a:xfrm>
          <a:prstGeom prst="rect">
            <a:avLst/>
          </a:prstGeom>
          <a:noFill/>
          <a:ln/>
        </p:spPr>
        <p:txBody>
          <a:bodyPr wrap="square" lIns="381" tIns="381" rIns="381" bIns="381" rtlCol="0" anchor="ctr">
            <a:normAutofit lnSpcReduction="10000"/>
          </a:bodyPr>
          <a:lstStyle/>
          <a:p>
            <a:pPr marL="0" indent="0" algn="ctr">
              <a:buNone/>
            </a:pPr>
            <a:r>
              <a:rPr lang="en-US" sz="1500" b="1" dirty="0">
                <a:solidFill>
                  <a:srgbClr val="DC2626"/>
                </a:solidFill>
                <a:latin typeface="Aptos" pitchFamily="34" charset="0"/>
                <a:ea typeface="Aptos" pitchFamily="34" charset="-122"/>
                <a:cs typeface="Aptos" pitchFamily="34" charset="-120"/>
              </a:rPr>
              <a:t>Test</a:t>
            </a:r>
            <a:endParaRPr lang="en-US" sz="1500" dirty="0"/>
          </a:p>
        </p:txBody>
      </p:sp>
      <p:sp>
        <p:nvSpPr>
          <p:cNvPr id="32" name="Shape 30"/>
          <p:cNvSpPr/>
          <p:nvPr/>
        </p:nvSpPr>
        <p:spPr>
          <a:xfrm>
            <a:off x="8001000" y="2743200"/>
            <a:ext cx="1737360" cy="256032"/>
          </a:xfrm>
          <a:prstGeom prst="rect">
            <a:avLst/>
          </a:prstGeom>
          <a:solidFill>
            <a:srgbClr val="DC2626"/>
          </a:solidFill>
          <a:ln w="10160">
            <a:solidFill>
              <a:srgbClr val="DC2626"/>
            </a:solidFill>
            <a:prstDash val="solid"/>
          </a:ln>
        </p:spPr>
        <p:txBody>
          <a:bodyPr/>
          <a:lstStyle/>
          <a:p>
            <a:endParaRPr lang="en-GB"/>
          </a:p>
        </p:txBody>
      </p:sp>
      <p:sp>
        <p:nvSpPr>
          <p:cNvPr id="33" name="Text 31"/>
          <p:cNvSpPr/>
          <p:nvPr/>
        </p:nvSpPr>
        <p:spPr>
          <a:xfrm>
            <a:off x="8037576" y="2789286"/>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1</a:t>
            </a:r>
            <a:endParaRPr lang="en-US" sz="800" dirty="0"/>
          </a:p>
        </p:txBody>
      </p:sp>
      <p:sp>
        <p:nvSpPr>
          <p:cNvPr id="34" name="Shape 32"/>
          <p:cNvSpPr/>
          <p:nvPr/>
        </p:nvSpPr>
        <p:spPr>
          <a:xfrm>
            <a:off x="8183880" y="3127248"/>
            <a:ext cx="1737360" cy="256032"/>
          </a:xfrm>
          <a:prstGeom prst="rect">
            <a:avLst/>
          </a:prstGeom>
          <a:solidFill>
            <a:srgbClr val="DC2626"/>
          </a:solidFill>
          <a:ln w="10160">
            <a:solidFill>
              <a:srgbClr val="DC2626"/>
            </a:solidFill>
            <a:prstDash val="solid"/>
          </a:ln>
        </p:spPr>
        <p:txBody>
          <a:bodyPr/>
          <a:lstStyle/>
          <a:p>
            <a:endParaRPr lang="en-GB"/>
          </a:p>
        </p:txBody>
      </p:sp>
      <p:sp>
        <p:nvSpPr>
          <p:cNvPr id="35" name="Text 33"/>
          <p:cNvSpPr/>
          <p:nvPr/>
        </p:nvSpPr>
        <p:spPr>
          <a:xfrm>
            <a:off x="8220456" y="3173334"/>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2</a:t>
            </a:r>
            <a:endParaRPr lang="en-US" sz="800" dirty="0"/>
          </a:p>
        </p:txBody>
      </p:sp>
      <p:sp>
        <p:nvSpPr>
          <p:cNvPr id="36" name="Shape 34"/>
          <p:cNvSpPr/>
          <p:nvPr/>
        </p:nvSpPr>
        <p:spPr>
          <a:xfrm>
            <a:off x="8366760" y="3511296"/>
            <a:ext cx="1737360" cy="256032"/>
          </a:xfrm>
          <a:prstGeom prst="rect">
            <a:avLst/>
          </a:prstGeom>
          <a:solidFill>
            <a:srgbClr val="DC2626"/>
          </a:solidFill>
          <a:ln w="10160">
            <a:solidFill>
              <a:srgbClr val="DC2626"/>
            </a:solidFill>
            <a:prstDash val="solid"/>
          </a:ln>
        </p:spPr>
        <p:txBody>
          <a:bodyPr/>
          <a:lstStyle/>
          <a:p>
            <a:endParaRPr lang="en-GB"/>
          </a:p>
        </p:txBody>
      </p:sp>
      <p:sp>
        <p:nvSpPr>
          <p:cNvPr id="37" name="Text 35"/>
          <p:cNvSpPr/>
          <p:nvPr/>
        </p:nvSpPr>
        <p:spPr>
          <a:xfrm>
            <a:off x="8403336" y="3557382"/>
            <a:ext cx="1664208" cy="163860"/>
          </a:xfrm>
          <a:prstGeom prst="rect">
            <a:avLst/>
          </a:prstGeom>
          <a:noFill/>
          <a:ln/>
        </p:spPr>
        <p:txBody>
          <a:bodyPr wrap="square" lIns="381" tIns="381" rIns="381" bIns="381"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window 3</a:t>
            </a:r>
            <a:endParaRPr lang="en-US" sz="800" dirty="0"/>
          </a:p>
        </p:txBody>
      </p:sp>
      <p:sp>
        <p:nvSpPr>
          <p:cNvPr id="38" name="Shape 36"/>
          <p:cNvSpPr/>
          <p:nvPr/>
        </p:nvSpPr>
        <p:spPr>
          <a:xfrm>
            <a:off x="3611880" y="3291840"/>
            <a:ext cx="457200" cy="0"/>
          </a:xfrm>
          <a:prstGeom prst="line">
            <a:avLst/>
          </a:prstGeom>
          <a:noFill/>
          <a:ln w="15240">
            <a:solidFill>
              <a:srgbClr val="CBD5E1"/>
            </a:solidFill>
            <a:prstDash val="solid"/>
            <a:headEnd type="none"/>
            <a:tailEnd type="none"/>
          </a:ln>
        </p:spPr>
        <p:txBody>
          <a:bodyPr/>
          <a:lstStyle/>
          <a:p>
            <a:endParaRPr lang="en-GB"/>
          </a:p>
        </p:txBody>
      </p:sp>
      <p:sp>
        <p:nvSpPr>
          <p:cNvPr id="39" name="Shape 37"/>
          <p:cNvSpPr/>
          <p:nvPr/>
        </p:nvSpPr>
        <p:spPr>
          <a:xfrm>
            <a:off x="6995160" y="3291840"/>
            <a:ext cx="457200" cy="0"/>
          </a:xfrm>
          <a:prstGeom prst="line">
            <a:avLst/>
          </a:prstGeom>
          <a:noFill/>
          <a:ln w="15240">
            <a:solidFill>
              <a:srgbClr val="CBD5E1"/>
            </a:solidFill>
            <a:prstDash val="solid"/>
            <a:headEnd type="none"/>
            <a:tailEnd type="none"/>
          </a:ln>
        </p:spPr>
        <p:txBody>
          <a:bodyPr/>
          <a:lstStyle/>
          <a:p>
            <a:endParaRPr lang="en-GB"/>
          </a:p>
        </p:txBody>
      </p:sp>
      <p:sp>
        <p:nvSpPr>
          <p:cNvPr id="40" name="Shape 38"/>
          <p:cNvSpPr/>
          <p:nvPr/>
        </p:nvSpPr>
        <p:spPr>
          <a:xfrm>
            <a:off x="1097280" y="5074920"/>
            <a:ext cx="9784080" cy="658368"/>
          </a:xfrm>
          <a:prstGeom prst="rect">
            <a:avLst/>
          </a:prstGeom>
          <a:solidFill>
            <a:srgbClr val="FFFFFF"/>
          </a:solidFill>
          <a:ln w="11430">
            <a:solidFill>
              <a:srgbClr val="CBD5E1"/>
            </a:solidFill>
            <a:prstDash val="solid"/>
          </a:ln>
        </p:spPr>
        <p:txBody>
          <a:bodyPr/>
          <a:lstStyle/>
          <a:p>
            <a:endParaRPr lang="en-GB"/>
          </a:p>
        </p:txBody>
      </p:sp>
      <p:sp>
        <p:nvSpPr>
          <p:cNvPr id="41" name="Shape 39"/>
          <p:cNvSpPr/>
          <p:nvPr/>
        </p:nvSpPr>
        <p:spPr>
          <a:xfrm>
            <a:off x="1207008" y="5074920"/>
            <a:ext cx="0" cy="658368"/>
          </a:xfrm>
          <a:prstGeom prst="line">
            <a:avLst/>
          </a:prstGeom>
          <a:noFill/>
          <a:ln w="38100">
            <a:solidFill>
              <a:srgbClr val="0F766E"/>
            </a:solidFill>
            <a:prstDash val="solid"/>
          </a:ln>
        </p:spPr>
        <p:txBody>
          <a:bodyPr/>
          <a:lstStyle/>
          <a:p>
            <a:endParaRPr lang="en-GB"/>
          </a:p>
        </p:txBody>
      </p:sp>
      <p:sp>
        <p:nvSpPr>
          <p:cNvPr id="42" name="Text 40"/>
          <p:cNvSpPr/>
          <p:nvPr/>
        </p:nvSpPr>
        <p:spPr>
          <a:xfrm>
            <a:off x="1298448" y="5148072"/>
            <a:ext cx="9509760" cy="530352"/>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General rule: </a:t>
            </a:r>
            <a:r>
              <a:rPr lang="en-US" sz="1100" b="1" dirty="0">
                <a:solidFill>
                  <a:srgbClr val="0F172A"/>
                </a:solidFill>
                <a:highlight>
                  <a:srgbClr val="FFFF00"/>
                </a:highlight>
                <a:latin typeface="Aptos" pitchFamily="34" charset="0"/>
                <a:ea typeface="Aptos" pitchFamily="34" charset="-122"/>
                <a:cs typeface="Aptos" pitchFamily="34" charset="-120"/>
              </a:rPr>
              <a:t>split the highest-level independent units first; generate lower-level samples afterwards.</a:t>
            </a:r>
            <a:endParaRPr lang="en-US" sz="1100" b="1" dirty="0">
              <a:highlight>
                <a:srgbClr val="FFFF00"/>
              </a:highlight>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E63AE90-4FAB-965B-7FFF-54AA267CBEAB}"/>
              </a:ext>
            </a:extLst>
          </p:cNvPr>
          <p:cNvSpPr>
            <a:spLocks noGrp="1"/>
          </p:cNvSpPr>
          <p:nvPr>
            <p:ph type="title"/>
          </p:nvPr>
        </p:nvSpPr>
        <p:spPr/>
        <p:txBody>
          <a:bodyPr/>
          <a:lstStyle/>
          <a:p>
            <a:r>
              <a:rPr lang="en-GB" dirty="0"/>
              <a:t>Windows must not cross split boundaries</a:t>
            </a:r>
          </a:p>
        </p:txBody>
      </p:sp>
      <p:sp>
        <p:nvSpPr>
          <p:cNvPr id="3" name="Segnaposto contenuto 2">
            <a:extLst>
              <a:ext uri="{FF2B5EF4-FFF2-40B4-BE49-F238E27FC236}">
                <a16:creationId xmlns:a16="http://schemas.microsoft.com/office/drawing/2014/main" id="{96878214-E7D7-51D4-7F4E-75F4C02FBD3C}"/>
              </a:ext>
            </a:extLst>
          </p:cNvPr>
          <p:cNvSpPr>
            <a:spLocks noGrp="1"/>
          </p:cNvSpPr>
          <p:nvPr>
            <p:ph sz="half" idx="1"/>
          </p:nvPr>
        </p:nvSpPr>
        <p:spPr/>
        <p:txBody>
          <a:bodyPr>
            <a:normAutofit fontScale="85000" lnSpcReduction="10000"/>
          </a:bodyPr>
          <a:lstStyle/>
          <a:p>
            <a:r>
              <a:rPr lang="en-GB" dirty="0"/>
              <a:t>Consider a chronological split at time 1,000.</a:t>
            </a:r>
          </a:p>
          <a:p>
            <a:r>
              <a:rPr lang="en-GB" dirty="0"/>
              <a:t>Training: times 1–1,000</a:t>
            </a:r>
          </a:p>
          <a:p>
            <a:r>
              <a:rPr lang="en-GB" dirty="0"/>
              <a:t>Validation: times 1,001–1,300</a:t>
            </a:r>
          </a:p>
          <a:p>
            <a:r>
              <a:rPr lang="en-GB" dirty="0"/>
              <a:t>Suppose the input window has length 100.</a:t>
            </a:r>
          </a:p>
          <a:p>
            <a:r>
              <a:rPr lang="en-GB" dirty="0"/>
              <a:t>The following window is invalid:</a:t>
            </a:r>
          </a:p>
          <a:p>
            <a:r>
              <a:rPr lang="en-GB" dirty="0"/>
              <a:t>Input:</a:t>
            </a:r>
          </a:p>
          <a:p>
            <a:r>
              <a:rPr lang="en-GB" dirty="0"/>
              <a:t>times 950–1,049</a:t>
            </a:r>
          </a:p>
          <a:p>
            <a:r>
              <a:rPr lang="en-GB" dirty="0"/>
              <a:t>It contains:</a:t>
            </a:r>
          </a:p>
          <a:p>
            <a:r>
              <a:rPr lang="en-GB" dirty="0"/>
              <a:t>training observations from 950 to 1,000;</a:t>
            </a:r>
          </a:p>
          <a:p>
            <a:r>
              <a:rPr lang="en-GB" dirty="0"/>
              <a:t>validation observations from 1,001 to 1,049.</a:t>
            </a:r>
          </a:p>
          <a:p>
            <a:endParaRPr lang="en-GB" b="1" dirty="0"/>
          </a:p>
          <a:p>
            <a:endParaRPr lang="en-GB" dirty="0"/>
          </a:p>
        </p:txBody>
      </p:sp>
      <p:sp>
        <p:nvSpPr>
          <p:cNvPr id="4" name="Segnaposto contenuto 3">
            <a:extLst>
              <a:ext uri="{FF2B5EF4-FFF2-40B4-BE49-F238E27FC236}">
                <a16:creationId xmlns:a16="http://schemas.microsoft.com/office/drawing/2014/main" id="{29114529-E4C1-803B-30C0-6A75AB9FFF2A}"/>
              </a:ext>
            </a:extLst>
          </p:cNvPr>
          <p:cNvSpPr>
            <a:spLocks noGrp="1"/>
          </p:cNvSpPr>
          <p:nvPr>
            <p:ph sz="half" idx="2"/>
          </p:nvPr>
        </p:nvSpPr>
        <p:spPr/>
        <p:txBody>
          <a:bodyPr>
            <a:normAutofit fontScale="85000" lnSpcReduction="10000"/>
          </a:bodyPr>
          <a:lstStyle/>
          <a:p>
            <a:r>
              <a:rPr lang="en-GB" b="1" dirty="0"/>
              <a:t>Why this is problematic</a:t>
            </a:r>
          </a:p>
          <a:p>
            <a:r>
              <a:rPr lang="en-GB" dirty="0"/>
              <a:t>The same sample belongs partly to two partitions.</a:t>
            </a:r>
          </a:p>
          <a:p>
            <a:r>
              <a:rPr lang="en-GB" dirty="0"/>
              <a:t>It may introduce:</a:t>
            </a:r>
          </a:p>
          <a:p>
            <a:pPr lvl="1"/>
            <a:r>
              <a:rPr lang="en-GB" dirty="0"/>
              <a:t>future information into training;</a:t>
            </a:r>
          </a:p>
          <a:p>
            <a:pPr lvl="1"/>
            <a:r>
              <a:rPr lang="en-GB" dirty="0"/>
              <a:t>shared observations across partitions;</a:t>
            </a:r>
          </a:p>
          <a:p>
            <a:pPr lvl="1"/>
            <a:r>
              <a:rPr lang="en-GB" dirty="0"/>
              <a:t>ambiguous ownership of the target.</a:t>
            </a:r>
          </a:p>
          <a:p>
            <a:endParaRPr lang="en-GB" dirty="0"/>
          </a:p>
        </p:txBody>
      </p:sp>
      <p:sp>
        <p:nvSpPr>
          <p:cNvPr id="6" name="CasellaDiTesto 5">
            <a:extLst>
              <a:ext uri="{FF2B5EF4-FFF2-40B4-BE49-F238E27FC236}">
                <a16:creationId xmlns:a16="http://schemas.microsoft.com/office/drawing/2014/main" id="{C69011E9-B364-1348-BB56-79E33EC4F7BA}"/>
              </a:ext>
            </a:extLst>
          </p:cNvPr>
          <p:cNvSpPr txBox="1"/>
          <p:nvPr/>
        </p:nvSpPr>
        <p:spPr>
          <a:xfrm>
            <a:off x="5520447" y="5086530"/>
            <a:ext cx="6099242" cy="1354217"/>
          </a:xfrm>
          <a:prstGeom prst="rect">
            <a:avLst/>
          </a:prstGeom>
          <a:noFill/>
        </p:spPr>
        <p:txBody>
          <a:bodyPr wrap="square">
            <a:spAutoFit/>
          </a:bodyPr>
          <a:lstStyle/>
          <a:p>
            <a:r>
              <a:rPr lang="en-GB" sz="1800" b="1" dirty="0"/>
              <a:t>Discard crossing windows</a:t>
            </a:r>
          </a:p>
          <a:p>
            <a:pPr lvl="1"/>
            <a:r>
              <a:rPr lang="en-GB" sz="1600" dirty="0"/>
              <a:t>Generate </a:t>
            </a:r>
            <a:r>
              <a:rPr lang="en-GB" sz="1600" b="1" dirty="0"/>
              <a:t>training windows ending </a:t>
            </a:r>
            <a:r>
              <a:rPr lang="en-GB" sz="1600" dirty="0"/>
              <a:t>no later than time 1,000.</a:t>
            </a:r>
          </a:p>
          <a:p>
            <a:pPr lvl="1"/>
            <a:r>
              <a:rPr lang="en-GB" sz="1600" dirty="0"/>
              <a:t>Generate validation windows entirely inside the validation interval.</a:t>
            </a:r>
          </a:p>
        </p:txBody>
      </p:sp>
    </p:spTree>
    <p:extLst>
      <p:ext uri="{BB962C8B-B14F-4D97-AF65-F5344CB8AC3E}">
        <p14:creationId xmlns:p14="http://schemas.microsoft.com/office/powerpoint/2010/main" val="11035250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Windows must not cross split boundaries</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b="1" dirty="0">
                <a:solidFill>
                  <a:srgbClr val="475569"/>
                </a:solidFill>
                <a:highlight>
                  <a:srgbClr val="FFFF00"/>
                </a:highlight>
              </a:rPr>
              <a:t>A sample that spans two partitions has ambiguous ownership.</a:t>
            </a:r>
            <a:endParaRPr lang="en-US" sz="1150" b="1" dirty="0">
              <a:highlight>
                <a:srgbClr val="FFFF00"/>
              </a:highlight>
            </a:endParaRPr>
          </a:p>
        </p:txBody>
      </p:sp>
      <p:sp>
        <p:nvSpPr>
          <p:cNvPr id="6" name="Shape 4"/>
          <p:cNvSpPr/>
          <p:nvPr/>
        </p:nvSpPr>
        <p:spPr>
          <a:xfrm>
            <a:off x="777240" y="1325880"/>
            <a:ext cx="10058400" cy="0"/>
          </a:xfrm>
          <a:prstGeom prst="line">
            <a:avLst/>
          </a:prstGeom>
          <a:noFill/>
          <a:ln w="15240">
            <a:solidFill>
              <a:srgbClr val="94A3B8"/>
            </a:solidFill>
            <a:prstDash val="solid"/>
            <a:headEnd type="none"/>
            <a:tailEnd type="triangle"/>
          </a:ln>
        </p:spPr>
        <p:txBody>
          <a:bodyPr/>
          <a:lstStyle/>
          <a:p>
            <a:endParaRPr lang="en-GB"/>
          </a:p>
        </p:txBody>
      </p:sp>
      <p:sp>
        <p:nvSpPr>
          <p:cNvPr id="7" name="Text 5"/>
          <p:cNvSpPr/>
          <p:nvPr/>
        </p:nvSpPr>
        <p:spPr>
          <a:xfrm>
            <a:off x="10908792" y="124358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8" name="Shape 6"/>
          <p:cNvSpPr/>
          <p:nvPr/>
        </p:nvSpPr>
        <p:spPr>
          <a:xfrm>
            <a:off x="868680" y="1645920"/>
            <a:ext cx="4937760" cy="411480"/>
          </a:xfrm>
          <a:prstGeom prst="rect">
            <a:avLst/>
          </a:prstGeom>
          <a:solidFill>
            <a:srgbClr val="2563EB"/>
          </a:solidFill>
          <a:ln w="10160">
            <a:solidFill>
              <a:srgbClr val="2563EB"/>
            </a:solidFill>
            <a:prstDash val="solid"/>
          </a:ln>
        </p:spPr>
        <p:txBody>
          <a:bodyPr/>
          <a:lstStyle/>
          <a:p>
            <a:endParaRPr lang="en-GB"/>
          </a:p>
        </p:txBody>
      </p:sp>
      <p:sp>
        <p:nvSpPr>
          <p:cNvPr id="9" name="Text 7"/>
          <p:cNvSpPr/>
          <p:nvPr/>
        </p:nvSpPr>
        <p:spPr>
          <a:xfrm>
            <a:off x="905256" y="1719986"/>
            <a:ext cx="4864608" cy="263347"/>
          </a:xfrm>
          <a:prstGeom prst="rect">
            <a:avLst/>
          </a:prstGeom>
          <a:noFill/>
          <a:ln/>
        </p:spPr>
        <p:txBody>
          <a:bodyPr wrap="square" lIns="381" tIns="381" rIns="381" bIns="381"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Training: times 1–1000</a:t>
            </a:r>
            <a:endParaRPr lang="en-US" sz="1100" dirty="0"/>
          </a:p>
        </p:txBody>
      </p:sp>
      <p:sp>
        <p:nvSpPr>
          <p:cNvPr id="10" name="Shape 8"/>
          <p:cNvSpPr/>
          <p:nvPr/>
        </p:nvSpPr>
        <p:spPr>
          <a:xfrm>
            <a:off x="5806440" y="1645920"/>
            <a:ext cx="4572000" cy="411480"/>
          </a:xfrm>
          <a:prstGeom prst="rect">
            <a:avLst/>
          </a:prstGeom>
          <a:solidFill>
            <a:srgbClr val="F59E0B"/>
          </a:solidFill>
          <a:ln w="10160">
            <a:solidFill>
              <a:srgbClr val="F59E0B"/>
            </a:solidFill>
            <a:prstDash val="solid"/>
          </a:ln>
        </p:spPr>
        <p:txBody>
          <a:bodyPr/>
          <a:lstStyle/>
          <a:p>
            <a:endParaRPr lang="en-GB"/>
          </a:p>
        </p:txBody>
      </p:sp>
      <p:sp>
        <p:nvSpPr>
          <p:cNvPr id="11" name="Text 9"/>
          <p:cNvSpPr/>
          <p:nvPr/>
        </p:nvSpPr>
        <p:spPr>
          <a:xfrm>
            <a:off x="5843016" y="1719986"/>
            <a:ext cx="4498848" cy="263347"/>
          </a:xfrm>
          <a:prstGeom prst="rect">
            <a:avLst/>
          </a:prstGeom>
          <a:noFill/>
          <a:ln/>
        </p:spPr>
        <p:txBody>
          <a:bodyPr wrap="square" lIns="381" tIns="381" rIns="381" bIns="381"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Validation: times 1001–1300</a:t>
            </a:r>
            <a:endParaRPr lang="en-US" sz="1100" dirty="0"/>
          </a:p>
        </p:txBody>
      </p:sp>
      <p:sp>
        <p:nvSpPr>
          <p:cNvPr id="12" name="Shape 10"/>
          <p:cNvSpPr/>
          <p:nvPr/>
        </p:nvSpPr>
        <p:spPr>
          <a:xfrm>
            <a:off x="5806440" y="1097280"/>
            <a:ext cx="0" cy="1325880"/>
          </a:xfrm>
          <a:prstGeom prst="line">
            <a:avLst/>
          </a:prstGeom>
          <a:noFill/>
          <a:ln w="17780">
            <a:solidFill>
              <a:srgbClr val="0F172A"/>
            </a:solidFill>
            <a:prstDash val="solid"/>
            <a:headEnd type="none"/>
            <a:tailEnd type="none"/>
          </a:ln>
        </p:spPr>
        <p:txBody>
          <a:bodyPr/>
          <a:lstStyle/>
          <a:p>
            <a:endParaRPr lang="en-GB"/>
          </a:p>
        </p:txBody>
      </p:sp>
      <p:sp>
        <p:nvSpPr>
          <p:cNvPr id="13" name="Text 11"/>
          <p:cNvSpPr/>
          <p:nvPr/>
        </p:nvSpPr>
        <p:spPr>
          <a:xfrm>
            <a:off x="5349240" y="2450592"/>
            <a:ext cx="1097280" cy="182880"/>
          </a:xfrm>
          <a:prstGeom prst="rect">
            <a:avLst/>
          </a:prstGeom>
          <a:noFill/>
          <a:ln/>
        </p:spPr>
        <p:txBody>
          <a:bodyPr wrap="square" lIns="381" tIns="381" rIns="381" bIns="381" rtlCol="0" anchor="ctr">
            <a:normAutofit/>
          </a:bodyPr>
          <a:lstStyle/>
          <a:p>
            <a:pPr marL="0" indent="0" algn="ctr">
              <a:buNone/>
            </a:pPr>
            <a:r>
              <a:rPr lang="en-US" sz="900" dirty="0">
                <a:solidFill>
                  <a:srgbClr val="475569"/>
                </a:solidFill>
                <a:latin typeface="Aptos" pitchFamily="34" charset="0"/>
                <a:ea typeface="Aptos" pitchFamily="34" charset="-122"/>
                <a:cs typeface="Aptos" pitchFamily="34" charset="-120"/>
              </a:rPr>
              <a:t>split boundary</a:t>
            </a:r>
            <a:endParaRPr lang="en-US" sz="900" dirty="0"/>
          </a:p>
        </p:txBody>
      </p:sp>
      <p:sp>
        <p:nvSpPr>
          <p:cNvPr id="14" name="Shape 12"/>
          <p:cNvSpPr/>
          <p:nvPr/>
        </p:nvSpPr>
        <p:spPr>
          <a:xfrm>
            <a:off x="5074920" y="2743200"/>
            <a:ext cx="1600200" cy="292608"/>
          </a:xfrm>
          <a:prstGeom prst="rect">
            <a:avLst/>
          </a:prstGeom>
          <a:solidFill>
            <a:srgbClr val="DC2626"/>
          </a:solidFill>
          <a:ln w="10160">
            <a:solidFill>
              <a:srgbClr val="DC2626"/>
            </a:solidFill>
            <a:prstDash val="solid"/>
          </a:ln>
        </p:spPr>
        <p:txBody>
          <a:bodyPr/>
          <a:lstStyle/>
          <a:p>
            <a:endParaRPr lang="en-GB"/>
          </a:p>
        </p:txBody>
      </p:sp>
      <p:sp>
        <p:nvSpPr>
          <p:cNvPr id="15" name="Text 13"/>
          <p:cNvSpPr/>
          <p:nvPr/>
        </p:nvSpPr>
        <p:spPr>
          <a:xfrm>
            <a:off x="4892040" y="3136392"/>
            <a:ext cx="2011680" cy="182880"/>
          </a:xfrm>
          <a:prstGeom prst="rect">
            <a:avLst/>
          </a:prstGeom>
          <a:noFill/>
          <a:ln/>
        </p:spPr>
        <p:txBody>
          <a:bodyPr wrap="square" lIns="381" tIns="381" rIns="381" bIns="381" rtlCol="0" anchor="ctr">
            <a:normAutofit/>
          </a:bodyPr>
          <a:lstStyle/>
          <a:p>
            <a:pPr marL="0" indent="0" algn="ctr">
              <a:buNone/>
            </a:pPr>
            <a:r>
              <a:rPr lang="en-US" sz="1000" b="1" dirty="0">
                <a:solidFill>
                  <a:srgbClr val="DC2626"/>
                </a:solidFill>
                <a:latin typeface="Aptos" pitchFamily="34" charset="0"/>
                <a:ea typeface="Aptos" pitchFamily="34" charset="-122"/>
                <a:cs typeface="Aptos" pitchFamily="34" charset="-120"/>
              </a:rPr>
              <a:t>Invalid mixed window</a:t>
            </a:r>
            <a:endParaRPr lang="en-US" sz="1000" dirty="0"/>
          </a:p>
        </p:txBody>
      </p:sp>
      <p:sp>
        <p:nvSpPr>
          <p:cNvPr id="16" name="Text 14"/>
          <p:cNvSpPr/>
          <p:nvPr/>
        </p:nvSpPr>
        <p:spPr>
          <a:xfrm>
            <a:off x="5257800" y="3364992"/>
            <a:ext cx="1325880" cy="182880"/>
          </a:xfrm>
          <a:prstGeom prst="rect">
            <a:avLst/>
          </a:prstGeom>
          <a:noFill/>
          <a:ln/>
        </p:spPr>
        <p:txBody>
          <a:bodyPr wrap="square" lIns="381" tIns="381" rIns="381" bIns="381" rtlCol="0" anchor="ctr">
            <a:normAutofit/>
          </a:bodyPr>
          <a:lstStyle/>
          <a:p>
            <a:pPr marL="0" indent="0" algn="ctr">
              <a:buNone/>
            </a:pPr>
            <a:r>
              <a:rPr lang="en-US" sz="900" dirty="0">
                <a:solidFill>
                  <a:srgbClr val="475569"/>
                </a:solidFill>
                <a:latin typeface="Aptos" pitchFamily="34" charset="0"/>
                <a:ea typeface="Aptos" pitchFamily="34" charset="-122"/>
                <a:cs typeface="Aptos" pitchFamily="34" charset="-120"/>
              </a:rPr>
              <a:t>times 950–1049</a:t>
            </a:r>
            <a:endParaRPr lang="en-US" sz="900" dirty="0"/>
          </a:p>
        </p:txBody>
      </p:sp>
      <p:sp>
        <p:nvSpPr>
          <p:cNvPr id="17" name="Shape 15"/>
          <p:cNvSpPr/>
          <p:nvPr/>
        </p:nvSpPr>
        <p:spPr>
          <a:xfrm>
            <a:off x="868680" y="3794760"/>
            <a:ext cx="4892040" cy="777240"/>
          </a:xfrm>
          <a:prstGeom prst="rect">
            <a:avLst/>
          </a:prstGeom>
          <a:solidFill>
            <a:srgbClr val="FFFFFF"/>
          </a:solidFill>
          <a:ln w="11430">
            <a:solidFill>
              <a:srgbClr val="CBD5E1"/>
            </a:solidFill>
            <a:prstDash val="solid"/>
          </a:ln>
        </p:spPr>
        <p:txBody>
          <a:bodyPr/>
          <a:lstStyle/>
          <a:p>
            <a:endParaRPr lang="en-GB"/>
          </a:p>
        </p:txBody>
      </p:sp>
      <p:sp>
        <p:nvSpPr>
          <p:cNvPr id="18" name="Shape 16"/>
          <p:cNvSpPr/>
          <p:nvPr/>
        </p:nvSpPr>
        <p:spPr>
          <a:xfrm>
            <a:off x="978408" y="3794760"/>
            <a:ext cx="0" cy="777240"/>
          </a:xfrm>
          <a:prstGeom prst="line">
            <a:avLst/>
          </a:prstGeom>
          <a:noFill/>
          <a:ln w="38100">
            <a:solidFill>
              <a:srgbClr val="DC2626"/>
            </a:solidFill>
            <a:prstDash val="solid"/>
          </a:ln>
        </p:spPr>
        <p:txBody>
          <a:bodyPr/>
          <a:lstStyle/>
          <a:p>
            <a:endParaRPr lang="en-GB"/>
          </a:p>
        </p:txBody>
      </p:sp>
      <p:sp>
        <p:nvSpPr>
          <p:cNvPr id="19" name="Text 17"/>
          <p:cNvSpPr/>
          <p:nvPr/>
        </p:nvSpPr>
        <p:spPr>
          <a:xfrm>
            <a:off x="1069848" y="3867912"/>
            <a:ext cx="4617720" cy="649224"/>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highlight>
                  <a:srgbClr val="FFFF00"/>
                </a:highlight>
                <a:latin typeface="Aptos" pitchFamily="34" charset="0"/>
                <a:ea typeface="Aptos" pitchFamily="34" charset="-122"/>
                <a:cs typeface="Aptos" pitchFamily="34" charset="-120"/>
              </a:rPr>
              <a:t>Strict partitioning: discard windows that cross the split boundary.</a:t>
            </a:r>
            <a:endParaRPr lang="en-US" sz="1100" dirty="0">
              <a:highlight>
                <a:srgbClr val="FFFF00"/>
              </a:highlight>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Input overlap and target overlap are different problems</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A split must control both input intervals and target intervals.</a:t>
            </a:r>
            <a:endParaRPr lang="en-US" sz="1150" dirty="0"/>
          </a:p>
        </p:txBody>
      </p:sp>
      <p:sp>
        <p:nvSpPr>
          <p:cNvPr id="6" name="Shape 4"/>
          <p:cNvSpPr/>
          <p:nvPr/>
        </p:nvSpPr>
        <p:spPr>
          <a:xfrm>
            <a:off x="914400" y="1325880"/>
            <a:ext cx="9601200" cy="0"/>
          </a:xfrm>
          <a:prstGeom prst="line">
            <a:avLst/>
          </a:prstGeom>
          <a:noFill/>
          <a:ln w="15240">
            <a:solidFill>
              <a:srgbClr val="94A3B8"/>
            </a:solidFill>
            <a:prstDash val="solid"/>
            <a:headEnd type="none"/>
            <a:tailEnd type="triangle"/>
          </a:ln>
        </p:spPr>
        <p:txBody>
          <a:bodyPr/>
          <a:lstStyle/>
          <a:p>
            <a:endParaRPr lang="en-GB"/>
          </a:p>
        </p:txBody>
      </p:sp>
      <p:sp>
        <p:nvSpPr>
          <p:cNvPr id="7" name="Text 5"/>
          <p:cNvSpPr/>
          <p:nvPr/>
        </p:nvSpPr>
        <p:spPr>
          <a:xfrm>
            <a:off x="10588752" y="124358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8" name="Text 6"/>
          <p:cNvSpPr/>
          <p:nvPr/>
        </p:nvSpPr>
        <p:spPr>
          <a:xfrm>
            <a:off x="868680" y="1828800"/>
            <a:ext cx="914400" cy="228600"/>
          </a:xfrm>
          <a:prstGeom prst="rect">
            <a:avLst/>
          </a:prstGeom>
          <a:noFill/>
          <a:ln/>
        </p:spPr>
        <p:txBody>
          <a:bodyPr wrap="square" lIns="381" tIns="381" rIns="381" bIns="381" rtlCol="0" anchor="ctr">
            <a:normAutofit/>
          </a:bodyPr>
          <a:lstStyle/>
          <a:p>
            <a:pPr marL="0" indent="0" algn="l">
              <a:buNone/>
            </a:pPr>
            <a:r>
              <a:rPr lang="en-US" sz="1100" b="1" dirty="0">
                <a:solidFill>
                  <a:srgbClr val="0F172A"/>
                </a:solidFill>
                <a:latin typeface="Aptos" pitchFamily="34" charset="0"/>
                <a:ea typeface="Aptos" pitchFamily="34" charset="-122"/>
                <a:cs typeface="Aptos" pitchFamily="34" charset="-120"/>
              </a:rPr>
              <a:t>Sample A</a:t>
            </a:r>
            <a:endParaRPr lang="en-US" sz="1100" dirty="0"/>
          </a:p>
        </p:txBody>
      </p:sp>
      <p:sp>
        <p:nvSpPr>
          <p:cNvPr id="9" name="Shape 7"/>
          <p:cNvSpPr/>
          <p:nvPr/>
        </p:nvSpPr>
        <p:spPr>
          <a:xfrm>
            <a:off x="1828800" y="1783080"/>
            <a:ext cx="2743200" cy="329184"/>
          </a:xfrm>
          <a:prstGeom prst="rect">
            <a:avLst/>
          </a:prstGeom>
          <a:solidFill>
            <a:srgbClr val="2563EB"/>
          </a:solidFill>
          <a:ln w="10160">
            <a:solidFill>
              <a:srgbClr val="2563EB"/>
            </a:solidFill>
            <a:prstDash val="solid"/>
          </a:ln>
        </p:spPr>
        <p:txBody>
          <a:bodyPr/>
          <a:lstStyle/>
          <a:p>
            <a:endParaRPr lang="en-GB"/>
          </a:p>
        </p:txBody>
      </p:sp>
      <p:sp>
        <p:nvSpPr>
          <p:cNvPr id="10" name="Text 8"/>
          <p:cNvSpPr/>
          <p:nvPr/>
        </p:nvSpPr>
        <p:spPr>
          <a:xfrm>
            <a:off x="1865376" y="1842333"/>
            <a:ext cx="2670048" cy="210678"/>
          </a:xfrm>
          <a:prstGeom prst="rect">
            <a:avLst/>
          </a:prstGeom>
          <a:noFill/>
          <a:ln/>
        </p:spPr>
        <p:txBody>
          <a:bodyPr wrap="square" lIns="381" tIns="381" rIns="381" bIns="381"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input A</a:t>
            </a:r>
            <a:endParaRPr lang="en-US" sz="1000" dirty="0"/>
          </a:p>
        </p:txBody>
      </p:sp>
      <p:sp>
        <p:nvSpPr>
          <p:cNvPr id="11" name="Shape 9"/>
          <p:cNvSpPr/>
          <p:nvPr/>
        </p:nvSpPr>
        <p:spPr>
          <a:xfrm>
            <a:off x="4709160" y="1783080"/>
            <a:ext cx="1143000" cy="329184"/>
          </a:xfrm>
          <a:prstGeom prst="rect">
            <a:avLst/>
          </a:prstGeom>
          <a:solidFill>
            <a:srgbClr val="DC2626"/>
          </a:solidFill>
          <a:ln w="10160">
            <a:solidFill>
              <a:srgbClr val="DC2626"/>
            </a:solidFill>
            <a:prstDash val="solid"/>
          </a:ln>
        </p:spPr>
        <p:txBody>
          <a:bodyPr/>
          <a:lstStyle/>
          <a:p>
            <a:endParaRPr lang="en-GB"/>
          </a:p>
        </p:txBody>
      </p:sp>
      <p:sp>
        <p:nvSpPr>
          <p:cNvPr id="12" name="Text 10"/>
          <p:cNvSpPr/>
          <p:nvPr/>
        </p:nvSpPr>
        <p:spPr>
          <a:xfrm>
            <a:off x="4745736" y="1842333"/>
            <a:ext cx="1069848" cy="210678"/>
          </a:xfrm>
          <a:prstGeom prst="rect">
            <a:avLst/>
          </a:prstGeom>
          <a:noFill/>
          <a:ln/>
        </p:spPr>
        <p:txBody>
          <a:bodyPr wrap="square" lIns="381" tIns="381" rIns="381" bIns="381"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target A</a:t>
            </a:r>
            <a:endParaRPr lang="en-US" sz="1000" dirty="0"/>
          </a:p>
        </p:txBody>
      </p:sp>
      <p:sp>
        <p:nvSpPr>
          <p:cNvPr id="13" name="Text 11"/>
          <p:cNvSpPr/>
          <p:nvPr/>
        </p:nvSpPr>
        <p:spPr>
          <a:xfrm>
            <a:off x="868680" y="2697480"/>
            <a:ext cx="914400" cy="228600"/>
          </a:xfrm>
          <a:prstGeom prst="rect">
            <a:avLst/>
          </a:prstGeom>
          <a:noFill/>
          <a:ln/>
        </p:spPr>
        <p:txBody>
          <a:bodyPr wrap="square" lIns="381" tIns="381" rIns="381" bIns="381" rtlCol="0" anchor="ctr">
            <a:normAutofit/>
          </a:bodyPr>
          <a:lstStyle/>
          <a:p>
            <a:pPr marL="0" indent="0" algn="l">
              <a:buNone/>
            </a:pPr>
            <a:r>
              <a:rPr lang="en-US" sz="1100" b="1" dirty="0">
                <a:solidFill>
                  <a:srgbClr val="0F172A"/>
                </a:solidFill>
                <a:latin typeface="Aptos" pitchFamily="34" charset="0"/>
                <a:ea typeface="Aptos" pitchFamily="34" charset="-122"/>
                <a:cs typeface="Aptos" pitchFamily="34" charset="-120"/>
              </a:rPr>
              <a:t>Sample B</a:t>
            </a:r>
            <a:endParaRPr lang="en-US" sz="1100" dirty="0"/>
          </a:p>
        </p:txBody>
      </p:sp>
      <p:sp>
        <p:nvSpPr>
          <p:cNvPr id="14" name="Shape 12"/>
          <p:cNvSpPr/>
          <p:nvPr/>
        </p:nvSpPr>
        <p:spPr>
          <a:xfrm>
            <a:off x="2926080" y="2651760"/>
            <a:ext cx="2743200" cy="329184"/>
          </a:xfrm>
          <a:prstGeom prst="rect">
            <a:avLst/>
          </a:prstGeom>
          <a:solidFill>
            <a:srgbClr val="F59E0B"/>
          </a:solidFill>
          <a:ln w="10160">
            <a:solidFill>
              <a:srgbClr val="F59E0B"/>
            </a:solidFill>
            <a:prstDash val="solid"/>
          </a:ln>
        </p:spPr>
        <p:txBody>
          <a:bodyPr/>
          <a:lstStyle/>
          <a:p>
            <a:endParaRPr lang="en-GB"/>
          </a:p>
        </p:txBody>
      </p:sp>
      <p:sp>
        <p:nvSpPr>
          <p:cNvPr id="15" name="Text 13"/>
          <p:cNvSpPr/>
          <p:nvPr/>
        </p:nvSpPr>
        <p:spPr>
          <a:xfrm>
            <a:off x="2962656" y="2711013"/>
            <a:ext cx="2670048" cy="210678"/>
          </a:xfrm>
          <a:prstGeom prst="rect">
            <a:avLst/>
          </a:prstGeom>
          <a:noFill/>
          <a:ln/>
        </p:spPr>
        <p:txBody>
          <a:bodyPr wrap="square" lIns="381" tIns="381" rIns="381" bIns="381"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input B</a:t>
            </a:r>
            <a:endParaRPr lang="en-US" sz="1000" dirty="0"/>
          </a:p>
        </p:txBody>
      </p:sp>
      <p:sp>
        <p:nvSpPr>
          <p:cNvPr id="16" name="Shape 14"/>
          <p:cNvSpPr/>
          <p:nvPr/>
        </p:nvSpPr>
        <p:spPr>
          <a:xfrm>
            <a:off x="5806440" y="2651760"/>
            <a:ext cx="1143000" cy="329184"/>
          </a:xfrm>
          <a:prstGeom prst="rect">
            <a:avLst/>
          </a:prstGeom>
          <a:solidFill>
            <a:srgbClr val="EA580C"/>
          </a:solidFill>
          <a:ln w="10160">
            <a:solidFill>
              <a:srgbClr val="EA580C"/>
            </a:solidFill>
            <a:prstDash val="solid"/>
          </a:ln>
        </p:spPr>
        <p:txBody>
          <a:bodyPr/>
          <a:lstStyle/>
          <a:p>
            <a:endParaRPr lang="en-GB"/>
          </a:p>
        </p:txBody>
      </p:sp>
      <p:sp>
        <p:nvSpPr>
          <p:cNvPr id="17" name="Text 15"/>
          <p:cNvSpPr/>
          <p:nvPr/>
        </p:nvSpPr>
        <p:spPr>
          <a:xfrm>
            <a:off x="5843016" y="2711013"/>
            <a:ext cx="1069848" cy="210678"/>
          </a:xfrm>
          <a:prstGeom prst="rect">
            <a:avLst/>
          </a:prstGeom>
          <a:noFill/>
          <a:ln/>
        </p:spPr>
        <p:txBody>
          <a:bodyPr wrap="square" lIns="381" tIns="381" rIns="381" bIns="381"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target B</a:t>
            </a:r>
            <a:endParaRPr lang="en-US" sz="1000" dirty="0"/>
          </a:p>
        </p:txBody>
      </p:sp>
      <p:sp>
        <p:nvSpPr>
          <p:cNvPr id="18" name="Shape 16"/>
          <p:cNvSpPr/>
          <p:nvPr/>
        </p:nvSpPr>
        <p:spPr>
          <a:xfrm>
            <a:off x="4709160" y="3246120"/>
            <a:ext cx="960120" cy="182880"/>
          </a:xfrm>
          <a:prstGeom prst="rect">
            <a:avLst/>
          </a:prstGeom>
          <a:solidFill>
            <a:srgbClr val="FDE68A"/>
          </a:solidFill>
          <a:ln w="10160">
            <a:solidFill>
              <a:srgbClr val="F59E0B"/>
            </a:solidFill>
            <a:prstDash val="solid"/>
          </a:ln>
        </p:spPr>
        <p:txBody>
          <a:bodyPr/>
          <a:lstStyle/>
          <a:p>
            <a:endParaRPr lang="en-GB"/>
          </a:p>
        </p:txBody>
      </p:sp>
      <p:sp>
        <p:nvSpPr>
          <p:cNvPr id="19" name="Text 17"/>
          <p:cNvSpPr/>
          <p:nvPr/>
        </p:nvSpPr>
        <p:spPr>
          <a:xfrm>
            <a:off x="4160520" y="3520440"/>
            <a:ext cx="2377440" cy="228600"/>
          </a:xfrm>
          <a:prstGeom prst="rect">
            <a:avLst/>
          </a:prstGeom>
          <a:noFill/>
          <a:ln/>
        </p:spPr>
        <p:txBody>
          <a:bodyPr wrap="square" lIns="381" tIns="381" rIns="381" bIns="381" rtlCol="0" anchor="ctr">
            <a:normAutofit/>
          </a:bodyPr>
          <a:lstStyle/>
          <a:p>
            <a:pPr marL="0" indent="0" algn="ctr">
              <a:buNone/>
            </a:pPr>
            <a:r>
              <a:rPr lang="en-US" sz="1100" b="1" dirty="0">
                <a:solidFill>
                  <a:srgbClr val="0F172A"/>
                </a:solidFill>
                <a:latin typeface="Aptos" pitchFamily="34" charset="0"/>
                <a:ea typeface="Aptos" pitchFamily="34" charset="-122"/>
                <a:cs typeface="Aptos" pitchFamily="34" charset="-120"/>
              </a:rPr>
              <a:t>target A appears inside input B</a:t>
            </a:r>
            <a:endParaRPr lang="en-US" sz="1100" dirty="0"/>
          </a:p>
        </p:txBody>
      </p:sp>
      <p:sp>
        <p:nvSpPr>
          <p:cNvPr id="20" name="Text 18"/>
          <p:cNvSpPr/>
          <p:nvPr/>
        </p:nvSpPr>
        <p:spPr>
          <a:xfrm>
            <a:off x="868680" y="4617720"/>
            <a:ext cx="1828800" cy="228600"/>
          </a:xfrm>
          <a:prstGeom prst="rect">
            <a:avLst/>
          </a:prstGeom>
          <a:noFill/>
          <a:ln/>
        </p:spPr>
        <p:txBody>
          <a:bodyPr wrap="square" lIns="381" tIns="381" rIns="381" bIns="381" rtlCol="0" anchor="ctr">
            <a:normAutofit/>
          </a:bodyPr>
          <a:lstStyle/>
          <a:p>
            <a:pPr marL="0" indent="0" algn="l">
              <a:buNone/>
            </a:pPr>
            <a:r>
              <a:rPr lang="en-US" sz="1100" b="1" dirty="0">
                <a:solidFill>
                  <a:srgbClr val="0F172A"/>
                </a:solidFill>
                <a:latin typeface="Aptos" pitchFamily="34" charset="0"/>
                <a:ea typeface="Aptos" pitchFamily="34" charset="-122"/>
                <a:cs typeface="Aptos" pitchFamily="34" charset="-120"/>
              </a:rPr>
              <a:t>Target overlap example</a:t>
            </a:r>
            <a:endParaRPr lang="en-US" sz="1100" dirty="0"/>
          </a:p>
        </p:txBody>
      </p:sp>
      <p:sp>
        <p:nvSpPr>
          <p:cNvPr id="21" name="Shape 19"/>
          <p:cNvSpPr/>
          <p:nvPr/>
        </p:nvSpPr>
        <p:spPr>
          <a:xfrm>
            <a:off x="2971800" y="4572000"/>
            <a:ext cx="1325880" cy="310896"/>
          </a:xfrm>
          <a:prstGeom prst="rect">
            <a:avLst/>
          </a:prstGeom>
          <a:solidFill>
            <a:srgbClr val="DC2626"/>
          </a:solidFill>
          <a:ln w="10160">
            <a:solidFill>
              <a:srgbClr val="DC2626"/>
            </a:solidFill>
            <a:prstDash val="solid"/>
          </a:ln>
        </p:spPr>
        <p:txBody>
          <a:bodyPr/>
          <a:lstStyle/>
          <a:p>
            <a:endParaRPr lang="en-GB"/>
          </a:p>
        </p:txBody>
      </p:sp>
      <p:sp>
        <p:nvSpPr>
          <p:cNvPr id="22" name="Text 20"/>
          <p:cNvSpPr/>
          <p:nvPr/>
        </p:nvSpPr>
        <p:spPr>
          <a:xfrm>
            <a:off x="3008376" y="4627961"/>
            <a:ext cx="1252728" cy="198973"/>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target A</a:t>
            </a:r>
            <a:endParaRPr lang="en-US" sz="900" dirty="0"/>
          </a:p>
        </p:txBody>
      </p:sp>
      <p:sp>
        <p:nvSpPr>
          <p:cNvPr id="23" name="Shape 21"/>
          <p:cNvSpPr/>
          <p:nvPr/>
        </p:nvSpPr>
        <p:spPr>
          <a:xfrm>
            <a:off x="3794760" y="4983480"/>
            <a:ext cx="1325880" cy="310896"/>
          </a:xfrm>
          <a:prstGeom prst="rect">
            <a:avLst/>
          </a:prstGeom>
          <a:solidFill>
            <a:srgbClr val="EA580C"/>
          </a:solidFill>
          <a:ln w="10160">
            <a:solidFill>
              <a:srgbClr val="EA580C"/>
            </a:solidFill>
            <a:prstDash val="solid"/>
          </a:ln>
        </p:spPr>
        <p:txBody>
          <a:bodyPr/>
          <a:lstStyle/>
          <a:p>
            <a:endParaRPr lang="en-GB"/>
          </a:p>
        </p:txBody>
      </p:sp>
      <p:sp>
        <p:nvSpPr>
          <p:cNvPr id="24" name="Text 22"/>
          <p:cNvSpPr/>
          <p:nvPr/>
        </p:nvSpPr>
        <p:spPr>
          <a:xfrm>
            <a:off x="3831336" y="5039441"/>
            <a:ext cx="1252728" cy="198973"/>
          </a:xfrm>
          <a:prstGeom prst="rect">
            <a:avLst/>
          </a:prstGeom>
          <a:noFill/>
          <a:ln/>
        </p:spPr>
        <p:txBody>
          <a:bodyPr wrap="square" lIns="381" tIns="381" rIns="381" bIns="381"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target B</a:t>
            </a:r>
            <a:endParaRPr lang="en-US" sz="900" dirty="0"/>
          </a:p>
        </p:txBody>
      </p:sp>
      <p:sp>
        <p:nvSpPr>
          <p:cNvPr id="25" name="Shape 23"/>
          <p:cNvSpPr/>
          <p:nvPr/>
        </p:nvSpPr>
        <p:spPr>
          <a:xfrm>
            <a:off x="3794760" y="5440680"/>
            <a:ext cx="502920" cy="164592"/>
          </a:xfrm>
          <a:prstGeom prst="rect">
            <a:avLst/>
          </a:prstGeom>
          <a:solidFill>
            <a:srgbClr val="FDE68A"/>
          </a:solidFill>
          <a:ln w="10160">
            <a:solidFill>
              <a:srgbClr val="EA580C"/>
            </a:solidFill>
            <a:prstDash val="solid"/>
          </a:ln>
        </p:spPr>
        <p:txBody>
          <a:bodyPr/>
          <a:lstStyle/>
          <a:p>
            <a:endParaRPr lang="en-GB"/>
          </a:p>
        </p:txBody>
      </p:sp>
      <p:sp>
        <p:nvSpPr>
          <p:cNvPr id="26" name="Text 24"/>
          <p:cNvSpPr/>
          <p:nvPr/>
        </p:nvSpPr>
        <p:spPr>
          <a:xfrm>
            <a:off x="4407408" y="5385816"/>
            <a:ext cx="1920240" cy="228600"/>
          </a:xfrm>
          <a:prstGeom prst="rect">
            <a:avLst/>
          </a:prstGeom>
          <a:noFill/>
          <a:ln/>
        </p:spPr>
        <p:txBody>
          <a:bodyPr wrap="square" lIns="381" tIns="381" rIns="381" bIns="381" rtlCol="0" anchor="ctr">
            <a:normAutofit/>
          </a:bodyPr>
          <a:lstStyle/>
          <a:p>
            <a:pPr marL="0" indent="0" algn="l">
              <a:buNone/>
            </a:pPr>
            <a:r>
              <a:rPr lang="en-US" sz="1000" dirty="0">
                <a:solidFill>
                  <a:srgbClr val="475569"/>
                </a:solidFill>
                <a:latin typeface="Aptos" pitchFamily="34" charset="0"/>
                <a:ea typeface="Aptos" pitchFamily="34" charset="-122"/>
                <a:cs typeface="Aptos" pitchFamily="34" charset="-120"/>
              </a:rPr>
              <a:t>shared target period</a:t>
            </a:r>
            <a:endParaRPr lang="en-US" sz="1000" dirty="0"/>
          </a:p>
        </p:txBody>
      </p:sp>
      <p:sp>
        <p:nvSpPr>
          <p:cNvPr id="33" name="CasellaDiTesto 32">
            <a:extLst>
              <a:ext uri="{FF2B5EF4-FFF2-40B4-BE49-F238E27FC236}">
                <a16:creationId xmlns:a16="http://schemas.microsoft.com/office/drawing/2014/main" id="{EB3C9A09-8B47-A119-335B-36B3C399199C}"/>
              </a:ext>
            </a:extLst>
          </p:cNvPr>
          <p:cNvSpPr txBox="1"/>
          <p:nvPr/>
        </p:nvSpPr>
        <p:spPr>
          <a:xfrm>
            <a:off x="7371944" y="2168010"/>
            <a:ext cx="4820056" cy="1384995"/>
          </a:xfrm>
          <a:prstGeom prst="rect">
            <a:avLst/>
          </a:prstGeom>
          <a:noFill/>
        </p:spPr>
        <p:txBody>
          <a:bodyPr wrap="square">
            <a:spAutoFit/>
          </a:bodyPr>
          <a:lstStyle/>
          <a:p>
            <a:r>
              <a:rPr lang="en-GB" sz="1400" dirty="0"/>
              <a:t>This is not necessarily an issue (it’s quite normal).</a:t>
            </a:r>
          </a:p>
          <a:p>
            <a:r>
              <a:rPr lang="en-GB" sz="1400" dirty="0"/>
              <a:t>The problem arises when this overlap crosses the split in the wrong direction. For example, </a:t>
            </a:r>
            <a:r>
              <a:rPr lang="en-GB" sz="1400" b="1" dirty="0"/>
              <a:t>if a training input contains values belonging to the validation or test target period, </a:t>
            </a:r>
            <a:r>
              <a:rPr lang="en-GB" sz="1400" b="1" dirty="0">
                <a:highlight>
                  <a:srgbClr val="FFFF00"/>
                </a:highlight>
              </a:rPr>
              <a:t>then training has access to future evaluation information.</a:t>
            </a:r>
            <a:r>
              <a:rPr lang="en-GB" sz="1400" b="1" dirty="0"/>
              <a:t> That is leakage.</a:t>
            </a:r>
          </a:p>
        </p:txBody>
      </p:sp>
      <p:sp>
        <p:nvSpPr>
          <p:cNvPr id="35" name="CasellaDiTesto 34">
            <a:extLst>
              <a:ext uri="{FF2B5EF4-FFF2-40B4-BE49-F238E27FC236}">
                <a16:creationId xmlns:a16="http://schemas.microsoft.com/office/drawing/2014/main" id="{138304C1-9E65-7920-5DD9-1B0EEE7B2353}"/>
              </a:ext>
            </a:extLst>
          </p:cNvPr>
          <p:cNvSpPr txBox="1"/>
          <p:nvPr/>
        </p:nvSpPr>
        <p:spPr>
          <a:xfrm>
            <a:off x="5852160" y="4498848"/>
            <a:ext cx="5402742" cy="1169551"/>
          </a:xfrm>
          <a:prstGeom prst="rect">
            <a:avLst/>
          </a:prstGeom>
          <a:noFill/>
        </p:spPr>
        <p:txBody>
          <a:bodyPr wrap="square">
            <a:spAutoFit/>
          </a:bodyPr>
          <a:lstStyle/>
          <a:p>
            <a:r>
              <a:rPr lang="en-GB" sz="1400" dirty="0">
                <a:highlight>
                  <a:srgbClr val="FFFF00"/>
                </a:highlight>
              </a:rPr>
              <a:t>Within the </a:t>
            </a:r>
            <a:r>
              <a:rPr lang="en-GB" sz="1400" b="1" dirty="0">
                <a:highlight>
                  <a:srgbClr val="FFFF00"/>
                </a:highlight>
              </a:rPr>
              <a:t>same partition</a:t>
            </a:r>
            <a:r>
              <a:rPr lang="en-GB" sz="1400" dirty="0">
                <a:highlight>
                  <a:srgbClr val="FFFF00"/>
                </a:highlight>
              </a:rPr>
              <a:t>, this can be legitimate when using overlapping multi-step windows</a:t>
            </a:r>
            <a:r>
              <a:rPr lang="en-GB" sz="1400" dirty="0"/>
              <a:t>. Across </a:t>
            </a:r>
            <a:r>
              <a:rPr lang="en-GB" sz="1400" b="1" dirty="0"/>
              <a:t>training, validation, and test partitions</a:t>
            </a:r>
            <a:r>
              <a:rPr lang="en-GB" sz="1400" dirty="0"/>
              <a:t>, however, shared target periods should generally be avoided because the same outcome would contribute to more than one stage of model development or evaluation.</a:t>
            </a:r>
          </a:p>
        </p:txBody>
      </p:sp>
      <p:sp>
        <p:nvSpPr>
          <p:cNvPr id="37" name="CasellaDiTesto 36">
            <a:extLst>
              <a:ext uri="{FF2B5EF4-FFF2-40B4-BE49-F238E27FC236}">
                <a16:creationId xmlns:a16="http://schemas.microsoft.com/office/drawing/2014/main" id="{C595E30B-B43E-6570-3DAE-26FF328A9E88}"/>
              </a:ext>
            </a:extLst>
          </p:cNvPr>
          <p:cNvSpPr txBox="1"/>
          <p:nvPr/>
        </p:nvSpPr>
        <p:spPr>
          <a:xfrm>
            <a:off x="1200880" y="5790599"/>
            <a:ext cx="4079780" cy="461665"/>
          </a:xfrm>
          <a:prstGeom prst="rect">
            <a:avLst/>
          </a:prstGeom>
          <a:noFill/>
        </p:spPr>
        <p:txBody>
          <a:bodyPr wrap="square">
            <a:spAutoFit/>
          </a:bodyPr>
          <a:lstStyle/>
          <a:p>
            <a:r>
              <a:rPr lang="en-GB" sz="1200" b="1" dirty="0"/>
              <a:t>Shared target period — acceptable within a partition, but avoid across train/validation/test.</a:t>
            </a:r>
          </a:p>
        </p:txBody>
      </p:sp>
      <p:sp>
        <p:nvSpPr>
          <p:cNvPr id="39" name="CasellaDiTesto 38">
            <a:extLst>
              <a:ext uri="{FF2B5EF4-FFF2-40B4-BE49-F238E27FC236}">
                <a16:creationId xmlns:a16="http://schemas.microsoft.com/office/drawing/2014/main" id="{58A09AEB-F6B9-E030-C951-63C506C0FE0A}"/>
              </a:ext>
            </a:extLst>
          </p:cNvPr>
          <p:cNvSpPr txBox="1"/>
          <p:nvPr/>
        </p:nvSpPr>
        <p:spPr>
          <a:xfrm>
            <a:off x="1799033" y="3866160"/>
            <a:ext cx="4064605" cy="461665"/>
          </a:xfrm>
          <a:prstGeom prst="rect">
            <a:avLst/>
          </a:prstGeom>
          <a:noFill/>
        </p:spPr>
        <p:txBody>
          <a:bodyPr wrap="square">
            <a:spAutoFit/>
          </a:bodyPr>
          <a:lstStyle/>
          <a:p>
            <a:r>
              <a:rPr lang="en-GB" sz="1200" b="1" dirty="0"/>
              <a:t>Target A later becomes input B — valid if it is already observed at B's prediction time.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ABC5983-C2A6-3C3E-DA6D-0076886FD670}"/>
              </a:ext>
            </a:extLst>
          </p:cNvPr>
          <p:cNvSpPr>
            <a:spLocks noGrp="1"/>
          </p:cNvSpPr>
          <p:nvPr>
            <p:ph type="title"/>
          </p:nvPr>
        </p:nvSpPr>
        <p:spPr/>
        <p:txBody>
          <a:bodyPr/>
          <a:lstStyle/>
          <a:p>
            <a:r>
              <a:rPr lang="en-GB" dirty="0"/>
              <a:t>Events can generate many correlated labels</a:t>
            </a:r>
          </a:p>
        </p:txBody>
      </p:sp>
      <p:sp>
        <p:nvSpPr>
          <p:cNvPr id="3" name="Segnaposto contenuto 2">
            <a:extLst>
              <a:ext uri="{FF2B5EF4-FFF2-40B4-BE49-F238E27FC236}">
                <a16:creationId xmlns:a16="http://schemas.microsoft.com/office/drawing/2014/main" id="{BEC25398-852B-95EC-C76C-0804D305C3C5}"/>
              </a:ext>
            </a:extLst>
          </p:cNvPr>
          <p:cNvSpPr>
            <a:spLocks noGrp="1"/>
          </p:cNvSpPr>
          <p:nvPr>
            <p:ph idx="1"/>
          </p:nvPr>
        </p:nvSpPr>
        <p:spPr/>
        <p:txBody>
          <a:bodyPr>
            <a:normAutofit fontScale="92500" lnSpcReduction="10000"/>
          </a:bodyPr>
          <a:lstStyle/>
          <a:p>
            <a:r>
              <a:rPr lang="en-GB" dirty="0"/>
              <a:t>Suppose one fault occurs at time 1,000.</a:t>
            </a:r>
          </a:p>
          <a:p>
            <a:r>
              <a:rPr lang="en-GB" b="1" dirty="0"/>
              <a:t>A future-event label is defined as: positive if a fault occurs within the next 100 time steps</a:t>
            </a:r>
          </a:p>
          <a:p>
            <a:r>
              <a:rPr lang="en-GB" dirty="0"/>
              <a:t>Then windows ending at: t = 900, 901, 902, …, 999 may all receive a positive label because they </a:t>
            </a:r>
            <a:r>
              <a:rPr lang="en-GB" b="1" dirty="0"/>
              <a:t>refer to the same future event.</a:t>
            </a:r>
          </a:p>
          <a:p>
            <a:r>
              <a:rPr lang="en-GB" b="1" dirty="0"/>
              <a:t>Consequence</a:t>
            </a:r>
          </a:p>
          <a:p>
            <a:pPr lvl="1"/>
            <a:r>
              <a:rPr lang="en-GB" dirty="0"/>
              <a:t>One physical event may generate many positive samples.</a:t>
            </a:r>
          </a:p>
          <a:p>
            <a:pPr lvl="1"/>
            <a:r>
              <a:rPr lang="en-GB" dirty="0"/>
              <a:t>If these samples are randomly divided:</a:t>
            </a:r>
          </a:p>
          <a:p>
            <a:pPr lvl="2"/>
            <a:r>
              <a:rPr lang="en-GB" dirty="0"/>
              <a:t>the same event appears in training;</a:t>
            </a:r>
          </a:p>
          <a:p>
            <a:pPr lvl="2"/>
            <a:r>
              <a:rPr lang="en-GB" dirty="0"/>
              <a:t>the same event appears in validation;</a:t>
            </a:r>
          </a:p>
          <a:p>
            <a:pPr lvl="2"/>
            <a:r>
              <a:rPr lang="en-GB" dirty="0"/>
              <a:t>the same event appears in test.</a:t>
            </a:r>
          </a:p>
          <a:p>
            <a:pPr lvl="1"/>
            <a:r>
              <a:rPr lang="en-GB" dirty="0"/>
              <a:t>The reported sample-level performance is then overly optimistic.</a:t>
            </a:r>
          </a:p>
          <a:p>
            <a:endParaRPr lang="en-GB" dirty="0"/>
          </a:p>
        </p:txBody>
      </p:sp>
    </p:spTree>
    <p:extLst>
      <p:ext uri="{BB962C8B-B14F-4D97-AF65-F5344CB8AC3E}">
        <p14:creationId xmlns:p14="http://schemas.microsoft.com/office/powerpoint/2010/main" val="35569887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A85D24-798D-EEF9-BC88-C43CF764C668}"/>
              </a:ext>
            </a:extLst>
          </p:cNvPr>
          <p:cNvSpPr>
            <a:spLocks noGrp="1"/>
          </p:cNvSpPr>
          <p:nvPr>
            <p:ph type="title"/>
          </p:nvPr>
        </p:nvSpPr>
        <p:spPr/>
        <p:txBody>
          <a:bodyPr/>
          <a:lstStyle/>
          <a:p>
            <a:r>
              <a:rPr lang="it-IT" dirty="0" err="1"/>
              <a:t>Correct</a:t>
            </a:r>
            <a:r>
              <a:rPr lang="it-IT" dirty="0"/>
              <a:t> </a:t>
            </a:r>
            <a:r>
              <a:rPr lang="it-IT" dirty="0" err="1"/>
              <a:t>principle</a:t>
            </a:r>
            <a:endParaRPr lang="en-GB" dirty="0"/>
          </a:p>
        </p:txBody>
      </p:sp>
      <p:sp>
        <p:nvSpPr>
          <p:cNvPr id="3" name="Segnaposto contenuto 2">
            <a:extLst>
              <a:ext uri="{FF2B5EF4-FFF2-40B4-BE49-F238E27FC236}">
                <a16:creationId xmlns:a16="http://schemas.microsoft.com/office/drawing/2014/main" id="{A3FF4CC1-31E8-AB04-4314-0FF986D14944}"/>
              </a:ext>
            </a:extLst>
          </p:cNvPr>
          <p:cNvSpPr>
            <a:spLocks noGrp="1"/>
          </p:cNvSpPr>
          <p:nvPr>
            <p:ph idx="1"/>
          </p:nvPr>
        </p:nvSpPr>
        <p:spPr/>
        <p:txBody>
          <a:bodyPr>
            <a:normAutofit fontScale="85000" lnSpcReduction="20000"/>
          </a:bodyPr>
          <a:lstStyle/>
          <a:p>
            <a:r>
              <a:rPr lang="en-GB" b="1" dirty="0"/>
              <a:t>Correct principle</a:t>
            </a:r>
          </a:p>
          <a:p>
            <a:pPr lvl="1"/>
            <a:r>
              <a:rPr lang="en-GB" dirty="0"/>
              <a:t>All samples associated with the same event should generally be kept in the same partition.</a:t>
            </a:r>
          </a:p>
          <a:p>
            <a:r>
              <a:rPr lang="en-GB" b="1" dirty="0">
                <a:highlight>
                  <a:srgbClr val="FFFF00"/>
                </a:highlight>
              </a:rPr>
              <a:t>Event-level grouping</a:t>
            </a:r>
          </a:p>
          <a:p>
            <a:r>
              <a:rPr lang="en-GB" dirty="0">
                <a:highlight>
                  <a:srgbClr val="FFFF00"/>
                </a:highlight>
              </a:rPr>
              <a:t>Define an </a:t>
            </a:r>
            <a:r>
              <a:rPr lang="en-GB" dirty="0" err="1">
                <a:highlight>
                  <a:srgbClr val="FFFF00"/>
                </a:highlight>
              </a:rPr>
              <a:t>event_id</a:t>
            </a:r>
            <a:r>
              <a:rPr lang="en-GB" dirty="0">
                <a:highlight>
                  <a:srgbClr val="FFFF00"/>
                </a:highlight>
              </a:rPr>
              <a:t> and assign:</a:t>
            </a:r>
          </a:p>
          <a:p>
            <a:pPr lvl="1"/>
            <a:r>
              <a:rPr lang="en-GB" dirty="0"/>
              <a:t>all windows related to event 1 → one partition</a:t>
            </a:r>
          </a:p>
          <a:p>
            <a:pPr lvl="1"/>
            <a:r>
              <a:rPr lang="en-GB" dirty="0"/>
              <a:t>all windows related to event 2 → one partition</a:t>
            </a:r>
          </a:p>
          <a:p>
            <a:endParaRPr lang="en-GB" b="1" dirty="0"/>
          </a:p>
          <a:p>
            <a:r>
              <a:rPr lang="en-GB" b="1" dirty="0"/>
              <a:t>Evaluation implication</a:t>
            </a:r>
          </a:p>
          <a:p>
            <a:r>
              <a:rPr lang="en-GB" dirty="0"/>
              <a:t>Report both:</a:t>
            </a:r>
          </a:p>
          <a:p>
            <a:pPr lvl="1"/>
            <a:r>
              <a:rPr lang="en-GB" dirty="0"/>
              <a:t>window-level metrics;</a:t>
            </a:r>
          </a:p>
          <a:p>
            <a:pPr lvl="1"/>
            <a:r>
              <a:rPr lang="en-GB" dirty="0"/>
              <a:t>event-level metrics.</a:t>
            </a:r>
          </a:p>
          <a:p>
            <a:r>
              <a:rPr lang="en-GB" dirty="0"/>
              <a:t>A model may correctly classify many windows around one easy event while missing several other events entirely.</a:t>
            </a:r>
          </a:p>
          <a:p>
            <a:endParaRPr lang="en-GB" dirty="0"/>
          </a:p>
        </p:txBody>
      </p:sp>
    </p:spTree>
    <p:extLst>
      <p:ext uri="{BB962C8B-B14F-4D97-AF65-F5344CB8AC3E}">
        <p14:creationId xmlns:p14="http://schemas.microsoft.com/office/powerpoint/2010/main" val="42027777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One event can generate many correlated labels</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Future-event labelling can turn one physical event into many positive samples.</a:t>
            </a:r>
            <a:endParaRPr lang="en-US" sz="1150" dirty="0"/>
          </a:p>
        </p:txBody>
      </p:sp>
      <p:sp>
        <p:nvSpPr>
          <p:cNvPr id="6" name="Shape 4"/>
          <p:cNvSpPr/>
          <p:nvPr/>
        </p:nvSpPr>
        <p:spPr>
          <a:xfrm>
            <a:off x="914400" y="1417320"/>
            <a:ext cx="9692640" cy="0"/>
          </a:xfrm>
          <a:prstGeom prst="line">
            <a:avLst/>
          </a:prstGeom>
          <a:noFill/>
          <a:ln w="15240">
            <a:solidFill>
              <a:srgbClr val="94A3B8"/>
            </a:solidFill>
            <a:prstDash val="solid"/>
            <a:headEnd type="none"/>
            <a:tailEnd type="triangle"/>
          </a:ln>
        </p:spPr>
        <p:txBody>
          <a:bodyPr/>
          <a:lstStyle/>
          <a:p>
            <a:endParaRPr lang="en-GB"/>
          </a:p>
        </p:txBody>
      </p:sp>
      <p:sp>
        <p:nvSpPr>
          <p:cNvPr id="7" name="Text 5"/>
          <p:cNvSpPr/>
          <p:nvPr/>
        </p:nvSpPr>
        <p:spPr>
          <a:xfrm>
            <a:off x="10680192" y="133502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8" name="Shape 6"/>
          <p:cNvSpPr/>
          <p:nvPr/>
        </p:nvSpPr>
        <p:spPr>
          <a:xfrm>
            <a:off x="8046720" y="1078992"/>
            <a:ext cx="320040" cy="685800"/>
          </a:xfrm>
          <a:prstGeom prst="rect">
            <a:avLst/>
          </a:prstGeom>
          <a:solidFill>
            <a:srgbClr val="FCA5A5"/>
          </a:solidFill>
          <a:ln w="10160">
            <a:solidFill>
              <a:srgbClr val="DC2626"/>
            </a:solidFill>
            <a:prstDash val="solid"/>
          </a:ln>
        </p:spPr>
        <p:txBody>
          <a:bodyPr/>
          <a:lstStyle/>
          <a:p>
            <a:endParaRPr lang="en-GB"/>
          </a:p>
        </p:txBody>
      </p:sp>
      <p:sp>
        <p:nvSpPr>
          <p:cNvPr id="10" name="Shape 8"/>
          <p:cNvSpPr/>
          <p:nvPr/>
        </p:nvSpPr>
        <p:spPr>
          <a:xfrm>
            <a:off x="1920240" y="2331720"/>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1" name="Shape 9"/>
          <p:cNvSpPr/>
          <p:nvPr/>
        </p:nvSpPr>
        <p:spPr>
          <a:xfrm>
            <a:off x="2331720" y="2542032"/>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2" name="Shape 10"/>
          <p:cNvSpPr/>
          <p:nvPr/>
        </p:nvSpPr>
        <p:spPr>
          <a:xfrm>
            <a:off x="2743200" y="2752344"/>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3" name="Shape 11"/>
          <p:cNvSpPr/>
          <p:nvPr/>
        </p:nvSpPr>
        <p:spPr>
          <a:xfrm>
            <a:off x="3154680" y="2962656"/>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4" name="Shape 12"/>
          <p:cNvSpPr/>
          <p:nvPr/>
        </p:nvSpPr>
        <p:spPr>
          <a:xfrm>
            <a:off x="3566160" y="3172968"/>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5" name="Shape 13"/>
          <p:cNvSpPr/>
          <p:nvPr/>
        </p:nvSpPr>
        <p:spPr>
          <a:xfrm>
            <a:off x="3977640" y="2331720"/>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6" name="Shape 14"/>
          <p:cNvSpPr/>
          <p:nvPr/>
        </p:nvSpPr>
        <p:spPr>
          <a:xfrm>
            <a:off x="4389120" y="2542032"/>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7" name="Shape 15"/>
          <p:cNvSpPr/>
          <p:nvPr/>
        </p:nvSpPr>
        <p:spPr>
          <a:xfrm>
            <a:off x="4800600" y="2752344"/>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8" name="Shape 16"/>
          <p:cNvSpPr/>
          <p:nvPr/>
        </p:nvSpPr>
        <p:spPr>
          <a:xfrm>
            <a:off x="5212080" y="2962656"/>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19" name="Shape 17"/>
          <p:cNvSpPr/>
          <p:nvPr/>
        </p:nvSpPr>
        <p:spPr>
          <a:xfrm>
            <a:off x="5623560" y="3172968"/>
            <a:ext cx="2057400" cy="146304"/>
          </a:xfrm>
          <a:prstGeom prst="rect">
            <a:avLst/>
          </a:prstGeom>
          <a:solidFill>
            <a:srgbClr val="DC2626">
              <a:alpha val="85000"/>
            </a:srgbClr>
          </a:solidFill>
          <a:ln w="10160">
            <a:solidFill>
              <a:srgbClr val="DC2626"/>
            </a:solidFill>
            <a:prstDash val="solid"/>
          </a:ln>
        </p:spPr>
        <p:txBody>
          <a:bodyPr/>
          <a:lstStyle/>
          <a:p>
            <a:endParaRPr lang="en-GB"/>
          </a:p>
        </p:txBody>
      </p:sp>
      <p:sp>
        <p:nvSpPr>
          <p:cNvPr id="20" name="Text 18"/>
          <p:cNvSpPr/>
          <p:nvPr/>
        </p:nvSpPr>
        <p:spPr>
          <a:xfrm>
            <a:off x="1920240" y="3657600"/>
            <a:ext cx="5029200" cy="256032"/>
          </a:xfrm>
          <a:prstGeom prst="rect">
            <a:avLst/>
          </a:prstGeom>
          <a:noFill/>
          <a:ln/>
        </p:spPr>
        <p:txBody>
          <a:bodyPr wrap="square" lIns="381" tIns="381" rIns="381" bIns="381" rtlCol="0" anchor="ctr">
            <a:normAutofit/>
          </a:bodyPr>
          <a:lstStyle/>
          <a:p>
            <a:pPr marL="0" indent="0" algn="l">
              <a:buNone/>
            </a:pPr>
            <a:r>
              <a:rPr lang="en-US" sz="1300" b="1" dirty="0">
                <a:solidFill>
                  <a:srgbClr val="0F172A"/>
                </a:solidFill>
                <a:latin typeface="Aptos" pitchFamily="34" charset="0"/>
                <a:ea typeface="Aptos" pitchFamily="34" charset="-122"/>
                <a:cs typeface="Aptos" pitchFamily="34" charset="-120"/>
              </a:rPr>
              <a:t>positive windows ending before the same future event</a:t>
            </a:r>
            <a:endParaRPr lang="en-US" sz="1300" dirty="0"/>
          </a:p>
        </p:txBody>
      </p:sp>
      <p:sp>
        <p:nvSpPr>
          <p:cNvPr id="22" name="Text 20"/>
          <p:cNvSpPr/>
          <p:nvPr/>
        </p:nvSpPr>
        <p:spPr>
          <a:xfrm>
            <a:off x="7155180" y="1837944"/>
            <a:ext cx="2103120" cy="280904"/>
          </a:xfrm>
          <a:prstGeom prst="rect">
            <a:avLst/>
          </a:prstGeom>
          <a:noFill/>
          <a:ln/>
        </p:spPr>
        <p:txBody>
          <a:bodyPr wrap="square" lIns="381" tIns="381" rIns="381" bIns="381" rtlCol="0" anchor="ctr">
            <a:normAutofit/>
          </a:bodyPr>
          <a:lstStyle/>
          <a:p>
            <a:pPr marL="0" indent="0" algn="ctr">
              <a:buNone/>
            </a:pPr>
            <a:r>
              <a:rPr lang="en-US" sz="1050" b="1" dirty="0">
                <a:latin typeface="Aptos" pitchFamily="34" charset="0"/>
                <a:ea typeface="Aptos" pitchFamily="34" charset="-122"/>
                <a:cs typeface="Aptos" pitchFamily="34" charset="-120"/>
              </a:rPr>
              <a:t>event_id = 17</a:t>
            </a:r>
            <a:endParaRPr lang="en-US" sz="1050" dirty="0"/>
          </a:p>
        </p:txBody>
      </p:sp>
      <p:sp>
        <p:nvSpPr>
          <p:cNvPr id="24" name="Shape 22"/>
          <p:cNvSpPr/>
          <p:nvPr/>
        </p:nvSpPr>
        <p:spPr>
          <a:xfrm>
            <a:off x="868680" y="4709160"/>
            <a:ext cx="4709160" cy="841248"/>
          </a:xfrm>
          <a:prstGeom prst="rect">
            <a:avLst/>
          </a:prstGeom>
          <a:solidFill>
            <a:srgbClr val="FFFFFF"/>
          </a:solidFill>
          <a:ln w="11430">
            <a:solidFill>
              <a:srgbClr val="CBD5E1"/>
            </a:solidFill>
            <a:prstDash val="solid"/>
          </a:ln>
        </p:spPr>
        <p:txBody>
          <a:bodyPr/>
          <a:lstStyle/>
          <a:p>
            <a:endParaRPr lang="en-GB"/>
          </a:p>
        </p:txBody>
      </p:sp>
      <p:sp>
        <p:nvSpPr>
          <p:cNvPr id="25" name="Shape 23"/>
          <p:cNvSpPr/>
          <p:nvPr/>
        </p:nvSpPr>
        <p:spPr>
          <a:xfrm>
            <a:off x="978408" y="4709160"/>
            <a:ext cx="0" cy="841248"/>
          </a:xfrm>
          <a:prstGeom prst="line">
            <a:avLst/>
          </a:prstGeom>
          <a:noFill/>
          <a:ln w="38100">
            <a:solidFill>
              <a:srgbClr val="DC2626"/>
            </a:solidFill>
            <a:prstDash val="solid"/>
          </a:ln>
        </p:spPr>
        <p:txBody>
          <a:bodyPr/>
          <a:lstStyle/>
          <a:p>
            <a:endParaRPr lang="en-GB"/>
          </a:p>
        </p:txBody>
      </p:sp>
      <p:sp>
        <p:nvSpPr>
          <p:cNvPr id="26" name="Text 24"/>
          <p:cNvSpPr/>
          <p:nvPr/>
        </p:nvSpPr>
        <p:spPr>
          <a:xfrm>
            <a:off x="1069848" y="4782312"/>
            <a:ext cx="4434840" cy="713232"/>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If these windows are randomly split, the same event can appear in training, validation and test.</a:t>
            </a:r>
            <a:endParaRPr lang="en-US" sz="1100" dirty="0"/>
          </a:p>
        </p:txBody>
      </p:sp>
      <p:sp>
        <p:nvSpPr>
          <p:cNvPr id="27" name="Shape 25"/>
          <p:cNvSpPr/>
          <p:nvPr/>
        </p:nvSpPr>
        <p:spPr>
          <a:xfrm>
            <a:off x="6080760" y="4709160"/>
            <a:ext cx="4709160" cy="841248"/>
          </a:xfrm>
          <a:prstGeom prst="rect">
            <a:avLst/>
          </a:prstGeom>
          <a:solidFill>
            <a:srgbClr val="FFFFFF"/>
          </a:solidFill>
          <a:ln w="11430">
            <a:solidFill>
              <a:srgbClr val="CBD5E1"/>
            </a:solidFill>
            <a:prstDash val="solid"/>
          </a:ln>
        </p:spPr>
        <p:txBody>
          <a:bodyPr/>
          <a:lstStyle/>
          <a:p>
            <a:endParaRPr lang="en-GB"/>
          </a:p>
        </p:txBody>
      </p:sp>
      <p:sp>
        <p:nvSpPr>
          <p:cNvPr id="28" name="Shape 26"/>
          <p:cNvSpPr/>
          <p:nvPr/>
        </p:nvSpPr>
        <p:spPr>
          <a:xfrm>
            <a:off x="6190488" y="4709160"/>
            <a:ext cx="0" cy="841248"/>
          </a:xfrm>
          <a:prstGeom prst="line">
            <a:avLst/>
          </a:prstGeom>
          <a:noFill/>
          <a:ln w="38100">
            <a:solidFill>
              <a:srgbClr val="0F766E"/>
            </a:solidFill>
            <a:prstDash val="solid"/>
          </a:ln>
        </p:spPr>
        <p:txBody>
          <a:bodyPr/>
          <a:lstStyle/>
          <a:p>
            <a:endParaRPr lang="en-GB"/>
          </a:p>
        </p:txBody>
      </p:sp>
      <p:sp>
        <p:nvSpPr>
          <p:cNvPr id="29" name="Text 27"/>
          <p:cNvSpPr/>
          <p:nvPr/>
        </p:nvSpPr>
        <p:spPr>
          <a:xfrm>
            <a:off x="6281928" y="4782312"/>
            <a:ext cx="4434840" cy="713232"/>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Group all samples related to the same event in one partition.</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DE1E1-CEB4-BEC6-599D-D9DC5DBB871F}"/>
              </a:ext>
            </a:extLst>
          </p:cNvPr>
          <p:cNvSpPr>
            <a:spLocks noGrp="1"/>
          </p:cNvSpPr>
          <p:nvPr>
            <p:ph type="title"/>
          </p:nvPr>
        </p:nvSpPr>
        <p:spPr/>
        <p:txBody>
          <a:bodyPr/>
          <a:lstStyle/>
          <a:p>
            <a:r>
              <a:rPr lang="en-GB" dirty="0"/>
              <a:t>When is a temporal gap required?</a:t>
            </a:r>
          </a:p>
        </p:txBody>
      </p:sp>
      <p:sp>
        <p:nvSpPr>
          <p:cNvPr id="3" name="Segnaposto contenuto 2">
            <a:extLst>
              <a:ext uri="{FF2B5EF4-FFF2-40B4-BE49-F238E27FC236}">
                <a16:creationId xmlns:a16="http://schemas.microsoft.com/office/drawing/2014/main" id="{9430E99D-EA9D-8D4C-2C2B-3008E07EB79C}"/>
              </a:ext>
            </a:extLst>
          </p:cNvPr>
          <p:cNvSpPr>
            <a:spLocks noGrp="1"/>
          </p:cNvSpPr>
          <p:nvPr>
            <p:ph idx="1"/>
          </p:nvPr>
        </p:nvSpPr>
        <p:spPr/>
        <p:txBody>
          <a:bodyPr>
            <a:normAutofit fontScale="77500" lnSpcReduction="20000"/>
          </a:bodyPr>
          <a:lstStyle/>
          <a:p>
            <a:r>
              <a:rPr lang="en-GB" dirty="0">
                <a:highlight>
                  <a:srgbClr val="FFFF00"/>
                </a:highlight>
              </a:rPr>
              <a:t>A gap, or embargo interval</a:t>
            </a:r>
            <a:r>
              <a:rPr lang="en-GB" dirty="0"/>
              <a:t>, is an unused temporal region between partitions.</a:t>
            </a:r>
          </a:p>
          <a:p>
            <a:r>
              <a:rPr lang="en-GB" dirty="0"/>
              <a:t>|------ training ------| gap |------ validation ------|</a:t>
            </a:r>
          </a:p>
          <a:p>
            <a:r>
              <a:rPr lang="en-GB" b="1" dirty="0"/>
              <a:t>Purpose</a:t>
            </a:r>
          </a:p>
          <a:p>
            <a:r>
              <a:rPr lang="en-GB" dirty="0"/>
              <a:t>A gap reduces dependence or direct information overlap close to the split boundary.</a:t>
            </a:r>
          </a:p>
          <a:p>
            <a:r>
              <a:rPr lang="en-GB" b="1" dirty="0"/>
              <a:t>A gap may be needed when</a:t>
            </a:r>
          </a:p>
          <a:p>
            <a:pPr lvl="1"/>
            <a:r>
              <a:rPr lang="en-GB" dirty="0"/>
              <a:t>input windows are long;</a:t>
            </a:r>
          </a:p>
          <a:p>
            <a:pPr lvl="1"/>
            <a:r>
              <a:rPr lang="en-GB" dirty="0"/>
              <a:t>forecast horizons are long;</a:t>
            </a:r>
          </a:p>
          <a:p>
            <a:pPr lvl="1"/>
            <a:r>
              <a:rPr lang="en-GB" dirty="0"/>
              <a:t>target intervals overlap;</a:t>
            </a:r>
          </a:p>
          <a:p>
            <a:pPr lvl="1"/>
            <a:r>
              <a:rPr lang="en-GB" dirty="0"/>
              <a:t>rolling features use long lookback periods;</a:t>
            </a:r>
          </a:p>
          <a:p>
            <a:pPr lvl="1"/>
            <a:r>
              <a:rPr lang="en-GB" dirty="0"/>
              <a:t>labels depend on future events;</a:t>
            </a:r>
          </a:p>
          <a:p>
            <a:pPr lvl="1"/>
            <a:r>
              <a:rPr lang="en-GB" dirty="0"/>
              <a:t>events extend across boundaries;</a:t>
            </a:r>
          </a:p>
          <a:p>
            <a:pPr lvl="1"/>
            <a:r>
              <a:rPr lang="en-GB" dirty="0"/>
              <a:t>adjacent observations are nearly duplicated;</a:t>
            </a:r>
          </a:p>
          <a:p>
            <a:pPr lvl="1"/>
            <a:r>
              <a:rPr lang="en-GB" dirty="0"/>
              <a:t>a physical process has strong temporal persistence.</a:t>
            </a:r>
          </a:p>
          <a:p>
            <a:endParaRPr lang="en-GB" dirty="0"/>
          </a:p>
        </p:txBody>
      </p:sp>
      <p:sp>
        <p:nvSpPr>
          <p:cNvPr id="5" name="CasellaDiTesto 4">
            <a:extLst>
              <a:ext uri="{FF2B5EF4-FFF2-40B4-BE49-F238E27FC236}">
                <a16:creationId xmlns:a16="http://schemas.microsoft.com/office/drawing/2014/main" id="{9F53E153-45B6-18A7-5F1A-FFA361D0AA79}"/>
              </a:ext>
            </a:extLst>
          </p:cNvPr>
          <p:cNvSpPr txBox="1"/>
          <p:nvPr/>
        </p:nvSpPr>
        <p:spPr>
          <a:xfrm>
            <a:off x="5846322" y="4243971"/>
            <a:ext cx="3326861" cy="738664"/>
          </a:xfrm>
          <a:prstGeom prst="rect">
            <a:avLst/>
          </a:prstGeom>
          <a:noFill/>
        </p:spPr>
        <p:txBody>
          <a:bodyPr wrap="square">
            <a:spAutoFit/>
          </a:bodyPr>
          <a:lstStyle/>
          <a:p>
            <a:r>
              <a:rPr lang="en-GB" sz="1400" dirty="0"/>
              <a:t>Feature lookback: the historical time span used to compute the model inputs available at prediction time.</a:t>
            </a:r>
          </a:p>
        </p:txBody>
      </p:sp>
      <p:cxnSp>
        <p:nvCxnSpPr>
          <p:cNvPr id="7" name="Connettore 2 6">
            <a:extLst>
              <a:ext uri="{FF2B5EF4-FFF2-40B4-BE49-F238E27FC236}">
                <a16:creationId xmlns:a16="http://schemas.microsoft.com/office/drawing/2014/main" id="{FEF97C9E-F97C-B227-9F4D-DA36C55B3D02}"/>
              </a:ext>
            </a:extLst>
          </p:cNvPr>
          <p:cNvCxnSpPr/>
          <p:nvPr/>
        </p:nvCxnSpPr>
        <p:spPr>
          <a:xfrm flipV="1">
            <a:off x="4581728" y="4474723"/>
            <a:ext cx="914400" cy="107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80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9072D1-F584-0029-34A1-CD4FBC32702B}"/>
              </a:ext>
            </a:extLst>
          </p:cNvPr>
          <p:cNvSpPr>
            <a:spLocks noGrp="1"/>
          </p:cNvSpPr>
          <p:nvPr>
            <p:ph type="title"/>
          </p:nvPr>
        </p:nvSpPr>
        <p:spPr/>
        <p:txBody>
          <a:bodyPr/>
          <a:lstStyle/>
          <a:p>
            <a:r>
              <a:rPr lang="it-IT" dirty="0" err="1"/>
              <a:t>Example</a:t>
            </a:r>
            <a:endParaRPr lang="en-GB" dirty="0"/>
          </a:p>
        </p:txBody>
      </p:sp>
      <p:sp>
        <p:nvSpPr>
          <p:cNvPr id="3" name="Segnaposto contenuto 2">
            <a:extLst>
              <a:ext uri="{FF2B5EF4-FFF2-40B4-BE49-F238E27FC236}">
                <a16:creationId xmlns:a16="http://schemas.microsoft.com/office/drawing/2014/main" id="{54246339-19D9-CFFE-43C8-F1C9F72ECA0E}"/>
              </a:ext>
            </a:extLst>
          </p:cNvPr>
          <p:cNvSpPr>
            <a:spLocks noGrp="1"/>
          </p:cNvSpPr>
          <p:nvPr>
            <p:ph idx="1"/>
          </p:nvPr>
        </p:nvSpPr>
        <p:spPr/>
        <p:txBody>
          <a:bodyPr>
            <a:normAutofit fontScale="62500" lnSpcReduction="20000"/>
          </a:bodyPr>
          <a:lstStyle/>
          <a:p>
            <a:r>
              <a:rPr lang="en-GB" dirty="0"/>
              <a:t>Suppose:</a:t>
            </a:r>
          </a:p>
          <a:p>
            <a:r>
              <a:rPr lang="en-GB" dirty="0"/>
              <a:t>input window length = 100; forecast horizon = 20</a:t>
            </a:r>
          </a:p>
          <a:p>
            <a:r>
              <a:rPr lang="en-GB" dirty="0"/>
              <a:t>A training sample ending at time 1,000 may use:</a:t>
            </a:r>
          </a:p>
          <a:p>
            <a:r>
              <a:rPr lang="en-GB" dirty="0"/>
              <a:t>input: 901–1,000; target: 1,001–1,020</a:t>
            </a:r>
          </a:p>
          <a:p>
            <a:r>
              <a:rPr lang="en-GB" dirty="0"/>
              <a:t>If validation begins at 1,001, the training target overlaps with the validation period.</a:t>
            </a:r>
          </a:p>
          <a:p>
            <a:r>
              <a:rPr lang="en-GB" dirty="0"/>
              <a:t>One solution is to stop generating training samples early enough that all training targets end before validation.</a:t>
            </a:r>
          </a:p>
          <a:p>
            <a:r>
              <a:rPr lang="en-GB" b="1" dirty="0"/>
              <a:t>Gap length</a:t>
            </a:r>
          </a:p>
          <a:p>
            <a:r>
              <a:rPr lang="en-GB" dirty="0"/>
              <a:t>There is no universal gap size.</a:t>
            </a:r>
          </a:p>
          <a:p>
            <a:r>
              <a:rPr lang="en-GB" dirty="0"/>
              <a:t>It depends on:</a:t>
            </a:r>
          </a:p>
          <a:p>
            <a:pPr lvl="1"/>
            <a:r>
              <a:rPr lang="en-GB" dirty="0"/>
              <a:t>maximum input lookback;</a:t>
            </a:r>
          </a:p>
          <a:p>
            <a:pPr lvl="1"/>
            <a:r>
              <a:rPr lang="en-GB" dirty="0"/>
              <a:t>maximum target horizon;</a:t>
            </a:r>
          </a:p>
          <a:p>
            <a:pPr lvl="1"/>
            <a:r>
              <a:rPr lang="en-GB" dirty="0"/>
              <a:t>feature lookback;</a:t>
            </a:r>
          </a:p>
          <a:p>
            <a:pPr lvl="1"/>
            <a:r>
              <a:rPr lang="en-GB" dirty="0"/>
              <a:t>label construction;</a:t>
            </a:r>
          </a:p>
          <a:p>
            <a:pPr lvl="1"/>
            <a:r>
              <a:rPr lang="en-GB" dirty="0"/>
              <a:t>physical dependence.</a:t>
            </a:r>
          </a:p>
        </p:txBody>
      </p:sp>
    </p:spTree>
    <p:extLst>
      <p:ext uri="{BB962C8B-B14F-4D97-AF65-F5344CB8AC3E}">
        <p14:creationId xmlns:p14="http://schemas.microsoft.com/office/powerpoint/2010/main" val="211285374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Temporal gap / embargo</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A gap reduces direct overlap or strong dependence near a split boundary.</a:t>
            </a:r>
            <a:endParaRPr lang="en-US" sz="1150" dirty="0"/>
          </a:p>
        </p:txBody>
      </p:sp>
      <p:sp>
        <p:nvSpPr>
          <p:cNvPr id="6" name="Shape 4"/>
          <p:cNvSpPr/>
          <p:nvPr/>
        </p:nvSpPr>
        <p:spPr>
          <a:xfrm>
            <a:off x="868680" y="1508760"/>
            <a:ext cx="9875520" cy="0"/>
          </a:xfrm>
          <a:prstGeom prst="line">
            <a:avLst/>
          </a:prstGeom>
          <a:noFill/>
          <a:ln w="15240">
            <a:solidFill>
              <a:srgbClr val="94A3B8"/>
            </a:solidFill>
            <a:prstDash val="solid"/>
            <a:headEnd type="none"/>
            <a:tailEnd type="triangle"/>
          </a:ln>
        </p:spPr>
        <p:txBody>
          <a:bodyPr/>
          <a:lstStyle/>
          <a:p>
            <a:endParaRPr lang="en-GB"/>
          </a:p>
        </p:txBody>
      </p:sp>
      <p:sp>
        <p:nvSpPr>
          <p:cNvPr id="7" name="Text 5"/>
          <p:cNvSpPr/>
          <p:nvPr/>
        </p:nvSpPr>
        <p:spPr>
          <a:xfrm>
            <a:off x="10817352" y="142646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8" name="Shape 6"/>
          <p:cNvSpPr/>
          <p:nvPr/>
        </p:nvSpPr>
        <p:spPr>
          <a:xfrm>
            <a:off x="914400" y="1874520"/>
            <a:ext cx="3657600" cy="502920"/>
          </a:xfrm>
          <a:prstGeom prst="rect">
            <a:avLst/>
          </a:prstGeom>
          <a:solidFill>
            <a:srgbClr val="2563EB"/>
          </a:solidFill>
          <a:ln w="10160">
            <a:solidFill>
              <a:srgbClr val="2563EB"/>
            </a:solidFill>
            <a:prstDash val="solid"/>
          </a:ln>
        </p:spPr>
        <p:txBody>
          <a:bodyPr/>
          <a:lstStyle/>
          <a:p>
            <a:endParaRPr lang="en-GB"/>
          </a:p>
        </p:txBody>
      </p:sp>
      <p:sp>
        <p:nvSpPr>
          <p:cNvPr id="9" name="Text 7"/>
          <p:cNvSpPr/>
          <p:nvPr/>
        </p:nvSpPr>
        <p:spPr>
          <a:xfrm>
            <a:off x="950976" y="1965046"/>
            <a:ext cx="3584448" cy="321869"/>
          </a:xfrm>
          <a:prstGeom prst="rect">
            <a:avLst/>
          </a:prstGeom>
          <a:noFill/>
          <a:ln/>
        </p:spPr>
        <p:txBody>
          <a:bodyPr wrap="square" lIns="381" tIns="381" rIns="381" bIns="381"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training</a:t>
            </a:r>
            <a:endParaRPr lang="en-US" sz="1400" dirty="0"/>
          </a:p>
        </p:txBody>
      </p:sp>
      <p:sp>
        <p:nvSpPr>
          <p:cNvPr id="10" name="Shape 8"/>
          <p:cNvSpPr/>
          <p:nvPr/>
        </p:nvSpPr>
        <p:spPr>
          <a:xfrm>
            <a:off x="4572000" y="1874520"/>
            <a:ext cx="1005840" cy="502920"/>
          </a:xfrm>
          <a:prstGeom prst="rect">
            <a:avLst/>
          </a:prstGeom>
          <a:solidFill>
            <a:srgbClr val="CBD5E1"/>
          </a:solidFill>
          <a:ln w="10160">
            <a:solidFill>
              <a:srgbClr val="CBD5E1"/>
            </a:solidFill>
            <a:prstDash val="solid"/>
          </a:ln>
        </p:spPr>
        <p:txBody>
          <a:bodyPr/>
          <a:lstStyle/>
          <a:p>
            <a:endParaRPr lang="en-GB"/>
          </a:p>
        </p:txBody>
      </p:sp>
      <p:sp>
        <p:nvSpPr>
          <p:cNvPr id="11" name="Text 9"/>
          <p:cNvSpPr/>
          <p:nvPr/>
        </p:nvSpPr>
        <p:spPr>
          <a:xfrm>
            <a:off x="4608576" y="1965046"/>
            <a:ext cx="932688" cy="321869"/>
          </a:xfrm>
          <a:prstGeom prst="rect">
            <a:avLst/>
          </a:prstGeom>
          <a:noFill/>
          <a:ln/>
        </p:spPr>
        <p:txBody>
          <a:bodyPr wrap="square" lIns="381" tIns="381" rIns="381" bIns="381" rtlCol="0" anchor="ctr">
            <a:normAutofit/>
          </a:bodyPr>
          <a:lstStyle/>
          <a:p>
            <a:pPr marL="0" indent="0" algn="ctr">
              <a:buNone/>
            </a:pPr>
            <a:r>
              <a:rPr lang="en-US" sz="1400" b="1" dirty="0">
                <a:solidFill>
                  <a:srgbClr val="0F172A"/>
                </a:solidFill>
                <a:latin typeface="Aptos" pitchFamily="34" charset="0"/>
                <a:ea typeface="Aptos" pitchFamily="34" charset="-122"/>
                <a:cs typeface="Aptos" pitchFamily="34" charset="-120"/>
              </a:rPr>
              <a:t>gap</a:t>
            </a:r>
            <a:endParaRPr lang="en-US" sz="1400" dirty="0"/>
          </a:p>
        </p:txBody>
      </p:sp>
      <p:sp>
        <p:nvSpPr>
          <p:cNvPr id="12" name="Shape 10"/>
          <p:cNvSpPr/>
          <p:nvPr/>
        </p:nvSpPr>
        <p:spPr>
          <a:xfrm>
            <a:off x="5577840" y="1874520"/>
            <a:ext cx="3657600" cy="502920"/>
          </a:xfrm>
          <a:prstGeom prst="rect">
            <a:avLst/>
          </a:prstGeom>
          <a:solidFill>
            <a:srgbClr val="F59E0B"/>
          </a:solidFill>
          <a:ln w="10160">
            <a:solidFill>
              <a:srgbClr val="F59E0B"/>
            </a:solidFill>
            <a:prstDash val="solid"/>
          </a:ln>
        </p:spPr>
        <p:txBody>
          <a:bodyPr/>
          <a:lstStyle/>
          <a:p>
            <a:endParaRPr lang="en-GB"/>
          </a:p>
        </p:txBody>
      </p:sp>
      <p:sp>
        <p:nvSpPr>
          <p:cNvPr id="13" name="Text 11"/>
          <p:cNvSpPr/>
          <p:nvPr/>
        </p:nvSpPr>
        <p:spPr>
          <a:xfrm>
            <a:off x="5614416" y="1965046"/>
            <a:ext cx="3584448" cy="321869"/>
          </a:xfrm>
          <a:prstGeom prst="rect">
            <a:avLst/>
          </a:prstGeom>
          <a:noFill/>
          <a:ln/>
        </p:spPr>
        <p:txBody>
          <a:bodyPr wrap="square" lIns="381" tIns="381" rIns="381" bIns="381"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validation</a:t>
            </a:r>
            <a:endParaRPr lang="en-US" sz="1400" dirty="0"/>
          </a:p>
        </p:txBody>
      </p:sp>
      <p:sp>
        <p:nvSpPr>
          <p:cNvPr id="14" name="Shape 12"/>
          <p:cNvSpPr/>
          <p:nvPr/>
        </p:nvSpPr>
        <p:spPr>
          <a:xfrm>
            <a:off x="1051560" y="3154680"/>
            <a:ext cx="2194560" cy="402336"/>
          </a:xfrm>
          <a:prstGeom prst="roundRect">
            <a:avLst>
              <a:gd name="adj" fmla="val 18182"/>
            </a:avLst>
          </a:prstGeom>
          <a:solidFill>
            <a:srgbClr val="7C3AED"/>
          </a:solidFill>
          <a:ln w="8890">
            <a:solidFill>
              <a:srgbClr val="7C3AED"/>
            </a:solidFill>
            <a:prstDash val="solid"/>
          </a:ln>
        </p:spPr>
        <p:txBody>
          <a:bodyPr/>
          <a:lstStyle/>
          <a:p>
            <a:endParaRPr lang="en-GB"/>
          </a:p>
        </p:txBody>
      </p:sp>
      <p:sp>
        <p:nvSpPr>
          <p:cNvPr id="15" name="Text 13"/>
          <p:cNvSpPr/>
          <p:nvPr/>
        </p:nvSpPr>
        <p:spPr>
          <a:xfrm>
            <a:off x="1097280" y="3227100"/>
            <a:ext cx="2103120" cy="257495"/>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long input window</a:t>
            </a:r>
            <a:endParaRPr lang="en-US" sz="1050" dirty="0"/>
          </a:p>
        </p:txBody>
      </p:sp>
      <p:sp>
        <p:nvSpPr>
          <p:cNvPr id="16" name="Shape 14"/>
          <p:cNvSpPr/>
          <p:nvPr/>
        </p:nvSpPr>
        <p:spPr>
          <a:xfrm>
            <a:off x="3657600" y="3154680"/>
            <a:ext cx="2194560" cy="402336"/>
          </a:xfrm>
          <a:prstGeom prst="roundRect">
            <a:avLst>
              <a:gd name="adj" fmla="val 18182"/>
            </a:avLst>
          </a:prstGeom>
          <a:solidFill>
            <a:srgbClr val="EA580C"/>
          </a:solidFill>
          <a:ln w="8890">
            <a:solidFill>
              <a:srgbClr val="EA580C"/>
            </a:solidFill>
            <a:prstDash val="solid"/>
          </a:ln>
        </p:spPr>
        <p:txBody>
          <a:bodyPr/>
          <a:lstStyle/>
          <a:p>
            <a:endParaRPr lang="en-GB"/>
          </a:p>
        </p:txBody>
      </p:sp>
      <p:sp>
        <p:nvSpPr>
          <p:cNvPr id="17" name="Text 15"/>
          <p:cNvSpPr/>
          <p:nvPr/>
        </p:nvSpPr>
        <p:spPr>
          <a:xfrm>
            <a:off x="3703320" y="3227100"/>
            <a:ext cx="2103120" cy="257495"/>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long forecast horizon</a:t>
            </a:r>
            <a:endParaRPr lang="en-US" sz="1050" dirty="0"/>
          </a:p>
        </p:txBody>
      </p:sp>
      <p:sp>
        <p:nvSpPr>
          <p:cNvPr id="18" name="Shape 16"/>
          <p:cNvSpPr/>
          <p:nvPr/>
        </p:nvSpPr>
        <p:spPr>
          <a:xfrm>
            <a:off x="6400800" y="3154680"/>
            <a:ext cx="2194560" cy="402336"/>
          </a:xfrm>
          <a:prstGeom prst="roundRect">
            <a:avLst>
              <a:gd name="adj" fmla="val 18182"/>
            </a:avLst>
          </a:prstGeom>
          <a:solidFill>
            <a:srgbClr val="0F766E"/>
          </a:solidFill>
          <a:ln w="8890">
            <a:solidFill>
              <a:srgbClr val="0F766E"/>
            </a:solidFill>
            <a:prstDash val="solid"/>
          </a:ln>
        </p:spPr>
        <p:txBody>
          <a:bodyPr/>
          <a:lstStyle/>
          <a:p>
            <a:endParaRPr lang="en-GB"/>
          </a:p>
        </p:txBody>
      </p:sp>
      <p:sp>
        <p:nvSpPr>
          <p:cNvPr id="19" name="Text 17"/>
          <p:cNvSpPr/>
          <p:nvPr/>
        </p:nvSpPr>
        <p:spPr>
          <a:xfrm>
            <a:off x="6446520" y="3227100"/>
            <a:ext cx="2103120" cy="257495"/>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rolling features</a:t>
            </a:r>
            <a:endParaRPr lang="en-US" sz="1050" dirty="0"/>
          </a:p>
        </p:txBody>
      </p:sp>
      <p:sp>
        <p:nvSpPr>
          <p:cNvPr id="20" name="Shape 18"/>
          <p:cNvSpPr/>
          <p:nvPr/>
        </p:nvSpPr>
        <p:spPr>
          <a:xfrm>
            <a:off x="3657600" y="3931920"/>
            <a:ext cx="2194560" cy="402336"/>
          </a:xfrm>
          <a:prstGeom prst="roundRect">
            <a:avLst>
              <a:gd name="adj" fmla="val 18182"/>
            </a:avLst>
          </a:prstGeom>
          <a:solidFill>
            <a:srgbClr val="DC2626"/>
          </a:solidFill>
          <a:ln w="8890">
            <a:solidFill>
              <a:srgbClr val="DC2626"/>
            </a:solidFill>
            <a:prstDash val="solid"/>
          </a:ln>
        </p:spPr>
        <p:txBody>
          <a:bodyPr/>
          <a:lstStyle/>
          <a:p>
            <a:endParaRPr lang="en-GB"/>
          </a:p>
        </p:txBody>
      </p:sp>
      <p:sp>
        <p:nvSpPr>
          <p:cNvPr id="21" name="Text 19"/>
          <p:cNvSpPr/>
          <p:nvPr/>
        </p:nvSpPr>
        <p:spPr>
          <a:xfrm>
            <a:off x="3703320" y="4004340"/>
            <a:ext cx="2103120" cy="257495"/>
          </a:xfrm>
          <a:prstGeom prst="rect">
            <a:avLst/>
          </a:prstGeom>
          <a:noFill/>
          <a:ln/>
        </p:spPr>
        <p:txBody>
          <a:bodyPr wrap="square" lIns="381" tIns="381" rIns="381" bIns="381" rtlCol="0" anchor="ctr">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event spans boundary</a:t>
            </a:r>
            <a:endParaRPr lang="en-US" sz="1050" dirty="0"/>
          </a:p>
        </p:txBody>
      </p:sp>
      <p:sp>
        <p:nvSpPr>
          <p:cNvPr id="22" name="Text 20"/>
          <p:cNvSpPr/>
          <p:nvPr/>
        </p:nvSpPr>
        <p:spPr>
          <a:xfrm>
            <a:off x="1069848" y="4559015"/>
            <a:ext cx="9601200" cy="411480"/>
          </a:xfrm>
          <a:prstGeom prst="rect">
            <a:avLst/>
          </a:prstGeom>
          <a:noFill/>
          <a:ln/>
        </p:spPr>
        <p:txBody>
          <a:bodyPr wrap="square" lIns="381" tIns="381" rIns="381" bIns="381" rtlCol="0" anchor="ctr">
            <a:normAutofit fontScale="92500"/>
          </a:bodyPr>
          <a:lstStyle/>
          <a:p>
            <a:pPr marL="0" indent="0" algn="ctr">
              <a:buNone/>
            </a:pPr>
            <a:r>
              <a:rPr lang="en-US" sz="1500" b="1" dirty="0">
                <a:solidFill>
                  <a:srgbClr val="0F172A"/>
                </a:solidFill>
                <a:latin typeface="Aptos" pitchFamily="34" charset="0"/>
                <a:ea typeface="Aptos" pitchFamily="34" charset="-122"/>
                <a:cs typeface="Aptos" pitchFamily="34" charset="-120"/>
              </a:rPr>
              <a:t>Gap length depends on input lookback, target horizon, feature lookback, event duration and temporal persistence.</a:t>
            </a:r>
            <a:endParaRPr lang="en-US" sz="1500" dirty="0"/>
          </a:p>
        </p:txBody>
      </p:sp>
      <p:sp>
        <p:nvSpPr>
          <p:cNvPr id="23" name="Shape 21"/>
          <p:cNvSpPr/>
          <p:nvPr/>
        </p:nvSpPr>
        <p:spPr>
          <a:xfrm>
            <a:off x="1280160" y="5623560"/>
            <a:ext cx="9052560" cy="384048"/>
          </a:xfrm>
          <a:prstGeom prst="rect">
            <a:avLst/>
          </a:prstGeom>
          <a:solidFill>
            <a:srgbClr val="FFFFFF"/>
          </a:solidFill>
          <a:ln w="11430">
            <a:solidFill>
              <a:srgbClr val="CBD5E1"/>
            </a:solidFill>
            <a:prstDash val="solid"/>
          </a:ln>
        </p:spPr>
        <p:txBody>
          <a:bodyPr/>
          <a:lstStyle/>
          <a:p>
            <a:endParaRPr lang="en-GB"/>
          </a:p>
        </p:txBody>
      </p:sp>
      <p:sp>
        <p:nvSpPr>
          <p:cNvPr id="24" name="Shape 22"/>
          <p:cNvSpPr/>
          <p:nvPr/>
        </p:nvSpPr>
        <p:spPr>
          <a:xfrm>
            <a:off x="1389888" y="5623560"/>
            <a:ext cx="0" cy="384048"/>
          </a:xfrm>
          <a:prstGeom prst="line">
            <a:avLst/>
          </a:prstGeom>
          <a:noFill/>
          <a:ln w="38100">
            <a:solidFill>
              <a:srgbClr val="1E293B"/>
            </a:solidFill>
            <a:prstDash val="solid"/>
          </a:ln>
        </p:spPr>
        <p:txBody>
          <a:bodyPr/>
          <a:lstStyle/>
          <a:p>
            <a:endParaRPr lang="en-GB"/>
          </a:p>
        </p:txBody>
      </p:sp>
      <p:sp>
        <p:nvSpPr>
          <p:cNvPr id="25" name="Text 23"/>
          <p:cNvSpPr/>
          <p:nvPr/>
        </p:nvSpPr>
        <p:spPr>
          <a:xfrm>
            <a:off x="1481328" y="5696712"/>
            <a:ext cx="8778240" cy="256032"/>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A gap is not a universal fix; it prevents specific forms of overlap when those forms are present.</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2E5A253-7F45-6764-6F81-AA6FD293DC22}"/>
              </a:ext>
            </a:extLst>
          </p:cNvPr>
          <p:cNvSpPr>
            <a:spLocks noGrp="1"/>
          </p:cNvSpPr>
          <p:nvPr>
            <p:ph type="title"/>
          </p:nvPr>
        </p:nvSpPr>
        <p:spPr/>
        <p:txBody>
          <a:bodyPr/>
          <a:lstStyle/>
          <a:p>
            <a:r>
              <a:rPr lang="en-GB" dirty="0"/>
              <a:t>How to determine safe window boundaries</a:t>
            </a:r>
          </a:p>
        </p:txBody>
      </p:sp>
      <p:sp>
        <p:nvSpPr>
          <p:cNvPr id="3" name="Segnaposto contenuto 2">
            <a:extLst>
              <a:ext uri="{FF2B5EF4-FFF2-40B4-BE49-F238E27FC236}">
                <a16:creationId xmlns:a16="http://schemas.microsoft.com/office/drawing/2014/main" id="{16D5A6AE-0BD0-3C9D-B1FF-24F4E599C5EB}"/>
              </a:ext>
            </a:extLst>
          </p:cNvPr>
          <p:cNvSpPr>
            <a:spLocks noGrp="1"/>
          </p:cNvSpPr>
          <p:nvPr>
            <p:ph idx="1"/>
          </p:nvPr>
        </p:nvSpPr>
        <p:spPr/>
        <p:txBody>
          <a:bodyPr>
            <a:normAutofit fontScale="92500" lnSpcReduction="10000"/>
          </a:bodyPr>
          <a:lstStyle/>
          <a:p>
            <a:r>
              <a:rPr lang="en-GB" dirty="0"/>
              <a:t>For every sample, define four quantities:</a:t>
            </a:r>
          </a:p>
          <a:p>
            <a:pPr lvl="1"/>
            <a:r>
              <a:rPr lang="en-GB" dirty="0"/>
              <a:t>input start, input end</a:t>
            </a:r>
          </a:p>
          <a:p>
            <a:pPr lvl="1"/>
            <a:r>
              <a:rPr lang="en-GB" dirty="0"/>
              <a:t>target start, target end</a:t>
            </a:r>
          </a:p>
          <a:p>
            <a:r>
              <a:rPr lang="en-GB" dirty="0"/>
              <a:t>Example:</a:t>
            </a:r>
          </a:p>
          <a:p>
            <a:pPr lvl="1"/>
            <a:r>
              <a:rPr lang="en-GB" dirty="0"/>
              <a:t>Input interval: [</a:t>
            </a:r>
            <a:r>
              <a:rPr lang="en-GB" dirty="0" err="1"/>
              <a:t>input_start</a:t>
            </a:r>
            <a:r>
              <a:rPr lang="en-GB" dirty="0"/>
              <a:t>, </a:t>
            </a:r>
            <a:r>
              <a:rPr lang="en-GB" dirty="0" err="1"/>
              <a:t>input_end</a:t>
            </a:r>
            <a:r>
              <a:rPr lang="en-GB" dirty="0"/>
              <a:t>]</a:t>
            </a:r>
          </a:p>
          <a:p>
            <a:pPr lvl="1"/>
            <a:r>
              <a:rPr lang="en-GB" dirty="0"/>
              <a:t>Target interval: [</a:t>
            </a:r>
            <a:r>
              <a:rPr lang="en-GB" dirty="0" err="1"/>
              <a:t>target_start</a:t>
            </a:r>
            <a:r>
              <a:rPr lang="en-GB" dirty="0"/>
              <a:t>, </a:t>
            </a:r>
            <a:r>
              <a:rPr lang="en-GB" dirty="0" err="1"/>
              <a:t>target_end</a:t>
            </a:r>
            <a:r>
              <a:rPr lang="en-GB" dirty="0"/>
              <a:t>]</a:t>
            </a:r>
          </a:p>
          <a:p>
            <a:r>
              <a:rPr lang="en-GB" b="1" dirty="0"/>
              <a:t>Training sample condition</a:t>
            </a:r>
          </a:p>
          <a:p>
            <a:pPr lvl="1"/>
            <a:r>
              <a:rPr lang="en-GB" dirty="0"/>
              <a:t>A training sample is valid only if:</a:t>
            </a:r>
          </a:p>
          <a:p>
            <a:pPr lvl="1"/>
            <a:r>
              <a:rPr lang="en-GB" dirty="0" err="1"/>
              <a:t>input_end</a:t>
            </a:r>
            <a:r>
              <a:rPr lang="en-GB" dirty="0"/>
              <a:t> is inside the training interval</a:t>
            </a:r>
          </a:p>
          <a:p>
            <a:pPr lvl="1"/>
            <a:r>
              <a:rPr lang="en-GB" dirty="0"/>
              <a:t>and</a:t>
            </a:r>
          </a:p>
          <a:p>
            <a:pPr lvl="1"/>
            <a:r>
              <a:rPr lang="en-GB" dirty="0" err="1"/>
              <a:t>target_end</a:t>
            </a:r>
            <a:r>
              <a:rPr lang="en-GB" dirty="0"/>
              <a:t> is inside the training interval</a:t>
            </a:r>
          </a:p>
          <a:p>
            <a:endParaRPr lang="en-GB" dirty="0"/>
          </a:p>
        </p:txBody>
      </p:sp>
    </p:spTree>
    <p:extLst>
      <p:ext uri="{BB962C8B-B14F-4D97-AF65-F5344CB8AC3E}">
        <p14:creationId xmlns:p14="http://schemas.microsoft.com/office/powerpoint/2010/main" val="14636192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7BDE4B0-43CD-27F0-B734-3EC90557029A}"/>
              </a:ext>
            </a:extLst>
          </p:cNvPr>
          <p:cNvSpPr>
            <a:spLocks noGrp="1"/>
          </p:cNvSpPr>
          <p:nvPr>
            <p:ph type="title"/>
          </p:nvPr>
        </p:nvSpPr>
        <p:spPr/>
        <p:txBody>
          <a:bodyPr/>
          <a:lstStyle/>
          <a:p>
            <a:r>
              <a:rPr lang="en-GB" b="1" dirty="0"/>
              <a:t>Validation sample condition</a:t>
            </a:r>
            <a:br>
              <a:rPr lang="en-GB" b="1" dirty="0"/>
            </a:br>
            <a:endParaRPr lang="en-GB" dirty="0"/>
          </a:p>
        </p:txBody>
      </p:sp>
      <p:sp>
        <p:nvSpPr>
          <p:cNvPr id="3" name="Segnaposto contenuto 2">
            <a:extLst>
              <a:ext uri="{FF2B5EF4-FFF2-40B4-BE49-F238E27FC236}">
                <a16:creationId xmlns:a16="http://schemas.microsoft.com/office/drawing/2014/main" id="{2C4504E0-4EE0-8435-2ED4-341286F1C39C}"/>
              </a:ext>
            </a:extLst>
          </p:cNvPr>
          <p:cNvSpPr>
            <a:spLocks noGrp="1"/>
          </p:cNvSpPr>
          <p:nvPr>
            <p:ph idx="1"/>
          </p:nvPr>
        </p:nvSpPr>
        <p:spPr>
          <a:xfrm>
            <a:off x="677334" y="2160589"/>
            <a:ext cx="5418666" cy="3880773"/>
          </a:xfrm>
        </p:spPr>
        <p:txBody>
          <a:bodyPr>
            <a:normAutofit fontScale="77500" lnSpcReduction="20000"/>
          </a:bodyPr>
          <a:lstStyle/>
          <a:p>
            <a:r>
              <a:rPr lang="en-GB" dirty="0"/>
              <a:t>A validation sample </a:t>
            </a:r>
            <a:r>
              <a:rPr lang="en-GB" dirty="0">
                <a:highlight>
                  <a:srgbClr val="FFFF00"/>
                </a:highlight>
              </a:rPr>
              <a:t>is valid only if its target belongs to the validation interval.</a:t>
            </a:r>
          </a:p>
          <a:p>
            <a:r>
              <a:rPr lang="en-GB" dirty="0">
                <a:highlight>
                  <a:srgbClr val="FFFF00"/>
                </a:highlight>
              </a:rPr>
              <a:t>Its input may be handled in two ways.</a:t>
            </a:r>
          </a:p>
          <a:p>
            <a:r>
              <a:rPr lang="en-GB" b="1" dirty="0">
                <a:highlight>
                  <a:srgbClr val="FFFF00"/>
                </a:highlight>
              </a:rPr>
              <a:t>Strict partitioning</a:t>
            </a:r>
          </a:p>
          <a:p>
            <a:pPr lvl="1"/>
            <a:r>
              <a:rPr lang="en-GB" dirty="0"/>
              <a:t>Both input and target must be entirely inside validation.</a:t>
            </a:r>
          </a:p>
          <a:p>
            <a:pPr lvl="1"/>
            <a:r>
              <a:rPr lang="en-GB" dirty="0"/>
              <a:t>Advantages:</a:t>
            </a:r>
          </a:p>
          <a:p>
            <a:pPr lvl="2"/>
            <a:r>
              <a:rPr lang="en-GB" dirty="0"/>
              <a:t>complete separation;</a:t>
            </a:r>
          </a:p>
          <a:p>
            <a:pPr lvl="2"/>
            <a:r>
              <a:rPr lang="en-GB" dirty="0"/>
              <a:t>simple interpretation.</a:t>
            </a:r>
          </a:p>
          <a:p>
            <a:r>
              <a:rPr lang="en-GB" b="1" dirty="0">
                <a:highlight>
                  <a:srgbClr val="FFFF00"/>
                </a:highlight>
              </a:rPr>
              <a:t>Operational-context evaluation</a:t>
            </a:r>
          </a:p>
          <a:p>
            <a:pPr lvl="1"/>
            <a:r>
              <a:rPr lang="en-GB" dirty="0"/>
              <a:t>The target is in validation, while the input may include earlier historical observations.</a:t>
            </a:r>
          </a:p>
          <a:p>
            <a:pPr lvl="1"/>
            <a:r>
              <a:rPr lang="en-GB" dirty="0"/>
              <a:t>Advantages:</a:t>
            </a:r>
          </a:p>
          <a:p>
            <a:pPr lvl="2"/>
            <a:r>
              <a:rPr lang="en-GB" dirty="0"/>
              <a:t>reproduces realistic online forecasting;</a:t>
            </a:r>
          </a:p>
          <a:p>
            <a:pPr lvl="2"/>
            <a:r>
              <a:rPr lang="en-GB" dirty="0"/>
              <a:t>allows predictions at the beginning of the validation interval.</a:t>
            </a:r>
          </a:p>
          <a:p>
            <a:endParaRPr lang="en-GB" dirty="0"/>
          </a:p>
        </p:txBody>
      </p:sp>
      <p:sp>
        <p:nvSpPr>
          <p:cNvPr id="5" name="CasellaDiTesto 4">
            <a:extLst>
              <a:ext uri="{FF2B5EF4-FFF2-40B4-BE49-F238E27FC236}">
                <a16:creationId xmlns:a16="http://schemas.microsoft.com/office/drawing/2014/main" id="{FCFB19CA-D20E-F10D-60A2-D250A687B44D}"/>
              </a:ext>
            </a:extLst>
          </p:cNvPr>
          <p:cNvSpPr txBox="1"/>
          <p:nvPr/>
        </p:nvSpPr>
        <p:spPr>
          <a:xfrm>
            <a:off x="7159557" y="4855858"/>
            <a:ext cx="4948136" cy="1600438"/>
          </a:xfrm>
          <a:prstGeom prst="rect">
            <a:avLst/>
          </a:prstGeom>
          <a:noFill/>
        </p:spPr>
        <p:txBody>
          <a:bodyPr wrap="square">
            <a:spAutoFit/>
          </a:bodyPr>
          <a:lstStyle/>
          <a:p>
            <a:pPr>
              <a:buNone/>
            </a:pPr>
            <a:r>
              <a:rPr lang="en-GB" sz="1400" b="1" dirty="0">
                <a:solidFill>
                  <a:schemeClr val="bg1">
                    <a:lumMod val="85000"/>
                  </a:schemeClr>
                </a:solidFill>
              </a:rPr>
              <a:t>Historical observations from earlier periods may still be used as inputs when they would be available at prediction time.</a:t>
            </a:r>
            <a:endParaRPr lang="en-GB" sz="1400" dirty="0">
              <a:solidFill>
                <a:schemeClr val="bg1">
                  <a:lumMod val="85000"/>
                </a:schemeClr>
              </a:solidFill>
            </a:endParaRPr>
          </a:p>
          <a:p>
            <a:pPr>
              <a:buNone/>
            </a:pPr>
            <a:endParaRPr lang="en-GB" sz="1400" dirty="0">
              <a:solidFill>
                <a:schemeClr val="bg1">
                  <a:lumMod val="85000"/>
                </a:schemeClr>
              </a:solidFill>
            </a:endParaRPr>
          </a:p>
          <a:p>
            <a:pPr>
              <a:buNone/>
            </a:pPr>
            <a:r>
              <a:rPr lang="en-GB" sz="1400" dirty="0">
                <a:solidFill>
                  <a:schemeClr val="bg1">
                    <a:lumMod val="85000"/>
                  </a:schemeClr>
                </a:solidFill>
              </a:rPr>
              <a:t>The same calendar period can serve as validation during development and later serve as past context for predictions in a subsequent test period.</a:t>
            </a:r>
          </a:p>
        </p:txBody>
      </p:sp>
    </p:spTree>
    <p:extLst>
      <p:ext uri="{BB962C8B-B14F-4D97-AF65-F5344CB8AC3E}">
        <p14:creationId xmlns:p14="http://schemas.microsoft.com/office/powerpoint/2010/main" val="1361115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B542A23-6422-1139-5E12-3192607247EC}"/>
              </a:ext>
            </a:extLst>
          </p:cNvPr>
          <p:cNvSpPr>
            <a:spLocks noGrp="1"/>
          </p:cNvSpPr>
          <p:nvPr>
            <p:ph type="title"/>
          </p:nvPr>
        </p:nvSpPr>
        <p:spPr/>
        <p:txBody>
          <a:bodyPr/>
          <a:lstStyle/>
          <a:p>
            <a:r>
              <a:rPr lang="it-IT" dirty="0"/>
              <a:t>Auditing</a:t>
            </a:r>
            <a:endParaRPr lang="en-GB" dirty="0"/>
          </a:p>
        </p:txBody>
      </p:sp>
      <p:sp>
        <p:nvSpPr>
          <p:cNvPr id="3" name="Segnaposto contenuto 2">
            <a:extLst>
              <a:ext uri="{FF2B5EF4-FFF2-40B4-BE49-F238E27FC236}">
                <a16:creationId xmlns:a16="http://schemas.microsoft.com/office/drawing/2014/main" id="{EDACB589-716F-A8BD-F906-045F9354B55A}"/>
              </a:ext>
            </a:extLst>
          </p:cNvPr>
          <p:cNvSpPr>
            <a:spLocks noGrp="1"/>
          </p:cNvSpPr>
          <p:nvPr>
            <p:ph idx="1"/>
          </p:nvPr>
        </p:nvSpPr>
        <p:spPr/>
        <p:txBody>
          <a:bodyPr>
            <a:normAutofit fontScale="92500" lnSpcReduction="10000"/>
          </a:bodyPr>
          <a:lstStyle/>
          <a:p>
            <a:r>
              <a:rPr lang="en-GB" b="1" dirty="0"/>
              <a:t>Implementation recommendation</a:t>
            </a:r>
          </a:p>
          <a:p>
            <a:pPr lvl="1"/>
            <a:r>
              <a:rPr lang="en-GB" dirty="0"/>
              <a:t>Store explicit metadata for every sample:</a:t>
            </a:r>
          </a:p>
          <a:p>
            <a:pPr lvl="1"/>
            <a:r>
              <a:rPr lang="en-GB" dirty="0" err="1"/>
              <a:t>entity_id</a:t>
            </a:r>
            <a:endParaRPr lang="en-GB" dirty="0"/>
          </a:p>
          <a:p>
            <a:pPr lvl="1"/>
            <a:r>
              <a:rPr lang="en-GB" dirty="0" err="1"/>
              <a:t>sequence_id</a:t>
            </a:r>
            <a:endParaRPr lang="en-GB" dirty="0"/>
          </a:p>
          <a:p>
            <a:pPr lvl="1"/>
            <a:r>
              <a:rPr lang="en-GB" dirty="0" err="1"/>
              <a:t>input_start</a:t>
            </a:r>
            <a:endParaRPr lang="en-GB" dirty="0"/>
          </a:p>
          <a:p>
            <a:pPr lvl="1"/>
            <a:r>
              <a:rPr lang="en-GB" dirty="0" err="1"/>
              <a:t>input_end</a:t>
            </a:r>
            <a:endParaRPr lang="en-GB" dirty="0"/>
          </a:p>
          <a:p>
            <a:pPr lvl="1"/>
            <a:r>
              <a:rPr lang="en-GB" dirty="0" err="1"/>
              <a:t>target_start</a:t>
            </a:r>
            <a:endParaRPr lang="en-GB" dirty="0"/>
          </a:p>
          <a:p>
            <a:pPr lvl="1"/>
            <a:r>
              <a:rPr lang="en-GB" dirty="0" err="1"/>
              <a:t>target_end</a:t>
            </a:r>
            <a:endParaRPr lang="en-GB" dirty="0"/>
          </a:p>
          <a:p>
            <a:pPr lvl="1"/>
            <a:r>
              <a:rPr lang="en-GB" dirty="0" err="1"/>
              <a:t>event_id</a:t>
            </a:r>
            <a:endParaRPr lang="en-GB" dirty="0"/>
          </a:p>
          <a:p>
            <a:pPr lvl="1"/>
            <a:r>
              <a:rPr lang="en-GB" dirty="0"/>
              <a:t>partition</a:t>
            </a:r>
          </a:p>
          <a:p>
            <a:r>
              <a:rPr lang="en-GB" dirty="0"/>
              <a:t>This makes overlap and leakage checks auditable.</a:t>
            </a:r>
          </a:p>
          <a:p>
            <a:endParaRPr lang="en-GB" dirty="0"/>
          </a:p>
        </p:txBody>
      </p:sp>
    </p:spTree>
    <p:extLst>
      <p:ext uri="{BB962C8B-B14F-4D97-AF65-F5344CB8AC3E}">
        <p14:creationId xmlns:p14="http://schemas.microsoft.com/office/powerpoint/2010/main" val="41176274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Safe window boundaries need explicit metadata</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b="1" dirty="0">
                <a:solidFill>
                  <a:srgbClr val="475569"/>
                </a:solidFill>
              </a:rPr>
              <a:t>Store interval and group identifiers </a:t>
            </a:r>
            <a:r>
              <a:rPr lang="en-US" sz="1150" b="1" dirty="0">
                <a:solidFill>
                  <a:srgbClr val="475569"/>
                </a:solidFill>
                <a:highlight>
                  <a:srgbClr val="FFFF00"/>
                </a:highlight>
              </a:rPr>
              <a:t>for every generated sample</a:t>
            </a:r>
            <a:r>
              <a:rPr lang="en-US" sz="1150" b="1" dirty="0">
                <a:solidFill>
                  <a:srgbClr val="475569"/>
                </a:solidFill>
              </a:rPr>
              <a:t>.</a:t>
            </a:r>
            <a:endParaRPr lang="en-US" sz="1150" b="1" dirty="0"/>
          </a:p>
        </p:txBody>
      </p:sp>
      <p:sp>
        <p:nvSpPr>
          <p:cNvPr id="6" name="Shape 4"/>
          <p:cNvSpPr/>
          <p:nvPr/>
        </p:nvSpPr>
        <p:spPr>
          <a:xfrm>
            <a:off x="868680" y="1234440"/>
            <a:ext cx="9875520" cy="0"/>
          </a:xfrm>
          <a:prstGeom prst="line">
            <a:avLst/>
          </a:prstGeom>
          <a:noFill/>
          <a:ln w="15240">
            <a:solidFill>
              <a:srgbClr val="94A3B8"/>
            </a:solidFill>
            <a:prstDash val="solid"/>
            <a:headEnd type="none"/>
            <a:tailEnd type="triangle"/>
          </a:ln>
        </p:spPr>
        <p:txBody>
          <a:bodyPr/>
          <a:lstStyle/>
          <a:p>
            <a:endParaRPr lang="en-GB"/>
          </a:p>
        </p:txBody>
      </p:sp>
      <p:sp>
        <p:nvSpPr>
          <p:cNvPr id="7" name="Text 5"/>
          <p:cNvSpPr/>
          <p:nvPr/>
        </p:nvSpPr>
        <p:spPr>
          <a:xfrm>
            <a:off x="10817352" y="1152144"/>
            <a:ext cx="502920" cy="164592"/>
          </a:xfrm>
          <a:prstGeom prst="rect">
            <a:avLst/>
          </a:prstGeom>
          <a:noFill/>
          <a:ln/>
        </p:spPr>
        <p:txBody>
          <a:bodyPr wrap="square" lIns="381" tIns="381" rIns="381" bIns="381" rtlCol="0" anchor="ctr">
            <a:normAutofit/>
          </a:bodyPr>
          <a:lstStyle/>
          <a:p>
            <a:pPr marL="0" indent="0" algn="l">
              <a:buNone/>
            </a:pPr>
            <a:r>
              <a:rPr lang="en-US" sz="900" dirty="0">
                <a:solidFill>
                  <a:srgbClr val="475569"/>
                </a:solidFill>
                <a:latin typeface="Aptos" pitchFamily="34" charset="0"/>
                <a:ea typeface="Aptos" pitchFamily="34" charset="-122"/>
                <a:cs typeface="Aptos" pitchFamily="34" charset="-120"/>
              </a:rPr>
              <a:t>time →</a:t>
            </a:r>
            <a:endParaRPr lang="en-US" sz="900" dirty="0"/>
          </a:p>
        </p:txBody>
      </p:sp>
      <p:sp>
        <p:nvSpPr>
          <p:cNvPr id="8" name="Shape 6"/>
          <p:cNvSpPr/>
          <p:nvPr/>
        </p:nvSpPr>
        <p:spPr>
          <a:xfrm>
            <a:off x="1828800" y="1600200"/>
            <a:ext cx="2834640" cy="347472"/>
          </a:xfrm>
          <a:prstGeom prst="rect">
            <a:avLst/>
          </a:prstGeom>
          <a:solidFill>
            <a:srgbClr val="2563EB"/>
          </a:solidFill>
          <a:ln w="10160">
            <a:solidFill>
              <a:srgbClr val="2563EB"/>
            </a:solidFill>
            <a:prstDash val="solid"/>
          </a:ln>
        </p:spPr>
        <p:txBody>
          <a:bodyPr/>
          <a:lstStyle/>
          <a:p>
            <a:endParaRPr lang="en-GB"/>
          </a:p>
        </p:txBody>
      </p:sp>
      <p:sp>
        <p:nvSpPr>
          <p:cNvPr id="9" name="Text 7"/>
          <p:cNvSpPr/>
          <p:nvPr/>
        </p:nvSpPr>
        <p:spPr>
          <a:xfrm>
            <a:off x="1865376" y="1662745"/>
            <a:ext cx="2761488" cy="222382"/>
          </a:xfrm>
          <a:prstGeom prst="rect">
            <a:avLst/>
          </a:prstGeom>
          <a:noFill/>
          <a:ln/>
        </p:spPr>
        <p:txBody>
          <a:bodyPr wrap="square" lIns="381" tIns="381" rIns="381" bIns="381"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input interval</a:t>
            </a:r>
            <a:endParaRPr lang="en-US" sz="1100" dirty="0"/>
          </a:p>
        </p:txBody>
      </p:sp>
      <p:sp>
        <p:nvSpPr>
          <p:cNvPr id="10" name="Shape 8"/>
          <p:cNvSpPr/>
          <p:nvPr/>
        </p:nvSpPr>
        <p:spPr>
          <a:xfrm>
            <a:off x="4983480" y="1600200"/>
            <a:ext cx="1600200" cy="347472"/>
          </a:xfrm>
          <a:prstGeom prst="rect">
            <a:avLst/>
          </a:prstGeom>
          <a:solidFill>
            <a:srgbClr val="DC2626"/>
          </a:solidFill>
          <a:ln w="10160">
            <a:solidFill>
              <a:srgbClr val="DC2626"/>
            </a:solidFill>
            <a:prstDash val="solid"/>
          </a:ln>
        </p:spPr>
        <p:txBody>
          <a:bodyPr/>
          <a:lstStyle/>
          <a:p>
            <a:endParaRPr lang="en-GB"/>
          </a:p>
        </p:txBody>
      </p:sp>
      <p:sp>
        <p:nvSpPr>
          <p:cNvPr id="11" name="Text 9"/>
          <p:cNvSpPr/>
          <p:nvPr/>
        </p:nvSpPr>
        <p:spPr>
          <a:xfrm>
            <a:off x="5020056" y="1662745"/>
            <a:ext cx="1527048" cy="222382"/>
          </a:xfrm>
          <a:prstGeom prst="rect">
            <a:avLst/>
          </a:prstGeom>
          <a:noFill/>
          <a:ln/>
        </p:spPr>
        <p:txBody>
          <a:bodyPr wrap="square" lIns="381" tIns="381" rIns="381" bIns="381"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target interval</a:t>
            </a:r>
            <a:endParaRPr lang="en-US" sz="1100" dirty="0"/>
          </a:p>
        </p:txBody>
      </p:sp>
      <p:sp>
        <p:nvSpPr>
          <p:cNvPr id="12" name="Text 10"/>
          <p:cNvSpPr/>
          <p:nvPr/>
        </p:nvSpPr>
        <p:spPr>
          <a:xfrm>
            <a:off x="1600200" y="2011680"/>
            <a:ext cx="822960" cy="164592"/>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input_start</a:t>
            </a:r>
            <a:endParaRPr lang="en-US" sz="850" dirty="0"/>
          </a:p>
        </p:txBody>
      </p:sp>
      <p:sp>
        <p:nvSpPr>
          <p:cNvPr id="13" name="Text 11"/>
          <p:cNvSpPr/>
          <p:nvPr/>
        </p:nvSpPr>
        <p:spPr>
          <a:xfrm>
            <a:off x="4160520" y="2011680"/>
            <a:ext cx="822960" cy="164592"/>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input_end</a:t>
            </a:r>
            <a:endParaRPr lang="en-US" sz="850" dirty="0"/>
          </a:p>
        </p:txBody>
      </p:sp>
      <p:sp>
        <p:nvSpPr>
          <p:cNvPr id="14" name="Text 12"/>
          <p:cNvSpPr/>
          <p:nvPr/>
        </p:nvSpPr>
        <p:spPr>
          <a:xfrm>
            <a:off x="4617720" y="2267712"/>
            <a:ext cx="914400" cy="164592"/>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target_start</a:t>
            </a:r>
            <a:endParaRPr lang="en-US" sz="850" dirty="0"/>
          </a:p>
        </p:txBody>
      </p:sp>
      <p:sp>
        <p:nvSpPr>
          <p:cNvPr id="15" name="Text 13"/>
          <p:cNvSpPr/>
          <p:nvPr/>
        </p:nvSpPr>
        <p:spPr>
          <a:xfrm>
            <a:off x="6263640" y="2011680"/>
            <a:ext cx="822960" cy="164592"/>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target_end</a:t>
            </a:r>
            <a:endParaRPr lang="en-US" sz="850" dirty="0"/>
          </a:p>
        </p:txBody>
      </p:sp>
      <p:sp>
        <p:nvSpPr>
          <p:cNvPr id="16" name="Shape 14"/>
          <p:cNvSpPr/>
          <p:nvPr/>
        </p:nvSpPr>
        <p:spPr>
          <a:xfrm>
            <a:off x="777240" y="2788920"/>
            <a:ext cx="1143000" cy="402336"/>
          </a:xfrm>
          <a:prstGeom prst="rect">
            <a:avLst/>
          </a:prstGeom>
          <a:solidFill>
            <a:srgbClr val="1E293B"/>
          </a:solidFill>
          <a:ln w="10160">
            <a:solidFill>
              <a:srgbClr val="1E293B"/>
            </a:solidFill>
            <a:prstDash val="solid"/>
          </a:ln>
        </p:spPr>
        <p:txBody>
          <a:bodyPr/>
          <a:lstStyle/>
          <a:p>
            <a:endParaRPr lang="en-GB"/>
          </a:p>
        </p:txBody>
      </p:sp>
      <p:sp>
        <p:nvSpPr>
          <p:cNvPr id="17" name="Text 15"/>
          <p:cNvSpPr/>
          <p:nvPr/>
        </p:nvSpPr>
        <p:spPr>
          <a:xfrm>
            <a:off x="804672" y="2880360"/>
            <a:ext cx="108813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entity_id</a:t>
            </a:r>
            <a:endParaRPr lang="en-US" sz="820" dirty="0"/>
          </a:p>
        </p:txBody>
      </p:sp>
      <p:sp>
        <p:nvSpPr>
          <p:cNvPr id="18" name="Shape 16"/>
          <p:cNvSpPr/>
          <p:nvPr/>
        </p:nvSpPr>
        <p:spPr>
          <a:xfrm>
            <a:off x="1920240" y="2788920"/>
            <a:ext cx="1143000" cy="402336"/>
          </a:xfrm>
          <a:prstGeom prst="rect">
            <a:avLst/>
          </a:prstGeom>
          <a:solidFill>
            <a:srgbClr val="1E293B"/>
          </a:solidFill>
          <a:ln w="10160">
            <a:solidFill>
              <a:srgbClr val="1E293B"/>
            </a:solidFill>
            <a:prstDash val="solid"/>
          </a:ln>
        </p:spPr>
        <p:txBody>
          <a:bodyPr/>
          <a:lstStyle/>
          <a:p>
            <a:endParaRPr lang="en-GB"/>
          </a:p>
        </p:txBody>
      </p:sp>
      <p:sp>
        <p:nvSpPr>
          <p:cNvPr id="19" name="Text 17"/>
          <p:cNvSpPr/>
          <p:nvPr/>
        </p:nvSpPr>
        <p:spPr>
          <a:xfrm>
            <a:off x="1947672" y="2880360"/>
            <a:ext cx="108813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sequence_id</a:t>
            </a:r>
            <a:endParaRPr lang="en-US" sz="820" dirty="0"/>
          </a:p>
        </p:txBody>
      </p:sp>
      <p:sp>
        <p:nvSpPr>
          <p:cNvPr id="20" name="Shape 18"/>
          <p:cNvSpPr/>
          <p:nvPr/>
        </p:nvSpPr>
        <p:spPr>
          <a:xfrm>
            <a:off x="3063240" y="2788920"/>
            <a:ext cx="1325880" cy="402336"/>
          </a:xfrm>
          <a:prstGeom prst="rect">
            <a:avLst/>
          </a:prstGeom>
          <a:solidFill>
            <a:srgbClr val="1E293B"/>
          </a:solidFill>
          <a:ln w="10160">
            <a:solidFill>
              <a:srgbClr val="1E293B"/>
            </a:solidFill>
            <a:prstDash val="solid"/>
          </a:ln>
        </p:spPr>
        <p:txBody>
          <a:bodyPr/>
          <a:lstStyle/>
          <a:p>
            <a:endParaRPr lang="en-GB"/>
          </a:p>
        </p:txBody>
      </p:sp>
      <p:sp>
        <p:nvSpPr>
          <p:cNvPr id="21" name="Text 19"/>
          <p:cNvSpPr/>
          <p:nvPr/>
        </p:nvSpPr>
        <p:spPr>
          <a:xfrm>
            <a:off x="3090672" y="2880360"/>
            <a:ext cx="127101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input_start</a:t>
            </a:r>
            <a:endParaRPr lang="en-US" sz="820" dirty="0"/>
          </a:p>
        </p:txBody>
      </p:sp>
      <p:sp>
        <p:nvSpPr>
          <p:cNvPr id="22" name="Shape 20"/>
          <p:cNvSpPr/>
          <p:nvPr/>
        </p:nvSpPr>
        <p:spPr>
          <a:xfrm>
            <a:off x="4389120" y="2788920"/>
            <a:ext cx="1097280" cy="402336"/>
          </a:xfrm>
          <a:prstGeom prst="rect">
            <a:avLst/>
          </a:prstGeom>
          <a:solidFill>
            <a:srgbClr val="1E293B"/>
          </a:solidFill>
          <a:ln w="10160">
            <a:solidFill>
              <a:srgbClr val="1E293B"/>
            </a:solidFill>
            <a:prstDash val="solid"/>
          </a:ln>
        </p:spPr>
        <p:txBody>
          <a:bodyPr/>
          <a:lstStyle/>
          <a:p>
            <a:endParaRPr lang="en-GB"/>
          </a:p>
        </p:txBody>
      </p:sp>
      <p:sp>
        <p:nvSpPr>
          <p:cNvPr id="23" name="Text 21"/>
          <p:cNvSpPr/>
          <p:nvPr/>
        </p:nvSpPr>
        <p:spPr>
          <a:xfrm>
            <a:off x="4416552" y="2880360"/>
            <a:ext cx="104241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input_end</a:t>
            </a:r>
            <a:endParaRPr lang="en-US" sz="820" dirty="0"/>
          </a:p>
        </p:txBody>
      </p:sp>
      <p:sp>
        <p:nvSpPr>
          <p:cNvPr id="24" name="Shape 22"/>
          <p:cNvSpPr/>
          <p:nvPr/>
        </p:nvSpPr>
        <p:spPr>
          <a:xfrm>
            <a:off x="5486400" y="2788920"/>
            <a:ext cx="1005840" cy="402336"/>
          </a:xfrm>
          <a:prstGeom prst="rect">
            <a:avLst/>
          </a:prstGeom>
          <a:solidFill>
            <a:srgbClr val="1E293B"/>
          </a:solidFill>
          <a:ln w="10160">
            <a:solidFill>
              <a:srgbClr val="1E293B"/>
            </a:solidFill>
            <a:prstDash val="solid"/>
          </a:ln>
        </p:spPr>
        <p:txBody>
          <a:bodyPr/>
          <a:lstStyle/>
          <a:p>
            <a:endParaRPr lang="en-GB"/>
          </a:p>
        </p:txBody>
      </p:sp>
      <p:sp>
        <p:nvSpPr>
          <p:cNvPr id="25" name="Text 23"/>
          <p:cNvSpPr/>
          <p:nvPr/>
        </p:nvSpPr>
        <p:spPr>
          <a:xfrm>
            <a:off x="5513832" y="2880360"/>
            <a:ext cx="95097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target_start</a:t>
            </a:r>
            <a:endParaRPr lang="en-US" sz="820" dirty="0"/>
          </a:p>
        </p:txBody>
      </p:sp>
      <p:sp>
        <p:nvSpPr>
          <p:cNvPr id="26" name="Shape 24"/>
          <p:cNvSpPr/>
          <p:nvPr/>
        </p:nvSpPr>
        <p:spPr>
          <a:xfrm>
            <a:off x="6492240" y="2788920"/>
            <a:ext cx="1143000" cy="402336"/>
          </a:xfrm>
          <a:prstGeom prst="rect">
            <a:avLst/>
          </a:prstGeom>
          <a:solidFill>
            <a:srgbClr val="1E293B"/>
          </a:solidFill>
          <a:ln w="10160">
            <a:solidFill>
              <a:srgbClr val="1E293B"/>
            </a:solidFill>
            <a:prstDash val="solid"/>
          </a:ln>
        </p:spPr>
        <p:txBody>
          <a:bodyPr/>
          <a:lstStyle/>
          <a:p>
            <a:endParaRPr lang="en-GB"/>
          </a:p>
        </p:txBody>
      </p:sp>
      <p:sp>
        <p:nvSpPr>
          <p:cNvPr id="27" name="Text 25"/>
          <p:cNvSpPr/>
          <p:nvPr/>
        </p:nvSpPr>
        <p:spPr>
          <a:xfrm>
            <a:off x="6519672" y="2880360"/>
            <a:ext cx="108813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target_end</a:t>
            </a:r>
            <a:endParaRPr lang="en-US" sz="820" dirty="0"/>
          </a:p>
        </p:txBody>
      </p:sp>
      <p:sp>
        <p:nvSpPr>
          <p:cNvPr id="28" name="Shape 26"/>
          <p:cNvSpPr/>
          <p:nvPr/>
        </p:nvSpPr>
        <p:spPr>
          <a:xfrm>
            <a:off x="7635240" y="2788920"/>
            <a:ext cx="914400" cy="402336"/>
          </a:xfrm>
          <a:prstGeom prst="rect">
            <a:avLst/>
          </a:prstGeom>
          <a:solidFill>
            <a:srgbClr val="1E293B"/>
          </a:solidFill>
          <a:ln w="10160">
            <a:solidFill>
              <a:srgbClr val="1E293B"/>
            </a:solidFill>
            <a:prstDash val="solid"/>
          </a:ln>
        </p:spPr>
        <p:txBody>
          <a:bodyPr/>
          <a:lstStyle/>
          <a:p>
            <a:endParaRPr lang="en-GB"/>
          </a:p>
        </p:txBody>
      </p:sp>
      <p:sp>
        <p:nvSpPr>
          <p:cNvPr id="29" name="Text 27"/>
          <p:cNvSpPr/>
          <p:nvPr/>
        </p:nvSpPr>
        <p:spPr>
          <a:xfrm>
            <a:off x="7662672" y="2880360"/>
            <a:ext cx="85953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event_id</a:t>
            </a:r>
            <a:endParaRPr lang="en-US" sz="820" dirty="0"/>
          </a:p>
        </p:txBody>
      </p:sp>
      <p:sp>
        <p:nvSpPr>
          <p:cNvPr id="30" name="Shape 28"/>
          <p:cNvSpPr/>
          <p:nvPr/>
        </p:nvSpPr>
        <p:spPr>
          <a:xfrm>
            <a:off x="8549640" y="2788920"/>
            <a:ext cx="1005840" cy="402336"/>
          </a:xfrm>
          <a:prstGeom prst="rect">
            <a:avLst/>
          </a:prstGeom>
          <a:solidFill>
            <a:srgbClr val="1E293B"/>
          </a:solidFill>
          <a:ln w="10160">
            <a:solidFill>
              <a:srgbClr val="1E293B"/>
            </a:solidFill>
            <a:prstDash val="solid"/>
          </a:ln>
        </p:spPr>
        <p:txBody>
          <a:bodyPr/>
          <a:lstStyle/>
          <a:p>
            <a:endParaRPr lang="en-GB"/>
          </a:p>
        </p:txBody>
      </p:sp>
      <p:sp>
        <p:nvSpPr>
          <p:cNvPr id="31" name="Text 29"/>
          <p:cNvSpPr/>
          <p:nvPr/>
        </p:nvSpPr>
        <p:spPr>
          <a:xfrm>
            <a:off x="8577072" y="2880360"/>
            <a:ext cx="950976" cy="201168"/>
          </a:xfrm>
          <a:prstGeom prst="rect">
            <a:avLst/>
          </a:prstGeom>
          <a:noFill/>
          <a:ln/>
        </p:spPr>
        <p:txBody>
          <a:bodyPr wrap="square" lIns="381" tIns="381" rIns="381" bIns="381" rtlCol="0" anchor="ctr">
            <a:normAutofit/>
          </a:bodyPr>
          <a:lstStyle/>
          <a:p>
            <a:pPr marL="0" indent="0" algn="ctr">
              <a:buNone/>
            </a:pPr>
            <a:r>
              <a:rPr lang="en-US" sz="820" b="1" dirty="0">
                <a:solidFill>
                  <a:srgbClr val="FFFFFF"/>
                </a:solidFill>
                <a:latin typeface="Aptos" pitchFamily="34" charset="0"/>
                <a:ea typeface="Aptos" pitchFamily="34" charset="-122"/>
                <a:cs typeface="Aptos" pitchFamily="34" charset="-120"/>
              </a:rPr>
              <a:t>partition</a:t>
            </a:r>
            <a:endParaRPr lang="en-US" sz="820" dirty="0"/>
          </a:p>
        </p:txBody>
      </p:sp>
      <p:sp>
        <p:nvSpPr>
          <p:cNvPr id="32" name="Shape 30"/>
          <p:cNvSpPr/>
          <p:nvPr/>
        </p:nvSpPr>
        <p:spPr>
          <a:xfrm>
            <a:off x="777240" y="3209544"/>
            <a:ext cx="1143000" cy="347472"/>
          </a:xfrm>
          <a:prstGeom prst="rect">
            <a:avLst/>
          </a:prstGeom>
          <a:solidFill>
            <a:srgbClr val="EEF2FF"/>
          </a:solidFill>
          <a:ln w="10160">
            <a:solidFill>
              <a:srgbClr val="CBD5E1"/>
            </a:solidFill>
            <a:prstDash val="solid"/>
          </a:ln>
        </p:spPr>
        <p:txBody>
          <a:bodyPr/>
          <a:lstStyle/>
          <a:p>
            <a:endParaRPr lang="en-GB"/>
          </a:p>
        </p:txBody>
      </p:sp>
      <p:sp>
        <p:nvSpPr>
          <p:cNvPr id="33" name="Text 31"/>
          <p:cNvSpPr/>
          <p:nvPr/>
        </p:nvSpPr>
        <p:spPr>
          <a:xfrm>
            <a:off x="804672" y="3291840"/>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M03</a:t>
            </a:r>
            <a:endParaRPr lang="en-US" sz="830" dirty="0"/>
          </a:p>
        </p:txBody>
      </p:sp>
      <p:sp>
        <p:nvSpPr>
          <p:cNvPr id="34" name="Shape 32"/>
          <p:cNvSpPr/>
          <p:nvPr/>
        </p:nvSpPr>
        <p:spPr>
          <a:xfrm>
            <a:off x="1920240" y="3209544"/>
            <a:ext cx="1143000" cy="347472"/>
          </a:xfrm>
          <a:prstGeom prst="rect">
            <a:avLst/>
          </a:prstGeom>
          <a:solidFill>
            <a:srgbClr val="EEF2FF"/>
          </a:solidFill>
          <a:ln w="10160">
            <a:solidFill>
              <a:srgbClr val="CBD5E1"/>
            </a:solidFill>
            <a:prstDash val="solid"/>
          </a:ln>
        </p:spPr>
        <p:txBody>
          <a:bodyPr/>
          <a:lstStyle/>
          <a:p>
            <a:endParaRPr lang="en-GB"/>
          </a:p>
        </p:txBody>
      </p:sp>
      <p:sp>
        <p:nvSpPr>
          <p:cNvPr id="35" name="Text 33"/>
          <p:cNvSpPr/>
          <p:nvPr/>
        </p:nvSpPr>
        <p:spPr>
          <a:xfrm>
            <a:off x="1947672" y="3291840"/>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C12</a:t>
            </a:r>
            <a:endParaRPr lang="en-US" sz="830" dirty="0"/>
          </a:p>
        </p:txBody>
      </p:sp>
      <p:sp>
        <p:nvSpPr>
          <p:cNvPr id="36" name="Shape 34"/>
          <p:cNvSpPr/>
          <p:nvPr/>
        </p:nvSpPr>
        <p:spPr>
          <a:xfrm>
            <a:off x="3063240" y="3209544"/>
            <a:ext cx="1325880" cy="347472"/>
          </a:xfrm>
          <a:prstGeom prst="rect">
            <a:avLst/>
          </a:prstGeom>
          <a:solidFill>
            <a:srgbClr val="EEF2FF"/>
          </a:solidFill>
          <a:ln w="10160">
            <a:solidFill>
              <a:srgbClr val="CBD5E1"/>
            </a:solidFill>
            <a:prstDash val="solid"/>
          </a:ln>
        </p:spPr>
        <p:txBody>
          <a:bodyPr/>
          <a:lstStyle/>
          <a:p>
            <a:endParaRPr lang="en-GB"/>
          </a:p>
        </p:txBody>
      </p:sp>
      <p:sp>
        <p:nvSpPr>
          <p:cNvPr id="37" name="Text 35"/>
          <p:cNvSpPr/>
          <p:nvPr/>
        </p:nvSpPr>
        <p:spPr>
          <a:xfrm>
            <a:off x="3090672" y="3291840"/>
            <a:ext cx="127101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901</a:t>
            </a:r>
            <a:endParaRPr lang="en-US" sz="830" dirty="0"/>
          </a:p>
        </p:txBody>
      </p:sp>
      <p:sp>
        <p:nvSpPr>
          <p:cNvPr id="38" name="Shape 36"/>
          <p:cNvSpPr/>
          <p:nvPr/>
        </p:nvSpPr>
        <p:spPr>
          <a:xfrm>
            <a:off x="4389120" y="3209544"/>
            <a:ext cx="1097280" cy="347472"/>
          </a:xfrm>
          <a:prstGeom prst="rect">
            <a:avLst/>
          </a:prstGeom>
          <a:solidFill>
            <a:srgbClr val="EEF2FF"/>
          </a:solidFill>
          <a:ln w="10160">
            <a:solidFill>
              <a:srgbClr val="CBD5E1"/>
            </a:solidFill>
            <a:prstDash val="solid"/>
          </a:ln>
        </p:spPr>
        <p:txBody>
          <a:bodyPr/>
          <a:lstStyle/>
          <a:p>
            <a:endParaRPr lang="en-GB"/>
          </a:p>
        </p:txBody>
      </p:sp>
      <p:sp>
        <p:nvSpPr>
          <p:cNvPr id="39" name="Text 37"/>
          <p:cNvSpPr/>
          <p:nvPr/>
        </p:nvSpPr>
        <p:spPr>
          <a:xfrm>
            <a:off x="4416552" y="3291840"/>
            <a:ext cx="104241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1000</a:t>
            </a:r>
            <a:endParaRPr lang="en-US" sz="830" dirty="0"/>
          </a:p>
        </p:txBody>
      </p:sp>
      <p:sp>
        <p:nvSpPr>
          <p:cNvPr id="40" name="Shape 38"/>
          <p:cNvSpPr/>
          <p:nvPr/>
        </p:nvSpPr>
        <p:spPr>
          <a:xfrm>
            <a:off x="5486400" y="3209544"/>
            <a:ext cx="1005840" cy="347472"/>
          </a:xfrm>
          <a:prstGeom prst="rect">
            <a:avLst/>
          </a:prstGeom>
          <a:solidFill>
            <a:srgbClr val="EEF2FF"/>
          </a:solidFill>
          <a:ln w="10160">
            <a:solidFill>
              <a:srgbClr val="CBD5E1"/>
            </a:solidFill>
            <a:prstDash val="solid"/>
          </a:ln>
        </p:spPr>
        <p:txBody>
          <a:bodyPr/>
          <a:lstStyle/>
          <a:p>
            <a:endParaRPr lang="en-GB"/>
          </a:p>
        </p:txBody>
      </p:sp>
      <p:sp>
        <p:nvSpPr>
          <p:cNvPr id="41" name="Text 39"/>
          <p:cNvSpPr/>
          <p:nvPr/>
        </p:nvSpPr>
        <p:spPr>
          <a:xfrm>
            <a:off x="5513832" y="3291840"/>
            <a:ext cx="95097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1001</a:t>
            </a:r>
            <a:endParaRPr lang="en-US" sz="830" dirty="0"/>
          </a:p>
        </p:txBody>
      </p:sp>
      <p:sp>
        <p:nvSpPr>
          <p:cNvPr id="42" name="Shape 40"/>
          <p:cNvSpPr/>
          <p:nvPr/>
        </p:nvSpPr>
        <p:spPr>
          <a:xfrm>
            <a:off x="6492240" y="3209544"/>
            <a:ext cx="1143000" cy="347472"/>
          </a:xfrm>
          <a:prstGeom prst="rect">
            <a:avLst/>
          </a:prstGeom>
          <a:solidFill>
            <a:srgbClr val="EEF2FF"/>
          </a:solidFill>
          <a:ln w="10160">
            <a:solidFill>
              <a:srgbClr val="CBD5E1"/>
            </a:solidFill>
            <a:prstDash val="solid"/>
          </a:ln>
        </p:spPr>
        <p:txBody>
          <a:bodyPr/>
          <a:lstStyle/>
          <a:p>
            <a:endParaRPr lang="en-GB"/>
          </a:p>
        </p:txBody>
      </p:sp>
      <p:sp>
        <p:nvSpPr>
          <p:cNvPr id="43" name="Text 41"/>
          <p:cNvSpPr/>
          <p:nvPr/>
        </p:nvSpPr>
        <p:spPr>
          <a:xfrm>
            <a:off x="6519672" y="3291840"/>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1020</a:t>
            </a:r>
            <a:endParaRPr lang="en-US" sz="830" dirty="0"/>
          </a:p>
        </p:txBody>
      </p:sp>
      <p:sp>
        <p:nvSpPr>
          <p:cNvPr id="44" name="Shape 42"/>
          <p:cNvSpPr/>
          <p:nvPr/>
        </p:nvSpPr>
        <p:spPr>
          <a:xfrm>
            <a:off x="7635240" y="3209544"/>
            <a:ext cx="914400" cy="347472"/>
          </a:xfrm>
          <a:prstGeom prst="rect">
            <a:avLst/>
          </a:prstGeom>
          <a:solidFill>
            <a:srgbClr val="EEF2FF"/>
          </a:solidFill>
          <a:ln w="10160">
            <a:solidFill>
              <a:srgbClr val="CBD5E1"/>
            </a:solidFill>
            <a:prstDash val="solid"/>
          </a:ln>
        </p:spPr>
        <p:txBody>
          <a:bodyPr/>
          <a:lstStyle/>
          <a:p>
            <a:endParaRPr lang="en-GB"/>
          </a:p>
        </p:txBody>
      </p:sp>
      <p:sp>
        <p:nvSpPr>
          <p:cNvPr id="45" name="Text 43"/>
          <p:cNvSpPr/>
          <p:nvPr/>
        </p:nvSpPr>
        <p:spPr>
          <a:xfrm>
            <a:off x="7662672" y="3291840"/>
            <a:ext cx="8595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E17</a:t>
            </a:r>
            <a:endParaRPr lang="en-US" sz="830" dirty="0"/>
          </a:p>
        </p:txBody>
      </p:sp>
      <p:sp>
        <p:nvSpPr>
          <p:cNvPr id="46" name="Shape 44"/>
          <p:cNvSpPr/>
          <p:nvPr/>
        </p:nvSpPr>
        <p:spPr>
          <a:xfrm>
            <a:off x="8549640" y="3209544"/>
            <a:ext cx="1005840" cy="347472"/>
          </a:xfrm>
          <a:prstGeom prst="rect">
            <a:avLst/>
          </a:prstGeom>
          <a:solidFill>
            <a:srgbClr val="EEF2FF"/>
          </a:solidFill>
          <a:ln w="10160">
            <a:solidFill>
              <a:srgbClr val="CBD5E1"/>
            </a:solidFill>
            <a:prstDash val="solid"/>
          </a:ln>
        </p:spPr>
        <p:txBody>
          <a:bodyPr/>
          <a:lstStyle/>
          <a:p>
            <a:endParaRPr lang="en-GB"/>
          </a:p>
        </p:txBody>
      </p:sp>
      <p:sp>
        <p:nvSpPr>
          <p:cNvPr id="47" name="Text 45"/>
          <p:cNvSpPr/>
          <p:nvPr/>
        </p:nvSpPr>
        <p:spPr>
          <a:xfrm>
            <a:off x="8577072" y="3291840"/>
            <a:ext cx="95097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train</a:t>
            </a:r>
            <a:endParaRPr lang="en-US" sz="830" dirty="0"/>
          </a:p>
        </p:txBody>
      </p:sp>
      <p:sp>
        <p:nvSpPr>
          <p:cNvPr id="48" name="Shape 46"/>
          <p:cNvSpPr/>
          <p:nvPr/>
        </p:nvSpPr>
        <p:spPr>
          <a:xfrm>
            <a:off x="777240" y="3593592"/>
            <a:ext cx="1143000" cy="347472"/>
          </a:xfrm>
          <a:prstGeom prst="rect">
            <a:avLst/>
          </a:prstGeom>
          <a:solidFill>
            <a:srgbClr val="F8FAFC"/>
          </a:solidFill>
          <a:ln w="10160">
            <a:solidFill>
              <a:srgbClr val="CBD5E1"/>
            </a:solidFill>
            <a:prstDash val="solid"/>
          </a:ln>
        </p:spPr>
        <p:txBody>
          <a:bodyPr/>
          <a:lstStyle/>
          <a:p>
            <a:endParaRPr lang="en-GB"/>
          </a:p>
        </p:txBody>
      </p:sp>
      <p:sp>
        <p:nvSpPr>
          <p:cNvPr id="49" name="Text 47"/>
          <p:cNvSpPr/>
          <p:nvPr/>
        </p:nvSpPr>
        <p:spPr>
          <a:xfrm>
            <a:off x="804672" y="3675888"/>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M03</a:t>
            </a:r>
            <a:endParaRPr lang="en-US" sz="830" dirty="0"/>
          </a:p>
        </p:txBody>
      </p:sp>
      <p:sp>
        <p:nvSpPr>
          <p:cNvPr id="50" name="Shape 48"/>
          <p:cNvSpPr/>
          <p:nvPr/>
        </p:nvSpPr>
        <p:spPr>
          <a:xfrm>
            <a:off x="1920240" y="3593592"/>
            <a:ext cx="1143000" cy="347472"/>
          </a:xfrm>
          <a:prstGeom prst="rect">
            <a:avLst/>
          </a:prstGeom>
          <a:solidFill>
            <a:srgbClr val="F8FAFC"/>
          </a:solidFill>
          <a:ln w="10160">
            <a:solidFill>
              <a:srgbClr val="CBD5E1"/>
            </a:solidFill>
            <a:prstDash val="solid"/>
          </a:ln>
        </p:spPr>
        <p:txBody>
          <a:bodyPr/>
          <a:lstStyle/>
          <a:p>
            <a:endParaRPr lang="en-GB"/>
          </a:p>
        </p:txBody>
      </p:sp>
      <p:sp>
        <p:nvSpPr>
          <p:cNvPr id="51" name="Text 49"/>
          <p:cNvSpPr/>
          <p:nvPr/>
        </p:nvSpPr>
        <p:spPr>
          <a:xfrm>
            <a:off x="1947672" y="3675888"/>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C13</a:t>
            </a:r>
            <a:endParaRPr lang="en-US" sz="830" dirty="0"/>
          </a:p>
        </p:txBody>
      </p:sp>
      <p:sp>
        <p:nvSpPr>
          <p:cNvPr id="52" name="Shape 50"/>
          <p:cNvSpPr/>
          <p:nvPr/>
        </p:nvSpPr>
        <p:spPr>
          <a:xfrm>
            <a:off x="3063240" y="3593592"/>
            <a:ext cx="1325880" cy="347472"/>
          </a:xfrm>
          <a:prstGeom prst="rect">
            <a:avLst/>
          </a:prstGeom>
          <a:solidFill>
            <a:srgbClr val="F8FAFC"/>
          </a:solidFill>
          <a:ln w="10160">
            <a:solidFill>
              <a:srgbClr val="CBD5E1"/>
            </a:solidFill>
            <a:prstDash val="solid"/>
          </a:ln>
        </p:spPr>
        <p:txBody>
          <a:bodyPr/>
          <a:lstStyle/>
          <a:p>
            <a:endParaRPr lang="en-GB"/>
          </a:p>
        </p:txBody>
      </p:sp>
      <p:sp>
        <p:nvSpPr>
          <p:cNvPr id="53" name="Text 51"/>
          <p:cNvSpPr/>
          <p:nvPr/>
        </p:nvSpPr>
        <p:spPr>
          <a:xfrm>
            <a:off x="3090672" y="3675888"/>
            <a:ext cx="127101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1101</a:t>
            </a:r>
            <a:endParaRPr lang="en-US" sz="830" dirty="0"/>
          </a:p>
        </p:txBody>
      </p:sp>
      <p:sp>
        <p:nvSpPr>
          <p:cNvPr id="54" name="Shape 52"/>
          <p:cNvSpPr/>
          <p:nvPr/>
        </p:nvSpPr>
        <p:spPr>
          <a:xfrm>
            <a:off x="4389120" y="3593592"/>
            <a:ext cx="1097280" cy="347472"/>
          </a:xfrm>
          <a:prstGeom prst="rect">
            <a:avLst/>
          </a:prstGeom>
          <a:solidFill>
            <a:srgbClr val="F8FAFC"/>
          </a:solidFill>
          <a:ln w="10160">
            <a:solidFill>
              <a:srgbClr val="CBD5E1"/>
            </a:solidFill>
            <a:prstDash val="solid"/>
          </a:ln>
        </p:spPr>
        <p:txBody>
          <a:bodyPr/>
          <a:lstStyle/>
          <a:p>
            <a:endParaRPr lang="en-GB"/>
          </a:p>
        </p:txBody>
      </p:sp>
      <p:sp>
        <p:nvSpPr>
          <p:cNvPr id="55" name="Text 53"/>
          <p:cNvSpPr/>
          <p:nvPr/>
        </p:nvSpPr>
        <p:spPr>
          <a:xfrm>
            <a:off x="4416552" y="3675888"/>
            <a:ext cx="104241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1200</a:t>
            </a:r>
            <a:endParaRPr lang="en-US" sz="830" dirty="0"/>
          </a:p>
        </p:txBody>
      </p:sp>
      <p:sp>
        <p:nvSpPr>
          <p:cNvPr id="56" name="Shape 54"/>
          <p:cNvSpPr/>
          <p:nvPr/>
        </p:nvSpPr>
        <p:spPr>
          <a:xfrm>
            <a:off x="5486400" y="3593592"/>
            <a:ext cx="1005840" cy="347472"/>
          </a:xfrm>
          <a:prstGeom prst="rect">
            <a:avLst/>
          </a:prstGeom>
          <a:solidFill>
            <a:srgbClr val="F8FAFC"/>
          </a:solidFill>
          <a:ln w="10160">
            <a:solidFill>
              <a:srgbClr val="CBD5E1"/>
            </a:solidFill>
            <a:prstDash val="solid"/>
          </a:ln>
        </p:spPr>
        <p:txBody>
          <a:bodyPr/>
          <a:lstStyle/>
          <a:p>
            <a:endParaRPr lang="en-GB"/>
          </a:p>
        </p:txBody>
      </p:sp>
      <p:sp>
        <p:nvSpPr>
          <p:cNvPr id="57" name="Text 55"/>
          <p:cNvSpPr/>
          <p:nvPr/>
        </p:nvSpPr>
        <p:spPr>
          <a:xfrm>
            <a:off x="5513832" y="3675888"/>
            <a:ext cx="95097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1201</a:t>
            </a:r>
            <a:endParaRPr lang="en-US" sz="830" dirty="0"/>
          </a:p>
        </p:txBody>
      </p:sp>
      <p:sp>
        <p:nvSpPr>
          <p:cNvPr id="58" name="Shape 56"/>
          <p:cNvSpPr/>
          <p:nvPr/>
        </p:nvSpPr>
        <p:spPr>
          <a:xfrm>
            <a:off x="6492240" y="3593592"/>
            <a:ext cx="1143000" cy="347472"/>
          </a:xfrm>
          <a:prstGeom prst="rect">
            <a:avLst/>
          </a:prstGeom>
          <a:solidFill>
            <a:srgbClr val="F8FAFC"/>
          </a:solidFill>
          <a:ln w="10160">
            <a:solidFill>
              <a:srgbClr val="CBD5E1"/>
            </a:solidFill>
            <a:prstDash val="solid"/>
          </a:ln>
        </p:spPr>
        <p:txBody>
          <a:bodyPr/>
          <a:lstStyle/>
          <a:p>
            <a:endParaRPr lang="en-GB"/>
          </a:p>
        </p:txBody>
      </p:sp>
      <p:sp>
        <p:nvSpPr>
          <p:cNvPr id="59" name="Text 57"/>
          <p:cNvSpPr/>
          <p:nvPr/>
        </p:nvSpPr>
        <p:spPr>
          <a:xfrm>
            <a:off x="6519672" y="3675888"/>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1220</a:t>
            </a:r>
            <a:endParaRPr lang="en-US" sz="830" dirty="0"/>
          </a:p>
        </p:txBody>
      </p:sp>
      <p:sp>
        <p:nvSpPr>
          <p:cNvPr id="60" name="Shape 58"/>
          <p:cNvSpPr/>
          <p:nvPr/>
        </p:nvSpPr>
        <p:spPr>
          <a:xfrm>
            <a:off x="7635240" y="3593592"/>
            <a:ext cx="914400" cy="347472"/>
          </a:xfrm>
          <a:prstGeom prst="rect">
            <a:avLst/>
          </a:prstGeom>
          <a:solidFill>
            <a:srgbClr val="F8FAFC"/>
          </a:solidFill>
          <a:ln w="10160">
            <a:solidFill>
              <a:srgbClr val="CBD5E1"/>
            </a:solidFill>
            <a:prstDash val="solid"/>
          </a:ln>
        </p:spPr>
        <p:txBody>
          <a:bodyPr/>
          <a:lstStyle/>
          <a:p>
            <a:endParaRPr lang="en-GB"/>
          </a:p>
        </p:txBody>
      </p:sp>
      <p:sp>
        <p:nvSpPr>
          <p:cNvPr id="61" name="Text 59"/>
          <p:cNvSpPr/>
          <p:nvPr/>
        </p:nvSpPr>
        <p:spPr>
          <a:xfrm>
            <a:off x="7662672" y="3675888"/>
            <a:ext cx="8595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a:t>
            </a:r>
            <a:endParaRPr lang="en-US" sz="830" dirty="0"/>
          </a:p>
        </p:txBody>
      </p:sp>
      <p:sp>
        <p:nvSpPr>
          <p:cNvPr id="62" name="Shape 60"/>
          <p:cNvSpPr/>
          <p:nvPr/>
        </p:nvSpPr>
        <p:spPr>
          <a:xfrm>
            <a:off x="8549640" y="3593592"/>
            <a:ext cx="1005840" cy="347472"/>
          </a:xfrm>
          <a:prstGeom prst="rect">
            <a:avLst/>
          </a:prstGeom>
          <a:solidFill>
            <a:srgbClr val="F8FAFC"/>
          </a:solidFill>
          <a:ln w="10160">
            <a:solidFill>
              <a:srgbClr val="CBD5E1"/>
            </a:solidFill>
            <a:prstDash val="solid"/>
          </a:ln>
        </p:spPr>
        <p:txBody>
          <a:bodyPr/>
          <a:lstStyle/>
          <a:p>
            <a:endParaRPr lang="en-GB"/>
          </a:p>
        </p:txBody>
      </p:sp>
      <p:sp>
        <p:nvSpPr>
          <p:cNvPr id="63" name="Text 61"/>
          <p:cNvSpPr/>
          <p:nvPr/>
        </p:nvSpPr>
        <p:spPr>
          <a:xfrm>
            <a:off x="8577072" y="3675888"/>
            <a:ext cx="95097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train</a:t>
            </a:r>
            <a:endParaRPr lang="en-US" sz="830" dirty="0"/>
          </a:p>
        </p:txBody>
      </p:sp>
      <p:sp>
        <p:nvSpPr>
          <p:cNvPr id="64" name="Shape 62"/>
          <p:cNvSpPr/>
          <p:nvPr/>
        </p:nvSpPr>
        <p:spPr>
          <a:xfrm>
            <a:off x="777240" y="3977640"/>
            <a:ext cx="1143000" cy="347472"/>
          </a:xfrm>
          <a:prstGeom prst="rect">
            <a:avLst/>
          </a:prstGeom>
          <a:solidFill>
            <a:srgbClr val="EEF2FF"/>
          </a:solidFill>
          <a:ln w="10160">
            <a:solidFill>
              <a:srgbClr val="CBD5E1"/>
            </a:solidFill>
            <a:prstDash val="solid"/>
          </a:ln>
        </p:spPr>
        <p:txBody>
          <a:bodyPr/>
          <a:lstStyle/>
          <a:p>
            <a:endParaRPr lang="en-GB"/>
          </a:p>
        </p:txBody>
      </p:sp>
      <p:sp>
        <p:nvSpPr>
          <p:cNvPr id="65" name="Text 63"/>
          <p:cNvSpPr/>
          <p:nvPr/>
        </p:nvSpPr>
        <p:spPr>
          <a:xfrm>
            <a:off x="804672" y="4059936"/>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M07</a:t>
            </a:r>
            <a:endParaRPr lang="en-US" sz="830" dirty="0"/>
          </a:p>
        </p:txBody>
      </p:sp>
      <p:sp>
        <p:nvSpPr>
          <p:cNvPr id="66" name="Shape 64"/>
          <p:cNvSpPr/>
          <p:nvPr/>
        </p:nvSpPr>
        <p:spPr>
          <a:xfrm>
            <a:off x="1920240" y="3977640"/>
            <a:ext cx="1143000" cy="347472"/>
          </a:xfrm>
          <a:prstGeom prst="rect">
            <a:avLst/>
          </a:prstGeom>
          <a:solidFill>
            <a:srgbClr val="EEF2FF"/>
          </a:solidFill>
          <a:ln w="10160">
            <a:solidFill>
              <a:srgbClr val="CBD5E1"/>
            </a:solidFill>
            <a:prstDash val="solid"/>
          </a:ln>
        </p:spPr>
        <p:txBody>
          <a:bodyPr/>
          <a:lstStyle/>
          <a:p>
            <a:endParaRPr lang="en-GB"/>
          </a:p>
        </p:txBody>
      </p:sp>
      <p:sp>
        <p:nvSpPr>
          <p:cNvPr id="67" name="Text 65"/>
          <p:cNvSpPr/>
          <p:nvPr/>
        </p:nvSpPr>
        <p:spPr>
          <a:xfrm>
            <a:off x="1947672" y="4059936"/>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C01</a:t>
            </a:r>
            <a:endParaRPr lang="en-US" sz="830" dirty="0"/>
          </a:p>
        </p:txBody>
      </p:sp>
      <p:sp>
        <p:nvSpPr>
          <p:cNvPr id="68" name="Shape 66"/>
          <p:cNvSpPr/>
          <p:nvPr/>
        </p:nvSpPr>
        <p:spPr>
          <a:xfrm>
            <a:off x="3063240" y="3977640"/>
            <a:ext cx="1325880" cy="347472"/>
          </a:xfrm>
          <a:prstGeom prst="rect">
            <a:avLst/>
          </a:prstGeom>
          <a:solidFill>
            <a:srgbClr val="EEF2FF"/>
          </a:solidFill>
          <a:ln w="10160">
            <a:solidFill>
              <a:srgbClr val="CBD5E1"/>
            </a:solidFill>
            <a:prstDash val="solid"/>
          </a:ln>
        </p:spPr>
        <p:txBody>
          <a:bodyPr/>
          <a:lstStyle/>
          <a:p>
            <a:endParaRPr lang="en-GB"/>
          </a:p>
        </p:txBody>
      </p:sp>
      <p:sp>
        <p:nvSpPr>
          <p:cNvPr id="69" name="Text 67"/>
          <p:cNvSpPr/>
          <p:nvPr/>
        </p:nvSpPr>
        <p:spPr>
          <a:xfrm>
            <a:off x="3090672" y="4059936"/>
            <a:ext cx="127101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201</a:t>
            </a:r>
            <a:endParaRPr lang="en-US" sz="830" dirty="0"/>
          </a:p>
        </p:txBody>
      </p:sp>
      <p:sp>
        <p:nvSpPr>
          <p:cNvPr id="70" name="Shape 68"/>
          <p:cNvSpPr/>
          <p:nvPr/>
        </p:nvSpPr>
        <p:spPr>
          <a:xfrm>
            <a:off x="4389120" y="3977640"/>
            <a:ext cx="1097280" cy="347472"/>
          </a:xfrm>
          <a:prstGeom prst="rect">
            <a:avLst/>
          </a:prstGeom>
          <a:solidFill>
            <a:srgbClr val="EEF2FF"/>
          </a:solidFill>
          <a:ln w="10160">
            <a:solidFill>
              <a:srgbClr val="CBD5E1"/>
            </a:solidFill>
            <a:prstDash val="solid"/>
          </a:ln>
        </p:spPr>
        <p:txBody>
          <a:bodyPr/>
          <a:lstStyle/>
          <a:p>
            <a:endParaRPr lang="en-GB"/>
          </a:p>
        </p:txBody>
      </p:sp>
      <p:sp>
        <p:nvSpPr>
          <p:cNvPr id="71" name="Text 69"/>
          <p:cNvSpPr/>
          <p:nvPr/>
        </p:nvSpPr>
        <p:spPr>
          <a:xfrm>
            <a:off x="4416552" y="4059936"/>
            <a:ext cx="104241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300</a:t>
            </a:r>
            <a:endParaRPr lang="en-US" sz="830" dirty="0"/>
          </a:p>
        </p:txBody>
      </p:sp>
      <p:sp>
        <p:nvSpPr>
          <p:cNvPr id="72" name="Shape 70"/>
          <p:cNvSpPr/>
          <p:nvPr/>
        </p:nvSpPr>
        <p:spPr>
          <a:xfrm>
            <a:off x="5486400" y="3977640"/>
            <a:ext cx="1005840" cy="347472"/>
          </a:xfrm>
          <a:prstGeom prst="rect">
            <a:avLst/>
          </a:prstGeom>
          <a:solidFill>
            <a:srgbClr val="EEF2FF"/>
          </a:solidFill>
          <a:ln w="10160">
            <a:solidFill>
              <a:srgbClr val="CBD5E1"/>
            </a:solidFill>
            <a:prstDash val="solid"/>
          </a:ln>
        </p:spPr>
        <p:txBody>
          <a:bodyPr/>
          <a:lstStyle/>
          <a:p>
            <a:endParaRPr lang="en-GB"/>
          </a:p>
        </p:txBody>
      </p:sp>
      <p:sp>
        <p:nvSpPr>
          <p:cNvPr id="73" name="Text 71"/>
          <p:cNvSpPr/>
          <p:nvPr/>
        </p:nvSpPr>
        <p:spPr>
          <a:xfrm>
            <a:off x="5513832" y="4059936"/>
            <a:ext cx="95097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301</a:t>
            </a:r>
            <a:endParaRPr lang="en-US" sz="830" dirty="0"/>
          </a:p>
        </p:txBody>
      </p:sp>
      <p:sp>
        <p:nvSpPr>
          <p:cNvPr id="74" name="Shape 72"/>
          <p:cNvSpPr/>
          <p:nvPr/>
        </p:nvSpPr>
        <p:spPr>
          <a:xfrm>
            <a:off x="6492240" y="3977640"/>
            <a:ext cx="1143000" cy="347472"/>
          </a:xfrm>
          <a:prstGeom prst="rect">
            <a:avLst/>
          </a:prstGeom>
          <a:solidFill>
            <a:srgbClr val="EEF2FF"/>
          </a:solidFill>
          <a:ln w="10160">
            <a:solidFill>
              <a:srgbClr val="CBD5E1"/>
            </a:solidFill>
            <a:prstDash val="solid"/>
          </a:ln>
        </p:spPr>
        <p:txBody>
          <a:bodyPr/>
          <a:lstStyle/>
          <a:p>
            <a:endParaRPr lang="en-GB"/>
          </a:p>
        </p:txBody>
      </p:sp>
      <p:sp>
        <p:nvSpPr>
          <p:cNvPr id="75" name="Text 73"/>
          <p:cNvSpPr/>
          <p:nvPr/>
        </p:nvSpPr>
        <p:spPr>
          <a:xfrm>
            <a:off x="6519672" y="4059936"/>
            <a:ext cx="10881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320</a:t>
            </a:r>
            <a:endParaRPr lang="en-US" sz="830" dirty="0"/>
          </a:p>
        </p:txBody>
      </p:sp>
      <p:sp>
        <p:nvSpPr>
          <p:cNvPr id="76" name="Shape 74"/>
          <p:cNvSpPr/>
          <p:nvPr/>
        </p:nvSpPr>
        <p:spPr>
          <a:xfrm>
            <a:off x="7635240" y="3977640"/>
            <a:ext cx="914400" cy="347472"/>
          </a:xfrm>
          <a:prstGeom prst="rect">
            <a:avLst/>
          </a:prstGeom>
          <a:solidFill>
            <a:srgbClr val="EEF2FF"/>
          </a:solidFill>
          <a:ln w="10160">
            <a:solidFill>
              <a:srgbClr val="CBD5E1"/>
            </a:solidFill>
            <a:prstDash val="solid"/>
          </a:ln>
        </p:spPr>
        <p:txBody>
          <a:bodyPr/>
          <a:lstStyle/>
          <a:p>
            <a:endParaRPr lang="en-GB"/>
          </a:p>
        </p:txBody>
      </p:sp>
      <p:sp>
        <p:nvSpPr>
          <p:cNvPr id="77" name="Text 75"/>
          <p:cNvSpPr/>
          <p:nvPr/>
        </p:nvSpPr>
        <p:spPr>
          <a:xfrm>
            <a:off x="7662672" y="4059936"/>
            <a:ext cx="85953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E21</a:t>
            </a:r>
            <a:endParaRPr lang="en-US" sz="830" dirty="0"/>
          </a:p>
        </p:txBody>
      </p:sp>
      <p:sp>
        <p:nvSpPr>
          <p:cNvPr id="78" name="Shape 76"/>
          <p:cNvSpPr/>
          <p:nvPr/>
        </p:nvSpPr>
        <p:spPr>
          <a:xfrm>
            <a:off x="8549640" y="3977640"/>
            <a:ext cx="1005840" cy="347472"/>
          </a:xfrm>
          <a:prstGeom prst="rect">
            <a:avLst/>
          </a:prstGeom>
          <a:solidFill>
            <a:srgbClr val="EEF2FF"/>
          </a:solidFill>
          <a:ln w="10160">
            <a:solidFill>
              <a:srgbClr val="CBD5E1"/>
            </a:solidFill>
            <a:prstDash val="solid"/>
          </a:ln>
        </p:spPr>
        <p:txBody>
          <a:bodyPr/>
          <a:lstStyle/>
          <a:p>
            <a:endParaRPr lang="en-GB"/>
          </a:p>
        </p:txBody>
      </p:sp>
      <p:sp>
        <p:nvSpPr>
          <p:cNvPr id="79" name="Text 77"/>
          <p:cNvSpPr/>
          <p:nvPr/>
        </p:nvSpPr>
        <p:spPr>
          <a:xfrm>
            <a:off x="8577072" y="4059936"/>
            <a:ext cx="950976" cy="164592"/>
          </a:xfrm>
          <a:prstGeom prst="rect">
            <a:avLst/>
          </a:prstGeom>
          <a:noFill/>
          <a:ln/>
        </p:spPr>
        <p:txBody>
          <a:bodyPr wrap="square" lIns="381" tIns="381" rIns="381" bIns="381" rtlCol="0" anchor="ctr">
            <a:normAutofit/>
          </a:bodyPr>
          <a:lstStyle/>
          <a:p>
            <a:pPr marL="0" indent="0" algn="ctr">
              <a:buNone/>
            </a:pPr>
            <a:r>
              <a:rPr lang="en-US" sz="830" dirty="0">
                <a:solidFill>
                  <a:srgbClr val="0F172A"/>
                </a:solidFill>
                <a:latin typeface="Aptos" pitchFamily="34" charset="0"/>
                <a:ea typeface="Aptos" pitchFamily="34" charset="-122"/>
                <a:cs typeface="Aptos" pitchFamily="34" charset="-120"/>
              </a:rPr>
              <a:t>test</a:t>
            </a:r>
            <a:endParaRPr lang="en-US" sz="830" dirty="0"/>
          </a:p>
        </p:txBody>
      </p:sp>
      <p:sp>
        <p:nvSpPr>
          <p:cNvPr id="80" name="Shape 78"/>
          <p:cNvSpPr/>
          <p:nvPr/>
        </p:nvSpPr>
        <p:spPr>
          <a:xfrm>
            <a:off x="1051560" y="5074920"/>
            <a:ext cx="9692640" cy="621792"/>
          </a:xfrm>
          <a:prstGeom prst="rect">
            <a:avLst/>
          </a:prstGeom>
          <a:solidFill>
            <a:srgbClr val="FFFFFF"/>
          </a:solidFill>
          <a:ln w="11430">
            <a:solidFill>
              <a:srgbClr val="CBD5E1"/>
            </a:solidFill>
            <a:prstDash val="solid"/>
          </a:ln>
        </p:spPr>
        <p:txBody>
          <a:bodyPr/>
          <a:lstStyle/>
          <a:p>
            <a:endParaRPr lang="en-GB"/>
          </a:p>
        </p:txBody>
      </p:sp>
      <p:sp>
        <p:nvSpPr>
          <p:cNvPr id="81" name="Shape 79"/>
          <p:cNvSpPr/>
          <p:nvPr/>
        </p:nvSpPr>
        <p:spPr>
          <a:xfrm>
            <a:off x="1161288" y="5074920"/>
            <a:ext cx="0" cy="621792"/>
          </a:xfrm>
          <a:prstGeom prst="line">
            <a:avLst/>
          </a:prstGeom>
          <a:noFill/>
          <a:ln w="38100">
            <a:solidFill>
              <a:srgbClr val="0F766E"/>
            </a:solidFill>
            <a:prstDash val="solid"/>
          </a:ln>
        </p:spPr>
        <p:txBody>
          <a:bodyPr/>
          <a:lstStyle/>
          <a:p>
            <a:endParaRPr lang="en-GB"/>
          </a:p>
        </p:txBody>
      </p:sp>
      <p:sp>
        <p:nvSpPr>
          <p:cNvPr id="82" name="Text 80"/>
          <p:cNvSpPr/>
          <p:nvPr/>
        </p:nvSpPr>
        <p:spPr>
          <a:xfrm>
            <a:off x="1252728" y="5148072"/>
            <a:ext cx="9418320" cy="493776"/>
          </a:xfrm>
          <a:prstGeom prst="rect">
            <a:avLst/>
          </a:prstGeom>
          <a:noFill/>
          <a:ln/>
        </p:spPr>
        <p:txBody>
          <a:bodyPr wrap="square" lIns="381" tIns="381" rIns="381" bIns="381" rtlCol="0" anchor="ctr">
            <a:normAutofit/>
          </a:bodyPr>
          <a:lstStyle/>
          <a:p>
            <a:pPr marL="0" indent="0" algn="l">
              <a:buNone/>
            </a:pPr>
            <a:r>
              <a:rPr lang="en-US" sz="1100" dirty="0">
                <a:solidFill>
                  <a:srgbClr val="0F172A"/>
                </a:solidFill>
                <a:latin typeface="Aptos" pitchFamily="34" charset="0"/>
                <a:ea typeface="Aptos" pitchFamily="34" charset="-122"/>
                <a:cs typeface="Aptos" pitchFamily="34" charset="-120"/>
              </a:rPr>
              <a:t>Auditable sample metadata makes leakage checks explicit and reproducible.</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70DBBC0-1E42-8F12-679D-E4DAD89386FE}"/>
              </a:ext>
            </a:extLst>
          </p:cNvPr>
          <p:cNvSpPr>
            <a:spLocks noGrp="1"/>
          </p:cNvSpPr>
          <p:nvPr>
            <p:ph type="title"/>
          </p:nvPr>
        </p:nvSpPr>
        <p:spPr/>
        <p:txBody>
          <a:bodyPr/>
          <a:lstStyle/>
          <a:p>
            <a:r>
              <a:rPr lang="en-GB" dirty="0"/>
              <a:t>Window count is not the effective sample size</a:t>
            </a:r>
          </a:p>
        </p:txBody>
      </p:sp>
      <p:sp>
        <p:nvSpPr>
          <p:cNvPr id="3" name="Segnaposto contenuto 2">
            <a:extLst>
              <a:ext uri="{FF2B5EF4-FFF2-40B4-BE49-F238E27FC236}">
                <a16:creationId xmlns:a16="http://schemas.microsoft.com/office/drawing/2014/main" id="{BE5FCFA1-B056-8EFB-23BC-AF7B0B7CFD53}"/>
              </a:ext>
            </a:extLst>
          </p:cNvPr>
          <p:cNvSpPr>
            <a:spLocks noGrp="1"/>
          </p:cNvSpPr>
          <p:nvPr>
            <p:ph idx="1"/>
          </p:nvPr>
        </p:nvSpPr>
        <p:spPr/>
        <p:txBody>
          <a:bodyPr>
            <a:normAutofit fontScale="92500" lnSpcReduction="10000"/>
          </a:bodyPr>
          <a:lstStyle/>
          <a:p>
            <a:r>
              <a:rPr lang="en-GB" dirty="0"/>
              <a:t>Overlapping windows can produce a very large nominal dataset.</a:t>
            </a:r>
          </a:p>
          <a:p>
            <a:r>
              <a:rPr lang="en-GB" dirty="0"/>
              <a:t>Example:</a:t>
            </a:r>
          </a:p>
          <a:p>
            <a:r>
              <a:rPr lang="en-GB" dirty="0"/>
              <a:t>one recording length = 100,000 time steps, window length = 1,000, stride = 1</a:t>
            </a:r>
          </a:p>
          <a:p>
            <a:r>
              <a:rPr lang="en-GB" dirty="0"/>
              <a:t>Approximate number of windows: 99,001</a:t>
            </a:r>
          </a:p>
          <a:p>
            <a:r>
              <a:rPr lang="en-GB" b="1" dirty="0"/>
              <a:t>This does not mean the dataset contains 99,001 independent examples.</a:t>
            </a:r>
          </a:p>
          <a:p>
            <a:r>
              <a:rPr lang="en-GB" dirty="0"/>
              <a:t>Consecutive windows differ by only one time step.</a:t>
            </a:r>
          </a:p>
          <a:p>
            <a:r>
              <a:rPr lang="en-GB" b="1" dirty="0"/>
              <a:t>Consequences</a:t>
            </a:r>
          </a:p>
          <a:p>
            <a:pPr lvl="1"/>
            <a:r>
              <a:rPr lang="en-GB" dirty="0"/>
              <a:t>effective information content is much smaller;</a:t>
            </a:r>
          </a:p>
          <a:p>
            <a:pPr lvl="1"/>
            <a:r>
              <a:rPr lang="en-GB" dirty="0"/>
              <a:t>confidence intervals based on independent samples may be misleading;</a:t>
            </a:r>
          </a:p>
          <a:p>
            <a:pPr lvl="1"/>
            <a:r>
              <a:rPr lang="en-GB" dirty="0"/>
              <a:t>class counts may overstate the number of independent events;</a:t>
            </a:r>
          </a:p>
          <a:p>
            <a:pPr lvl="1"/>
            <a:r>
              <a:rPr lang="en-GB" dirty="0"/>
              <a:t>random window splitting becomes particularly unreliable.</a:t>
            </a:r>
          </a:p>
          <a:p>
            <a:endParaRPr lang="en-GB" dirty="0"/>
          </a:p>
        </p:txBody>
      </p:sp>
    </p:spTree>
    <p:extLst>
      <p:ext uri="{BB962C8B-B14F-4D97-AF65-F5344CB8AC3E}">
        <p14:creationId xmlns:p14="http://schemas.microsoft.com/office/powerpoint/2010/main" val="129164101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7DBDC3-A3C8-9FCC-A232-6127296A8339}"/>
              </a:ext>
            </a:extLst>
          </p:cNvPr>
          <p:cNvSpPr>
            <a:spLocks noGrp="1"/>
          </p:cNvSpPr>
          <p:nvPr>
            <p:ph type="title"/>
          </p:nvPr>
        </p:nvSpPr>
        <p:spPr/>
        <p:txBody>
          <a:bodyPr/>
          <a:lstStyle/>
          <a:p>
            <a:r>
              <a:rPr lang="en-GB" dirty="0"/>
              <a:t>Better dataset summaries</a:t>
            </a:r>
          </a:p>
        </p:txBody>
      </p:sp>
      <p:sp>
        <p:nvSpPr>
          <p:cNvPr id="3" name="Segnaposto contenuto 2">
            <a:extLst>
              <a:ext uri="{FF2B5EF4-FFF2-40B4-BE49-F238E27FC236}">
                <a16:creationId xmlns:a16="http://schemas.microsoft.com/office/drawing/2014/main" id="{750A44F5-842F-E97B-2E99-7565589F3F4D}"/>
              </a:ext>
            </a:extLst>
          </p:cNvPr>
          <p:cNvSpPr>
            <a:spLocks noGrp="1"/>
          </p:cNvSpPr>
          <p:nvPr>
            <p:ph sz="half" idx="1"/>
          </p:nvPr>
        </p:nvSpPr>
        <p:spPr/>
        <p:txBody>
          <a:bodyPr>
            <a:normAutofit fontScale="92500" lnSpcReduction="10000"/>
          </a:bodyPr>
          <a:lstStyle/>
          <a:p>
            <a:r>
              <a:rPr lang="en-GB" dirty="0"/>
              <a:t>In addition to the number of windows, report:</a:t>
            </a:r>
          </a:p>
          <a:p>
            <a:pPr lvl="1"/>
            <a:r>
              <a:rPr lang="en-GB" dirty="0"/>
              <a:t>number of entities;</a:t>
            </a:r>
          </a:p>
          <a:p>
            <a:pPr lvl="1"/>
            <a:r>
              <a:rPr lang="en-GB" dirty="0"/>
              <a:t>number of recordings;</a:t>
            </a:r>
          </a:p>
          <a:p>
            <a:pPr lvl="1"/>
            <a:r>
              <a:rPr lang="en-GB" dirty="0"/>
              <a:t>number of independent cycles;</a:t>
            </a:r>
          </a:p>
          <a:p>
            <a:pPr lvl="1"/>
            <a:r>
              <a:rPr lang="en-GB" dirty="0"/>
              <a:t>number of events;</a:t>
            </a:r>
          </a:p>
          <a:p>
            <a:pPr lvl="1"/>
            <a:r>
              <a:rPr lang="en-GB" dirty="0"/>
              <a:t>total temporal duration;</a:t>
            </a:r>
          </a:p>
          <a:p>
            <a:pPr lvl="1"/>
            <a:r>
              <a:rPr lang="en-GB" dirty="0"/>
              <a:t>stride;</a:t>
            </a:r>
          </a:p>
          <a:p>
            <a:pPr lvl="1"/>
            <a:r>
              <a:rPr lang="en-GB" dirty="0"/>
              <a:t>overlap fraction.</a:t>
            </a:r>
          </a:p>
          <a:p>
            <a:endParaRPr lang="en-GB" dirty="0"/>
          </a:p>
        </p:txBody>
      </p:sp>
      <p:sp>
        <p:nvSpPr>
          <p:cNvPr id="4" name="Segnaposto contenuto 3">
            <a:extLst>
              <a:ext uri="{FF2B5EF4-FFF2-40B4-BE49-F238E27FC236}">
                <a16:creationId xmlns:a16="http://schemas.microsoft.com/office/drawing/2014/main" id="{4ED0C706-F0A0-E6AE-4C0E-F238C09B358C}"/>
              </a:ext>
            </a:extLst>
          </p:cNvPr>
          <p:cNvSpPr>
            <a:spLocks noGrp="1"/>
          </p:cNvSpPr>
          <p:nvPr>
            <p:ph sz="half" idx="2"/>
          </p:nvPr>
        </p:nvSpPr>
        <p:spPr/>
        <p:txBody>
          <a:bodyPr>
            <a:normAutofit fontScale="92500" lnSpcReduction="10000"/>
          </a:bodyPr>
          <a:lstStyle/>
          <a:p>
            <a:r>
              <a:rPr lang="en-GB" b="1" dirty="0"/>
              <a:t>Example</a:t>
            </a:r>
          </a:p>
          <a:p>
            <a:r>
              <a:rPr lang="en-GB" dirty="0"/>
              <a:t>Instead of reporting only: 50,000 training windows</a:t>
            </a:r>
          </a:p>
          <a:p>
            <a:r>
              <a:rPr lang="en-GB" dirty="0"/>
              <a:t>report:</a:t>
            </a:r>
          </a:p>
          <a:p>
            <a:pPr lvl="1"/>
            <a:r>
              <a:rPr lang="en-GB" dirty="0"/>
              <a:t>50,000 windows</a:t>
            </a:r>
          </a:p>
          <a:p>
            <a:pPr lvl="1"/>
            <a:r>
              <a:rPr lang="en-GB" dirty="0"/>
              <a:t>from 40 machines</a:t>
            </a:r>
          </a:p>
          <a:p>
            <a:pPr lvl="1"/>
            <a:r>
              <a:rPr lang="en-GB" dirty="0"/>
              <a:t>covering 320 operating cycles</a:t>
            </a:r>
          </a:p>
          <a:p>
            <a:pPr lvl="1"/>
            <a:r>
              <a:rPr lang="en-GB" dirty="0"/>
              <a:t>and 75 independent fault events</a:t>
            </a:r>
          </a:p>
          <a:p>
            <a:pPr marL="0" indent="0">
              <a:buNone/>
            </a:pPr>
            <a:endParaRPr lang="en-GB" b="1" dirty="0"/>
          </a:p>
          <a:p>
            <a:r>
              <a:rPr lang="en-GB" dirty="0">
                <a:highlight>
                  <a:srgbClr val="FFFF00"/>
                </a:highlight>
              </a:rPr>
              <a:t>More overlapping windows provide denser sampling, not necessarily more independent evidence.</a:t>
            </a:r>
          </a:p>
          <a:p>
            <a:endParaRPr lang="en-GB" dirty="0"/>
          </a:p>
        </p:txBody>
      </p:sp>
    </p:spTree>
    <p:extLst>
      <p:ext uri="{BB962C8B-B14F-4D97-AF65-F5344CB8AC3E}">
        <p14:creationId xmlns:p14="http://schemas.microsoft.com/office/powerpoint/2010/main" val="303948049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Window count is not the effective sample size</a:t>
            </a:r>
            <a:endParaRPr lang="en-US" sz="2500" dirty="0"/>
          </a:p>
        </p:txBody>
      </p:sp>
      <p:sp>
        <p:nvSpPr>
          <p:cNvPr id="5" name="Text 3"/>
          <p:cNvSpPr/>
          <p:nvPr/>
        </p:nvSpPr>
        <p:spPr>
          <a:xfrm>
            <a:off x="429768" y="658368"/>
            <a:ext cx="11155680" cy="256032"/>
          </a:xfrm>
          <a:prstGeom prst="rect">
            <a:avLst/>
          </a:prstGeom>
          <a:noFill/>
          <a:ln/>
        </p:spPr>
        <p:txBody>
          <a:bodyPr wrap="square" lIns="0" tIns="0" rIns="0" bIns="0" rtlCol="0" anchor="ctr"/>
          <a:lstStyle/>
          <a:p>
            <a:pPr marL="0" indent="0">
              <a:buNone/>
            </a:pPr>
            <a:r>
              <a:rPr lang="en-US" sz="1150" dirty="0">
                <a:solidFill>
                  <a:srgbClr val="475569"/>
                </a:solidFill>
              </a:rPr>
              <a:t>Dense overlap gives dense sampling, not independent evidence.</a:t>
            </a:r>
            <a:endParaRPr lang="en-US" sz="1150" dirty="0"/>
          </a:p>
        </p:txBody>
      </p:sp>
      <p:sp>
        <p:nvSpPr>
          <p:cNvPr id="6" name="Shape 4"/>
          <p:cNvSpPr/>
          <p:nvPr/>
        </p:nvSpPr>
        <p:spPr>
          <a:xfrm>
            <a:off x="822960" y="1234440"/>
            <a:ext cx="3931920" cy="3931920"/>
          </a:xfrm>
          <a:prstGeom prst="rect">
            <a:avLst/>
          </a:prstGeom>
          <a:solidFill>
            <a:srgbClr val="FFFFFF"/>
          </a:solidFill>
          <a:ln w="10160">
            <a:solidFill>
              <a:srgbClr val="CBD5E1"/>
            </a:solidFill>
            <a:prstDash val="solid"/>
          </a:ln>
        </p:spPr>
        <p:txBody>
          <a:bodyPr/>
          <a:lstStyle/>
          <a:p>
            <a:endParaRPr lang="en-GB"/>
          </a:p>
        </p:txBody>
      </p:sp>
      <p:sp>
        <p:nvSpPr>
          <p:cNvPr id="7" name="Text 5"/>
          <p:cNvSpPr/>
          <p:nvPr/>
        </p:nvSpPr>
        <p:spPr>
          <a:xfrm>
            <a:off x="1051560" y="1481328"/>
            <a:ext cx="3474720" cy="274320"/>
          </a:xfrm>
          <a:prstGeom prst="rect">
            <a:avLst/>
          </a:prstGeom>
          <a:noFill/>
          <a:ln/>
        </p:spPr>
        <p:txBody>
          <a:bodyPr wrap="square" lIns="381" tIns="381" rIns="381" bIns="381" rtlCol="0" anchor="ctr">
            <a:normAutofit/>
          </a:bodyPr>
          <a:lstStyle/>
          <a:p>
            <a:pPr marL="0" indent="0" algn="ctr">
              <a:buNone/>
            </a:pPr>
            <a:r>
              <a:rPr lang="en-US" sz="1700" b="1" dirty="0">
                <a:solidFill>
                  <a:srgbClr val="0F172A"/>
                </a:solidFill>
                <a:latin typeface="Aptos" pitchFamily="34" charset="0"/>
                <a:ea typeface="Aptos" pitchFamily="34" charset="-122"/>
                <a:cs typeface="Aptos" pitchFamily="34" charset="-120"/>
              </a:rPr>
              <a:t>Nominal dataset</a:t>
            </a:r>
            <a:endParaRPr lang="en-US" sz="1700" dirty="0"/>
          </a:p>
        </p:txBody>
      </p:sp>
      <p:sp>
        <p:nvSpPr>
          <p:cNvPr id="8" name="Shape 6"/>
          <p:cNvSpPr/>
          <p:nvPr/>
        </p:nvSpPr>
        <p:spPr>
          <a:xfrm>
            <a:off x="1143000" y="2011680"/>
            <a:ext cx="2560320" cy="100584"/>
          </a:xfrm>
          <a:prstGeom prst="rect">
            <a:avLst/>
          </a:prstGeom>
          <a:solidFill>
            <a:srgbClr val="2563EB"/>
          </a:solidFill>
          <a:ln w="10160">
            <a:solidFill>
              <a:srgbClr val="2563EB"/>
            </a:solidFill>
            <a:prstDash val="solid"/>
          </a:ln>
        </p:spPr>
        <p:txBody>
          <a:bodyPr/>
          <a:lstStyle/>
          <a:p>
            <a:endParaRPr lang="en-GB"/>
          </a:p>
        </p:txBody>
      </p:sp>
      <p:sp>
        <p:nvSpPr>
          <p:cNvPr id="9" name="Shape 7"/>
          <p:cNvSpPr/>
          <p:nvPr/>
        </p:nvSpPr>
        <p:spPr>
          <a:xfrm>
            <a:off x="1188720" y="2121408"/>
            <a:ext cx="2560320" cy="100584"/>
          </a:xfrm>
          <a:prstGeom prst="rect">
            <a:avLst/>
          </a:prstGeom>
          <a:solidFill>
            <a:srgbClr val="2563EB">
              <a:alpha val="98000"/>
            </a:srgbClr>
          </a:solidFill>
          <a:ln w="10160">
            <a:solidFill>
              <a:srgbClr val="2563EB"/>
            </a:solidFill>
            <a:prstDash val="solid"/>
          </a:ln>
        </p:spPr>
        <p:txBody>
          <a:bodyPr/>
          <a:lstStyle/>
          <a:p>
            <a:endParaRPr lang="en-GB"/>
          </a:p>
        </p:txBody>
      </p:sp>
      <p:sp>
        <p:nvSpPr>
          <p:cNvPr id="10" name="Shape 8"/>
          <p:cNvSpPr/>
          <p:nvPr/>
        </p:nvSpPr>
        <p:spPr>
          <a:xfrm>
            <a:off x="1234440" y="2231136"/>
            <a:ext cx="2560320" cy="100584"/>
          </a:xfrm>
          <a:prstGeom prst="rect">
            <a:avLst/>
          </a:prstGeom>
          <a:solidFill>
            <a:srgbClr val="2563EB">
              <a:alpha val="96000"/>
            </a:srgbClr>
          </a:solidFill>
          <a:ln w="10160">
            <a:solidFill>
              <a:srgbClr val="2563EB"/>
            </a:solidFill>
            <a:prstDash val="solid"/>
          </a:ln>
        </p:spPr>
        <p:txBody>
          <a:bodyPr/>
          <a:lstStyle/>
          <a:p>
            <a:endParaRPr lang="en-GB"/>
          </a:p>
        </p:txBody>
      </p:sp>
      <p:sp>
        <p:nvSpPr>
          <p:cNvPr id="11" name="Shape 9"/>
          <p:cNvSpPr/>
          <p:nvPr/>
        </p:nvSpPr>
        <p:spPr>
          <a:xfrm>
            <a:off x="1280160" y="2340864"/>
            <a:ext cx="2560320" cy="100584"/>
          </a:xfrm>
          <a:prstGeom prst="rect">
            <a:avLst/>
          </a:prstGeom>
          <a:solidFill>
            <a:srgbClr val="2563EB">
              <a:alpha val="94000"/>
            </a:srgbClr>
          </a:solidFill>
          <a:ln w="10160">
            <a:solidFill>
              <a:srgbClr val="2563EB"/>
            </a:solidFill>
            <a:prstDash val="solid"/>
          </a:ln>
        </p:spPr>
        <p:txBody>
          <a:bodyPr/>
          <a:lstStyle/>
          <a:p>
            <a:endParaRPr lang="en-GB"/>
          </a:p>
        </p:txBody>
      </p:sp>
      <p:sp>
        <p:nvSpPr>
          <p:cNvPr id="12" name="Shape 10"/>
          <p:cNvSpPr/>
          <p:nvPr/>
        </p:nvSpPr>
        <p:spPr>
          <a:xfrm>
            <a:off x="1325880" y="2450592"/>
            <a:ext cx="2560320" cy="100584"/>
          </a:xfrm>
          <a:prstGeom prst="rect">
            <a:avLst/>
          </a:prstGeom>
          <a:solidFill>
            <a:srgbClr val="2563EB">
              <a:alpha val="92000"/>
            </a:srgbClr>
          </a:solidFill>
          <a:ln w="10160">
            <a:solidFill>
              <a:srgbClr val="2563EB"/>
            </a:solidFill>
            <a:prstDash val="solid"/>
          </a:ln>
        </p:spPr>
        <p:txBody>
          <a:bodyPr/>
          <a:lstStyle/>
          <a:p>
            <a:endParaRPr lang="en-GB"/>
          </a:p>
        </p:txBody>
      </p:sp>
      <p:sp>
        <p:nvSpPr>
          <p:cNvPr id="13" name="Shape 11"/>
          <p:cNvSpPr/>
          <p:nvPr/>
        </p:nvSpPr>
        <p:spPr>
          <a:xfrm>
            <a:off x="1371600" y="2560320"/>
            <a:ext cx="2560320" cy="100584"/>
          </a:xfrm>
          <a:prstGeom prst="rect">
            <a:avLst/>
          </a:prstGeom>
          <a:solidFill>
            <a:srgbClr val="2563EB">
              <a:alpha val="90000"/>
            </a:srgbClr>
          </a:solidFill>
          <a:ln w="10160">
            <a:solidFill>
              <a:srgbClr val="2563EB"/>
            </a:solidFill>
            <a:prstDash val="solid"/>
          </a:ln>
        </p:spPr>
        <p:txBody>
          <a:bodyPr/>
          <a:lstStyle/>
          <a:p>
            <a:endParaRPr lang="en-GB"/>
          </a:p>
        </p:txBody>
      </p:sp>
      <p:sp>
        <p:nvSpPr>
          <p:cNvPr id="14" name="Shape 12"/>
          <p:cNvSpPr/>
          <p:nvPr/>
        </p:nvSpPr>
        <p:spPr>
          <a:xfrm>
            <a:off x="1417320" y="2670048"/>
            <a:ext cx="2560320" cy="100584"/>
          </a:xfrm>
          <a:prstGeom prst="rect">
            <a:avLst/>
          </a:prstGeom>
          <a:solidFill>
            <a:srgbClr val="2563EB">
              <a:alpha val="88000"/>
            </a:srgbClr>
          </a:solidFill>
          <a:ln w="10160">
            <a:solidFill>
              <a:srgbClr val="2563EB"/>
            </a:solidFill>
            <a:prstDash val="solid"/>
          </a:ln>
        </p:spPr>
        <p:txBody>
          <a:bodyPr/>
          <a:lstStyle/>
          <a:p>
            <a:endParaRPr lang="en-GB"/>
          </a:p>
        </p:txBody>
      </p:sp>
      <p:sp>
        <p:nvSpPr>
          <p:cNvPr id="15" name="Shape 13"/>
          <p:cNvSpPr/>
          <p:nvPr/>
        </p:nvSpPr>
        <p:spPr>
          <a:xfrm>
            <a:off x="1463040" y="2779776"/>
            <a:ext cx="2560320" cy="100584"/>
          </a:xfrm>
          <a:prstGeom prst="rect">
            <a:avLst/>
          </a:prstGeom>
          <a:solidFill>
            <a:srgbClr val="2563EB">
              <a:alpha val="86000"/>
            </a:srgbClr>
          </a:solidFill>
          <a:ln w="10160">
            <a:solidFill>
              <a:srgbClr val="2563EB"/>
            </a:solidFill>
            <a:prstDash val="solid"/>
          </a:ln>
        </p:spPr>
        <p:txBody>
          <a:bodyPr/>
          <a:lstStyle/>
          <a:p>
            <a:endParaRPr lang="en-GB"/>
          </a:p>
        </p:txBody>
      </p:sp>
      <p:sp>
        <p:nvSpPr>
          <p:cNvPr id="16" name="Shape 14"/>
          <p:cNvSpPr/>
          <p:nvPr/>
        </p:nvSpPr>
        <p:spPr>
          <a:xfrm>
            <a:off x="1508760" y="2889504"/>
            <a:ext cx="2560320" cy="100584"/>
          </a:xfrm>
          <a:prstGeom prst="rect">
            <a:avLst/>
          </a:prstGeom>
          <a:solidFill>
            <a:srgbClr val="2563EB">
              <a:alpha val="84000"/>
            </a:srgbClr>
          </a:solidFill>
          <a:ln w="10160">
            <a:solidFill>
              <a:srgbClr val="2563EB"/>
            </a:solidFill>
            <a:prstDash val="solid"/>
          </a:ln>
        </p:spPr>
        <p:txBody>
          <a:bodyPr/>
          <a:lstStyle/>
          <a:p>
            <a:endParaRPr lang="en-GB"/>
          </a:p>
        </p:txBody>
      </p:sp>
      <p:sp>
        <p:nvSpPr>
          <p:cNvPr id="17" name="Shape 15"/>
          <p:cNvSpPr/>
          <p:nvPr/>
        </p:nvSpPr>
        <p:spPr>
          <a:xfrm>
            <a:off x="1554480" y="2999232"/>
            <a:ext cx="2560320" cy="100584"/>
          </a:xfrm>
          <a:prstGeom prst="rect">
            <a:avLst/>
          </a:prstGeom>
          <a:solidFill>
            <a:srgbClr val="2563EB">
              <a:alpha val="82000"/>
            </a:srgbClr>
          </a:solidFill>
          <a:ln w="10160">
            <a:solidFill>
              <a:srgbClr val="2563EB"/>
            </a:solidFill>
            <a:prstDash val="solid"/>
          </a:ln>
        </p:spPr>
        <p:txBody>
          <a:bodyPr/>
          <a:lstStyle/>
          <a:p>
            <a:endParaRPr lang="en-GB"/>
          </a:p>
        </p:txBody>
      </p:sp>
      <p:sp>
        <p:nvSpPr>
          <p:cNvPr id="18" name="Shape 16"/>
          <p:cNvSpPr/>
          <p:nvPr/>
        </p:nvSpPr>
        <p:spPr>
          <a:xfrm>
            <a:off x="1600200" y="3108960"/>
            <a:ext cx="2560320" cy="100584"/>
          </a:xfrm>
          <a:prstGeom prst="rect">
            <a:avLst/>
          </a:prstGeom>
          <a:solidFill>
            <a:srgbClr val="2563EB">
              <a:alpha val="80000"/>
            </a:srgbClr>
          </a:solidFill>
          <a:ln w="10160">
            <a:solidFill>
              <a:srgbClr val="2563EB"/>
            </a:solidFill>
            <a:prstDash val="solid"/>
          </a:ln>
        </p:spPr>
        <p:txBody>
          <a:bodyPr/>
          <a:lstStyle/>
          <a:p>
            <a:endParaRPr lang="en-GB"/>
          </a:p>
        </p:txBody>
      </p:sp>
      <p:sp>
        <p:nvSpPr>
          <p:cNvPr id="19" name="Shape 17"/>
          <p:cNvSpPr/>
          <p:nvPr/>
        </p:nvSpPr>
        <p:spPr>
          <a:xfrm>
            <a:off x="1645920" y="3218688"/>
            <a:ext cx="2560320" cy="100584"/>
          </a:xfrm>
          <a:prstGeom prst="rect">
            <a:avLst/>
          </a:prstGeom>
          <a:solidFill>
            <a:srgbClr val="2563EB">
              <a:alpha val="78000"/>
            </a:srgbClr>
          </a:solidFill>
          <a:ln w="10160">
            <a:solidFill>
              <a:srgbClr val="2563EB"/>
            </a:solidFill>
            <a:prstDash val="solid"/>
          </a:ln>
        </p:spPr>
        <p:txBody>
          <a:bodyPr/>
          <a:lstStyle/>
          <a:p>
            <a:endParaRPr lang="en-GB"/>
          </a:p>
        </p:txBody>
      </p:sp>
      <p:sp>
        <p:nvSpPr>
          <p:cNvPr id="20" name="Text 18"/>
          <p:cNvSpPr/>
          <p:nvPr/>
        </p:nvSpPr>
        <p:spPr>
          <a:xfrm>
            <a:off x="1325880" y="3886200"/>
            <a:ext cx="2286000" cy="320040"/>
          </a:xfrm>
          <a:prstGeom prst="rect">
            <a:avLst/>
          </a:prstGeom>
          <a:noFill/>
          <a:ln/>
        </p:spPr>
        <p:txBody>
          <a:bodyPr wrap="square" lIns="381" tIns="381" rIns="381" bIns="381" rtlCol="0" anchor="ctr">
            <a:normAutofit lnSpcReduction="10000"/>
          </a:bodyPr>
          <a:lstStyle/>
          <a:p>
            <a:pPr marL="0" indent="0" algn="ctr">
              <a:buNone/>
            </a:pPr>
            <a:r>
              <a:rPr lang="en-US" sz="2200" b="1" dirty="0">
                <a:solidFill>
                  <a:srgbClr val="2563EB"/>
                </a:solidFill>
                <a:latin typeface="Aptos" pitchFamily="34" charset="0"/>
                <a:ea typeface="Aptos" pitchFamily="34" charset="-122"/>
                <a:cs typeface="Aptos" pitchFamily="34" charset="-120"/>
              </a:rPr>
              <a:t>99,001 windows</a:t>
            </a:r>
            <a:endParaRPr lang="en-US" sz="2200" dirty="0"/>
          </a:p>
        </p:txBody>
      </p:sp>
      <p:sp>
        <p:nvSpPr>
          <p:cNvPr id="21" name="Text 19"/>
          <p:cNvSpPr/>
          <p:nvPr/>
        </p:nvSpPr>
        <p:spPr>
          <a:xfrm>
            <a:off x="1325880" y="4407408"/>
            <a:ext cx="2286000" cy="594360"/>
          </a:xfrm>
          <a:prstGeom prst="rect">
            <a:avLst/>
          </a:prstGeom>
          <a:noFill/>
          <a:ln/>
        </p:spPr>
        <p:txBody>
          <a:bodyPr wrap="square" lIns="381" tIns="381" rIns="381" bIns="381" rtlCol="0" anchor="ctr">
            <a:normAutofit fontScale="92500" lnSpcReduction="10000"/>
          </a:bodyPr>
          <a:lstStyle/>
          <a:p>
            <a:pPr marL="0" indent="0" algn="ctr">
              <a:buNone/>
            </a:pPr>
            <a:r>
              <a:rPr lang="en-US" sz="1100" dirty="0">
                <a:solidFill>
                  <a:srgbClr val="475569"/>
                </a:solidFill>
                <a:latin typeface="Aptos" pitchFamily="34" charset="0"/>
                <a:ea typeface="Aptos" pitchFamily="34" charset="-122"/>
                <a:cs typeface="Aptos" pitchFamily="34" charset="-120"/>
              </a:rPr>
              <a:t>one recording</a:t>
            </a:r>
            <a:endParaRPr lang="en-US" sz="1100" dirty="0"/>
          </a:p>
          <a:p>
            <a:pPr marL="0" indent="0" algn="ctr">
              <a:buNone/>
            </a:pPr>
            <a:r>
              <a:rPr lang="en-US" sz="1100" dirty="0">
                <a:solidFill>
                  <a:srgbClr val="475569"/>
                </a:solidFill>
                <a:latin typeface="Aptos" pitchFamily="34" charset="0"/>
                <a:ea typeface="Aptos" pitchFamily="34" charset="-122"/>
                <a:cs typeface="Aptos" pitchFamily="34" charset="-120"/>
              </a:rPr>
              <a:t>length = 100,000</a:t>
            </a:r>
            <a:endParaRPr lang="en-US" sz="1100" dirty="0"/>
          </a:p>
          <a:p>
            <a:pPr marL="0" indent="0" algn="ctr">
              <a:buNone/>
            </a:pPr>
            <a:r>
              <a:rPr lang="en-US" sz="1100" dirty="0">
                <a:solidFill>
                  <a:srgbClr val="475569"/>
                </a:solidFill>
                <a:latin typeface="Aptos" pitchFamily="34" charset="0"/>
                <a:ea typeface="Aptos" pitchFamily="34" charset="-122"/>
                <a:cs typeface="Aptos" pitchFamily="34" charset="-120"/>
              </a:rPr>
              <a:t>window = 1,000</a:t>
            </a:r>
            <a:endParaRPr lang="en-US" sz="1100" dirty="0"/>
          </a:p>
          <a:p>
            <a:pPr marL="0" indent="0" algn="ctr">
              <a:buNone/>
            </a:pPr>
            <a:r>
              <a:rPr lang="en-US" sz="1100" dirty="0">
                <a:solidFill>
                  <a:srgbClr val="475569"/>
                </a:solidFill>
                <a:latin typeface="Aptos" pitchFamily="34" charset="0"/>
                <a:ea typeface="Aptos" pitchFamily="34" charset="-122"/>
                <a:cs typeface="Aptos" pitchFamily="34" charset="-120"/>
              </a:rPr>
              <a:t>stride = 1</a:t>
            </a:r>
            <a:endParaRPr lang="en-US" sz="1100" dirty="0"/>
          </a:p>
        </p:txBody>
      </p:sp>
      <p:sp>
        <p:nvSpPr>
          <p:cNvPr id="22" name="Shape 20"/>
          <p:cNvSpPr/>
          <p:nvPr/>
        </p:nvSpPr>
        <p:spPr>
          <a:xfrm>
            <a:off x="6583680" y="1234440"/>
            <a:ext cx="3931920" cy="3931920"/>
          </a:xfrm>
          <a:prstGeom prst="rect">
            <a:avLst/>
          </a:prstGeom>
          <a:solidFill>
            <a:srgbClr val="FFFFFF"/>
          </a:solidFill>
          <a:ln w="10160">
            <a:solidFill>
              <a:srgbClr val="CBD5E1"/>
            </a:solidFill>
            <a:prstDash val="solid"/>
          </a:ln>
        </p:spPr>
        <p:txBody>
          <a:bodyPr/>
          <a:lstStyle/>
          <a:p>
            <a:endParaRPr lang="en-GB"/>
          </a:p>
        </p:txBody>
      </p:sp>
      <p:sp>
        <p:nvSpPr>
          <p:cNvPr id="23" name="Text 21"/>
          <p:cNvSpPr/>
          <p:nvPr/>
        </p:nvSpPr>
        <p:spPr>
          <a:xfrm>
            <a:off x="6812280" y="1481328"/>
            <a:ext cx="3474720" cy="274320"/>
          </a:xfrm>
          <a:prstGeom prst="rect">
            <a:avLst/>
          </a:prstGeom>
          <a:noFill/>
          <a:ln/>
        </p:spPr>
        <p:txBody>
          <a:bodyPr wrap="square" lIns="381" tIns="381" rIns="381" bIns="381" rtlCol="0" anchor="ctr">
            <a:normAutofit/>
          </a:bodyPr>
          <a:lstStyle/>
          <a:p>
            <a:pPr marL="0" indent="0" algn="ctr">
              <a:buNone/>
            </a:pPr>
            <a:r>
              <a:rPr lang="en-US" sz="1700" b="1" dirty="0">
                <a:solidFill>
                  <a:srgbClr val="0F172A"/>
                </a:solidFill>
                <a:latin typeface="Aptos" pitchFamily="34" charset="0"/>
                <a:ea typeface="Aptos" pitchFamily="34" charset="-122"/>
                <a:cs typeface="Aptos" pitchFamily="34" charset="-120"/>
              </a:rPr>
              <a:t>Effective evidence</a:t>
            </a:r>
            <a:endParaRPr lang="en-US" sz="1700" dirty="0"/>
          </a:p>
        </p:txBody>
      </p:sp>
      <p:sp>
        <p:nvSpPr>
          <p:cNvPr id="24" name="Shape 22"/>
          <p:cNvSpPr/>
          <p:nvPr/>
        </p:nvSpPr>
        <p:spPr>
          <a:xfrm>
            <a:off x="7406640" y="2103120"/>
            <a:ext cx="411480" cy="411480"/>
          </a:xfrm>
          <a:prstGeom prst="ellipse">
            <a:avLst/>
          </a:prstGeom>
          <a:solidFill>
            <a:srgbClr val="7C3AED"/>
          </a:solidFill>
          <a:ln w="15240">
            <a:solidFill>
              <a:srgbClr val="FFFFFF"/>
            </a:solidFill>
            <a:prstDash val="solid"/>
          </a:ln>
        </p:spPr>
        <p:txBody>
          <a:bodyPr/>
          <a:lstStyle/>
          <a:p>
            <a:endParaRPr lang="en-GB"/>
          </a:p>
        </p:txBody>
      </p:sp>
      <p:sp>
        <p:nvSpPr>
          <p:cNvPr id="25" name="Text 23"/>
          <p:cNvSpPr/>
          <p:nvPr/>
        </p:nvSpPr>
        <p:spPr>
          <a:xfrm>
            <a:off x="7178040" y="2606040"/>
            <a:ext cx="868680" cy="201168"/>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40 machines</a:t>
            </a:r>
            <a:endParaRPr lang="en-US" sz="850" dirty="0"/>
          </a:p>
        </p:txBody>
      </p:sp>
      <p:sp>
        <p:nvSpPr>
          <p:cNvPr id="26" name="Shape 24"/>
          <p:cNvSpPr/>
          <p:nvPr/>
        </p:nvSpPr>
        <p:spPr>
          <a:xfrm>
            <a:off x="8229600" y="2423160"/>
            <a:ext cx="411480" cy="411480"/>
          </a:xfrm>
          <a:prstGeom prst="ellipse">
            <a:avLst/>
          </a:prstGeom>
          <a:solidFill>
            <a:srgbClr val="0F766E"/>
          </a:solidFill>
          <a:ln w="15240">
            <a:solidFill>
              <a:srgbClr val="FFFFFF"/>
            </a:solidFill>
            <a:prstDash val="solid"/>
          </a:ln>
        </p:spPr>
        <p:txBody>
          <a:bodyPr/>
          <a:lstStyle/>
          <a:p>
            <a:endParaRPr lang="en-GB"/>
          </a:p>
        </p:txBody>
      </p:sp>
      <p:sp>
        <p:nvSpPr>
          <p:cNvPr id="27" name="Text 25"/>
          <p:cNvSpPr/>
          <p:nvPr/>
        </p:nvSpPr>
        <p:spPr>
          <a:xfrm>
            <a:off x="8001000" y="2926080"/>
            <a:ext cx="868680" cy="201168"/>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320 cycles</a:t>
            </a:r>
            <a:endParaRPr lang="en-US" sz="850" dirty="0"/>
          </a:p>
        </p:txBody>
      </p:sp>
      <p:sp>
        <p:nvSpPr>
          <p:cNvPr id="28" name="Shape 26"/>
          <p:cNvSpPr/>
          <p:nvPr/>
        </p:nvSpPr>
        <p:spPr>
          <a:xfrm>
            <a:off x="9006840" y="2148840"/>
            <a:ext cx="411480" cy="411480"/>
          </a:xfrm>
          <a:prstGeom prst="ellipse">
            <a:avLst/>
          </a:prstGeom>
          <a:solidFill>
            <a:srgbClr val="EA580C"/>
          </a:solidFill>
          <a:ln w="15240">
            <a:solidFill>
              <a:srgbClr val="FFFFFF"/>
            </a:solidFill>
            <a:prstDash val="solid"/>
          </a:ln>
        </p:spPr>
        <p:txBody>
          <a:bodyPr/>
          <a:lstStyle/>
          <a:p>
            <a:endParaRPr lang="en-GB"/>
          </a:p>
        </p:txBody>
      </p:sp>
      <p:sp>
        <p:nvSpPr>
          <p:cNvPr id="29" name="Text 27"/>
          <p:cNvSpPr/>
          <p:nvPr/>
        </p:nvSpPr>
        <p:spPr>
          <a:xfrm>
            <a:off x="8778240" y="2651760"/>
            <a:ext cx="868680" cy="201168"/>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75 events</a:t>
            </a:r>
            <a:endParaRPr lang="en-US" sz="850" dirty="0"/>
          </a:p>
        </p:txBody>
      </p:sp>
      <p:sp>
        <p:nvSpPr>
          <p:cNvPr id="30" name="Shape 28"/>
          <p:cNvSpPr/>
          <p:nvPr/>
        </p:nvSpPr>
        <p:spPr>
          <a:xfrm>
            <a:off x="7818120" y="3246120"/>
            <a:ext cx="411480" cy="411480"/>
          </a:xfrm>
          <a:prstGeom prst="ellipse">
            <a:avLst/>
          </a:prstGeom>
          <a:solidFill>
            <a:srgbClr val="DC2626"/>
          </a:solidFill>
          <a:ln w="15240">
            <a:solidFill>
              <a:srgbClr val="FFFFFF"/>
            </a:solidFill>
            <a:prstDash val="solid"/>
          </a:ln>
        </p:spPr>
        <p:txBody>
          <a:bodyPr/>
          <a:lstStyle/>
          <a:p>
            <a:endParaRPr lang="en-GB"/>
          </a:p>
        </p:txBody>
      </p:sp>
      <p:sp>
        <p:nvSpPr>
          <p:cNvPr id="31" name="Text 29"/>
          <p:cNvSpPr/>
          <p:nvPr/>
        </p:nvSpPr>
        <p:spPr>
          <a:xfrm>
            <a:off x="7589520" y="3749040"/>
            <a:ext cx="868680" cy="201168"/>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duration</a:t>
            </a:r>
            <a:endParaRPr lang="en-US" sz="850" dirty="0"/>
          </a:p>
        </p:txBody>
      </p:sp>
      <p:sp>
        <p:nvSpPr>
          <p:cNvPr id="32" name="Shape 30"/>
          <p:cNvSpPr/>
          <p:nvPr/>
        </p:nvSpPr>
        <p:spPr>
          <a:xfrm>
            <a:off x="9235440" y="3337560"/>
            <a:ext cx="411480" cy="411480"/>
          </a:xfrm>
          <a:prstGeom prst="ellipse">
            <a:avLst/>
          </a:prstGeom>
          <a:solidFill>
            <a:srgbClr val="16A34A"/>
          </a:solidFill>
          <a:ln w="15240">
            <a:solidFill>
              <a:srgbClr val="FFFFFF"/>
            </a:solidFill>
            <a:prstDash val="solid"/>
          </a:ln>
        </p:spPr>
        <p:txBody>
          <a:bodyPr/>
          <a:lstStyle/>
          <a:p>
            <a:endParaRPr lang="en-GB"/>
          </a:p>
        </p:txBody>
      </p:sp>
      <p:sp>
        <p:nvSpPr>
          <p:cNvPr id="33" name="Text 31"/>
          <p:cNvSpPr/>
          <p:nvPr/>
        </p:nvSpPr>
        <p:spPr>
          <a:xfrm>
            <a:off x="9006840" y="3840480"/>
            <a:ext cx="868680" cy="201168"/>
          </a:xfrm>
          <a:prstGeom prst="rect">
            <a:avLst/>
          </a:prstGeom>
          <a:noFill/>
          <a:ln/>
        </p:spPr>
        <p:txBody>
          <a:bodyPr wrap="square" lIns="381" tIns="381" rIns="381" bIns="381" rtlCol="0" anchor="ctr">
            <a:normAutofit/>
          </a:bodyPr>
          <a:lstStyle/>
          <a:p>
            <a:pPr marL="0" indent="0" algn="ctr">
              <a:buNone/>
            </a:pPr>
            <a:r>
              <a:rPr lang="en-US" sz="850" dirty="0">
                <a:solidFill>
                  <a:srgbClr val="475569"/>
                </a:solidFill>
                <a:latin typeface="Aptos" pitchFamily="34" charset="0"/>
                <a:ea typeface="Aptos" pitchFamily="34" charset="-122"/>
                <a:cs typeface="Aptos" pitchFamily="34" charset="-120"/>
              </a:rPr>
              <a:t>regimes</a:t>
            </a:r>
            <a:endParaRPr lang="en-US" sz="850" dirty="0"/>
          </a:p>
        </p:txBody>
      </p:sp>
      <p:sp>
        <p:nvSpPr>
          <p:cNvPr id="34" name="Text 32"/>
          <p:cNvSpPr/>
          <p:nvPr/>
        </p:nvSpPr>
        <p:spPr>
          <a:xfrm>
            <a:off x="6903720" y="4224528"/>
            <a:ext cx="3337560" cy="502920"/>
          </a:xfrm>
          <a:prstGeom prst="rect">
            <a:avLst/>
          </a:prstGeom>
          <a:noFill/>
          <a:ln/>
        </p:spPr>
        <p:txBody>
          <a:bodyPr wrap="square" lIns="381" tIns="381" rIns="381" bIns="381" rtlCol="0" anchor="ctr">
            <a:normAutofit/>
          </a:bodyPr>
          <a:lstStyle/>
          <a:p>
            <a:pPr marL="0" indent="0" algn="ctr">
              <a:buNone/>
            </a:pPr>
            <a:r>
              <a:rPr lang="en-US" sz="1250" b="1" dirty="0">
                <a:solidFill>
                  <a:srgbClr val="0F172A"/>
                </a:solidFill>
                <a:latin typeface="Aptos" pitchFamily="34" charset="0"/>
                <a:ea typeface="Aptos" pitchFamily="34" charset="-122"/>
                <a:cs typeface="Aptos" pitchFamily="34" charset="-120"/>
              </a:rPr>
              <a:t>Report entities, recordings, cycles, events and temporal duration, not only windows.</a:t>
            </a:r>
            <a:endParaRPr lang="en-US" sz="1250" dirty="0"/>
          </a:p>
        </p:txBody>
      </p:sp>
      <p:sp>
        <p:nvSpPr>
          <p:cNvPr id="35" name="Shape 33"/>
          <p:cNvSpPr/>
          <p:nvPr/>
        </p:nvSpPr>
        <p:spPr>
          <a:xfrm>
            <a:off x="5074920" y="3154680"/>
            <a:ext cx="1097280" cy="0"/>
          </a:xfrm>
          <a:prstGeom prst="line">
            <a:avLst/>
          </a:prstGeom>
          <a:noFill/>
          <a:ln w="21590">
            <a:solidFill>
              <a:srgbClr val="94A3B8"/>
            </a:solidFill>
            <a:prstDash val="solid"/>
            <a:headEnd type="none"/>
            <a:tailEnd type="triangle"/>
          </a:ln>
        </p:spPr>
        <p:txBody>
          <a:bodyPr/>
          <a:lstStyle/>
          <a:p>
            <a:endParaRPr lang="en-GB"/>
          </a:p>
        </p:txBody>
      </p:sp>
      <p:sp>
        <p:nvSpPr>
          <p:cNvPr id="36" name="Text 34"/>
          <p:cNvSpPr/>
          <p:nvPr/>
        </p:nvSpPr>
        <p:spPr>
          <a:xfrm>
            <a:off x="5074920" y="2788920"/>
            <a:ext cx="1097280" cy="228600"/>
          </a:xfrm>
          <a:prstGeom prst="rect">
            <a:avLst/>
          </a:prstGeom>
          <a:noFill/>
          <a:ln/>
        </p:spPr>
        <p:txBody>
          <a:bodyPr wrap="square" lIns="381" tIns="381" rIns="381" bIns="381" rtlCol="0" anchor="ctr">
            <a:normAutofit/>
          </a:bodyPr>
          <a:lstStyle/>
          <a:p>
            <a:pPr marL="0" indent="0" algn="ctr">
              <a:buNone/>
            </a:pPr>
            <a:r>
              <a:rPr lang="en-US" sz="1100" dirty="0">
                <a:solidFill>
                  <a:srgbClr val="475569"/>
                </a:solidFill>
                <a:latin typeface="Aptos" pitchFamily="34" charset="0"/>
                <a:ea typeface="Aptos" pitchFamily="34" charset="-122"/>
                <a:cs typeface="Aptos" pitchFamily="34" charset="-120"/>
              </a:rPr>
              <a:t>not equal to</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20040" y="6510528"/>
            <a:ext cx="11548872" cy="0"/>
          </a:xfrm>
          <a:prstGeom prst="line">
            <a:avLst/>
          </a:prstGeom>
          <a:noFill/>
          <a:ln w="7620">
            <a:solidFill>
              <a:srgbClr val="CBD5E1"/>
            </a:solidFill>
            <a:prstDash val="solid"/>
          </a:ln>
        </p:spPr>
        <p:txBody>
          <a:bodyPr/>
          <a:lstStyle/>
          <a:p>
            <a:endParaRPr lang="en-GB"/>
          </a:p>
        </p:txBody>
      </p:sp>
      <p:sp>
        <p:nvSpPr>
          <p:cNvPr id="3" name="Text 1"/>
          <p:cNvSpPr/>
          <p:nvPr/>
        </p:nvSpPr>
        <p:spPr>
          <a:xfrm>
            <a:off x="411480" y="6565392"/>
            <a:ext cx="7315200" cy="182880"/>
          </a:xfrm>
          <a:prstGeom prst="rect">
            <a:avLst/>
          </a:prstGeom>
          <a:noFill/>
          <a:ln/>
        </p:spPr>
        <p:txBody>
          <a:bodyPr wrap="square" rtlCol="0" anchor="ctr"/>
          <a:lstStyle/>
          <a:p>
            <a:pPr marL="0" indent="0">
              <a:buNone/>
            </a:pPr>
            <a:r>
              <a:rPr lang="en-US" sz="850" dirty="0">
                <a:solidFill>
                  <a:srgbClr val="64748B"/>
                </a:solidFill>
              </a:rPr>
              <a:t>Lecture 2 — Block D: Window generation leakage</a:t>
            </a:r>
            <a:endParaRPr lang="en-US" sz="850" dirty="0"/>
          </a:p>
        </p:txBody>
      </p:sp>
      <p:sp>
        <p:nvSpPr>
          <p:cNvPr id="4" name="Text 2"/>
          <p:cNvSpPr/>
          <p:nvPr/>
        </p:nvSpPr>
        <p:spPr>
          <a:xfrm>
            <a:off x="411480" y="228600"/>
            <a:ext cx="11155680" cy="411480"/>
          </a:xfrm>
          <a:prstGeom prst="rect">
            <a:avLst/>
          </a:prstGeom>
          <a:noFill/>
          <a:ln/>
        </p:spPr>
        <p:txBody>
          <a:bodyPr wrap="square" lIns="0" tIns="0" rIns="0" bIns="0" rtlCol="0" anchor="ctr"/>
          <a:lstStyle/>
          <a:p>
            <a:pPr marL="0" indent="0">
              <a:buNone/>
            </a:pPr>
            <a:r>
              <a:rPr lang="en-US" sz="2500" b="1" dirty="0">
                <a:solidFill>
                  <a:srgbClr val="0F172A"/>
                </a:solidFill>
                <a:latin typeface="Aptos Display" pitchFamily="34" charset="0"/>
                <a:ea typeface="Aptos Display" pitchFamily="34" charset="-122"/>
                <a:cs typeface="Aptos Display" pitchFamily="34" charset="-120"/>
              </a:rPr>
              <a:t>Window-leakage checklist</a:t>
            </a:r>
            <a:endParaRPr lang="en-US" sz="2500" dirty="0"/>
          </a:p>
        </p:txBody>
      </p:sp>
      <p:sp>
        <p:nvSpPr>
          <p:cNvPr id="6" name="Shape 4"/>
          <p:cNvSpPr/>
          <p:nvPr/>
        </p:nvSpPr>
        <p:spPr>
          <a:xfrm>
            <a:off x="777240" y="1234440"/>
            <a:ext cx="5029200" cy="749808"/>
          </a:xfrm>
          <a:prstGeom prst="rect">
            <a:avLst/>
          </a:prstGeom>
          <a:solidFill>
            <a:srgbClr val="FFFFFF"/>
          </a:solidFill>
          <a:ln w="10160">
            <a:solidFill>
              <a:srgbClr val="CBD5E1"/>
            </a:solidFill>
            <a:prstDash val="solid"/>
          </a:ln>
        </p:spPr>
        <p:txBody>
          <a:bodyPr/>
          <a:lstStyle/>
          <a:p>
            <a:endParaRPr lang="en-GB"/>
          </a:p>
        </p:txBody>
      </p:sp>
      <p:sp>
        <p:nvSpPr>
          <p:cNvPr id="7" name="Shape 5"/>
          <p:cNvSpPr/>
          <p:nvPr/>
        </p:nvSpPr>
        <p:spPr>
          <a:xfrm>
            <a:off x="941832" y="1453896"/>
            <a:ext cx="182880" cy="182880"/>
          </a:xfrm>
          <a:prstGeom prst="ellipse">
            <a:avLst/>
          </a:prstGeom>
          <a:solidFill>
            <a:srgbClr val="0F766E"/>
          </a:solidFill>
          <a:ln w="12700">
            <a:solidFill>
              <a:srgbClr val="0F766E"/>
            </a:solidFill>
            <a:prstDash val="solid"/>
          </a:ln>
        </p:spPr>
        <p:txBody>
          <a:bodyPr/>
          <a:lstStyle/>
          <a:p>
            <a:endParaRPr lang="en-GB"/>
          </a:p>
        </p:txBody>
      </p:sp>
      <p:sp>
        <p:nvSpPr>
          <p:cNvPr id="8" name="Text 6"/>
          <p:cNvSpPr/>
          <p:nvPr/>
        </p:nvSpPr>
        <p:spPr>
          <a:xfrm>
            <a:off x="1280160" y="1353312"/>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Original unit</a:t>
            </a:r>
            <a:endParaRPr lang="en-US" sz="1150" dirty="0"/>
          </a:p>
        </p:txBody>
      </p:sp>
      <p:sp>
        <p:nvSpPr>
          <p:cNvPr id="9" name="Text 7"/>
          <p:cNvSpPr/>
          <p:nvPr/>
        </p:nvSpPr>
        <p:spPr>
          <a:xfrm>
            <a:off x="2743200" y="1353312"/>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recording / entity / site / event</a:t>
            </a:r>
            <a:endParaRPr lang="en-US" sz="1020" dirty="0"/>
          </a:p>
        </p:txBody>
      </p:sp>
      <p:sp>
        <p:nvSpPr>
          <p:cNvPr id="10" name="Shape 8"/>
          <p:cNvSpPr/>
          <p:nvPr/>
        </p:nvSpPr>
        <p:spPr>
          <a:xfrm>
            <a:off x="777240" y="2313432"/>
            <a:ext cx="5029200" cy="749808"/>
          </a:xfrm>
          <a:prstGeom prst="rect">
            <a:avLst/>
          </a:prstGeom>
          <a:solidFill>
            <a:srgbClr val="FFFFFF"/>
          </a:solidFill>
          <a:ln w="10160">
            <a:solidFill>
              <a:srgbClr val="CBD5E1"/>
            </a:solidFill>
            <a:prstDash val="solid"/>
          </a:ln>
        </p:spPr>
        <p:txBody>
          <a:bodyPr/>
          <a:lstStyle/>
          <a:p>
            <a:endParaRPr lang="en-GB"/>
          </a:p>
        </p:txBody>
      </p:sp>
      <p:sp>
        <p:nvSpPr>
          <p:cNvPr id="11" name="Shape 9"/>
          <p:cNvSpPr/>
          <p:nvPr/>
        </p:nvSpPr>
        <p:spPr>
          <a:xfrm>
            <a:off x="941832" y="2532888"/>
            <a:ext cx="182880" cy="182880"/>
          </a:xfrm>
          <a:prstGeom prst="ellipse">
            <a:avLst/>
          </a:prstGeom>
          <a:solidFill>
            <a:srgbClr val="0F766E"/>
          </a:solidFill>
          <a:ln w="12700">
            <a:solidFill>
              <a:srgbClr val="0F766E"/>
            </a:solidFill>
            <a:prstDash val="solid"/>
          </a:ln>
        </p:spPr>
        <p:txBody>
          <a:bodyPr/>
          <a:lstStyle/>
          <a:p>
            <a:endParaRPr lang="en-GB"/>
          </a:p>
        </p:txBody>
      </p:sp>
      <p:sp>
        <p:nvSpPr>
          <p:cNvPr id="12" name="Text 10"/>
          <p:cNvSpPr/>
          <p:nvPr/>
        </p:nvSpPr>
        <p:spPr>
          <a:xfrm>
            <a:off x="1280160" y="2432304"/>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Split order</a:t>
            </a:r>
            <a:endParaRPr lang="en-US" sz="1150" dirty="0"/>
          </a:p>
        </p:txBody>
      </p:sp>
      <p:sp>
        <p:nvSpPr>
          <p:cNvPr id="13" name="Text 11"/>
          <p:cNvSpPr/>
          <p:nvPr/>
        </p:nvSpPr>
        <p:spPr>
          <a:xfrm>
            <a:off x="2743200" y="2432304"/>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partitions before windows</a:t>
            </a:r>
            <a:endParaRPr lang="en-US" sz="1020" dirty="0"/>
          </a:p>
        </p:txBody>
      </p:sp>
      <p:sp>
        <p:nvSpPr>
          <p:cNvPr id="14" name="Shape 12"/>
          <p:cNvSpPr/>
          <p:nvPr/>
        </p:nvSpPr>
        <p:spPr>
          <a:xfrm>
            <a:off x="777240" y="3392424"/>
            <a:ext cx="5029200" cy="749808"/>
          </a:xfrm>
          <a:prstGeom prst="rect">
            <a:avLst/>
          </a:prstGeom>
          <a:solidFill>
            <a:srgbClr val="FFFFFF"/>
          </a:solidFill>
          <a:ln w="10160">
            <a:solidFill>
              <a:srgbClr val="CBD5E1"/>
            </a:solidFill>
            <a:prstDash val="solid"/>
          </a:ln>
        </p:spPr>
        <p:txBody>
          <a:bodyPr/>
          <a:lstStyle/>
          <a:p>
            <a:endParaRPr lang="en-GB"/>
          </a:p>
        </p:txBody>
      </p:sp>
      <p:sp>
        <p:nvSpPr>
          <p:cNvPr id="15" name="Shape 13"/>
          <p:cNvSpPr/>
          <p:nvPr/>
        </p:nvSpPr>
        <p:spPr>
          <a:xfrm>
            <a:off x="941832" y="3611880"/>
            <a:ext cx="182880" cy="182880"/>
          </a:xfrm>
          <a:prstGeom prst="ellipse">
            <a:avLst/>
          </a:prstGeom>
          <a:solidFill>
            <a:srgbClr val="0F766E"/>
          </a:solidFill>
          <a:ln w="12700">
            <a:solidFill>
              <a:srgbClr val="0F766E"/>
            </a:solidFill>
            <a:prstDash val="solid"/>
          </a:ln>
        </p:spPr>
        <p:txBody>
          <a:bodyPr/>
          <a:lstStyle/>
          <a:p>
            <a:endParaRPr lang="en-GB"/>
          </a:p>
        </p:txBody>
      </p:sp>
      <p:sp>
        <p:nvSpPr>
          <p:cNvPr id="16" name="Text 14"/>
          <p:cNvSpPr/>
          <p:nvPr/>
        </p:nvSpPr>
        <p:spPr>
          <a:xfrm>
            <a:off x="1280160" y="3511296"/>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Input intervals</a:t>
            </a:r>
            <a:endParaRPr lang="en-US" sz="1150" dirty="0"/>
          </a:p>
        </p:txBody>
      </p:sp>
      <p:sp>
        <p:nvSpPr>
          <p:cNvPr id="17" name="Text 15"/>
          <p:cNvSpPr/>
          <p:nvPr/>
        </p:nvSpPr>
        <p:spPr>
          <a:xfrm>
            <a:off x="2743200" y="3511296"/>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no raw observations across partitions</a:t>
            </a:r>
            <a:endParaRPr lang="en-US" sz="1020" dirty="0"/>
          </a:p>
        </p:txBody>
      </p:sp>
      <p:sp>
        <p:nvSpPr>
          <p:cNvPr id="18" name="Shape 16"/>
          <p:cNvSpPr/>
          <p:nvPr/>
        </p:nvSpPr>
        <p:spPr>
          <a:xfrm>
            <a:off x="777240" y="4471416"/>
            <a:ext cx="5029200" cy="749808"/>
          </a:xfrm>
          <a:prstGeom prst="rect">
            <a:avLst/>
          </a:prstGeom>
          <a:solidFill>
            <a:srgbClr val="FFFFFF"/>
          </a:solidFill>
          <a:ln w="10160">
            <a:solidFill>
              <a:srgbClr val="CBD5E1"/>
            </a:solidFill>
            <a:prstDash val="solid"/>
          </a:ln>
        </p:spPr>
        <p:txBody>
          <a:bodyPr/>
          <a:lstStyle/>
          <a:p>
            <a:endParaRPr lang="en-GB"/>
          </a:p>
        </p:txBody>
      </p:sp>
      <p:sp>
        <p:nvSpPr>
          <p:cNvPr id="19" name="Shape 17"/>
          <p:cNvSpPr/>
          <p:nvPr/>
        </p:nvSpPr>
        <p:spPr>
          <a:xfrm>
            <a:off x="941832" y="4690872"/>
            <a:ext cx="182880" cy="182880"/>
          </a:xfrm>
          <a:prstGeom prst="ellipse">
            <a:avLst/>
          </a:prstGeom>
          <a:solidFill>
            <a:srgbClr val="0F766E"/>
          </a:solidFill>
          <a:ln w="12700">
            <a:solidFill>
              <a:srgbClr val="0F766E"/>
            </a:solidFill>
            <a:prstDash val="solid"/>
          </a:ln>
        </p:spPr>
        <p:txBody>
          <a:bodyPr/>
          <a:lstStyle/>
          <a:p>
            <a:endParaRPr lang="en-GB"/>
          </a:p>
        </p:txBody>
      </p:sp>
      <p:sp>
        <p:nvSpPr>
          <p:cNvPr id="20" name="Text 18"/>
          <p:cNvSpPr/>
          <p:nvPr/>
        </p:nvSpPr>
        <p:spPr>
          <a:xfrm>
            <a:off x="1280160" y="4590288"/>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Target intervals</a:t>
            </a:r>
            <a:endParaRPr lang="en-US" sz="1150" dirty="0"/>
          </a:p>
        </p:txBody>
      </p:sp>
      <p:sp>
        <p:nvSpPr>
          <p:cNvPr id="21" name="Text 19"/>
          <p:cNvSpPr/>
          <p:nvPr/>
        </p:nvSpPr>
        <p:spPr>
          <a:xfrm>
            <a:off x="2743200" y="4590288"/>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no target overlap or target-to-input leakage</a:t>
            </a:r>
            <a:endParaRPr lang="en-US" sz="1020" dirty="0"/>
          </a:p>
        </p:txBody>
      </p:sp>
      <p:sp>
        <p:nvSpPr>
          <p:cNvPr id="22" name="Shape 20"/>
          <p:cNvSpPr/>
          <p:nvPr/>
        </p:nvSpPr>
        <p:spPr>
          <a:xfrm>
            <a:off x="6263640" y="1234440"/>
            <a:ext cx="5029200" cy="749808"/>
          </a:xfrm>
          <a:prstGeom prst="rect">
            <a:avLst/>
          </a:prstGeom>
          <a:solidFill>
            <a:srgbClr val="FFFFFF"/>
          </a:solidFill>
          <a:ln w="10160">
            <a:solidFill>
              <a:srgbClr val="CBD5E1"/>
            </a:solidFill>
            <a:prstDash val="solid"/>
          </a:ln>
        </p:spPr>
        <p:txBody>
          <a:bodyPr/>
          <a:lstStyle/>
          <a:p>
            <a:endParaRPr lang="en-GB"/>
          </a:p>
        </p:txBody>
      </p:sp>
      <p:sp>
        <p:nvSpPr>
          <p:cNvPr id="23" name="Shape 21"/>
          <p:cNvSpPr/>
          <p:nvPr/>
        </p:nvSpPr>
        <p:spPr>
          <a:xfrm>
            <a:off x="6428232" y="1453896"/>
            <a:ext cx="182880" cy="182880"/>
          </a:xfrm>
          <a:prstGeom prst="ellipse">
            <a:avLst/>
          </a:prstGeom>
          <a:solidFill>
            <a:srgbClr val="0F766E"/>
          </a:solidFill>
          <a:ln w="12700">
            <a:solidFill>
              <a:srgbClr val="0F766E"/>
            </a:solidFill>
            <a:prstDash val="solid"/>
          </a:ln>
        </p:spPr>
        <p:txBody>
          <a:bodyPr/>
          <a:lstStyle/>
          <a:p>
            <a:endParaRPr lang="en-GB"/>
          </a:p>
        </p:txBody>
      </p:sp>
      <p:sp>
        <p:nvSpPr>
          <p:cNvPr id="24" name="Text 22"/>
          <p:cNvSpPr/>
          <p:nvPr/>
        </p:nvSpPr>
        <p:spPr>
          <a:xfrm>
            <a:off x="6766560" y="1353312"/>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Event grouping</a:t>
            </a:r>
            <a:endParaRPr lang="en-US" sz="1150" dirty="0"/>
          </a:p>
        </p:txBody>
      </p:sp>
      <p:sp>
        <p:nvSpPr>
          <p:cNvPr id="25" name="Text 23"/>
          <p:cNvSpPr/>
          <p:nvPr/>
        </p:nvSpPr>
        <p:spPr>
          <a:xfrm>
            <a:off x="8229600" y="1353312"/>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one physical event stays in one partition</a:t>
            </a:r>
            <a:endParaRPr lang="en-US" sz="1020" dirty="0"/>
          </a:p>
        </p:txBody>
      </p:sp>
      <p:sp>
        <p:nvSpPr>
          <p:cNvPr id="26" name="Shape 24"/>
          <p:cNvSpPr/>
          <p:nvPr/>
        </p:nvSpPr>
        <p:spPr>
          <a:xfrm>
            <a:off x="6263640" y="2313432"/>
            <a:ext cx="5029200" cy="749808"/>
          </a:xfrm>
          <a:prstGeom prst="rect">
            <a:avLst/>
          </a:prstGeom>
          <a:solidFill>
            <a:srgbClr val="FFFFFF"/>
          </a:solidFill>
          <a:ln w="10160">
            <a:solidFill>
              <a:srgbClr val="CBD5E1"/>
            </a:solidFill>
            <a:prstDash val="solid"/>
          </a:ln>
        </p:spPr>
        <p:txBody>
          <a:bodyPr/>
          <a:lstStyle/>
          <a:p>
            <a:endParaRPr lang="en-GB"/>
          </a:p>
        </p:txBody>
      </p:sp>
      <p:sp>
        <p:nvSpPr>
          <p:cNvPr id="27" name="Shape 25"/>
          <p:cNvSpPr/>
          <p:nvPr/>
        </p:nvSpPr>
        <p:spPr>
          <a:xfrm>
            <a:off x="6428232" y="2532888"/>
            <a:ext cx="182880" cy="182880"/>
          </a:xfrm>
          <a:prstGeom prst="ellipse">
            <a:avLst/>
          </a:prstGeom>
          <a:solidFill>
            <a:srgbClr val="0F766E"/>
          </a:solidFill>
          <a:ln w="12700">
            <a:solidFill>
              <a:srgbClr val="0F766E"/>
            </a:solidFill>
            <a:prstDash val="solid"/>
          </a:ln>
        </p:spPr>
        <p:txBody>
          <a:bodyPr/>
          <a:lstStyle/>
          <a:p>
            <a:endParaRPr lang="en-GB"/>
          </a:p>
        </p:txBody>
      </p:sp>
      <p:sp>
        <p:nvSpPr>
          <p:cNvPr id="28" name="Text 26"/>
          <p:cNvSpPr/>
          <p:nvPr/>
        </p:nvSpPr>
        <p:spPr>
          <a:xfrm>
            <a:off x="6766560" y="2432304"/>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Feature lookback</a:t>
            </a:r>
            <a:endParaRPr lang="en-US" sz="1150" dirty="0"/>
          </a:p>
        </p:txBody>
      </p:sp>
      <p:sp>
        <p:nvSpPr>
          <p:cNvPr id="29" name="Text 27"/>
          <p:cNvSpPr/>
          <p:nvPr/>
        </p:nvSpPr>
        <p:spPr>
          <a:xfrm>
            <a:off x="8229600" y="2432304"/>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rolling features respect boundaries</a:t>
            </a:r>
            <a:endParaRPr lang="en-US" sz="1020" dirty="0"/>
          </a:p>
        </p:txBody>
      </p:sp>
      <p:sp>
        <p:nvSpPr>
          <p:cNvPr id="30" name="Shape 28"/>
          <p:cNvSpPr/>
          <p:nvPr/>
        </p:nvSpPr>
        <p:spPr>
          <a:xfrm>
            <a:off x="6263640" y="3392424"/>
            <a:ext cx="5029200" cy="749808"/>
          </a:xfrm>
          <a:prstGeom prst="rect">
            <a:avLst/>
          </a:prstGeom>
          <a:solidFill>
            <a:srgbClr val="FFFFFF"/>
          </a:solidFill>
          <a:ln w="10160">
            <a:solidFill>
              <a:srgbClr val="CBD5E1"/>
            </a:solidFill>
            <a:prstDash val="solid"/>
          </a:ln>
        </p:spPr>
        <p:txBody>
          <a:bodyPr/>
          <a:lstStyle/>
          <a:p>
            <a:endParaRPr lang="en-GB"/>
          </a:p>
        </p:txBody>
      </p:sp>
      <p:sp>
        <p:nvSpPr>
          <p:cNvPr id="31" name="Shape 29"/>
          <p:cNvSpPr/>
          <p:nvPr/>
        </p:nvSpPr>
        <p:spPr>
          <a:xfrm>
            <a:off x="6428232" y="3611880"/>
            <a:ext cx="182880" cy="182880"/>
          </a:xfrm>
          <a:prstGeom prst="ellipse">
            <a:avLst/>
          </a:prstGeom>
          <a:solidFill>
            <a:srgbClr val="0F766E"/>
          </a:solidFill>
          <a:ln w="12700">
            <a:solidFill>
              <a:srgbClr val="0F766E"/>
            </a:solidFill>
            <a:prstDash val="solid"/>
          </a:ln>
        </p:spPr>
        <p:txBody>
          <a:bodyPr/>
          <a:lstStyle/>
          <a:p>
            <a:endParaRPr lang="en-GB"/>
          </a:p>
        </p:txBody>
      </p:sp>
      <p:sp>
        <p:nvSpPr>
          <p:cNvPr id="32" name="Text 30"/>
          <p:cNvSpPr/>
          <p:nvPr/>
        </p:nvSpPr>
        <p:spPr>
          <a:xfrm>
            <a:off x="6766560" y="3511296"/>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Gap / embargo</a:t>
            </a:r>
            <a:endParaRPr lang="en-US" sz="1150" dirty="0"/>
          </a:p>
        </p:txBody>
      </p:sp>
      <p:sp>
        <p:nvSpPr>
          <p:cNvPr id="33" name="Text 31"/>
          <p:cNvSpPr/>
          <p:nvPr/>
        </p:nvSpPr>
        <p:spPr>
          <a:xfrm>
            <a:off x="8229600" y="3511296"/>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consistent with lookback and horizon</a:t>
            </a:r>
            <a:endParaRPr lang="en-US" sz="1020" dirty="0"/>
          </a:p>
        </p:txBody>
      </p:sp>
      <p:sp>
        <p:nvSpPr>
          <p:cNvPr id="34" name="Shape 32"/>
          <p:cNvSpPr/>
          <p:nvPr/>
        </p:nvSpPr>
        <p:spPr>
          <a:xfrm>
            <a:off x="6263640" y="4471416"/>
            <a:ext cx="5029200" cy="749808"/>
          </a:xfrm>
          <a:prstGeom prst="rect">
            <a:avLst/>
          </a:prstGeom>
          <a:solidFill>
            <a:srgbClr val="FFFFFF"/>
          </a:solidFill>
          <a:ln w="10160">
            <a:solidFill>
              <a:srgbClr val="CBD5E1"/>
            </a:solidFill>
            <a:prstDash val="solid"/>
          </a:ln>
        </p:spPr>
        <p:txBody>
          <a:bodyPr/>
          <a:lstStyle/>
          <a:p>
            <a:endParaRPr lang="en-GB"/>
          </a:p>
        </p:txBody>
      </p:sp>
      <p:sp>
        <p:nvSpPr>
          <p:cNvPr id="35" name="Shape 33"/>
          <p:cNvSpPr/>
          <p:nvPr/>
        </p:nvSpPr>
        <p:spPr>
          <a:xfrm>
            <a:off x="6428232" y="4690872"/>
            <a:ext cx="182880" cy="182880"/>
          </a:xfrm>
          <a:prstGeom prst="ellipse">
            <a:avLst/>
          </a:prstGeom>
          <a:solidFill>
            <a:srgbClr val="0F766E"/>
          </a:solidFill>
          <a:ln w="12700">
            <a:solidFill>
              <a:srgbClr val="0F766E"/>
            </a:solidFill>
            <a:prstDash val="solid"/>
          </a:ln>
        </p:spPr>
        <p:txBody>
          <a:bodyPr/>
          <a:lstStyle/>
          <a:p>
            <a:endParaRPr lang="en-GB"/>
          </a:p>
        </p:txBody>
      </p:sp>
      <p:sp>
        <p:nvSpPr>
          <p:cNvPr id="36" name="Text 34"/>
          <p:cNvSpPr/>
          <p:nvPr/>
        </p:nvSpPr>
        <p:spPr>
          <a:xfrm>
            <a:off x="6766560" y="4590288"/>
            <a:ext cx="1234440" cy="210312"/>
          </a:xfrm>
          <a:prstGeom prst="rect">
            <a:avLst/>
          </a:prstGeom>
          <a:noFill/>
          <a:ln/>
        </p:spPr>
        <p:txBody>
          <a:bodyPr wrap="square" lIns="381" tIns="381" rIns="381" bIns="381" rtlCol="0" anchor="ctr">
            <a:normAutofit/>
          </a:bodyPr>
          <a:lstStyle/>
          <a:p>
            <a:pPr marL="0" indent="0" algn="l">
              <a:buNone/>
            </a:pPr>
            <a:r>
              <a:rPr lang="en-US" sz="1150" b="1" dirty="0">
                <a:solidFill>
                  <a:srgbClr val="0F172A"/>
                </a:solidFill>
                <a:latin typeface="Aptos" pitchFamily="34" charset="0"/>
                <a:ea typeface="Aptos" pitchFamily="34" charset="-122"/>
                <a:cs typeface="Aptos" pitchFamily="34" charset="-120"/>
              </a:rPr>
              <a:t>Reporting</a:t>
            </a:r>
            <a:endParaRPr lang="en-US" sz="1150" dirty="0"/>
          </a:p>
        </p:txBody>
      </p:sp>
      <p:sp>
        <p:nvSpPr>
          <p:cNvPr id="37" name="Text 35"/>
          <p:cNvSpPr/>
          <p:nvPr/>
        </p:nvSpPr>
        <p:spPr>
          <a:xfrm>
            <a:off x="8229600" y="4590288"/>
            <a:ext cx="2697480" cy="210312"/>
          </a:xfrm>
          <a:prstGeom prst="rect">
            <a:avLst/>
          </a:prstGeom>
          <a:noFill/>
          <a:ln/>
        </p:spPr>
        <p:txBody>
          <a:bodyPr wrap="square" lIns="381" tIns="381" rIns="381" bIns="381" rtlCol="0" anchor="ctr">
            <a:normAutofit/>
          </a:bodyPr>
          <a:lstStyle/>
          <a:p>
            <a:pPr marL="0" indent="0" algn="l">
              <a:buNone/>
            </a:pPr>
            <a:r>
              <a:rPr lang="en-US" sz="1020" dirty="0">
                <a:solidFill>
                  <a:srgbClr val="475569"/>
                </a:solidFill>
                <a:latin typeface="Aptos" pitchFamily="34" charset="0"/>
                <a:ea typeface="Aptos" pitchFamily="34" charset="-122"/>
                <a:cs typeface="Aptos" pitchFamily="34" charset="-120"/>
              </a:rPr>
              <a:t>entities, events, stride, overlap</a:t>
            </a:r>
            <a:endParaRPr lang="en-US" sz="1020" dirty="0"/>
          </a:p>
        </p:txBody>
      </p:sp>
      <p:sp>
        <p:nvSpPr>
          <p:cNvPr id="38" name="Shape 36"/>
          <p:cNvSpPr/>
          <p:nvPr/>
        </p:nvSpPr>
        <p:spPr>
          <a:xfrm>
            <a:off x="1143000" y="5715000"/>
            <a:ext cx="9509760" cy="457200"/>
          </a:xfrm>
          <a:prstGeom prst="rect">
            <a:avLst/>
          </a:prstGeom>
          <a:solidFill>
            <a:srgbClr val="FFFFFF"/>
          </a:solidFill>
          <a:ln w="11430">
            <a:solidFill>
              <a:srgbClr val="CBD5E1"/>
            </a:solidFill>
            <a:prstDash val="solid"/>
          </a:ln>
        </p:spPr>
        <p:txBody>
          <a:bodyPr/>
          <a:lstStyle/>
          <a:p>
            <a:endParaRPr lang="en-GB"/>
          </a:p>
        </p:txBody>
      </p:sp>
      <p:sp>
        <p:nvSpPr>
          <p:cNvPr id="39" name="Shape 37"/>
          <p:cNvSpPr/>
          <p:nvPr/>
        </p:nvSpPr>
        <p:spPr>
          <a:xfrm>
            <a:off x="1252728" y="5715000"/>
            <a:ext cx="0" cy="457200"/>
          </a:xfrm>
          <a:prstGeom prst="line">
            <a:avLst/>
          </a:prstGeom>
          <a:noFill/>
          <a:ln w="38100">
            <a:solidFill>
              <a:srgbClr val="DC2626"/>
            </a:solidFill>
            <a:prstDash val="solid"/>
          </a:ln>
        </p:spPr>
        <p:txBody>
          <a:bodyPr/>
          <a:lstStyle/>
          <a:p>
            <a:endParaRPr lang="en-GB"/>
          </a:p>
        </p:txBody>
      </p:sp>
      <p:sp>
        <p:nvSpPr>
          <p:cNvPr id="40" name="Text 38"/>
          <p:cNvSpPr/>
          <p:nvPr/>
        </p:nvSpPr>
        <p:spPr>
          <a:xfrm>
            <a:off x="1344168" y="5788152"/>
            <a:ext cx="9235440" cy="329184"/>
          </a:xfrm>
          <a:prstGeom prst="rect">
            <a:avLst/>
          </a:prstGeom>
          <a:noFill/>
          <a:ln/>
        </p:spPr>
        <p:txBody>
          <a:bodyPr wrap="square" lIns="381" tIns="381" rIns="381" bIns="381" rtlCol="0" anchor="ctr">
            <a:normAutofit/>
          </a:bodyPr>
          <a:lstStyle/>
          <a:p>
            <a:pPr marL="0" indent="0" algn="l">
              <a:buNone/>
            </a:pPr>
            <a:r>
              <a:rPr lang="en-US" sz="1100" b="1" dirty="0">
                <a:solidFill>
                  <a:srgbClr val="0F172A"/>
                </a:solidFill>
                <a:latin typeface="Aptos" pitchFamily="34" charset="0"/>
                <a:ea typeface="Aptos" pitchFamily="34" charset="-122"/>
                <a:cs typeface="Aptos" pitchFamily="34" charset="-120"/>
              </a:rPr>
              <a:t>A split is credible only when recordings, entities, input intervals, target intervals and events are controlled</a:t>
            </a:r>
            <a:r>
              <a:rPr lang="en-US" sz="1100" dirty="0">
                <a:solidFill>
                  <a:srgbClr val="0F172A"/>
                </a:solidFill>
                <a:latin typeface="Aptos" pitchFamily="34" charset="0"/>
                <a:ea typeface="Aptos" pitchFamily="34" charset="-122"/>
                <a:cs typeface="Aptos" pitchFamily="34" charset="-120"/>
              </a:rPr>
              <a:t>.</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2257B9-EBA6-025C-D8EC-E897035C64F6}"/>
              </a:ext>
            </a:extLst>
          </p:cNvPr>
          <p:cNvSpPr>
            <a:spLocks noGrp="1"/>
          </p:cNvSpPr>
          <p:nvPr>
            <p:ph type="title"/>
          </p:nvPr>
        </p:nvSpPr>
        <p:spPr/>
        <p:txBody>
          <a:bodyPr/>
          <a:lstStyle/>
          <a:p>
            <a:r>
              <a:rPr lang="it-IT" dirty="0"/>
              <a:t>Block </a:t>
            </a:r>
            <a:r>
              <a:rPr lang="en-GB" dirty="0"/>
              <a:t>2.E — Leakage from Preprocessing and Feature Construction</a:t>
            </a:r>
          </a:p>
        </p:txBody>
      </p:sp>
      <p:sp>
        <p:nvSpPr>
          <p:cNvPr id="3" name="Segnaposto contenuto 2">
            <a:extLst>
              <a:ext uri="{FF2B5EF4-FFF2-40B4-BE49-F238E27FC236}">
                <a16:creationId xmlns:a16="http://schemas.microsoft.com/office/drawing/2014/main" id="{8B5E3632-B6F6-F4FA-58E7-3217DE3BE61A}"/>
              </a:ext>
            </a:extLst>
          </p:cNvPr>
          <p:cNvSpPr>
            <a:spLocks noGrp="1"/>
          </p:cNvSpPr>
          <p:nvPr>
            <p:ph idx="1"/>
          </p:nvPr>
        </p:nvSpPr>
        <p:spPr/>
        <p:txBody>
          <a:bodyPr/>
          <a:lstStyle/>
          <a:p>
            <a:endParaRPr lang="en-GB" b="1" dirty="0"/>
          </a:p>
          <a:p>
            <a:r>
              <a:rPr lang="en-GB" b="1" dirty="0"/>
              <a:t>Leakage can occur before the model sees the data.</a:t>
            </a:r>
          </a:p>
          <a:p>
            <a:endParaRPr lang="en-GB" b="1" dirty="0"/>
          </a:p>
          <a:p>
            <a:r>
              <a:rPr lang="en-GB" b="1" dirty="0"/>
              <a:t>The entire data-processing pipeline must respect the evaluation boundary.</a:t>
            </a:r>
          </a:p>
          <a:p>
            <a:endParaRPr lang="en-GB" dirty="0"/>
          </a:p>
        </p:txBody>
      </p:sp>
    </p:spTree>
    <p:extLst>
      <p:ext uri="{BB962C8B-B14F-4D97-AF65-F5344CB8AC3E}">
        <p14:creationId xmlns:p14="http://schemas.microsoft.com/office/powerpoint/2010/main" val="12603797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CC1FFC4-AAC1-F0EA-936D-ED91C2068539}"/>
              </a:ext>
            </a:extLst>
          </p:cNvPr>
          <p:cNvSpPr>
            <a:spLocks noGrp="1"/>
          </p:cNvSpPr>
          <p:nvPr>
            <p:ph type="title"/>
          </p:nvPr>
        </p:nvSpPr>
        <p:spPr/>
        <p:txBody>
          <a:bodyPr/>
          <a:lstStyle/>
          <a:p>
            <a:r>
              <a:rPr lang="en-GB" dirty="0"/>
              <a:t>Preprocessing can also leak information</a:t>
            </a:r>
          </a:p>
        </p:txBody>
      </p:sp>
      <p:sp>
        <p:nvSpPr>
          <p:cNvPr id="3" name="Segnaposto contenuto 2">
            <a:extLst>
              <a:ext uri="{FF2B5EF4-FFF2-40B4-BE49-F238E27FC236}">
                <a16:creationId xmlns:a16="http://schemas.microsoft.com/office/drawing/2014/main" id="{A4BE18AB-9D29-3211-21D3-9D112AD588E7}"/>
              </a:ext>
            </a:extLst>
          </p:cNvPr>
          <p:cNvSpPr>
            <a:spLocks noGrp="1"/>
          </p:cNvSpPr>
          <p:nvPr>
            <p:ph idx="1"/>
          </p:nvPr>
        </p:nvSpPr>
        <p:spPr/>
        <p:txBody>
          <a:bodyPr>
            <a:normAutofit fontScale="62500" lnSpcReduction="20000"/>
          </a:bodyPr>
          <a:lstStyle/>
          <a:p>
            <a:r>
              <a:rPr lang="en-GB" dirty="0"/>
              <a:t>Avoiding overlap between training and test samples is not sufficient.</a:t>
            </a:r>
          </a:p>
          <a:p>
            <a:r>
              <a:rPr lang="en-GB" dirty="0"/>
              <a:t>Information can also move across partitions through preprocessing.</a:t>
            </a:r>
          </a:p>
          <a:p>
            <a:r>
              <a:rPr lang="en-GB" b="1" dirty="0"/>
              <a:t>General rule</a:t>
            </a:r>
          </a:p>
          <a:p>
            <a:r>
              <a:rPr lang="en-GB" dirty="0">
                <a:highlight>
                  <a:srgbClr val="FFFF00"/>
                </a:highlight>
              </a:rPr>
              <a:t>Any transformation that </a:t>
            </a:r>
            <a:r>
              <a:rPr lang="en-GB" b="1" dirty="0">
                <a:highlight>
                  <a:srgbClr val="FFFF00"/>
                </a:highlight>
              </a:rPr>
              <a:t>estimates parameters from the data</a:t>
            </a:r>
            <a:r>
              <a:rPr lang="en-GB" dirty="0">
                <a:highlight>
                  <a:srgbClr val="FFFF00"/>
                </a:highlight>
              </a:rPr>
              <a:t> must be fitted using the training data only.</a:t>
            </a:r>
          </a:p>
          <a:p>
            <a:r>
              <a:rPr lang="en-GB" dirty="0"/>
              <a:t>Examples:</a:t>
            </a:r>
          </a:p>
          <a:p>
            <a:pPr lvl="1"/>
            <a:r>
              <a:rPr lang="en-GB" dirty="0"/>
              <a:t>mean and standard deviation for standardization; minimum and maximum values; imputation parameters; PCA components; feature-selection criteria; target encoding; thresholds derived from the data.</a:t>
            </a:r>
          </a:p>
          <a:p>
            <a:endParaRPr lang="en-GB" b="1" dirty="0"/>
          </a:p>
          <a:p>
            <a:r>
              <a:rPr lang="en-GB" b="1" dirty="0"/>
              <a:t>Incorrect workflow</a:t>
            </a:r>
          </a:p>
          <a:p>
            <a:pPr lvl="1"/>
            <a:r>
              <a:rPr lang="en-GB" dirty="0"/>
              <a:t>complete dataset</a:t>
            </a:r>
          </a:p>
          <a:p>
            <a:pPr lvl="1"/>
            <a:r>
              <a:rPr lang="en-GB" dirty="0"/>
              <a:t>      ↓</a:t>
            </a:r>
          </a:p>
          <a:p>
            <a:pPr lvl="1"/>
            <a:r>
              <a:rPr lang="en-GB" dirty="0"/>
              <a:t>fit preprocessing</a:t>
            </a:r>
          </a:p>
          <a:p>
            <a:pPr lvl="1"/>
            <a:r>
              <a:rPr lang="en-GB" dirty="0"/>
              <a:t>      ↓</a:t>
            </a:r>
          </a:p>
          <a:p>
            <a:pPr lvl="1"/>
            <a:r>
              <a:rPr lang="en-GB" dirty="0"/>
              <a:t>train / validation / test split</a:t>
            </a:r>
          </a:p>
          <a:p>
            <a:pPr lvl="1"/>
            <a:r>
              <a:rPr lang="en-GB" dirty="0"/>
              <a:t>Validation and test observations influence the transformation applied to the training set.</a:t>
            </a:r>
          </a:p>
          <a:p>
            <a:endParaRPr lang="en-GB" dirty="0"/>
          </a:p>
        </p:txBody>
      </p:sp>
    </p:spTree>
    <p:extLst>
      <p:ext uri="{BB962C8B-B14F-4D97-AF65-F5344CB8AC3E}">
        <p14:creationId xmlns:p14="http://schemas.microsoft.com/office/powerpoint/2010/main" val="345876507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AA566E-794B-6E34-BFAF-4AAD51B8D778}"/>
              </a:ext>
            </a:extLst>
          </p:cNvPr>
          <p:cNvSpPr>
            <a:spLocks noGrp="1"/>
          </p:cNvSpPr>
          <p:nvPr>
            <p:ph type="title"/>
          </p:nvPr>
        </p:nvSpPr>
        <p:spPr/>
        <p:txBody>
          <a:bodyPr/>
          <a:lstStyle/>
          <a:p>
            <a:r>
              <a:rPr lang="it-IT" dirty="0" err="1"/>
              <a:t>Correct</a:t>
            </a:r>
            <a:r>
              <a:rPr lang="it-IT" dirty="0"/>
              <a:t> workflow</a:t>
            </a:r>
            <a:endParaRPr lang="en-GB" dirty="0"/>
          </a:p>
        </p:txBody>
      </p:sp>
      <p:sp>
        <p:nvSpPr>
          <p:cNvPr id="3" name="Segnaposto contenuto 2">
            <a:extLst>
              <a:ext uri="{FF2B5EF4-FFF2-40B4-BE49-F238E27FC236}">
                <a16:creationId xmlns:a16="http://schemas.microsoft.com/office/drawing/2014/main" id="{E7DA1EC6-3D1E-D1A9-79E7-7E973E748427}"/>
              </a:ext>
            </a:extLst>
          </p:cNvPr>
          <p:cNvSpPr>
            <a:spLocks noGrp="1"/>
          </p:cNvSpPr>
          <p:nvPr>
            <p:ph idx="1"/>
          </p:nvPr>
        </p:nvSpPr>
        <p:spPr/>
        <p:txBody>
          <a:bodyPr/>
          <a:lstStyle/>
          <a:p>
            <a:r>
              <a:rPr lang="en-GB" b="1" dirty="0"/>
              <a:t>Correct workflow</a:t>
            </a:r>
          </a:p>
          <a:p>
            <a:r>
              <a:rPr lang="en-GB" dirty="0"/>
              <a:t>split data</a:t>
            </a:r>
          </a:p>
          <a:p>
            <a:r>
              <a:rPr lang="en-GB" dirty="0"/>
              <a:t>   ↓</a:t>
            </a:r>
          </a:p>
          <a:p>
            <a:r>
              <a:rPr lang="en-GB" dirty="0">
                <a:highlight>
                  <a:srgbClr val="FFFF00"/>
                </a:highlight>
              </a:rPr>
              <a:t>fit preprocessing on training</a:t>
            </a:r>
          </a:p>
          <a:p>
            <a:r>
              <a:rPr lang="en-GB" dirty="0"/>
              <a:t>   ↓</a:t>
            </a:r>
          </a:p>
          <a:p>
            <a:r>
              <a:rPr lang="en-GB" dirty="0">
                <a:highlight>
                  <a:srgbClr val="FFFF00"/>
                </a:highlight>
              </a:rPr>
              <a:t>transform training, validation and test using the same fitted parameters</a:t>
            </a:r>
          </a:p>
          <a:p>
            <a:pPr marL="0" indent="0">
              <a:buNone/>
            </a:pPr>
            <a:endParaRPr lang="en-GB" b="1" dirty="0"/>
          </a:p>
          <a:p>
            <a:r>
              <a:rPr lang="en-GB" dirty="0"/>
              <a:t>The validation and test sets must be treated as unavailable when preprocessing parameters are estimated.</a:t>
            </a:r>
          </a:p>
          <a:p>
            <a:endParaRPr lang="en-GB" dirty="0"/>
          </a:p>
        </p:txBody>
      </p:sp>
    </p:spTree>
    <p:extLst>
      <p:ext uri="{BB962C8B-B14F-4D97-AF65-F5344CB8AC3E}">
        <p14:creationId xmlns:p14="http://schemas.microsoft.com/office/powerpoint/2010/main" val="34886036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Preprocessing leakage: wrong and correct workflows</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Validation and test observations must not influence fitted transformations.</a:t>
            </a:r>
            <a:endParaRPr lang="en-US" sz="950" dirty="0"/>
          </a:p>
        </p:txBody>
      </p:sp>
      <p:sp>
        <p:nvSpPr>
          <p:cNvPr id="6" name="Text 3"/>
          <p:cNvSpPr/>
          <p:nvPr/>
        </p:nvSpPr>
        <p:spPr>
          <a:xfrm>
            <a:off x="731520" y="1143000"/>
            <a:ext cx="2743200" cy="274320"/>
          </a:xfrm>
          <a:prstGeom prst="rect">
            <a:avLst/>
          </a:prstGeom>
          <a:noFill/>
          <a:ln/>
        </p:spPr>
        <p:txBody>
          <a:bodyPr wrap="square" lIns="0" tIns="0" rIns="0" bIns="0" rtlCol="0" anchor="t">
            <a:normAutofit/>
          </a:bodyPr>
          <a:lstStyle/>
          <a:p>
            <a:pPr marL="0" indent="0" algn="l">
              <a:buNone/>
            </a:pPr>
            <a:r>
              <a:rPr lang="en-US" sz="1300" b="1" dirty="0">
                <a:solidFill>
                  <a:srgbClr val="DC2626"/>
                </a:solidFill>
                <a:latin typeface="Aptos" pitchFamily="34" charset="0"/>
                <a:ea typeface="Aptos" pitchFamily="34" charset="-122"/>
                <a:cs typeface="Aptos" pitchFamily="34" charset="-120"/>
              </a:rPr>
              <a:t>Incorrect workflow</a:t>
            </a:r>
            <a:endParaRPr lang="en-US" sz="1300" dirty="0"/>
          </a:p>
        </p:txBody>
      </p:sp>
      <p:sp>
        <p:nvSpPr>
          <p:cNvPr id="7" name="Text 4"/>
          <p:cNvSpPr/>
          <p:nvPr/>
        </p:nvSpPr>
        <p:spPr>
          <a:xfrm>
            <a:off x="731520" y="1554480"/>
            <a:ext cx="2511552" cy="68580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complete</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dataset</a:t>
            </a:r>
            <a:endParaRPr lang="en-US" sz="1000" dirty="0"/>
          </a:p>
        </p:txBody>
      </p:sp>
      <p:sp>
        <p:nvSpPr>
          <p:cNvPr id="8" name="Shape 5"/>
          <p:cNvSpPr/>
          <p:nvPr/>
        </p:nvSpPr>
        <p:spPr>
          <a:xfrm>
            <a:off x="3261360" y="1897380"/>
            <a:ext cx="109728" cy="0"/>
          </a:xfrm>
          <a:prstGeom prst="line">
            <a:avLst/>
          </a:prstGeom>
          <a:noFill/>
          <a:ln w="20320">
            <a:solidFill>
              <a:srgbClr val="DC2626"/>
            </a:solidFill>
            <a:prstDash val="solid"/>
            <a:tailEnd type="triangle"/>
          </a:ln>
        </p:spPr>
        <p:txBody>
          <a:bodyPr/>
          <a:lstStyle/>
          <a:p>
            <a:endParaRPr lang="en-GB"/>
          </a:p>
        </p:txBody>
      </p:sp>
      <p:sp>
        <p:nvSpPr>
          <p:cNvPr id="9" name="Text 6"/>
          <p:cNvSpPr/>
          <p:nvPr/>
        </p:nvSpPr>
        <p:spPr>
          <a:xfrm>
            <a:off x="3407664" y="1554480"/>
            <a:ext cx="2511552" cy="68580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preprocessing</a:t>
            </a:r>
            <a:endParaRPr lang="en-US" sz="1000" dirty="0"/>
          </a:p>
        </p:txBody>
      </p:sp>
      <p:sp>
        <p:nvSpPr>
          <p:cNvPr id="10" name="Shape 7"/>
          <p:cNvSpPr/>
          <p:nvPr/>
        </p:nvSpPr>
        <p:spPr>
          <a:xfrm>
            <a:off x="5937504" y="1897380"/>
            <a:ext cx="109728" cy="0"/>
          </a:xfrm>
          <a:prstGeom prst="line">
            <a:avLst/>
          </a:prstGeom>
          <a:noFill/>
          <a:ln w="20320">
            <a:solidFill>
              <a:srgbClr val="DC2626"/>
            </a:solidFill>
            <a:prstDash val="solid"/>
            <a:tailEnd type="triangle"/>
          </a:ln>
        </p:spPr>
        <p:txBody>
          <a:bodyPr/>
          <a:lstStyle/>
          <a:p>
            <a:endParaRPr lang="en-GB"/>
          </a:p>
        </p:txBody>
      </p:sp>
      <p:sp>
        <p:nvSpPr>
          <p:cNvPr id="11" name="Text 8"/>
          <p:cNvSpPr/>
          <p:nvPr/>
        </p:nvSpPr>
        <p:spPr>
          <a:xfrm>
            <a:off x="6083808" y="1554480"/>
            <a:ext cx="2511552" cy="68580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split into</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train/val/test</a:t>
            </a:r>
            <a:endParaRPr lang="en-US" sz="1000" dirty="0"/>
          </a:p>
        </p:txBody>
      </p:sp>
      <p:sp>
        <p:nvSpPr>
          <p:cNvPr id="12" name="Text 9"/>
          <p:cNvSpPr/>
          <p:nvPr/>
        </p:nvSpPr>
        <p:spPr>
          <a:xfrm>
            <a:off x="6235430" y="2423160"/>
            <a:ext cx="3000010" cy="502920"/>
          </a:xfrm>
          <a:prstGeom prst="rect">
            <a:avLst/>
          </a:prstGeom>
          <a:solidFill>
            <a:srgbClr val="FFFFFF"/>
          </a:solidFill>
          <a:ln w="15240">
            <a:solidFill>
              <a:srgbClr val="DC2626"/>
            </a:solidFill>
          </a:ln>
        </p:spPr>
        <p:txBody>
          <a:bodyPr wrap="square" lIns="1016" tIns="1016" rIns="1016" bIns="1016" rtlCol="0" anchor="ctr">
            <a:normAutofit/>
          </a:bodyPr>
          <a:lstStyle/>
          <a:p>
            <a:pPr marL="0" indent="0">
              <a:buNone/>
            </a:pPr>
            <a:r>
              <a:rPr lang="en-US" sz="950" dirty="0">
                <a:solidFill>
                  <a:srgbClr val="111827"/>
                </a:solidFill>
              </a:rPr>
              <a:t>Problem: validation and test values influence the representation used during training.</a:t>
            </a:r>
            <a:endParaRPr lang="en-US" sz="950" dirty="0"/>
          </a:p>
        </p:txBody>
      </p:sp>
      <p:sp>
        <p:nvSpPr>
          <p:cNvPr id="13" name="Text 10"/>
          <p:cNvSpPr/>
          <p:nvPr/>
        </p:nvSpPr>
        <p:spPr>
          <a:xfrm>
            <a:off x="731520" y="3429000"/>
            <a:ext cx="2743200" cy="274320"/>
          </a:xfrm>
          <a:prstGeom prst="rect">
            <a:avLst/>
          </a:prstGeom>
          <a:noFill/>
          <a:ln/>
        </p:spPr>
        <p:txBody>
          <a:bodyPr wrap="square" lIns="0" tIns="0" rIns="0" bIns="0" rtlCol="0" anchor="t">
            <a:normAutofit/>
          </a:bodyPr>
          <a:lstStyle/>
          <a:p>
            <a:pPr marL="0" indent="0" algn="l">
              <a:buNone/>
            </a:pPr>
            <a:r>
              <a:rPr lang="en-US" sz="1300" b="1" dirty="0">
                <a:solidFill>
                  <a:srgbClr val="5C9A17"/>
                </a:solidFill>
                <a:latin typeface="Aptos" pitchFamily="34" charset="0"/>
                <a:ea typeface="Aptos" pitchFamily="34" charset="-122"/>
                <a:cs typeface="Aptos" pitchFamily="34" charset="-120"/>
              </a:rPr>
              <a:t>Correct workflow</a:t>
            </a:r>
            <a:endParaRPr lang="en-US" sz="1300" dirty="0"/>
          </a:p>
        </p:txBody>
      </p:sp>
      <p:sp>
        <p:nvSpPr>
          <p:cNvPr id="14" name="Text 11"/>
          <p:cNvSpPr/>
          <p:nvPr/>
        </p:nvSpPr>
        <p:spPr>
          <a:xfrm>
            <a:off x="731520" y="3840480"/>
            <a:ext cx="2511552" cy="68580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split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data</a:t>
            </a:r>
            <a:endParaRPr lang="en-US" sz="1000" dirty="0"/>
          </a:p>
        </p:txBody>
      </p:sp>
      <p:sp>
        <p:nvSpPr>
          <p:cNvPr id="15" name="Shape 12"/>
          <p:cNvSpPr/>
          <p:nvPr/>
        </p:nvSpPr>
        <p:spPr>
          <a:xfrm>
            <a:off x="3261360" y="4183380"/>
            <a:ext cx="109728" cy="0"/>
          </a:xfrm>
          <a:prstGeom prst="line">
            <a:avLst/>
          </a:prstGeom>
          <a:noFill/>
          <a:ln w="20320">
            <a:solidFill>
              <a:srgbClr val="5C9A17"/>
            </a:solidFill>
            <a:prstDash val="solid"/>
            <a:tailEnd type="triangle"/>
          </a:ln>
        </p:spPr>
        <p:txBody>
          <a:bodyPr/>
          <a:lstStyle/>
          <a:p>
            <a:endParaRPr lang="en-GB"/>
          </a:p>
        </p:txBody>
      </p:sp>
      <p:sp>
        <p:nvSpPr>
          <p:cNvPr id="16" name="Text 13"/>
          <p:cNvSpPr/>
          <p:nvPr/>
        </p:nvSpPr>
        <p:spPr>
          <a:xfrm>
            <a:off x="3407664" y="3840480"/>
            <a:ext cx="2511552" cy="68580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fit on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training</a:t>
            </a:r>
            <a:endParaRPr lang="en-US" sz="1000" dirty="0"/>
          </a:p>
        </p:txBody>
      </p:sp>
      <p:sp>
        <p:nvSpPr>
          <p:cNvPr id="17" name="Shape 14"/>
          <p:cNvSpPr/>
          <p:nvPr/>
        </p:nvSpPr>
        <p:spPr>
          <a:xfrm>
            <a:off x="5937504" y="4183380"/>
            <a:ext cx="109728" cy="0"/>
          </a:xfrm>
          <a:prstGeom prst="line">
            <a:avLst/>
          </a:prstGeom>
          <a:noFill/>
          <a:ln w="20320">
            <a:solidFill>
              <a:srgbClr val="5C9A17"/>
            </a:solidFill>
            <a:prstDash val="solid"/>
            <a:tailEnd type="triangle"/>
          </a:ln>
        </p:spPr>
        <p:txBody>
          <a:bodyPr/>
          <a:lstStyle/>
          <a:p>
            <a:endParaRPr lang="en-GB"/>
          </a:p>
        </p:txBody>
      </p:sp>
      <p:sp>
        <p:nvSpPr>
          <p:cNvPr id="18" name="Text 15"/>
          <p:cNvSpPr/>
          <p:nvPr/>
        </p:nvSpPr>
        <p:spPr>
          <a:xfrm>
            <a:off x="6083808" y="3840480"/>
            <a:ext cx="2511552" cy="68580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transform</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all partitions</a:t>
            </a:r>
            <a:endParaRPr lang="en-US" sz="1000" dirty="0"/>
          </a:p>
        </p:txBody>
      </p:sp>
      <p:sp>
        <p:nvSpPr>
          <p:cNvPr id="19" name="Text 16"/>
          <p:cNvSpPr/>
          <p:nvPr/>
        </p:nvSpPr>
        <p:spPr>
          <a:xfrm>
            <a:off x="6080760" y="4709160"/>
            <a:ext cx="3154680" cy="585216"/>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Fitted parameters are learned only from training data, then applied unchanged to validation and test.</a:t>
            </a:r>
            <a:endParaRPr lang="en-US" sz="9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C605D4E-A90D-0ECF-B386-C19731C8F116}"/>
              </a:ext>
            </a:extLst>
          </p:cNvPr>
          <p:cNvSpPr>
            <a:spLocks noGrp="1"/>
          </p:cNvSpPr>
          <p:nvPr>
            <p:ph type="title"/>
          </p:nvPr>
        </p:nvSpPr>
        <p:spPr/>
        <p:txBody>
          <a:bodyPr/>
          <a:lstStyle/>
          <a:p>
            <a:r>
              <a:rPr lang="en-GB" dirty="0"/>
              <a:t>Example: standardization</a:t>
            </a:r>
          </a:p>
        </p:txBody>
      </p:sp>
      <p:sp>
        <p:nvSpPr>
          <p:cNvPr id="3" name="Segnaposto contenuto 2">
            <a:extLst>
              <a:ext uri="{FF2B5EF4-FFF2-40B4-BE49-F238E27FC236}">
                <a16:creationId xmlns:a16="http://schemas.microsoft.com/office/drawing/2014/main" id="{88DB20DC-67AE-4EAC-1223-032A6F8B34BD}"/>
              </a:ext>
            </a:extLst>
          </p:cNvPr>
          <p:cNvSpPr>
            <a:spLocks noGrp="1"/>
          </p:cNvSpPr>
          <p:nvPr>
            <p:ph idx="1"/>
          </p:nvPr>
        </p:nvSpPr>
        <p:spPr/>
        <p:txBody>
          <a:bodyPr>
            <a:normAutofit fontScale="62500" lnSpcReduction="20000"/>
          </a:bodyPr>
          <a:lstStyle/>
          <a:p>
            <a:r>
              <a:rPr lang="en-GB" dirty="0"/>
              <a:t>Suppose one feature is standardized as: standardized value = (value − mean) / standard deviation</a:t>
            </a:r>
          </a:p>
          <a:p>
            <a:r>
              <a:rPr lang="en-GB" dirty="0"/>
              <a:t>The mean and standard deviation must be estimated from the training set.</a:t>
            </a:r>
          </a:p>
          <a:p>
            <a:endParaRPr lang="en-GB" b="1" dirty="0"/>
          </a:p>
          <a:p>
            <a:r>
              <a:rPr lang="en-GB" b="1" dirty="0"/>
              <a:t>Incorrect</a:t>
            </a:r>
          </a:p>
          <a:p>
            <a:r>
              <a:rPr lang="en-GB" dirty="0"/>
              <a:t>mean = mean of training + validation + test</a:t>
            </a:r>
          </a:p>
          <a:p>
            <a:r>
              <a:rPr lang="en-GB" dirty="0"/>
              <a:t>std  = std of training + validation + test</a:t>
            </a:r>
          </a:p>
          <a:p>
            <a:r>
              <a:rPr lang="en-GB" dirty="0">
                <a:highlight>
                  <a:srgbClr val="FFFF00"/>
                </a:highlight>
              </a:rPr>
              <a:t>The transformation contains information about future or unseen data.</a:t>
            </a:r>
          </a:p>
          <a:p>
            <a:endParaRPr lang="en-GB" b="1" dirty="0"/>
          </a:p>
          <a:p>
            <a:r>
              <a:rPr lang="en-GB" b="1" dirty="0"/>
              <a:t>Correct</a:t>
            </a:r>
          </a:p>
          <a:p>
            <a:r>
              <a:rPr lang="en-GB" dirty="0"/>
              <a:t>training mean = mean(training); training std  = std(training)</a:t>
            </a:r>
          </a:p>
          <a:p>
            <a:r>
              <a:rPr lang="en-GB" dirty="0"/>
              <a:t>Then apply:</a:t>
            </a:r>
          </a:p>
          <a:p>
            <a:pPr lvl="1"/>
            <a:r>
              <a:rPr lang="en-GB" dirty="0"/>
              <a:t>training: (value − training mean) / training std</a:t>
            </a:r>
          </a:p>
          <a:p>
            <a:pPr lvl="1"/>
            <a:r>
              <a:rPr lang="en-GB" dirty="0"/>
              <a:t>validation: (value − training mean) / training std</a:t>
            </a:r>
          </a:p>
          <a:p>
            <a:pPr lvl="1"/>
            <a:r>
              <a:rPr lang="en-GB" dirty="0"/>
              <a:t>test: (value − training mean) / training std</a:t>
            </a:r>
          </a:p>
          <a:p>
            <a:endParaRPr lang="en-GB" dirty="0"/>
          </a:p>
        </p:txBody>
      </p:sp>
    </p:spTree>
    <p:extLst>
      <p:ext uri="{BB962C8B-B14F-4D97-AF65-F5344CB8AC3E}">
        <p14:creationId xmlns:p14="http://schemas.microsoft.com/office/powerpoint/2010/main" val="36600026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3DF12A6-9DCF-A7A1-2F58-F0DC2FCEE87D}"/>
              </a:ext>
            </a:extLst>
          </p:cNvPr>
          <p:cNvSpPr>
            <a:spLocks noGrp="1"/>
          </p:cNvSpPr>
          <p:nvPr>
            <p:ph type="title"/>
          </p:nvPr>
        </p:nvSpPr>
        <p:spPr/>
        <p:txBody>
          <a:bodyPr/>
          <a:lstStyle/>
          <a:p>
            <a:r>
              <a:rPr lang="en-GB" b="1" dirty="0"/>
              <a:t>Why does this matter?</a:t>
            </a:r>
            <a:br>
              <a:rPr lang="en-GB" b="1" dirty="0"/>
            </a:br>
            <a:endParaRPr lang="en-GB" dirty="0"/>
          </a:p>
        </p:txBody>
      </p:sp>
      <p:sp>
        <p:nvSpPr>
          <p:cNvPr id="3" name="Segnaposto contenuto 2">
            <a:extLst>
              <a:ext uri="{FF2B5EF4-FFF2-40B4-BE49-F238E27FC236}">
                <a16:creationId xmlns:a16="http://schemas.microsoft.com/office/drawing/2014/main" id="{996F69A0-FFC4-FAED-2303-0FF36DFC4933}"/>
              </a:ext>
            </a:extLst>
          </p:cNvPr>
          <p:cNvSpPr>
            <a:spLocks noGrp="1"/>
          </p:cNvSpPr>
          <p:nvPr>
            <p:ph idx="1"/>
          </p:nvPr>
        </p:nvSpPr>
        <p:spPr/>
        <p:txBody>
          <a:bodyPr/>
          <a:lstStyle/>
          <a:p>
            <a:r>
              <a:rPr lang="en-GB" b="1" dirty="0"/>
              <a:t>Suppose a process gradually drifts upward.</a:t>
            </a:r>
          </a:p>
          <a:p>
            <a:r>
              <a:rPr lang="en-GB" dirty="0"/>
              <a:t>The test period has much larger values than the training period.</a:t>
            </a:r>
          </a:p>
          <a:p>
            <a:r>
              <a:rPr lang="en-GB" dirty="0"/>
              <a:t>If the global mean is used, the training data are normalized using information about that future drift.</a:t>
            </a:r>
          </a:p>
          <a:p>
            <a:r>
              <a:rPr lang="en-GB" dirty="0"/>
              <a:t>The model therefore receives an unrealistically favourable representation.</a:t>
            </a:r>
          </a:p>
          <a:p>
            <a:endParaRPr lang="en-GB" b="1" dirty="0"/>
          </a:p>
          <a:p>
            <a:r>
              <a:rPr lang="en-GB" b="1" dirty="0"/>
              <a:t>Consequence</a:t>
            </a:r>
          </a:p>
          <a:p>
            <a:r>
              <a:rPr lang="en-GB" dirty="0"/>
              <a:t>Different distributions in validation or test should be visible.</a:t>
            </a:r>
          </a:p>
          <a:p>
            <a:r>
              <a:rPr lang="en-GB" dirty="0"/>
              <a:t>They may represent exactly the distribution shift that the evaluation is intended to measure.</a:t>
            </a:r>
          </a:p>
          <a:p>
            <a:endParaRPr lang="en-GB" dirty="0"/>
          </a:p>
        </p:txBody>
      </p:sp>
    </p:spTree>
    <p:extLst>
      <p:ext uri="{BB962C8B-B14F-4D97-AF65-F5344CB8AC3E}">
        <p14:creationId xmlns:p14="http://schemas.microsoft.com/office/powerpoint/2010/main" val="111233933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Standardization under temporal drift</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Using the full-series mean can hide the very shift that test evaluation should measure.</a:t>
            </a:r>
            <a:endParaRPr lang="en-US" sz="950" dirty="0"/>
          </a:p>
        </p:txBody>
      </p:sp>
      <p:sp>
        <p:nvSpPr>
          <p:cNvPr id="6" name="Shape 3"/>
          <p:cNvSpPr/>
          <p:nvPr/>
        </p:nvSpPr>
        <p:spPr>
          <a:xfrm>
            <a:off x="777240" y="4114800"/>
            <a:ext cx="8138160" cy="0"/>
          </a:xfrm>
          <a:prstGeom prst="line">
            <a:avLst/>
          </a:prstGeom>
          <a:noFill/>
          <a:ln w="12700">
            <a:solidFill>
              <a:srgbClr val="6B7280"/>
            </a:solidFill>
            <a:prstDash val="solid"/>
          </a:ln>
        </p:spPr>
        <p:txBody>
          <a:bodyPr/>
          <a:lstStyle/>
          <a:p>
            <a:endParaRPr lang="en-GB"/>
          </a:p>
        </p:txBody>
      </p:sp>
      <p:sp>
        <p:nvSpPr>
          <p:cNvPr id="7" name="Shape 4"/>
          <p:cNvSpPr/>
          <p:nvPr/>
        </p:nvSpPr>
        <p:spPr>
          <a:xfrm>
            <a:off x="777240" y="1280160"/>
            <a:ext cx="0" cy="2834640"/>
          </a:xfrm>
          <a:prstGeom prst="line">
            <a:avLst/>
          </a:prstGeom>
          <a:noFill/>
          <a:ln w="12700">
            <a:solidFill>
              <a:srgbClr val="6B7280"/>
            </a:solidFill>
            <a:prstDash val="solid"/>
          </a:ln>
        </p:spPr>
        <p:txBody>
          <a:bodyPr/>
          <a:lstStyle/>
          <a:p>
            <a:endParaRPr lang="en-GB"/>
          </a:p>
        </p:txBody>
      </p:sp>
      <p:sp>
        <p:nvSpPr>
          <p:cNvPr id="8" name="Text 5"/>
          <p:cNvSpPr/>
          <p:nvPr/>
        </p:nvSpPr>
        <p:spPr>
          <a:xfrm>
            <a:off x="502920" y="1097280"/>
            <a:ext cx="548640" cy="182880"/>
          </a:xfrm>
          <a:prstGeom prst="rect">
            <a:avLst/>
          </a:prstGeom>
          <a:noFill/>
          <a:ln/>
        </p:spPr>
        <p:txBody>
          <a:bodyPr wrap="square" lIns="0" tIns="0" rIns="0" bIns="0" rtlCol="0" anchor="t">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value</a:t>
            </a:r>
            <a:endParaRPr lang="en-US" sz="800" dirty="0"/>
          </a:p>
        </p:txBody>
      </p:sp>
      <p:sp>
        <p:nvSpPr>
          <p:cNvPr id="9" name="Text 6"/>
          <p:cNvSpPr/>
          <p:nvPr/>
        </p:nvSpPr>
        <p:spPr>
          <a:xfrm>
            <a:off x="8641080" y="4828032"/>
            <a:ext cx="640080" cy="182880"/>
          </a:xfrm>
          <a:prstGeom prst="rect">
            <a:avLst/>
          </a:prstGeom>
          <a:noFill/>
          <a:ln/>
        </p:spPr>
        <p:txBody>
          <a:bodyPr wrap="square" lIns="0" tIns="0" rIns="0" bIns="0" rtlCol="0" anchor="t">
            <a:normAutofit/>
          </a:bodyPr>
          <a:lstStyle/>
          <a:p>
            <a:pPr marL="0" indent="0" algn="l">
              <a:buNone/>
            </a:pPr>
            <a:r>
              <a:rPr lang="en-US" sz="900" dirty="0">
                <a:solidFill>
                  <a:srgbClr val="6B7280"/>
                </a:solidFill>
                <a:latin typeface="Aptos" pitchFamily="34" charset="0"/>
                <a:ea typeface="Aptos" pitchFamily="34" charset="-122"/>
                <a:cs typeface="Aptos" pitchFamily="34" charset="-120"/>
              </a:rPr>
              <a:t>time →</a:t>
            </a:r>
            <a:endParaRPr lang="en-US" sz="900" dirty="0"/>
          </a:p>
        </p:txBody>
      </p:sp>
      <p:sp>
        <p:nvSpPr>
          <p:cNvPr id="10" name="Shape 7"/>
          <p:cNvSpPr/>
          <p:nvPr/>
        </p:nvSpPr>
        <p:spPr>
          <a:xfrm>
            <a:off x="777240" y="4443984"/>
            <a:ext cx="4389120" cy="64008"/>
          </a:xfrm>
          <a:prstGeom prst="rect">
            <a:avLst/>
          </a:prstGeom>
          <a:solidFill>
            <a:srgbClr val="2563EB"/>
          </a:solidFill>
          <a:ln w="12700">
            <a:solidFill>
              <a:srgbClr val="2563EB"/>
            </a:solidFill>
            <a:prstDash val="solid"/>
          </a:ln>
        </p:spPr>
        <p:txBody>
          <a:bodyPr/>
          <a:lstStyle/>
          <a:p>
            <a:endParaRPr lang="en-GB"/>
          </a:p>
        </p:txBody>
      </p:sp>
      <p:sp>
        <p:nvSpPr>
          <p:cNvPr id="11" name="Shape 8"/>
          <p:cNvSpPr/>
          <p:nvPr/>
        </p:nvSpPr>
        <p:spPr>
          <a:xfrm>
            <a:off x="5166360" y="4443984"/>
            <a:ext cx="1691640" cy="64008"/>
          </a:xfrm>
          <a:prstGeom prst="rect">
            <a:avLst/>
          </a:prstGeom>
          <a:solidFill>
            <a:srgbClr val="F59E0B"/>
          </a:solidFill>
          <a:ln w="12700">
            <a:solidFill>
              <a:srgbClr val="F59E0B"/>
            </a:solidFill>
            <a:prstDash val="solid"/>
          </a:ln>
        </p:spPr>
        <p:txBody>
          <a:bodyPr/>
          <a:lstStyle/>
          <a:p>
            <a:endParaRPr lang="en-GB"/>
          </a:p>
        </p:txBody>
      </p:sp>
      <p:sp>
        <p:nvSpPr>
          <p:cNvPr id="12" name="Shape 9"/>
          <p:cNvSpPr/>
          <p:nvPr/>
        </p:nvSpPr>
        <p:spPr>
          <a:xfrm>
            <a:off x="6858000" y="4443984"/>
            <a:ext cx="2057400" cy="64008"/>
          </a:xfrm>
          <a:prstGeom prst="rect">
            <a:avLst/>
          </a:prstGeom>
          <a:solidFill>
            <a:srgbClr val="DC2626"/>
          </a:solidFill>
          <a:ln w="12700">
            <a:solidFill>
              <a:srgbClr val="DC2626"/>
            </a:solidFill>
            <a:prstDash val="solid"/>
          </a:ln>
        </p:spPr>
        <p:txBody>
          <a:bodyPr/>
          <a:lstStyle/>
          <a:p>
            <a:endParaRPr lang="en-GB"/>
          </a:p>
        </p:txBody>
      </p:sp>
      <p:sp>
        <p:nvSpPr>
          <p:cNvPr id="13" name="Text 10"/>
          <p:cNvSpPr/>
          <p:nvPr/>
        </p:nvSpPr>
        <p:spPr>
          <a:xfrm>
            <a:off x="2423160" y="4572000"/>
            <a:ext cx="914400" cy="182880"/>
          </a:xfrm>
          <a:prstGeom prst="rect">
            <a:avLst/>
          </a:prstGeom>
          <a:noFill/>
          <a:ln/>
        </p:spPr>
        <p:txBody>
          <a:bodyPr wrap="square" lIns="0" tIns="0" rIns="0" bIns="0" rtlCol="0" anchor="t">
            <a:normAutofit/>
          </a:bodyPr>
          <a:lstStyle/>
          <a:p>
            <a:pPr marL="0" indent="0" algn="ctr">
              <a:buNone/>
            </a:pPr>
            <a:r>
              <a:rPr lang="en-US" sz="900" b="1" dirty="0">
                <a:solidFill>
                  <a:srgbClr val="2563EB"/>
                </a:solidFill>
                <a:latin typeface="Aptos" pitchFamily="34" charset="0"/>
                <a:ea typeface="Aptos" pitchFamily="34" charset="-122"/>
                <a:cs typeface="Aptos" pitchFamily="34" charset="-120"/>
              </a:rPr>
              <a:t>training</a:t>
            </a:r>
            <a:endParaRPr lang="en-US" sz="900" dirty="0"/>
          </a:p>
        </p:txBody>
      </p:sp>
      <p:sp>
        <p:nvSpPr>
          <p:cNvPr id="14" name="Text 11"/>
          <p:cNvSpPr/>
          <p:nvPr/>
        </p:nvSpPr>
        <p:spPr>
          <a:xfrm>
            <a:off x="5349240" y="4572000"/>
            <a:ext cx="1188720" cy="182880"/>
          </a:xfrm>
          <a:prstGeom prst="rect">
            <a:avLst/>
          </a:prstGeom>
          <a:noFill/>
          <a:ln/>
        </p:spPr>
        <p:txBody>
          <a:bodyPr wrap="square" lIns="0" tIns="0" rIns="0" bIns="0" rtlCol="0" anchor="t">
            <a:normAutofit/>
          </a:bodyPr>
          <a:lstStyle/>
          <a:p>
            <a:pPr marL="0" indent="0" algn="ctr">
              <a:buNone/>
            </a:pPr>
            <a:r>
              <a:rPr lang="en-US" sz="900" b="1" dirty="0">
                <a:solidFill>
                  <a:srgbClr val="F59E0B"/>
                </a:solidFill>
                <a:latin typeface="Aptos" pitchFamily="34" charset="0"/>
                <a:ea typeface="Aptos" pitchFamily="34" charset="-122"/>
                <a:cs typeface="Aptos" pitchFamily="34" charset="-120"/>
              </a:rPr>
              <a:t>validation</a:t>
            </a:r>
            <a:endParaRPr lang="en-US" sz="900" dirty="0"/>
          </a:p>
        </p:txBody>
      </p:sp>
      <p:sp>
        <p:nvSpPr>
          <p:cNvPr id="15" name="Text 12"/>
          <p:cNvSpPr/>
          <p:nvPr/>
        </p:nvSpPr>
        <p:spPr>
          <a:xfrm>
            <a:off x="7498080" y="4572000"/>
            <a:ext cx="914400" cy="182880"/>
          </a:xfrm>
          <a:prstGeom prst="rect">
            <a:avLst/>
          </a:prstGeom>
          <a:noFill/>
          <a:ln/>
        </p:spPr>
        <p:txBody>
          <a:bodyPr wrap="square" lIns="0" tIns="0" rIns="0" bIns="0" rtlCol="0" anchor="t">
            <a:normAutofit/>
          </a:bodyPr>
          <a:lstStyle/>
          <a:p>
            <a:pPr marL="0" indent="0" algn="ctr">
              <a:buNone/>
            </a:pPr>
            <a:r>
              <a:rPr lang="en-US" sz="900" b="1" dirty="0">
                <a:solidFill>
                  <a:srgbClr val="DC2626"/>
                </a:solidFill>
                <a:latin typeface="Aptos" pitchFamily="34" charset="0"/>
                <a:ea typeface="Aptos" pitchFamily="34" charset="-122"/>
                <a:cs typeface="Aptos" pitchFamily="34" charset="-120"/>
              </a:rPr>
              <a:t>test</a:t>
            </a:r>
            <a:endParaRPr lang="en-US" sz="900" dirty="0"/>
          </a:p>
        </p:txBody>
      </p:sp>
      <p:sp>
        <p:nvSpPr>
          <p:cNvPr id="16" name="Shape 13"/>
          <p:cNvSpPr/>
          <p:nvPr/>
        </p:nvSpPr>
        <p:spPr>
          <a:xfrm>
            <a:off x="777240" y="3657600"/>
            <a:ext cx="1097280" cy="0"/>
          </a:xfrm>
          <a:prstGeom prst="line">
            <a:avLst/>
          </a:prstGeom>
          <a:noFill/>
          <a:ln w="29210">
            <a:solidFill>
              <a:srgbClr val="2563EB"/>
            </a:solidFill>
            <a:prstDash val="solid"/>
          </a:ln>
        </p:spPr>
        <p:txBody>
          <a:bodyPr/>
          <a:lstStyle/>
          <a:p>
            <a:endParaRPr lang="en-GB"/>
          </a:p>
        </p:txBody>
      </p:sp>
      <p:sp>
        <p:nvSpPr>
          <p:cNvPr id="17" name="Shape 14"/>
          <p:cNvSpPr/>
          <p:nvPr/>
        </p:nvSpPr>
        <p:spPr>
          <a:xfrm>
            <a:off x="1874520" y="3429000"/>
            <a:ext cx="1097280" cy="0"/>
          </a:xfrm>
          <a:prstGeom prst="line">
            <a:avLst/>
          </a:prstGeom>
          <a:noFill/>
          <a:ln w="29210">
            <a:solidFill>
              <a:srgbClr val="2563EB"/>
            </a:solidFill>
            <a:prstDash val="solid"/>
          </a:ln>
        </p:spPr>
        <p:txBody>
          <a:bodyPr/>
          <a:lstStyle/>
          <a:p>
            <a:endParaRPr lang="en-GB"/>
          </a:p>
        </p:txBody>
      </p:sp>
      <p:sp>
        <p:nvSpPr>
          <p:cNvPr id="18" name="Shape 15"/>
          <p:cNvSpPr/>
          <p:nvPr/>
        </p:nvSpPr>
        <p:spPr>
          <a:xfrm>
            <a:off x="2971800" y="3337560"/>
            <a:ext cx="1097280" cy="0"/>
          </a:xfrm>
          <a:prstGeom prst="line">
            <a:avLst/>
          </a:prstGeom>
          <a:noFill/>
          <a:ln w="29210">
            <a:solidFill>
              <a:srgbClr val="2563EB"/>
            </a:solidFill>
            <a:prstDash val="solid"/>
          </a:ln>
        </p:spPr>
        <p:txBody>
          <a:bodyPr/>
          <a:lstStyle/>
          <a:p>
            <a:endParaRPr lang="en-GB"/>
          </a:p>
        </p:txBody>
      </p:sp>
      <p:sp>
        <p:nvSpPr>
          <p:cNvPr id="19" name="Shape 16"/>
          <p:cNvSpPr/>
          <p:nvPr/>
        </p:nvSpPr>
        <p:spPr>
          <a:xfrm>
            <a:off x="4069080" y="3154680"/>
            <a:ext cx="1097280" cy="0"/>
          </a:xfrm>
          <a:prstGeom prst="line">
            <a:avLst/>
          </a:prstGeom>
          <a:noFill/>
          <a:ln w="29210">
            <a:solidFill>
              <a:srgbClr val="2563EB"/>
            </a:solidFill>
            <a:prstDash val="solid"/>
          </a:ln>
        </p:spPr>
        <p:txBody>
          <a:bodyPr/>
          <a:lstStyle/>
          <a:p>
            <a:endParaRPr lang="en-GB"/>
          </a:p>
        </p:txBody>
      </p:sp>
      <p:sp>
        <p:nvSpPr>
          <p:cNvPr id="20" name="Shape 17"/>
          <p:cNvSpPr/>
          <p:nvPr/>
        </p:nvSpPr>
        <p:spPr>
          <a:xfrm>
            <a:off x="5166360" y="2880360"/>
            <a:ext cx="822960" cy="0"/>
          </a:xfrm>
          <a:prstGeom prst="line">
            <a:avLst/>
          </a:prstGeom>
          <a:noFill/>
          <a:ln w="29210">
            <a:solidFill>
              <a:srgbClr val="2563EB"/>
            </a:solidFill>
            <a:prstDash val="solid"/>
          </a:ln>
        </p:spPr>
        <p:txBody>
          <a:bodyPr/>
          <a:lstStyle/>
          <a:p>
            <a:endParaRPr lang="en-GB"/>
          </a:p>
        </p:txBody>
      </p:sp>
      <p:sp>
        <p:nvSpPr>
          <p:cNvPr id="21" name="Shape 18"/>
          <p:cNvSpPr/>
          <p:nvPr/>
        </p:nvSpPr>
        <p:spPr>
          <a:xfrm>
            <a:off x="5989320" y="2514600"/>
            <a:ext cx="868680" cy="0"/>
          </a:xfrm>
          <a:prstGeom prst="line">
            <a:avLst/>
          </a:prstGeom>
          <a:noFill/>
          <a:ln w="29210">
            <a:solidFill>
              <a:srgbClr val="2563EB"/>
            </a:solidFill>
            <a:prstDash val="solid"/>
          </a:ln>
        </p:spPr>
        <p:txBody>
          <a:bodyPr/>
          <a:lstStyle/>
          <a:p>
            <a:endParaRPr lang="en-GB"/>
          </a:p>
        </p:txBody>
      </p:sp>
      <p:sp>
        <p:nvSpPr>
          <p:cNvPr id="22" name="Shape 19"/>
          <p:cNvSpPr/>
          <p:nvPr/>
        </p:nvSpPr>
        <p:spPr>
          <a:xfrm>
            <a:off x="6858000" y="2240280"/>
            <a:ext cx="1051560" cy="0"/>
          </a:xfrm>
          <a:prstGeom prst="line">
            <a:avLst/>
          </a:prstGeom>
          <a:noFill/>
          <a:ln w="29210">
            <a:solidFill>
              <a:srgbClr val="2563EB"/>
            </a:solidFill>
            <a:prstDash val="solid"/>
          </a:ln>
        </p:spPr>
        <p:txBody>
          <a:bodyPr/>
          <a:lstStyle/>
          <a:p>
            <a:endParaRPr lang="en-GB"/>
          </a:p>
        </p:txBody>
      </p:sp>
      <p:sp>
        <p:nvSpPr>
          <p:cNvPr id="23" name="Shape 20"/>
          <p:cNvSpPr/>
          <p:nvPr/>
        </p:nvSpPr>
        <p:spPr>
          <a:xfrm>
            <a:off x="7909560" y="1874520"/>
            <a:ext cx="1005840" cy="0"/>
          </a:xfrm>
          <a:prstGeom prst="line">
            <a:avLst/>
          </a:prstGeom>
          <a:noFill/>
          <a:ln w="29210">
            <a:solidFill>
              <a:srgbClr val="2563EB"/>
            </a:solidFill>
            <a:prstDash val="solid"/>
          </a:ln>
        </p:spPr>
        <p:txBody>
          <a:bodyPr/>
          <a:lstStyle/>
          <a:p>
            <a:endParaRPr lang="en-GB"/>
          </a:p>
        </p:txBody>
      </p:sp>
      <p:sp>
        <p:nvSpPr>
          <p:cNvPr id="24" name="Shape 21"/>
          <p:cNvSpPr/>
          <p:nvPr/>
        </p:nvSpPr>
        <p:spPr>
          <a:xfrm>
            <a:off x="822960" y="3337560"/>
            <a:ext cx="4297680" cy="0"/>
          </a:xfrm>
          <a:prstGeom prst="line">
            <a:avLst/>
          </a:prstGeom>
          <a:noFill/>
          <a:ln w="17780">
            <a:solidFill>
              <a:srgbClr val="2563EB"/>
            </a:solidFill>
            <a:prstDash val="solid"/>
          </a:ln>
        </p:spPr>
        <p:txBody>
          <a:bodyPr/>
          <a:lstStyle/>
          <a:p>
            <a:endParaRPr lang="en-GB"/>
          </a:p>
        </p:txBody>
      </p:sp>
      <p:sp>
        <p:nvSpPr>
          <p:cNvPr id="25" name="Text 22"/>
          <p:cNvSpPr/>
          <p:nvPr/>
        </p:nvSpPr>
        <p:spPr>
          <a:xfrm>
            <a:off x="960120" y="3136392"/>
            <a:ext cx="1280160" cy="182880"/>
          </a:xfrm>
          <a:prstGeom prst="rect">
            <a:avLst/>
          </a:prstGeom>
          <a:noFill/>
          <a:ln/>
        </p:spPr>
        <p:txBody>
          <a:bodyPr wrap="square" lIns="0" tIns="0" rIns="0" bIns="0" rtlCol="0" anchor="t">
            <a:normAutofit/>
          </a:bodyPr>
          <a:lstStyle/>
          <a:p>
            <a:pPr marL="0" indent="0" algn="l">
              <a:buNone/>
            </a:pPr>
            <a:r>
              <a:rPr lang="en-US" sz="800" b="1" dirty="0">
                <a:solidFill>
                  <a:srgbClr val="2563EB"/>
                </a:solidFill>
                <a:latin typeface="Aptos" pitchFamily="34" charset="0"/>
                <a:ea typeface="Aptos" pitchFamily="34" charset="-122"/>
                <a:cs typeface="Aptos" pitchFamily="34" charset="-120"/>
              </a:rPr>
              <a:t>training mean</a:t>
            </a:r>
            <a:endParaRPr lang="en-US" sz="800" dirty="0"/>
          </a:p>
        </p:txBody>
      </p:sp>
      <p:sp>
        <p:nvSpPr>
          <p:cNvPr id="26" name="Shape 23"/>
          <p:cNvSpPr/>
          <p:nvPr/>
        </p:nvSpPr>
        <p:spPr>
          <a:xfrm>
            <a:off x="822960" y="2606040"/>
            <a:ext cx="8046720" cy="0"/>
          </a:xfrm>
          <a:prstGeom prst="line">
            <a:avLst/>
          </a:prstGeom>
          <a:noFill/>
          <a:ln w="17780">
            <a:solidFill>
              <a:srgbClr val="DC2626"/>
            </a:solidFill>
            <a:prstDash val="solid"/>
          </a:ln>
        </p:spPr>
        <p:txBody>
          <a:bodyPr/>
          <a:lstStyle/>
          <a:p>
            <a:endParaRPr lang="en-GB"/>
          </a:p>
        </p:txBody>
      </p:sp>
      <p:sp>
        <p:nvSpPr>
          <p:cNvPr id="27" name="Text 24"/>
          <p:cNvSpPr/>
          <p:nvPr/>
        </p:nvSpPr>
        <p:spPr>
          <a:xfrm>
            <a:off x="7269480" y="2444367"/>
            <a:ext cx="1600200" cy="182880"/>
          </a:xfrm>
          <a:prstGeom prst="rect">
            <a:avLst/>
          </a:prstGeom>
          <a:noFill/>
          <a:ln/>
        </p:spPr>
        <p:txBody>
          <a:bodyPr wrap="square" lIns="0" tIns="0" rIns="0" bIns="0" rtlCol="0" anchor="t">
            <a:normAutofit/>
          </a:bodyPr>
          <a:lstStyle/>
          <a:p>
            <a:pPr marL="0" indent="0" algn="l">
              <a:buNone/>
            </a:pPr>
            <a:r>
              <a:rPr lang="en-US" sz="800" b="1" dirty="0">
                <a:solidFill>
                  <a:srgbClr val="DC2626"/>
                </a:solidFill>
                <a:latin typeface="Aptos" pitchFamily="34" charset="0"/>
                <a:ea typeface="Aptos" pitchFamily="34" charset="-122"/>
                <a:cs typeface="Aptos" pitchFamily="34" charset="-120"/>
              </a:rPr>
              <a:t>full-series mean</a:t>
            </a:r>
            <a:endParaRPr lang="en-US" sz="800" dirty="0"/>
          </a:p>
        </p:txBody>
      </p:sp>
      <p:sp>
        <p:nvSpPr>
          <p:cNvPr id="28" name="Text 25"/>
          <p:cNvSpPr/>
          <p:nvPr/>
        </p:nvSpPr>
        <p:spPr>
          <a:xfrm>
            <a:off x="822960" y="5074920"/>
            <a:ext cx="3337560" cy="50292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Correct: fit mean and standard deviation on training only.</a:t>
            </a:r>
            <a:endParaRPr lang="en-US" sz="950" dirty="0"/>
          </a:p>
        </p:txBody>
      </p:sp>
      <p:sp>
        <p:nvSpPr>
          <p:cNvPr id="29" name="Text 26"/>
          <p:cNvSpPr/>
          <p:nvPr/>
        </p:nvSpPr>
        <p:spPr>
          <a:xfrm>
            <a:off x="4663440" y="5074920"/>
            <a:ext cx="3611880" cy="502920"/>
          </a:xfrm>
          <a:prstGeom prst="rect">
            <a:avLst/>
          </a:prstGeom>
          <a:solidFill>
            <a:srgbClr val="FFFFFF"/>
          </a:solidFill>
          <a:ln w="15240">
            <a:solidFill>
              <a:srgbClr val="DC2626"/>
            </a:solidFill>
          </a:ln>
        </p:spPr>
        <p:txBody>
          <a:bodyPr wrap="square" lIns="1016" tIns="1016" rIns="1016" bIns="1016" rtlCol="0" anchor="ctr">
            <a:normAutofit/>
          </a:bodyPr>
          <a:lstStyle/>
          <a:p>
            <a:pPr marL="0" indent="0">
              <a:buNone/>
            </a:pPr>
            <a:r>
              <a:rPr lang="en-US" sz="950" dirty="0">
                <a:solidFill>
                  <a:srgbClr val="111827"/>
                </a:solidFill>
              </a:rPr>
              <a:t>Incorrect: full-series statistics use future distribution information.</a:t>
            </a:r>
            <a:endParaRPr lang="en-US" sz="9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81345F9-68AF-5744-F49A-4EBD42FAB604}"/>
              </a:ext>
            </a:extLst>
          </p:cNvPr>
          <p:cNvSpPr>
            <a:spLocks noGrp="1"/>
          </p:cNvSpPr>
          <p:nvPr>
            <p:ph type="title"/>
          </p:nvPr>
        </p:nvSpPr>
        <p:spPr/>
        <p:txBody>
          <a:bodyPr/>
          <a:lstStyle/>
          <a:p>
            <a:r>
              <a:rPr lang="en-GB" dirty="0"/>
              <a:t>Fitted transformations vs deterministic transformations</a:t>
            </a:r>
          </a:p>
        </p:txBody>
      </p:sp>
      <p:sp>
        <p:nvSpPr>
          <p:cNvPr id="3" name="Segnaposto contenuto 2">
            <a:extLst>
              <a:ext uri="{FF2B5EF4-FFF2-40B4-BE49-F238E27FC236}">
                <a16:creationId xmlns:a16="http://schemas.microsoft.com/office/drawing/2014/main" id="{96571D50-9484-71E9-AB11-47D6C11068E2}"/>
              </a:ext>
            </a:extLst>
          </p:cNvPr>
          <p:cNvSpPr>
            <a:spLocks noGrp="1"/>
          </p:cNvSpPr>
          <p:nvPr>
            <p:ph sz="half" idx="1"/>
          </p:nvPr>
        </p:nvSpPr>
        <p:spPr/>
        <p:txBody>
          <a:bodyPr>
            <a:normAutofit fontScale="92500" lnSpcReduction="10000"/>
          </a:bodyPr>
          <a:lstStyle/>
          <a:p>
            <a:r>
              <a:rPr lang="en-GB" b="1" dirty="0">
                <a:highlight>
                  <a:srgbClr val="FFFF00"/>
                </a:highlight>
              </a:rPr>
              <a:t>Fitted transformation</a:t>
            </a:r>
          </a:p>
          <a:p>
            <a:r>
              <a:rPr lang="en-GB" dirty="0">
                <a:highlight>
                  <a:srgbClr val="FFFF00"/>
                </a:highlight>
              </a:rPr>
              <a:t>The transformation depends on parameters estimated from a dataset.</a:t>
            </a:r>
          </a:p>
          <a:p>
            <a:r>
              <a:rPr lang="en-GB" dirty="0"/>
              <a:t>Examples:</a:t>
            </a:r>
          </a:p>
          <a:p>
            <a:pPr lvl="1"/>
            <a:r>
              <a:rPr lang="en-GB" dirty="0"/>
              <a:t>standardization;</a:t>
            </a:r>
          </a:p>
          <a:p>
            <a:pPr lvl="1"/>
            <a:r>
              <a:rPr lang="en-GB" dirty="0"/>
              <a:t>PCA;</a:t>
            </a:r>
          </a:p>
          <a:p>
            <a:pPr lvl="1"/>
            <a:r>
              <a:rPr lang="en-GB" dirty="0"/>
              <a:t>learned imputation;</a:t>
            </a:r>
          </a:p>
          <a:p>
            <a:pPr lvl="1"/>
            <a:r>
              <a:rPr lang="en-GB" dirty="0"/>
              <a:t>feature selection;</a:t>
            </a:r>
          </a:p>
          <a:p>
            <a:pPr lvl="1"/>
            <a:r>
              <a:rPr lang="en-GB" dirty="0"/>
              <a:t>target encoding.</a:t>
            </a:r>
          </a:p>
          <a:p>
            <a:r>
              <a:rPr lang="en-GB" dirty="0"/>
              <a:t>These parameters must be estimated from training data only.</a:t>
            </a:r>
          </a:p>
        </p:txBody>
      </p:sp>
      <p:sp>
        <p:nvSpPr>
          <p:cNvPr id="6" name="Segnaposto contenuto 5">
            <a:extLst>
              <a:ext uri="{FF2B5EF4-FFF2-40B4-BE49-F238E27FC236}">
                <a16:creationId xmlns:a16="http://schemas.microsoft.com/office/drawing/2014/main" id="{8B1885C8-CB63-3C23-6164-A0787F61EE9B}"/>
              </a:ext>
            </a:extLst>
          </p:cNvPr>
          <p:cNvSpPr>
            <a:spLocks noGrp="1"/>
          </p:cNvSpPr>
          <p:nvPr>
            <p:ph sz="half" idx="2"/>
          </p:nvPr>
        </p:nvSpPr>
        <p:spPr/>
        <p:txBody>
          <a:bodyPr>
            <a:normAutofit fontScale="92500" lnSpcReduction="10000"/>
          </a:bodyPr>
          <a:lstStyle/>
          <a:p>
            <a:r>
              <a:rPr lang="en-GB" b="1" dirty="0"/>
              <a:t>Deterministic transformation</a:t>
            </a:r>
          </a:p>
          <a:p>
            <a:r>
              <a:rPr lang="en-GB" dirty="0"/>
              <a:t>The transformation is fully defined </a:t>
            </a:r>
            <a:r>
              <a:rPr lang="en-GB" b="1" dirty="0"/>
              <a:t>without estimating global parameters.</a:t>
            </a:r>
          </a:p>
          <a:p>
            <a:r>
              <a:rPr lang="en-GB" dirty="0"/>
              <a:t>Examples:</a:t>
            </a:r>
          </a:p>
          <a:p>
            <a:pPr lvl="1"/>
            <a:r>
              <a:rPr lang="en-GB" dirty="0"/>
              <a:t>difference at time t = x[t] − x[t−1]</a:t>
            </a:r>
          </a:p>
          <a:p>
            <a:pPr lvl="1"/>
            <a:r>
              <a:rPr lang="en-GB" dirty="0"/>
              <a:t>hour-of-day feature = hour associated with timestamp t</a:t>
            </a:r>
          </a:p>
          <a:p>
            <a:pPr lvl="1"/>
            <a:r>
              <a:rPr lang="en-GB" dirty="0"/>
              <a:t>absolute value = abs(x[t])</a:t>
            </a:r>
          </a:p>
          <a:p>
            <a:r>
              <a:rPr lang="en-GB" dirty="0"/>
              <a:t>These transformations do not automatically introduce leakage.</a:t>
            </a:r>
          </a:p>
          <a:p>
            <a:endParaRPr lang="en-GB" dirty="0"/>
          </a:p>
        </p:txBody>
      </p:sp>
      <p:sp>
        <p:nvSpPr>
          <p:cNvPr id="5" name="CasellaDiTesto 4">
            <a:extLst>
              <a:ext uri="{FF2B5EF4-FFF2-40B4-BE49-F238E27FC236}">
                <a16:creationId xmlns:a16="http://schemas.microsoft.com/office/drawing/2014/main" id="{E2B16F26-499B-40DF-F795-CE416CE91721}"/>
              </a:ext>
            </a:extLst>
          </p:cNvPr>
          <p:cNvSpPr txBox="1"/>
          <p:nvPr/>
        </p:nvSpPr>
        <p:spPr>
          <a:xfrm>
            <a:off x="7042825" y="1284069"/>
            <a:ext cx="3808377" cy="646331"/>
          </a:xfrm>
          <a:prstGeom prst="rect">
            <a:avLst/>
          </a:prstGeom>
          <a:noFill/>
        </p:spPr>
        <p:txBody>
          <a:bodyPr wrap="square">
            <a:spAutoFit/>
          </a:bodyPr>
          <a:lstStyle/>
          <a:p>
            <a:r>
              <a:rPr lang="en-GB" sz="1800" dirty="0"/>
              <a:t>Not every transformation must be learned from training data.</a:t>
            </a:r>
          </a:p>
        </p:txBody>
      </p:sp>
    </p:spTree>
    <p:extLst>
      <p:ext uri="{BB962C8B-B14F-4D97-AF65-F5344CB8AC3E}">
        <p14:creationId xmlns:p14="http://schemas.microsoft.com/office/powerpoint/2010/main" val="89121869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A6B7469-D1F0-7402-9F95-91D1970FB68F}"/>
              </a:ext>
            </a:extLst>
          </p:cNvPr>
          <p:cNvSpPr>
            <a:spLocks noGrp="1"/>
          </p:cNvSpPr>
          <p:nvPr>
            <p:ph type="title"/>
          </p:nvPr>
        </p:nvSpPr>
        <p:spPr/>
        <p:txBody>
          <a:bodyPr/>
          <a:lstStyle/>
          <a:p>
            <a:r>
              <a:rPr lang="it-IT" dirty="0" err="1"/>
              <a:t>However</a:t>
            </a:r>
            <a:r>
              <a:rPr lang="it-IT" dirty="0"/>
              <a:t>…</a:t>
            </a:r>
            <a:endParaRPr lang="en-GB" dirty="0"/>
          </a:p>
        </p:txBody>
      </p:sp>
      <p:sp>
        <p:nvSpPr>
          <p:cNvPr id="3" name="Segnaposto contenuto 2">
            <a:extLst>
              <a:ext uri="{FF2B5EF4-FFF2-40B4-BE49-F238E27FC236}">
                <a16:creationId xmlns:a16="http://schemas.microsoft.com/office/drawing/2014/main" id="{1FCBA3C1-E5FB-7FFC-5DAE-83908D92CA9C}"/>
              </a:ext>
            </a:extLst>
          </p:cNvPr>
          <p:cNvSpPr>
            <a:spLocks noGrp="1"/>
          </p:cNvSpPr>
          <p:nvPr>
            <p:ph idx="1"/>
          </p:nvPr>
        </p:nvSpPr>
        <p:spPr>
          <a:xfrm>
            <a:off x="677334" y="2160589"/>
            <a:ext cx="8987776" cy="3880773"/>
          </a:xfrm>
        </p:spPr>
        <p:txBody>
          <a:bodyPr/>
          <a:lstStyle/>
          <a:p>
            <a:r>
              <a:rPr lang="en-GB" b="1" dirty="0"/>
              <a:t>A deterministic transformation may still use future information</a:t>
            </a:r>
            <a:r>
              <a:rPr lang="en-GB" dirty="0"/>
              <a:t>.</a:t>
            </a:r>
          </a:p>
          <a:p>
            <a:r>
              <a:rPr lang="en-GB" dirty="0"/>
              <a:t>Example:</a:t>
            </a:r>
          </a:p>
          <a:p>
            <a:r>
              <a:rPr lang="en-GB" dirty="0" err="1"/>
              <a:t>centered</a:t>
            </a:r>
            <a:r>
              <a:rPr lang="en-GB" dirty="0"/>
              <a:t> moving average at time t = average of observations before AND after t</a:t>
            </a:r>
          </a:p>
          <a:p>
            <a:r>
              <a:rPr lang="en-GB" b="1" dirty="0"/>
              <a:t>The computation is deterministic</a:t>
            </a:r>
            <a:r>
              <a:rPr lang="en-GB" dirty="0"/>
              <a:t>, but it is non-causal.</a:t>
            </a:r>
          </a:p>
          <a:p>
            <a:r>
              <a:rPr lang="en-GB" b="1" dirty="0"/>
              <a:t>Therefore, two questions must be asked</a:t>
            </a:r>
          </a:p>
          <a:p>
            <a:r>
              <a:rPr lang="en-GB" b="1" dirty="0"/>
              <a:t>Does the transformation learn parameters from data?</a:t>
            </a:r>
            <a:endParaRPr lang="en-GB" dirty="0"/>
          </a:p>
          <a:p>
            <a:r>
              <a:rPr lang="en-GB" b="1" dirty="0">
                <a:highlight>
                  <a:srgbClr val="FFFF00"/>
                </a:highlight>
              </a:rPr>
              <a:t>Does the transformation use information unavailable at prediction time?</a:t>
            </a:r>
            <a:endParaRPr lang="en-GB" dirty="0">
              <a:highlight>
                <a:srgbClr val="FFFF00"/>
              </a:highlight>
            </a:endParaRPr>
          </a:p>
          <a:p>
            <a:r>
              <a:rPr lang="en-GB" dirty="0"/>
              <a:t>Both must be checked.</a:t>
            </a:r>
          </a:p>
          <a:p>
            <a:endParaRPr lang="en-GB" dirty="0"/>
          </a:p>
        </p:txBody>
      </p:sp>
    </p:spTree>
    <p:extLst>
      <p:ext uri="{BB962C8B-B14F-4D97-AF65-F5344CB8AC3E}">
        <p14:creationId xmlns:p14="http://schemas.microsoft.com/office/powerpoint/2010/main" val="173913228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Two questions for every transformation</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A transformation can leak by learning from future partitions or by using unavailable future values.</a:t>
            </a:r>
            <a:endParaRPr lang="en-US" sz="950" dirty="0"/>
          </a:p>
        </p:txBody>
      </p:sp>
      <p:sp>
        <p:nvSpPr>
          <p:cNvPr id="6" name="Text 3"/>
          <p:cNvSpPr/>
          <p:nvPr/>
        </p:nvSpPr>
        <p:spPr>
          <a:xfrm>
            <a:off x="3657600" y="1097280"/>
            <a:ext cx="2743200" cy="502920"/>
          </a:xfrm>
          <a:prstGeom prst="roundRect">
            <a:avLst/>
          </a:prstGeom>
          <a:solidFill>
            <a:srgbClr val="0F172A"/>
          </a:solidFill>
          <a:ln w="12700">
            <a:solidFill>
              <a:srgbClr val="0F172A"/>
            </a:solidFill>
          </a:ln>
        </p:spPr>
        <p:txBody>
          <a:bodyPr wrap="square" lIns="1016" tIns="1016" rIns="1016" bIns="1016"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Transformation to be applied</a:t>
            </a:r>
            <a:endParaRPr lang="en-US" sz="1300" dirty="0"/>
          </a:p>
        </p:txBody>
      </p:sp>
      <p:sp>
        <p:nvSpPr>
          <p:cNvPr id="7" name="Shape 4"/>
          <p:cNvSpPr/>
          <p:nvPr/>
        </p:nvSpPr>
        <p:spPr>
          <a:xfrm>
            <a:off x="5029200" y="1600200"/>
            <a:ext cx="0" cy="411480"/>
          </a:xfrm>
          <a:prstGeom prst="line">
            <a:avLst/>
          </a:prstGeom>
          <a:noFill/>
          <a:ln w="19050">
            <a:solidFill>
              <a:srgbClr val="5C9A17"/>
            </a:solidFill>
            <a:prstDash val="solid"/>
            <a:tailEnd type="triangle"/>
          </a:ln>
        </p:spPr>
        <p:txBody>
          <a:bodyPr/>
          <a:lstStyle/>
          <a:p>
            <a:endParaRPr lang="en-GB"/>
          </a:p>
        </p:txBody>
      </p:sp>
      <p:sp>
        <p:nvSpPr>
          <p:cNvPr id="8" name="Text 5"/>
          <p:cNvSpPr/>
          <p:nvPr/>
        </p:nvSpPr>
        <p:spPr>
          <a:xfrm>
            <a:off x="3291840" y="2057400"/>
            <a:ext cx="3474720" cy="640080"/>
          </a:xfrm>
          <a:prstGeom prst="roundRect">
            <a:avLst/>
          </a:prstGeom>
          <a:solidFill>
            <a:srgbClr val="F0FDF4"/>
          </a:solidFill>
          <a:ln w="12700">
            <a:solidFill>
              <a:srgbClr val="5C9A17"/>
            </a:solidFill>
          </a:ln>
        </p:spPr>
        <p:txBody>
          <a:bodyPr wrap="square" lIns="1016" tIns="1016" rIns="1016" bIns="1016" rtlCol="0" anchor="ctr">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1. Does it estimate parameters</a:t>
            </a:r>
            <a:endParaRPr lang="en-US" sz="1200" dirty="0"/>
          </a:p>
          <a:p>
            <a:pPr marL="0" indent="0" algn="ctr">
              <a:buNone/>
            </a:pPr>
            <a:r>
              <a:rPr lang="en-US" sz="1200" b="1" dirty="0">
                <a:solidFill>
                  <a:srgbClr val="111827"/>
                </a:solidFill>
                <a:latin typeface="Aptos" pitchFamily="34" charset="0"/>
                <a:ea typeface="Aptos" pitchFamily="34" charset="-122"/>
                <a:cs typeface="Aptos" pitchFamily="34" charset="-120"/>
              </a:rPr>
              <a:t>from data?</a:t>
            </a:r>
            <a:endParaRPr lang="en-US" sz="1200" dirty="0"/>
          </a:p>
        </p:txBody>
      </p:sp>
      <p:sp>
        <p:nvSpPr>
          <p:cNvPr id="9" name="Shape 6"/>
          <p:cNvSpPr/>
          <p:nvPr/>
        </p:nvSpPr>
        <p:spPr>
          <a:xfrm flipH="1">
            <a:off x="2514600" y="2697480"/>
            <a:ext cx="1143000" cy="731520"/>
          </a:xfrm>
          <a:prstGeom prst="line">
            <a:avLst/>
          </a:prstGeom>
          <a:noFill/>
          <a:ln w="16510">
            <a:solidFill>
              <a:srgbClr val="6B7280"/>
            </a:solidFill>
            <a:prstDash val="solid"/>
            <a:tailEnd type="triangle"/>
          </a:ln>
        </p:spPr>
        <p:txBody>
          <a:bodyPr/>
          <a:lstStyle/>
          <a:p>
            <a:endParaRPr lang="en-GB"/>
          </a:p>
        </p:txBody>
      </p:sp>
      <p:sp>
        <p:nvSpPr>
          <p:cNvPr id="10" name="Shape 7"/>
          <p:cNvSpPr/>
          <p:nvPr/>
        </p:nvSpPr>
        <p:spPr>
          <a:xfrm>
            <a:off x="6400800" y="2697480"/>
            <a:ext cx="1280160" cy="731520"/>
          </a:xfrm>
          <a:prstGeom prst="line">
            <a:avLst/>
          </a:prstGeom>
          <a:noFill/>
          <a:ln w="16510">
            <a:solidFill>
              <a:srgbClr val="6B7280"/>
            </a:solidFill>
            <a:prstDash val="solid"/>
            <a:tailEnd type="triangle"/>
          </a:ln>
        </p:spPr>
        <p:txBody>
          <a:bodyPr/>
          <a:lstStyle/>
          <a:p>
            <a:endParaRPr lang="en-GB"/>
          </a:p>
        </p:txBody>
      </p:sp>
      <p:sp>
        <p:nvSpPr>
          <p:cNvPr id="11" name="Text 8"/>
          <p:cNvSpPr/>
          <p:nvPr/>
        </p:nvSpPr>
        <p:spPr>
          <a:xfrm>
            <a:off x="1143000" y="3429000"/>
            <a:ext cx="2468880" cy="73152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YES</a:t>
            </a:r>
            <a:endParaRPr lang="en-US" sz="1200" dirty="0"/>
          </a:p>
          <a:p>
            <a:pPr marL="0" indent="0" algn="ctr">
              <a:buNone/>
            </a:pPr>
            <a:r>
              <a:rPr lang="en-US" sz="1200" b="1" dirty="0">
                <a:solidFill>
                  <a:srgbClr val="FFFFFF"/>
                </a:solidFill>
                <a:latin typeface="Aptos" pitchFamily="34" charset="0"/>
                <a:ea typeface="Aptos" pitchFamily="34" charset="-122"/>
                <a:cs typeface="Aptos" pitchFamily="34" charset="-120"/>
              </a:rPr>
              <a:t>fit on training only</a:t>
            </a:r>
            <a:endParaRPr lang="en-US" sz="1200" dirty="0"/>
          </a:p>
        </p:txBody>
      </p:sp>
      <p:sp>
        <p:nvSpPr>
          <p:cNvPr id="12" name="Text 9"/>
          <p:cNvSpPr/>
          <p:nvPr/>
        </p:nvSpPr>
        <p:spPr>
          <a:xfrm>
            <a:off x="6446520" y="3429000"/>
            <a:ext cx="2468880" cy="73152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NO</a:t>
            </a:r>
            <a:endParaRPr lang="en-US" sz="1200" dirty="0"/>
          </a:p>
          <a:p>
            <a:pPr marL="0" indent="0" algn="ctr">
              <a:buNone/>
            </a:pPr>
            <a:r>
              <a:rPr lang="en-US" sz="1200" b="1" dirty="0">
                <a:solidFill>
                  <a:srgbClr val="FFFFFF"/>
                </a:solidFill>
                <a:latin typeface="Aptos" pitchFamily="34" charset="0"/>
                <a:ea typeface="Aptos" pitchFamily="34" charset="-122"/>
                <a:cs typeface="Aptos" pitchFamily="34" charset="-120"/>
              </a:rPr>
              <a:t>check information timing</a:t>
            </a:r>
            <a:endParaRPr lang="en-US" sz="1200" dirty="0"/>
          </a:p>
        </p:txBody>
      </p:sp>
      <p:sp>
        <p:nvSpPr>
          <p:cNvPr id="13" name="Shape 10"/>
          <p:cNvSpPr/>
          <p:nvPr/>
        </p:nvSpPr>
        <p:spPr>
          <a:xfrm>
            <a:off x="5029200" y="4251960"/>
            <a:ext cx="0" cy="457200"/>
          </a:xfrm>
          <a:prstGeom prst="line">
            <a:avLst/>
          </a:prstGeom>
          <a:noFill/>
          <a:ln w="19050">
            <a:solidFill>
              <a:srgbClr val="5C9A17"/>
            </a:solidFill>
            <a:prstDash val="solid"/>
            <a:tailEnd type="triangle"/>
          </a:ln>
        </p:spPr>
        <p:txBody>
          <a:bodyPr/>
          <a:lstStyle/>
          <a:p>
            <a:endParaRPr lang="en-GB"/>
          </a:p>
        </p:txBody>
      </p:sp>
      <p:sp>
        <p:nvSpPr>
          <p:cNvPr id="14" name="Text 11"/>
          <p:cNvSpPr/>
          <p:nvPr/>
        </p:nvSpPr>
        <p:spPr>
          <a:xfrm>
            <a:off x="3108960" y="4709160"/>
            <a:ext cx="3840480" cy="685800"/>
          </a:xfrm>
          <a:prstGeom prst="roundRect">
            <a:avLst/>
          </a:prstGeom>
          <a:solidFill>
            <a:srgbClr val="FEF2F2"/>
          </a:solidFill>
          <a:ln w="12700">
            <a:solidFill>
              <a:srgbClr val="DC2626"/>
            </a:solidFill>
          </a:ln>
        </p:spPr>
        <p:txBody>
          <a:bodyPr wrap="square" lIns="1016" tIns="1016" rIns="1016" bIns="1016" rtlCol="0" anchor="ctr">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2. Does it use </a:t>
            </a:r>
            <a:r>
              <a:rPr lang="en-US" sz="1200" b="1" dirty="0">
                <a:solidFill>
                  <a:srgbClr val="111827"/>
                </a:solidFill>
                <a:highlight>
                  <a:srgbClr val="FFFF00"/>
                </a:highlight>
                <a:latin typeface="Aptos" pitchFamily="34" charset="0"/>
                <a:ea typeface="Aptos" pitchFamily="34" charset="-122"/>
                <a:cs typeface="Aptos" pitchFamily="34" charset="-120"/>
              </a:rPr>
              <a:t>values unavailable</a:t>
            </a:r>
            <a:endParaRPr lang="en-US" sz="1200" dirty="0">
              <a:highlight>
                <a:srgbClr val="FFFF00"/>
              </a:highlight>
            </a:endParaRPr>
          </a:p>
          <a:p>
            <a:pPr marL="0" indent="0" algn="ctr">
              <a:buNone/>
            </a:pPr>
            <a:r>
              <a:rPr lang="en-US" sz="1200" b="1" dirty="0">
                <a:solidFill>
                  <a:srgbClr val="111827"/>
                </a:solidFill>
                <a:highlight>
                  <a:srgbClr val="FFFF00"/>
                </a:highlight>
                <a:latin typeface="Aptos" pitchFamily="34" charset="0"/>
                <a:ea typeface="Aptos" pitchFamily="34" charset="-122"/>
                <a:cs typeface="Aptos" pitchFamily="34" charset="-120"/>
              </a:rPr>
              <a:t>at prediction time</a:t>
            </a:r>
            <a:r>
              <a:rPr lang="en-US" sz="1200" b="1" dirty="0">
                <a:solidFill>
                  <a:srgbClr val="111827"/>
                </a:solidFill>
                <a:latin typeface="Aptos" pitchFamily="34" charset="0"/>
                <a:ea typeface="Aptos" pitchFamily="34" charset="-122"/>
                <a:cs typeface="Aptos" pitchFamily="34" charset="-120"/>
              </a:rPr>
              <a:t>?</a:t>
            </a:r>
            <a:endParaRPr lang="en-US" sz="1200" dirty="0"/>
          </a:p>
        </p:txBody>
      </p:sp>
      <p:sp>
        <p:nvSpPr>
          <p:cNvPr id="15" name="Text 12"/>
          <p:cNvSpPr/>
          <p:nvPr/>
        </p:nvSpPr>
        <p:spPr>
          <a:xfrm>
            <a:off x="914400" y="5623560"/>
            <a:ext cx="3794760" cy="749808"/>
          </a:xfrm>
          <a:prstGeom prst="roundRect">
            <a:avLst/>
          </a:prstGeom>
          <a:solidFill>
            <a:srgbClr val="FFFFFF"/>
          </a:solidFill>
          <a:ln w="12700">
            <a:solidFill>
              <a:srgbClr val="DC2626"/>
            </a:solidFill>
          </a:ln>
        </p:spPr>
        <p:txBody>
          <a:bodyPr wrap="square" lIns="1016" tIns="1016" rIns="1016" bIns="1016" rtlCol="0" anchor="ctr">
            <a:normAutofit/>
          </a:bodyPr>
          <a:lstStyle/>
          <a:p>
            <a:pPr marL="0" indent="0" algn="l">
              <a:buNone/>
            </a:pPr>
            <a:r>
              <a:rPr lang="en-US" sz="1000" dirty="0">
                <a:solidFill>
                  <a:srgbClr val="111827"/>
                </a:solidFill>
                <a:latin typeface="Aptos" pitchFamily="34" charset="0"/>
                <a:ea typeface="Aptos" pitchFamily="34" charset="-122"/>
                <a:cs typeface="Aptos" pitchFamily="34" charset="-120"/>
              </a:rPr>
              <a:t>Examples: centered smoothing,</a:t>
            </a:r>
            <a:endParaRPr lang="en-US" sz="1000" dirty="0"/>
          </a:p>
          <a:p>
            <a:pPr marL="0" indent="0" algn="l">
              <a:buNone/>
            </a:pPr>
            <a:r>
              <a:rPr lang="en-US" sz="1000" dirty="0">
                <a:solidFill>
                  <a:srgbClr val="111827"/>
                </a:solidFill>
                <a:latin typeface="Aptos" pitchFamily="34" charset="0"/>
                <a:ea typeface="Aptos" pitchFamily="34" charset="-122"/>
                <a:cs typeface="Aptos" pitchFamily="34" charset="-120"/>
              </a:rPr>
              <a:t>future realized weather,</a:t>
            </a:r>
            <a:endParaRPr lang="en-US" sz="1000" dirty="0"/>
          </a:p>
          <a:p>
            <a:pPr marL="0" indent="0" algn="l">
              <a:buNone/>
            </a:pPr>
            <a:r>
              <a:rPr lang="en-US" sz="1000" dirty="0">
                <a:solidFill>
                  <a:srgbClr val="111827"/>
                </a:solidFill>
                <a:latin typeface="Aptos" pitchFamily="34" charset="0"/>
                <a:ea typeface="Aptos" pitchFamily="34" charset="-122"/>
                <a:cs typeface="Aptos" pitchFamily="34" charset="-120"/>
              </a:rPr>
              <a:t>cycle-level normalization before cycle end</a:t>
            </a:r>
            <a:endParaRPr lang="en-US" sz="1000" dirty="0"/>
          </a:p>
        </p:txBody>
      </p:sp>
      <p:sp>
        <p:nvSpPr>
          <p:cNvPr id="16" name="Text 13"/>
          <p:cNvSpPr/>
          <p:nvPr/>
        </p:nvSpPr>
        <p:spPr>
          <a:xfrm>
            <a:off x="5120640" y="5623560"/>
            <a:ext cx="3794760" cy="749808"/>
          </a:xfrm>
          <a:prstGeom prst="roundRect">
            <a:avLst/>
          </a:prstGeom>
          <a:solidFill>
            <a:srgbClr val="FFFFFF"/>
          </a:solidFill>
          <a:ln w="12700">
            <a:solidFill>
              <a:srgbClr val="5C9A17"/>
            </a:solidFill>
          </a:ln>
        </p:spPr>
        <p:txBody>
          <a:bodyPr wrap="square" lIns="1016" tIns="1016" rIns="1016" bIns="1016" rtlCol="0" anchor="ctr">
            <a:normAutofit/>
          </a:bodyPr>
          <a:lstStyle/>
          <a:p>
            <a:pPr marL="0" indent="0" algn="l">
              <a:buNone/>
            </a:pPr>
            <a:r>
              <a:rPr lang="en-US" sz="1000" dirty="0">
                <a:solidFill>
                  <a:srgbClr val="111827"/>
                </a:solidFill>
                <a:latin typeface="Aptos" pitchFamily="34" charset="0"/>
                <a:ea typeface="Aptos" pitchFamily="34" charset="-122"/>
                <a:cs typeface="Aptos" pitchFamily="34" charset="-120"/>
              </a:rPr>
              <a:t>Examples: lag difference,</a:t>
            </a:r>
            <a:endParaRPr lang="en-US" sz="1000" dirty="0"/>
          </a:p>
          <a:p>
            <a:pPr marL="0" indent="0" algn="l">
              <a:buNone/>
            </a:pPr>
            <a:r>
              <a:rPr lang="en-US" sz="1000" dirty="0">
                <a:solidFill>
                  <a:srgbClr val="111827"/>
                </a:solidFill>
                <a:latin typeface="Aptos" pitchFamily="34" charset="0"/>
                <a:ea typeface="Aptos" pitchFamily="34" charset="-122"/>
                <a:cs typeface="Aptos" pitchFamily="34" charset="-120"/>
              </a:rPr>
              <a:t>hour-of-day, planned promotion,</a:t>
            </a:r>
            <a:endParaRPr lang="en-US" sz="1000" dirty="0"/>
          </a:p>
          <a:p>
            <a:pPr marL="0" indent="0" algn="l">
              <a:buNone/>
            </a:pPr>
            <a:r>
              <a:rPr lang="en-US" sz="1000" dirty="0">
                <a:solidFill>
                  <a:srgbClr val="111827"/>
                </a:solidFill>
                <a:latin typeface="Aptos" pitchFamily="34" charset="0"/>
                <a:ea typeface="Aptos" pitchFamily="34" charset="-122"/>
                <a:cs typeface="Aptos" pitchFamily="34" charset="-120"/>
              </a:rPr>
              <a:t>causal (i.e., no future info is used) rolling mean</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F4232CB-203B-0CF6-C85B-A6F979C703AC}"/>
              </a:ext>
            </a:extLst>
          </p:cNvPr>
          <p:cNvSpPr>
            <a:spLocks noGrp="1"/>
          </p:cNvSpPr>
          <p:nvPr>
            <p:ph type="title"/>
          </p:nvPr>
        </p:nvSpPr>
        <p:spPr/>
        <p:txBody>
          <a:bodyPr/>
          <a:lstStyle/>
          <a:p>
            <a:r>
              <a:rPr lang="en-GB" dirty="0"/>
              <a:t>Temporal feature leakage</a:t>
            </a:r>
          </a:p>
        </p:txBody>
      </p:sp>
      <p:sp>
        <p:nvSpPr>
          <p:cNvPr id="3" name="Segnaposto contenuto 2">
            <a:extLst>
              <a:ext uri="{FF2B5EF4-FFF2-40B4-BE49-F238E27FC236}">
                <a16:creationId xmlns:a16="http://schemas.microsoft.com/office/drawing/2014/main" id="{B3043191-570B-AF3A-9E13-4C3324BD7D73}"/>
              </a:ext>
            </a:extLst>
          </p:cNvPr>
          <p:cNvSpPr>
            <a:spLocks noGrp="1"/>
          </p:cNvSpPr>
          <p:nvPr>
            <p:ph idx="1"/>
          </p:nvPr>
        </p:nvSpPr>
        <p:spPr/>
        <p:txBody>
          <a:bodyPr>
            <a:normAutofit/>
          </a:bodyPr>
          <a:lstStyle/>
          <a:p>
            <a:r>
              <a:rPr lang="en-GB" dirty="0"/>
              <a:t>Temporal features are especially prone to subtle leakage.</a:t>
            </a:r>
          </a:p>
          <a:p>
            <a:endParaRPr lang="en-GB" b="1" dirty="0"/>
          </a:p>
          <a:p>
            <a:r>
              <a:rPr lang="en-GB" b="1" dirty="0"/>
              <a:t>Valid causal rolling feature</a:t>
            </a:r>
          </a:p>
          <a:p>
            <a:r>
              <a:rPr lang="en-GB" dirty="0"/>
              <a:t>At time t: rolling mean = average of x[t−L+1], ..., x[t]</a:t>
            </a:r>
          </a:p>
          <a:p>
            <a:r>
              <a:rPr lang="en-GB" dirty="0"/>
              <a:t>Only current and previous observations are used.</a:t>
            </a:r>
          </a:p>
          <a:p>
            <a:endParaRPr lang="en-GB" b="1" dirty="0"/>
          </a:p>
          <a:p>
            <a:r>
              <a:rPr lang="en-GB" b="1" dirty="0"/>
              <a:t>Invalid </a:t>
            </a:r>
            <a:r>
              <a:rPr lang="en-GB" b="1" dirty="0" err="1"/>
              <a:t>centered</a:t>
            </a:r>
            <a:r>
              <a:rPr lang="en-GB" b="1" dirty="0"/>
              <a:t> rolling feature for online prediction</a:t>
            </a:r>
          </a:p>
          <a:p>
            <a:r>
              <a:rPr lang="en-GB" dirty="0" err="1"/>
              <a:t>centered</a:t>
            </a:r>
            <a:r>
              <a:rPr lang="en-GB" dirty="0"/>
              <a:t> mean = average of values before and after t</a:t>
            </a:r>
          </a:p>
          <a:p>
            <a:r>
              <a:rPr lang="en-GB" dirty="0"/>
              <a:t>Observations after t are used.</a:t>
            </a:r>
          </a:p>
          <a:p>
            <a:endParaRPr lang="en-GB" dirty="0"/>
          </a:p>
        </p:txBody>
      </p:sp>
    </p:spTree>
    <p:extLst>
      <p:ext uri="{BB962C8B-B14F-4D97-AF65-F5344CB8AC3E}">
        <p14:creationId xmlns:p14="http://schemas.microsoft.com/office/powerpoint/2010/main" val="341347082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B3C5660-AE24-6098-C8DE-974088D5F6D8}"/>
              </a:ext>
            </a:extLst>
          </p:cNvPr>
          <p:cNvSpPr>
            <a:spLocks noGrp="1"/>
          </p:cNvSpPr>
          <p:nvPr>
            <p:ph type="title"/>
          </p:nvPr>
        </p:nvSpPr>
        <p:spPr/>
        <p:txBody>
          <a:bodyPr/>
          <a:lstStyle/>
          <a:p>
            <a:r>
              <a:rPr lang="en-GB" dirty="0"/>
              <a:t>Other potential sources of leakage</a:t>
            </a:r>
          </a:p>
        </p:txBody>
      </p:sp>
      <p:sp>
        <p:nvSpPr>
          <p:cNvPr id="3" name="Segnaposto contenuto 2">
            <a:extLst>
              <a:ext uri="{FF2B5EF4-FFF2-40B4-BE49-F238E27FC236}">
                <a16:creationId xmlns:a16="http://schemas.microsoft.com/office/drawing/2014/main" id="{D58F9513-96A4-EDD4-F62E-BB0C7F9F7FFC}"/>
              </a:ext>
            </a:extLst>
          </p:cNvPr>
          <p:cNvSpPr>
            <a:spLocks noGrp="1"/>
          </p:cNvSpPr>
          <p:nvPr>
            <p:ph idx="1"/>
          </p:nvPr>
        </p:nvSpPr>
        <p:spPr/>
        <p:txBody>
          <a:bodyPr>
            <a:normAutofit fontScale="62500" lnSpcReduction="20000"/>
          </a:bodyPr>
          <a:lstStyle/>
          <a:p>
            <a:r>
              <a:rPr lang="en-GB" b="1" dirty="0"/>
              <a:t>Other potential sources of leakage</a:t>
            </a:r>
          </a:p>
          <a:p>
            <a:pPr lvl="1"/>
            <a:r>
              <a:rPr lang="en-GB" dirty="0"/>
              <a:t>bidirectional smoothing;</a:t>
            </a:r>
          </a:p>
          <a:p>
            <a:pPr lvl="1"/>
            <a:r>
              <a:rPr lang="en-GB" dirty="0"/>
              <a:t>interpolation using future observations;</a:t>
            </a:r>
          </a:p>
          <a:p>
            <a:pPr lvl="1"/>
            <a:r>
              <a:rPr lang="en-GB" dirty="0"/>
              <a:t>filtering that uses both sides of the signal;</a:t>
            </a:r>
          </a:p>
          <a:p>
            <a:pPr lvl="1"/>
            <a:r>
              <a:rPr lang="en-GB" dirty="0"/>
              <a:t>statistics calculated over a complete recording;</a:t>
            </a:r>
          </a:p>
          <a:p>
            <a:pPr lvl="1"/>
            <a:r>
              <a:rPr lang="en-GB" dirty="0"/>
              <a:t>normalization performed independently on a complete future sequence;</a:t>
            </a:r>
          </a:p>
          <a:p>
            <a:pPr lvl="1"/>
            <a:r>
              <a:rPr lang="en-GB" dirty="0"/>
              <a:t>aggregates including the target interval.</a:t>
            </a:r>
          </a:p>
          <a:p>
            <a:endParaRPr lang="en-GB" b="1" dirty="0"/>
          </a:p>
          <a:p>
            <a:r>
              <a:rPr lang="en-GB" b="1" dirty="0"/>
              <a:t>Example: sequence normalization</a:t>
            </a:r>
          </a:p>
          <a:p>
            <a:r>
              <a:rPr lang="en-GB" dirty="0"/>
              <a:t>Suppose each complete machine cycle is normalized using: cycle mean, cycle standard deviation</a:t>
            </a:r>
          </a:p>
          <a:p>
            <a:r>
              <a:rPr lang="en-GB" dirty="0">
                <a:highlight>
                  <a:srgbClr val="FFFF00"/>
                </a:highlight>
              </a:rPr>
              <a:t>If the prediction is produced halfway through the cycle, these quantities may include measurements occurring after prediction time.</a:t>
            </a:r>
          </a:p>
          <a:p>
            <a:r>
              <a:rPr lang="en-GB" dirty="0"/>
              <a:t>The transformation is therefore not causal.</a:t>
            </a:r>
          </a:p>
          <a:p>
            <a:pPr marL="0" indent="0">
              <a:buNone/>
            </a:pPr>
            <a:endParaRPr lang="en-GB" b="1" dirty="0"/>
          </a:p>
          <a:p>
            <a:r>
              <a:rPr lang="en-GB" dirty="0"/>
              <a:t>A feature may be mathematically valid but operationally unavailable.</a:t>
            </a:r>
          </a:p>
          <a:p>
            <a:endParaRPr lang="en-GB" dirty="0"/>
          </a:p>
        </p:txBody>
      </p:sp>
    </p:spTree>
    <p:extLst>
      <p:ext uri="{BB962C8B-B14F-4D97-AF65-F5344CB8AC3E}">
        <p14:creationId xmlns:p14="http://schemas.microsoft.com/office/powerpoint/2010/main" val="23580831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Temporal feature leakage: causal vs centered rolling windows</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A deterministic feature can still be invalid if it uses future observations.</a:t>
            </a:r>
            <a:endParaRPr lang="en-US" sz="950" dirty="0"/>
          </a:p>
        </p:txBody>
      </p:sp>
      <p:sp>
        <p:nvSpPr>
          <p:cNvPr id="6" name="Shape 3"/>
          <p:cNvSpPr/>
          <p:nvPr/>
        </p:nvSpPr>
        <p:spPr>
          <a:xfrm>
            <a:off x="82296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7" name="Text 4"/>
          <p:cNvSpPr/>
          <p:nvPr/>
        </p:nvSpPr>
        <p:spPr>
          <a:xfrm>
            <a:off x="73152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t1</a:t>
            </a:r>
            <a:endParaRPr lang="en-US" sz="700" dirty="0"/>
          </a:p>
        </p:txBody>
      </p:sp>
      <p:sp>
        <p:nvSpPr>
          <p:cNvPr id="8" name="Shape 5"/>
          <p:cNvSpPr/>
          <p:nvPr/>
        </p:nvSpPr>
        <p:spPr>
          <a:xfrm>
            <a:off x="141732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9" name="Text 6"/>
          <p:cNvSpPr/>
          <p:nvPr/>
        </p:nvSpPr>
        <p:spPr>
          <a:xfrm>
            <a:off x="132588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t2</a:t>
            </a:r>
            <a:endParaRPr lang="en-US" sz="700" dirty="0"/>
          </a:p>
        </p:txBody>
      </p:sp>
      <p:sp>
        <p:nvSpPr>
          <p:cNvPr id="10" name="Shape 7"/>
          <p:cNvSpPr/>
          <p:nvPr/>
        </p:nvSpPr>
        <p:spPr>
          <a:xfrm>
            <a:off x="201168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11" name="Text 8"/>
          <p:cNvSpPr/>
          <p:nvPr/>
        </p:nvSpPr>
        <p:spPr>
          <a:xfrm>
            <a:off x="192024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t3</a:t>
            </a:r>
            <a:endParaRPr lang="en-US" sz="700" dirty="0"/>
          </a:p>
        </p:txBody>
      </p:sp>
      <p:sp>
        <p:nvSpPr>
          <p:cNvPr id="12" name="Shape 9"/>
          <p:cNvSpPr/>
          <p:nvPr/>
        </p:nvSpPr>
        <p:spPr>
          <a:xfrm>
            <a:off x="260604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13" name="Text 10"/>
          <p:cNvSpPr/>
          <p:nvPr/>
        </p:nvSpPr>
        <p:spPr>
          <a:xfrm>
            <a:off x="251460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t4</a:t>
            </a:r>
            <a:endParaRPr lang="en-US" sz="700" dirty="0"/>
          </a:p>
        </p:txBody>
      </p:sp>
      <p:sp>
        <p:nvSpPr>
          <p:cNvPr id="14" name="Shape 11"/>
          <p:cNvSpPr/>
          <p:nvPr/>
        </p:nvSpPr>
        <p:spPr>
          <a:xfrm>
            <a:off x="320040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15" name="Text 12"/>
          <p:cNvSpPr/>
          <p:nvPr/>
        </p:nvSpPr>
        <p:spPr>
          <a:xfrm>
            <a:off x="310896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t5</a:t>
            </a:r>
            <a:endParaRPr lang="en-US" sz="700" dirty="0"/>
          </a:p>
        </p:txBody>
      </p:sp>
      <p:sp>
        <p:nvSpPr>
          <p:cNvPr id="16" name="Shape 13"/>
          <p:cNvSpPr/>
          <p:nvPr/>
        </p:nvSpPr>
        <p:spPr>
          <a:xfrm>
            <a:off x="379476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17" name="Text 14"/>
          <p:cNvSpPr/>
          <p:nvPr/>
        </p:nvSpPr>
        <p:spPr>
          <a:xfrm>
            <a:off x="370332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t6</a:t>
            </a:r>
            <a:endParaRPr lang="en-US" sz="700" dirty="0"/>
          </a:p>
        </p:txBody>
      </p:sp>
      <p:sp>
        <p:nvSpPr>
          <p:cNvPr id="18" name="Shape 15"/>
          <p:cNvSpPr/>
          <p:nvPr/>
        </p:nvSpPr>
        <p:spPr>
          <a:xfrm>
            <a:off x="438912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19" name="Text 16"/>
          <p:cNvSpPr/>
          <p:nvPr/>
        </p:nvSpPr>
        <p:spPr>
          <a:xfrm>
            <a:off x="429768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t7</a:t>
            </a:r>
            <a:endParaRPr lang="en-US" sz="700" dirty="0"/>
          </a:p>
        </p:txBody>
      </p:sp>
      <p:sp>
        <p:nvSpPr>
          <p:cNvPr id="20" name="Shape 17"/>
          <p:cNvSpPr/>
          <p:nvPr/>
        </p:nvSpPr>
        <p:spPr>
          <a:xfrm>
            <a:off x="498348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21" name="Text 18"/>
          <p:cNvSpPr/>
          <p:nvPr/>
        </p:nvSpPr>
        <p:spPr>
          <a:xfrm>
            <a:off x="489204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t8</a:t>
            </a:r>
            <a:endParaRPr lang="en-US" sz="700" dirty="0"/>
          </a:p>
        </p:txBody>
      </p:sp>
      <p:sp>
        <p:nvSpPr>
          <p:cNvPr id="22" name="Shape 19"/>
          <p:cNvSpPr/>
          <p:nvPr/>
        </p:nvSpPr>
        <p:spPr>
          <a:xfrm>
            <a:off x="557784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23" name="Text 20"/>
          <p:cNvSpPr/>
          <p:nvPr/>
        </p:nvSpPr>
        <p:spPr>
          <a:xfrm>
            <a:off x="548640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t9</a:t>
            </a:r>
            <a:endParaRPr lang="en-US" sz="700" dirty="0"/>
          </a:p>
        </p:txBody>
      </p:sp>
      <p:sp>
        <p:nvSpPr>
          <p:cNvPr id="24" name="Shape 21"/>
          <p:cNvSpPr/>
          <p:nvPr/>
        </p:nvSpPr>
        <p:spPr>
          <a:xfrm>
            <a:off x="6172200" y="1828800"/>
            <a:ext cx="146304" cy="146304"/>
          </a:xfrm>
          <a:prstGeom prst="ellipse">
            <a:avLst/>
          </a:prstGeom>
          <a:solidFill>
            <a:srgbClr val="0F172A"/>
          </a:solidFill>
          <a:ln w="12700">
            <a:solidFill>
              <a:srgbClr val="0F172A"/>
            </a:solidFill>
            <a:prstDash val="solid"/>
          </a:ln>
        </p:spPr>
        <p:txBody>
          <a:bodyPr/>
          <a:lstStyle/>
          <a:p>
            <a:endParaRPr lang="en-GB"/>
          </a:p>
        </p:txBody>
      </p:sp>
      <p:sp>
        <p:nvSpPr>
          <p:cNvPr id="25" name="Text 22"/>
          <p:cNvSpPr/>
          <p:nvPr/>
        </p:nvSpPr>
        <p:spPr>
          <a:xfrm>
            <a:off x="6080760" y="2057400"/>
            <a:ext cx="320040" cy="182880"/>
          </a:xfrm>
          <a:prstGeom prst="rect">
            <a:avLst/>
          </a:prstGeom>
          <a:noFill/>
          <a:ln/>
        </p:spPr>
        <p:txBody>
          <a:bodyPr wrap="square" lIns="0" tIns="0" rIns="0" bIns="0" rtlCol="0" anchor="t">
            <a:normAutofit/>
          </a:bodyPr>
          <a:lstStyle/>
          <a:p>
            <a:pPr marL="0" indent="0" algn="ctr">
              <a:buNone/>
            </a:pPr>
            <a:r>
              <a:rPr lang="en-US" sz="700" dirty="0">
                <a:solidFill>
                  <a:srgbClr val="6B7280"/>
                </a:solidFill>
                <a:latin typeface="Aptos" pitchFamily="34" charset="0"/>
                <a:ea typeface="Aptos" pitchFamily="34" charset="-122"/>
                <a:cs typeface="Aptos" pitchFamily="34" charset="-120"/>
              </a:rPr>
              <a:t>t10</a:t>
            </a:r>
            <a:endParaRPr lang="en-US" sz="700" dirty="0"/>
          </a:p>
        </p:txBody>
      </p:sp>
      <p:sp>
        <p:nvSpPr>
          <p:cNvPr id="26" name="Shape 23"/>
          <p:cNvSpPr/>
          <p:nvPr/>
        </p:nvSpPr>
        <p:spPr>
          <a:xfrm>
            <a:off x="640080" y="1901952"/>
            <a:ext cx="5852160" cy="0"/>
          </a:xfrm>
          <a:prstGeom prst="line">
            <a:avLst/>
          </a:prstGeom>
          <a:noFill/>
          <a:ln w="12700">
            <a:solidFill>
              <a:srgbClr val="6B7280"/>
            </a:solidFill>
            <a:prstDash val="solid"/>
          </a:ln>
        </p:spPr>
        <p:txBody>
          <a:bodyPr/>
          <a:lstStyle/>
          <a:p>
            <a:endParaRPr lang="en-GB"/>
          </a:p>
        </p:txBody>
      </p:sp>
      <p:sp>
        <p:nvSpPr>
          <p:cNvPr id="27" name="Shape 24"/>
          <p:cNvSpPr/>
          <p:nvPr/>
        </p:nvSpPr>
        <p:spPr>
          <a:xfrm>
            <a:off x="3867912" y="1508760"/>
            <a:ext cx="0" cy="1965960"/>
          </a:xfrm>
          <a:prstGeom prst="line">
            <a:avLst/>
          </a:prstGeom>
          <a:noFill/>
          <a:ln w="15240">
            <a:solidFill>
              <a:srgbClr val="111827"/>
            </a:solidFill>
            <a:prstDash val="solid"/>
          </a:ln>
        </p:spPr>
        <p:txBody>
          <a:bodyPr/>
          <a:lstStyle/>
          <a:p>
            <a:endParaRPr lang="en-GB"/>
          </a:p>
        </p:txBody>
      </p:sp>
      <p:sp>
        <p:nvSpPr>
          <p:cNvPr id="28" name="Text 25"/>
          <p:cNvSpPr/>
          <p:nvPr/>
        </p:nvSpPr>
        <p:spPr>
          <a:xfrm>
            <a:off x="3291840" y="1234440"/>
            <a:ext cx="1143000" cy="201168"/>
          </a:xfrm>
          <a:prstGeom prst="roundRect">
            <a:avLst/>
          </a:prstGeom>
          <a:solidFill>
            <a:srgbClr val="111827"/>
          </a:solidFill>
          <a:ln w="6350">
            <a:solidFill>
              <a:srgbClr val="111827"/>
            </a:solidFill>
          </a:ln>
        </p:spPr>
        <p:txBody>
          <a:bodyPr wrap="square" lIns="254" tIns="254" rIns="254" bIns="254" rtlCol="0" anchor="ctr"/>
          <a:lstStyle/>
          <a:p>
            <a:pPr marL="0" indent="0" algn="ctr">
              <a:buNone/>
            </a:pPr>
            <a:r>
              <a:rPr lang="en-US" sz="850" b="1" dirty="0">
                <a:solidFill>
                  <a:srgbClr val="FFFFFF"/>
                </a:solidFill>
              </a:rPr>
              <a:t>prediction time t</a:t>
            </a:r>
            <a:endParaRPr lang="en-US" sz="850" dirty="0"/>
          </a:p>
        </p:txBody>
      </p:sp>
      <p:sp>
        <p:nvSpPr>
          <p:cNvPr id="29" name="Shape 26"/>
          <p:cNvSpPr/>
          <p:nvPr/>
        </p:nvSpPr>
        <p:spPr>
          <a:xfrm>
            <a:off x="2011680" y="2514600"/>
            <a:ext cx="1856232" cy="0"/>
          </a:xfrm>
          <a:prstGeom prst="line">
            <a:avLst/>
          </a:prstGeom>
          <a:noFill/>
          <a:ln w="50800">
            <a:solidFill>
              <a:srgbClr val="5C9A17"/>
            </a:solidFill>
            <a:prstDash val="solid"/>
          </a:ln>
        </p:spPr>
        <p:txBody>
          <a:bodyPr/>
          <a:lstStyle/>
          <a:p>
            <a:endParaRPr lang="en-GB"/>
          </a:p>
        </p:txBody>
      </p:sp>
      <p:sp>
        <p:nvSpPr>
          <p:cNvPr id="30" name="Text 27"/>
          <p:cNvSpPr/>
          <p:nvPr/>
        </p:nvSpPr>
        <p:spPr>
          <a:xfrm>
            <a:off x="2308860" y="2743200"/>
            <a:ext cx="1463040" cy="201168"/>
          </a:xfrm>
          <a:prstGeom prst="rect">
            <a:avLst/>
          </a:prstGeom>
          <a:noFill/>
          <a:ln/>
        </p:spPr>
        <p:txBody>
          <a:bodyPr wrap="square" lIns="0" tIns="0" rIns="0" bIns="0" rtlCol="0" anchor="t">
            <a:normAutofit/>
          </a:bodyPr>
          <a:lstStyle/>
          <a:p>
            <a:pPr marL="0" indent="0" algn="ctr">
              <a:buNone/>
            </a:pPr>
            <a:r>
              <a:rPr lang="en-US" sz="1000" b="1" dirty="0">
                <a:solidFill>
                  <a:srgbClr val="5C9A17"/>
                </a:solidFill>
                <a:latin typeface="Aptos" pitchFamily="34" charset="0"/>
                <a:ea typeface="Aptos" pitchFamily="34" charset="-122"/>
                <a:cs typeface="Aptos" pitchFamily="34" charset="-120"/>
              </a:rPr>
              <a:t>causal rolling mean</a:t>
            </a:r>
            <a:endParaRPr lang="en-US" sz="1000" dirty="0"/>
          </a:p>
        </p:txBody>
      </p:sp>
      <p:sp>
        <p:nvSpPr>
          <p:cNvPr id="31" name="Text 28"/>
          <p:cNvSpPr/>
          <p:nvPr/>
        </p:nvSpPr>
        <p:spPr>
          <a:xfrm>
            <a:off x="1892808" y="2971800"/>
            <a:ext cx="2377440" cy="228600"/>
          </a:xfrm>
          <a:prstGeom prst="rect">
            <a:avLst/>
          </a:prstGeom>
          <a:noFill/>
          <a:ln/>
        </p:spPr>
        <p:txBody>
          <a:bodyPr wrap="square" lIns="0" tIns="0" rIns="0" bIns="0" rtlCol="0" anchor="t">
            <a:normAutofit/>
          </a:bodyPr>
          <a:lstStyle/>
          <a:p>
            <a:pPr marL="0" indent="0" algn="ctr">
              <a:buNone/>
            </a:pPr>
            <a:r>
              <a:rPr lang="en-US" sz="900" dirty="0">
                <a:solidFill>
                  <a:srgbClr val="111827"/>
                </a:solidFill>
                <a:latin typeface="Aptos" pitchFamily="34" charset="0"/>
                <a:ea typeface="Aptos" pitchFamily="34" charset="-122"/>
                <a:cs typeface="Aptos" pitchFamily="34" charset="-120"/>
              </a:rPr>
              <a:t>uses only x[t−L+1], ..., x[t]</a:t>
            </a:r>
            <a:endParaRPr lang="en-US" sz="900" dirty="0"/>
          </a:p>
        </p:txBody>
      </p:sp>
      <p:sp>
        <p:nvSpPr>
          <p:cNvPr id="32" name="Shape 29"/>
          <p:cNvSpPr/>
          <p:nvPr/>
        </p:nvSpPr>
        <p:spPr>
          <a:xfrm>
            <a:off x="2606040" y="3794760"/>
            <a:ext cx="2971800" cy="0"/>
          </a:xfrm>
          <a:prstGeom prst="line">
            <a:avLst/>
          </a:prstGeom>
          <a:noFill/>
          <a:ln w="50800">
            <a:solidFill>
              <a:srgbClr val="DC2626"/>
            </a:solidFill>
            <a:prstDash val="solid"/>
          </a:ln>
        </p:spPr>
        <p:txBody>
          <a:bodyPr/>
          <a:lstStyle/>
          <a:p>
            <a:endParaRPr lang="en-GB"/>
          </a:p>
        </p:txBody>
      </p:sp>
      <p:sp>
        <p:nvSpPr>
          <p:cNvPr id="33" name="Text 30"/>
          <p:cNvSpPr/>
          <p:nvPr/>
        </p:nvSpPr>
        <p:spPr>
          <a:xfrm>
            <a:off x="3200400" y="4023360"/>
            <a:ext cx="1920240" cy="201168"/>
          </a:xfrm>
          <a:prstGeom prst="rect">
            <a:avLst/>
          </a:prstGeom>
          <a:noFill/>
          <a:ln/>
        </p:spPr>
        <p:txBody>
          <a:bodyPr wrap="square" lIns="0" tIns="0" rIns="0" bIns="0" rtlCol="0" anchor="t">
            <a:normAutofit/>
          </a:bodyPr>
          <a:lstStyle/>
          <a:p>
            <a:pPr marL="0" indent="0" algn="ctr">
              <a:buNone/>
            </a:pPr>
            <a:r>
              <a:rPr lang="en-US" sz="1000" b="1" dirty="0">
                <a:solidFill>
                  <a:srgbClr val="DC2626"/>
                </a:solidFill>
                <a:latin typeface="Aptos" pitchFamily="34" charset="0"/>
                <a:ea typeface="Aptos" pitchFamily="34" charset="-122"/>
                <a:cs typeface="Aptos" pitchFamily="34" charset="-120"/>
              </a:rPr>
              <a:t>centered rolling mean</a:t>
            </a:r>
            <a:endParaRPr lang="en-US" sz="1000" dirty="0"/>
          </a:p>
        </p:txBody>
      </p:sp>
      <p:sp>
        <p:nvSpPr>
          <p:cNvPr id="34" name="Text 31"/>
          <p:cNvSpPr/>
          <p:nvPr/>
        </p:nvSpPr>
        <p:spPr>
          <a:xfrm>
            <a:off x="4448556" y="4251960"/>
            <a:ext cx="1280160" cy="228600"/>
          </a:xfrm>
          <a:prstGeom prst="rect">
            <a:avLst/>
          </a:prstGeom>
          <a:noFill/>
          <a:ln/>
        </p:spPr>
        <p:txBody>
          <a:bodyPr wrap="square" lIns="0" tIns="0" rIns="0" bIns="0" rtlCol="0" anchor="t">
            <a:normAutofit/>
          </a:bodyPr>
          <a:lstStyle/>
          <a:p>
            <a:pPr marL="0" indent="0" algn="ctr">
              <a:buNone/>
            </a:pPr>
            <a:r>
              <a:rPr lang="en-US" sz="900" dirty="0">
                <a:solidFill>
                  <a:srgbClr val="DC2626"/>
                </a:solidFill>
                <a:latin typeface="Aptos" pitchFamily="34" charset="0"/>
                <a:ea typeface="Aptos" pitchFamily="34" charset="-122"/>
                <a:cs typeface="Aptos" pitchFamily="34" charset="-120"/>
              </a:rPr>
              <a:t>uses values after t</a:t>
            </a:r>
            <a:endParaRPr lang="en-US" sz="900" dirty="0"/>
          </a:p>
        </p:txBody>
      </p:sp>
      <p:sp>
        <p:nvSpPr>
          <p:cNvPr id="35" name="Text 32"/>
          <p:cNvSpPr/>
          <p:nvPr/>
        </p:nvSpPr>
        <p:spPr>
          <a:xfrm>
            <a:off x="777240" y="4983480"/>
            <a:ext cx="3200400" cy="50292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Valid for online prediction: current and past values only.</a:t>
            </a:r>
            <a:endParaRPr lang="en-US" sz="950" dirty="0"/>
          </a:p>
        </p:txBody>
      </p:sp>
      <p:sp>
        <p:nvSpPr>
          <p:cNvPr id="36" name="Text 33"/>
          <p:cNvSpPr/>
          <p:nvPr/>
        </p:nvSpPr>
        <p:spPr>
          <a:xfrm>
            <a:off x="4572000" y="4983480"/>
            <a:ext cx="3566160" cy="502920"/>
          </a:xfrm>
          <a:prstGeom prst="rect">
            <a:avLst/>
          </a:prstGeom>
          <a:solidFill>
            <a:srgbClr val="FFFFFF"/>
          </a:solidFill>
          <a:ln w="15240">
            <a:solidFill>
              <a:srgbClr val="DC2626"/>
            </a:solidFill>
          </a:ln>
        </p:spPr>
        <p:txBody>
          <a:bodyPr wrap="square" lIns="1016" tIns="1016" rIns="1016" bIns="1016" rtlCol="0" anchor="ctr">
            <a:normAutofit/>
          </a:bodyPr>
          <a:lstStyle/>
          <a:p>
            <a:pPr marL="0" indent="0">
              <a:buNone/>
            </a:pPr>
            <a:r>
              <a:rPr lang="en-US" sz="950" dirty="0">
                <a:solidFill>
                  <a:srgbClr val="111827"/>
                </a:solidFill>
              </a:rPr>
              <a:t>Invalid for online prediction: future values affect the feature at time t.</a:t>
            </a:r>
            <a:endParaRPr lang="en-US" sz="9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6D99AE1-1A82-533E-B86D-F40A7926C64F}"/>
              </a:ext>
            </a:extLst>
          </p:cNvPr>
          <p:cNvSpPr>
            <a:spLocks noGrp="1"/>
          </p:cNvSpPr>
          <p:nvPr>
            <p:ph type="title"/>
          </p:nvPr>
        </p:nvSpPr>
        <p:spPr/>
        <p:txBody>
          <a:bodyPr/>
          <a:lstStyle/>
          <a:p>
            <a:r>
              <a:rPr lang="en-GB" dirty="0"/>
              <a:t>Known future information vs realized future information</a:t>
            </a:r>
          </a:p>
        </p:txBody>
      </p:sp>
      <p:sp>
        <p:nvSpPr>
          <p:cNvPr id="3" name="Segnaposto contenuto 2">
            <a:extLst>
              <a:ext uri="{FF2B5EF4-FFF2-40B4-BE49-F238E27FC236}">
                <a16:creationId xmlns:a16="http://schemas.microsoft.com/office/drawing/2014/main" id="{A7644604-A7E1-4DA5-DE6D-2ED8E310474B}"/>
              </a:ext>
            </a:extLst>
          </p:cNvPr>
          <p:cNvSpPr>
            <a:spLocks noGrp="1"/>
          </p:cNvSpPr>
          <p:nvPr>
            <p:ph idx="1"/>
          </p:nvPr>
        </p:nvSpPr>
        <p:spPr/>
        <p:txBody>
          <a:bodyPr>
            <a:normAutofit fontScale="92500" lnSpcReduction="20000"/>
          </a:bodyPr>
          <a:lstStyle/>
          <a:p>
            <a:r>
              <a:rPr lang="en-GB" dirty="0"/>
              <a:t>Some future variables are legitimately available when a prediction is produced.</a:t>
            </a:r>
          </a:p>
          <a:p>
            <a:r>
              <a:rPr lang="en-GB" b="1" dirty="0">
                <a:highlight>
                  <a:srgbClr val="FFFF00"/>
                </a:highlight>
              </a:rPr>
              <a:t>Future-known covariates</a:t>
            </a:r>
          </a:p>
          <a:p>
            <a:r>
              <a:rPr lang="en-GB" dirty="0"/>
              <a:t>Examples:</a:t>
            </a:r>
          </a:p>
          <a:p>
            <a:pPr lvl="1"/>
            <a:r>
              <a:rPr lang="en-GB" dirty="0"/>
              <a:t>day of week; holiday calendar; scheduled production; planned promotion; contractual price; planned maintenance.</a:t>
            </a:r>
          </a:p>
          <a:p>
            <a:r>
              <a:rPr lang="en-GB" dirty="0"/>
              <a:t>These values may be used for future horizons because they are known in advance.</a:t>
            </a:r>
          </a:p>
          <a:p>
            <a:endParaRPr lang="en-GB" b="1" dirty="0"/>
          </a:p>
          <a:p>
            <a:r>
              <a:rPr lang="en-GB" b="1" dirty="0"/>
              <a:t>Future-realized variables</a:t>
            </a:r>
          </a:p>
          <a:p>
            <a:r>
              <a:rPr lang="en-GB" dirty="0"/>
              <a:t>Examples:</a:t>
            </a:r>
          </a:p>
          <a:p>
            <a:pPr lvl="1"/>
            <a:r>
              <a:rPr lang="en-GB" dirty="0"/>
              <a:t>actual future weather; future measured temperature; realized competitor price; future sensor values; actual future demand.</a:t>
            </a:r>
          </a:p>
          <a:p>
            <a:r>
              <a:rPr lang="en-GB" dirty="0"/>
              <a:t>These are not available when the prediction is generated.</a:t>
            </a:r>
          </a:p>
          <a:p>
            <a:endParaRPr lang="en-GB" dirty="0"/>
          </a:p>
        </p:txBody>
      </p:sp>
    </p:spTree>
    <p:extLst>
      <p:ext uri="{BB962C8B-B14F-4D97-AF65-F5344CB8AC3E}">
        <p14:creationId xmlns:p14="http://schemas.microsoft.com/office/powerpoint/2010/main" val="63464301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7436F31-B6FB-5996-C2AF-81E19A686365}"/>
              </a:ext>
            </a:extLst>
          </p:cNvPr>
          <p:cNvSpPr>
            <a:spLocks noGrp="1"/>
          </p:cNvSpPr>
          <p:nvPr>
            <p:ph type="title"/>
          </p:nvPr>
        </p:nvSpPr>
        <p:spPr/>
        <p:txBody>
          <a:bodyPr/>
          <a:lstStyle/>
          <a:p>
            <a:r>
              <a:rPr lang="en-GB" dirty="0"/>
              <a:t>Example: demand forecasting</a:t>
            </a:r>
          </a:p>
        </p:txBody>
      </p:sp>
      <p:sp>
        <p:nvSpPr>
          <p:cNvPr id="3" name="Segnaposto contenuto 2">
            <a:extLst>
              <a:ext uri="{FF2B5EF4-FFF2-40B4-BE49-F238E27FC236}">
                <a16:creationId xmlns:a16="http://schemas.microsoft.com/office/drawing/2014/main" id="{ECD86F18-BFF0-321A-1F0C-A168968FC0F7}"/>
              </a:ext>
            </a:extLst>
          </p:cNvPr>
          <p:cNvSpPr>
            <a:spLocks noGrp="1"/>
          </p:cNvSpPr>
          <p:nvPr>
            <p:ph idx="1"/>
          </p:nvPr>
        </p:nvSpPr>
        <p:spPr/>
        <p:txBody>
          <a:bodyPr>
            <a:normAutofit fontScale="77500" lnSpcReduction="20000"/>
          </a:bodyPr>
          <a:lstStyle/>
          <a:p>
            <a:r>
              <a:rPr lang="en-GB" dirty="0"/>
              <a:t>At prediction time:</a:t>
            </a:r>
          </a:p>
          <a:p>
            <a:pPr lvl="1"/>
            <a:r>
              <a:rPr lang="en-GB" dirty="0"/>
              <a:t>past demand              → valid</a:t>
            </a:r>
          </a:p>
          <a:p>
            <a:pPr lvl="1"/>
            <a:r>
              <a:rPr lang="en-GB" dirty="0"/>
              <a:t>future calendar          → valid</a:t>
            </a:r>
          </a:p>
          <a:p>
            <a:pPr lvl="1"/>
            <a:r>
              <a:rPr lang="en-GB" dirty="0"/>
              <a:t>planned promotion        → valid</a:t>
            </a:r>
          </a:p>
          <a:p>
            <a:pPr lvl="1"/>
            <a:r>
              <a:rPr lang="en-GB" dirty="0"/>
              <a:t>weather forecast         → potentially valid</a:t>
            </a:r>
          </a:p>
          <a:p>
            <a:pPr lvl="1"/>
            <a:r>
              <a:rPr lang="en-GB" dirty="0"/>
              <a:t>actual future weather    → invalid</a:t>
            </a:r>
          </a:p>
          <a:p>
            <a:pPr lvl="1"/>
            <a:r>
              <a:rPr lang="en-GB" dirty="0"/>
              <a:t>future demand            → target</a:t>
            </a:r>
          </a:p>
          <a:p>
            <a:pPr marL="0" indent="0">
              <a:buNone/>
            </a:pPr>
            <a:endParaRPr lang="en-GB" b="1" dirty="0"/>
          </a:p>
          <a:p>
            <a:r>
              <a:rPr lang="en-GB" dirty="0"/>
              <a:t>Using a </a:t>
            </a:r>
            <a:r>
              <a:rPr lang="en-GB" b="1" dirty="0"/>
              <a:t>weather forecast</a:t>
            </a:r>
            <a:r>
              <a:rPr lang="en-GB" dirty="0"/>
              <a:t> is different from using the </a:t>
            </a:r>
            <a:r>
              <a:rPr lang="en-GB" b="1" dirty="0"/>
              <a:t>weather that actually occurred</a:t>
            </a:r>
            <a:r>
              <a:rPr lang="en-GB" dirty="0"/>
              <a:t>.</a:t>
            </a:r>
          </a:p>
          <a:p>
            <a:pPr lvl="1"/>
            <a:r>
              <a:rPr lang="en-GB" dirty="0"/>
              <a:t>The first may be available at inference.</a:t>
            </a:r>
          </a:p>
          <a:p>
            <a:pPr lvl="1"/>
            <a:r>
              <a:rPr lang="en-GB" dirty="0"/>
              <a:t>The second contains future information.</a:t>
            </a:r>
          </a:p>
          <a:p>
            <a:pPr marL="0" indent="0">
              <a:buNone/>
            </a:pPr>
            <a:endParaRPr lang="en-GB" b="1" dirty="0"/>
          </a:p>
          <a:p>
            <a:r>
              <a:rPr lang="en-GB" dirty="0">
                <a:highlight>
                  <a:srgbClr val="FFFF00"/>
                </a:highlight>
              </a:rPr>
              <a:t>For every feature, ask: Could this exact value be obtained by the deployed system at prediction time?</a:t>
            </a:r>
          </a:p>
        </p:txBody>
      </p:sp>
    </p:spTree>
    <p:extLst>
      <p:ext uri="{BB962C8B-B14F-4D97-AF65-F5344CB8AC3E}">
        <p14:creationId xmlns:p14="http://schemas.microsoft.com/office/powerpoint/2010/main" val="19275457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Known future information vs realized future information</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Future variables are valid only if the deployed system actually knows them in advance.</a:t>
            </a:r>
            <a:endParaRPr lang="en-US" sz="950" dirty="0"/>
          </a:p>
        </p:txBody>
      </p:sp>
      <p:sp>
        <p:nvSpPr>
          <p:cNvPr id="6" name="Shape 3"/>
          <p:cNvSpPr/>
          <p:nvPr/>
        </p:nvSpPr>
        <p:spPr>
          <a:xfrm>
            <a:off x="777240" y="2468880"/>
            <a:ext cx="8046720" cy="0"/>
          </a:xfrm>
          <a:prstGeom prst="line">
            <a:avLst/>
          </a:prstGeom>
          <a:noFill/>
          <a:ln w="15240">
            <a:solidFill>
              <a:srgbClr val="6B7280"/>
            </a:solidFill>
            <a:prstDash val="solid"/>
          </a:ln>
        </p:spPr>
        <p:txBody>
          <a:bodyPr/>
          <a:lstStyle/>
          <a:p>
            <a:endParaRPr lang="en-GB"/>
          </a:p>
        </p:txBody>
      </p:sp>
      <p:sp>
        <p:nvSpPr>
          <p:cNvPr id="7" name="Text 4"/>
          <p:cNvSpPr/>
          <p:nvPr/>
        </p:nvSpPr>
        <p:spPr>
          <a:xfrm>
            <a:off x="868680" y="3931920"/>
            <a:ext cx="548640" cy="182880"/>
          </a:xfrm>
          <a:prstGeom prst="rect">
            <a:avLst/>
          </a:prstGeom>
          <a:noFill/>
          <a:ln/>
        </p:spPr>
        <p:txBody>
          <a:bodyPr wrap="square" lIns="0" tIns="0" rIns="0" bIns="0" rtlCol="0" anchor="t">
            <a:normAutofit/>
          </a:bodyPr>
          <a:lstStyle/>
          <a:p>
            <a:pPr marL="0" indent="0" algn="l">
              <a:buNone/>
            </a:pPr>
            <a:r>
              <a:rPr lang="en-US" sz="900" dirty="0">
                <a:solidFill>
                  <a:srgbClr val="6B7280"/>
                </a:solidFill>
                <a:latin typeface="Aptos" pitchFamily="34" charset="0"/>
                <a:ea typeface="Aptos" pitchFamily="34" charset="-122"/>
                <a:cs typeface="Aptos" pitchFamily="34" charset="-120"/>
              </a:rPr>
              <a:t>past</a:t>
            </a:r>
            <a:endParaRPr lang="en-US" sz="900" dirty="0"/>
          </a:p>
        </p:txBody>
      </p:sp>
      <p:sp>
        <p:nvSpPr>
          <p:cNvPr id="8" name="Text 5"/>
          <p:cNvSpPr/>
          <p:nvPr/>
        </p:nvSpPr>
        <p:spPr>
          <a:xfrm>
            <a:off x="8092440" y="3931920"/>
            <a:ext cx="731520" cy="182880"/>
          </a:xfrm>
          <a:prstGeom prst="rect">
            <a:avLst/>
          </a:prstGeom>
          <a:noFill/>
          <a:ln/>
        </p:spPr>
        <p:txBody>
          <a:bodyPr wrap="square" lIns="0" tIns="0" rIns="0" bIns="0" rtlCol="0" anchor="t">
            <a:normAutofit/>
          </a:bodyPr>
          <a:lstStyle/>
          <a:p>
            <a:pPr marL="0" indent="0" algn="l">
              <a:buNone/>
            </a:pPr>
            <a:r>
              <a:rPr lang="en-US" sz="900" dirty="0">
                <a:solidFill>
                  <a:srgbClr val="6B7280"/>
                </a:solidFill>
                <a:latin typeface="Aptos" pitchFamily="34" charset="0"/>
                <a:ea typeface="Aptos" pitchFamily="34" charset="-122"/>
                <a:cs typeface="Aptos" pitchFamily="34" charset="-120"/>
              </a:rPr>
              <a:t>future</a:t>
            </a:r>
            <a:endParaRPr lang="en-US" sz="900" dirty="0"/>
          </a:p>
        </p:txBody>
      </p:sp>
      <p:sp>
        <p:nvSpPr>
          <p:cNvPr id="9" name="Shape 6"/>
          <p:cNvSpPr/>
          <p:nvPr/>
        </p:nvSpPr>
        <p:spPr>
          <a:xfrm>
            <a:off x="4617720" y="1188720"/>
            <a:ext cx="0" cy="2743200"/>
          </a:xfrm>
          <a:prstGeom prst="line">
            <a:avLst/>
          </a:prstGeom>
          <a:noFill/>
          <a:ln w="17780">
            <a:solidFill>
              <a:srgbClr val="111827"/>
            </a:solidFill>
            <a:prstDash val="solid"/>
          </a:ln>
        </p:spPr>
        <p:txBody>
          <a:bodyPr/>
          <a:lstStyle/>
          <a:p>
            <a:endParaRPr lang="en-GB"/>
          </a:p>
        </p:txBody>
      </p:sp>
      <p:sp>
        <p:nvSpPr>
          <p:cNvPr id="10" name="Text 7"/>
          <p:cNvSpPr/>
          <p:nvPr/>
        </p:nvSpPr>
        <p:spPr>
          <a:xfrm>
            <a:off x="4023360" y="1024128"/>
            <a:ext cx="1143000" cy="201168"/>
          </a:xfrm>
          <a:prstGeom prst="roundRect">
            <a:avLst/>
          </a:prstGeom>
          <a:solidFill>
            <a:srgbClr val="111827"/>
          </a:solidFill>
          <a:ln w="6350">
            <a:solidFill>
              <a:srgbClr val="111827"/>
            </a:solidFill>
          </a:ln>
        </p:spPr>
        <p:txBody>
          <a:bodyPr wrap="square" lIns="254" tIns="254" rIns="254" bIns="254" rtlCol="0" anchor="ctr"/>
          <a:lstStyle/>
          <a:p>
            <a:pPr marL="0" indent="0" algn="ctr">
              <a:buNone/>
            </a:pPr>
            <a:r>
              <a:rPr lang="en-US" sz="850" b="1" dirty="0">
                <a:solidFill>
                  <a:srgbClr val="FFFFFF"/>
                </a:solidFill>
              </a:rPr>
              <a:t>prediction time</a:t>
            </a:r>
            <a:endParaRPr lang="en-US" sz="850" dirty="0"/>
          </a:p>
        </p:txBody>
      </p:sp>
      <p:sp>
        <p:nvSpPr>
          <p:cNvPr id="11" name="Text 8"/>
          <p:cNvSpPr/>
          <p:nvPr/>
        </p:nvSpPr>
        <p:spPr>
          <a:xfrm>
            <a:off x="1005840" y="1508760"/>
            <a:ext cx="1965960" cy="256032"/>
          </a:xfrm>
          <a:prstGeom prst="roundRect">
            <a:avLst/>
          </a:prstGeom>
          <a:solidFill>
            <a:srgbClr val="FFFFFF"/>
          </a:solidFill>
          <a:ln w="12700">
            <a:solidFill>
              <a:srgbClr val="E5E7EB"/>
            </a:solidFill>
          </a:ln>
        </p:spPr>
        <p:txBody>
          <a:bodyPr wrap="square" lIns="1016" tIns="1016" rIns="1016" bIns="1016" rtlCol="0" anchor="ctr">
            <a:normAutofit/>
          </a:bodyPr>
          <a:lstStyle/>
          <a:p>
            <a:pPr marL="0" indent="0" algn="l">
              <a:buNone/>
            </a:pPr>
            <a:r>
              <a:rPr lang="en-US" sz="850" dirty="0">
                <a:solidFill>
                  <a:srgbClr val="111827"/>
                </a:solidFill>
                <a:latin typeface="Aptos" pitchFamily="34" charset="0"/>
                <a:ea typeface="Aptos" pitchFamily="34" charset="-122"/>
                <a:cs typeface="Aptos" pitchFamily="34" charset="-120"/>
              </a:rPr>
              <a:t>past demand</a:t>
            </a:r>
            <a:endParaRPr lang="en-US" sz="850" dirty="0"/>
          </a:p>
        </p:txBody>
      </p:sp>
      <p:sp>
        <p:nvSpPr>
          <p:cNvPr id="12" name="Text 9"/>
          <p:cNvSpPr/>
          <p:nvPr/>
        </p:nvSpPr>
        <p:spPr>
          <a:xfrm>
            <a:off x="6583680" y="1508760"/>
            <a:ext cx="1234440" cy="256032"/>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valid</a:t>
            </a:r>
            <a:endParaRPr lang="en-US" sz="850" dirty="0"/>
          </a:p>
        </p:txBody>
      </p:sp>
      <p:sp>
        <p:nvSpPr>
          <p:cNvPr id="13" name="Shape 10"/>
          <p:cNvSpPr/>
          <p:nvPr/>
        </p:nvSpPr>
        <p:spPr>
          <a:xfrm>
            <a:off x="3063240" y="1636776"/>
            <a:ext cx="1417320" cy="0"/>
          </a:xfrm>
          <a:prstGeom prst="line">
            <a:avLst/>
          </a:prstGeom>
          <a:noFill/>
          <a:ln w="25400">
            <a:solidFill>
              <a:srgbClr val="5C9A17"/>
            </a:solidFill>
            <a:prstDash val="solid"/>
          </a:ln>
        </p:spPr>
        <p:txBody>
          <a:bodyPr/>
          <a:lstStyle/>
          <a:p>
            <a:endParaRPr lang="en-GB"/>
          </a:p>
        </p:txBody>
      </p:sp>
      <p:sp>
        <p:nvSpPr>
          <p:cNvPr id="14" name="Text 11"/>
          <p:cNvSpPr/>
          <p:nvPr/>
        </p:nvSpPr>
        <p:spPr>
          <a:xfrm>
            <a:off x="1005840" y="1920240"/>
            <a:ext cx="1965960" cy="256032"/>
          </a:xfrm>
          <a:prstGeom prst="roundRect">
            <a:avLst/>
          </a:prstGeom>
          <a:solidFill>
            <a:srgbClr val="FFFFFF"/>
          </a:solidFill>
          <a:ln w="12700">
            <a:solidFill>
              <a:srgbClr val="E5E7EB"/>
            </a:solidFill>
          </a:ln>
        </p:spPr>
        <p:txBody>
          <a:bodyPr wrap="square" lIns="1016" tIns="1016" rIns="1016" bIns="1016" rtlCol="0" anchor="ctr">
            <a:normAutofit/>
          </a:bodyPr>
          <a:lstStyle/>
          <a:p>
            <a:pPr marL="0" indent="0" algn="l">
              <a:buNone/>
            </a:pPr>
            <a:r>
              <a:rPr lang="en-US" sz="850" dirty="0">
                <a:solidFill>
                  <a:srgbClr val="111827"/>
                </a:solidFill>
                <a:latin typeface="Aptos" pitchFamily="34" charset="0"/>
                <a:ea typeface="Aptos" pitchFamily="34" charset="-122"/>
                <a:cs typeface="Aptos" pitchFamily="34" charset="-120"/>
              </a:rPr>
              <a:t>future calendar</a:t>
            </a:r>
            <a:endParaRPr lang="en-US" sz="850" dirty="0"/>
          </a:p>
        </p:txBody>
      </p:sp>
      <p:sp>
        <p:nvSpPr>
          <p:cNvPr id="15" name="Text 12"/>
          <p:cNvSpPr/>
          <p:nvPr/>
        </p:nvSpPr>
        <p:spPr>
          <a:xfrm>
            <a:off x="6583680" y="1920240"/>
            <a:ext cx="1234440" cy="256032"/>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known</a:t>
            </a:r>
            <a:endParaRPr lang="en-US" sz="850" dirty="0"/>
          </a:p>
        </p:txBody>
      </p:sp>
      <p:sp>
        <p:nvSpPr>
          <p:cNvPr id="16" name="Shape 13"/>
          <p:cNvSpPr/>
          <p:nvPr/>
        </p:nvSpPr>
        <p:spPr>
          <a:xfrm>
            <a:off x="4754880" y="2048256"/>
            <a:ext cx="1691640" cy="0"/>
          </a:xfrm>
          <a:prstGeom prst="line">
            <a:avLst/>
          </a:prstGeom>
          <a:noFill/>
          <a:ln w="25400">
            <a:solidFill>
              <a:srgbClr val="5C9A17"/>
            </a:solidFill>
            <a:prstDash val="solid"/>
          </a:ln>
        </p:spPr>
        <p:txBody>
          <a:bodyPr/>
          <a:lstStyle/>
          <a:p>
            <a:endParaRPr lang="en-GB"/>
          </a:p>
        </p:txBody>
      </p:sp>
      <p:sp>
        <p:nvSpPr>
          <p:cNvPr id="17" name="Text 14"/>
          <p:cNvSpPr/>
          <p:nvPr/>
        </p:nvSpPr>
        <p:spPr>
          <a:xfrm>
            <a:off x="1005840" y="2331720"/>
            <a:ext cx="1965960" cy="256032"/>
          </a:xfrm>
          <a:prstGeom prst="roundRect">
            <a:avLst/>
          </a:prstGeom>
          <a:solidFill>
            <a:srgbClr val="FFFFFF"/>
          </a:solidFill>
          <a:ln w="12700">
            <a:solidFill>
              <a:srgbClr val="E5E7EB"/>
            </a:solidFill>
          </a:ln>
        </p:spPr>
        <p:txBody>
          <a:bodyPr wrap="square" lIns="1016" tIns="1016" rIns="1016" bIns="1016" rtlCol="0" anchor="ctr">
            <a:normAutofit/>
          </a:bodyPr>
          <a:lstStyle/>
          <a:p>
            <a:pPr marL="0" indent="0" algn="l">
              <a:buNone/>
            </a:pPr>
            <a:r>
              <a:rPr lang="en-US" sz="850" dirty="0">
                <a:solidFill>
                  <a:srgbClr val="111827"/>
                </a:solidFill>
                <a:latin typeface="Aptos" pitchFamily="34" charset="0"/>
                <a:ea typeface="Aptos" pitchFamily="34" charset="-122"/>
                <a:cs typeface="Aptos" pitchFamily="34" charset="-120"/>
              </a:rPr>
              <a:t>planned promotion</a:t>
            </a:r>
            <a:endParaRPr lang="en-US" sz="850" dirty="0"/>
          </a:p>
        </p:txBody>
      </p:sp>
      <p:sp>
        <p:nvSpPr>
          <p:cNvPr id="18" name="Text 15"/>
          <p:cNvSpPr/>
          <p:nvPr/>
        </p:nvSpPr>
        <p:spPr>
          <a:xfrm>
            <a:off x="6583680" y="2331720"/>
            <a:ext cx="1234440" cy="256032"/>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known</a:t>
            </a:r>
            <a:endParaRPr lang="en-US" sz="850" dirty="0"/>
          </a:p>
        </p:txBody>
      </p:sp>
      <p:sp>
        <p:nvSpPr>
          <p:cNvPr id="19" name="Shape 16"/>
          <p:cNvSpPr/>
          <p:nvPr/>
        </p:nvSpPr>
        <p:spPr>
          <a:xfrm>
            <a:off x="4754880" y="2459736"/>
            <a:ext cx="1691640" cy="0"/>
          </a:xfrm>
          <a:prstGeom prst="line">
            <a:avLst/>
          </a:prstGeom>
          <a:noFill/>
          <a:ln w="25400">
            <a:solidFill>
              <a:srgbClr val="5C9A17"/>
            </a:solidFill>
            <a:prstDash val="solid"/>
          </a:ln>
        </p:spPr>
        <p:txBody>
          <a:bodyPr/>
          <a:lstStyle/>
          <a:p>
            <a:endParaRPr lang="en-GB"/>
          </a:p>
        </p:txBody>
      </p:sp>
      <p:sp>
        <p:nvSpPr>
          <p:cNvPr id="20" name="Text 17"/>
          <p:cNvSpPr/>
          <p:nvPr/>
        </p:nvSpPr>
        <p:spPr>
          <a:xfrm>
            <a:off x="1005840" y="2743200"/>
            <a:ext cx="1965960" cy="256032"/>
          </a:xfrm>
          <a:prstGeom prst="roundRect">
            <a:avLst/>
          </a:prstGeom>
          <a:solidFill>
            <a:srgbClr val="FFFFFF"/>
          </a:solidFill>
          <a:ln w="12700">
            <a:solidFill>
              <a:srgbClr val="E5E7EB"/>
            </a:solidFill>
          </a:ln>
        </p:spPr>
        <p:txBody>
          <a:bodyPr wrap="square" lIns="1016" tIns="1016" rIns="1016" bIns="1016" rtlCol="0" anchor="ctr">
            <a:normAutofit/>
          </a:bodyPr>
          <a:lstStyle/>
          <a:p>
            <a:pPr marL="0" indent="0" algn="l">
              <a:buNone/>
            </a:pPr>
            <a:r>
              <a:rPr lang="en-US" sz="850" dirty="0">
                <a:solidFill>
                  <a:srgbClr val="111827"/>
                </a:solidFill>
                <a:latin typeface="Aptos" pitchFamily="34" charset="0"/>
                <a:ea typeface="Aptos" pitchFamily="34" charset="-122"/>
                <a:cs typeface="Aptos" pitchFamily="34" charset="-120"/>
              </a:rPr>
              <a:t>weather forecast</a:t>
            </a:r>
            <a:endParaRPr lang="en-US" sz="850" dirty="0"/>
          </a:p>
        </p:txBody>
      </p:sp>
      <p:sp>
        <p:nvSpPr>
          <p:cNvPr id="21" name="Text 18"/>
          <p:cNvSpPr/>
          <p:nvPr/>
        </p:nvSpPr>
        <p:spPr>
          <a:xfrm>
            <a:off x="6583680" y="2743200"/>
            <a:ext cx="1234440" cy="256032"/>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potentially valid</a:t>
            </a:r>
            <a:endParaRPr lang="en-US" sz="850" dirty="0"/>
          </a:p>
        </p:txBody>
      </p:sp>
      <p:sp>
        <p:nvSpPr>
          <p:cNvPr id="22" name="Shape 19"/>
          <p:cNvSpPr/>
          <p:nvPr/>
        </p:nvSpPr>
        <p:spPr>
          <a:xfrm>
            <a:off x="4754880" y="2871216"/>
            <a:ext cx="1691640" cy="0"/>
          </a:xfrm>
          <a:prstGeom prst="line">
            <a:avLst/>
          </a:prstGeom>
          <a:noFill/>
          <a:ln w="25400">
            <a:solidFill>
              <a:srgbClr val="F59E0B"/>
            </a:solidFill>
            <a:prstDash val="solid"/>
          </a:ln>
        </p:spPr>
        <p:txBody>
          <a:bodyPr/>
          <a:lstStyle/>
          <a:p>
            <a:endParaRPr lang="en-GB"/>
          </a:p>
        </p:txBody>
      </p:sp>
      <p:sp>
        <p:nvSpPr>
          <p:cNvPr id="23" name="Text 20"/>
          <p:cNvSpPr/>
          <p:nvPr/>
        </p:nvSpPr>
        <p:spPr>
          <a:xfrm>
            <a:off x="1005840" y="3154680"/>
            <a:ext cx="1965960" cy="256032"/>
          </a:xfrm>
          <a:prstGeom prst="roundRect">
            <a:avLst/>
          </a:prstGeom>
          <a:solidFill>
            <a:srgbClr val="FFFFFF"/>
          </a:solidFill>
          <a:ln w="12700">
            <a:solidFill>
              <a:srgbClr val="E5E7EB"/>
            </a:solidFill>
          </a:ln>
        </p:spPr>
        <p:txBody>
          <a:bodyPr wrap="square" lIns="1016" tIns="1016" rIns="1016" bIns="1016" rtlCol="0" anchor="ctr">
            <a:normAutofit/>
          </a:bodyPr>
          <a:lstStyle/>
          <a:p>
            <a:pPr marL="0" indent="0" algn="l">
              <a:buNone/>
            </a:pPr>
            <a:r>
              <a:rPr lang="en-US" sz="850" dirty="0">
                <a:solidFill>
                  <a:srgbClr val="111827"/>
                </a:solidFill>
                <a:latin typeface="Aptos" pitchFamily="34" charset="0"/>
                <a:ea typeface="Aptos" pitchFamily="34" charset="-122"/>
                <a:cs typeface="Aptos" pitchFamily="34" charset="-120"/>
              </a:rPr>
              <a:t>actual future weather</a:t>
            </a:r>
            <a:endParaRPr lang="en-US" sz="850" dirty="0"/>
          </a:p>
        </p:txBody>
      </p:sp>
      <p:sp>
        <p:nvSpPr>
          <p:cNvPr id="24" name="Text 21"/>
          <p:cNvSpPr/>
          <p:nvPr/>
        </p:nvSpPr>
        <p:spPr>
          <a:xfrm>
            <a:off x="6583680" y="3154680"/>
            <a:ext cx="1234440" cy="256032"/>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invalid</a:t>
            </a:r>
            <a:endParaRPr lang="en-US" sz="850" dirty="0"/>
          </a:p>
        </p:txBody>
      </p:sp>
      <p:sp>
        <p:nvSpPr>
          <p:cNvPr id="25" name="Shape 22"/>
          <p:cNvSpPr/>
          <p:nvPr/>
        </p:nvSpPr>
        <p:spPr>
          <a:xfrm>
            <a:off x="4754880" y="3282696"/>
            <a:ext cx="1691640" cy="0"/>
          </a:xfrm>
          <a:prstGeom prst="line">
            <a:avLst/>
          </a:prstGeom>
          <a:noFill/>
          <a:ln w="25400">
            <a:solidFill>
              <a:srgbClr val="DC2626"/>
            </a:solidFill>
            <a:prstDash val="solid"/>
          </a:ln>
        </p:spPr>
        <p:txBody>
          <a:bodyPr/>
          <a:lstStyle/>
          <a:p>
            <a:endParaRPr lang="en-GB"/>
          </a:p>
        </p:txBody>
      </p:sp>
      <p:sp>
        <p:nvSpPr>
          <p:cNvPr id="26" name="Text 23"/>
          <p:cNvSpPr/>
          <p:nvPr/>
        </p:nvSpPr>
        <p:spPr>
          <a:xfrm>
            <a:off x="1005840" y="3566160"/>
            <a:ext cx="1965960" cy="256032"/>
          </a:xfrm>
          <a:prstGeom prst="roundRect">
            <a:avLst/>
          </a:prstGeom>
          <a:solidFill>
            <a:srgbClr val="FFFFFF"/>
          </a:solidFill>
          <a:ln w="12700">
            <a:solidFill>
              <a:srgbClr val="E5E7EB"/>
            </a:solidFill>
          </a:ln>
        </p:spPr>
        <p:txBody>
          <a:bodyPr wrap="square" lIns="1016" tIns="1016" rIns="1016" bIns="1016" rtlCol="0" anchor="ctr">
            <a:normAutofit/>
          </a:bodyPr>
          <a:lstStyle/>
          <a:p>
            <a:pPr marL="0" indent="0" algn="l">
              <a:buNone/>
            </a:pPr>
            <a:r>
              <a:rPr lang="en-US" sz="850" dirty="0">
                <a:solidFill>
                  <a:srgbClr val="111827"/>
                </a:solidFill>
                <a:latin typeface="Aptos" pitchFamily="34" charset="0"/>
                <a:ea typeface="Aptos" pitchFamily="34" charset="-122"/>
                <a:cs typeface="Aptos" pitchFamily="34" charset="-120"/>
              </a:rPr>
              <a:t>future demand</a:t>
            </a:r>
            <a:endParaRPr lang="en-US" sz="850" dirty="0"/>
          </a:p>
        </p:txBody>
      </p:sp>
      <p:sp>
        <p:nvSpPr>
          <p:cNvPr id="27" name="Text 24"/>
          <p:cNvSpPr/>
          <p:nvPr/>
        </p:nvSpPr>
        <p:spPr>
          <a:xfrm>
            <a:off x="6583680" y="3566160"/>
            <a:ext cx="1234440" cy="256032"/>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target</a:t>
            </a:r>
            <a:endParaRPr lang="en-US" sz="850" dirty="0"/>
          </a:p>
        </p:txBody>
      </p:sp>
      <p:sp>
        <p:nvSpPr>
          <p:cNvPr id="28" name="Shape 25"/>
          <p:cNvSpPr/>
          <p:nvPr/>
        </p:nvSpPr>
        <p:spPr>
          <a:xfrm>
            <a:off x="4754880" y="3694176"/>
            <a:ext cx="1691640" cy="0"/>
          </a:xfrm>
          <a:prstGeom prst="line">
            <a:avLst/>
          </a:prstGeom>
          <a:noFill/>
          <a:ln w="25400">
            <a:solidFill>
              <a:srgbClr val="DC2626"/>
            </a:solidFill>
            <a:prstDash val="solid"/>
          </a:ln>
        </p:spPr>
        <p:txBody>
          <a:bodyPr/>
          <a:lstStyle/>
          <a:p>
            <a:endParaRPr lang="en-GB"/>
          </a:p>
        </p:txBody>
      </p:sp>
      <p:sp>
        <p:nvSpPr>
          <p:cNvPr id="29" name="Text 26"/>
          <p:cNvSpPr/>
          <p:nvPr/>
        </p:nvSpPr>
        <p:spPr>
          <a:xfrm>
            <a:off x="960120" y="5029200"/>
            <a:ext cx="5760720" cy="54864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Ask for every feature: could this exact value be obtained at prediction time?</a:t>
            </a:r>
            <a:endParaRPr lang="en-US" sz="9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CD27B53-1C8D-72B5-9219-F7ADCC6671D1}"/>
              </a:ext>
            </a:extLst>
          </p:cNvPr>
          <p:cNvSpPr>
            <a:spLocks noGrp="1"/>
          </p:cNvSpPr>
          <p:nvPr>
            <p:ph type="title"/>
          </p:nvPr>
        </p:nvSpPr>
        <p:spPr/>
        <p:txBody>
          <a:bodyPr/>
          <a:lstStyle/>
          <a:p>
            <a:r>
              <a:rPr lang="en-GB" dirty="0"/>
              <a:t>Target leakage</a:t>
            </a:r>
          </a:p>
        </p:txBody>
      </p:sp>
      <p:sp>
        <p:nvSpPr>
          <p:cNvPr id="3" name="Segnaposto contenuto 2">
            <a:extLst>
              <a:ext uri="{FF2B5EF4-FFF2-40B4-BE49-F238E27FC236}">
                <a16:creationId xmlns:a16="http://schemas.microsoft.com/office/drawing/2014/main" id="{04217806-DC3C-98FD-CECE-523E1E603E9D}"/>
              </a:ext>
            </a:extLst>
          </p:cNvPr>
          <p:cNvSpPr>
            <a:spLocks noGrp="1"/>
          </p:cNvSpPr>
          <p:nvPr>
            <p:ph idx="1"/>
          </p:nvPr>
        </p:nvSpPr>
        <p:spPr/>
        <p:txBody>
          <a:bodyPr>
            <a:normAutofit fontScale="77500" lnSpcReduction="20000"/>
          </a:bodyPr>
          <a:lstStyle/>
          <a:p>
            <a:r>
              <a:rPr lang="en-GB" dirty="0"/>
              <a:t>The most severe form of leakage occurs when the input contains information derived directly or indirectly from the target.</a:t>
            </a:r>
          </a:p>
          <a:p>
            <a:endParaRPr lang="en-GB" b="1" dirty="0"/>
          </a:p>
          <a:p>
            <a:r>
              <a:rPr lang="en-GB" b="1" dirty="0"/>
              <a:t>Direct target leakage</a:t>
            </a:r>
          </a:p>
          <a:p>
            <a:r>
              <a:rPr lang="en-GB" dirty="0"/>
              <a:t>Example:</a:t>
            </a:r>
          </a:p>
          <a:p>
            <a:pPr lvl="1"/>
            <a:r>
              <a:rPr lang="en-GB" dirty="0"/>
              <a:t>Predict whether a machine will fail within the next 24 hours using a feature: hours until next failure. The target is effectively included in the input.</a:t>
            </a:r>
          </a:p>
          <a:p>
            <a:endParaRPr lang="en-GB" b="1" dirty="0"/>
          </a:p>
          <a:p>
            <a:r>
              <a:rPr lang="en-GB" b="1" dirty="0"/>
              <a:t>Indirect target leakage</a:t>
            </a:r>
          </a:p>
          <a:p>
            <a:r>
              <a:rPr lang="en-GB" dirty="0"/>
              <a:t>A feature may be strongly related to the target because it is recorded only after the outcome becomes known.</a:t>
            </a:r>
          </a:p>
          <a:p>
            <a:r>
              <a:rPr lang="en-GB" dirty="0"/>
              <a:t>Examples:</a:t>
            </a:r>
          </a:p>
          <a:p>
            <a:pPr lvl="1"/>
            <a:r>
              <a:rPr lang="en-GB" dirty="0"/>
              <a:t>maintenance action performed after failure; final quality-control result; post-event diagnostic code; customer status updated after churn; final cycle duration when prediction is required before cycle completion.</a:t>
            </a:r>
          </a:p>
          <a:p>
            <a:pPr marL="0" indent="0">
              <a:buNone/>
            </a:pPr>
            <a:endParaRPr lang="en-GB" dirty="0"/>
          </a:p>
        </p:txBody>
      </p:sp>
    </p:spTree>
    <p:extLst>
      <p:ext uri="{BB962C8B-B14F-4D97-AF65-F5344CB8AC3E}">
        <p14:creationId xmlns:p14="http://schemas.microsoft.com/office/powerpoint/2010/main" val="2160899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53CBDB6-38EC-4C70-0552-09D091B0BD47}"/>
              </a:ext>
            </a:extLst>
          </p:cNvPr>
          <p:cNvSpPr>
            <a:spLocks noGrp="1"/>
          </p:cNvSpPr>
          <p:nvPr>
            <p:ph type="title"/>
          </p:nvPr>
        </p:nvSpPr>
        <p:spPr/>
        <p:txBody>
          <a:bodyPr/>
          <a:lstStyle/>
          <a:p>
            <a:r>
              <a:rPr lang="it-IT" dirty="0"/>
              <a:t>Proxy leakage</a:t>
            </a:r>
            <a:endParaRPr lang="en-GB" dirty="0"/>
          </a:p>
        </p:txBody>
      </p:sp>
      <p:sp>
        <p:nvSpPr>
          <p:cNvPr id="3" name="Segnaposto contenuto 2">
            <a:extLst>
              <a:ext uri="{FF2B5EF4-FFF2-40B4-BE49-F238E27FC236}">
                <a16:creationId xmlns:a16="http://schemas.microsoft.com/office/drawing/2014/main" id="{B95A0336-9980-B5C2-5335-3B33740486E9}"/>
              </a:ext>
            </a:extLst>
          </p:cNvPr>
          <p:cNvSpPr>
            <a:spLocks noGrp="1"/>
          </p:cNvSpPr>
          <p:nvPr>
            <p:ph idx="1"/>
          </p:nvPr>
        </p:nvSpPr>
        <p:spPr/>
        <p:txBody>
          <a:bodyPr>
            <a:normAutofit fontScale="77500" lnSpcReduction="20000"/>
          </a:bodyPr>
          <a:lstStyle/>
          <a:p>
            <a:r>
              <a:rPr lang="it-IT" b="1" dirty="0"/>
              <a:t>Proxy leakage</a:t>
            </a:r>
            <a:endParaRPr lang="en-GB" b="1" dirty="0"/>
          </a:p>
          <a:p>
            <a:r>
              <a:rPr lang="en-GB" dirty="0"/>
              <a:t>A variable may encode the target unintentionally.</a:t>
            </a:r>
          </a:p>
          <a:p>
            <a:r>
              <a:rPr lang="en-GB" dirty="0"/>
              <a:t>Example:</a:t>
            </a:r>
          </a:p>
          <a:p>
            <a:pPr lvl="1"/>
            <a:r>
              <a:rPr lang="en-GB" b="1" dirty="0" err="1"/>
              <a:t>record_id</a:t>
            </a:r>
            <a:r>
              <a:rPr lang="en-GB" b="1" dirty="0"/>
              <a:t>, if recording IDs were assigned differently to normal and faulty experiments.</a:t>
            </a:r>
          </a:p>
          <a:p>
            <a:endParaRPr lang="en-GB" b="1" dirty="0"/>
          </a:p>
          <a:p>
            <a:r>
              <a:rPr lang="en-GB" b="1" dirty="0"/>
              <a:t>Leakage through data preparation</a:t>
            </a:r>
          </a:p>
          <a:p>
            <a:r>
              <a:rPr lang="en-GB" dirty="0"/>
              <a:t>Examples:</a:t>
            </a:r>
          </a:p>
          <a:p>
            <a:pPr lvl="1"/>
            <a:r>
              <a:rPr lang="en-GB" dirty="0"/>
              <a:t>selecting features using the complete dataset;</a:t>
            </a:r>
          </a:p>
          <a:p>
            <a:pPr lvl="1"/>
            <a:r>
              <a:rPr lang="en-GB" dirty="0"/>
              <a:t>balancing classes before splitting;</a:t>
            </a:r>
          </a:p>
          <a:p>
            <a:pPr lvl="1"/>
            <a:r>
              <a:rPr lang="en-GB" dirty="0"/>
              <a:t>choosing thresholds using test labels;</a:t>
            </a:r>
          </a:p>
          <a:p>
            <a:pPr lvl="1"/>
            <a:r>
              <a:rPr lang="en-GB" dirty="0"/>
              <a:t>filtering samples based on future outcomes.</a:t>
            </a:r>
          </a:p>
          <a:p>
            <a:endParaRPr lang="en-GB" dirty="0"/>
          </a:p>
          <a:p>
            <a:r>
              <a:rPr lang="en-GB" dirty="0"/>
              <a:t>Availability and causal timing of each feature must be verified.</a:t>
            </a:r>
          </a:p>
          <a:p>
            <a:endParaRPr lang="en-GB" dirty="0"/>
          </a:p>
        </p:txBody>
      </p:sp>
    </p:spTree>
    <p:extLst>
      <p:ext uri="{BB962C8B-B14F-4D97-AF65-F5344CB8AC3E}">
        <p14:creationId xmlns:p14="http://schemas.microsoft.com/office/powerpoint/2010/main" val="46461040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Target leakage: timing of features matters</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A feature may be highly predictive because it is recorded after the outcome is already known.</a:t>
            </a:r>
            <a:endParaRPr lang="en-US" sz="950" dirty="0"/>
          </a:p>
        </p:txBody>
      </p:sp>
      <p:sp>
        <p:nvSpPr>
          <p:cNvPr id="6" name="Shape 3"/>
          <p:cNvSpPr/>
          <p:nvPr/>
        </p:nvSpPr>
        <p:spPr>
          <a:xfrm>
            <a:off x="822960" y="2651760"/>
            <a:ext cx="7863840" cy="0"/>
          </a:xfrm>
          <a:prstGeom prst="line">
            <a:avLst/>
          </a:prstGeom>
          <a:noFill/>
          <a:ln w="15240">
            <a:solidFill>
              <a:srgbClr val="6B7280"/>
            </a:solidFill>
            <a:prstDash val="solid"/>
          </a:ln>
        </p:spPr>
        <p:txBody>
          <a:bodyPr/>
          <a:lstStyle/>
          <a:p>
            <a:endParaRPr lang="en-GB"/>
          </a:p>
        </p:txBody>
      </p:sp>
      <p:sp>
        <p:nvSpPr>
          <p:cNvPr id="7" name="Shape 4"/>
          <p:cNvSpPr/>
          <p:nvPr/>
        </p:nvSpPr>
        <p:spPr>
          <a:xfrm>
            <a:off x="5577840" y="1463040"/>
            <a:ext cx="0" cy="2560320"/>
          </a:xfrm>
          <a:prstGeom prst="line">
            <a:avLst/>
          </a:prstGeom>
          <a:noFill/>
          <a:ln w="20320">
            <a:solidFill>
              <a:srgbClr val="DC2626"/>
            </a:solidFill>
            <a:prstDash val="solid"/>
          </a:ln>
        </p:spPr>
        <p:txBody>
          <a:bodyPr/>
          <a:lstStyle/>
          <a:p>
            <a:endParaRPr lang="en-GB"/>
          </a:p>
        </p:txBody>
      </p:sp>
      <p:sp>
        <p:nvSpPr>
          <p:cNvPr id="8" name="Text 5"/>
          <p:cNvSpPr/>
          <p:nvPr/>
        </p:nvSpPr>
        <p:spPr>
          <a:xfrm>
            <a:off x="5074920" y="1280160"/>
            <a:ext cx="1005840" cy="201168"/>
          </a:xfrm>
          <a:prstGeom prst="roundRect">
            <a:avLst/>
          </a:prstGeom>
          <a:solidFill>
            <a:srgbClr val="DC2626"/>
          </a:solidFill>
          <a:ln w="6350">
            <a:solidFill>
              <a:srgbClr val="DC2626"/>
            </a:solidFill>
          </a:ln>
        </p:spPr>
        <p:txBody>
          <a:bodyPr wrap="square" lIns="254" tIns="254" rIns="254" bIns="254" rtlCol="0" anchor="ctr"/>
          <a:lstStyle/>
          <a:p>
            <a:pPr marL="0" indent="0" algn="ctr">
              <a:buNone/>
            </a:pPr>
            <a:r>
              <a:rPr lang="en-US" sz="850" b="1" dirty="0">
                <a:solidFill>
                  <a:srgbClr val="FFFFFF"/>
                </a:solidFill>
              </a:rPr>
              <a:t>failure event</a:t>
            </a:r>
            <a:endParaRPr lang="en-US" sz="850" dirty="0"/>
          </a:p>
        </p:txBody>
      </p:sp>
      <p:sp>
        <p:nvSpPr>
          <p:cNvPr id="9" name="Text 6"/>
          <p:cNvSpPr/>
          <p:nvPr/>
        </p:nvSpPr>
        <p:spPr>
          <a:xfrm>
            <a:off x="1188720" y="1920240"/>
            <a:ext cx="2194560" cy="41148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sensor history</a:t>
            </a:r>
            <a:endParaRPr lang="en-US" sz="1000" dirty="0"/>
          </a:p>
        </p:txBody>
      </p:sp>
      <p:sp>
        <p:nvSpPr>
          <p:cNvPr id="10" name="Text 7"/>
          <p:cNvSpPr/>
          <p:nvPr/>
        </p:nvSpPr>
        <p:spPr>
          <a:xfrm>
            <a:off x="5897880" y="1737360"/>
            <a:ext cx="2057400" cy="658368"/>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maintenance action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after failure</a:t>
            </a:r>
            <a:endParaRPr lang="en-US" sz="1000" dirty="0"/>
          </a:p>
        </p:txBody>
      </p:sp>
      <p:sp>
        <p:nvSpPr>
          <p:cNvPr id="11" name="Text 8"/>
          <p:cNvSpPr/>
          <p:nvPr/>
        </p:nvSpPr>
        <p:spPr>
          <a:xfrm>
            <a:off x="5989320" y="3108960"/>
            <a:ext cx="1828800" cy="530352"/>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quality-control</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result</a:t>
            </a:r>
            <a:endParaRPr lang="en-US" sz="1000" dirty="0"/>
          </a:p>
        </p:txBody>
      </p:sp>
      <p:sp>
        <p:nvSpPr>
          <p:cNvPr id="12" name="Text 9"/>
          <p:cNvSpPr/>
          <p:nvPr/>
        </p:nvSpPr>
        <p:spPr>
          <a:xfrm>
            <a:off x="1645920" y="2834640"/>
            <a:ext cx="1280160" cy="182880"/>
          </a:xfrm>
          <a:prstGeom prst="rect">
            <a:avLst/>
          </a:prstGeom>
          <a:noFill/>
          <a:ln/>
        </p:spPr>
        <p:txBody>
          <a:bodyPr wrap="square" lIns="0" tIns="0" rIns="0" bIns="0" rtlCol="0" anchor="t">
            <a:normAutofit/>
          </a:bodyPr>
          <a:lstStyle/>
          <a:p>
            <a:pPr marL="0" indent="0" algn="ctr">
              <a:buNone/>
            </a:pPr>
            <a:r>
              <a:rPr lang="en-US" sz="900" dirty="0">
                <a:solidFill>
                  <a:srgbClr val="2563EB"/>
                </a:solidFill>
                <a:latin typeface="Aptos" pitchFamily="34" charset="0"/>
                <a:ea typeface="Aptos" pitchFamily="34" charset="-122"/>
                <a:cs typeface="Aptos" pitchFamily="34" charset="-120"/>
              </a:rPr>
              <a:t>valid history</a:t>
            </a:r>
            <a:endParaRPr lang="en-US" sz="900" dirty="0"/>
          </a:p>
        </p:txBody>
      </p:sp>
      <p:sp>
        <p:nvSpPr>
          <p:cNvPr id="13" name="Text 10"/>
          <p:cNvSpPr/>
          <p:nvPr/>
        </p:nvSpPr>
        <p:spPr>
          <a:xfrm>
            <a:off x="5806440" y="3840480"/>
            <a:ext cx="2194560" cy="182880"/>
          </a:xfrm>
          <a:prstGeom prst="rect">
            <a:avLst/>
          </a:prstGeom>
          <a:noFill/>
          <a:ln/>
        </p:spPr>
        <p:txBody>
          <a:bodyPr wrap="square" lIns="0" tIns="0" rIns="0" bIns="0" rtlCol="0" anchor="t">
            <a:normAutofit/>
          </a:bodyPr>
          <a:lstStyle/>
          <a:p>
            <a:pPr marL="0" indent="0" algn="ctr">
              <a:buNone/>
            </a:pPr>
            <a:r>
              <a:rPr lang="en-US" sz="900" b="1" dirty="0">
                <a:solidFill>
                  <a:srgbClr val="DC2626"/>
                </a:solidFill>
                <a:highlight>
                  <a:srgbClr val="FFFF00"/>
                </a:highlight>
                <a:latin typeface="Aptos" pitchFamily="34" charset="0"/>
                <a:ea typeface="Aptos" pitchFamily="34" charset="-122"/>
                <a:cs typeface="Aptos" pitchFamily="34" charset="-120"/>
              </a:rPr>
              <a:t>post-outcome information</a:t>
            </a:r>
            <a:endParaRPr lang="en-US" sz="900" dirty="0">
              <a:highlight>
                <a:srgbClr val="FFFF00"/>
              </a:highlight>
            </a:endParaRPr>
          </a:p>
        </p:txBody>
      </p:sp>
      <p:sp>
        <p:nvSpPr>
          <p:cNvPr id="14" name="Text 11"/>
          <p:cNvSpPr/>
          <p:nvPr/>
        </p:nvSpPr>
        <p:spPr>
          <a:xfrm>
            <a:off x="777240" y="4754880"/>
            <a:ext cx="3886200" cy="594360"/>
          </a:xfrm>
          <a:prstGeom prst="rect">
            <a:avLst/>
          </a:prstGeom>
          <a:solidFill>
            <a:srgbClr val="FFFFFF"/>
          </a:solidFill>
          <a:ln w="15240">
            <a:solidFill>
              <a:srgbClr val="DC2626"/>
            </a:solidFill>
          </a:ln>
        </p:spPr>
        <p:txBody>
          <a:bodyPr wrap="square" lIns="1016" tIns="1016" rIns="1016" bIns="1016" rtlCol="0" anchor="ctr">
            <a:normAutofit/>
          </a:bodyPr>
          <a:lstStyle/>
          <a:p>
            <a:pPr marL="0" indent="0">
              <a:buNone/>
            </a:pPr>
            <a:r>
              <a:rPr lang="en-US" sz="950" dirty="0">
                <a:solidFill>
                  <a:srgbClr val="111827"/>
                </a:solidFill>
              </a:rPr>
              <a:t>Direct leakage: a feature such as hours until next failure includes the target itself.</a:t>
            </a:r>
            <a:endParaRPr lang="en-US" sz="950" dirty="0"/>
          </a:p>
        </p:txBody>
      </p:sp>
      <p:sp>
        <p:nvSpPr>
          <p:cNvPr id="15" name="Text 12"/>
          <p:cNvSpPr/>
          <p:nvPr/>
        </p:nvSpPr>
        <p:spPr>
          <a:xfrm>
            <a:off x="4937760" y="4754880"/>
            <a:ext cx="3840480" cy="594360"/>
          </a:xfrm>
          <a:prstGeom prst="rect">
            <a:avLst/>
          </a:prstGeom>
          <a:solidFill>
            <a:srgbClr val="FFFFFF"/>
          </a:solidFill>
          <a:ln w="15240">
            <a:solidFill>
              <a:srgbClr val="F59E0B"/>
            </a:solidFill>
          </a:ln>
        </p:spPr>
        <p:txBody>
          <a:bodyPr wrap="square" lIns="1016" tIns="1016" rIns="1016" bIns="1016" rtlCol="0" anchor="ctr">
            <a:normAutofit/>
          </a:bodyPr>
          <a:lstStyle/>
          <a:p>
            <a:pPr marL="0" indent="0">
              <a:buNone/>
            </a:pPr>
            <a:r>
              <a:rPr lang="en-US" sz="950" dirty="0">
                <a:solidFill>
                  <a:srgbClr val="111827"/>
                </a:solidFill>
              </a:rPr>
              <a:t>Proxy leakage: identifiers or operational codes may encode the outcome indirectly.</a:t>
            </a:r>
            <a:endParaRPr lang="en-US" sz="9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0678B2-7F00-4916-3D02-D1FF6E7745D9}"/>
              </a:ext>
            </a:extLst>
          </p:cNvPr>
          <p:cNvSpPr>
            <a:spLocks noGrp="1"/>
          </p:cNvSpPr>
          <p:nvPr>
            <p:ph type="title"/>
          </p:nvPr>
        </p:nvSpPr>
        <p:spPr/>
        <p:txBody>
          <a:bodyPr/>
          <a:lstStyle/>
          <a:p>
            <a:r>
              <a:rPr lang="en-GB" b="1" dirty="0"/>
              <a:t>Split first, fit preprocessing second</a:t>
            </a:r>
          </a:p>
        </p:txBody>
      </p:sp>
      <p:sp>
        <p:nvSpPr>
          <p:cNvPr id="3" name="Segnaposto contenuto 2">
            <a:extLst>
              <a:ext uri="{FF2B5EF4-FFF2-40B4-BE49-F238E27FC236}">
                <a16:creationId xmlns:a16="http://schemas.microsoft.com/office/drawing/2014/main" id="{CC5B5CE0-3EA1-B7E8-40A7-FEDBE3EA9A4B}"/>
              </a:ext>
            </a:extLst>
          </p:cNvPr>
          <p:cNvSpPr>
            <a:spLocks noGrp="1"/>
          </p:cNvSpPr>
          <p:nvPr>
            <p:ph sz="half" idx="1"/>
          </p:nvPr>
        </p:nvSpPr>
        <p:spPr>
          <a:xfrm>
            <a:off x="677334" y="2160588"/>
            <a:ext cx="5160102" cy="4522313"/>
          </a:xfrm>
        </p:spPr>
        <p:txBody>
          <a:bodyPr>
            <a:normAutofit fontScale="32500" lnSpcReduction="20000"/>
          </a:bodyPr>
          <a:lstStyle/>
          <a:p>
            <a:r>
              <a:rPr lang="en-GB" sz="2800" dirty="0"/>
              <a:t>Treat preprocessing, feature construction, feature selection, and prediction as a single modelling pipeline that is fitted using training data only.</a:t>
            </a:r>
          </a:p>
          <a:p>
            <a:r>
              <a:rPr lang="en-GB" sz="2800" dirty="0"/>
              <a:t>raw training data</a:t>
            </a:r>
          </a:p>
          <a:p>
            <a:r>
              <a:rPr lang="en-GB" sz="2800" dirty="0"/>
              <a:t>      ↓</a:t>
            </a:r>
          </a:p>
          <a:p>
            <a:r>
              <a:rPr lang="en-GB" sz="2800" b="1" dirty="0"/>
              <a:t>fit preprocessing</a:t>
            </a:r>
          </a:p>
          <a:p>
            <a:r>
              <a:rPr lang="en-GB" sz="2800" b="1" dirty="0"/>
              <a:t>      ↓</a:t>
            </a:r>
          </a:p>
          <a:p>
            <a:r>
              <a:rPr lang="en-GB" sz="2800" b="1" dirty="0"/>
              <a:t>transform training data</a:t>
            </a:r>
          </a:p>
          <a:p>
            <a:r>
              <a:rPr lang="en-GB" sz="2800" dirty="0"/>
              <a:t>      ↓</a:t>
            </a:r>
          </a:p>
          <a:p>
            <a:r>
              <a:rPr lang="en-GB" sz="2800" dirty="0"/>
              <a:t>fit model</a:t>
            </a:r>
          </a:p>
          <a:p>
            <a:endParaRPr lang="en-GB" sz="2800" dirty="0"/>
          </a:p>
          <a:p>
            <a:r>
              <a:rPr lang="en-GB" sz="2800" dirty="0"/>
              <a:t>For validation:</a:t>
            </a:r>
          </a:p>
          <a:p>
            <a:r>
              <a:rPr lang="en-GB" sz="2800" dirty="0"/>
              <a:t>raw validation data</a:t>
            </a:r>
          </a:p>
          <a:p>
            <a:r>
              <a:rPr lang="en-GB" sz="2800" dirty="0"/>
              <a:t>      ↓</a:t>
            </a:r>
          </a:p>
          <a:p>
            <a:r>
              <a:rPr lang="en-GB" sz="2800" b="1" dirty="0"/>
              <a:t>apply preprocessing fitted on training</a:t>
            </a:r>
          </a:p>
          <a:p>
            <a:r>
              <a:rPr lang="en-GB" sz="2800" dirty="0"/>
              <a:t>      ↓</a:t>
            </a:r>
          </a:p>
          <a:p>
            <a:r>
              <a:rPr lang="en-GB" sz="2800" b="1" dirty="0"/>
              <a:t>apply trained model</a:t>
            </a:r>
          </a:p>
          <a:p>
            <a:r>
              <a:rPr lang="en-GB" sz="2800" dirty="0"/>
              <a:t>      ↓</a:t>
            </a:r>
          </a:p>
          <a:p>
            <a:r>
              <a:rPr lang="en-GB" sz="2800" dirty="0"/>
              <a:t>compute validation metric</a:t>
            </a:r>
          </a:p>
          <a:p>
            <a:endParaRPr lang="en-GB" dirty="0"/>
          </a:p>
        </p:txBody>
      </p:sp>
      <p:sp>
        <p:nvSpPr>
          <p:cNvPr id="6" name="Segnaposto contenuto 5">
            <a:extLst>
              <a:ext uri="{FF2B5EF4-FFF2-40B4-BE49-F238E27FC236}">
                <a16:creationId xmlns:a16="http://schemas.microsoft.com/office/drawing/2014/main" id="{90C3379A-02A8-A24A-5DF4-84CA37F68573}"/>
              </a:ext>
            </a:extLst>
          </p:cNvPr>
          <p:cNvSpPr>
            <a:spLocks noGrp="1"/>
          </p:cNvSpPr>
          <p:nvPr>
            <p:ph sz="half" idx="2"/>
          </p:nvPr>
        </p:nvSpPr>
        <p:spPr>
          <a:xfrm>
            <a:off x="6354565" y="2200548"/>
            <a:ext cx="5007341" cy="3880773"/>
          </a:xfrm>
        </p:spPr>
        <p:txBody>
          <a:bodyPr>
            <a:normAutofit fontScale="32500" lnSpcReduction="20000"/>
          </a:bodyPr>
          <a:lstStyle/>
          <a:p>
            <a:r>
              <a:rPr lang="en-GB" sz="3000" b="1" dirty="0"/>
              <a:t>During rolling or expanding validation</a:t>
            </a:r>
          </a:p>
          <a:p>
            <a:r>
              <a:rPr lang="en-GB" sz="3000" b="1" dirty="0"/>
              <a:t>At every evaluation origin:</a:t>
            </a:r>
          </a:p>
          <a:p>
            <a:pPr lvl="1"/>
            <a:r>
              <a:rPr lang="en-GB" sz="2800" dirty="0"/>
              <a:t>define the currently available training interval;</a:t>
            </a:r>
          </a:p>
          <a:p>
            <a:pPr lvl="1"/>
            <a:r>
              <a:rPr lang="en-GB" sz="2800" dirty="0"/>
              <a:t>fit preprocessing using that interval;</a:t>
            </a:r>
          </a:p>
          <a:p>
            <a:pPr lvl="1"/>
            <a:r>
              <a:rPr lang="en-GB" sz="2800" dirty="0"/>
              <a:t>transform the current training data;</a:t>
            </a:r>
          </a:p>
          <a:p>
            <a:pPr lvl="1"/>
            <a:r>
              <a:rPr lang="en-GB" sz="2800" dirty="0"/>
              <a:t>fit the model;</a:t>
            </a:r>
          </a:p>
          <a:p>
            <a:pPr lvl="1"/>
            <a:r>
              <a:rPr lang="en-GB" sz="2800" dirty="0"/>
              <a:t>transform the following validation interval;</a:t>
            </a:r>
          </a:p>
          <a:p>
            <a:pPr lvl="1"/>
            <a:r>
              <a:rPr lang="en-GB" sz="2800" dirty="0"/>
              <a:t>evaluate.</a:t>
            </a:r>
          </a:p>
          <a:p>
            <a:r>
              <a:rPr lang="en-GB" sz="3000" b="1" dirty="0"/>
              <a:t>Preprocessing should therefore be refitted whenever the training set changes</a:t>
            </a:r>
            <a:r>
              <a:rPr lang="en-GB" dirty="0"/>
              <a:t>.</a:t>
            </a:r>
          </a:p>
          <a:p>
            <a:endParaRPr lang="en-GB" dirty="0"/>
          </a:p>
        </p:txBody>
      </p:sp>
      <p:sp>
        <p:nvSpPr>
          <p:cNvPr id="8" name="CasellaDiTesto 7">
            <a:extLst>
              <a:ext uri="{FF2B5EF4-FFF2-40B4-BE49-F238E27FC236}">
                <a16:creationId xmlns:a16="http://schemas.microsoft.com/office/drawing/2014/main" id="{B5335A27-9B7B-11A3-CD06-88B82FAD2A20}"/>
              </a:ext>
            </a:extLst>
          </p:cNvPr>
          <p:cNvSpPr txBox="1"/>
          <p:nvPr/>
        </p:nvSpPr>
        <p:spPr>
          <a:xfrm>
            <a:off x="2245259" y="1284069"/>
            <a:ext cx="6812031" cy="646331"/>
          </a:xfrm>
          <a:prstGeom prst="rect">
            <a:avLst/>
          </a:prstGeom>
          <a:noFill/>
        </p:spPr>
        <p:txBody>
          <a:bodyPr wrap="square">
            <a:spAutoFit/>
          </a:bodyPr>
          <a:lstStyle/>
          <a:p>
            <a:r>
              <a:rPr lang="en-GB" b="1" dirty="0"/>
              <a:t>Fit preprocessing parameters on the training data only, then apply the fitted transformation to validation and test data.</a:t>
            </a:r>
          </a:p>
        </p:txBody>
      </p:sp>
    </p:spTree>
    <p:extLst>
      <p:ext uri="{BB962C8B-B14F-4D97-AF65-F5344CB8AC3E}">
        <p14:creationId xmlns:p14="http://schemas.microsoft.com/office/powerpoint/2010/main" val="413687552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26B18E3-20F9-00F5-B3D2-949E4C22E1D0}"/>
              </a:ext>
            </a:extLst>
          </p:cNvPr>
          <p:cNvSpPr>
            <a:spLocks noGrp="1"/>
          </p:cNvSpPr>
          <p:nvPr>
            <p:ph type="title"/>
          </p:nvPr>
        </p:nvSpPr>
        <p:spPr/>
        <p:txBody>
          <a:bodyPr/>
          <a:lstStyle/>
          <a:p>
            <a:r>
              <a:rPr lang="en-GB" dirty="0"/>
              <a:t>Examples of pipeline components</a:t>
            </a:r>
          </a:p>
        </p:txBody>
      </p:sp>
      <p:sp>
        <p:nvSpPr>
          <p:cNvPr id="3" name="Segnaposto contenuto 2">
            <a:extLst>
              <a:ext uri="{FF2B5EF4-FFF2-40B4-BE49-F238E27FC236}">
                <a16:creationId xmlns:a16="http://schemas.microsoft.com/office/drawing/2014/main" id="{8B1551E0-1CDE-20EF-6CA3-DBC90E6C85DA}"/>
              </a:ext>
            </a:extLst>
          </p:cNvPr>
          <p:cNvSpPr>
            <a:spLocks noGrp="1"/>
          </p:cNvSpPr>
          <p:nvPr>
            <p:ph idx="1"/>
          </p:nvPr>
        </p:nvSpPr>
        <p:spPr/>
        <p:txBody>
          <a:bodyPr>
            <a:normAutofit fontScale="47500" lnSpcReduction="20000"/>
          </a:bodyPr>
          <a:lstStyle/>
          <a:p>
            <a:r>
              <a:rPr lang="en-GB" dirty="0"/>
              <a:t>imputation</a:t>
            </a:r>
          </a:p>
          <a:p>
            <a:r>
              <a:rPr lang="en-GB" dirty="0"/>
              <a:t>   ↓</a:t>
            </a:r>
          </a:p>
          <a:p>
            <a:r>
              <a:rPr lang="en-GB" dirty="0"/>
              <a:t>standardization</a:t>
            </a:r>
          </a:p>
          <a:p>
            <a:r>
              <a:rPr lang="en-GB" dirty="0"/>
              <a:t>   ↓</a:t>
            </a:r>
          </a:p>
          <a:p>
            <a:r>
              <a:rPr lang="en-GB" dirty="0"/>
              <a:t>feature extraction</a:t>
            </a:r>
          </a:p>
          <a:p>
            <a:r>
              <a:rPr lang="en-GB" dirty="0"/>
              <a:t>   ↓</a:t>
            </a:r>
          </a:p>
          <a:p>
            <a:r>
              <a:rPr lang="en-GB" dirty="0"/>
              <a:t>feature selection</a:t>
            </a:r>
          </a:p>
          <a:p>
            <a:r>
              <a:rPr lang="en-GB" dirty="0"/>
              <a:t>   ↓</a:t>
            </a:r>
          </a:p>
          <a:p>
            <a:r>
              <a:rPr lang="en-GB" dirty="0"/>
              <a:t>predictive model</a:t>
            </a:r>
          </a:p>
          <a:p>
            <a:r>
              <a:rPr lang="en-GB" dirty="0"/>
              <a:t>Every fitted component must respect the same training boundary.</a:t>
            </a:r>
          </a:p>
          <a:p>
            <a:endParaRPr lang="en-GB" b="1" dirty="0"/>
          </a:p>
          <a:p>
            <a:r>
              <a:rPr lang="en-GB" b="1" dirty="0"/>
              <a:t>Practical implementation</a:t>
            </a:r>
          </a:p>
          <a:p>
            <a:r>
              <a:rPr lang="en-GB" dirty="0"/>
              <a:t>Using a software pipeline helps ensure that:</a:t>
            </a:r>
          </a:p>
          <a:p>
            <a:pPr lvl="1"/>
            <a:r>
              <a:rPr lang="en-GB" dirty="0"/>
              <a:t>fitted transformations are learned from training only;</a:t>
            </a:r>
          </a:p>
          <a:p>
            <a:pPr lvl="1"/>
            <a:r>
              <a:rPr lang="en-GB" dirty="0"/>
              <a:t>exactly the same transformations are applied to validation and test;</a:t>
            </a:r>
          </a:p>
          <a:p>
            <a:pPr lvl="1"/>
            <a:r>
              <a:rPr lang="en-GB" dirty="0"/>
              <a:t>model evaluation is reproducible.</a:t>
            </a:r>
          </a:p>
          <a:p>
            <a:endParaRPr lang="en-GB" dirty="0"/>
          </a:p>
        </p:txBody>
      </p:sp>
    </p:spTree>
    <p:extLst>
      <p:ext uri="{BB962C8B-B14F-4D97-AF65-F5344CB8AC3E}">
        <p14:creationId xmlns:p14="http://schemas.microsoft.com/office/powerpoint/2010/main" val="211988749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2.E</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The full pipeline must respect the evaluation boundary</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Preprocessing, feature transformations and the model form one trainable pipeline.</a:t>
            </a:r>
            <a:endParaRPr lang="en-US" sz="950" dirty="0"/>
          </a:p>
        </p:txBody>
      </p:sp>
      <p:sp>
        <p:nvSpPr>
          <p:cNvPr id="6" name="Text 3"/>
          <p:cNvSpPr/>
          <p:nvPr/>
        </p:nvSpPr>
        <p:spPr>
          <a:xfrm>
            <a:off x="777240" y="1097280"/>
            <a:ext cx="1097280" cy="274320"/>
          </a:xfrm>
          <a:prstGeom prst="rect">
            <a:avLst/>
          </a:prstGeom>
          <a:noFill/>
          <a:ln/>
        </p:spPr>
        <p:txBody>
          <a:bodyPr wrap="square" lIns="0" tIns="0" rIns="0" bIns="0" rtlCol="0" anchor="t">
            <a:normAutofit/>
          </a:bodyPr>
          <a:lstStyle/>
          <a:p>
            <a:pPr marL="0" indent="0" algn="l">
              <a:buNone/>
            </a:pPr>
            <a:r>
              <a:rPr lang="en-US" sz="1300" b="1" dirty="0">
                <a:solidFill>
                  <a:srgbClr val="2563EB"/>
                </a:solidFill>
                <a:latin typeface="Aptos" pitchFamily="34" charset="0"/>
                <a:ea typeface="Aptos" pitchFamily="34" charset="-122"/>
                <a:cs typeface="Aptos" pitchFamily="34" charset="-120"/>
              </a:rPr>
              <a:t>Training</a:t>
            </a:r>
            <a:endParaRPr lang="en-US" sz="1300" dirty="0"/>
          </a:p>
        </p:txBody>
      </p:sp>
      <p:sp>
        <p:nvSpPr>
          <p:cNvPr id="7" name="Text 4"/>
          <p:cNvSpPr/>
          <p:nvPr/>
        </p:nvSpPr>
        <p:spPr>
          <a:xfrm>
            <a:off x="777240" y="1508760"/>
            <a:ext cx="1911096" cy="59436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raw training</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data</a:t>
            </a:r>
            <a:endParaRPr lang="en-US" sz="1000" dirty="0"/>
          </a:p>
        </p:txBody>
      </p:sp>
      <p:sp>
        <p:nvSpPr>
          <p:cNvPr id="8" name="Shape 5"/>
          <p:cNvSpPr/>
          <p:nvPr/>
        </p:nvSpPr>
        <p:spPr>
          <a:xfrm>
            <a:off x="2706624" y="1805940"/>
            <a:ext cx="109728" cy="0"/>
          </a:xfrm>
          <a:prstGeom prst="line">
            <a:avLst/>
          </a:prstGeom>
          <a:noFill/>
          <a:ln w="20320">
            <a:solidFill>
              <a:srgbClr val="5C9A17"/>
            </a:solidFill>
            <a:prstDash val="solid"/>
            <a:tailEnd type="triangle"/>
          </a:ln>
        </p:spPr>
        <p:txBody>
          <a:bodyPr/>
          <a:lstStyle/>
          <a:p>
            <a:endParaRPr lang="en-GB"/>
          </a:p>
        </p:txBody>
      </p:sp>
      <p:sp>
        <p:nvSpPr>
          <p:cNvPr id="9" name="Text 6"/>
          <p:cNvSpPr/>
          <p:nvPr/>
        </p:nvSpPr>
        <p:spPr>
          <a:xfrm>
            <a:off x="2852928" y="1508760"/>
            <a:ext cx="1911096" cy="59436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preprocessing</a:t>
            </a:r>
            <a:endParaRPr lang="en-US" sz="1000" dirty="0"/>
          </a:p>
        </p:txBody>
      </p:sp>
      <p:sp>
        <p:nvSpPr>
          <p:cNvPr id="10" name="Shape 7"/>
          <p:cNvSpPr/>
          <p:nvPr/>
        </p:nvSpPr>
        <p:spPr>
          <a:xfrm>
            <a:off x="4782312" y="1805940"/>
            <a:ext cx="109728" cy="0"/>
          </a:xfrm>
          <a:prstGeom prst="line">
            <a:avLst/>
          </a:prstGeom>
          <a:noFill/>
          <a:ln w="20320">
            <a:solidFill>
              <a:srgbClr val="5C9A17"/>
            </a:solidFill>
            <a:prstDash val="solid"/>
            <a:tailEnd type="triangle"/>
          </a:ln>
        </p:spPr>
        <p:txBody>
          <a:bodyPr/>
          <a:lstStyle/>
          <a:p>
            <a:endParaRPr lang="en-GB"/>
          </a:p>
        </p:txBody>
      </p:sp>
      <p:sp>
        <p:nvSpPr>
          <p:cNvPr id="11" name="Text 8"/>
          <p:cNvSpPr/>
          <p:nvPr/>
        </p:nvSpPr>
        <p:spPr>
          <a:xfrm>
            <a:off x="4928616" y="1508760"/>
            <a:ext cx="1911096" cy="59436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transform</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training</a:t>
            </a:r>
            <a:endParaRPr lang="en-US" sz="1000" dirty="0"/>
          </a:p>
        </p:txBody>
      </p:sp>
      <p:sp>
        <p:nvSpPr>
          <p:cNvPr id="12" name="Shape 9"/>
          <p:cNvSpPr/>
          <p:nvPr/>
        </p:nvSpPr>
        <p:spPr>
          <a:xfrm>
            <a:off x="6858000" y="1805940"/>
            <a:ext cx="109728" cy="0"/>
          </a:xfrm>
          <a:prstGeom prst="line">
            <a:avLst/>
          </a:prstGeom>
          <a:noFill/>
          <a:ln w="20320">
            <a:solidFill>
              <a:srgbClr val="5C9A17"/>
            </a:solidFill>
            <a:prstDash val="solid"/>
            <a:tailEnd type="triangle"/>
          </a:ln>
        </p:spPr>
        <p:txBody>
          <a:bodyPr/>
          <a:lstStyle/>
          <a:p>
            <a:endParaRPr lang="en-GB"/>
          </a:p>
        </p:txBody>
      </p:sp>
      <p:sp>
        <p:nvSpPr>
          <p:cNvPr id="13" name="Text 10"/>
          <p:cNvSpPr/>
          <p:nvPr/>
        </p:nvSpPr>
        <p:spPr>
          <a:xfrm>
            <a:off x="7004304" y="1508760"/>
            <a:ext cx="1911096" cy="59436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model</a:t>
            </a:r>
            <a:endParaRPr lang="en-US" sz="1000" dirty="0"/>
          </a:p>
        </p:txBody>
      </p:sp>
      <p:sp>
        <p:nvSpPr>
          <p:cNvPr id="14" name="Text 11"/>
          <p:cNvSpPr/>
          <p:nvPr/>
        </p:nvSpPr>
        <p:spPr>
          <a:xfrm>
            <a:off x="777240" y="2834640"/>
            <a:ext cx="1645920" cy="274320"/>
          </a:xfrm>
          <a:prstGeom prst="rect">
            <a:avLst/>
          </a:prstGeom>
          <a:noFill/>
          <a:ln/>
        </p:spPr>
        <p:txBody>
          <a:bodyPr wrap="square" lIns="0" tIns="0" rIns="0" bIns="0" rtlCol="0" anchor="t">
            <a:normAutofit/>
          </a:bodyPr>
          <a:lstStyle/>
          <a:p>
            <a:pPr marL="0" indent="0" algn="l">
              <a:buNone/>
            </a:pPr>
            <a:r>
              <a:rPr lang="en-US" sz="1300" b="1" dirty="0">
                <a:solidFill>
                  <a:srgbClr val="F59E0B"/>
                </a:solidFill>
                <a:latin typeface="Aptos" pitchFamily="34" charset="0"/>
                <a:ea typeface="Aptos" pitchFamily="34" charset="-122"/>
                <a:cs typeface="Aptos" pitchFamily="34" charset="-120"/>
              </a:rPr>
              <a:t>Validation / Test</a:t>
            </a:r>
            <a:endParaRPr lang="en-US" sz="1300" dirty="0"/>
          </a:p>
        </p:txBody>
      </p:sp>
      <p:sp>
        <p:nvSpPr>
          <p:cNvPr id="15" name="Text 12"/>
          <p:cNvSpPr/>
          <p:nvPr/>
        </p:nvSpPr>
        <p:spPr>
          <a:xfrm>
            <a:off x="777240" y="3246120"/>
            <a:ext cx="1911096" cy="59436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raw validation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or test data</a:t>
            </a:r>
            <a:endParaRPr lang="en-US" sz="1000" dirty="0"/>
          </a:p>
        </p:txBody>
      </p:sp>
      <p:sp>
        <p:nvSpPr>
          <p:cNvPr id="16" name="Shape 13"/>
          <p:cNvSpPr/>
          <p:nvPr/>
        </p:nvSpPr>
        <p:spPr>
          <a:xfrm>
            <a:off x="2706624" y="3543300"/>
            <a:ext cx="109728" cy="0"/>
          </a:xfrm>
          <a:prstGeom prst="line">
            <a:avLst/>
          </a:prstGeom>
          <a:noFill/>
          <a:ln w="20320">
            <a:solidFill>
              <a:srgbClr val="5C9A17"/>
            </a:solidFill>
            <a:prstDash val="solid"/>
            <a:tailEnd type="triangle"/>
          </a:ln>
        </p:spPr>
        <p:txBody>
          <a:bodyPr/>
          <a:lstStyle/>
          <a:p>
            <a:endParaRPr lang="en-GB"/>
          </a:p>
        </p:txBody>
      </p:sp>
      <p:sp>
        <p:nvSpPr>
          <p:cNvPr id="17" name="Text 14"/>
          <p:cNvSpPr/>
          <p:nvPr/>
        </p:nvSpPr>
        <p:spPr>
          <a:xfrm>
            <a:off x="2852928" y="3246120"/>
            <a:ext cx="1911096" cy="59436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apply training-fitted</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preprocessing</a:t>
            </a:r>
            <a:endParaRPr lang="en-US" sz="1000" dirty="0"/>
          </a:p>
        </p:txBody>
      </p:sp>
      <p:sp>
        <p:nvSpPr>
          <p:cNvPr id="18" name="Shape 15"/>
          <p:cNvSpPr/>
          <p:nvPr/>
        </p:nvSpPr>
        <p:spPr>
          <a:xfrm>
            <a:off x="4782312" y="3543300"/>
            <a:ext cx="109728" cy="0"/>
          </a:xfrm>
          <a:prstGeom prst="line">
            <a:avLst/>
          </a:prstGeom>
          <a:noFill/>
          <a:ln w="20320">
            <a:solidFill>
              <a:srgbClr val="5C9A17"/>
            </a:solidFill>
            <a:prstDash val="solid"/>
            <a:tailEnd type="triangle"/>
          </a:ln>
        </p:spPr>
        <p:txBody>
          <a:bodyPr/>
          <a:lstStyle/>
          <a:p>
            <a:endParaRPr lang="en-GB"/>
          </a:p>
        </p:txBody>
      </p:sp>
      <p:sp>
        <p:nvSpPr>
          <p:cNvPr id="19" name="Text 16"/>
          <p:cNvSpPr/>
          <p:nvPr/>
        </p:nvSpPr>
        <p:spPr>
          <a:xfrm>
            <a:off x="4928616" y="3246120"/>
            <a:ext cx="1911096" cy="59436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apply trained</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model</a:t>
            </a:r>
            <a:endParaRPr lang="en-US" sz="1000" dirty="0"/>
          </a:p>
        </p:txBody>
      </p:sp>
      <p:sp>
        <p:nvSpPr>
          <p:cNvPr id="20" name="Shape 17"/>
          <p:cNvSpPr/>
          <p:nvPr/>
        </p:nvSpPr>
        <p:spPr>
          <a:xfrm>
            <a:off x="6858000" y="3543300"/>
            <a:ext cx="109728" cy="0"/>
          </a:xfrm>
          <a:prstGeom prst="line">
            <a:avLst/>
          </a:prstGeom>
          <a:noFill/>
          <a:ln w="20320">
            <a:solidFill>
              <a:srgbClr val="5C9A17"/>
            </a:solidFill>
            <a:prstDash val="solid"/>
            <a:tailEnd type="triangle"/>
          </a:ln>
        </p:spPr>
        <p:txBody>
          <a:bodyPr/>
          <a:lstStyle/>
          <a:p>
            <a:endParaRPr lang="en-GB"/>
          </a:p>
        </p:txBody>
      </p:sp>
      <p:sp>
        <p:nvSpPr>
          <p:cNvPr id="21" name="Text 18"/>
          <p:cNvSpPr/>
          <p:nvPr/>
        </p:nvSpPr>
        <p:spPr>
          <a:xfrm>
            <a:off x="7004304" y="3246120"/>
            <a:ext cx="1911096" cy="59436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compute</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metric</a:t>
            </a:r>
            <a:endParaRPr lang="en-US" sz="1000" dirty="0"/>
          </a:p>
        </p:txBody>
      </p:sp>
      <p:sp>
        <p:nvSpPr>
          <p:cNvPr id="22" name="Text 19"/>
          <p:cNvSpPr/>
          <p:nvPr/>
        </p:nvSpPr>
        <p:spPr>
          <a:xfrm>
            <a:off x="1051560" y="4983480"/>
            <a:ext cx="6949440" cy="64008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If the training interval changes in a rolling-origin evaluation, the fitted preprocessing must be refitted using the new training interval.</a:t>
            </a:r>
            <a:endParaRPr lang="en-US" sz="9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4FE284-3AFA-6844-6BA0-EA8C71586DEC}"/>
              </a:ext>
            </a:extLst>
          </p:cNvPr>
          <p:cNvSpPr>
            <a:spLocks noGrp="1"/>
          </p:cNvSpPr>
          <p:nvPr>
            <p:ph type="title"/>
          </p:nvPr>
        </p:nvSpPr>
        <p:spPr/>
        <p:txBody>
          <a:bodyPr/>
          <a:lstStyle/>
          <a:p>
            <a:r>
              <a:rPr lang="it-IT" dirty="0"/>
              <a:t>Block </a:t>
            </a:r>
            <a:r>
              <a:rPr lang="en-GB" dirty="0"/>
              <a:t>2.F — Validation, Model Selection and Final Testing</a:t>
            </a:r>
          </a:p>
        </p:txBody>
      </p:sp>
      <p:sp>
        <p:nvSpPr>
          <p:cNvPr id="3" name="Segnaposto contenuto 2">
            <a:extLst>
              <a:ext uri="{FF2B5EF4-FFF2-40B4-BE49-F238E27FC236}">
                <a16:creationId xmlns:a16="http://schemas.microsoft.com/office/drawing/2014/main" id="{41CD68D3-D2DF-A7A6-76B8-1265ECF2CE56}"/>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21968305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4439DE5-B8FC-C359-A7E8-6C8BA1F0721B}"/>
              </a:ext>
            </a:extLst>
          </p:cNvPr>
          <p:cNvSpPr>
            <a:spLocks noGrp="1"/>
          </p:cNvSpPr>
          <p:nvPr>
            <p:ph type="title"/>
          </p:nvPr>
        </p:nvSpPr>
        <p:spPr/>
        <p:txBody>
          <a:bodyPr/>
          <a:lstStyle/>
          <a:p>
            <a:r>
              <a:rPr lang="en-GB" dirty="0"/>
              <a:t>Validation is part of model development</a:t>
            </a:r>
          </a:p>
        </p:txBody>
      </p:sp>
      <p:sp>
        <p:nvSpPr>
          <p:cNvPr id="3" name="Segnaposto contenuto 2">
            <a:extLst>
              <a:ext uri="{FF2B5EF4-FFF2-40B4-BE49-F238E27FC236}">
                <a16:creationId xmlns:a16="http://schemas.microsoft.com/office/drawing/2014/main" id="{4838CDB3-53F8-A79F-6E25-8D8906DE4492}"/>
              </a:ext>
            </a:extLst>
          </p:cNvPr>
          <p:cNvSpPr>
            <a:spLocks noGrp="1"/>
          </p:cNvSpPr>
          <p:nvPr>
            <p:ph idx="1"/>
          </p:nvPr>
        </p:nvSpPr>
        <p:spPr/>
        <p:txBody>
          <a:bodyPr>
            <a:normAutofit fontScale="85000" lnSpcReduction="20000"/>
          </a:bodyPr>
          <a:lstStyle/>
          <a:p>
            <a:r>
              <a:rPr lang="en-GB" dirty="0"/>
              <a:t>The validation set is not an independent final assessment.</a:t>
            </a:r>
          </a:p>
          <a:p>
            <a:r>
              <a:rPr lang="en-GB" dirty="0"/>
              <a:t>Its performance is repeatedly observed during development.</a:t>
            </a:r>
          </a:p>
          <a:p>
            <a:r>
              <a:rPr lang="en-GB" b="1" dirty="0"/>
              <a:t>Validation may influence</a:t>
            </a:r>
          </a:p>
          <a:p>
            <a:pPr lvl="1"/>
            <a:r>
              <a:rPr lang="en-GB" dirty="0"/>
              <a:t>window length;</a:t>
            </a:r>
          </a:p>
          <a:p>
            <a:pPr lvl="1"/>
            <a:r>
              <a:rPr lang="en-GB" dirty="0"/>
              <a:t>stride;</a:t>
            </a:r>
          </a:p>
          <a:p>
            <a:pPr lvl="1"/>
            <a:r>
              <a:rPr lang="en-GB" dirty="0"/>
              <a:t>selected input variables;</a:t>
            </a:r>
          </a:p>
          <a:p>
            <a:pPr lvl="1"/>
            <a:r>
              <a:rPr lang="en-GB" dirty="0"/>
              <a:t>engineered features;</a:t>
            </a:r>
          </a:p>
          <a:p>
            <a:pPr lvl="1"/>
            <a:r>
              <a:rPr lang="en-GB" dirty="0"/>
              <a:t>model family;</a:t>
            </a:r>
          </a:p>
          <a:p>
            <a:pPr lvl="1"/>
            <a:r>
              <a:rPr lang="en-GB" dirty="0"/>
              <a:t>model complexity;</a:t>
            </a:r>
          </a:p>
          <a:p>
            <a:pPr lvl="1"/>
            <a:r>
              <a:rPr lang="en-GB" dirty="0"/>
              <a:t>regularization;</a:t>
            </a:r>
          </a:p>
          <a:p>
            <a:pPr lvl="1"/>
            <a:r>
              <a:rPr lang="en-GB" dirty="0"/>
              <a:t>learning settings;</a:t>
            </a:r>
          </a:p>
          <a:p>
            <a:pPr lvl="1"/>
            <a:r>
              <a:rPr lang="en-GB" dirty="0"/>
              <a:t>stopping criteria;</a:t>
            </a:r>
          </a:p>
          <a:p>
            <a:pPr lvl="1"/>
            <a:r>
              <a:rPr lang="en-GB" dirty="0"/>
              <a:t>classification threshold.</a:t>
            </a:r>
          </a:p>
          <a:p>
            <a:endParaRPr lang="en-GB" dirty="0"/>
          </a:p>
        </p:txBody>
      </p:sp>
    </p:spTree>
    <p:extLst>
      <p:ext uri="{BB962C8B-B14F-4D97-AF65-F5344CB8AC3E}">
        <p14:creationId xmlns:p14="http://schemas.microsoft.com/office/powerpoint/2010/main" val="6487692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788351-5392-4DC2-B87D-BFFA6F423753}"/>
              </a:ext>
            </a:extLst>
          </p:cNvPr>
          <p:cNvSpPr>
            <a:spLocks noGrp="1"/>
          </p:cNvSpPr>
          <p:nvPr>
            <p:ph type="title"/>
          </p:nvPr>
        </p:nvSpPr>
        <p:spPr/>
        <p:txBody>
          <a:bodyPr/>
          <a:lstStyle/>
          <a:p>
            <a:r>
              <a:rPr lang="it-IT" dirty="0" err="1"/>
              <a:t>Example</a:t>
            </a:r>
            <a:r>
              <a:rPr lang="it-IT" dirty="0"/>
              <a:t> and </a:t>
            </a:r>
            <a:r>
              <a:rPr lang="it-IT" dirty="0" err="1"/>
              <a:t>consequence</a:t>
            </a:r>
            <a:endParaRPr lang="en-GB" dirty="0"/>
          </a:p>
        </p:txBody>
      </p:sp>
      <p:sp>
        <p:nvSpPr>
          <p:cNvPr id="3" name="Segnaposto contenuto 2">
            <a:extLst>
              <a:ext uri="{FF2B5EF4-FFF2-40B4-BE49-F238E27FC236}">
                <a16:creationId xmlns:a16="http://schemas.microsoft.com/office/drawing/2014/main" id="{70BBF3AB-D003-A117-994C-5F4D4D4A4338}"/>
              </a:ext>
            </a:extLst>
          </p:cNvPr>
          <p:cNvSpPr>
            <a:spLocks noGrp="1"/>
          </p:cNvSpPr>
          <p:nvPr>
            <p:ph idx="1"/>
          </p:nvPr>
        </p:nvSpPr>
        <p:spPr/>
        <p:txBody>
          <a:bodyPr>
            <a:normAutofit fontScale="62500" lnSpcReduction="20000"/>
          </a:bodyPr>
          <a:lstStyle/>
          <a:p>
            <a:r>
              <a:rPr lang="en-GB" b="1" dirty="0"/>
              <a:t>Suppose three models are evaluated:</a:t>
            </a:r>
          </a:p>
          <a:p>
            <a:pPr lvl="1"/>
            <a:r>
              <a:rPr lang="en-GB" dirty="0"/>
              <a:t>Model A: validation accuracy = 82%</a:t>
            </a:r>
          </a:p>
          <a:p>
            <a:pPr lvl="1"/>
            <a:r>
              <a:rPr lang="en-GB" dirty="0"/>
              <a:t>Model B: validation accuracy = 87%</a:t>
            </a:r>
          </a:p>
          <a:p>
            <a:pPr lvl="1"/>
            <a:r>
              <a:rPr lang="en-GB" dirty="0"/>
              <a:t>Model C: validation accuracy = 84%</a:t>
            </a:r>
          </a:p>
          <a:p>
            <a:r>
              <a:rPr lang="en-GB" dirty="0"/>
              <a:t>Model B is selected because of its validation performance.</a:t>
            </a:r>
          </a:p>
          <a:p>
            <a:r>
              <a:rPr lang="en-GB" dirty="0"/>
              <a:t>Therefore: information from the validation set has influenced the final model choice.</a:t>
            </a:r>
          </a:p>
          <a:p>
            <a:r>
              <a:rPr lang="en-GB" dirty="0"/>
              <a:t>This is legitimate. But the validation score is no longer an unbiased estimate of completely unseen-data performance.</a:t>
            </a:r>
          </a:p>
          <a:p>
            <a:endParaRPr lang="en-GB" b="1" dirty="0"/>
          </a:p>
          <a:p>
            <a:r>
              <a:rPr lang="en-GB" b="1" dirty="0"/>
              <a:t>Key distinction</a:t>
            </a:r>
          </a:p>
          <a:p>
            <a:r>
              <a:rPr lang="en-GB" dirty="0"/>
              <a:t>Training data   → fit parameters</a:t>
            </a:r>
          </a:p>
          <a:p>
            <a:endParaRPr lang="en-GB" dirty="0"/>
          </a:p>
          <a:p>
            <a:r>
              <a:rPr lang="en-GB" dirty="0"/>
              <a:t>Validation data → choose the modelling solution</a:t>
            </a:r>
          </a:p>
          <a:p>
            <a:endParaRPr lang="en-GB" dirty="0"/>
          </a:p>
          <a:p>
            <a:r>
              <a:rPr lang="en-GB" dirty="0"/>
              <a:t>Test data       → evaluate the chosen solution</a:t>
            </a:r>
          </a:p>
          <a:p>
            <a:endParaRPr lang="en-GB" dirty="0"/>
          </a:p>
        </p:txBody>
      </p:sp>
    </p:spTree>
    <p:extLst>
      <p:ext uri="{BB962C8B-B14F-4D97-AF65-F5344CB8AC3E}">
        <p14:creationId xmlns:p14="http://schemas.microsoft.com/office/powerpoint/2010/main" val="1274446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2.F</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Validation is part of model development</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Validation data guide decisions; test data evaluate the final frozen solution.</a:t>
            </a:r>
            <a:endParaRPr lang="en-US" sz="950" dirty="0"/>
          </a:p>
        </p:txBody>
      </p:sp>
      <p:sp>
        <p:nvSpPr>
          <p:cNvPr id="6" name="Text 3"/>
          <p:cNvSpPr/>
          <p:nvPr/>
        </p:nvSpPr>
        <p:spPr>
          <a:xfrm>
            <a:off x="685800" y="1828800"/>
            <a:ext cx="1569110" cy="64008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training data</a:t>
            </a:r>
            <a:endParaRPr lang="en-US" sz="1000" dirty="0"/>
          </a:p>
        </p:txBody>
      </p:sp>
      <p:sp>
        <p:nvSpPr>
          <p:cNvPr id="7" name="Shape 4"/>
          <p:cNvSpPr/>
          <p:nvPr/>
        </p:nvSpPr>
        <p:spPr>
          <a:xfrm>
            <a:off x="2273198" y="2148840"/>
            <a:ext cx="109728" cy="0"/>
          </a:xfrm>
          <a:prstGeom prst="line">
            <a:avLst/>
          </a:prstGeom>
          <a:noFill/>
          <a:ln w="20320">
            <a:solidFill>
              <a:srgbClr val="5C9A17"/>
            </a:solidFill>
            <a:prstDash val="solid"/>
            <a:tailEnd type="triangle"/>
          </a:ln>
        </p:spPr>
        <p:txBody>
          <a:bodyPr/>
          <a:lstStyle/>
          <a:p>
            <a:endParaRPr lang="en-GB"/>
          </a:p>
        </p:txBody>
      </p:sp>
      <p:sp>
        <p:nvSpPr>
          <p:cNvPr id="8" name="Text 5"/>
          <p:cNvSpPr/>
          <p:nvPr/>
        </p:nvSpPr>
        <p:spPr>
          <a:xfrm>
            <a:off x="2419502" y="1828800"/>
            <a:ext cx="1569110" cy="640080"/>
          </a:xfrm>
          <a:prstGeom prst="roundRect">
            <a:avLst/>
          </a:prstGeom>
          <a:solidFill>
            <a:srgbClr val="7C3AED"/>
          </a:solidFill>
          <a:ln w="12700">
            <a:solidFill>
              <a:srgbClr val="7C3AED"/>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candidate</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models</a:t>
            </a:r>
            <a:endParaRPr lang="en-US" sz="1000" dirty="0"/>
          </a:p>
        </p:txBody>
      </p:sp>
      <p:sp>
        <p:nvSpPr>
          <p:cNvPr id="9" name="Shape 6"/>
          <p:cNvSpPr/>
          <p:nvPr/>
        </p:nvSpPr>
        <p:spPr>
          <a:xfrm>
            <a:off x="4006901" y="2148840"/>
            <a:ext cx="109728" cy="0"/>
          </a:xfrm>
          <a:prstGeom prst="line">
            <a:avLst/>
          </a:prstGeom>
          <a:noFill/>
          <a:ln w="20320">
            <a:solidFill>
              <a:srgbClr val="5C9A17"/>
            </a:solidFill>
            <a:prstDash val="solid"/>
            <a:tailEnd type="triangle"/>
          </a:ln>
        </p:spPr>
        <p:txBody>
          <a:bodyPr/>
          <a:lstStyle/>
          <a:p>
            <a:endParaRPr lang="en-GB"/>
          </a:p>
        </p:txBody>
      </p:sp>
      <p:sp>
        <p:nvSpPr>
          <p:cNvPr id="10" name="Text 7"/>
          <p:cNvSpPr/>
          <p:nvPr/>
        </p:nvSpPr>
        <p:spPr>
          <a:xfrm>
            <a:off x="4153205" y="1828800"/>
            <a:ext cx="1569110" cy="64008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validation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comparison</a:t>
            </a:r>
            <a:endParaRPr lang="en-US" sz="1000" dirty="0"/>
          </a:p>
        </p:txBody>
      </p:sp>
      <p:sp>
        <p:nvSpPr>
          <p:cNvPr id="11" name="Shape 8"/>
          <p:cNvSpPr/>
          <p:nvPr/>
        </p:nvSpPr>
        <p:spPr>
          <a:xfrm>
            <a:off x="5740603" y="2148840"/>
            <a:ext cx="109728" cy="0"/>
          </a:xfrm>
          <a:prstGeom prst="line">
            <a:avLst/>
          </a:prstGeom>
          <a:noFill/>
          <a:ln w="20320">
            <a:solidFill>
              <a:srgbClr val="5C9A17"/>
            </a:solidFill>
            <a:prstDash val="solid"/>
            <a:tailEnd type="triangle"/>
          </a:ln>
        </p:spPr>
        <p:txBody>
          <a:bodyPr/>
          <a:lstStyle/>
          <a:p>
            <a:endParaRPr lang="en-GB"/>
          </a:p>
        </p:txBody>
      </p:sp>
      <p:sp>
        <p:nvSpPr>
          <p:cNvPr id="12" name="Text 9"/>
          <p:cNvSpPr/>
          <p:nvPr/>
        </p:nvSpPr>
        <p:spPr>
          <a:xfrm>
            <a:off x="5886907" y="1828800"/>
            <a:ext cx="1569110" cy="64008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selected</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solution</a:t>
            </a:r>
            <a:endParaRPr lang="en-US" sz="1000" dirty="0"/>
          </a:p>
        </p:txBody>
      </p:sp>
      <p:sp>
        <p:nvSpPr>
          <p:cNvPr id="13" name="Shape 10"/>
          <p:cNvSpPr/>
          <p:nvPr/>
        </p:nvSpPr>
        <p:spPr>
          <a:xfrm>
            <a:off x="7474306" y="2148840"/>
            <a:ext cx="109728" cy="0"/>
          </a:xfrm>
          <a:prstGeom prst="line">
            <a:avLst/>
          </a:prstGeom>
          <a:noFill/>
          <a:ln w="20320">
            <a:solidFill>
              <a:srgbClr val="5C9A17"/>
            </a:solidFill>
            <a:prstDash val="solid"/>
            <a:tailEnd type="triangle"/>
          </a:ln>
        </p:spPr>
        <p:txBody>
          <a:bodyPr/>
          <a:lstStyle/>
          <a:p>
            <a:endParaRPr lang="en-GB"/>
          </a:p>
        </p:txBody>
      </p:sp>
      <p:sp>
        <p:nvSpPr>
          <p:cNvPr id="14" name="Text 11"/>
          <p:cNvSpPr/>
          <p:nvPr/>
        </p:nvSpPr>
        <p:spPr>
          <a:xfrm>
            <a:off x="7620610" y="1828800"/>
            <a:ext cx="1569110" cy="64008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test</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evaluation</a:t>
            </a:r>
            <a:endParaRPr lang="en-US" sz="1000" dirty="0"/>
          </a:p>
        </p:txBody>
      </p:sp>
      <p:sp>
        <p:nvSpPr>
          <p:cNvPr id="15" name="Text 12"/>
          <p:cNvSpPr/>
          <p:nvPr/>
        </p:nvSpPr>
        <p:spPr>
          <a:xfrm>
            <a:off x="777240" y="2697480"/>
            <a:ext cx="1280160" cy="201168"/>
          </a:xfrm>
          <a:prstGeom prst="rect">
            <a:avLst/>
          </a:prstGeom>
          <a:noFill/>
          <a:ln/>
        </p:spPr>
        <p:txBody>
          <a:bodyPr wrap="square" lIns="0" tIns="0" rIns="0" bIns="0" rtlCol="0" anchor="t">
            <a:normAutofit/>
          </a:bodyPr>
          <a:lstStyle/>
          <a:p>
            <a:pPr marL="0" indent="0" algn="ctr">
              <a:buNone/>
            </a:pPr>
            <a:r>
              <a:rPr lang="en-US" sz="900" dirty="0">
                <a:solidFill>
                  <a:srgbClr val="2563EB"/>
                </a:solidFill>
                <a:latin typeface="Aptos" pitchFamily="34" charset="0"/>
                <a:ea typeface="Aptos" pitchFamily="34" charset="-122"/>
                <a:cs typeface="Aptos" pitchFamily="34" charset="-120"/>
              </a:rPr>
              <a:t>fit parameters</a:t>
            </a:r>
            <a:endParaRPr lang="en-US" sz="900" dirty="0"/>
          </a:p>
        </p:txBody>
      </p:sp>
      <p:sp>
        <p:nvSpPr>
          <p:cNvPr id="16" name="Text 13"/>
          <p:cNvSpPr/>
          <p:nvPr/>
        </p:nvSpPr>
        <p:spPr>
          <a:xfrm>
            <a:off x="2743200" y="2697480"/>
            <a:ext cx="3657600" cy="320040"/>
          </a:xfrm>
          <a:prstGeom prst="rect">
            <a:avLst/>
          </a:prstGeom>
          <a:noFill/>
          <a:ln/>
        </p:spPr>
        <p:txBody>
          <a:bodyPr wrap="square" lIns="0" tIns="0" rIns="0" bIns="0" rtlCol="0" anchor="t">
            <a:normAutofit/>
          </a:bodyPr>
          <a:lstStyle/>
          <a:p>
            <a:pPr marL="0" indent="0" algn="ctr">
              <a:buNone/>
            </a:pPr>
            <a:r>
              <a:rPr lang="en-US" sz="900" dirty="0">
                <a:solidFill>
                  <a:srgbClr val="F59E0B"/>
                </a:solidFill>
                <a:latin typeface="Aptos" pitchFamily="34" charset="0"/>
                <a:ea typeface="Aptos" pitchFamily="34" charset="-122"/>
                <a:cs typeface="Aptos" pitchFamily="34" charset="-120"/>
              </a:rPr>
              <a:t>choose features, window length, model, hyperparameters, threshold</a:t>
            </a:r>
            <a:endParaRPr lang="en-US" sz="900" dirty="0"/>
          </a:p>
        </p:txBody>
      </p:sp>
      <p:sp>
        <p:nvSpPr>
          <p:cNvPr id="17" name="Text 14"/>
          <p:cNvSpPr/>
          <p:nvPr/>
        </p:nvSpPr>
        <p:spPr>
          <a:xfrm>
            <a:off x="7772400" y="2697480"/>
            <a:ext cx="1188720" cy="201168"/>
          </a:xfrm>
          <a:prstGeom prst="rect">
            <a:avLst/>
          </a:prstGeom>
          <a:noFill/>
          <a:ln/>
        </p:spPr>
        <p:txBody>
          <a:bodyPr wrap="square" lIns="0" tIns="0" rIns="0" bIns="0" rtlCol="0" anchor="t">
            <a:normAutofit/>
          </a:bodyPr>
          <a:lstStyle/>
          <a:p>
            <a:pPr marL="0" indent="0" algn="ctr">
              <a:buNone/>
            </a:pPr>
            <a:r>
              <a:rPr lang="en-US" sz="900" dirty="0">
                <a:solidFill>
                  <a:srgbClr val="DC2626"/>
                </a:solidFill>
                <a:latin typeface="Aptos" pitchFamily="34" charset="0"/>
                <a:ea typeface="Aptos" pitchFamily="34" charset="-122"/>
                <a:cs typeface="Aptos" pitchFamily="34" charset="-120"/>
              </a:rPr>
              <a:t>final assessment</a:t>
            </a:r>
            <a:endParaRPr lang="en-US" sz="900" dirty="0"/>
          </a:p>
        </p:txBody>
      </p:sp>
      <p:sp>
        <p:nvSpPr>
          <p:cNvPr id="18" name="Text 15"/>
          <p:cNvSpPr/>
          <p:nvPr/>
        </p:nvSpPr>
        <p:spPr>
          <a:xfrm>
            <a:off x="1097280" y="4343400"/>
            <a:ext cx="6766560" cy="640080"/>
          </a:xfrm>
          <a:prstGeom prst="rect">
            <a:avLst/>
          </a:prstGeom>
          <a:solidFill>
            <a:srgbClr val="FFFFFF"/>
          </a:solidFill>
          <a:ln w="15240">
            <a:solidFill>
              <a:srgbClr val="F59E0B"/>
            </a:solidFill>
          </a:ln>
        </p:spPr>
        <p:txBody>
          <a:bodyPr wrap="square" lIns="1016" tIns="1016" rIns="1016" bIns="1016" rtlCol="0" anchor="ctr">
            <a:normAutofit/>
          </a:bodyPr>
          <a:lstStyle/>
          <a:p>
            <a:pPr marL="0" indent="0">
              <a:buNone/>
            </a:pPr>
            <a:r>
              <a:rPr lang="en-US" sz="950" b="1" dirty="0">
                <a:solidFill>
                  <a:srgbClr val="111827"/>
                </a:solidFill>
              </a:rPr>
              <a:t>Once validation scores influence choices, validation performance is no longer a fully independent estimate of final performance.</a:t>
            </a:r>
            <a:endParaRPr lang="en-US" sz="950" b="1"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97C3C8-347B-9A59-E9EC-A3636558ACD5}"/>
              </a:ext>
            </a:extLst>
          </p:cNvPr>
          <p:cNvSpPr>
            <a:spLocks noGrp="1"/>
          </p:cNvSpPr>
          <p:nvPr>
            <p:ph type="title"/>
          </p:nvPr>
        </p:nvSpPr>
        <p:spPr/>
        <p:txBody>
          <a:bodyPr/>
          <a:lstStyle/>
          <a:p>
            <a:r>
              <a:rPr lang="en-GB" dirty="0"/>
              <a:t>Repeated model selection can overfit the validation set</a:t>
            </a:r>
          </a:p>
        </p:txBody>
      </p:sp>
      <p:sp>
        <p:nvSpPr>
          <p:cNvPr id="3" name="Segnaposto contenuto 2">
            <a:extLst>
              <a:ext uri="{FF2B5EF4-FFF2-40B4-BE49-F238E27FC236}">
                <a16:creationId xmlns:a16="http://schemas.microsoft.com/office/drawing/2014/main" id="{65528339-2749-7782-494F-D88650633D6F}"/>
              </a:ext>
            </a:extLst>
          </p:cNvPr>
          <p:cNvSpPr>
            <a:spLocks noGrp="1"/>
          </p:cNvSpPr>
          <p:nvPr>
            <p:ph idx="1"/>
          </p:nvPr>
        </p:nvSpPr>
        <p:spPr/>
        <p:txBody>
          <a:bodyPr>
            <a:normAutofit fontScale="55000" lnSpcReduction="20000"/>
          </a:bodyPr>
          <a:lstStyle/>
          <a:p>
            <a:r>
              <a:rPr lang="en-GB" dirty="0"/>
              <a:t>Validation does not need to enter the optimization algorithm directly for overfitting to occur.</a:t>
            </a:r>
          </a:p>
          <a:p>
            <a:r>
              <a:rPr lang="en-GB" dirty="0"/>
              <a:t>Suppose we repeatedly try:</a:t>
            </a:r>
          </a:p>
          <a:p>
            <a:pPr lvl="1"/>
            <a:r>
              <a:rPr lang="en-GB" dirty="0"/>
              <a:t>different window lengths;</a:t>
            </a:r>
          </a:p>
          <a:p>
            <a:pPr lvl="1"/>
            <a:r>
              <a:rPr lang="en-GB" dirty="0"/>
              <a:t>different features;</a:t>
            </a:r>
          </a:p>
          <a:p>
            <a:pPr lvl="1"/>
            <a:r>
              <a:rPr lang="en-GB" dirty="0"/>
              <a:t>different models;</a:t>
            </a:r>
          </a:p>
          <a:p>
            <a:pPr lvl="1"/>
            <a:r>
              <a:rPr lang="en-GB" dirty="0"/>
              <a:t>different hyperparameters;</a:t>
            </a:r>
          </a:p>
          <a:p>
            <a:pPr lvl="1"/>
            <a:r>
              <a:rPr lang="en-GB" dirty="0"/>
              <a:t>different random seeds.</a:t>
            </a:r>
          </a:p>
          <a:p>
            <a:r>
              <a:rPr lang="en-GB" dirty="0"/>
              <a:t>Each new decision is based on validation performance.</a:t>
            </a:r>
          </a:p>
          <a:p>
            <a:r>
              <a:rPr lang="en-GB" b="1" dirty="0"/>
              <a:t>Example</a:t>
            </a:r>
          </a:p>
          <a:p>
            <a:pPr lvl="1"/>
            <a:r>
              <a:rPr lang="en-GB" dirty="0"/>
              <a:t>experiment 1 → validation score</a:t>
            </a:r>
          </a:p>
          <a:p>
            <a:pPr lvl="1"/>
            <a:r>
              <a:rPr lang="en-GB" dirty="0"/>
              <a:t>experiment 2 → validation score</a:t>
            </a:r>
          </a:p>
          <a:p>
            <a:pPr lvl="1"/>
            <a:r>
              <a:rPr lang="en-GB" dirty="0"/>
              <a:t>experiment 3 → validation score</a:t>
            </a:r>
          </a:p>
          <a:p>
            <a:pPr lvl="1"/>
            <a:r>
              <a:rPr lang="en-GB" dirty="0"/>
              <a:t>...</a:t>
            </a:r>
          </a:p>
          <a:p>
            <a:pPr lvl="1"/>
            <a:r>
              <a:rPr lang="en-GB" dirty="0"/>
              <a:t>experiment 50 → validation score</a:t>
            </a:r>
          </a:p>
          <a:p>
            <a:r>
              <a:rPr lang="en-GB" dirty="0"/>
              <a:t>After many experiments, the highest validation score may reflect both authentic model quality and </a:t>
            </a:r>
            <a:r>
              <a:rPr lang="en-GB" dirty="0" err="1"/>
              <a:t>favorable</a:t>
            </a:r>
            <a:r>
              <a:rPr lang="en-GB" dirty="0"/>
              <a:t> random fluctuations on that particular validation set.</a:t>
            </a:r>
          </a:p>
          <a:p>
            <a:endParaRPr lang="en-GB" dirty="0"/>
          </a:p>
        </p:txBody>
      </p:sp>
    </p:spTree>
    <p:extLst>
      <p:ext uri="{BB962C8B-B14F-4D97-AF65-F5344CB8AC3E}">
        <p14:creationId xmlns:p14="http://schemas.microsoft.com/office/powerpoint/2010/main" val="281030801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CEB077F-3E79-0DEB-3A47-290645F03DAA}"/>
              </a:ext>
            </a:extLst>
          </p:cNvPr>
          <p:cNvSpPr>
            <a:spLocks noGrp="1"/>
          </p:cNvSpPr>
          <p:nvPr>
            <p:ph type="title"/>
          </p:nvPr>
        </p:nvSpPr>
        <p:spPr/>
        <p:txBody>
          <a:bodyPr/>
          <a:lstStyle/>
          <a:p>
            <a:r>
              <a:rPr lang="en-GB" b="1" dirty="0"/>
              <a:t>Consequence</a:t>
            </a:r>
            <a:br>
              <a:rPr lang="en-GB" b="1" dirty="0"/>
            </a:br>
            <a:endParaRPr lang="en-GB" dirty="0"/>
          </a:p>
        </p:txBody>
      </p:sp>
      <p:sp>
        <p:nvSpPr>
          <p:cNvPr id="3" name="Segnaposto contenuto 2">
            <a:extLst>
              <a:ext uri="{FF2B5EF4-FFF2-40B4-BE49-F238E27FC236}">
                <a16:creationId xmlns:a16="http://schemas.microsoft.com/office/drawing/2014/main" id="{10D5C35B-8078-93FB-90B8-A3FBEC4578B3}"/>
              </a:ext>
            </a:extLst>
          </p:cNvPr>
          <p:cNvSpPr>
            <a:spLocks noGrp="1"/>
          </p:cNvSpPr>
          <p:nvPr>
            <p:ph idx="1"/>
          </p:nvPr>
        </p:nvSpPr>
        <p:spPr/>
        <p:txBody>
          <a:bodyPr>
            <a:normAutofit fontScale="62500" lnSpcReduction="20000"/>
          </a:bodyPr>
          <a:lstStyle/>
          <a:p>
            <a:r>
              <a:rPr lang="en-GB" dirty="0"/>
              <a:t>The selected model may be specialized to:</a:t>
            </a:r>
          </a:p>
          <a:p>
            <a:pPr lvl="1"/>
            <a:r>
              <a:rPr lang="en-GB" dirty="0"/>
              <a:t>the particular validation period;</a:t>
            </a:r>
          </a:p>
          <a:p>
            <a:pPr lvl="1"/>
            <a:r>
              <a:rPr lang="en-GB" dirty="0"/>
              <a:t>the particular validation entities;</a:t>
            </a:r>
          </a:p>
          <a:p>
            <a:pPr lvl="1"/>
            <a:r>
              <a:rPr lang="en-GB" dirty="0"/>
              <a:t>noise in the validation labels;</a:t>
            </a:r>
          </a:p>
          <a:p>
            <a:pPr lvl="1"/>
            <a:r>
              <a:rPr lang="en-GB" dirty="0"/>
              <a:t>unusual conditions occurring in that split.</a:t>
            </a:r>
          </a:p>
          <a:p>
            <a:r>
              <a:rPr lang="en-GB" b="1" dirty="0"/>
              <a:t>This is why the test set is required</a:t>
            </a:r>
          </a:p>
          <a:p>
            <a:pPr lvl="1"/>
            <a:r>
              <a:rPr lang="en-GB" dirty="0"/>
              <a:t>The test set provides a new evaluation after all model-selection decisions have been frozen.</a:t>
            </a:r>
          </a:p>
          <a:p>
            <a:r>
              <a:rPr lang="en-GB" b="1" dirty="0"/>
              <a:t>Practical implication</a:t>
            </a:r>
          </a:p>
          <a:p>
            <a:pPr lvl="1"/>
            <a:r>
              <a:rPr lang="en-GB" dirty="0"/>
              <a:t>When many development choices are explored:</a:t>
            </a:r>
          </a:p>
          <a:p>
            <a:pPr lvl="1"/>
            <a:r>
              <a:rPr lang="en-GB" dirty="0"/>
              <a:t>use sufficiently representative validation data;</a:t>
            </a:r>
          </a:p>
          <a:p>
            <a:pPr lvl="1"/>
            <a:r>
              <a:rPr lang="en-GB" dirty="0"/>
              <a:t>consider several validation periods or groups;</a:t>
            </a:r>
          </a:p>
          <a:p>
            <a:pPr lvl="1"/>
            <a:r>
              <a:rPr lang="en-GB" dirty="0"/>
              <a:t>report variability across validation conditions;</a:t>
            </a:r>
          </a:p>
          <a:p>
            <a:pPr lvl="1"/>
            <a:r>
              <a:rPr lang="en-GB" dirty="0"/>
              <a:t>keep a really untouched final test set.</a:t>
            </a:r>
          </a:p>
          <a:p>
            <a:endParaRPr lang="en-GB" dirty="0"/>
          </a:p>
          <a:p>
            <a:r>
              <a:rPr lang="en-GB" b="1" dirty="0"/>
              <a:t>Validation guides optimization of the modelling process; testing evaluates the result of that process.</a:t>
            </a:r>
          </a:p>
          <a:p>
            <a:endParaRPr lang="en-GB" dirty="0"/>
          </a:p>
        </p:txBody>
      </p:sp>
    </p:spTree>
    <p:extLst>
      <p:ext uri="{BB962C8B-B14F-4D97-AF65-F5344CB8AC3E}">
        <p14:creationId xmlns:p14="http://schemas.microsoft.com/office/powerpoint/2010/main" val="158552761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2.F</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Repeated validation can overfit the validation set</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The best validation score among many experiments is partly influenced by random variation.</a:t>
            </a:r>
            <a:endParaRPr lang="en-US" sz="950" dirty="0"/>
          </a:p>
        </p:txBody>
      </p:sp>
      <p:sp>
        <p:nvSpPr>
          <p:cNvPr id="6" name="Text 3"/>
          <p:cNvSpPr/>
          <p:nvPr/>
        </p:nvSpPr>
        <p:spPr>
          <a:xfrm>
            <a:off x="594360" y="1024128"/>
            <a:ext cx="1097280" cy="182880"/>
          </a:xfrm>
          <a:prstGeom prst="rect">
            <a:avLst/>
          </a:prstGeom>
          <a:noFill/>
          <a:ln/>
        </p:spPr>
        <p:txBody>
          <a:bodyPr wrap="square" lIns="0" tIns="0" rIns="0" bIns="0" rtlCol="0" anchor="t">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validation score</a:t>
            </a:r>
            <a:endParaRPr lang="en-US" sz="800" dirty="0"/>
          </a:p>
        </p:txBody>
      </p:sp>
      <p:sp>
        <p:nvSpPr>
          <p:cNvPr id="7" name="Shape 4"/>
          <p:cNvSpPr/>
          <p:nvPr/>
        </p:nvSpPr>
        <p:spPr>
          <a:xfrm>
            <a:off x="777240" y="4297680"/>
            <a:ext cx="7955280" cy="0"/>
          </a:xfrm>
          <a:prstGeom prst="line">
            <a:avLst/>
          </a:prstGeom>
          <a:noFill/>
          <a:ln w="12700">
            <a:solidFill>
              <a:srgbClr val="6B7280"/>
            </a:solidFill>
            <a:prstDash val="solid"/>
          </a:ln>
        </p:spPr>
        <p:txBody>
          <a:bodyPr/>
          <a:lstStyle/>
          <a:p>
            <a:endParaRPr lang="en-GB"/>
          </a:p>
        </p:txBody>
      </p:sp>
      <p:sp>
        <p:nvSpPr>
          <p:cNvPr id="8" name="Shape 5"/>
          <p:cNvSpPr/>
          <p:nvPr/>
        </p:nvSpPr>
        <p:spPr>
          <a:xfrm>
            <a:off x="777240" y="1188720"/>
            <a:ext cx="0" cy="3108960"/>
          </a:xfrm>
          <a:prstGeom prst="line">
            <a:avLst/>
          </a:prstGeom>
          <a:noFill/>
          <a:ln w="12700">
            <a:solidFill>
              <a:srgbClr val="6B7280"/>
            </a:solidFill>
            <a:prstDash val="solid"/>
          </a:ln>
        </p:spPr>
        <p:txBody>
          <a:bodyPr/>
          <a:lstStyle/>
          <a:p>
            <a:endParaRPr lang="en-GB"/>
          </a:p>
        </p:txBody>
      </p:sp>
      <p:sp>
        <p:nvSpPr>
          <p:cNvPr id="9" name="Shape 6"/>
          <p:cNvSpPr/>
          <p:nvPr/>
        </p:nvSpPr>
        <p:spPr>
          <a:xfrm>
            <a:off x="1005840" y="2560320"/>
            <a:ext cx="292608" cy="1737360"/>
          </a:xfrm>
          <a:prstGeom prst="rect">
            <a:avLst/>
          </a:prstGeom>
          <a:solidFill>
            <a:srgbClr val="2563EB"/>
          </a:solidFill>
          <a:ln w="12700">
            <a:solidFill>
              <a:srgbClr val="2563EB"/>
            </a:solidFill>
            <a:prstDash val="solid"/>
          </a:ln>
        </p:spPr>
        <p:txBody>
          <a:bodyPr/>
          <a:lstStyle/>
          <a:p>
            <a:endParaRPr lang="en-GB"/>
          </a:p>
        </p:txBody>
      </p:sp>
      <p:sp>
        <p:nvSpPr>
          <p:cNvPr id="10" name="Shape 7"/>
          <p:cNvSpPr/>
          <p:nvPr/>
        </p:nvSpPr>
        <p:spPr>
          <a:xfrm>
            <a:off x="1417320" y="2011680"/>
            <a:ext cx="292608" cy="2286000"/>
          </a:xfrm>
          <a:prstGeom prst="rect">
            <a:avLst/>
          </a:prstGeom>
          <a:solidFill>
            <a:srgbClr val="2563EB"/>
          </a:solidFill>
          <a:ln w="12700">
            <a:solidFill>
              <a:srgbClr val="2563EB"/>
            </a:solidFill>
            <a:prstDash val="solid"/>
          </a:ln>
        </p:spPr>
        <p:txBody>
          <a:bodyPr/>
          <a:lstStyle/>
          <a:p>
            <a:endParaRPr lang="en-GB"/>
          </a:p>
        </p:txBody>
      </p:sp>
      <p:sp>
        <p:nvSpPr>
          <p:cNvPr id="11" name="Shape 8"/>
          <p:cNvSpPr/>
          <p:nvPr/>
        </p:nvSpPr>
        <p:spPr>
          <a:xfrm>
            <a:off x="1828800" y="2834640"/>
            <a:ext cx="292608" cy="1463040"/>
          </a:xfrm>
          <a:prstGeom prst="rect">
            <a:avLst/>
          </a:prstGeom>
          <a:solidFill>
            <a:srgbClr val="2563EB"/>
          </a:solidFill>
          <a:ln w="12700">
            <a:solidFill>
              <a:srgbClr val="2563EB"/>
            </a:solidFill>
            <a:prstDash val="solid"/>
          </a:ln>
        </p:spPr>
        <p:txBody>
          <a:bodyPr/>
          <a:lstStyle/>
          <a:p>
            <a:endParaRPr lang="en-GB"/>
          </a:p>
        </p:txBody>
      </p:sp>
      <p:sp>
        <p:nvSpPr>
          <p:cNvPr id="12" name="Shape 9"/>
          <p:cNvSpPr/>
          <p:nvPr/>
        </p:nvSpPr>
        <p:spPr>
          <a:xfrm>
            <a:off x="2240280" y="2468880"/>
            <a:ext cx="292608" cy="1828800"/>
          </a:xfrm>
          <a:prstGeom prst="rect">
            <a:avLst/>
          </a:prstGeom>
          <a:solidFill>
            <a:srgbClr val="2563EB"/>
          </a:solidFill>
          <a:ln w="12700">
            <a:solidFill>
              <a:srgbClr val="2563EB"/>
            </a:solidFill>
            <a:prstDash val="solid"/>
          </a:ln>
        </p:spPr>
        <p:txBody>
          <a:bodyPr/>
          <a:lstStyle/>
          <a:p>
            <a:endParaRPr lang="en-GB"/>
          </a:p>
        </p:txBody>
      </p:sp>
      <p:sp>
        <p:nvSpPr>
          <p:cNvPr id="13" name="Shape 10"/>
          <p:cNvSpPr/>
          <p:nvPr/>
        </p:nvSpPr>
        <p:spPr>
          <a:xfrm>
            <a:off x="2651760" y="1828800"/>
            <a:ext cx="292608" cy="2468880"/>
          </a:xfrm>
          <a:prstGeom prst="rect">
            <a:avLst/>
          </a:prstGeom>
          <a:solidFill>
            <a:srgbClr val="2563EB"/>
          </a:solidFill>
          <a:ln w="12700">
            <a:solidFill>
              <a:srgbClr val="2563EB"/>
            </a:solidFill>
            <a:prstDash val="solid"/>
          </a:ln>
        </p:spPr>
        <p:txBody>
          <a:bodyPr/>
          <a:lstStyle/>
          <a:p>
            <a:endParaRPr lang="en-GB"/>
          </a:p>
        </p:txBody>
      </p:sp>
      <p:sp>
        <p:nvSpPr>
          <p:cNvPr id="14" name="Shape 11"/>
          <p:cNvSpPr/>
          <p:nvPr/>
        </p:nvSpPr>
        <p:spPr>
          <a:xfrm>
            <a:off x="3063240" y="2286000"/>
            <a:ext cx="292608" cy="2011680"/>
          </a:xfrm>
          <a:prstGeom prst="rect">
            <a:avLst/>
          </a:prstGeom>
          <a:solidFill>
            <a:srgbClr val="2563EB"/>
          </a:solidFill>
          <a:ln w="12700">
            <a:solidFill>
              <a:srgbClr val="2563EB"/>
            </a:solidFill>
            <a:prstDash val="solid"/>
          </a:ln>
        </p:spPr>
        <p:txBody>
          <a:bodyPr/>
          <a:lstStyle/>
          <a:p>
            <a:endParaRPr lang="en-GB"/>
          </a:p>
        </p:txBody>
      </p:sp>
      <p:sp>
        <p:nvSpPr>
          <p:cNvPr id="15" name="Shape 12"/>
          <p:cNvSpPr/>
          <p:nvPr/>
        </p:nvSpPr>
        <p:spPr>
          <a:xfrm>
            <a:off x="3474720" y="1463040"/>
            <a:ext cx="292608" cy="2834640"/>
          </a:xfrm>
          <a:prstGeom prst="rect">
            <a:avLst/>
          </a:prstGeom>
          <a:solidFill>
            <a:srgbClr val="2563EB"/>
          </a:solidFill>
          <a:ln w="12700">
            <a:solidFill>
              <a:srgbClr val="2563EB"/>
            </a:solidFill>
            <a:prstDash val="solid"/>
          </a:ln>
        </p:spPr>
        <p:txBody>
          <a:bodyPr/>
          <a:lstStyle/>
          <a:p>
            <a:endParaRPr lang="en-GB"/>
          </a:p>
        </p:txBody>
      </p:sp>
      <p:sp>
        <p:nvSpPr>
          <p:cNvPr id="16" name="Shape 13"/>
          <p:cNvSpPr/>
          <p:nvPr/>
        </p:nvSpPr>
        <p:spPr>
          <a:xfrm>
            <a:off x="3886200" y="2651760"/>
            <a:ext cx="292608" cy="1645920"/>
          </a:xfrm>
          <a:prstGeom prst="rect">
            <a:avLst/>
          </a:prstGeom>
          <a:solidFill>
            <a:srgbClr val="2563EB"/>
          </a:solidFill>
          <a:ln w="12700">
            <a:solidFill>
              <a:srgbClr val="2563EB"/>
            </a:solidFill>
            <a:prstDash val="solid"/>
          </a:ln>
        </p:spPr>
        <p:txBody>
          <a:bodyPr/>
          <a:lstStyle/>
          <a:p>
            <a:endParaRPr lang="en-GB"/>
          </a:p>
        </p:txBody>
      </p:sp>
      <p:sp>
        <p:nvSpPr>
          <p:cNvPr id="17" name="Shape 14"/>
          <p:cNvSpPr/>
          <p:nvPr/>
        </p:nvSpPr>
        <p:spPr>
          <a:xfrm>
            <a:off x="4297680" y="2103120"/>
            <a:ext cx="292608" cy="2194560"/>
          </a:xfrm>
          <a:prstGeom prst="rect">
            <a:avLst/>
          </a:prstGeom>
          <a:solidFill>
            <a:srgbClr val="2563EB"/>
          </a:solidFill>
          <a:ln w="12700">
            <a:solidFill>
              <a:srgbClr val="2563EB"/>
            </a:solidFill>
            <a:prstDash val="solid"/>
          </a:ln>
        </p:spPr>
        <p:txBody>
          <a:bodyPr/>
          <a:lstStyle/>
          <a:p>
            <a:endParaRPr lang="en-GB"/>
          </a:p>
        </p:txBody>
      </p:sp>
      <p:sp>
        <p:nvSpPr>
          <p:cNvPr id="18" name="Shape 15"/>
          <p:cNvSpPr/>
          <p:nvPr/>
        </p:nvSpPr>
        <p:spPr>
          <a:xfrm>
            <a:off x="4709160" y="1920240"/>
            <a:ext cx="292608" cy="2377440"/>
          </a:xfrm>
          <a:prstGeom prst="rect">
            <a:avLst/>
          </a:prstGeom>
          <a:solidFill>
            <a:srgbClr val="2563EB"/>
          </a:solidFill>
          <a:ln w="12700">
            <a:solidFill>
              <a:srgbClr val="2563EB"/>
            </a:solidFill>
            <a:prstDash val="solid"/>
          </a:ln>
        </p:spPr>
        <p:txBody>
          <a:bodyPr/>
          <a:lstStyle/>
          <a:p>
            <a:endParaRPr lang="en-GB"/>
          </a:p>
        </p:txBody>
      </p:sp>
      <p:sp>
        <p:nvSpPr>
          <p:cNvPr id="19" name="Shape 16"/>
          <p:cNvSpPr/>
          <p:nvPr/>
        </p:nvSpPr>
        <p:spPr>
          <a:xfrm>
            <a:off x="5120640" y="1325880"/>
            <a:ext cx="292608" cy="2971800"/>
          </a:xfrm>
          <a:prstGeom prst="rect">
            <a:avLst/>
          </a:prstGeom>
          <a:solidFill>
            <a:srgbClr val="DC2626"/>
          </a:solidFill>
          <a:ln w="12700">
            <a:solidFill>
              <a:srgbClr val="DC2626"/>
            </a:solidFill>
            <a:prstDash val="solid"/>
          </a:ln>
        </p:spPr>
        <p:txBody>
          <a:bodyPr/>
          <a:lstStyle/>
          <a:p>
            <a:endParaRPr lang="en-GB"/>
          </a:p>
        </p:txBody>
      </p:sp>
      <p:sp>
        <p:nvSpPr>
          <p:cNvPr id="20" name="Shape 17"/>
          <p:cNvSpPr/>
          <p:nvPr/>
        </p:nvSpPr>
        <p:spPr>
          <a:xfrm>
            <a:off x="5532120" y="2377440"/>
            <a:ext cx="292608" cy="1920240"/>
          </a:xfrm>
          <a:prstGeom prst="rect">
            <a:avLst/>
          </a:prstGeom>
          <a:solidFill>
            <a:srgbClr val="2563EB"/>
          </a:solidFill>
          <a:ln w="12700">
            <a:solidFill>
              <a:srgbClr val="2563EB"/>
            </a:solidFill>
            <a:prstDash val="solid"/>
          </a:ln>
        </p:spPr>
        <p:txBody>
          <a:bodyPr/>
          <a:lstStyle/>
          <a:p>
            <a:endParaRPr lang="en-GB"/>
          </a:p>
        </p:txBody>
      </p:sp>
      <p:sp>
        <p:nvSpPr>
          <p:cNvPr id="21" name="Shape 18"/>
          <p:cNvSpPr/>
          <p:nvPr/>
        </p:nvSpPr>
        <p:spPr>
          <a:xfrm>
            <a:off x="5943600" y="2743200"/>
            <a:ext cx="292608" cy="1554480"/>
          </a:xfrm>
          <a:prstGeom prst="rect">
            <a:avLst/>
          </a:prstGeom>
          <a:solidFill>
            <a:srgbClr val="2563EB"/>
          </a:solidFill>
          <a:ln w="12700">
            <a:solidFill>
              <a:srgbClr val="2563EB"/>
            </a:solidFill>
            <a:prstDash val="solid"/>
          </a:ln>
        </p:spPr>
        <p:txBody>
          <a:bodyPr/>
          <a:lstStyle/>
          <a:p>
            <a:endParaRPr lang="en-GB"/>
          </a:p>
        </p:txBody>
      </p:sp>
      <p:sp>
        <p:nvSpPr>
          <p:cNvPr id="22" name="Shape 19"/>
          <p:cNvSpPr/>
          <p:nvPr/>
        </p:nvSpPr>
        <p:spPr>
          <a:xfrm>
            <a:off x="6355080" y="1645920"/>
            <a:ext cx="292608" cy="2651760"/>
          </a:xfrm>
          <a:prstGeom prst="rect">
            <a:avLst/>
          </a:prstGeom>
          <a:solidFill>
            <a:srgbClr val="2563EB"/>
          </a:solidFill>
          <a:ln w="12700">
            <a:solidFill>
              <a:srgbClr val="2563EB"/>
            </a:solidFill>
            <a:prstDash val="solid"/>
          </a:ln>
        </p:spPr>
        <p:txBody>
          <a:bodyPr/>
          <a:lstStyle/>
          <a:p>
            <a:endParaRPr lang="en-GB"/>
          </a:p>
        </p:txBody>
      </p:sp>
      <p:sp>
        <p:nvSpPr>
          <p:cNvPr id="23" name="Shape 20"/>
          <p:cNvSpPr/>
          <p:nvPr/>
        </p:nvSpPr>
        <p:spPr>
          <a:xfrm>
            <a:off x="6766560" y="2194560"/>
            <a:ext cx="292608" cy="2103120"/>
          </a:xfrm>
          <a:prstGeom prst="rect">
            <a:avLst/>
          </a:prstGeom>
          <a:solidFill>
            <a:srgbClr val="2563EB"/>
          </a:solidFill>
          <a:ln w="12700">
            <a:solidFill>
              <a:srgbClr val="2563EB"/>
            </a:solidFill>
            <a:prstDash val="solid"/>
          </a:ln>
        </p:spPr>
        <p:txBody>
          <a:bodyPr/>
          <a:lstStyle/>
          <a:p>
            <a:endParaRPr lang="en-GB"/>
          </a:p>
        </p:txBody>
      </p:sp>
      <p:sp>
        <p:nvSpPr>
          <p:cNvPr id="24" name="Shape 21"/>
          <p:cNvSpPr/>
          <p:nvPr/>
        </p:nvSpPr>
        <p:spPr>
          <a:xfrm>
            <a:off x="7178040" y="1554480"/>
            <a:ext cx="292608" cy="2743200"/>
          </a:xfrm>
          <a:prstGeom prst="rect">
            <a:avLst/>
          </a:prstGeom>
          <a:solidFill>
            <a:srgbClr val="2563EB"/>
          </a:solidFill>
          <a:ln w="12700">
            <a:solidFill>
              <a:srgbClr val="2563EB"/>
            </a:solidFill>
            <a:prstDash val="solid"/>
          </a:ln>
        </p:spPr>
        <p:txBody>
          <a:bodyPr/>
          <a:lstStyle/>
          <a:p>
            <a:endParaRPr lang="en-GB"/>
          </a:p>
        </p:txBody>
      </p:sp>
      <p:sp>
        <p:nvSpPr>
          <p:cNvPr id="25" name="Shape 22"/>
          <p:cNvSpPr/>
          <p:nvPr/>
        </p:nvSpPr>
        <p:spPr>
          <a:xfrm>
            <a:off x="7589520" y="2468880"/>
            <a:ext cx="292608" cy="1828800"/>
          </a:xfrm>
          <a:prstGeom prst="rect">
            <a:avLst/>
          </a:prstGeom>
          <a:solidFill>
            <a:srgbClr val="2563EB"/>
          </a:solidFill>
          <a:ln w="12700">
            <a:solidFill>
              <a:srgbClr val="2563EB"/>
            </a:solidFill>
            <a:prstDash val="solid"/>
          </a:ln>
        </p:spPr>
        <p:txBody>
          <a:bodyPr/>
          <a:lstStyle/>
          <a:p>
            <a:endParaRPr lang="en-GB"/>
          </a:p>
        </p:txBody>
      </p:sp>
      <p:sp>
        <p:nvSpPr>
          <p:cNvPr id="26" name="Shape 23"/>
          <p:cNvSpPr/>
          <p:nvPr/>
        </p:nvSpPr>
        <p:spPr>
          <a:xfrm>
            <a:off x="8001000" y="1737360"/>
            <a:ext cx="292608" cy="2560320"/>
          </a:xfrm>
          <a:prstGeom prst="rect">
            <a:avLst/>
          </a:prstGeom>
          <a:solidFill>
            <a:srgbClr val="2563EB"/>
          </a:solidFill>
          <a:ln w="12700">
            <a:solidFill>
              <a:srgbClr val="2563EB"/>
            </a:solidFill>
            <a:prstDash val="solid"/>
          </a:ln>
        </p:spPr>
        <p:txBody>
          <a:bodyPr/>
          <a:lstStyle/>
          <a:p>
            <a:endParaRPr lang="en-GB"/>
          </a:p>
        </p:txBody>
      </p:sp>
      <p:sp>
        <p:nvSpPr>
          <p:cNvPr id="27" name="Text 24"/>
          <p:cNvSpPr/>
          <p:nvPr/>
        </p:nvSpPr>
        <p:spPr>
          <a:xfrm>
            <a:off x="4617720" y="1051560"/>
            <a:ext cx="1325880" cy="201168"/>
          </a:xfrm>
          <a:prstGeom prst="roundRect">
            <a:avLst/>
          </a:prstGeom>
          <a:solidFill>
            <a:srgbClr val="DC2626"/>
          </a:solidFill>
          <a:ln w="6350">
            <a:solidFill>
              <a:srgbClr val="DC2626"/>
            </a:solidFill>
          </a:ln>
        </p:spPr>
        <p:txBody>
          <a:bodyPr wrap="square" lIns="254" tIns="254" rIns="254" bIns="254" rtlCol="0" anchor="ctr"/>
          <a:lstStyle/>
          <a:p>
            <a:pPr marL="0" indent="0" algn="ctr">
              <a:buNone/>
            </a:pPr>
            <a:r>
              <a:rPr lang="en-US" sz="850" b="1" dirty="0">
                <a:solidFill>
                  <a:srgbClr val="FFFFFF"/>
                </a:solidFill>
              </a:rPr>
              <a:t>best observed score</a:t>
            </a:r>
            <a:endParaRPr lang="en-US" sz="850" dirty="0"/>
          </a:p>
        </p:txBody>
      </p:sp>
      <p:sp>
        <p:nvSpPr>
          <p:cNvPr id="28" name="Shape 25"/>
          <p:cNvSpPr/>
          <p:nvPr/>
        </p:nvSpPr>
        <p:spPr>
          <a:xfrm>
            <a:off x="5257800" y="1325880"/>
            <a:ext cx="0" cy="45720"/>
          </a:xfrm>
          <a:prstGeom prst="line">
            <a:avLst/>
          </a:prstGeom>
          <a:noFill/>
          <a:ln w="17780">
            <a:solidFill>
              <a:srgbClr val="DC2626"/>
            </a:solidFill>
            <a:prstDash val="solid"/>
            <a:tailEnd type="triangle"/>
          </a:ln>
        </p:spPr>
        <p:txBody>
          <a:bodyPr/>
          <a:lstStyle/>
          <a:p>
            <a:endParaRPr lang="en-GB"/>
          </a:p>
        </p:txBody>
      </p:sp>
      <p:sp>
        <p:nvSpPr>
          <p:cNvPr id="29" name="Text 26"/>
          <p:cNvSpPr/>
          <p:nvPr/>
        </p:nvSpPr>
        <p:spPr>
          <a:xfrm>
            <a:off x="914400" y="4892040"/>
            <a:ext cx="4206240" cy="640080"/>
          </a:xfrm>
          <a:prstGeom prst="rect">
            <a:avLst/>
          </a:prstGeom>
          <a:solidFill>
            <a:srgbClr val="FFFFFF"/>
          </a:solidFill>
          <a:ln w="15240">
            <a:solidFill>
              <a:srgbClr val="F59E0B"/>
            </a:solidFill>
          </a:ln>
        </p:spPr>
        <p:txBody>
          <a:bodyPr wrap="square" lIns="1016" tIns="1016" rIns="1016" bIns="1016" rtlCol="0" anchor="ctr">
            <a:normAutofit/>
          </a:bodyPr>
          <a:lstStyle/>
          <a:p>
            <a:pPr marL="0" indent="0">
              <a:buNone/>
            </a:pPr>
            <a:r>
              <a:rPr lang="en-US" sz="950" b="1" dirty="0">
                <a:solidFill>
                  <a:srgbClr val="111827"/>
                </a:solidFill>
              </a:rPr>
              <a:t>More experiments increase the chance that one model matches peculiarities of the validation period.</a:t>
            </a:r>
            <a:endParaRPr lang="en-US" sz="950" b="1" dirty="0"/>
          </a:p>
        </p:txBody>
      </p:sp>
      <p:sp>
        <p:nvSpPr>
          <p:cNvPr id="30" name="Text 27"/>
          <p:cNvSpPr/>
          <p:nvPr/>
        </p:nvSpPr>
        <p:spPr>
          <a:xfrm>
            <a:off x="5440680" y="4892040"/>
            <a:ext cx="3291840" cy="64008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A separate untouched test set evaluates the selected solution after development is frozen.</a:t>
            </a:r>
            <a:endParaRPr lang="en-US" sz="9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5ACE84E-1C52-690A-C882-8CC30D7A650F}"/>
              </a:ext>
            </a:extLst>
          </p:cNvPr>
          <p:cNvSpPr>
            <a:spLocks noGrp="1"/>
          </p:cNvSpPr>
          <p:nvPr>
            <p:ph type="title"/>
          </p:nvPr>
        </p:nvSpPr>
        <p:spPr/>
        <p:txBody>
          <a:bodyPr/>
          <a:lstStyle/>
          <a:p>
            <a:r>
              <a:rPr lang="en-GB" dirty="0"/>
              <a:t>The test set must stay untouched</a:t>
            </a:r>
          </a:p>
        </p:txBody>
      </p:sp>
      <p:sp>
        <p:nvSpPr>
          <p:cNvPr id="3" name="Segnaposto contenuto 2">
            <a:extLst>
              <a:ext uri="{FF2B5EF4-FFF2-40B4-BE49-F238E27FC236}">
                <a16:creationId xmlns:a16="http://schemas.microsoft.com/office/drawing/2014/main" id="{877C5D97-C569-2FD2-DE96-F102A0357F45}"/>
              </a:ext>
            </a:extLst>
          </p:cNvPr>
          <p:cNvSpPr>
            <a:spLocks noGrp="1"/>
          </p:cNvSpPr>
          <p:nvPr>
            <p:ph sz="half" idx="1"/>
          </p:nvPr>
        </p:nvSpPr>
        <p:spPr/>
        <p:txBody>
          <a:bodyPr>
            <a:normAutofit fontScale="62500" lnSpcReduction="20000"/>
          </a:bodyPr>
          <a:lstStyle/>
          <a:p>
            <a:r>
              <a:rPr lang="en-GB" dirty="0"/>
              <a:t>The test set should not be used to: choose features; select the model family; tune hyperparameters; compare alternative window lengths; choose the classification threshold.</a:t>
            </a:r>
          </a:p>
          <a:p>
            <a:r>
              <a:rPr lang="en-GB" b="1" dirty="0"/>
              <a:t>Incorrect development cycle</a:t>
            </a:r>
          </a:p>
          <a:p>
            <a:r>
              <a:rPr lang="en-GB" dirty="0"/>
              <a:t>train model</a:t>
            </a:r>
          </a:p>
          <a:p>
            <a:r>
              <a:rPr lang="en-GB" dirty="0"/>
              <a:t>     ↓</a:t>
            </a:r>
          </a:p>
          <a:p>
            <a:r>
              <a:rPr lang="en-GB" dirty="0"/>
              <a:t>check test score</a:t>
            </a:r>
          </a:p>
          <a:p>
            <a:r>
              <a:rPr lang="en-GB" dirty="0"/>
              <a:t>     ↓</a:t>
            </a:r>
          </a:p>
          <a:p>
            <a:r>
              <a:rPr lang="en-GB" dirty="0"/>
              <a:t>modify model</a:t>
            </a:r>
          </a:p>
          <a:p>
            <a:r>
              <a:rPr lang="en-GB" dirty="0"/>
              <a:t>     ↓</a:t>
            </a:r>
          </a:p>
          <a:p>
            <a:r>
              <a:rPr lang="en-GB" dirty="0"/>
              <a:t>check test score again</a:t>
            </a:r>
          </a:p>
          <a:p>
            <a:r>
              <a:rPr lang="en-GB" dirty="0"/>
              <a:t>     ↓</a:t>
            </a:r>
          </a:p>
          <a:p>
            <a:r>
              <a:rPr lang="en-GB" dirty="0"/>
              <a:t>modify model again</a:t>
            </a:r>
          </a:p>
          <a:p>
            <a:r>
              <a:rPr lang="en-GB" dirty="0"/>
              <a:t>After repeated use, the test set has effectively become another validation set.</a:t>
            </a:r>
          </a:p>
          <a:p>
            <a:endParaRPr lang="en-GB" dirty="0"/>
          </a:p>
        </p:txBody>
      </p:sp>
      <p:sp>
        <p:nvSpPr>
          <p:cNvPr id="4" name="Segnaposto contenuto 3">
            <a:extLst>
              <a:ext uri="{FF2B5EF4-FFF2-40B4-BE49-F238E27FC236}">
                <a16:creationId xmlns:a16="http://schemas.microsoft.com/office/drawing/2014/main" id="{BE4816E0-77FD-C5EC-C281-CF2873274D9B}"/>
              </a:ext>
            </a:extLst>
          </p:cNvPr>
          <p:cNvSpPr>
            <a:spLocks noGrp="1"/>
          </p:cNvSpPr>
          <p:nvPr>
            <p:ph sz="half" idx="2"/>
          </p:nvPr>
        </p:nvSpPr>
        <p:spPr/>
        <p:txBody>
          <a:bodyPr>
            <a:normAutofit fontScale="62500" lnSpcReduction="20000"/>
          </a:bodyPr>
          <a:lstStyle/>
          <a:p>
            <a:r>
              <a:rPr lang="en-GB" b="1" dirty="0"/>
              <a:t>Correct development cycle</a:t>
            </a:r>
          </a:p>
          <a:p>
            <a:r>
              <a:rPr lang="en-GB" dirty="0"/>
              <a:t>training + validation</a:t>
            </a:r>
          </a:p>
          <a:p>
            <a:r>
              <a:rPr lang="en-GB" dirty="0"/>
              <a:t>        ↓</a:t>
            </a:r>
          </a:p>
          <a:p>
            <a:r>
              <a:rPr lang="en-GB" dirty="0"/>
              <a:t>develop and select solution</a:t>
            </a:r>
          </a:p>
          <a:p>
            <a:r>
              <a:rPr lang="en-GB" dirty="0"/>
              <a:t>        ↓</a:t>
            </a:r>
          </a:p>
          <a:p>
            <a:r>
              <a:rPr lang="en-GB" dirty="0"/>
              <a:t>freeze modelling decisions</a:t>
            </a:r>
          </a:p>
          <a:p>
            <a:r>
              <a:rPr lang="en-GB" dirty="0"/>
              <a:t>        ↓</a:t>
            </a:r>
          </a:p>
          <a:p>
            <a:r>
              <a:rPr lang="en-GB" dirty="0"/>
              <a:t>evaluate once on test</a:t>
            </a:r>
          </a:p>
          <a:p>
            <a:endParaRPr lang="en-GB" b="1" dirty="0"/>
          </a:p>
          <a:p>
            <a:r>
              <a:rPr lang="en-GB" b="1" dirty="0"/>
              <a:t>If the test result is disappointing</a:t>
            </a:r>
          </a:p>
          <a:p>
            <a:r>
              <a:rPr lang="en-GB" dirty="0"/>
              <a:t>It may reveal that the selected solution does not generalize sufficiently.</a:t>
            </a:r>
          </a:p>
          <a:p>
            <a:r>
              <a:rPr lang="en-GB" dirty="0"/>
              <a:t>However, if development is resumed using that knowledge, the original test set is no longer a completely untouched test set for the revised solution.</a:t>
            </a:r>
          </a:p>
          <a:p>
            <a:r>
              <a:rPr lang="en-GB" b="1" dirty="0"/>
              <a:t>A new independent assessment may then be required.</a:t>
            </a:r>
          </a:p>
          <a:p>
            <a:endParaRPr lang="en-GB" dirty="0"/>
          </a:p>
        </p:txBody>
      </p:sp>
    </p:spTree>
    <p:extLst>
      <p:ext uri="{BB962C8B-B14F-4D97-AF65-F5344CB8AC3E}">
        <p14:creationId xmlns:p14="http://schemas.microsoft.com/office/powerpoint/2010/main" val="310682470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2.F</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The test set must stay untouched</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Repeated use of the test set turns it into another validation set.</a:t>
            </a:r>
            <a:endParaRPr lang="en-US" sz="950" dirty="0"/>
          </a:p>
        </p:txBody>
      </p:sp>
      <p:sp>
        <p:nvSpPr>
          <p:cNvPr id="6" name="Text 3"/>
          <p:cNvSpPr/>
          <p:nvPr/>
        </p:nvSpPr>
        <p:spPr>
          <a:xfrm>
            <a:off x="822960" y="1143000"/>
            <a:ext cx="1828800" cy="274320"/>
          </a:xfrm>
          <a:prstGeom prst="rect">
            <a:avLst/>
          </a:prstGeom>
          <a:noFill/>
          <a:ln/>
        </p:spPr>
        <p:txBody>
          <a:bodyPr wrap="square" lIns="0" tIns="0" rIns="0" bIns="0" rtlCol="0" anchor="t">
            <a:normAutofit/>
          </a:bodyPr>
          <a:lstStyle/>
          <a:p>
            <a:pPr marL="0" indent="0" algn="l">
              <a:buNone/>
            </a:pPr>
            <a:r>
              <a:rPr lang="en-US" sz="1300" b="1" dirty="0">
                <a:solidFill>
                  <a:srgbClr val="DC2626"/>
                </a:solidFill>
                <a:latin typeface="Aptos" pitchFamily="34" charset="0"/>
                <a:ea typeface="Aptos" pitchFamily="34" charset="-122"/>
                <a:cs typeface="Aptos" pitchFamily="34" charset="-120"/>
              </a:rPr>
              <a:t>Incorrect cycle</a:t>
            </a:r>
            <a:endParaRPr lang="en-US" sz="1300" dirty="0"/>
          </a:p>
        </p:txBody>
      </p:sp>
      <p:sp>
        <p:nvSpPr>
          <p:cNvPr id="7" name="Text 4"/>
          <p:cNvSpPr/>
          <p:nvPr/>
        </p:nvSpPr>
        <p:spPr>
          <a:xfrm>
            <a:off x="1097280" y="1691640"/>
            <a:ext cx="1234440" cy="50292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train</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model</a:t>
            </a:r>
            <a:endParaRPr lang="en-US" sz="1000" dirty="0"/>
          </a:p>
        </p:txBody>
      </p:sp>
      <p:sp>
        <p:nvSpPr>
          <p:cNvPr id="8" name="Text 5"/>
          <p:cNvSpPr/>
          <p:nvPr/>
        </p:nvSpPr>
        <p:spPr>
          <a:xfrm>
            <a:off x="2743200" y="1691640"/>
            <a:ext cx="1371600" cy="50292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check</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test score</a:t>
            </a:r>
            <a:endParaRPr lang="en-US" sz="1000" dirty="0"/>
          </a:p>
        </p:txBody>
      </p:sp>
      <p:sp>
        <p:nvSpPr>
          <p:cNvPr id="9" name="Text 6"/>
          <p:cNvSpPr/>
          <p:nvPr/>
        </p:nvSpPr>
        <p:spPr>
          <a:xfrm>
            <a:off x="4526280" y="1691640"/>
            <a:ext cx="1325880" cy="50292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modify</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model</a:t>
            </a:r>
            <a:endParaRPr lang="en-US" sz="1000" dirty="0"/>
          </a:p>
        </p:txBody>
      </p:sp>
      <p:sp>
        <p:nvSpPr>
          <p:cNvPr id="10" name="Shape 7"/>
          <p:cNvSpPr/>
          <p:nvPr/>
        </p:nvSpPr>
        <p:spPr>
          <a:xfrm>
            <a:off x="2331720" y="1938528"/>
            <a:ext cx="365760" cy="0"/>
          </a:xfrm>
          <a:prstGeom prst="line">
            <a:avLst/>
          </a:prstGeom>
          <a:noFill/>
          <a:ln w="17780">
            <a:solidFill>
              <a:srgbClr val="DC2626"/>
            </a:solidFill>
            <a:prstDash val="solid"/>
            <a:tailEnd type="triangle"/>
          </a:ln>
        </p:spPr>
        <p:txBody>
          <a:bodyPr/>
          <a:lstStyle/>
          <a:p>
            <a:endParaRPr lang="en-GB"/>
          </a:p>
        </p:txBody>
      </p:sp>
      <p:sp>
        <p:nvSpPr>
          <p:cNvPr id="11" name="Shape 8"/>
          <p:cNvSpPr/>
          <p:nvPr/>
        </p:nvSpPr>
        <p:spPr>
          <a:xfrm>
            <a:off x="4114800" y="1938528"/>
            <a:ext cx="365760" cy="0"/>
          </a:xfrm>
          <a:prstGeom prst="line">
            <a:avLst/>
          </a:prstGeom>
          <a:noFill/>
          <a:ln w="17780">
            <a:solidFill>
              <a:srgbClr val="DC2626"/>
            </a:solidFill>
            <a:prstDash val="solid"/>
            <a:tailEnd type="triangle"/>
          </a:ln>
        </p:spPr>
        <p:txBody>
          <a:bodyPr/>
          <a:lstStyle/>
          <a:p>
            <a:endParaRPr lang="en-GB"/>
          </a:p>
        </p:txBody>
      </p:sp>
      <p:sp>
        <p:nvSpPr>
          <p:cNvPr id="12" name="Shape 9"/>
          <p:cNvSpPr/>
          <p:nvPr/>
        </p:nvSpPr>
        <p:spPr>
          <a:xfrm>
            <a:off x="5166360" y="2331720"/>
            <a:ext cx="0" cy="731520"/>
          </a:xfrm>
          <a:prstGeom prst="line">
            <a:avLst/>
          </a:prstGeom>
          <a:noFill/>
          <a:ln w="15240">
            <a:solidFill>
              <a:srgbClr val="DC2626"/>
            </a:solidFill>
            <a:prstDash val="solid"/>
            <a:tailEnd type="triangle"/>
          </a:ln>
        </p:spPr>
        <p:txBody>
          <a:bodyPr/>
          <a:lstStyle/>
          <a:p>
            <a:endParaRPr lang="en-GB"/>
          </a:p>
        </p:txBody>
      </p:sp>
      <p:sp>
        <p:nvSpPr>
          <p:cNvPr id="14" name="Text 11"/>
          <p:cNvSpPr/>
          <p:nvPr/>
        </p:nvSpPr>
        <p:spPr>
          <a:xfrm>
            <a:off x="1965960" y="3291840"/>
            <a:ext cx="3383280" cy="228600"/>
          </a:xfrm>
          <a:prstGeom prst="rect">
            <a:avLst/>
          </a:prstGeom>
          <a:noFill/>
          <a:ln/>
        </p:spPr>
        <p:txBody>
          <a:bodyPr wrap="square" lIns="0" tIns="0" rIns="0" bIns="0" rtlCol="0" anchor="t">
            <a:normAutofit/>
          </a:bodyPr>
          <a:lstStyle/>
          <a:p>
            <a:pPr marL="0" indent="0" algn="ctr">
              <a:buNone/>
            </a:pPr>
            <a:r>
              <a:rPr lang="en-US" sz="900" b="1" dirty="0">
                <a:solidFill>
                  <a:srgbClr val="DC2626"/>
                </a:solidFill>
                <a:latin typeface="Aptos" pitchFamily="34" charset="0"/>
                <a:ea typeface="Aptos" pitchFamily="34" charset="-122"/>
                <a:cs typeface="Aptos" pitchFamily="34" charset="-120"/>
              </a:rPr>
              <a:t>test performance influences development</a:t>
            </a:r>
            <a:endParaRPr lang="en-US" sz="900" dirty="0"/>
          </a:p>
        </p:txBody>
      </p:sp>
      <p:sp>
        <p:nvSpPr>
          <p:cNvPr id="15" name="Text 12"/>
          <p:cNvSpPr/>
          <p:nvPr/>
        </p:nvSpPr>
        <p:spPr>
          <a:xfrm>
            <a:off x="822960" y="4069080"/>
            <a:ext cx="1828800" cy="274320"/>
          </a:xfrm>
          <a:prstGeom prst="rect">
            <a:avLst/>
          </a:prstGeom>
          <a:noFill/>
          <a:ln/>
        </p:spPr>
        <p:txBody>
          <a:bodyPr wrap="square" lIns="0" tIns="0" rIns="0" bIns="0" rtlCol="0" anchor="t">
            <a:normAutofit/>
          </a:bodyPr>
          <a:lstStyle/>
          <a:p>
            <a:pPr marL="0" indent="0" algn="l">
              <a:buNone/>
            </a:pPr>
            <a:r>
              <a:rPr lang="en-US" sz="1300" b="1" dirty="0">
                <a:solidFill>
                  <a:srgbClr val="5C9A17"/>
                </a:solidFill>
                <a:latin typeface="Aptos" pitchFamily="34" charset="0"/>
                <a:ea typeface="Aptos" pitchFamily="34" charset="-122"/>
                <a:cs typeface="Aptos" pitchFamily="34" charset="-120"/>
              </a:rPr>
              <a:t>Correct cycle</a:t>
            </a:r>
            <a:endParaRPr lang="en-US" sz="1300" dirty="0"/>
          </a:p>
        </p:txBody>
      </p:sp>
      <p:sp>
        <p:nvSpPr>
          <p:cNvPr id="16" name="Text 13"/>
          <p:cNvSpPr/>
          <p:nvPr/>
        </p:nvSpPr>
        <p:spPr>
          <a:xfrm>
            <a:off x="1097280" y="4572000"/>
            <a:ext cx="1658112" cy="59436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training +</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validation</a:t>
            </a:r>
            <a:endParaRPr lang="en-US" sz="1000" dirty="0"/>
          </a:p>
        </p:txBody>
      </p:sp>
      <p:sp>
        <p:nvSpPr>
          <p:cNvPr id="17" name="Shape 14"/>
          <p:cNvSpPr/>
          <p:nvPr/>
        </p:nvSpPr>
        <p:spPr>
          <a:xfrm>
            <a:off x="2773680" y="4869180"/>
            <a:ext cx="109728" cy="0"/>
          </a:xfrm>
          <a:prstGeom prst="line">
            <a:avLst/>
          </a:prstGeom>
          <a:noFill/>
          <a:ln w="20320">
            <a:solidFill>
              <a:srgbClr val="5C9A17"/>
            </a:solidFill>
            <a:prstDash val="solid"/>
            <a:tailEnd type="triangle"/>
          </a:ln>
        </p:spPr>
        <p:txBody>
          <a:bodyPr/>
          <a:lstStyle/>
          <a:p>
            <a:endParaRPr lang="en-GB"/>
          </a:p>
        </p:txBody>
      </p:sp>
      <p:sp>
        <p:nvSpPr>
          <p:cNvPr id="18" name="Text 15"/>
          <p:cNvSpPr/>
          <p:nvPr/>
        </p:nvSpPr>
        <p:spPr>
          <a:xfrm>
            <a:off x="2919984" y="4572000"/>
            <a:ext cx="1658112" cy="59436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freeze</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solution</a:t>
            </a:r>
            <a:endParaRPr lang="en-US" sz="1000" dirty="0"/>
          </a:p>
        </p:txBody>
      </p:sp>
      <p:sp>
        <p:nvSpPr>
          <p:cNvPr id="19" name="Shape 16"/>
          <p:cNvSpPr/>
          <p:nvPr/>
        </p:nvSpPr>
        <p:spPr>
          <a:xfrm>
            <a:off x="4596384" y="4869180"/>
            <a:ext cx="109728" cy="0"/>
          </a:xfrm>
          <a:prstGeom prst="line">
            <a:avLst/>
          </a:prstGeom>
          <a:noFill/>
          <a:ln w="20320">
            <a:solidFill>
              <a:srgbClr val="5C9A17"/>
            </a:solidFill>
            <a:prstDash val="solid"/>
            <a:tailEnd type="triangle"/>
          </a:ln>
        </p:spPr>
        <p:txBody>
          <a:bodyPr/>
          <a:lstStyle/>
          <a:p>
            <a:endParaRPr lang="en-GB"/>
          </a:p>
        </p:txBody>
      </p:sp>
      <p:sp>
        <p:nvSpPr>
          <p:cNvPr id="20" name="Text 17"/>
          <p:cNvSpPr/>
          <p:nvPr/>
        </p:nvSpPr>
        <p:spPr>
          <a:xfrm>
            <a:off x="4742688" y="4572000"/>
            <a:ext cx="1658112" cy="59436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evaluate</a:t>
            </a:r>
            <a:endParaRPr lang="en-US" sz="1000" dirty="0"/>
          </a:p>
          <a:p>
            <a:pPr marL="0" indent="0" algn="ctr">
              <a:buNone/>
            </a:pPr>
            <a:r>
              <a:rPr lang="en-US" sz="1000" b="1" dirty="0">
                <a:solidFill>
                  <a:srgbClr val="FFFFFF"/>
                </a:solidFill>
                <a:latin typeface="Aptos" pitchFamily="34" charset="0"/>
                <a:ea typeface="Aptos" pitchFamily="34" charset="-122"/>
                <a:cs typeface="Aptos" pitchFamily="34" charset="-120"/>
              </a:rPr>
              <a:t>once on test</a:t>
            </a:r>
            <a:endParaRPr lang="en-US" sz="1000" dirty="0"/>
          </a:p>
        </p:txBody>
      </p:sp>
      <p:sp>
        <p:nvSpPr>
          <p:cNvPr id="22" name="Shape 9">
            <a:extLst>
              <a:ext uri="{FF2B5EF4-FFF2-40B4-BE49-F238E27FC236}">
                <a16:creationId xmlns:a16="http://schemas.microsoft.com/office/drawing/2014/main" id="{4F929F61-AFD8-9B0B-A656-31573135AFCB}"/>
              </a:ext>
            </a:extLst>
          </p:cNvPr>
          <p:cNvSpPr/>
          <p:nvPr/>
        </p:nvSpPr>
        <p:spPr>
          <a:xfrm flipH="1" flipV="1">
            <a:off x="1753985" y="3104341"/>
            <a:ext cx="3406139" cy="1"/>
          </a:xfrm>
          <a:prstGeom prst="line">
            <a:avLst/>
          </a:prstGeom>
          <a:noFill/>
          <a:ln w="15240">
            <a:solidFill>
              <a:srgbClr val="DC2626"/>
            </a:solidFill>
            <a:prstDash val="solid"/>
            <a:tailEnd type="triangle"/>
          </a:ln>
        </p:spPr>
        <p:txBody>
          <a:bodyPr/>
          <a:lstStyle/>
          <a:p>
            <a:endParaRPr lang="en-GB"/>
          </a:p>
        </p:txBody>
      </p:sp>
      <p:sp>
        <p:nvSpPr>
          <p:cNvPr id="24" name="Shape 9">
            <a:extLst>
              <a:ext uri="{FF2B5EF4-FFF2-40B4-BE49-F238E27FC236}">
                <a16:creationId xmlns:a16="http://schemas.microsoft.com/office/drawing/2014/main" id="{53F4824F-C279-4078-F4E3-ED128B8A84D9}"/>
              </a:ext>
            </a:extLst>
          </p:cNvPr>
          <p:cNvSpPr/>
          <p:nvPr/>
        </p:nvSpPr>
        <p:spPr>
          <a:xfrm flipH="1" flipV="1">
            <a:off x="1737360" y="2257829"/>
            <a:ext cx="8313" cy="725515"/>
          </a:xfrm>
          <a:prstGeom prst="line">
            <a:avLst/>
          </a:prstGeom>
          <a:noFill/>
          <a:ln w="15240">
            <a:solidFill>
              <a:srgbClr val="DC2626"/>
            </a:solidFill>
            <a:prstDash val="solid"/>
            <a:tailEnd type="triangle"/>
          </a:ln>
        </p:spPr>
        <p:txBody>
          <a:bodyPr/>
          <a:lstStyle/>
          <a:p>
            <a:endParaRPr lang="en-GB"/>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EACC22-1533-57E3-1CB6-304955F307C7}"/>
              </a:ext>
            </a:extLst>
          </p:cNvPr>
          <p:cNvSpPr>
            <a:spLocks noGrp="1"/>
          </p:cNvSpPr>
          <p:nvPr>
            <p:ph type="title"/>
          </p:nvPr>
        </p:nvSpPr>
        <p:spPr/>
        <p:txBody>
          <a:bodyPr/>
          <a:lstStyle/>
          <a:p>
            <a:r>
              <a:rPr lang="en-GB" dirty="0"/>
              <a:t>After model selection: can training and validation be combined?</a:t>
            </a:r>
          </a:p>
        </p:txBody>
      </p:sp>
      <p:sp>
        <p:nvSpPr>
          <p:cNvPr id="3" name="Segnaposto contenuto 2">
            <a:extLst>
              <a:ext uri="{FF2B5EF4-FFF2-40B4-BE49-F238E27FC236}">
                <a16:creationId xmlns:a16="http://schemas.microsoft.com/office/drawing/2014/main" id="{A5A2A708-ABBD-2794-4F85-353C15518E86}"/>
              </a:ext>
            </a:extLst>
          </p:cNvPr>
          <p:cNvSpPr>
            <a:spLocks noGrp="1"/>
          </p:cNvSpPr>
          <p:nvPr>
            <p:ph idx="1"/>
          </p:nvPr>
        </p:nvSpPr>
        <p:spPr/>
        <p:txBody>
          <a:bodyPr>
            <a:normAutofit fontScale="55000" lnSpcReduction="20000"/>
          </a:bodyPr>
          <a:lstStyle/>
          <a:p>
            <a:r>
              <a:rPr lang="en-GB" b="1" dirty="0"/>
              <a:t>Once:</a:t>
            </a:r>
          </a:p>
          <a:p>
            <a:pPr lvl="1"/>
            <a:r>
              <a:rPr lang="en-GB" dirty="0"/>
              <a:t>the model family has been selected;</a:t>
            </a:r>
          </a:p>
          <a:p>
            <a:pPr lvl="1"/>
            <a:r>
              <a:rPr lang="en-GB" dirty="0"/>
              <a:t>hyperparameters are fixed;</a:t>
            </a:r>
          </a:p>
          <a:p>
            <a:pPr lvl="1"/>
            <a:r>
              <a:rPr lang="en-GB" dirty="0"/>
              <a:t>preprocessing decisions are fixed;</a:t>
            </a:r>
          </a:p>
          <a:p>
            <a:pPr lvl="1"/>
            <a:r>
              <a:rPr lang="en-GB" dirty="0"/>
              <a:t>thresholds are fixed;</a:t>
            </a:r>
          </a:p>
          <a:p>
            <a:r>
              <a:rPr lang="en-GB" dirty="0"/>
              <a:t>the validation data may be incorporated into the final training set.</a:t>
            </a:r>
          </a:p>
          <a:p>
            <a:r>
              <a:rPr lang="en-GB" b="1" dirty="0"/>
              <a:t>Development stage</a:t>
            </a:r>
          </a:p>
          <a:p>
            <a:pPr lvl="1"/>
            <a:r>
              <a:rPr lang="en-GB" dirty="0"/>
              <a:t>training → fit candidate models</a:t>
            </a:r>
          </a:p>
          <a:p>
            <a:pPr lvl="1"/>
            <a:r>
              <a:rPr lang="en-GB" dirty="0"/>
              <a:t>validation → select model and hyperparameters</a:t>
            </a:r>
          </a:p>
          <a:p>
            <a:r>
              <a:rPr lang="en-GB" b="1" dirty="0"/>
              <a:t>Final fitting stage</a:t>
            </a:r>
          </a:p>
          <a:p>
            <a:pPr lvl="1"/>
            <a:r>
              <a:rPr lang="en-GB" b="1" dirty="0"/>
              <a:t>training + validation</a:t>
            </a:r>
          </a:p>
          <a:p>
            <a:pPr lvl="1"/>
            <a:r>
              <a:rPr lang="en-GB" dirty="0"/>
              <a:t>        ↓</a:t>
            </a:r>
          </a:p>
          <a:p>
            <a:pPr lvl="1"/>
            <a:r>
              <a:rPr lang="en-GB" dirty="0"/>
              <a:t>refit preprocessing</a:t>
            </a:r>
          </a:p>
          <a:p>
            <a:pPr lvl="1"/>
            <a:r>
              <a:rPr lang="en-GB" dirty="0"/>
              <a:t>        ↓</a:t>
            </a:r>
          </a:p>
          <a:p>
            <a:pPr lvl="1"/>
            <a:r>
              <a:rPr lang="en-GB" dirty="0"/>
              <a:t>refit selected model</a:t>
            </a:r>
          </a:p>
          <a:p>
            <a:pPr lvl="1"/>
            <a:r>
              <a:rPr lang="en-GB" dirty="0"/>
              <a:t>The final model can then be evaluated on the untouched test set.</a:t>
            </a:r>
          </a:p>
          <a:p>
            <a:endParaRPr lang="en-GB" dirty="0"/>
          </a:p>
        </p:txBody>
      </p:sp>
    </p:spTree>
    <p:extLst>
      <p:ext uri="{BB962C8B-B14F-4D97-AF65-F5344CB8AC3E}">
        <p14:creationId xmlns:p14="http://schemas.microsoft.com/office/powerpoint/2010/main" val="310050958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41F4F5F-5100-09BB-B49A-7AD46ACA084C}"/>
              </a:ext>
            </a:extLst>
          </p:cNvPr>
          <p:cNvSpPr>
            <a:spLocks noGrp="1"/>
          </p:cNvSpPr>
          <p:nvPr>
            <p:ph type="title"/>
          </p:nvPr>
        </p:nvSpPr>
        <p:spPr/>
        <p:txBody>
          <a:bodyPr/>
          <a:lstStyle/>
          <a:p>
            <a:r>
              <a:rPr lang="it-IT" dirty="0"/>
              <a:t>Why </a:t>
            </a:r>
            <a:r>
              <a:rPr lang="it-IT" dirty="0" err="1"/>
              <a:t>refit</a:t>
            </a:r>
            <a:r>
              <a:rPr lang="it-IT" dirty="0"/>
              <a:t>?</a:t>
            </a:r>
            <a:endParaRPr lang="en-GB" dirty="0"/>
          </a:p>
        </p:txBody>
      </p:sp>
      <p:sp>
        <p:nvSpPr>
          <p:cNvPr id="3" name="Segnaposto contenuto 2">
            <a:extLst>
              <a:ext uri="{FF2B5EF4-FFF2-40B4-BE49-F238E27FC236}">
                <a16:creationId xmlns:a16="http://schemas.microsoft.com/office/drawing/2014/main" id="{662CAF7E-35D9-CC5C-9D5A-E30CDD4F96C0}"/>
              </a:ext>
            </a:extLst>
          </p:cNvPr>
          <p:cNvSpPr>
            <a:spLocks noGrp="1"/>
          </p:cNvSpPr>
          <p:nvPr>
            <p:ph idx="1"/>
          </p:nvPr>
        </p:nvSpPr>
        <p:spPr/>
        <p:txBody>
          <a:bodyPr>
            <a:normAutofit fontScale="62500" lnSpcReduction="20000"/>
          </a:bodyPr>
          <a:lstStyle/>
          <a:p>
            <a:r>
              <a:rPr lang="en-GB" b="1" dirty="0"/>
              <a:t>Why refit?</a:t>
            </a:r>
          </a:p>
          <a:p>
            <a:r>
              <a:rPr lang="en-GB" dirty="0"/>
              <a:t>Validation observations contain useful information.</a:t>
            </a:r>
          </a:p>
          <a:p>
            <a:r>
              <a:rPr lang="en-GB" dirty="0"/>
              <a:t>Once they are no longer needed for model selection, excluding them may unnecessarily reduce the available training data.</a:t>
            </a:r>
          </a:p>
          <a:p>
            <a:r>
              <a:rPr lang="en-GB" b="1" dirty="0"/>
              <a:t>Conditions</a:t>
            </a:r>
          </a:p>
          <a:p>
            <a:r>
              <a:rPr lang="en-GB" dirty="0"/>
              <a:t>The procedure is valid only if:</a:t>
            </a:r>
          </a:p>
          <a:p>
            <a:pPr lvl="1"/>
            <a:r>
              <a:rPr lang="en-GB" dirty="0"/>
              <a:t>all modelling decisions are already fixed;</a:t>
            </a:r>
          </a:p>
          <a:p>
            <a:pPr lvl="1"/>
            <a:r>
              <a:rPr lang="en-GB" dirty="0"/>
              <a:t>the test set is left untouched;</a:t>
            </a:r>
          </a:p>
          <a:p>
            <a:pPr lvl="1"/>
            <a:r>
              <a:rPr lang="en-GB" dirty="0"/>
              <a:t>preprocessing is refitted using the combined training + validation data;</a:t>
            </a:r>
          </a:p>
          <a:p>
            <a:pPr lvl="1"/>
            <a:r>
              <a:rPr lang="en-GB" dirty="0"/>
              <a:t>the final model is not modified after observing test performance.</a:t>
            </a:r>
          </a:p>
          <a:p>
            <a:r>
              <a:rPr lang="en-GB" b="1" dirty="0"/>
              <a:t>Temporal interpretation</a:t>
            </a:r>
          </a:p>
          <a:p>
            <a:r>
              <a:rPr lang="en-GB" dirty="0"/>
              <a:t>For a chronological split:</a:t>
            </a:r>
          </a:p>
          <a:p>
            <a:r>
              <a:rPr lang="en-GB" dirty="0"/>
              <a:t>|------ training ------|-- validation --|-- test --|</a:t>
            </a:r>
          </a:p>
          <a:p>
            <a:r>
              <a:rPr lang="en-GB" dirty="0"/>
              <a:t>after model selection:</a:t>
            </a:r>
          </a:p>
          <a:p>
            <a:r>
              <a:rPr lang="en-GB" dirty="0"/>
              <a:t>|-------- final training --------|-- test --|</a:t>
            </a:r>
          </a:p>
          <a:p>
            <a:r>
              <a:rPr lang="en-GB" dirty="0"/>
              <a:t>This resembles a deployment made immediately after the test period using all historical information available at that time.</a:t>
            </a:r>
          </a:p>
          <a:p>
            <a:endParaRPr lang="en-GB" dirty="0"/>
          </a:p>
        </p:txBody>
      </p:sp>
    </p:spTree>
    <p:extLst>
      <p:ext uri="{BB962C8B-B14F-4D97-AF65-F5344CB8AC3E}">
        <p14:creationId xmlns:p14="http://schemas.microsoft.com/office/powerpoint/2010/main" val="350617586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2.F</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After model selection, training and validation can be combined</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Once decisions are fixed, validation data may be used for final fitting before testing.</a:t>
            </a:r>
            <a:endParaRPr lang="en-US" sz="950" dirty="0"/>
          </a:p>
        </p:txBody>
      </p:sp>
      <p:sp>
        <p:nvSpPr>
          <p:cNvPr id="6" name="Text 3"/>
          <p:cNvSpPr/>
          <p:nvPr/>
        </p:nvSpPr>
        <p:spPr>
          <a:xfrm>
            <a:off x="868680" y="1170432"/>
            <a:ext cx="1828800" cy="274320"/>
          </a:xfrm>
          <a:prstGeom prst="rect">
            <a:avLst/>
          </a:prstGeom>
          <a:noFill/>
          <a:ln/>
        </p:spPr>
        <p:txBody>
          <a:bodyPr wrap="square" lIns="0" tIns="0" rIns="0" bIns="0" rtlCol="0" anchor="t">
            <a:normAutofit/>
          </a:bodyPr>
          <a:lstStyle/>
          <a:p>
            <a:pPr marL="0" indent="0" algn="l">
              <a:buNone/>
            </a:pPr>
            <a:r>
              <a:rPr lang="en-US" sz="1300" b="1" dirty="0">
                <a:solidFill>
                  <a:srgbClr val="111827"/>
                </a:solidFill>
                <a:latin typeface="Aptos" pitchFamily="34" charset="0"/>
                <a:ea typeface="Aptos" pitchFamily="34" charset="-122"/>
                <a:cs typeface="Aptos" pitchFamily="34" charset="-120"/>
              </a:rPr>
              <a:t>Development stage</a:t>
            </a:r>
            <a:endParaRPr lang="en-US" sz="1300" dirty="0"/>
          </a:p>
        </p:txBody>
      </p:sp>
      <p:sp>
        <p:nvSpPr>
          <p:cNvPr id="7" name="Shape 4"/>
          <p:cNvSpPr/>
          <p:nvPr/>
        </p:nvSpPr>
        <p:spPr>
          <a:xfrm>
            <a:off x="868680" y="1572768"/>
            <a:ext cx="4297680" cy="347472"/>
          </a:xfrm>
          <a:prstGeom prst="rect">
            <a:avLst/>
          </a:prstGeom>
          <a:solidFill>
            <a:srgbClr val="2563EB"/>
          </a:solidFill>
          <a:ln w="12700">
            <a:solidFill>
              <a:srgbClr val="2563EB"/>
            </a:solidFill>
            <a:prstDash val="solid"/>
          </a:ln>
        </p:spPr>
        <p:txBody>
          <a:bodyPr/>
          <a:lstStyle/>
          <a:p>
            <a:endParaRPr lang="en-GB"/>
          </a:p>
        </p:txBody>
      </p:sp>
      <p:sp>
        <p:nvSpPr>
          <p:cNvPr id="8" name="Shape 5"/>
          <p:cNvSpPr/>
          <p:nvPr/>
        </p:nvSpPr>
        <p:spPr>
          <a:xfrm>
            <a:off x="5166360" y="1572768"/>
            <a:ext cx="1645920" cy="347472"/>
          </a:xfrm>
          <a:prstGeom prst="rect">
            <a:avLst/>
          </a:prstGeom>
          <a:solidFill>
            <a:srgbClr val="F59E0B"/>
          </a:solidFill>
          <a:ln w="12700">
            <a:solidFill>
              <a:srgbClr val="F59E0B"/>
            </a:solidFill>
            <a:prstDash val="solid"/>
          </a:ln>
        </p:spPr>
        <p:txBody>
          <a:bodyPr/>
          <a:lstStyle/>
          <a:p>
            <a:endParaRPr lang="en-GB"/>
          </a:p>
        </p:txBody>
      </p:sp>
      <p:sp>
        <p:nvSpPr>
          <p:cNvPr id="9" name="Shape 6"/>
          <p:cNvSpPr/>
          <p:nvPr/>
        </p:nvSpPr>
        <p:spPr>
          <a:xfrm>
            <a:off x="6812280" y="1572768"/>
            <a:ext cx="1828800" cy="347472"/>
          </a:xfrm>
          <a:prstGeom prst="rect">
            <a:avLst/>
          </a:prstGeom>
          <a:solidFill>
            <a:srgbClr val="DC2626"/>
          </a:solidFill>
          <a:ln w="12700">
            <a:solidFill>
              <a:srgbClr val="DC2626"/>
            </a:solidFill>
            <a:prstDash val="solid"/>
          </a:ln>
        </p:spPr>
        <p:txBody>
          <a:bodyPr/>
          <a:lstStyle/>
          <a:p>
            <a:endParaRPr lang="en-GB"/>
          </a:p>
        </p:txBody>
      </p:sp>
      <p:sp>
        <p:nvSpPr>
          <p:cNvPr id="10" name="Text 7"/>
          <p:cNvSpPr/>
          <p:nvPr/>
        </p:nvSpPr>
        <p:spPr>
          <a:xfrm>
            <a:off x="2514600" y="1636776"/>
            <a:ext cx="914400"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training</a:t>
            </a:r>
            <a:endParaRPr lang="en-US" sz="900" dirty="0"/>
          </a:p>
        </p:txBody>
      </p:sp>
      <p:sp>
        <p:nvSpPr>
          <p:cNvPr id="11" name="Text 8"/>
          <p:cNvSpPr/>
          <p:nvPr/>
        </p:nvSpPr>
        <p:spPr>
          <a:xfrm>
            <a:off x="5394960" y="1636776"/>
            <a:ext cx="1143000"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validation</a:t>
            </a:r>
            <a:endParaRPr lang="en-US" sz="900" dirty="0"/>
          </a:p>
        </p:txBody>
      </p:sp>
      <p:sp>
        <p:nvSpPr>
          <p:cNvPr id="12" name="Text 9"/>
          <p:cNvSpPr/>
          <p:nvPr/>
        </p:nvSpPr>
        <p:spPr>
          <a:xfrm>
            <a:off x="7269480" y="1636776"/>
            <a:ext cx="731520"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test</a:t>
            </a:r>
            <a:endParaRPr lang="en-US" sz="900" dirty="0"/>
          </a:p>
        </p:txBody>
      </p:sp>
      <p:sp>
        <p:nvSpPr>
          <p:cNvPr id="13" name="Text 10"/>
          <p:cNvSpPr/>
          <p:nvPr/>
        </p:nvSpPr>
        <p:spPr>
          <a:xfrm>
            <a:off x="3383280" y="2139696"/>
            <a:ext cx="3474720" cy="228600"/>
          </a:xfrm>
          <a:prstGeom prst="rect">
            <a:avLst/>
          </a:prstGeom>
          <a:noFill/>
          <a:ln/>
        </p:spPr>
        <p:txBody>
          <a:bodyPr wrap="square" lIns="0" tIns="0" rIns="0" bIns="0" rtlCol="0" anchor="t">
            <a:normAutofit/>
          </a:bodyPr>
          <a:lstStyle/>
          <a:p>
            <a:pPr marL="0" indent="0" algn="ctr">
              <a:buNone/>
            </a:pPr>
            <a:r>
              <a:rPr lang="en-US" sz="900" dirty="0">
                <a:solidFill>
                  <a:srgbClr val="F59E0B"/>
                </a:solidFill>
                <a:latin typeface="Aptos" pitchFamily="34" charset="0"/>
                <a:ea typeface="Aptos" pitchFamily="34" charset="-122"/>
                <a:cs typeface="Aptos" pitchFamily="34" charset="-120"/>
              </a:rPr>
              <a:t>model and hyperparameters selected using validation</a:t>
            </a:r>
            <a:endParaRPr lang="en-US" sz="900" dirty="0"/>
          </a:p>
        </p:txBody>
      </p:sp>
      <p:sp>
        <p:nvSpPr>
          <p:cNvPr id="14" name="Text 11"/>
          <p:cNvSpPr/>
          <p:nvPr/>
        </p:nvSpPr>
        <p:spPr>
          <a:xfrm>
            <a:off x="868680" y="3520440"/>
            <a:ext cx="1828800" cy="274320"/>
          </a:xfrm>
          <a:prstGeom prst="rect">
            <a:avLst/>
          </a:prstGeom>
          <a:noFill/>
          <a:ln/>
        </p:spPr>
        <p:txBody>
          <a:bodyPr wrap="square" lIns="0" tIns="0" rIns="0" bIns="0" rtlCol="0" anchor="t">
            <a:normAutofit/>
          </a:bodyPr>
          <a:lstStyle/>
          <a:p>
            <a:pPr marL="0" indent="0" algn="l">
              <a:buNone/>
            </a:pPr>
            <a:r>
              <a:rPr lang="en-US" sz="1300" b="1" dirty="0">
                <a:solidFill>
                  <a:srgbClr val="111827"/>
                </a:solidFill>
                <a:highlight>
                  <a:srgbClr val="FFFF00"/>
                </a:highlight>
                <a:latin typeface="Aptos" pitchFamily="34" charset="0"/>
                <a:ea typeface="Aptos" pitchFamily="34" charset="-122"/>
                <a:cs typeface="Aptos" pitchFamily="34" charset="-120"/>
              </a:rPr>
              <a:t>Final fitting </a:t>
            </a:r>
            <a:r>
              <a:rPr lang="en-US" sz="1300" b="1" dirty="0">
                <a:solidFill>
                  <a:srgbClr val="111827"/>
                </a:solidFill>
                <a:latin typeface="Aptos" pitchFamily="34" charset="0"/>
                <a:ea typeface="Aptos" pitchFamily="34" charset="-122"/>
                <a:cs typeface="Aptos" pitchFamily="34" charset="-120"/>
              </a:rPr>
              <a:t>stage</a:t>
            </a:r>
            <a:endParaRPr lang="en-US" sz="1300" dirty="0"/>
          </a:p>
        </p:txBody>
      </p:sp>
      <p:sp>
        <p:nvSpPr>
          <p:cNvPr id="15" name="Shape 12"/>
          <p:cNvSpPr/>
          <p:nvPr/>
        </p:nvSpPr>
        <p:spPr>
          <a:xfrm>
            <a:off x="868680" y="3931920"/>
            <a:ext cx="5943600" cy="347472"/>
          </a:xfrm>
          <a:prstGeom prst="rect">
            <a:avLst/>
          </a:prstGeom>
          <a:solidFill>
            <a:srgbClr val="5C9A17"/>
          </a:solidFill>
          <a:ln w="12700">
            <a:solidFill>
              <a:srgbClr val="5C9A17"/>
            </a:solidFill>
            <a:prstDash val="solid"/>
          </a:ln>
        </p:spPr>
        <p:txBody>
          <a:bodyPr/>
          <a:lstStyle/>
          <a:p>
            <a:endParaRPr lang="en-GB"/>
          </a:p>
        </p:txBody>
      </p:sp>
      <p:sp>
        <p:nvSpPr>
          <p:cNvPr id="16" name="Shape 13"/>
          <p:cNvSpPr/>
          <p:nvPr/>
        </p:nvSpPr>
        <p:spPr>
          <a:xfrm>
            <a:off x="6812280" y="3931920"/>
            <a:ext cx="1828800" cy="347472"/>
          </a:xfrm>
          <a:prstGeom prst="rect">
            <a:avLst/>
          </a:prstGeom>
          <a:solidFill>
            <a:srgbClr val="DC2626"/>
          </a:solidFill>
          <a:ln w="12700">
            <a:solidFill>
              <a:srgbClr val="DC2626"/>
            </a:solidFill>
            <a:prstDash val="solid"/>
          </a:ln>
        </p:spPr>
        <p:txBody>
          <a:bodyPr/>
          <a:lstStyle/>
          <a:p>
            <a:endParaRPr lang="en-GB"/>
          </a:p>
        </p:txBody>
      </p:sp>
      <p:sp>
        <p:nvSpPr>
          <p:cNvPr id="17" name="Text 14"/>
          <p:cNvSpPr/>
          <p:nvPr/>
        </p:nvSpPr>
        <p:spPr>
          <a:xfrm>
            <a:off x="2926080" y="3995928"/>
            <a:ext cx="2148840"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final training = training + validation</a:t>
            </a:r>
            <a:endParaRPr lang="en-US" sz="900" dirty="0"/>
          </a:p>
        </p:txBody>
      </p:sp>
      <p:sp>
        <p:nvSpPr>
          <p:cNvPr id="18" name="Text 15"/>
          <p:cNvSpPr/>
          <p:nvPr/>
        </p:nvSpPr>
        <p:spPr>
          <a:xfrm>
            <a:off x="7269480" y="3995928"/>
            <a:ext cx="731520" cy="182880"/>
          </a:xfrm>
          <a:prstGeom prst="rect">
            <a:avLst/>
          </a:prstGeom>
          <a:noFill/>
          <a:ln/>
        </p:spPr>
        <p:txBody>
          <a:bodyPr wrap="square" lIns="0" tIns="0" rIns="0" bIns="0" rtlCol="0" anchor="t">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test</a:t>
            </a:r>
            <a:endParaRPr lang="en-US" sz="900" dirty="0"/>
          </a:p>
        </p:txBody>
      </p:sp>
      <p:sp>
        <p:nvSpPr>
          <p:cNvPr id="19" name="Text 16"/>
          <p:cNvSpPr/>
          <p:nvPr/>
        </p:nvSpPr>
        <p:spPr>
          <a:xfrm>
            <a:off x="1143000" y="5074920"/>
            <a:ext cx="5120640" cy="59436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b="1" dirty="0">
                <a:solidFill>
                  <a:srgbClr val="111827"/>
                </a:solidFill>
              </a:rPr>
              <a:t>Allowed only after all decisions are fixed and before the untouched test evaluation</a:t>
            </a:r>
            <a:r>
              <a:rPr lang="en-US" sz="950" dirty="0">
                <a:solidFill>
                  <a:srgbClr val="111827"/>
                </a:solidFill>
              </a:rPr>
              <a:t>.</a:t>
            </a:r>
            <a:endParaRPr lang="en-US" sz="9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05063DB-9B30-EBC7-14B3-35B7D6A3D613}"/>
              </a:ext>
            </a:extLst>
          </p:cNvPr>
          <p:cNvSpPr>
            <a:spLocks noGrp="1"/>
          </p:cNvSpPr>
          <p:nvPr>
            <p:ph type="title"/>
          </p:nvPr>
        </p:nvSpPr>
        <p:spPr/>
        <p:txBody>
          <a:bodyPr/>
          <a:lstStyle/>
          <a:p>
            <a:r>
              <a:rPr lang="en-GB" dirty="0"/>
              <a:t>Classification thresholds are model-selection parameters</a:t>
            </a:r>
          </a:p>
        </p:txBody>
      </p:sp>
      <p:sp>
        <p:nvSpPr>
          <p:cNvPr id="3" name="Segnaposto contenuto 2">
            <a:extLst>
              <a:ext uri="{FF2B5EF4-FFF2-40B4-BE49-F238E27FC236}">
                <a16:creationId xmlns:a16="http://schemas.microsoft.com/office/drawing/2014/main" id="{3F1C45EF-3D11-E5C6-AF59-1F3BAC11DBAD}"/>
              </a:ext>
            </a:extLst>
          </p:cNvPr>
          <p:cNvSpPr>
            <a:spLocks noGrp="1"/>
          </p:cNvSpPr>
          <p:nvPr>
            <p:ph idx="1"/>
          </p:nvPr>
        </p:nvSpPr>
        <p:spPr/>
        <p:txBody>
          <a:bodyPr>
            <a:normAutofit fontScale="62500" lnSpcReduction="20000"/>
          </a:bodyPr>
          <a:lstStyle/>
          <a:p>
            <a:r>
              <a:rPr lang="en-GB" dirty="0"/>
              <a:t>A classifier often produces a score or probability rather than a final decision.</a:t>
            </a:r>
          </a:p>
          <a:p>
            <a:r>
              <a:rPr lang="en-GB" dirty="0"/>
              <a:t>Example:</a:t>
            </a:r>
          </a:p>
          <a:p>
            <a:pPr lvl="1"/>
            <a:r>
              <a:rPr lang="en-GB" dirty="0"/>
              <a:t>P(fault) = 0.63</a:t>
            </a:r>
          </a:p>
          <a:p>
            <a:pPr lvl="1"/>
            <a:r>
              <a:rPr lang="en-GB" dirty="0"/>
              <a:t>A decision threshold is needed:</a:t>
            </a:r>
          </a:p>
          <a:p>
            <a:pPr lvl="1"/>
            <a:r>
              <a:rPr lang="en-GB" dirty="0"/>
              <a:t>predict fault if P(fault) ≥ threshold</a:t>
            </a:r>
          </a:p>
          <a:p>
            <a:r>
              <a:rPr lang="en-GB" dirty="0"/>
              <a:t>The default threshold 0.5 is not necessarily optimal.</a:t>
            </a:r>
          </a:p>
          <a:p>
            <a:endParaRPr lang="en-GB" b="1" dirty="0"/>
          </a:p>
          <a:p>
            <a:r>
              <a:rPr lang="en-GB" b="1" dirty="0"/>
              <a:t>Different thresholds produce different trade-offs</a:t>
            </a:r>
          </a:p>
          <a:p>
            <a:pPr lvl="1"/>
            <a:r>
              <a:rPr lang="en-GB" dirty="0"/>
              <a:t>A lower threshold may:</a:t>
            </a:r>
          </a:p>
          <a:p>
            <a:pPr lvl="2"/>
            <a:r>
              <a:rPr lang="en-GB" dirty="0"/>
              <a:t>detect more events;</a:t>
            </a:r>
          </a:p>
          <a:p>
            <a:pPr lvl="2"/>
            <a:r>
              <a:rPr lang="en-GB" dirty="0"/>
              <a:t>increase false alarms.</a:t>
            </a:r>
          </a:p>
          <a:p>
            <a:pPr lvl="1"/>
            <a:r>
              <a:rPr lang="en-GB" dirty="0"/>
              <a:t>A higher threshold may:</a:t>
            </a:r>
          </a:p>
          <a:p>
            <a:pPr lvl="2"/>
            <a:r>
              <a:rPr lang="en-GB" dirty="0"/>
              <a:t>reduce false alarms;</a:t>
            </a:r>
          </a:p>
          <a:p>
            <a:pPr lvl="2"/>
            <a:r>
              <a:rPr lang="en-GB" dirty="0"/>
              <a:t>miss more events.</a:t>
            </a:r>
          </a:p>
          <a:p>
            <a:r>
              <a:rPr lang="en-GB" b="1" dirty="0"/>
              <a:t>Threshold selection must use validation data</a:t>
            </a:r>
          </a:p>
          <a:p>
            <a:endParaRPr lang="en-GB" dirty="0"/>
          </a:p>
        </p:txBody>
      </p:sp>
    </p:spTree>
    <p:extLst>
      <p:ext uri="{BB962C8B-B14F-4D97-AF65-F5344CB8AC3E}">
        <p14:creationId xmlns:p14="http://schemas.microsoft.com/office/powerpoint/2010/main" val="228527443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80EB49-394A-0298-EBB9-4C785D2B9913}"/>
              </a:ext>
            </a:extLst>
          </p:cNvPr>
          <p:cNvSpPr>
            <a:spLocks noGrp="1"/>
          </p:cNvSpPr>
          <p:nvPr>
            <p:ph type="title"/>
          </p:nvPr>
        </p:nvSpPr>
        <p:spPr/>
        <p:txBody>
          <a:bodyPr/>
          <a:lstStyle/>
          <a:p>
            <a:r>
              <a:rPr lang="it-IT" dirty="0" err="1"/>
              <a:t>Example</a:t>
            </a:r>
            <a:endParaRPr lang="en-GB" dirty="0"/>
          </a:p>
        </p:txBody>
      </p:sp>
      <p:sp>
        <p:nvSpPr>
          <p:cNvPr id="3" name="Segnaposto contenuto 2">
            <a:extLst>
              <a:ext uri="{FF2B5EF4-FFF2-40B4-BE49-F238E27FC236}">
                <a16:creationId xmlns:a16="http://schemas.microsoft.com/office/drawing/2014/main" id="{D1C73279-9F9D-F2E2-6799-C9B3A33D65AF}"/>
              </a:ext>
            </a:extLst>
          </p:cNvPr>
          <p:cNvSpPr>
            <a:spLocks noGrp="1"/>
          </p:cNvSpPr>
          <p:nvPr>
            <p:ph idx="1"/>
          </p:nvPr>
        </p:nvSpPr>
        <p:spPr/>
        <p:txBody>
          <a:bodyPr>
            <a:normAutofit fontScale="85000" lnSpcReduction="20000"/>
          </a:bodyPr>
          <a:lstStyle/>
          <a:p>
            <a:r>
              <a:rPr lang="en-GB" dirty="0"/>
              <a:t>threshold = 0.30 → high recall, many false alarms</a:t>
            </a:r>
          </a:p>
          <a:p>
            <a:r>
              <a:rPr lang="en-GB" dirty="0"/>
              <a:t>threshold = 0.55 → balanced solution</a:t>
            </a:r>
          </a:p>
          <a:p>
            <a:r>
              <a:rPr lang="en-GB" dirty="0"/>
              <a:t>threshold = 0.80 → few false alarms, many missed events</a:t>
            </a:r>
          </a:p>
          <a:p>
            <a:r>
              <a:rPr lang="en-GB" dirty="0"/>
              <a:t>Choose the threshold using:</a:t>
            </a:r>
          </a:p>
          <a:p>
            <a:pPr lvl="1"/>
            <a:r>
              <a:rPr lang="en-GB" dirty="0"/>
              <a:t>validation performance;</a:t>
            </a:r>
          </a:p>
          <a:p>
            <a:pPr lvl="1"/>
            <a:r>
              <a:rPr lang="en-GB" dirty="0"/>
              <a:t>operational costs;</a:t>
            </a:r>
          </a:p>
          <a:p>
            <a:pPr lvl="1"/>
            <a:r>
              <a:rPr lang="en-GB" dirty="0"/>
              <a:t>required recall;</a:t>
            </a:r>
          </a:p>
          <a:p>
            <a:pPr lvl="1"/>
            <a:r>
              <a:rPr lang="en-GB" dirty="0"/>
              <a:t>acceptable false-alarm rate.</a:t>
            </a:r>
          </a:p>
          <a:p>
            <a:r>
              <a:rPr lang="en-GB" b="1" dirty="0"/>
              <a:t>Test-set rule</a:t>
            </a:r>
          </a:p>
          <a:p>
            <a:pPr lvl="1"/>
            <a:r>
              <a:rPr lang="en-GB" dirty="0"/>
              <a:t>The selected threshold must then stay fixed during test evaluation.</a:t>
            </a:r>
          </a:p>
          <a:p>
            <a:r>
              <a:rPr lang="en-GB" b="1" dirty="0"/>
              <a:t>Important consequence</a:t>
            </a:r>
          </a:p>
          <a:p>
            <a:r>
              <a:rPr lang="en-GB" dirty="0"/>
              <a:t>The threshold is part of the model-development process even if the predictive model itself does not change.</a:t>
            </a:r>
          </a:p>
          <a:p>
            <a:endParaRPr lang="en-GB" dirty="0"/>
          </a:p>
        </p:txBody>
      </p:sp>
    </p:spTree>
    <p:extLst>
      <p:ext uri="{BB962C8B-B14F-4D97-AF65-F5344CB8AC3E}">
        <p14:creationId xmlns:p14="http://schemas.microsoft.com/office/powerpoint/2010/main" val="248684555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2.F</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Classification thresholds are model-selection parameters</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The threshold changes the trade-off between missed events and false alarms.</a:t>
            </a:r>
            <a:endParaRPr lang="en-US" sz="950" dirty="0"/>
          </a:p>
        </p:txBody>
      </p:sp>
      <p:sp>
        <p:nvSpPr>
          <p:cNvPr id="6" name="Shape 3"/>
          <p:cNvSpPr/>
          <p:nvPr/>
        </p:nvSpPr>
        <p:spPr>
          <a:xfrm>
            <a:off x="914400" y="2194560"/>
            <a:ext cx="7406640" cy="0"/>
          </a:xfrm>
          <a:prstGeom prst="line">
            <a:avLst/>
          </a:prstGeom>
          <a:noFill/>
          <a:ln w="25400">
            <a:solidFill>
              <a:srgbClr val="6B7280"/>
            </a:solidFill>
            <a:prstDash val="solid"/>
          </a:ln>
        </p:spPr>
        <p:txBody>
          <a:bodyPr/>
          <a:lstStyle/>
          <a:p>
            <a:endParaRPr lang="en-GB"/>
          </a:p>
        </p:txBody>
      </p:sp>
      <p:sp>
        <p:nvSpPr>
          <p:cNvPr id="7" name="Shape 4"/>
          <p:cNvSpPr/>
          <p:nvPr/>
        </p:nvSpPr>
        <p:spPr>
          <a:xfrm>
            <a:off x="914400" y="2121408"/>
            <a:ext cx="0" cy="146304"/>
          </a:xfrm>
          <a:prstGeom prst="line">
            <a:avLst/>
          </a:prstGeom>
          <a:noFill/>
          <a:ln w="12700">
            <a:solidFill>
              <a:srgbClr val="6B7280"/>
            </a:solidFill>
            <a:prstDash val="solid"/>
          </a:ln>
        </p:spPr>
        <p:txBody>
          <a:bodyPr/>
          <a:lstStyle/>
          <a:p>
            <a:endParaRPr lang="en-GB"/>
          </a:p>
        </p:txBody>
      </p:sp>
      <p:sp>
        <p:nvSpPr>
          <p:cNvPr id="8" name="Text 5"/>
          <p:cNvSpPr/>
          <p:nvPr/>
        </p:nvSpPr>
        <p:spPr>
          <a:xfrm>
            <a:off x="777240" y="2359152"/>
            <a:ext cx="274320" cy="164592"/>
          </a:xfrm>
          <a:prstGeom prst="rect">
            <a:avLst/>
          </a:prstGeom>
          <a:noFill/>
          <a:ln/>
        </p:spPr>
        <p:txBody>
          <a:bodyPr wrap="square" lIns="0" tIns="0" rIns="0" bIns="0" rtlCol="0" anchor="t">
            <a:normAutofit/>
          </a:bodyPr>
          <a:lstStyle/>
          <a:p>
            <a:pPr marL="0" indent="0" algn="ctr">
              <a:buNone/>
            </a:pPr>
            <a:r>
              <a:rPr lang="en-US" sz="800" dirty="0">
                <a:solidFill>
                  <a:srgbClr val="6B7280"/>
                </a:solidFill>
                <a:latin typeface="Aptos" pitchFamily="34" charset="0"/>
                <a:ea typeface="Aptos" pitchFamily="34" charset="-122"/>
                <a:cs typeface="Aptos" pitchFamily="34" charset="-120"/>
              </a:rPr>
              <a:t>0.0</a:t>
            </a:r>
            <a:endParaRPr lang="en-US" sz="800" dirty="0"/>
          </a:p>
        </p:txBody>
      </p:sp>
      <p:sp>
        <p:nvSpPr>
          <p:cNvPr id="9" name="Shape 6"/>
          <p:cNvSpPr/>
          <p:nvPr/>
        </p:nvSpPr>
        <p:spPr>
          <a:xfrm>
            <a:off x="1655064" y="2121408"/>
            <a:ext cx="0" cy="146304"/>
          </a:xfrm>
          <a:prstGeom prst="line">
            <a:avLst/>
          </a:prstGeom>
          <a:noFill/>
          <a:ln w="12700">
            <a:solidFill>
              <a:srgbClr val="6B7280"/>
            </a:solidFill>
            <a:prstDash val="solid"/>
          </a:ln>
        </p:spPr>
        <p:txBody>
          <a:bodyPr/>
          <a:lstStyle/>
          <a:p>
            <a:endParaRPr lang="en-GB"/>
          </a:p>
        </p:txBody>
      </p:sp>
      <p:sp>
        <p:nvSpPr>
          <p:cNvPr id="10" name="Shape 7"/>
          <p:cNvSpPr/>
          <p:nvPr/>
        </p:nvSpPr>
        <p:spPr>
          <a:xfrm>
            <a:off x="2395728" y="2121408"/>
            <a:ext cx="0" cy="146304"/>
          </a:xfrm>
          <a:prstGeom prst="line">
            <a:avLst/>
          </a:prstGeom>
          <a:noFill/>
          <a:ln w="12700">
            <a:solidFill>
              <a:srgbClr val="6B7280"/>
            </a:solidFill>
            <a:prstDash val="solid"/>
          </a:ln>
        </p:spPr>
        <p:txBody>
          <a:bodyPr/>
          <a:lstStyle/>
          <a:p>
            <a:endParaRPr lang="en-GB"/>
          </a:p>
        </p:txBody>
      </p:sp>
      <p:sp>
        <p:nvSpPr>
          <p:cNvPr id="11" name="Text 8"/>
          <p:cNvSpPr/>
          <p:nvPr/>
        </p:nvSpPr>
        <p:spPr>
          <a:xfrm>
            <a:off x="2258568" y="2359152"/>
            <a:ext cx="274320" cy="164592"/>
          </a:xfrm>
          <a:prstGeom prst="rect">
            <a:avLst/>
          </a:prstGeom>
          <a:noFill/>
          <a:ln/>
        </p:spPr>
        <p:txBody>
          <a:bodyPr wrap="square" lIns="0" tIns="0" rIns="0" bIns="0" rtlCol="0" anchor="t">
            <a:normAutofit/>
          </a:bodyPr>
          <a:lstStyle/>
          <a:p>
            <a:pPr marL="0" indent="0" algn="ctr">
              <a:buNone/>
            </a:pPr>
            <a:r>
              <a:rPr lang="en-US" sz="800" dirty="0">
                <a:solidFill>
                  <a:srgbClr val="6B7280"/>
                </a:solidFill>
                <a:latin typeface="Aptos" pitchFamily="34" charset="0"/>
                <a:ea typeface="Aptos" pitchFamily="34" charset="-122"/>
                <a:cs typeface="Aptos" pitchFamily="34" charset="-120"/>
              </a:rPr>
              <a:t>0.2</a:t>
            </a:r>
            <a:endParaRPr lang="en-US" sz="800" dirty="0"/>
          </a:p>
        </p:txBody>
      </p:sp>
      <p:sp>
        <p:nvSpPr>
          <p:cNvPr id="12" name="Shape 9"/>
          <p:cNvSpPr/>
          <p:nvPr/>
        </p:nvSpPr>
        <p:spPr>
          <a:xfrm>
            <a:off x="3136392" y="2121408"/>
            <a:ext cx="0" cy="146304"/>
          </a:xfrm>
          <a:prstGeom prst="line">
            <a:avLst/>
          </a:prstGeom>
          <a:noFill/>
          <a:ln w="12700">
            <a:solidFill>
              <a:srgbClr val="6B7280"/>
            </a:solidFill>
            <a:prstDash val="solid"/>
          </a:ln>
        </p:spPr>
        <p:txBody>
          <a:bodyPr/>
          <a:lstStyle/>
          <a:p>
            <a:endParaRPr lang="en-GB"/>
          </a:p>
        </p:txBody>
      </p:sp>
      <p:sp>
        <p:nvSpPr>
          <p:cNvPr id="13" name="Shape 10"/>
          <p:cNvSpPr/>
          <p:nvPr/>
        </p:nvSpPr>
        <p:spPr>
          <a:xfrm>
            <a:off x="3877056" y="2121408"/>
            <a:ext cx="0" cy="146304"/>
          </a:xfrm>
          <a:prstGeom prst="line">
            <a:avLst/>
          </a:prstGeom>
          <a:noFill/>
          <a:ln w="12700">
            <a:solidFill>
              <a:srgbClr val="6B7280"/>
            </a:solidFill>
            <a:prstDash val="solid"/>
          </a:ln>
        </p:spPr>
        <p:txBody>
          <a:bodyPr/>
          <a:lstStyle/>
          <a:p>
            <a:endParaRPr lang="en-GB"/>
          </a:p>
        </p:txBody>
      </p:sp>
      <p:sp>
        <p:nvSpPr>
          <p:cNvPr id="14" name="Text 11"/>
          <p:cNvSpPr/>
          <p:nvPr/>
        </p:nvSpPr>
        <p:spPr>
          <a:xfrm>
            <a:off x="3739896" y="2359152"/>
            <a:ext cx="274320" cy="164592"/>
          </a:xfrm>
          <a:prstGeom prst="rect">
            <a:avLst/>
          </a:prstGeom>
          <a:noFill/>
          <a:ln/>
        </p:spPr>
        <p:txBody>
          <a:bodyPr wrap="square" lIns="0" tIns="0" rIns="0" bIns="0" rtlCol="0" anchor="t">
            <a:normAutofit/>
          </a:bodyPr>
          <a:lstStyle/>
          <a:p>
            <a:pPr marL="0" indent="0" algn="ctr">
              <a:buNone/>
            </a:pPr>
            <a:r>
              <a:rPr lang="en-US" sz="800" dirty="0">
                <a:solidFill>
                  <a:srgbClr val="6B7280"/>
                </a:solidFill>
                <a:latin typeface="Aptos" pitchFamily="34" charset="0"/>
                <a:ea typeface="Aptos" pitchFamily="34" charset="-122"/>
                <a:cs typeface="Aptos" pitchFamily="34" charset="-120"/>
              </a:rPr>
              <a:t>0.4</a:t>
            </a:r>
            <a:endParaRPr lang="en-US" sz="800" dirty="0"/>
          </a:p>
        </p:txBody>
      </p:sp>
      <p:sp>
        <p:nvSpPr>
          <p:cNvPr id="15" name="Shape 12"/>
          <p:cNvSpPr/>
          <p:nvPr/>
        </p:nvSpPr>
        <p:spPr>
          <a:xfrm>
            <a:off x="4617720" y="2121408"/>
            <a:ext cx="0" cy="146304"/>
          </a:xfrm>
          <a:prstGeom prst="line">
            <a:avLst/>
          </a:prstGeom>
          <a:noFill/>
          <a:ln w="12700">
            <a:solidFill>
              <a:srgbClr val="6B7280"/>
            </a:solidFill>
            <a:prstDash val="solid"/>
          </a:ln>
        </p:spPr>
        <p:txBody>
          <a:bodyPr/>
          <a:lstStyle/>
          <a:p>
            <a:endParaRPr lang="en-GB"/>
          </a:p>
        </p:txBody>
      </p:sp>
      <p:sp>
        <p:nvSpPr>
          <p:cNvPr id="16" name="Shape 13"/>
          <p:cNvSpPr/>
          <p:nvPr/>
        </p:nvSpPr>
        <p:spPr>
          <a:xfrm>
            <a:off x="5358384" y="2121408"/>
            <a:ext cx="0" cy="146304"/>
          </a:xfrm>
          <a:prstGeom prst="line">
            <a:avLst/>
          </a:prstGeom>
          <a:noFill/>
          <a:ln w="12700">
            <a:solidFill>
              <a:srgbClr val="6B7280"/>
            </a:solidFill>
            <a:prstDash val="solid"/>
          </a:ln>
        </p:spPr>
        <p:txBody>
          <a:bodyPr/>
          <a:lstStyle/>
          <a:p>
            <a:endParaRPr lang="en-GB"/>
          </a:p>
        </p:txBody>
      </p:sp>
      <p:sp>
        <p:nvSpPr>
          <p:cNvPr id="17" name="Text 14"/>
          <p:cNvSpPr/>
          <p:nvPr/>
        </p:nvSpPr>
        <p:spPr>
          <a:xfrm>
            <a:off x="5221224" y="2359152"/>
            <a:ext cx="274320" cy="164592"/>
          </a:xfrm>
          <a:prstGeom prst="rect">
            <a:avLst/>
          </a:prstGeom>
          <a:noFill/>
          <a:ln/>
        </p:spPr>
        <p:txBody>
          <a:bodyPr wrap="square" lIns="0" tIns="0" rIns="0" bIns="0" rtlCol="0" anchor="t">
            <a:normAutofit/>
          </a:bodyPr>
          <a:lstStyle/>
          <a:p>
            <a:pPr marL="0" indent="0" algn="ctr">
              <a:buNone/>
            </a:pPr>
            <a:r>
              <a:rPr lang="en-US" sz="800" dirty="0">
                <a:solidFill>
                  <a:srgbClr val="6B7280"/>
                </a:solidFill>
                <a:latin typeface="Aptos" pitchFamily="34" charset="0"/>
                <a:ea typeface="Aptos" pitchFamily="34" charset="-122"/>
                <a:cs typeface="Aptos" pitchFamily="34" charset="-120"/>
              </a:rPr>
              <a:t>0.6</a:t>
            </a:r>
            <a:endParaRPr lang="en-US" sz="800" dirty="0"/>
          </a:p>
        </p:txBody>
      </p:sp>
      <p:sp>
        <p:nvSpPr>
          <p:cNvPr id="18" name="Shape 15"/>
          <p:cNvSpPr/>
          <p:nvPr/>
        </p:nvSpPr>
        <p:spPr>
          <a:xfrm>
            <a:off x="6099048" y="2121408"/>
            <a:ext cx="0" cy="146304"/>
          </a:xfrm>
          <a:prstGeom prst="line">
            <a:avLst/>
          </a:prstGeom>
          <a:noFill/>
          <a:ln w="12700">
            <a:solidFill>
              <a:srgbClr val="6B7280"/>
            </a:solidFill>
            <a:prstDash val="solid"/>
          </a:ln>
        </p:spPr>
        <p:txBody>
          <a:bodyPr/>
          <a:lstStyle/>
          <a:p>
            <a:endParaRPr lang="en-GB"/>
          </a:p>
        </p:txBody>
      </p:sp>
      <p:sp>
        <p:nvSpPr>
          <p:cNvPr id="19" name="Shape 16"/>
          <p:cNvSpPr/>
          <p:nvPr/>
        </p:nvSpPr>
        <p:spPr>
          <a:xfrm>
            <a:off x="6839712" y="2121408"/>
            <a:ext cx="0" cy="146304"/>
          </a:xfrm>
          <a:prstGeom prst="line">
            <a:avLst/>
          </a:prstGeom>
          <a:noFill/>
          <a:ln w="12700">
            <a:solidFill>
              <a:srgbClr val="6B7280"/>
            </a:solidFill>
            <a:prstDash val="solid"/>
          </a:ln>
        </p:spPr>
        <p:txBody>
          <a:bodyPr/>
          <a:lstStyle/>
          <a:p>
            <a:endParaRPr lang="en-GB"/>
          </a:p>
        </p:txBody>
      </p:sp>
      <p:sp>
        <p:nvSpPr>
          <p:cNvPr id="20" name="Text 17"/>
          <p:cNvSpPr/>
          <p:nvPr/>
        </p:nvSpPr>
        <p:spPr>
          <a:xfrm>
            <a:off x="6702552" y="2359152"/>
            <a:ext cx="274320" cy="164592"/>
          </a:xfrm>
          <a:prstGeom prst="rect">
            <a:avLst/>
          </a:prstGeom>
          <a:noFill/>
          <a:ln/>
        </p:spPr>
        <p:txBody>
          <a:bodyPr wrap="square" lIns="0" tIns="0" rIns="0" bIns="0" rtlCol="0" anchor="t">
            <a:normAutofit/>
          </a:bodyPr>
          <a:lstStyle/>
          <a:p>
            <a:pPr marL="0" indent="0" algn="ctr">
              <a:buNone/>
            </a:pPr>
            <a:r>
              <a:rPr lang="en-US" sz="800" dirty="0">
                <a:solidFill>
                  <a:srgbClr val="6B7280"/>
                </a:solidFill>
                <a:latin typeface="Aptos" pitchFamily="34" charset="0"/>
                <a:ea typeface="Aptos" pitchFamily="34" charset="-122"/>
                <a:cs typeface="Aptos" pitchFamily="34" charset="-120"/>
              </a:rPr>
              <a:t>0.8</a:t>
            </a:r>
            <a:endParaRPr lang="en-US" sz="800" dirty="0"/>
          </a:p>
        </p:txBody>
      </p:sp>
      <p:sp>
        <p:nvSpPr>
          <p:cNvPr id="21" name="Shape 18"/>
          <p:cNvSpPr/>
          <p:nvPr/>
        </p:nvSpPr>
        <p:spPr>
          <a:xfrm>
            <a:off x="7580376" y="2121408"/>
            <a:ext cx="0" cy="146304"/>
          </a:xfrm>
          <a:prstGeom prst="line">
            <a:avLst/>
          </a:prstGeom>
          <a:noFill/>
          <a:ln w="12700">
            <a:solidFill>
              <a:srgbClr val="6B7280"/>
            </a:solidFill>
            <a:prstDash val="solid"/>
          </a:ln>
        </p:spPr>
        <p:txBody>
          <a:bodyPr/>
          <a:lstStyle/>
          <a:p>
            <a:endParaRPr lang="en-GB"/>
          </a:p>
        </p:txBody>
      </p:sp>
      <p:sp>
        <p:nvSpPr>
          <p:cNvPr id="22" name="Shape 19"/>
          <p:cNvSpPr/>
          <p:nvPr/>
        </p:nvSpPr>
        <p:spPr>
          <a:xfrm>
            <a:off x="8321040" y="2121408"/>
            <a:ext cx="0" cy="146304"/>
          </a:xfrm>
          <a:prstGeom prst="line">
            <a:avLst/>
          </a:prstGeom>
          <a:noFill/>
          <a:ln w="12700">
            <a:solidFill>
              <a:srgbClr val="6B7280"/>
            </a:solidFill>
            <a:prstDash val="solid"/>
          </a:ln>
        </p:spPr>
        <p:txBody>
          <a:bodyPr/>
          <a:lstStyle/>
          <a:p>
            <a:endParaRPr lang="en-GB"/>
          </a:p>
        </p:txBody>
      </p:sp>
      <p:sp>
        <p:nvSpPr>
          <p:cNvPr id="23" name="Text 20"/>
          <p:cNvSpPr/>
          <p:nvPr/>
        </p:nvSpPr>
        <p:spPr>
          <a:xfrm>
            <a:off x="8183880" y="2359152"/>
            <a:ext cx="274320" cy="164592"/>
          </a:xfrm>
          <a:prstGeom prst="rect">
            <a:avLst/>
          </a:prstGeom>
          <a:noFill/>
          <a:ln/>
        </p:spPr>
        <p:txBody>
          <a:bodyPr wrap="square" lIns="0" tIns="0" rIns="0" bIns="0" rtlCol="0" anchor="t">
            <a:normAutofit/>
          </a:bodyPr>
          <a:lstStyle/>
          <a:p>
            <a:pPr marL="0" indent="0" algn="ctr">
              <a:buNone/>
            </a:pPr>
            <a:r>
              <a:rPr lang="en-US" sz="800" dirty="0">
                <a:solidFill>
                  <a:srgbClr val="6B7280"/>
                </a:solidFill>
                <a:latin typeface="Aptos" pitchFamily="34" charset="0"/>
                <a:ea typeface="Aptos" pitchFamily="34" charset="-122"/>
                <a:cs typeface="Aptos" pitchFamily="34" charset="-120"/>
              </a:rPr>
              <a:t>1.0</a:t>
            </a:r>
            <a:endParaRPr lang="en-US" sz="800" dirty="0"/>
          </a:p>
        </p:txBody>
      </p:sp>
      <p:sp>
        <p:nvSpPr>
          <p:cNvPr id="24" name="Text 21"/>
          <p:cNvSpPr/>
          <p:nvPr/>
        </p:nvSpPr>
        <p:spPr>
          <a:xfrm>
            <a:off x="4297680" y="2697480"/>
            <a:ext cx="822960" cy="228600"/>
          </a:xfrm>
          <a:prstGeom prst="rect">
            <a:avLst/>
          </a:prstGeom>
          <a:noFill/>
          <a:ln/>
        </p:spPr>
        <p:txBody>
          <a:bodyPr wrap="square" lIns="0" tIns="0" rIns="0" bIns="0" rtlCol="0" anchor="t">
            <a:normAutofit/>
          </a:bodyPr>
          <a:lstStyle/>
          <a:p>
            <a:pPr marL="0" indent="0" algn="ctr">
              <a:buNone/>
            </a:pPr>
            <a:r>
              <a:rPr lang="en-US" sz="1000" b="1" dirty="0">
                <a:solidFill>
                  <a:srgbClr val="111827"/>
                </a:solidFill>
                <a:latin typeface="Aptos" pitchFamily="34" charset="0"/>
                <a:ea typeface="Aptos" pitchFamily="34" charset="-122"/>
                <a:cs typeface="Aptos" pitchFamily="34" charset="-120"/>
              </a:rPr>
              <a:t>threshold</a:t>
            </a:r>
            <a:endParaRPr lang="en-US" sz="1000" dirty="0"/>
          </a:p>
        </p:txBody>
      </p:sp>
      <p:sp>
        <p:nvSpPr>
          <p:cNvPr id="25" name="Shape 22"/>
          <p:cNvSpPr/>
          <p:nvPr/>
        </p:nvSpPr>
        <p:spPr>
          <a:xfrm>
            <a:off x="3136392" y="1417320"/>
            <a:ext cx="0" cy="685800"/>
          </a:xfrm>
          <a:prstGeom prst="line">
            <a:avLst/>
          </a:prstGeom>
          <a:noFill/>
          <a:ln w="25400">
            <a:solidFill>
              <a:srgbClr val="F59E0B"/>
            </a:solidFill>
            <a:prstDash val="solid"/>
          </a:ln>
        </p:spPr>
        <p:txBody>
          <a:bodyPr/>
          <a:lstStyle/>
          <a:p>
            <a:endParaRPr lang="en-GB"/>
          </a:p>
        </p:txBody>
      </p:sp>
      <p:sp>
        <p:nvSpPr>
          <p:cNvPr id="26" name="Text 23"/>
          <p:cNvSpPr/>
          <p:nvPr/>
        </p:nvSpPr>
        <p:spPr>
          <a:xfrm>
            <a:off x="2542032" y="1078992"/>
            <a:ext cx="1188720" cy="201168"/>
          </a:xfrm>
          <a:prstGeom prst="roundRect">
            <a:avLst/>
          </a:prstGeom>
          <a:solidFill>
            <a:srgbClr val="F59E0B"/>
          </a:solidFill>
          <a:ln w="6350">
            <a:solidFill>
              <a:srgbClr val="F59E0B"/>
            </a:solidFill>
          </a:ln>
        </p:spPr>
        <p:txBody>
          <a:bodyPr wrap="square" lIns="254" tIns="254" rIns="254" bIns="254" rtlCol="0" anchor="ctr"/>
          <a:lstStyle/>
          <a:p>
            <a:pPr marL="0" indent="0" algn="ctr">
              <a:buNone/>
            </a:pPr>
            <a:r>
              <a:rPr lang="en-US" sz="850" b="1" dirty="0">
                <a:solidFill>
                  <a:srgbClr val="FFFFFF"/>
                </a:solidFill>
              </a:rPr>
              <a:t>low threshold</a:t>
            </a:r>
            <a:endParaRPr lang="en-US" sz="850" dirty="0"/>
          </a:p>
        </p:txBody>
      </p:sp>
      <p:sp>
        <p:nvSpPr>
          <p:cNvPr id="27" name="Shape 24"/>
          <p:cNvSpPr/>
          <p:nvPr/>
        </p:nvSpPr>
        <p:spPr>
          <a:xfrm>
            <a:off x="6099048" y="1417320"/>
            <a:ext cx="0" cy="685800"/>
          </a:xfrm>
          <a:prstGeom prst="line">
            <a:avLst/>
          </a:prstGeom>
          <a:noFill/>
          <a:ln w="25400">
            <a:solidFill>
              <a:srgbClr val="DC2626"/>
            </a:solidFill>
            <a:prstDash val="solid"/>
          </a:ln>
        </p:spPr>
        <p:txBody>
          <a:bodyPr/>
          <a:lstStyle/>
          <a:p>
            <a:endParaRPr lang="en-GB"/>
          </a:p>
        </p:txBody>
      </p:sp>
      <p:sp>
        <p:nvSpPr>
          <p:cNvPr id="28" name="Text 25"/>
          <p:cNvSpPr/>
          <p:nvPr/>
        </p:nvSpPr>
        <p:spPr>
          <a:xfrm>
            <a:off x="5504688" y="1078992"/>
            <a:ext cx="1188720" cy="201168"/>
          </a:xfrm>
          <a:prstGeom prst="roundRect">
            <a:avLst/>
          </a:prstGeom>
          <a:solidFill>
            <a:srgbClr val="DC2626"/>
          </a:solidFill>
          <a:ln w="6350">
            <a:solidFill>
              <a:srgbClr val="DC2626"/>
            </a:solidFill>
          </a:ln>
        </p:spPr>
        <p:txBody>
          <a:bodyPr wrap="square" lIns="254" tIns="254" rIns="254" bIns="254" rtlCol="0" anchor="ctr"/>
          <a:lstStyle/>
          <a:p>
            <a:pPr marL="0" indent="0" algn="ctr">
              <a:buNone/>
            </a:pPr>
            <a:r>
              <a:rPr lang="en-US" sz="850" b="1" dirty="0">
                <a:solidFill>
                  <a:srgbClr val="FFFFFF"/>
                </a:solidFill>
              </a:rPr>
              <a:t>high threshold</a:t>
            </a:r>
            <a:endParaRPr lang="en-US" sz="850" dirty="0"/>
          </a:p>
        </p:txBody>
      </p:sp>
      <p:sp>
        <p:nvSpPr>
          <p:cNvPr id="29" name="Text 26"/>
          <p:cNvSpPr/>
          <p:nvPr/>
        </p:nvSpPr>
        <p:spPr>
          <a:xfrm>
            <a:off x="868680" y="3063240"/>
            <a:ext cx="2103120" cy="594360"/>
          </a:xfrm>
          <a:prstGeom prst="roundRect">
            <a:avLst/>
          </a:prstGeom>
          <a:solidFill>
            <a:srgbClr val="FFF7ED"/>
          </a:solidFill>
          <a:ln w="12700">
            <a:solidFill>
              <a:srgbClr val="F59E0B"/>
            </a:solidFill>
          </a:ln>
        </p:spPr>
        <p:txBody>
          <a:bodyPr wrap="square" lIns="1016" tIns="1016" rIns="1016" bIns="1016" rtlCol="0" anchor="ctr">
            <a:normAutofit/>
          </a:bodyPr>
          <a:lstStyle/>
          <a:p>
            <a:pPr marL="0" indent="0" algn="ctr">
              <a:buNone/>
            </a:pPr>
            <a:r>
              <a:rPr lang="en-US" sz="1000" b="1" dirty="0">
                <a:solidFill>
                  <a:srgbClr val="111827"/>
                </a:solidFill>
                <a:latin typeface="Aptos" pitchFamily="34" charset="0"/>
                <a:ea typeface="Aptos" pitchFamily="34" charset="-122"/>
                <a:cs typeface="Aptos" pitchFamily="34" charset="-120"/>
              </a:rPr>
              <a:t>detects more events</a:t>
            </a:r>
            <a:endParaRPr lang="en-US" sz="1000" dirty="0"/>
          </a:p>
          <a:p>
            <a:pPr marL="0" indent="0" algn="ctr">
              <a:buNone/>
            </a:pPr>
            <a:r>
              <a:rPr lang="en-US" sz="1000" b="1" dirty="0">
                <a:solidFill>
                  <a:srgbClr val="111827"/>
                </a:solidFill>
                <a:latin typeface="Aptos" pitchFamily="34" charset="0"/>
                <a:ea typeface="Aptos" pitchFamily="34" charset="-122"/>
                <a:cs typeface="Aptos" pitchFamily="34" charset="-120"/>
              </a:rPr>
              <a:t>more false alarms</a:t>
            </a:r>
            <a:endParaRPr lang="en-US" sz="1000" dirty="0"/>
          </a:p>
        </p:txBody>
      </p:sp>
      <p:sp>
        <p:nvSpPr>
          <p:cNvPr id="30" name="Text 27"/>
          <p:cNvSpPr/>
          <p:nvPr/>
        </p:nvSpPr>
        <p:spPr>
          <a:xfrm>
            <a:off x="3383280" y="3063240"/>
            <a:ext cx="2194560" cy="594360"/>
          </a:xfrm>
          <a:prstGeom prst="roundRect">
            <a:avLst/>
          </a:prstGeom>
          <a:solidFill>
            <a:srgbClr val="F0FDF4"/>
          </a:solidFill>
          <a:ln w="12700">
            <a:solidFill>
              <a:srgbClr val="5C9A17"/>
            </a:solidFill>
          </a:ln>
        </p:spPr>
        <p:txBody>
          <a:bodyPr wrap="square" lIns="1016" tIns="1016" rIns="1016" bIns="1016" rtlCol="0" anchor="ctr">
            <a:normAutofit/>
          </a:bodyPr>
          <a:lstStyle/>
          <a:p>
            <a:pPr marL="0" indent="0" algn="ctr">
              <a:buNone/>
            </a:pPr>
            <a:r>
              <a:rPr lang="en-US" sz="1000" b="1" dirty="0">
                <a:solidFill>
                  <a:srgbClr val="111827"/>
                </a:solidFill>
                <a:latin typeface="Aptos" pitchFamily="34" charset="0"/>
                <a:ea typeface="Aptos" pitchFamily="34" charset="-122"/>
                <a:cs typeface="Aptos" pitchFamily="34" charset="-120"/>
              </a:rPr>
              <a:t>balanced choice</a:t>
            </a:r>
            <a:endParaRPr lang="en-US" sz="1000" dirty="0"/>
          </a:p>
          <a:p>
            <a:pPr marL="0" indent="0" algn="ctr">
              <a:buNone/>
            </a:pPr>
            <a:r>
              <a:rPr lang="en-US" sz="1000" b="1" dirty="0">
                <a:solidFill>
                  <a:srgbClr val="111827"/>
                </a:solidFill>
                <a:latin typeface="Aptos" pitchFamily="34" charset="0"/>
                <a:ea typeface="Aptos" pitchFamily="34" charset="-122"/>
                <a:cs typeface="Aptos" pitchFamily="34" charset="-120"/>
              </a:rPr>
              <a:t>selected on validation</a:t>
            </a:r>
            <a:endParaRPr lang="en-US" sz="1000" dirty="0"/>
          </a:p>
        </p:txBody>
      </p:sp>
      <p:sp>
        <p:nvSpPr>
          <p:cNvPr id="31" name="Text 28"/>
          <p:cNvSpPr/>
          <p:nvPr/>
        </p:nvSpPr>
        <p:spPr>
          <a:xfrm>
            <a:off x="5989320" y="3063240"/>
            <a:ext cx="2103120" cy="594360"/>
          </a:xfrm>
          <a:prstGeom prst="roundRect">
            <a:avLst/>
          </a:prstGeom>
          <a:solidFill>
            <a:srgbClr val="FEF2F2"/>
          </a:solidFill>
          <a:ln w="12700">
            <a:solidFill>
              <a:srgbClr val="DC2626"/>
            </a:solidFill>
          </a:ln>
        </p:spPr>
        <p:txBody>
          <a:bodyPr wrap="square" lIns="1016" tIns="1016" rIns="1016" bIns="1016" rtlCol="0" anchor="ctr">
            <a:normAutofit/>
          </a:bodyPr>
          <a:lstStyle/>
          <a:p>
            <a:pPr marL="0" indent="0" algn="ctr">
              <a:buNone/>
            </a:pPr>
            <a:r>
              <a:rPr lang="en-US" sz="1000" b="1" dirty="0">
                <a:solidFill>
                  <a:srgbClr val="111827"/>
                </a:solidFill>
                <a:latin typeface="Aptos" pitchFamily="34" charset="0"/>
                <a:ea typeface="Aptos" pitchFamily="34" charset="-122"/>
                <a:cs typeface="Aptos" pitchFamily="34" charset="-120"/>
              </a:rPr>
              <a:t>fewer alarms</a:t>
            </a:r>
            <a:endParaRPr lang="en-US" sz="1000" dirty="0"/>
          </a:p>
          <a:p>
            <a:pPr marL="0" indent="0" algn="ctr">
              <a:buNone/>
            </a:pPr>
            <a:r>
              <a:rPr lang="en-US" sz="1000" b="1" dirty="0">
                <a:solidFill>
                  <a:srgbClr val="111827"/>
                </a:solidFill>
                <a:latin typeface="Aptos" pitchFamily="34" charset="0"/>
                <a:ea typeface="Aptos" pitchFamily="34" charset="-122"/>
                <a:cs typeface="Aptos" pitchFamily="34" charset="-120"/>
              </a:rPr>
              <a:t>more missed events</a:t>
            </a:r>
            <a:endParaRPr lang="en-US" sz="1000" dirty="0"/>
          </a:p>
        </p:txBody>
      </p:sp>
      <p:sp>
        <p:nvSpPr>
          <p:cNvPr id="32" name="Text 29"/>
          <p:cNvSpPr/>
          <p:nvPr/>
        </p:nvSpPr>
        <p:spPr>
          <a:xfrm>
            <a:off x="2103120" y="4800600"/>
            <a:ext cx="4754880" cy="54864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The selected threshold must be kept fixed during final test evaluation.</a:t>
            </a:r>
            <a:endParaRPr lang="en-US" sz="9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5C8BC87-BF49-E247-02CA-AC821C20ACE0}"/>
              </a:ext>
            </a:extLst>
          </p:cNvPr>
          <p:cNvSpPr>
            <a:spLocks noGrp="1"/>
          </p:cNvSpPr>
          <p:nvPr>
            <p:ph type="title"/>
          </p:nvPr>
        </p:nvSpPr>
        <p:spPr/>
        <p:txBody>
          <a:bodyPr/>
          <a:lstStyle/>
          <a:p>
            <a:r>
              <a:rPr lang="en-GB" dirty="0"/>
              <a:t>Final evaluation should report more than one number</a:t>
            </a:r>
          </a:p>
        </p:txBody>
      </p:sp>
      <p:sp>
        <p:nvSpPr>
          <p:cNvPr id="3" name="Segnaposto contenuto 2">
            <a:extLst>
              <a:ext uri="{FF2B5EF4-FFF2-40B4-BE49-F238E27FC236}">
                <a16:creationId xmlns:a16="http://schemas.microsoft.com/office/drawing/2014/main" id="{6905C7ED-62AD-F9AE-9C74-6F34DB5A9C46}"/>
              </a:ext>
            </a:extLst>
          </p:cNvPr>
          <p:cNvSpPr>
            <a:spLocks noGrp="1"/>
          </p:cNvSpPr>
          <p:nvPr>
            <p:ph idx="1"/>
          </p:nvPr>
        </p:nvSpPr>
        <p:spPr/>
        <p:txBody>
          <a:bodyPr>
            <a:normAutofit fontScale="55000" lnSpcReduction="20000"/>
          </a:bodyPr>
          <a:lstStyle/>
          <a:p>
            <a:r>
              <a:rPr lang="en-GB" dirty="0"/>
              <a:t>A final test score should answer the operational question as completely as possible.</a:t>
            </a:r>
          </a:p>
          <a:p>
            <a:r>
              <a:rPr lang="en-GB" b="1" dirty="0"/>
              <a:t>For forecasting</a:t>
            </a:r>
          </a:p>
          <a:p>
            <a:r>
              <a:rPr lang="en-GB" dirty="0"/>
              <a:t>Report, where relevant:</a:t>
            </a:r>
          </a:p>
          <a:p>
            <a:pPr lvl="1"/>
            <a:r>
              <a:rPr lang="en-GB" dirty="0"/>
              <a:t>aggregate MAE or RMSE;</a:t>
            </a:r>
          </a:p>
          <a:p>
            <a:pPr lvl="1"/>
            <a:r>
              <a:rPr lang="en-GB" dirty="0"/>
              <a:t>error by forecast horizon;</a:t>
            </a:r>
          </a:p>
          <a:p>
            <a:pPr lvl="1"/>
            <a:r>
              <a:rPr lang="en-GB" dirty="0"/>
              <a:t>error over time;</a:t>
            </a:r>
          </a:p>
          <a:p>
            <a:pPr lvl="1"/>
            <a:r>
              <a:rPr lang="en-GB" dirty="0"/>
              <a:t>performance during peaks or unusual regimes;</a:t>
            </a:r>
          </a:p>
          <a:p>
            <a:pPr lvl="1"/>
            <a:r>
              <a:rPr lang="en-GB" dirty="0"/>
              <a:t>performance relative to a naïve baseline.</a:t>
            </a:r>
          </a:p>
          <a:p>
            <a:r>
              <a:rPr lang="en-GB" b="1" dirty="0"/>
              <a:t>For classification</a:t>
            </a:r>
          </a:p>
          <a:p>
            <a:r>
              <a:rPr lang="en-GB" dirty="0"/>
              <a:t>Report:</a:t>
            </a:r>
          </a:p>
          <a:p>
            <a:pPr lvl="1"/>
            <a:r>
              <a:rPr lang="en-GB" dirty="0"/>
              <a:t>confusion matrix;</a:t>
            </a:r>
          </a:p>
          <a:p>
            <a:pPr lvl="1"/>
            <a:r>
              <a:rPr lang="en-GB" dirty="0"/>
              <a:t>precision;</a:t>
            </a:r>
          </a:p>
          <a:p>
            <a:pPr lvl="1"/>
            <a:r>
              <a:rPr lang="en-GB" dirty="0"/>
              <a:t>recall;</a:t>
            </a:r>
          </a:p>
          <a:p>
            <a:pPr lvl="1"/>
            <a:r>
              <a:rPr lang="en-GB" dirty="0"/>
              <a:t>F1 score;</a:t>
            </a:r>
          </a:p>
          <a:p>
            <a:pPr lvl="1"/>
            <a:r>
              <a:rPr lang="en-GB" dirty="0"/>
              <a:t>class-specific performance;</a:t>
            </a:r>
          </a:p>
          <a:p>
            <a:pPr lvl="1"/>
            <a:r>
              <a:rPr lang="en-GB" dirty="0"/>
              <a:t>performance under the selected threshold.</a:t>
            </a:r>
          </a:p>
          <a:p>
            <a:endParaRPr lang="en-GB" dirty="0"/>
          </a:p>
        </p:txBody>
      </p:sp>
    </p:spTree>
    <p:extLst>
      <p:ext uri="{BB962C8B-B14F-4D97-AF65-F5344CB8AC3E}">
        <p14:creationId xmlns:p14="http://schemas.microsoft.com/office/powerpoint/2010/main" val="12209400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D3B9109-A9B1-E814-F62B-ABEB0F884C9C}"/>
              </a:ext>
            </a:extLst>
          </p:cNvPr>
          <p:cNvSpPr>
            <a:spLocks noGrp="1"/>
          </p:cNvSpPr>
          <p:nvPr>
            <p:ph type="title"/>
          </p:nvPr>
        </p:nvSpPr>
        <p:spPr/>
        <p:txBody>
          <a:bodyPr/>
          <a:lstStyle/>
          <a:p>
            <a:r>
              <a:rPr lang="en-GB" dirty="0"/>
              <a:t>Final evaluation should report more than one number</a:t>
            </a:r>
          </a:p>
        </p:txBody>
      </p:sp>
      <p:sp>
        <p:nvSpPr>
          <p:cNvPr id="3" name="Segnaposto contenuto 2">
            <a:extLst>
              <a:ext uri="{FF2B5EF4-FFF2-40B4-BE49-F238E27FC236}">
                <a16:creationId xmlns:a16="http://schemas.microsoft.com/office/drawing/2014/main" id="{418E3045-A663-74C3-D513-F6CEC540CB8E}"/>
              </a:ext>
            </a:extLst>
          </p:cNvPr>
          <p:cNvSpPr>
            <a:spLocks noGrp="1"/>
          </p:cNvSpPr>
          <p:nvPr>
            <p:ph idx="1"/>
          </p:nvPr>
        </p:nvSpPr>
        <p:spPr/>
        <p:txBody>
          <a:bodyPr>
            <a:normAutofit fontScale="55000" lnSpcReduction="20000"/>
          </a:bodyPr>
          <a:lstStyle/>
          <a:p>
            <a:r>
              <a:rPr lang="en-GB" b="1" dirty="0"/>
              <a:t>For grouped datasets</a:t>
            </a:r>
          </a:p>
          <a:p>
            <a:r>
              <a:rPr lang="en-GB" dirty="0"/>
              <a:t>Report performance:</a:t>
            </a:r>
          </a:p>
          <a:p>
            <a:pPr lvl="1"/>
            <a:r>
              <a:rPr lang="en-GB" dirty="0"/>
              <a:t>across individual entities;</a:t>
            </a:r>
          </a:p>
          <a:p>
            <a:pPr lvl="1"/>
            <a:r>
              <a:rPr lang="en-GB" dirty="0"/>
              <a:t>across sites;</a:t>
            </a:r>
          </a:p>
          <a:p>
            <a:pPr lvl="1"/>
            <a:r>
              <a:rPr lang="en-GB" dirty="0"/>
              <a:t>across sequences;</a:t>
            </a:r>
          </a:p>
          <a:p>
            <a:pPr lvl="1"/>
            <a:r>
              <a:rPr lang="en-GB" dirty="0"/>
              <a:t>as an aggregate.</a:t>
            </a:r>
          </a:p>
          <a:p>
            <a:r>
              <a:rPr lang="en-GB" b="1" dirty="0"/>
              <a:t>For event detection</a:t>
            </a:r>
          </a:p>
          <a:p>
            <a:r>
              <a:rPr lang="en-GB" dirty="0"/>
              <a:t>Consider:</a:t>
            </a:r>
          </a:p>
          <a:p>
            <a:pPr lvl="1"/>
            <a:r>
              <a:rPr lang="en-GB" dirty="0"/>
              <a:t>event-level recall;</a:t>
            </a:r>
          </a:p>
          <a:p>
            <a:pPr lvl="1"/>
            <a:r>
              <a:rPr lang="en-GB" dirty="0"/>
              <a:t>missed events;</a:t>
            </a:r>
          </a:p>
          <a:p>
            <a:pPr lvl="1"/>
            <a:r>
              <a:rPr lang="en-GB" dirty="0"/>
              <a:t>false alarms;</a:t>
            </a:r>
          </a:p>
          <a:p>
            <a:pPr lvl="1"/>
            <a:r>
              <a:rPr lang="en-GB" dirty="0"/>
              <a:t>detection delay or anticipation time.</a:t>
            </a:r>
          </a:p>
          <a:p>
            <a:r>
              <a:rPr lang="en-GB" b="1" dirty="0"/>
              <a:t>Why?</a:t>
            </a:r>
          </a:p>
          <a:p>
            <a:r>
              <a:rPr lang="en-GB" dirty="0"/>
              <a:t>Two models with similar average performance may fail under very different conditions.</a:t>
            </a:r>
          </a:p>
          <a:p>
            <a:endParaRPr lang="en-GB" dirty="0"/>
          </a:p>
          <a:p>
            <a:r>
              <a:rPr lang="en-GB" b="1" dirty="0">
                <a:highlight>
                  <a:srgbClr val="FFFF00"/>
                </a:highlight>
              </a:rPr>
              <a:t>The final test should characterize where the model works, where it fails, and whether those failures matter operationally.</a:t>
            </a:r>
          </a:p>
          <a:p>
            <a:endParaRPr lang="en-GB" dirty="0"/>
          </a:p>
        </p:txBody>
      </p:sp>
    </p:spTree>
    <p:extLst>
      <p:ext uri="{BB962C8B-B14F-4D97-AF65-F5344CB8AC3E}">
        <p14:creationId xmlns:p14="http://schemas.microsoft.com/office/powerpoint/2010/main" val="321498746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nt/data/bg_green.png"/>
          <p:cNvPicPr>
            <a:picLocks noChangeAspect="1"/>
          </p:cNvPicPr>
          <p:nvPr/>
        </p:nvPicPr>
        <p:blipFill>
          <a:blip r:embed="rId3"/>
          <a:stretch>
            <a:fillRect/>
          </a:stretch>
        </p:blipFill>
        <p:spPr>
          <a:xfrm>
            <a:off x="0" y="0"/>
            <a:ext cx="12191695" cy="6858000"/>
          </a:xfrm>
          <a:prstGeom prst="rect">
            <a:avLst/>
          </a:prstGeom>
        </p:spPr>
      </p:pic>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2.F</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Final evaluation should report more than one number</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Averages can hide failures at specific horizons, classes, entities or events.</a:t>
            </a:r>
            <a:endParaRPr lang="en-US" sz="950" dirty="0"/>
          </a:p>
        </p:txBody>
      </p:sp>
      <p:sp>
        <p:nvSpPr>
          <p:cNvPr id="6" name="Text 3"/>
          <p:cNvSpPr/>
          <p:nvPr/>
        </p:nvSpPr>
        <p:spPr>
          <a:xfrm>
            <a:off x="777240" y="1143000"/>
            <a:ext cx="2377440" cy="411480"/>
          </a:xfrm>
          <a:prstGeom prst="roundRect">
            <a:avLst/>
          </a:prstGeom>
          <a:solidFill>
            <a:srgbClr val="0F172A"/>
          </a:solidFill>
          <a:ln w="12700">
            <a:solidFill>
              <a:srgbClr val="0F172A"/>
            </a:solidFill>
          </a:ln>
        </p:spPr>
        <p:txBody>
          <a:bodyPr wrap="square" lIns="1016" tIns="1016" rIns="1016" bIns="1016"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Forecasting</a:t>
            </a:r>
            <a:endParaRPr lang="en-US" sz="1100" dirty="0"/>
          </a:p>
          <a:p>
            <a:pPr marL="0" indent="0" algn="ctr">
              <a:buNone/>
            </a:pPr>
            <a:r>
              <a:rPr lang="en-US" sz="1100" b="1" dirty="0">
                <a:solidFill>
                  <a:srgbClr val="FFFFFF"/>
                </a:solidFill>
                <a:latin typeface="Aptos" pitchFamily="34" charset="0"/>
                <a:ea typeface="Aptos" pitchFamily="34" charset="-122"/>
                <a:cs typeface="Aptos" pitchFamily="34" charset="-120"/>
              </a:rPr>
              <a:t>error by horizon</a:t>
            </a:r>
            <a:endParaRPr lang="en-US" sz="1100" dirty="0"/>
          </a:p>
        </p:txBody>
      </p:sp>
      <p:sp>
        <p:nvSpPr>
          <p:cNvPr id="7" name="Shape 4"/>
          <p:cNvSpPr/>
          <p:nvPr/>
        </p:nvSpPr>
        <p:spPr>
          <a:xfrm>
            <a:off x="1097280" y="2697480"/>
            <a:ext cx="201168" cy="457200"/>
          </a:xfrm>
          <a:prstGeom prst="rect">
            <a:avLst/>
          </a:prstGeom>
          <a:solidFill>
            <a:srgbClr val="2563EB"/>
          </a:solidFill>
          <a:ln w="12700">
            <a:solidFill>
              <a:srgbClr val="2563EB"/>
            </a:solidFill>
            <a:prstDash val="solid"/>
          </a:ln>
        </p:spPr>
        <p:txBody>
          <a:bodyPr/>
          <a:lstStyle/>
          <a:p>
            <a:endParaRPr lang="en-GB"/>
          </a:p>
        </p:txBody>
      </p:sp>
      <p:sp>
        <p:nvSpPr>
          <p:cNvPr id="8" name="Shape 5"/>
          <p:cNvSpPr/>
          <p:nvPr/>
        </p:nvSpPr>
        <p:spPr>
          <a:xfrm>
            <a:off x="1463040" y="2496312"/>
            <a:ext cx="201168" cy="658368"/>
          </a:xfrm>
          <a:prstGeom prst="rect">
            <a:avLst/>
          </a:prstGeom>
          <a:solidFill>
            <a:srgbClr val="2563EB"/>
          </a:solidFill>
          <a:ln w="12700">
            <a:solidFill>
              <a:srgbClr val="2563EB"/>
            </a:solidFill>
            <a:prstDash val="solid"/>
          </a:ln>
        </p:spPr>
        <p:txBody>
          <a:bodyPr/>
          <a:lstStyle/>
          <a:p>
            <a:endParaRPr lang="en-GB"/>
          </a:p>
        </p:txBody>
      </p:sp>
      <p:sp>
        <p:nvSpPr>
          <p:cNvPr id="9" name="Shape 6"/>
          <p:cNvSpPr/>
          <p:nvPr/>
        </p:nvSpPr>
        <p:spPr>
          <a:xfrm>
            <a:off x="1828800" y="2295144"/>
            <a:ext cx="201168" cy="859536"/>
          </a:xfrm>
          <a:prstGeom prst="rect">
            <a:avLst/>
          </a:prstGeom>
          <a:solidFill>
            <a:srgbClr val="2563EB"/>
          </a:solidFill>
          <a:ln w="12700">
            <a:solidFill>
              <a:srgbClr val="2563EB"/>
            </a:solidFill>
            <a:prstDash val="solid"/>
          </a:ln>
        </p:spPr>
        <p:txBody>
          <a:bodyPr/>
          <a:lstStyle/>
          <a:p>
            <a:endParaRPr lang="en-GB"/>
          </a:p>
        </p:txBody>
      </p:sp>
      <p:sp>
        <p:nvSpPr>
          <p:cNvPr id="10" name="Shape 7"/>
          <p:cNvSpPr/>
          <p:nvPr/>
        </p:nvSpPr>
        <p:spPr>
          <a:xfrm>
            <a:off x="2194560" y="2093976"/>
            <a:ext cx="201168" cy="1060704"/>
          </a:xfrm>
          <a:prstGeom prst="rect">
            <a:avLst/>
          </a:prstGeom>
          <a:solidFill>
            <a:srgbClr val="2563EB"/>
          </a:solidFill>
          <a:ln w="12700">
            <a:solidFill>
              <a:srgbClr val="2563EB"/>
            </a:solidFill>
            <a:prstDash val="solid"/>
          </a:ln>
        </p:spPr>
        <p:txBody>
          <a:bodyPr/>
          <a:lstStyle/>
          <a:p>
            <a:endParaRPr lang="en-GB"/>
          </a:p>
        </p:txBody>
      </p:sp>
      <p:sp>
        <p:nvSpPr>
          <p:cNvPr id="11" name="Shape 8"/>
          <p:cNvSpPr/>
          <p:nvPr/>
        </p:nvSpPr>
        <p:spPr>
          <a:xfrm>
            <a:off x="2560320" y="1892808"/>
            <a:ext cx="201168" cy="1261872"/>
          </a:xfrm>
          <a:prstGeom prst="rect">
            <a:avLst/>
          </a:prstGeom>
          <a:solidFill>
            <a:srgbClr val="2563EB"/>
          </a:solidFill>
          <a:ln w="12700">
            <a:solidFill>
              <a:srgbClr val="2563EB"/>
            </a:solidFill>
            <a:prstDash val="solid"/>
          </a:ln>
        </p:spPr>
        <p:txBody>
          <a:bodyPr/>
          <a:lstStyle/>
          <a:p>
            <a:endParaRPr lang="en-GB"/>
          </a:p>
        </p:txBody>
      </p:sp>
      <p:sp>
        <p:nvSpPr>
          <p:cNvPr id="12" name="Text 9"/>
          <p:cNvSpPr/>
          <p:nvPr/>
        </p:nvSpPr>
        <p:spPr>
          <a:xfrm>
            <a:off x="1188720" y="3264408"/>
            <a:ext cx="1005840" cy="182880"/>
          </a:xfrm>
          <a:prstGeom prst="rect">
            <a:avLst/>
          </a:prstGeom>
          <a:noFill/>
          <a:ln/>
        </p:spPr>
        <p:txBody>
          <a:bodyPr wrap="square" lIns="0" tIns="0" rIns="0" bIns="0" rtlCol="0" anchor="t">
            <a:normAutofit/>
          </a:bodyPr>
          <a:lstStyle/>
          <a:p>
            <a:pPr marL="0" indent="0" algn="l">
              <a:buNone/>
            </a:pPr>
            <a:r>
              <a:rPr lang="en-US" sz="800" dirty="0">
                <a:solidFill>
                  <a:srgbClr val="6B7280"/>
                </a:solidFill>
                <a:latin typeface="Aptos" pitchFamily="34" charset="0"/>
                <a:ea typeface="Aptos" pitchFamily="34" charset="-122"/>
                <a:cs typeface="Aptos" pitchFamily="34" charset="-120"/>
              </a:rPr>
              <a:t>horizon →</a:t>
            </a:r>
            <a:endParaRPr lang="en-US" sz="800" dirty="0"/>
          </a:p>
        </p:txBody>
      </p:sp>
      <p:sp>
        <p:nvSpPr>
          <p:cNvPr id="13" name="Text 10"/>
          <p:cNvSpPr/>
          <p:nvPr/>
        </p:nvSpPr>
        <p:spPr>
          <a:xfrm>
            <a:off x="3657600" y="1143000"/>
            <a:ext cx="2377440" cy="411480"/>
          </a:xfrm>
          <a:prstGeom prst="roundRect">
            <a:avLst/>
          </a:prstGeom>
          <a:solidFill>
            <a:srgbClr val="0F172A"/>
          </a:solidFill>
          <a:ln w="12700">
            <a:solidFill>
              <a:srgbClr val="0F172A"/>
            </a:solidFill>
          </a:ln>
        </p:spPr>
        <p:txBody>
          <a:bodyPr wrap="square" lIns="1016" tIns="1016" rIns="1016" bIns="1016"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Classification</a:t>
            </a:r>
            <a:endParaRPr lang="en-US" sz="1100" dirty="0"/>
          </a:p>
          <a:p>
            <a:pPr marL="0" indent="0" algn="ctr">
              <a:buNone/>
            </a:pPr>
            <a:r>
              <a:rPr lang="en-US" sz="1100" b="1" dirty="0">
                <a:solidFill>
                  <a:srgbClr val="FFFFFF"/>
                </a:solidFill>
                <a:latin typeface="Aptos" pitchFamily="34" charset="0"/>
                <a:ea typeface="Aptos" pitchFamily="34" charset="-122"/>
                <a:cs typeface="Aptos" pitchFamily="34" charset="-120"/>
              </a:rPr>
              <a:t>confusion by class</a:t>
            </a:r>
            <a:endParaRPr lang="en-US" sz="1100" dirty="0"/>
          </a:p>
        </p:txBody>
      </p:sp>
      <p:sp>
        <p:nvSpPr>
          <p:cNvPr id="14" name="Shape 11"/>
          <p:cNvSpPr/>
          <p:nvPr/>
        </p:nvSpPr>
        <p:spPr>
          <a:xfrm>
            <a:off x="4023360" y="2103120"/>
            <a:ext cx="329184" cy="329184"/>
          </a:xfrm>
          <a:prstGeom prst="rect">
            <a:avLst/>
          </a:prstGeom>
          <a:solidFill>
            <a:srgbClr val="5C9A17">
              <a:alpha val="90000"/>
            </a:srgbClr>
          </a:solidFill>
          <a:ln w="12700">
            <a:solidFill>
              <a:srgbClr val="FFFFFF"/>
            </a:solidFill>
            <a:prstDash val="solid"/>
          </a:ln>
        </p:spPr>
        <p:txBody>
          <a:bodyPr/>
          <a:lstStyle/>
          <a:p>
            <a:endParaRPr lang="en-GB"/>
          </a:p>
        </p:txBody>
      </p:sp>
      <p:sp>
        <p:nvSpPr>
          <p:cNvPr id="15" name="Shape 12"/>
          <p:cNvSpPr/>
          <p:nvPr/>
        </p:nvSpPr>
        <p:spPr>
          <a:xfrm>
            <a:off x="4407408" y="2103120"/>
            <a:ext cx="329184" cy="329184"/>
          </a:xfrm>
          <a:prstGeom prst="rect">
            <a:avLst/>
          </a:prstGeom>
          <a:solidFill>
            <a:srgbClr val="F59E0B">
              <a:alpha val="65000"/>
            </a:srgbClr>
          </a:solidFill>
          <a:ln w="12700">
            <a:solidFill>
              <a:srgbClr val="FFFFFF"/>
            </a:solidFill>
            <a:prstDash val="solid"/>
          </a:ln>
        </p:spPr>
        <p:txBody>
          <a:bodyPr/>
          <a:lstStyle/>
          <a:p>
            <a:endParaRPr lang="en-GB"/>
          </a:p>
        </p:txBody>
      </p:sp>
      <p:sp>
        <p:nvSpPr>
          <p:cNvPr id="16" name="Shape 13"/>
          <p:cNvSpPr/>
          <p:nvPr/>
        </p:nvSpPr>
        <p:spPr>
          <a:xfrm>
            <a:off x="4791456" y="2103120"/>
            <a:ext cx="329184" cy="329184"/>
          </a:xfrm>
          <a:prstGeom prst="rect">
            <a:avLst/>
          </a:prstGeom>
          <a:solidFill>
            <a:srgbClr val="DC2626">
              <a:alpha val="65000"/>
            </a:srgbClr>
          </a:solidFill>
          <a:ln w="12700">
            <a:solidFill>
              <a:srgbClr val="FFFFFF"/>
            </a:solidFill>
            <a:prstDash val="solid"/>
          </a:ln>
        </p:spPr>
        <p:txBody>
          <a:bodyPr/>
          <a:lstStyle/>
          <a:p>
            <a:endParaRPr lang="en-GB"/>
          </a:p>
        </p:txBody>
      </p:sp>
      <p:sp>
        <p:nvSpPr>
          <p:cNvPr id="17" name="Shape 14"/>
          <p:cNvSpPr/>
          <p:nvPr/>
        </p:nvSpPr>
        <p:spPr>
          <a:xfrm>
            <a:off x="4023360" y="2487168"/>
            <a:ext cx="329184" cy="329184"/>
          </a:xfrm>
          <a:prstGeom prst="rect">
            <a:avLst/>
          </a:prstGeom>
          <a:solidFill>
            <a:srgbClr val="F59E0B">
              <a:alpha val="65000"/>
            </a:srgbClr>
          </a:solidFill>
          <a:ln w="12700">
            <a:solidFill>
              <a:srgbClr val="FFFFFF"/>
            </a:solidFill>
            <a:prstDash val="solid"/>
          </a:ln>
        </p:spPr>
        <p:txBody>
          <a:bodyPr/>
          <a:lstStyle/>
          <a:p>
            <a:endParaRPr lang="en-GB"/>
          </a:p>
        </p:txBody>
      </p:sp>
      <p:sp>
        <p:nvSpPr>
          <p:cNvPr id="18" name="Shape 15"/>
          <p:cNvSpPr/>
          <p:nvPr/>
        </p:nvSpPr>
        <p:spPr>
          <a:xfrm>
            <a:off x="4407408" y="2487168"/>
            <a:ext cx="329184" cy="329184"/>
          </a:xfrm>
          <a:prstGeom prst="rect">
            <a:avLst/>
          </a:prstGeom>
          <a:solidFill>
            <a:srgbClr val="5C9A17">
              <a:alpha val="90000"/>
            </a:srgbClr>
          </a:solidFill>
          <a:ln w="12700">
            <a:solidFill>
              <a:srgbClr val="FFFFFF"/>
            </a:solidFill>
            <a:prstDash val="solid"/>
          </a:ln>
        </p:spPr>
        <p:txBody>
          <a:bodyPr/>
          <a:lstStyle/>
          <a:p>
            <a:endParaRPr lang="en-GB"/>
          </a:p>
        </p:txBody>
      </p:sp>
      <p:sp>
        <p:nvSpPr>
          <p:cNvPr id="19" name="Shape 16"/>
          <p:cNvSpPr/>
          <p:nvPr/>
        </p:nvSpPr>
        <p:spPr>
          <a:xfrm>
            <a:off x="4791456" y="2487168"/>
            <a:ext cx="329184" cy="329184"/>
          </a:xfrm>
          <a:prstGeom prst="rect">
            <a:avLst/>
          </a:prstGeom>
          <a:solidFill>
            <a:srgbClr val="DC2626">
              <a:alpha val="65000"/>
            </a:srgbClr>
          </a:solidFill>
          <a:ln w="12700">
            <a:solidFill>
              <a:srgbClr val="FFFFFF"/>
            </a:solidFill>
            <a:prstDash val="solid"/>
          </a:ln>
        </p:spPr>
        <p:txBody>
          <a:bodyPr/>
          <a:lstStyle/>
          <a:p>
            <a:endParaRPr lang="en-GB"/>
          </a:p>
        </p:txBody>
      </p:sp>
      <p:sp>
        <p:nvSpPr>
          <p:cNvPr id="20" name="Shape 17"/>
          <p:cNvSpPr/>
          <p:nvPr/>
        </p:nvSpPr>
        <p:spPr>
          <a:xfrm>
            <a:off x="4023360" y="2871216"/>
            <a:ext cx="329184" cy="329184"/>
          </a:xfrm>
          <a:prstGeom prst="rect">
            <a:avLst/>
          </a:prstGeom>
          <a:solidFill>
            <a:srgbClr val="F59E0B">
              <a:alpha val="65000"/>
            </a:srgbClr>
          </a:solidFill>
          <a:ln w="12700">
            <a:solidFill>
              <a:srgbClr val="FFFFFF"/>
            </a:solidFill>
            <a:prstDash val="solid"/>
          </a:ln>
        </p:spPr>
        <p:txBody>
          <a:bodyPr/>
          <a:lstStyle/>
          <a:p>
            <a:endParaRPr lang="en-GB"/>
          </a:p>
        </p:txBody>
      </p:sp>
      <p:sp>
        <p:nvSpPr>
          <p:cNvPr id="21" name="Shape 18"/>
          <p:cNvSpPr/>
          <p:nvPr/>
        </p:nvSpPr>
        <p:spPr>
          <a:xfrm>
            <a:off x="4407408" y="2871216"/>
            <a:ext cx="329184" cy="329184"/>
          </a:xfrm>
          <a:prstGeom prst="rect">
            <a:avLst/>
          </a:prstGeom>
          <a:solidFill>
            <a:srgbClr val="F59E0B">
              <a:alpha val="65000"/>
            </a:srgbClr>
          </a:solidFill>
          <a:ln w="12700">
            <a:solidFill>
              <a:srgbClr val="FFFFFF"/>
            </a:solidFill>
            <a:prstDash val="solid"/>
          </a:ln>
        </p:spPr>
        <p:txBody>
          <a:bodyPr/>
          <a:lstStyle/>
          <a:p>
            <a:endParaRPr lang="en-GB"/>
          </a:p>
        </p:txBody>
      </p:sp>
      <p:sp>
        <p:nvSpPr>
          <p:cNvPr id="22" name="Shape 19"/>
          <p:cNvSpPr/>
          <p:nvPr/>
        </p:nvSpPr>
        <p:spPr>
          <a:xfrm>
            <a:off x="4791456" y="2871216"/>
            <a:ext cx="329184" cy="329184"/>
          </a:xfrm>
          <a:prstGeom prst="rect">
            <a:avLst/>
          </a:prstGeom>
          <a:solidFill>
            <a:srgbClr val="5C9A17">
              <a:alpha val="90000"/>
            </a:srgbClr>
          </a:solidFill>
          <a:ln w="12700">
            <a:solidFill>
              <a:srgbClr val="FFFFFF"/>
            </a:solidFill>
            <a:prstDash val="solid"/>
          </a:ln>
        </p:spPr>
        <p:txBody>
          <a:bodyPr/>
          <a:lstStyle/>
          <a:p>
            <a:endParaRPr lang="en-GB"/>
          </a:p>
        </p:txBody>
      </p:sp>
      <p:sp>
        <p:nvSpPr>
          <p:cNvPr id="23" name="Text 20"/>
          <p:cNvSpPr/>
          <p:nvPr/>
        </p:nvSpPr>
        <p:spPr>
          <a:xfrm>
            <a:off x="6537960" y="1143000"/>
            <a:ext cx="2377440" cy="411480"/>
          </a:xfrm>
          <a:prstGeom prst="roundRect">
            <a:avLst/>
          </a:prstGeom>
          <a:solidFill>
            <a:srgbClr val="0F172A"/>
          </a:solidFill>
          <a:ln w="12700">
            <a:solidFill>
              <a:srgbClr val="0F172A"/>
            </a:solidFill>
          </a:ln>
        </p:spPr>
        <p:txBody>
          <a:bodyPr wrap="square" lIns="1016" tIns="1016" rIns="1016" bIns="1016"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Grouped data</a:t>
            </a:r>
            <a:endParaRPr lang="en-US" sz="1100" dirty="0"/>
          </a:p>
          <a:p>
            <a:pPr marL="0" indent="0" algn="ctr">
              <a:buNone/>
            </a:pPr>
            <a:r>
              <a:rPr lang="en-US" sz="1100" b="1" dirty="0">
                <a:solidFill>
                  <a:srgbClr val="FFFFFF"/>
                </a:solidFill>
                <a:latin typeface="Aptos" pitchFamily="34" charset="0"/>
                <a:ea typeface="Aptos" pitchFamily="34" charset="-122"/>
                <a:cs typeface="Aptos" pitchFamily="34" charset="-120"/>
              </a:rPr>
              <a:t>score by entity</a:t>
            </a:r>
            <a:endParaRPr lang="en-US" sz="1100" dirty="0"/>
          </a:p>
        </p:txBody>
      </p:sp>
      <p:sp>
        <p:nvSpPr>
          <p:cNvPr id="24" name="Shape 21"/>
          <p:cNvSpPr/>
          <p:nvPr/>
        </p:nvSpPr>
        <p:spPr>
          <a:xfrm>
            <a:off x="6858000" y="2240280"/>
            <a:ext cx="201168" cy="914400"/>
          </a:xfrm>
          <a:prstGeom prst="rect">
            <a:avLst/>
          </a:prstGeom>
          <a:solidFill>
            <a:srgbClr val="0EA5A4"/>
          </a:solidFill>
          <a:ln w="12700">
            <a:solidFill>
              <a:srgbClr val="0EA5A4"/>
            </a:solidFill>
            <a:prstDash val="solid"/>
          </a:ln>
        </p:spPr>
        <p:txBody>
          <a:bodyPr/>
          <a:lstStyle/>
          <a:p>
            <a:endParaRPr lang="en-GB"/>
          </a:p>
        </p:txBody>
      </p:sp>
      <p:sp>
        <p:nvSpPr>
          <p:cNvPr id="25" name="Shape 22"/>
          <p:cNvSpPr/>
          <p:nvPr/>
        </p:nvSpPr>
        <p:spPr>
          <a:xfrm>
            <a:off x="7178040" y="2057400"/>
            <a:ext cx="201168" cy="1097280"/>
          </a:xfrm>
          <a:prstGeom prst="rect">
            <a:avLst/>
          </a:prstGeom>
          <a:solidFill>
            <a:srgbClr val="0EA5A4"/>
          </a:solidFill>
          <a:ln w="12700">
            <a:solidFill>
              <a:srgbClr val="0EA5A4"/>
            </a:solidFill>
            <a:prstDash val="solid"/>
          </a:ln>
        </p:spPr>
        <p:txBody>
          <a:bodyPr/>
          <a:lstStyle/>
          <a:p>
            <a:endParaRPr lang="en-GB"/>
          </a:p>
        </p:txBody>
      </p:sp>
      <p:sp>
        <p:nvSpPr>
          <p:cNvPr id="26" name="Shape 23"/>
          <p:cNvSpPr/>
          <p:nvPr/>
        </p:nvSpPr>
        <p:spPr>
          <a:xfrm>
            <a:off x="7498080" y="2560320"/>
            <a:ext cx="201168" cy="594360"/>
          </a:xfrm>
          <a:prstGeom prst="rect">
            <a:avLst/>
          </a:prstGeom>
          <a:solidFill>
            <a:srgbClr val="DC2626"/>
          </a:solidFill>
          <a:ln w="12700">
            <a:solidFill>
              <a:srgbClr val="DC2626"/>
            </a:solidFill>
            <a:prstDash val="solid"/>
          </a:ln>
        </p:spPr>
        <p:txBody>
          <a:bodyPr/>
          <a:lstStyle/>
          <a:p>
            <a:endParaRPr lang="en-GB"/>
          </a:p>
        </p:txBody>
      </p:sp>
      <p:sp>
        <p:nvSpPr>
          <p:cNvPr id="27" name="Shape 24"/>
          <p:cNvSpPr/>
          <p:nvPr/>
        </p:nvSpPr>
        <p:spPr>
          <a:xfrm>
            <a:off x="7818120" y="1920240"/>
            <a:ext cx="201168" cy="1234440"/>
          </a:xfrm>
          <a:prstGeom prst="rect">
            <a:avLst/>
          </a:prstGeom>
          <a:solidFill>
            <a:srgbClr val="0EA5A4"/>
          </a:solidFill>
          <a:ln w="12700">
            <a:solidFill>
              <a:srgbClr val="0EA5A4"/>
            </a:solidFill>
            <a:prstDash val="solid"/>
          </a:ln>
        </p:spPr>
        <p:txBody>
          <a:bodyPr/>
          <a:lstStyle/>
          <a:p>
            <a:endParaRPr lang="en-GB"/>
          </a:p>
        </p:txBody>
      </p:sp>
      <p:sp>
        <p:nvSpPr>
          <p:cNvPr id="28" name="Shape 25"/>
          <p:cNvSpPr/>
          <p:nvPr/>
        </p:nvSpPr>
        <p:spPr>
          <a:xfrm>
            <a:off x="8138160" y="2377440"/>
            <a:ext cx="201168" cy="777240"/>
          </a:xfrm>
          <a:prstGeom prst="rect">
            <a:avLst/>
          </a:prstGeom>
          <a:solidFill>
            <a:srgbClr val="0EA5A4"/>
          </a:solidFill>
          <a:ln w="12700">
            <a:solidFill>
              <a:srgbClr val="0EA5A4"/>
            </a:solidFill>
            <a:prstDash val="solid"/>
          </a:ln>
        </p:spPr>
        <p:txBody>
          <a:bodyPr/>
          <a:lstStyle/>
          <a:p>
            <a:endParaRPr lang="en-GB"/>
          </a:p>
        </p:txBody>
      </p:sp>
      <p:sp>
        <p:nvSpPr>
          <p:cNvPr id="29" name="Text 26"/>
          <p:cNvSpPr/>
          <p:nvPr/>
        </p:nvSpPr>
        <p:spPr>
          <a:xfrm>
            <a:off x="6995160" y="3291840"/>
            <a:ext cx="1097280" cy="182880"/>
          </a:xfrm>
          <a:prstGeom prst="rect">
            <a:avLst/>
          </a:prstGeom>
          <a:noFill/>
          <a:ln/>
        </p:spPr>
        <p:txBody>
          <a:bodyPr wrap="square" lIns="0" tIns="0" rIns="0" bIns="0" rtlCol="0" anchor="t">
            <a:normAutofit/>
          </a:bodyPr>
          <a:lstStyle/>
          <a:p>
            <a:pPr marL="0" indent="0" algn="l">
              <a:buNone/>
            </a:pPr>
            <a:r>
              <a:rPr lang="en-US" sz="800" b="1" dirty="0">
                <a:solidFill>
                  <a:srgbClr val="DC2626"/>
                </a:solidFill>
                <a:latin typeface="Aptos" pitchFamily="34" charset="0"/>
                <a:ea typeface="Aptos" pitchFamily="34" charset="-122"/>
                <a:cs typeface="Aptos" pitchFamily="34" charset="-120"/>
              </a:rPr>
              <a:t>entity C fails</a:t>
            </a:r>
            <a:endParaRPr lang="en-US" sz="800" dirty="0"/>
          </a:p>
        </p:txBody>
      </p:sp>
      <p:sp>
        <p:nvSpPr>
          <p:cNvPr id="30" name="Text 27"/>
          <p:cNvSpPr/>
          <p:nvPr/>
        </p:nvSpPr>
        <p:spPr>
          <a:xfrm>
            <a:off x="2560320" y="3931920"/>
            <a:ext cx="3108960" cy="457200"/>
          </a:xfrm>
          <a:prstGeom prst="roundRect">
            <a:avLst/>
          </a:prstGeom>
          <a:solidFill>
            <a:srgbClr val="0F172A"/>
          </a:solidFill>
          <a:ln w="12700">
            <a:solidFill>
              <a:srgbClr val="0F172A"/>
            </a:solidFill>
          </a:ln>
        </p:spPr>
        <p:txBody>
          <a:bodyPr wrap="square" lIns="1016" tIns="1016" rIns="1016" bIns="1016"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Event detection</a:t>
            </a:r>
            <a:endParaRPr lang="en-US" sz="1100" dirty="0"/>
          </a:p>
          <a:p>
            <a:pPr marL="0" indent="0" algn="ctr">
              <a:buNone/>
            </a:pPr>
            <a:r>
              <a:rPr lang="en-US" sz="1100" b="1" dirty="0">
                <a:solidFill>
                  <a:srgbClr val="FFFFFF"/>
                </a:solidFill>
                <a:latin typeface="Aptos" pitchFamily="34" charset="0"/>
                <a:ea typeface="Aptos" pitchFamily="34" charset="-122"/>
                <a:cs typeface="Aptos" pitchFamily="34" charset="-120"/>
              </a:rPr>
              <a:t>misses / false alarms / delay</a:t>
            </a:r>
            <a:endParaRPr lang="en-US" sz="1100" dirty="0"/>
          </a:p>
        </p:txBody>
      </p:sp>
      <p:sp>
        <p:nvSpPr>
          <p:cNvPr id="31" name="Shape 28"/>
          <p:cNvSpPr/>
          <p:nvPr/>
        </p:nvSpPr>
        <p:spPr>
          <a:xfrm>
            <a:off x="3521798" y="5042780"/>
            <a:ext cx="2055137" cy="0"/>
          </a:xfrm>
          <a:prstGeom prst="line">
            <a:avLst/>
          </a:prstGeom>
          <a:noFill/>
          <a:ln w="15240">
            <a:solidFill>
              <a:srgbClr val="6B7280"/>
            </a:solidFill>
            <a:prstDash val="solid"/>
            <a:headEnd type="triangle"/>
            <a:tailEnd type="triangle"/>
          </a:ln>
        </p:spPr>
        <p:txBody>
          <a:bodyPr/>
          <a:lstStyle/>
          <a:p>
            <a:endParaRPr lang="en-GB"/>
          </a:p>
        </p:txBody>
      </p:sp>
      <p:sp>
        <p:nvSpPr>
          <p:cNvPr id="32" name="Text 29"/>
          <p:cNvSpPr/>
          <p:nvPr/>
        </p:nvSpPr>
        <p:spPr>
          <a:xfrm>
            <a:off x="3200400" y="4709160"/>
            <a:ext cx="640080" cy="201168"/>
          </a:xfrm>
          <a:prstGeom prst="roundRect">
            <a:avLst/>
          </a:prstGeom>
          <a:solidFill>
            <a:srgbClr val="F59E0B"/>
          </a:solidFill>
          <a:ln w="6350">
            <a:solidFill>
              <a:srgbClr val="F59E0B"/>
            </a:solidFill>
          </a:ln>
        </p:spPr>
        <p:txBody>
          <a:bodyPr wrap="square" lIns="254" tIns="254" rIns="254" bIns="254" rtlCol="0" anchor="ctr"/>
          <a:lstStyle/>
          <a:p>
            <a:pPr marL="0" indent="0" algn="ctr">
              <a:buNone/>
            </a:pPr>
            <a:r>
              <a:rPr lang="en-US" sz="850" b="1" dirty="0">
                <a:solidFill>
                  <a:srgbClr val="FFFFFF"/>
                </a:solidFill>
              </a:rPr>
              <a:t>alarm</a:t>
            </a:r>
            <a:endParaRPr lang="en-US" sz="850" dirty="0"/>
          </a:p>
        </p:txBody>
      </p:sp>
      <p:sp>
        <p:nvSpPr>
          <p:cNvPr id="33" name="Text 30"/>
          <p:cNvSpPr/>
          <p:nvPr/>
        </p:nvSpPr>
        <p:spPr>
          <a:xfrm>
            <a:off x="5257800" y="4709160"/>
            <a:ext cx="640080" cy="201168"/>
          </a:xfrm>
          <a:prstGeom prst="roundRect">
            <a:avLst/>
          </a:prstGeom>
          <a:solidFill>
            <a:srgbClr val="DC2626"/>
          </a:solidFill>
          <a:ln w="6350">
            <a:solidFill>
              <a:srgbClr val="DC2626"/>
            </a:solidFill>
          </a:ln>
        </p:spPr>
        <p:txBody>
          <a:bodyPr wrap="square" lIns="254" tIns="254" rIns="254" bIns="254" rtlCol="0" anchor="ctr"/>
          <a:lstStyle/>
          <a:p>
            <a:pPr marL="0" indent="0" algn="ctr">
              <a:buNone/>
            </a:pPr>
            <a:r>
              <a:rPr lang="en-US" sz="850" b="1" dirty="0">
                <a:solidFill>
                  <a:srgbClr val="FFFFFF"/>
                </a:solidFill>
              </a:rPr>
              <a:t>event</a:t>
            </a:r>
            <a:endParaRPr lang="en-US" sz="850" dirty="0"/>
          </a:p>
        </p:txBody>
      </p:sp>
      <p:sp>
        <p:nvSpPr>
          <p:cNvPr id="34" name="Shape 31"/>
          <p:cNvSpPr/>
          <p:nvPr/>
        </p:nvSpPr>
        <p:spPr>
          <a:xfrm>
            <a:off x="3520440" y="5074920"/>
            <a:ext cx="0" cy="0"/>
          </a:xfrm>
          <a:prstGeom prst="line">
            <a:avLst/>
          </a:prstGeom>
          <a:noFill/>
          <a:ln w="25400">
            <a:solidFill>
              <a:srgbClr val="F59E0B"/>
            </a:solidFill>
            <a:prstDash val="solid"/>
          </a:ln>
        </p:spPr>
        <p:txBody>
          <a:bodyPr/>
          <a:lstStyle/>
          <a:p>
            <a:endParaRPr lang="en-GB"/>
          </a:p>
        </p:txBody>
      </p:sp>
      <p:sp>
        <p:nvSpPr>
          <p:cNvPr id="35" name="Shape 32"/>
          <p:cNvSpPr/>
          <p:nvPr/>
        </p:nvSpPr>
        <p:spPr>
          <a:xfrm>
            <a:off x="5577840" y="5074920"/>
            <a:ext cx="0" cy="0"/>
          </a:xfrm>
          <a:prstGeom prst="line">
            <a:avLst/>
          </a:prstGeom>
          <a:noFill/>
          <a:ln w="25400">
            <a:solidFill>
              <a:srgbClr val="DC2626"/>
            </a:solidFill>
            <a:prstDash val="solid"/>
          </a:ln>
        </p:spPr>
        <p:txBody>
          <a:bodyPr/>
          <a:lstStyle/>
          <a:p>
            <a:endParaRPr lang="en-GB"/>
          </a:p>
        </p:txBody>
      </p:sp>
      <p:sp>
        <p:nvSpPr>
          <p:cNvPr id="36" name="Text 33"/>
          <p:cNvSpPr/>
          <p:nvPr/>
        </p:nvSpPr>
        <p:spPr>
          <a:xfrm>
            <a:off x="3977640" y="5276088"/>
            <a:ext cx="1280160" cy="201168"/>
          </a:xfrm>
          <a:prstGeom prst="rect">
            <a:avLst/>
          </a:prstGeom>
          <a:noFill/>
          <a:ln/>
        </p:spPr>
        <p:txBody>
          <a:bodyPr wrap="square" lIns="0" tIns="0" rIns="0" bIns="0" rtlCol="0" anchor="t">
            <a:normAutofit/>
          </a:bodyPr>
          <a:lstStyle/>
          <a:p>
            <a:pPr marL="0" indent="0" algn="ctr">
              <a:buNone/>
            </a:pPr>
            <a:r>
              <a:rPr lang="en-US" sz="900" dirty="0">
                <a:solidFill>
                  <a:srgbClr val="111827"/>
                </a:solidFill>
                <a:latin typeface="Aptos" pitchFamily="34" charset="0"/>
                <a:ea typeface="Aptos" pitchFamily="34" charset="-122"/>
                <a:cs typeface="Aptos" pitchFamily="34" charset="-120"/>
              </a:rPr>
              <a:t>anticipation time</a:t>
            </a:r>
            <a:endParaRPr lang="en-US" sz="900" dirty="0"/>
          </a:p>
        </p:txBody>
      </p:sp>
      <p:sp>
        <p:nvSpPr>
          <p:cNvPr id="37" name="Text 34"/>
          <p:cNvSpPr/>
          <p:nvPr/>
        </p:nvSpPr>
        <p:spPr>
          <a:xfrm>
            <a:off x="1234440" y="5989320"/>
            <a:ext cx="6629400" cy="45720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The final report should explain where the model works, where it fails, and whether failures matter operationally.</a:t>
            </a:r>
            <a:endParaRPr lang="en-US" sz="9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49B7581-93FE-AF49-DE14-562AD924B374}"/>
              </a:ext>
            </a:extLst>
          </p:cNvPr>
          <p:cNvSpPr>
            <a:spLocks noGrp="1"/>
          </p:cNvSpPr>
          <p:nvPr>
            <p:ph type="title"/>
          </p:nvPr>
        </p:nvSpPr>
        <p:spPr/>
        <p:txBody>
          <a:bodyPr/>
          <a:lstStyle/>
          <a:p>
            <a:r>
              <a:rPr lang="en-GB" dirty="0"/>
              <a:t>End-to-end evaluation workflow</a:t>
            </a:r>
          </a:p>
        </p:txBody>
      </p:sp>
      <p:sp>
        <p:nvSpPr>
          <p:cNvPr id="3" name="Segnaposto contenuto 2">
            <a:extLst>
              <a:ext uri="{FF2B5EF4-FFF2-40B4-BE49-F238E27FC236}">
                <a16:creationId xmlns:a16="http://schemas.microsoft.com/office/drawing/2014/main" id="{F2129CA8-58E6-32E2-2C5F-B89BBF688F26}"/>
              </a:ext>
            </a:extLst>
          </p:cNvPr>
          <p:cNvSpPr>
            <a:spLocks noGrp="1"/>
          </p:cNvSpPr>
          <p:nvPr>
            <p:ph idx="1"/>
          </p:nvPr>
        </p:nvSpPr>
        <p:spPr/>
        <p:txBody>
          <a:bodyPr>
            <a:normAutofit fontScale="55000" lnSpcReduction="20000"/>
          </a:bodyPr>
          <a:lstStyle/>
          <a:p>
            <a:r>
              <a:rPr lang="en-GB" dirty="0"/>
              <a:t>A complete temporal evaluation can be summarized as follows.</a:t>
            </a:r>
          </a:p>
          <a:p>
            <a:r>
              <a:rPr lang="en-GB" b="1" dirty="0"/>
              <a:t>Step 1 — Define deployment</a:t>
            </a:r>
          </a:p>
          <a:p>
            <a:pPr lvl="1"/>
            <a:r>
              <a:rPr lang="en-GB" dirty="0"/>
              <a:t>prediction time (when is the prediction made, and what information is available at that moment);</a:t>
            </a:r>
          </a:p>
          <a:p>
            <a:pPr lvl="1"/>
            <a:r>
              <a:rPr lang="en-GB" dirty="0"/>
              <a:t>expected future conditions;</a:t>
            </a:r>
          </a:p>
          <a:p>
            <a:pPr lvl="1"/>
            <a:r>
              <a:rPr lang="en-GB" dirty="0"/>
              <a:t>entities and environments of interest.</a:t>
            </a:r>
          </a:p>
          <a:p>
            <a:r>
              <a:rPr lang="en-GB" b="1" dirty="0"/>
              <a:t>Step 2 — Define partitions</a:t>
            </a:r>
            <a:endParaRPr lang="en-GB" dirty="0"/>
          </a:p>
          <a:p>
            <a:pPr lvl="1"/>
            <a:r>
              <a:rPr lang="en-GB" dirty="0"/>
              <a:t>temporal boundaries;</a:t>
            </a:r>
          </a:p>
          <a:p>
            <a:pPr lvl="1"/>
            <a:r>
              <a:rPr lang="en-GB" dirty="0"/>
              <a:t>sequence or entity groups;</a:t>
            </a:r>
          </a:p>
          <a:p>
            <a:pPr lvl="1"/>
            <a:r>
              <a:rPr lang="en-GB" dirty="0"/>
              <a:t>validation strategy;</a:t>
            </a:r>
          </a:p>
          <a:p>
            <a:pPr lvl="1"/>
            <a:r>
              <a:rPr lang="en-GB" dirty="0"/>
              <a:t>final test set.</a:t>
            </a:r>
          </a:p>
          <a:p>
            <a:r>
              <a:rPr lang="en-GB" b="1" dirty="0"/>
              <a:t>Step 3 — Generate samples</a:t>
            </a:r>
          </a:p>
          <a:p>
            <a:r>
              <a:rPr lang="en-GB" dirty="0"/>
              <a:t>Within the appropriate partitions:</a:t>
            </a:r>
          </a:p>
          <a:p>
            <a:pPr lvl="1"/>
            <a:r>
              <a:rPr lang="en-GB" dirty="0"/>
              <a:t>create windows;</a:t>
            </a:r>
          </a:p>
          <a:p>
            <a:pPr lvl="1"/>
            <a:r>
              <a:rPr lang="en-GB" dirty="0"/>
              <a:t>align targets;</a:t>
            </a:r>
          </a:p>
          <a:p>
            <a:pPr lvl="1"/>
            <a:r>
              <a:rPr lang="en-GB" dirty="0"/>
              <a:t>group event-related samples;</a:t>
            </a:r>
          </a:p>
          <a:p>
            <a:pPr lvl="1"/>
            <a:r>
              <a:rPr lang="en-GB" dirty="0"/>
              <a:t>avoid unwanted overlap.</a:t>
            </a:r>
          </a:p>
          <a:p>
            <a:endParaRPr lang="en-GB" dirty="0"/>
          </a:p>
        </p:txBody>
      </p:sp>
    </p:spTree>
    <p:extLst>
      <p:ext uri="{BB962C8B-B14F-4D97-AF65-F5344CB8AC3E}">
        <p14:creationId xmlns:p14="http://schemas.microsoft.com/office/powerpoint/2010/main" val="281496559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CF0EAA4-C7AD-3243-5769-D487AF6D9A82}"/>
              </a:ext>
            </a:extLst>
          </p:cNvPr>
          <p:cNvSpPr>
            <a:spLocks noGrp="1"/>
          </p:cNvSpPr>
          <p:nvPr>
            <p:ph type="title"/>
          </p:nvPr>
        </p:nvSpPr>
        <p:spPr/>
        <p:txBody>
          <a:bodyPr/>
          <a:lstStyle/>
          <a:p>
            <a:r>
              <a:rPr lang="en-GB" dirty="0"/>
              <a:t>End-to-end evaluation workflow</a:t>
            </a:r>
          </a:p>
        </p:txBody>
      </p:sp>
      <p:sp>
        <p:nvSpPr>
          <p:cNvPr id="3" name="Segnaposto contenuto 2">
            <a:extLst>
              <a:ext uri="{FF2B5EF4-FFF2-40B4-BE49-F238E27FC236}">
                <a16:creationId xmlns:a16="http://schemas.microsoft.com/office/drawing/2014/main" id="{FC75B056-4E28-896D-FA53-C1D488F9FED9}"/>
              </a:ext>
            </a:extLst>
          </p:cNvPr>
          <p:cNvSpPr>
            <a:spLocks noGrp="1"/>
          </p:cNvSpPr>
          <p:nvPr>
            <p:ph idx="1"/>
          </p:nvPr>
        </p:nvSpPr>
        <p:spPr/>
        <p:txBody>
          <a:bodyPr>
            <a:normAutofit fontScale="77500" lnSpcReduction="20000"/>
          </a:bodyPr>
          <a:lstStyle/>
          <a:p>
            <a:r>
              <a:rPr lang="en-GB" b="1" dirty="0"/>
              <a:t>Step 4 — Fit the complete pipeline</a:t>
            </a:r>
          </a:p>
          <a:p>
            <a:r>
              <a:rPr lang="en-GB" dirty="0"/>
              <a:t>Using training data only:</a:t>
            </a:r>
          </a:p>
          <a:p>
            <a:pPr lvl="1"/>
            <a:r>
              <a:rPr lang="en-GB" dirty="0"/>
              <a:t>preprocessing;</a:t>
            </a:r>
          </a:p>
          <a:p>
            <a:pPr lvl="1"/>
            <a:r>
              <a:rPr lang="en-GB" dirty="0"/>
              <a:t>feature transformations;</a:t>
            </a:r>
          </a:p>
          <a:p>
            <a:pPr lvl="1"/>
            <a:r>
              <a:rPr lang="en-GB" dirty="0"/>
              <a:t>predictive model.</a:t>
            </a:r>
          </a:p>
          <a:p>
            <a:r>
              <a:rPr lang="en-GB" b="1" dirty="0"/>
              <a:t>Step 5 — Develop using validation data</a:t>
            </a:r>
          </a:p>
          <a:p>
            <a:r>
              <a:rPr lang="en-GB" dirty="0"/>
              <a:t>Use validation results to select:</a:t>
            </a:r>
          </a:p>
          <a:p>
            <a:pPr lvl="1"/>
            <a:r>
              <a:rPr lang="en-GB" dirty="0"/>
              <a:t>features;</a:t>
            </a:r>
          </a:p>
          <a:p>
            <a:pPr lvl="1"/>
            <a:r>
              <a:rPr lang="en-GB" dirty="0"/>
              <a:t>models;</a:t>
            </a:r>
          </a:p>
          <a:p>
            <a:pPr lvl="1"/>
            <a:r>
              <a:rPr lang="en-GB" dirty="0"/>
              <a:t>hyperparameters;</a:t>
            </a:r>
          </a:p>
          <a:p>
            <a:pPr lvl="1"/>
            <a:r>
              <a:rPr lang="en-GB" dirty="0"/>
              <a:t>thresholds.</a:t>
            </a:r>
          </a:p>
          <a:p>
            <a:r>
              <a:rPr lang="en-GB" b="1" dirty="0"/>
              <a:t>Step 6 — Freeze the solution</a:t>
            </a:r>
          </a:p>
          <a:p>
            <a:pPr lvl="1"/>
            <a:r>
              <a:rPr lang="en-GB" dirty="0"/>
              <a:t>No further decisions should depend on the test set.</a:t>
            </a:r>
          </a:p>
          <a:p>
            <a:endParaRPr lang="en-GB" dirty="0"/>
          </a:p>
        </p:txBody>
      </p:sp>
    </p:spTree>
    <p:extLst>
      <p:ext uri="{BB962C8B-B14F-4D97-AF65-F5344CB8AC3E}">
        <p14:creationId xmlns:p14="http://schemas.microsoft.com/office/powerpoint/2010/main" val="255838281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74480F-8E95-03E2-BFAD-DCDB0583B041}"/>
              </a:ext>
            </a:extLst>
          </p:cNvPr>
          <p:cNvSpPr>
            <a:spLocks noGrp="1"/>
          </p:cNvSpPr>
          <p:nvPr>
            <p:ph type="title"/>
          </p:nvPr>
        </p:nvSpPr>
        <p:spPr/>
        <p:txBody>
          <a:bodyPr/>
          <a:lstStyle/>
          <a:p>
            <a:r>
              <a:rPr lang="en-GB" dirty="0"/>
              <a:t>End-to-end evaluation workflow</a:t>
            </a:r>
          </a:p>
        </p:txBody>
      </p:sp>
      <p:sp>
        <p:nvSpPr>
          <p:cNvPr id="3" name="Segnaposto contenuto 2">
            <a:extLst>
              <a:ext uri="{FF2B5EF4-FFF2-40B4-BE49-F238E27FC236}">
                <a16:creationId xmlns:a16="http://schemas.microsoft.com/office/drawing/2014/main" id="{35BEA11C-120C-B8E6-69C7-180FFB638B53}"/>
              </a:ext>
            </a:extLst>
          </p:cNvPr>
          <p:cNvSpPr>
            <a:spLocks noGrp="1"/>
          </p:cNvSpPr>
          <p:nvPr>
            <p:ph idx="1"/>
          </p:nvPr>
        </p:nvSpPr>
        <p:spPr/>
        <p:txBody>
          <a:bodyPr>
            <a:normAutofit fontScale="92500" lnSpcReduction="20000"/>
          </a:bodyPr>
          <a:lstStyle/>
          <a:p>
            <a:r>
              <a:rPr lang="en-GB" b="1" dirty="0"/>
              <a:t>Step 7 — Final test</a:t>
            </a:r>
          </a:p>
          <a:p>
            <a:pPr lvl="1"/>
            <a:r>
              <a:rPr lang="en-GB" dirty="0"/>
              <a:t>Evaluate under the intended deployment conditions.</a:t>
            </a:r>
          </a:p>
          <a:p>
            <a:r>
              <a:rPr lang="en-GB" b="1" dirty="0"/>
              <a:t>Step 8 — Report the protocol</a:t>
            </a:r>
          </a:p>
          <a:p>
            <a:pPr lvl="1"/>
            <a:r>
              <a:rPr lang="en-GB" dirty="0"/>
              <a:t>temporal intervals;</a:t>
            </a:r>
          </a:p>
          <a:p>
            <a:pPr lvl="1"/>
            <a:r>
              <a:rPr lang="en-GB" dirty="0"/>
              <a:t>entities and groups;</a:t>
            </a:r>
          </a:p>
          <a:p>
            <a:pPr lvl="1"/>
            <a:r>
              <a:rPr lang="en-GB" dirty="0"/>
              <a:t>window construction;</a:t>
            </a:r>
          </a:p>
          <a:p>
            <a:pPr lvl="1"/>
            <a:r>
              <a:rPr lang="en-GB" dirty="0"/>
              <a:t>preprocessing;</a:t>
            </a:r>
          </a:p>
          <a:p>
            <a:pPr lvl="1"/>
            <a:r>
              <a:rPr lang="en-GB" dirty="0"/>
              <a:t>validation strategy;</a:t>
            </a:r>
          </a:p>
          <a:p>
            <a:pPr lvl="1"/>
            <a:r>
              <a:rPr lang="en-GB" dirty="0"/>
              <a:t>final metrics.</a:t>
            </a:r>
          </a:p>
          <a:p>
            <a:endParaRPr lang="en-GB" dirty="0"/>
          </a:p>
          <a:p>
            <a:r>
              <a:rPr lang="en-GB" dirty="0"/>
              <a:t>Reliable performance estimates depend as much on </a:t>
            </a:r>
            <a:r>
              <a:rPr lang="en-GB" b="1" dirty="0"/>
              <a:t>evaluation design</a:t>
            </a:r>
            <a:r>
              <a:rPr lang="en-GB" dirty="0"/>
              <a:t> as on the predictive algorithm itself.</a:t>
            </a:r>
          </a:p>
          <a:p>
            <a:endParaRPr lang="en-GB" dirty="0"/>
          </a:p>
        </p:txBody>
      </p:sp>
    </p:spTree>
    <p:extLst>
      <p:ext uri="{BB962C8B-B14F-4D97-AF65-F5344CB8AC3E}">
        <p14:creationId xmlns:p14="http://schemas.microsoft.com/office/powerpoint/2010/main" val="170667893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84048"/>
            <a:ext cx="8138160" cy="384048"/>
          </a:xfrm>
          <a:prstGeom prst="rect">
            <a:avLst/>
          </a:prstGeom>
          <a:noFill/>
          <a:ln/>
        </p:spPr>
        <p:txBody>
          <a:bodyPr wrap="square" lIns="0" tIns="0" rIns="0" bIns="0" rtlCol="0" anchor="ctr"/>
          <a:lstStyle/>
          <a:p>
            <a:pPr marL="0" indent="0">
              <a:buNone/>
            </a:pPr>
            <a:r>
              <a:rPr lang="en-US" sz="2200" b="1" dirty="0">
                <a:solidFill>
                  <a:srgbClr val="111827"/>
                </a:solidFill>
                <a:latin typeface="Aptos Display" pitchFamily="34" charset="0"/>
                <a:ea typeface="Aptos Display" pitchFamily="34" charset="-122"/>
                <a:cs typeface="Aptos Display" pitchFamily="34" charset="-120"/>
              </a:rPr>
              <a:t>End-to-end evaluation workflow</a:t>
            </a:r>
            <a:endParaRPr lang="en-US" sz="2200" dirty="0"/>
          </a:p>
        </p:txBody>
      </p:sp>
      <p:sp>
        <p:nvSpPr>
          <p:cNvPr id="3" name="Text 1"/>
          <p:cNvSpPr/>
          <p:nvPr/>
        </p:nvSpPr>
        <p:spPr>
          <a:xfrm>
            <a:off x="512064" y="896112"/>
            <a:ext cx="9509760" cy="256032"/>
          </a:xfrm>
          <a:prstGeom prst="rect">
            <a:avLst/>
          </a:prstGeom>
          <a:noFill/>
          <a:ln/>
        </p:spPr>
        <p:txBody>
          <a:bodyPr wrap="square" lIns="0" tIns="0" rIns="0" bIns="0" rtlCol="0" anchor="ctr"/>
          <a:lstStyle/>
          <a:p>
            <a:pPr marL="0" indent="0">
              <a:buNone/>
            </a:pPr>
            <a:r>
              <a:rPr lang="en-US" sz="1050" dirty="0">
                <a:solidFill>
                  <a:srgbClr val="64748B"/>
                </a:solidFill>
                <a:latin typeface="Aptos" pitchFamily="34" charset="0"/>
                <a:ea typeface="Aptos" pitchFamily="34" charset="-122"/>
                <a:cs typeface="Aptos" pitchFamily="34" charset="-120"/>
              </a:rPr>
              <a:t>Treat deployment assumptions, partitioning, sample construction, modelling and reporting as one evaluation protocol.</a:t>
            </a:r>
            <a:endParaRPr lang="en-US" sz="1050" dirty="0"/>
          </a:p>
        </p:txBody>
      </p:sp>
      <p:sp>
        <p:nvSpPr>
          <p:cNvPr id="4" name="Text 2"/>
          <p:cNvSpPr/>
          <p:nvPr/>
        </p:nvSpPr>
        <p:spPr>
          <a:xfrm>
            <a:off x="168706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5" name="Text 3"/>
          <p:cNvSpPr/>
          <p:nvPr/>
        </p:nvSpPr>
        <p:spPr>
          <a:xfrm>
            <a:off x="287578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6" name="Text 4"/>
          <p:cNvSpPr/>
          <p:nvPr/>
        </p:nvSpPr>
        <p:spPr>
          <a:xfrm>
            <a:off x="406450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7" name="Text 5"/>
          <p:cNvSpPr/>
          <p:nvPr/>
        </p:nvSpPr>
        <p:spPr>
          <a:xfrm>
            <a:off x="525322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8" name="Text 6"/>
          <p:cNvSpPr/>
          <p:nvPr/>
        </p:nvSpPr>
        <p:spPr>
          <a:xfrm>
            <a:off x="644194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9" name="Text 7"/>
          <p:cNvSpPr/>
          <p:nvPr/>
        </p:nvSpPr>
        <p:spPr>
          <a:xfrm>
            <a:off x="763066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10" name="Text 8"/>
          <p:cNvSpPr/>
          <p:nvPr/>
        </p:nvSpPr>
        <p:spPr>
          <a:xfrm>
            <a:off x="8819388" y="1920240"/>
            <a:ext cx="82296" cy="164592"/>
          </a:xfrm>
          <a:prstGeom prst="rect">
            <a:avLst/>
          </a:prstGeom>
          <a:noFill/>
          <a:ln/>
        </p:spPr>
        <p:txBody>
          <a:bodyPr wrap="square" lIns="0" tIns="0" rIns="0" bIns="0" rtlCol="0" anchor="ctr"/>
          <a:lstStyle/>
          <a:p>
            <a:pPr marL="0" indent="0" algn="ctr">
              <a:buNone/>
            </a:pPr>
            <a:r>
              <a:rPr lang="en-US" sz="1200" b="1" dirty="0">
                <a:solidFill>
                  <a:srgbClr val="94A3B8"/>
                </a:solidFill>
                <a:latin typeface="Aptos" pitchFamily="34" charset="0"/>
                <a:ea typeface="Aptos" pitchFamily="34" charset="-122"/>
                <a:cs typeface="Aptos" pitchFamily="34" charset="-120"/>
              </a:rPr>
              <a:t>→</a:t>
            </a:r>
            <a:endParaRPr lang="en-US" sz="1200" dirty="0"/>
          </a:p>
        </p:txBody>
      </p:sp>
      <p:sp>
        <p:nvSpPr>
          <p:cNvPr id="11" name="Text 9"/>
          <p:cNvSpPr/>
          <p:nvPr/>
        </p:nvSpPr>
        <p:spPr>
          <a:xfrm>
            <a:off x="594360" y="1691640"/>
            <a:ext cx="1078992" cy="676656"/>
          </a:xfrm>
          <a:prstGeom prst="roundRect">
            <a:avLst>
              <a:gd name="adj" fmla="val 10811"/>
            </a:avLst>
          </a:prstGeom>
          <a:solidFill>
            <a:srgbClr val="0F172A"/>
          </a:solidFill>
          <a:ln>
            <a:solidFill>
              <a:srgbClr val="0F172A"/>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Define</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deployment</a:t>
            </a:r>
            <a:endParaRPr lang="en-US" sz="910" dirty="0"/>
          </a:p>
        </p:txBody>
      </p:sp>
      <p:sp>
        <p:nvSpPr>
          <p:cNvPr id="12" name="Text 10"/>
          <p:cNvSpPr/>
          <p:nvPr/>
        </p:nvSpPr>
        <p:spPr>
          <a:xfrm>
            <a:off x="1783080" y="1691640"/>
            <a:ext cx="1078992" cy="676656"/>
          </a:xfrm>
          <a:prstGeom prst="roundRect">
            <a:avLst>
              <a:gd name="adj" fmla="val 10811"/>
            </a:avLst>
          </a:prstGeom>
          <a:solidFill>
            <a:srgbClr val="2563EB"/>
          </a:solidFill>
          <a:ln>
            <a:solidFill>
              <a:srgbClr val="2563EB"/>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Define</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partitions</a:t>
            </a:r>
            <a:endParaRPr lang="en-US" sz="910" dirty="0"/>
          </a:p>
        </p:txBody>
      </p:sp>
      <p:sp>
        <p:nvSpPr>
          <p:cNvPr id="13" name="Text 11"/>
          <p:cNvSpPr/>
          <p:nvPr/>
        </p:nvSpPr>
        <p:spPr>
          <a:xfrm>
            <a:off x="2971800" y="1691640"/>
            <a:ext cx="1078992" cy="676656"/>
          </a:xfrm>
          <a:prstGeom prst="roundRect">
            <a:avLst>
              <a:gd name="adj" fmla="val 10811"/>
            </a:avLst>
          </a:prstGeom>
          <a:solidFill>
            <a:srgbClr val="2563EB"/>
          </a:solidFill>
          <a:ln>
            <a:solidFill>
              <a:srgbClr val="2563EB"/>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Generate</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samples</a:t>
            </a:r>
            <a:endParaRPr lang="en-US" sz="910" dirty="0"/>
          </a:p>
        </p:txBody>
      </p:sp>
      <p:sp>
        <p:nvSpPr>
          <p:cNvPr id="14" name="Text 12"/>
          <p:cNvSpPr/>
          <p:nvPr/>
        </p:nvSpPr>
        <p:spPr>
          <a:xfrm>
            <a:off x="4160520" y="1691640"/>
            <a:ext cx="1078992" cy="676656"/>
          </a:xfrm>
          <a:prstGeom prst="roundRect">
            <a:avLst>
              <a:gd name="adj" fmla="val 10811"/>
            </a:avLst>
          </a:prstGeom>
          <a:solidFill>
            <a:srgbClr val="65A30D"/>
          </a:solidFill>
          <a:ln>
            <a:solidFill>
              <a:srgbClr val="65A30D"/>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Fit full</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pipeline</a:t>
            </a:r>
            <a:endParaRPr lang="en-US" sz="910" dirty="0"/>
          </a:p>
        </p:txBody>
      </p:sp>
      <p:sp>
        <p:nvSpPr>
          <p:cNvPr id="15" name="Text 13"/>
          <p:cNvSpPr/>
          <p:nvPr/>
        </p:nvSpPr>
        <p:spPr>
          <a:xfrm>
            <a:off x="5349240" y="1691640"/>
            <a:ext cx="1078992" cy="676656"/>
          </a:xfrm>
          <a:prstGeom prst="roundRect">
            <a:avLst>
              <a:gd name="adj" fmla="val 10811"/>
            </a:avLst>
          </a:prstGeom>
          <a:solidFill>
            <a:srgbClr val="F59E0B"/>
          </a:solidFill>
          <a:ln>
            <a:solidFill>
              <a:srgbClr val="F59E0B"/>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Select using</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validation</a:t>
            </a:r>
            <a:endParaRPr lang="en-US" sz="910" dirty="0"/>
          </a:p>
        </p:txBody>
      </p:sp>
      <p:sp>
        <p:nvSpPr>
          <p:cNvPr id="16" name="Text 14"/>
          <p:cNvSpPr/>
          <p:nvPr/>
        </p:nvSpPr>
        <p:spPr>
          <a:xfrm>
            <a:off x="6537960" y="1691640"/>
            <a:ext cx="1078992" cy="676656"/>
          </a:xfrm>
          <a:prstGeom prst="roundRect">
            <a:avLst>
              <a:gd name="adj" fmla="val 10811"/>
            </a:avLst>
          </a:prstGeom>
          <a:solidFill>
            <a:srgbClr val="65A30D"/>
          </a:solidFill>
          <a:ln>
            <a:solidFill>
              <a:srgbClr val="65A30D"/>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Freeze</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solution</a:t>
            </a:r>
            <a:endParaRPr lang="en-US" sz="910" dirty="0"/>
          </a:p>
        </p:txBody>
      </p:sp>
      <p:sp>
        <p:nvSpPr>
          <p:cNvPr id="17" name="Text 15"/>
          <p:cNvSpPr/>
          <p:nvPr/>
        </p:nvSpPr>
        <p:spPr>
          <a:xfrm>
            <a:off x="7726680" y="1691640"/>
            <a:ext cx="1078992" cy="676656"/>
          </a:xfrm>
          <a:prstGeom prst="roundRect">
            <a:avLst>
              <a:gd name="adj" fmla="val 10811"/>
            </a:avLst>
          </a:prstGeom>
          <a:solidFill>
            <a:srgbClr val="DC2626"/>
          </a:solidFill>
          <a:ln>
            <a:solidFill>
              <a:srgbClr val="DC2626"/>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Final</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test</a:t>
            </a:r>
            <a:endParaRPr lang="en-US" sz="910" dirty="0"/>
          </a:p>
        </p:txBody>
      </p:sp>
      <p:sp>
        <p:nvSpPr>
          <p:cNvPr id="18" name="Text 16"/>
          <p:cNvSpPr/>
          <p:nvPr/>
        </p:nvSpPr>
        <p:spPr>
          <a:xfrm>
            <a:off x="8915400" y="1691640"/>
            <a:ext cx="1078992" cy="676656"/>
          </a:xfrm>
          <a:prstGeom prst="roundRect">
            <a:avLst>
              <a:gd name="adj" fmla="val 10811"/>
            </a:avLst>
          </a:prstGeom>
          <a:solidFill>
            <a:srgbClr val="0F172A"/>
          </a:solidFill>
          <a:ln>
            <a:solidFill>
              <a:srgbClr val="0F172A"/>
            </a:solidFill>
          </a:ln>
        </p:spPr>
        <p:txBody>
          <a:bodyPr wrap="square" lIns="1016" tIns="1016" rIns="1016" bIns="1016" rtlCol="0" anchor="ctr"/>
          <a:lstStyle/>
          <a:p>
            <a:pPr marL="0" indent="0" algn="ctr">
              <a:buNone/>
            </a:pPr>
            <a:r>
              <a:rPr lang="en-US" sz="910" b="1" dirty="0">
                <a:solidFill>
                  <a:srgbClr val="FFFFFF"/>
                </a:solidFill>
                <a:latin typeface="Aptos" pitchFamily="34" charset="0"/>
                <a:ea typeface="Aptos" pitchFamily="34" charset="-122"/>
                <a:cs typeface="Aptos" pitchFamily="34" charset="-120"/>
              </a:rPr>
              <a:t>Report</a:t>
            </a:r>
            <a:endParaRPr lang="en-US" sz="910" dirty="0"/>
          </a:p>
          <a:p>
            <a:pPr marL="0" indent="0" algn="ctr">
              <a:buNone/>
            </a:pPr>
            <a:r>
              <a:rPr lang="en-US" sz="910" b="1" dirty="0">
                <a:solidFill>
                  <a:srgbClr val="FFFFFF"/>
                </a:solidFill>
                <a:latin typeface="Aptos" pitchFamily="34" charset="0"/>
                <a:ea typeface="Aptos" pitchFamily="34" charset="-122"/>
                <a:cs typeface="Aptos" pitchFamily="34" charset="-120"/>
              </a:rPr>
              <a:t>protocol</a:t>
            </a:r>
            <a:endParaRPr lang="en-US" sz="910" dirty="0"/>
          </a:p>
        </p:txBody>
      </p:sp>
      <p:sp>
        <p:nvSpPr>
          <p:cNvPr id="19" name="Text 17"/>
          <p:cNvSpPr/>
          <p:nvPr/>
        </p:nvSpPr>
        <p:spPr>
          <a:xfrm>
            <a:off x="475488" y="3328415"/>
            <a:ext cx="2423160" cy="987552"/>
          </a:xfrm>
          <a:prstGeom prst="roundRect">
            <a:avLst>
              <a:gd name="adj" fmla="val 5556"/>
            </a:avLst>
          </a:prstGeom>
          <a:solidFill>
            <a:srgbClr val="F8FAFC"/>
          </a:solidFill>
          <a:ln w="13970">
            <a:solidFill>
              <a:srgbClr val="0F172A"/>
            </a:solidFill>
          </a:ln>
        </p:spPr>
        <p:txBody>
          <a:bodyPr wrap="square" rtlCol="0" anchor="ctr">
            <a:normAutofit/>
          </a:bodyPr>
          <a:lstStyle/>
          <a:p>
            <a:pPr marL="0" indent="0">
              <a:buNone/>
            </a:pPr>
            <a:r>
              <a:rPr lang="en-US" sz="870" dirty="0">
                <a:solidFill>
                  <a:srgbClr val="1F2937"/>
                </a:solidFill>
                <a:latin typeface="Aptos" pitchFamily="34" charset="0"/>
                <a:ea typeface="Aptos" pitchFamily="34" charset="-122"/>
                <a:cs typeface="Aptos" pitchFamily="34" charset="-120"/>
              </a:rPr>
              <a:t>1. Deployment assumptions</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prediction time</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expected novelty</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operational unit</a:t>
            </a:r>
            <a:endParaRPr lang="en-US" sz="870" dirty="0"/>
          </a:p>
        </p:txBody>
      </p:sp>
      <p:sp>
        <p:nvSpPr>
          <p:cNvPr id="20" name="Text 18"/>
          <p:cNvSpPr/>
          <p:nvPr/>
        </p:nvSpPr>
        <p:spPr>
          <a:xfrm>
            <a:off x="3090672" y="3328415"/>
            <a:ext cx="2606040" cy="987552"/>
          </a:xfrm>
          <a:prstGeom prst="roundRect">
            <a:avLst>
              <a:gd name="adj" fmla="val 5556"/>
            </a:avLst>
          </a:prstGeom>
          <a:solidFill>
            <a:srgbClr val="EFF6FF"/>
          </a:solidFill>
          <a:ln w="13970">
            <a:solidFill>
              <a:srgbClr val="2563EB"/>
            </a:solidFill>
          </a:ln>
        </p:spPr>
        <p:txBody>
          <a:bodyPr wrap="square" rtlCol="0" anchor="ctr">
            <a:normAutofit/>
          </a:bodyPr>
          <a:lstStyle/>
          <a:p>
            <a:pPr marL="0" indent="0">
              <a:buNone/>
            </a:pPr>
            <a:r>
              <a:rPr lang="en-US" sz="870" dirty="0">
                <a:solidFill>
                  <a:srgbClr val="1F2937"/>
                </a:solidFill>
                <a:latin typeface="Aptos" pitchFamily="34" charset="0"/>
                <a:ea typeface="Aptos" pitchFamily="34" charset="-122"/>
                <a:cs typeface="Aptos" pitchFamily="34" charset="-120"/>
              </a:rPr>
              <a:t>2. Partition rules</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temporal boundaries</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entity / group boundaries</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validation strategy</a:t>
            </a:r>
            <a:endParaRPr lang="en-US" sz="870" dirty="0"/>
          </a:p>
        </p:txBody>
      </p:sp>
      <p:sp>
        <p:nvSpPr>
          <p:cNvPr id="21" name="Text 19"/>
          <p:cNvSpPr/>
          <p:nvPr/>
        </p:nvSpPr>
        <p:spPr>
          <a:xfrm>
            <a:off x="5888736" y="3328415"/>
            <a:ext cx="2697480" cy="987552"/>
          </a:xfrm>
          <a:prstGeom prst="roundRect">
            <a:avLst>
              <a:gd name="adj" fmla="val 5556"/>
            </a:avLst>
          </a:prstGeom>
          <a:solidFill>
            <a:srgbClr val="F0FDF4"/>
          </a:solidFill>
          <a:ln w="13970">
            <a:solidFill>
              <a:srgbClr val="65A30D"/>
            </a:solidFill>
          </a:ln>
        </p:spPr>
        <p:txBody>
          <a:bodyPr wrap="square" rtlCol="0" anchor="ctr">
            <a:normAutofit/>
          </a:bodyPr>
          <a:lstStyle/>
          <a:p>
            <a:pPr marL="0" indent="0">
              <a:buNone/>
            </a:pPr>
            <a:r>
              <a:rPr lang="en-US" sz="870" dirty="0">
                <a:solidFill>
                  <a:srgbClr val="1F2937"/>
                </a:solidFill>
                <a:latin typeface="Aptos" pitchFamily="34" charset="0"/>
                <a:ea typeface="Aptos" pitchFamily="34" charset="-122"/>
                <a:cs typeface="Aptos" pitchFamily="34" charset="-120"/>
              </a:rPr>
              <a:t>3. Sample construction</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window length and stride</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target alignment / horizon</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event or cycle grouping</a:t>
            </a:r>
            <a:endParaRPr lang="en-US" sz="870" dirty="0"/>
          </a:p>
        </p:txBody>
      </p:sp>
      <p:sp>
        <p:nvSpPr>
          <p:cNvPr id="22" name="Text 20"/>
          <p:cNvSpPr/>
          <p:nvPr/>
        </p:nvSpPr>
        <p:spPr>
          <a:xfrm>
            <a:off x="8778240" y="3328415"/>
            <a:ext cx="2331720" cy="987552"/>
          </a:xfrm>
          <a:prstGeom prst="roundRect">
            <a:avLst>
              <a:gd name="adj" fmla="val 5556"/>
            </a:avLst>
          </a:prstGeom>
          <a:solidFill>
            <a:srgbClr val="FEF2F2"/>
          </a:solidFill>
          <a:ln w="13970">
            <a:solidFill>
              <a:srgbClr val="DC2626"/>
            </a:solidFill>
          </a:ln>
        </p:spPr>
        <p:txBody>
          <a:bodyPr wrap="square" rtlCol="0" anchor="ctr">
            <a:normAutofit/>
          </a:bodyPr>
          <a:lstStyle/>
          <a:p>
            <a:pPr marL="0" indent="0">
              <a:buNone/>
            </a:pPr>
            <a:r>
              <a:rPr lang="en-US" sz="870" dirty="0">
                <a:solidFill>
                  <a:srgbClr val="1F2937"/>
                </a:solidFill>
                <a:latin typeface="Aptos" pitchFamily="34" charset="0"/>
                <a:ea typeface="Aptos" pitchFamily="34" charset="-122"/>
                <a:cs typeface="Aptos" pitchFamily="34" charset="-120"/>
              </a:rPr>
              <a:t>4. Evaluation protocol</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metrics and thresholds</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subgroup analysis</a:t>
            </a:r>
            <a:endParaRPr lang="en-US" sz="870" dirty="0"/>
          </a:p>
          <a:p>
            <a:pPr marL="0" indent="0">
              <a:buNone/>
            </a:pPr>
            <a:r>
              <a:rPr lang="en-US" sz="870" dirty="0">
                <a:solidFill>
                  <a:srgbClr val="1F2937"/>
                </a:solidFill>
                <a:latin typeface="Aptos" pitchFamily="34" charset="0"/>
                <a:ea typeface="Aptos" pitchFamily="34" charset="-122"/>
                <a:cs typeface="Aptos" pitchFamily="34" charset="-120"/>
              </a:rPr>
              <a:t>• reported limitations</a:t>
            </a:r>
            <a:endParaRPr lang="en-US" sz="870" dirty="0"/>
          </a:p>
        </p:txBody>
      </p:sp>
      <p:sp>
        <p:nvSpPr>
          <p:cNvPr id="23" name="Text 21"/>
          <p:cNvSpPr/>
          <p:nvPr/>
        </p:nvSpPr>
        <p:spPr>
          <a:xfrm>
            <a:off x="3393300" y="2852928"/>
            <a:ext cx="3961881" cy="384048"/>
          </a:xfrm>
          <a:prstGeom prst="rect">
            <a:avLst/>
          </a:prstGeom>
          <a:noFill/>
          <a:ln/>
        </p:spPr>
        <p:txBody>
          <a:bodyPr wrap="square" lIns="0" tIns="0" rIns="0" bIns="0" rtlCol="0" anchor="ctr"/>
          <a:lstStyle/>
          <a:p>
            <a:pPr marL="0" indent="0">
              <a:buNone/>
            </a:pPr>
            <a:r>
              <a:rPr lang="en-US" sz="1210" b="1" dirty="0">
                <a:solidFill>
                  <a:srgbClr val="111827"/>
                </a:solidFill>
                <a:latin typeface="Aptos" pitchFamily="34" charset="0"/>
                <a:ea typeface="Aptos" pitchFamily="34" charset="-122"/>
                <a:cs typeface="Aptos" pitchFamily="34" charset="-120"/>
              </a:rPr>
              <a:t>Decision checklists tied to specific workflow stages.</a:t>
            </a:r>
            <a:endParaRPr lang="en-US" sz="1210" dirty="0"/>
          </a:p>
        </p:txBody>
      </p:sp>
      <p:sp>
        <p:nvSpPr>
          <p:cNvPr id="24" name="Text 22"/>
          <p:cNvSpPr/>
          <p:nvPr/>
        </p:nvSpPr>
        <p:spPr>
          <a:xfrm>
            <a:off x="1143000" y="5376672"/>
            <a:ext cx="7452360" cy="438912"/>
          </a:xfrm>
          <a:prstGeom prst="rect">
            <a:avLst/>
          </a:prstGeom>
          <a:solidFill>
            <a:srgbClr val="FFFFFF"/>
          </a:solidFill>
          <a:ln w="15240">
            <a:solidFill>
              <a:srgbClr val="65A30D"/>
            </a:solidFill>
          </a:ln>
        </p:spPr>
        <p:txBody>
          <a:bodyPr wrap="square" rtlCol="0" anchor="ctr"/>
          <a:lstStyle/>
          <a:p>
            <a:pPr marL="0" indent="0">
              <a:buNone/>
            </a:pPr>
            <a:r>
              <a:rPr lang="en-US" sz="1020" dirty="0">
                <a:solidFill>
                  <a:srgbClr val="111827"/>
                </a:solidFill>
                <a:latin typeface="Aptos" pitchFamily="34" charset="0"/>
                <a:ea typeface="Aptos" pitchFamily="34" charset="-122"/>
                <a:cs typeface="Aptos" pitchFamily="34" charset="-120"/>
              </a:rPr>
              <a:t>Reliable performance estimates depend as much on evaluation design as on the predictive algorithm itself.</a:t>
            </a:r>
            <a:endParaRPr lang="en-US" sz="1020" dirty="0"/>
          </a:p>
        </p:txBody>
      </p:sp>
      <p:sp>
        <p:nvSpPr>
          <p:cNvPr id="25" name="Shape 23"/>
          <p:cNvSpPr/>
          <p:nvPr/>
        </p:nvSpPr>
        <p:spPr>
          <a:xfrm>
            <a:off x="320040" y="6510528"/>
            <a:ext cx="11567160" cy="0"/>
          </a:xfrm>
          <a:prstGeom prst="line">
            <a:avLst/>
          </a:prstGeom>
          <a:noFill/>
          <a:ln w="7620">
            <a:solidFill>
              <a:srgbClr val="CBD5E1"/>
            </a:solidFill>
            <a:prstDash val="solid"/>
          </a:ln>
        </p:spPr>
        <p:txBody>
          <a:bodyPr/>
          <a:lstStyle/>
          <a:p>
            <a:endParaRPr lang="en-GB"/>
          </a:p>
        </p:txBody>
      </p:sp>
      <p:sp>
        <p:nvSpPr>
          <p:cNvPr id="26" name="Text 24"/>
          <p:cNvSpPr/>
          <p:nvPr/>
        </p:nvSpPr>
        <p:spPr>
          <a:xfrm>
            <a:off x="502920" y="6601968"/>
            <a:ext cx="4937760" cy="128016"/>
          </a:xfrm>
          <a:prstGeom prst="rect">
            <a:avLst/>
          </a:prstGeom>
          <a:noFill/>
          <a:ln/>
        </p:spPr>
        <p:txBody>
          <a:bodyPr wrap="square" lIns="0" tIns="0" rIns="0" bIns="0" rtlCol="0" anchor="ctr"/>
          <a:lstStyle/>
          <a:p>
            <a:pPr marL="0" indent="0">
              <a:buNone/>
            </a:pPr>
            <a:r>
              <a:rPr lang="en-US" sz="730" dirty="0">
                <a:solidFill>
                  <a:srgbClr val="64748B"/>
                </a:solidFill>
              </a:rPr>
              <a:t>Lecture 2 — Block F: End-to-end temporal evaluation workflow</a:t>
            </a:r>
            <a:endParaRPr lang="en-US" sz="73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A6574DE-B693-0CA8-38DD-633788738F0A}"/>
              </a:ext>
            </a:extLst>
          </p:cNvPr>
          <p:cNvSpPr>
            <a:spLocks noGrp="1"/>
          </p:cNvSpPr>
          <p:nvPr>
            <p:ph type="title"/>
          </p:nvPr>
        </p:nvSpPr>
        <p:spPr/>
        <p:txBody>
          <a:bodyPr/>
          <a:lstStyle/>
          <a:p>
            <a:r>
              <a:rPr lang="en-GB" dirty="0"/>
              <a:t>Transition to baselines</a:t>
            </a:r>
          </a:p>
        </p:txBody>
      </p:sp>
      <p:sp>
        <p:nvSpPr>
          <p:cNvPr id="3" name="Segnaposto contenuto 2">
            <a:extLst>
              <a:ext uri="{FF2B5EF4-FFF2-40B4-BE49-F238E27FC236}">
                <a16:creationId xmlns:a16="http://schemas.microsoft.com/office/drawing/2014/main" id="{5D22954D-7BEE-7013-1735-553BEF36275E}"/>
              </a:ext>
            </a:extLst>
          </p:cNvPr>
          <p:cNvSpPr>
            <a:spLocks noGrp="1"/>
          </p:cNvSpPr>
          <p:nvPr>
            <p:ph idx="1"/>
          </p:nvPr>
        </p:nvSpPr>
        <p:spPr/>
        <p:txBody>
          <a:bodyPr>
            <a:normAutofit fontScale="70000" lnSpcReduction="20000"/>
          </a:bodyPr>
          <a:lstStyle/>
          <a:p>
            <a:r>
              <a:rPr lang="en-GB" dirty="0"/>
              <a:t>Once a valid evaluation protocol has been established, the next question is: What is the simplest credible method that the advanced model must outperform?</a:t>
            </a:r>
          </a:p>
          <a:p>
            <a:r>
              <a:rPr lang="en-GB" dirty="0"/>
              <a:t>Before using recurrent networks, temporal CNNs or transformers, we should establish strong reference models.</a:t>
            </a:r>
          </a:p>
          <a:p>
            <a:r>
              <a:rPr lang="en-GB" dirty="0"/>
              <a:t>These include:</a:t>
            </a:r>
          </a:p>
          <a:p>
            <a:pPr lvl="1"/>
            <a:r>
              <a:rPr lang="en-GB" dirty="0"/>
              <a:t>persistence and seasonal-naïve forecasting;</a:t>
            </a:r>
          </a:p>
          <a:p>
            <a:pPr lvl="1"/>
            <a:r>
              <a:rPr lang="en-GB" dirty="0"/>
              <a:t>moving averages and smoothing;</a:t>
            </a:r>
          </a:p>
          <a:p>
            <a:pPr lvl="1"/>
            <a:r>
              <a:rPr lang="en-GB" dirty="0"/>
              <a:t>linear models using lagged observations;</a:t>
            </a:r>
          </a:p>
          <a:p>
            <a:pPr lvl="1"/>
            <a:r>
              <a:rPr lang="en-GB" dirty="0"/>
              <a:t>statistical and spectral temporal features;</a:t>
            </a:r>
          </a:p>
          <a:p>
            <a:pPr lvl="1"/>
            <a:r>
              <a:rPr lang="en-GB" dirty="0"/>
              <a:t>logistic and linear regression;</a:t>
            </a:r>
          </a:p>
          <a:p>
            <a:pPr lvl="1"/>
            <a:r>
              <a:rPr lang="en-GB" dirty="0"/>
              <a:t>tree-based models;</a:t>
            </a:r>
          </a:p>
          <a:p>
            <a:pPr lvl="1"/>
            <a:r>
              <a:rPr lang="en-GB" dirty="0"/>
              <a:t>distance-based and fast time-series classification methods.</a:t>
            </a:r>
          </a:p>
          <a:p>
            <a:endParaRPr lang="en-GB" dirty="0"/>
          </a:p>
          <a:p>
            <a:r>
              <a:rPr lang="en-GB" dirty="0"/>
              <a:t>This motivates the next topic:</a:t>
            </a:r>
          </a:p>
          <a:p>
            <a:r>
              <a:rPr lang="en-GB" b="1" dirty="0"/>
              <a:t>Traditional baselines and feature-based machine learning.</a:t>
            </a:r>
            <a:endParaRPr lang="en-GB" dirty="0"/>
          </a:p>
          <a:p>
            <a:endParaRPr lang="en-GB" dirty="0"/>
          </a:p>
        </p:txBody>
      </p:sp>
    </p:spTree>
    <p:extLst>
      <p:ext uri="{BB962C8B-B14F-4D97-AF65-F5344CB8AC3E}">
        <p14:creationId xmlns:p14="http://schemas.microsoft.com/office/powerpoint/2010/main" val="386728617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502920" y="109728"/>
            <a:ext cx="2011680" cy="201168"/>
          </a:xfrm>
          <a:prstGeom prst="rect">
            <a:avLst/>
          </a:prstGeom>
          <a:noFill/>
          <a:ln/>
        </p:spPr>
        <p:txBody>
          <a:bodyPr wrap="square" lIns="0" tIns="0" rIns="0" bIns="0" rtlCol="0" anchor="ctr"/>
          <a:lstStyle/>
          <a:p>
            <a:pPr marL="0" indent="0">
              <a:buNone/>
            </a:pPr>
            <a:r>
              <a:rPr lang="en-US" sz="900" b="1" dirty="0">
                <a:solidFill>
                  <a:srgbClr val="5C9A17"/>
                </a:solidFill>
              </a:rPr>
              <a:t>Transition</a:t>
            </a:r>
            <a:endParaRPr lang="en-US" sz="900" dirty="0"/>
          </a:p>
        </p:txBody>
      </p:sp>
      <p:sp>
        <p:nvSpPr>
          <p:cNvPr id="4" name="Text 1"/>
          <p:cNvSpPr/>
          <p:nvPr/>
        </p:nvSpPr>
        <p:spPr>
          <a:xfrm>
            <a:off x="502920" y="411480"/>
            <a:ext cx="8961120" cy="320040"/>
          </a:xfrm>
          <a:prstGeom prst="rect">
            <a:avLst/>
          </a:prstGeom>
          <a:noFill/>
          <a:ln/>
        </p:spPr>
        <p:txBody>
          <a:bodyPr wrap="square" lIns="0" tIns="0" rIns="0" bIns="0" rtlCol="0" anchor="ctr"/>
          <a:lstStyle/>
          <a:p>
            <a:pPr marL="0" indent="0">
              <a:buNone/>
            </a:pPr>
            <a:r>
              <a:rPr lang="en-US" sz="2400" b="1" dirty="0">
                <a:solidFill>
                  <a:srgbClr val="111827"/>
                </a:solidFill>
                <a:latin typeface="Aptos Display" pitchFamily="34" charset="0"/>
                <a:ea typeface="Aptos Display" pitchFamily="34" charset="-122"/>
                <a:cs typeface="Aptos Display" pitchFamily="34" charset="-120"/>
              </a:rPr>
              <a:t>From valid evaluation to baselines</a:t>
            </a:r>
            <a:endParaRPr lang="en-US" sz="2400" dirty="0"/>
          </a:p>
        </p:txBody>
      </p:sp>
      <p:sp>
        <p:nvSpPr>
          <p:cNvPr id="5" name="Text 2"/>
          <p:cNvSpPr/>
          <p:nvPr/>
        </p:nvSpPr>
        <p:spPr>
          <a:xfrm>
            <a:off x="502920" y="786384"/>
            <a:ext cx="8961120" cy="228600"/>
          </a:xfrm>
          <a:prstGeom prst="rect">
            <a:avLst/>
          </a:prstGeom>
          <a:noFill/>
          <a:ln/>
        </p:spPr>
        <p:txBody>
          <a:bodyPr wrap="square" lIns="0" tIns="0" rIns="0" bIns="0" rtlCol="0" anchor="ctr"/>
          <a:lstStyle/>
          <a:p>
            <a:pPr marL="0" indent="0">
              <a:buNone/>
            </a:pPr>
            <a:r>
              <a:rPr lang="en-US" sz="950" dirty="0">
                <a:solidFill>
                  <a:srgbClr val="6B7280"/>
                </a:solidFill>
              </a:rPr>
              <a:t>Once the evaluation protocol is credible, the next step is to define what the model must outperform.</a:t>
            </a:r>
            <a:endParaRPr lang="en-US" sz="950" dirty="0"/>
          </a:p>
        </p:txBody>
      </p:sp>
      <p:sp>
        <p:nvSpPr>
          <p:cNvPr id="6" name="Text 3"/>
          <p:cNvSpPr/>
          <p:nvPr/>
        </p:nvSpPr>
        <p:spPr>
          <a:xfrm>
            <a:off x="914400" y="1325880"/>
            <a:ext cx="1316736" cy="548640"/>
          </a:xfrm>
          <a:prstGeom prst="roundRect">
            <a:avLst/>
          </a:prstGeom>
          <a:solidFill>
            <a:srgbClr val="5C9A17"/>
          </a:solidFill>
          <a:ln w="12700">
            <a:solidFill>
              <a:srgbClr val="5C9A17"/>
            </a:solidFill>
          </a:ln>
        </p:spPr>
        <p:txBody>
          <a:bodyPr wrap="square" lIns="1016" tIns="1016" rIns="1016" bIns="1016"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persistence /</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seasonal naïve</a:t>
            </a:r>
            <a:endParaRPr lang="en-US" sz="950" dirty="0"/>
          </a:p>
        </p:txBody>
      </p:sp>
      <p:sp>
        <p:nvSpPr>
          <p:cNvPr id="7" name="Text 4"/>
          <p:cNvSpPr/>
          <p:nvPr/>
        </p:nvSpPr>
        <p:spPr>
          <a:xfrm>
            <a:off x="2432304" y="1828800"/>
            <a:ext cx="1316736" cy="548640"/>
          </a:xfrm>
          <a:prstGeom prst="roundRect">
            <a:avLst/>
          </a:prstGeom>
          <a:solidFill>
            <a:srgbClr val="2563EB"/>
          </a:solidFill>
          <a:ln w="12700">
            <a:solidFill>
              <a:srgbClr val="2563EB"/>
            </a:solidFill>
          </a:ln>
        </p:spPr>
        <p:txBody>
          <a:bodyPr wrap="square" lIns="1016" tIns="1016" rIns="1016" bIns="1016"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smoothing /</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lag models</a:t>
            </a:r>
            <a:endParaRPr lang="en-US" sz="950" dirty="0"/>
          </a:p>
        </p:txBody>
      </p:sp>
      <p:sp>
        <p:nvSpPr>
          <p:cNvPr id="8" name="Text 5"/>
          <p:cNvSpPr/>
          <p:nvPr/>
        </p:nvSpPr>
        <p:spPr>
          <a:xfrm>
            <a:off x="3950208" y="2331720"/>
            <a:ext cx="1316736" cy="548640"/>
          </a:xfrm>
          <a:prstGeom prst="roundRect">
            <a:avLst/>
          </a:prstGeom>
          <a:solidFill>
            <a:srgbClr val="7C3AED"/>
          </a:solidFill>
          <a:ln w="12700">
            <a:solidFill>
              <a:srgbClr val="7C3AED"/>
            </a:solidFill>
          </a:ln>
        </p:spPr>
        <p:txBody>
          <a:bodyPr wrap="square" lIns="1016" tIns="1016" rIns="1016" bIns="1016"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feature-based</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ML</a:t>
            </a:r>
            <a:endParaRPr lang="en-US" sz="950" dirty="0"/>
          </a:p>
        </p:txBody>
      </p:sp>
      <p:sp>
        <p:nvSpPr>
          <p:cNvPr id="9" name="Text 6"/>
          <p:cNvSpPr/>
          <p:nvPr/>
        </p:nvSpPr>
        <p:spPr>
          <a:xfrm>
            <a:off x="5468112" y="2834640"/>
            <a:ext cx="1316736" cy="548640"/>
          </a:xfrm>
          <a:prstGeom prst="roundRect">
            <a:avLst/>
          </a:prstGeom>
          <a:solidFill>
            <a:srgbClr val="F59E0B"/>
          </a:solidFill>
          <a:ln w="12700">
            <a:solidFill>
              <a:srgbClr val="F59E0B"/>
            </a:solidFill>
          </a:ln>
        </p:spPr>
        <p:txBody>
          <a:bodyPr wrap="square" lIns="1016" tIns="1016" rIns="1016" bIns="1016"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temporal CNN /</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RNN</a:t>
            </a:r>
            <a:endParaRPr lang="en-US" sz="950" dirty="0"/>
          </a:p>
        </p:txBody>
      </p:sp>
      <p:sp>
        <p:nvSpPr>
          <p:cNvPr id="10" name="Text 7"/>
          <p:cNvSpPr/>
          <p:nvPr/>
        </p:nvSpPr>
        <p:spPr>
          <a:xfrm>
            <a:off x="6986016" y="3337560"/>
            <a:ext cx="1316736" cy="548640"/>
          </a:xfrm>
          <a:prstGeom prst="roundRect">
            <a:avLst/>
          </a:prstGeom>
          <a:solidFill>
            <a:srgbClr val="DC2626"/>
          </a:solidFill>
          <a:ln w="12700">
            <a:solidFill>
              <a:srgbClr val="DC2626"/>
            </a:solidFill>
          </a:ln>
        </p:spPr>
        <p:txBody>
          <a:bodyPr wrap="square" lIns="1016" tIns="1016" rIns="1016" bIns="1016"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transformers /</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foundation models</a:t>
            </a:r>
            <a:endParaRPr lang="en-US" sz="950" dirty="0"/>
          </a:p>
        </p:txBody>
      </p:sp>
      <p:sp>
        <p:nvSpPr>
          <p:cNvPr id="11" name="Shape 8"/>
          <p:cNvSpPr/>
          <p:nvPr/>
        </p:nvSpPr>
        <p:spPr>
          <a:xfrm>
            <a:off x="1051560" y="4572000"/>
            <a:ext cx="6675120" cy="0"/>
          </a:xfrm>
          <a:prstGeom prst="line">
            <a:avLst/>
          </a:prstGeom>
          <a:noFill/>
          <a:ln w="19050">
            <a:solidFill>
              <a:srgbClr val="6B7280"/>
            </a:solidFill>
            <a:prstDash val="solid"/>
            <a:tailEnd type="triangle"/>
          </a:ln>
        </p:spPr>
        <p:txBody>
          <a:bodyPr/>
          <a:lstStyle/>
          <a:p>
            <a:endParaRPr lang="en-GB"/>
          </a:p>
        </p:txBody>
      </p:sp>
      <p:sp>
        <p:nvSpPr>
          <p:cNvPr id="12" name="Text 9"/>
          <p:cNvSpPr/>
          <p:nvPr/>
        </p:nvSpPr>
        <p:spPr>
          <a:xfrm>
            <a:off x="1828800" y="4800600"/>
            <a:ext cx="5029200" cy="256032"/>
          </a:xfrm>
          <a:prstGeom prst="rect">
            <a:avLst/>
          </a:prstGeom>
          <a:noFill/>
          <a:ln/>
        </p:spPr>
        <p:txBody>
          <a:bodyPr wrap="square" lIns="0" tIns="0" rIns="0" bIns="0" rtlCol="0" anchor="t">
            <a:normAutofit/>
          </a:bodyPr>
          <a:lstStyle/>
          <a:p>
            <a:pPr marL="0" indent="0" algn="ctr">
              <a:buNone/>
            </a:pPr>
            <a:r>
              <a:rPr lang="en-US" sz="1100" b="1" dirty="0">
                <a:solidFill>
                  <a:srgbClr val="111827"/>
                </a:solidFill>
                <a:latin typeface="Aptos" pitchFamily="34" charset="0"/>
                <a:ea typeface="Aptos" pitchFamily="34" charset="-122"/>
                <a:cs typeface="Aptos" pitchFamily="34" charset="-120"/>
              </a:rPr>
              <a:t>increase complexity only if validation evidence and operational value justify it</a:t>
            </a:r>
            <a:endParaRPr lang="en-US" sz="1100" dirty="0"/>
          </a:p>
        </p:txBody>
      </p:sp>
      <p:sp>
        <p:nvSpPr>
          <p:cNvPr id="13" name="Text 10"/>
          <p:cNvSpPr/>
          <p:nvPr/>
        </p:nvSpPr>
        <p:spPr>
          <a:xfrm>
            <a:off x="1280160" y="5623560"/>
            <a:ext cx="6126480" cy="502920"/>
          </a:xfrm>
          <a:prstGeom prst="rect">
            <a:avLst/>
          </a:prstGeom>
          <a:solidFill>
            <a:srgbClr val="FFFFFF"/>
          </a:solidFill>
          <a:ln w="15240">
            <a:solidFill>
              <a:srgbClr val="5C9A17"/>
            </a:solidFill>
          </a:ln>
        </p:spPr>
        <p:txBody>
          <a:bodyPr wrap="square" lIns="1016" tIns="1016" rIns="1016" bIns="1016" rtlCol="0" anchor="ctr">
            <a:normAutofit/>
          </a:bodyPr>
          <a:lstStyle/>
          <a:p>
            <a:pPr marL="0" indent="0">
              <a:buNone/>
            </a:pPr>
            <a:r>
              <a:rPr lang="en-US" sz="950" dirty="0">
                <a:solidFill>
                  <a:srgbClr val="111827"/>
                </a:solidFill>
              </a:rPr>
              <a:t>Next: traditional baselines and feature-based machine learning for forecasting, regression and classification.</a:t>
            </a:r>
            <a:endParaRPr lang="en-US" sz="950" dirty="0"/>
          </a:p>
        </p:txBody>
      </p:sp>
      <p:sp>
        <p:nvSpPr>
          <p:cNvPr id="15" name="CasellaDiTesto 14">
            <a:extLst>
              <a:ext uri="{FF2B5EF4-FFF2-40B4-BE49-F238E27FC236}">
                <a16:creationId xmlns:a16="http://schemas.microsoft.com/office/drawing/2014/main" id="{0C408BE9-F541-8867-BE99-C6DBFE2367FF}"/>
              </a:ext>
            </a:extLst>
          </p:cNvPr>
          <p:cNvSpPr txBox="1"/>
          <p:nvPr/>
        </p:nvSpPr>
        <p:spPr>
          <a:xfrm>
            <a:off x="4904232" y="1230868"/>
            <a:ext cx="4855464" cy="738664"/>
          </a:xfrm>
          <a:prstGeom prst="rect">
            <a:avLst/>
          </a:prstGeom>
          <a:noFill/>
        </p:spPr>
        <p:txBody>
          <a:bodyPr wrap="square">
            <a:spAutoFit/>
          </a:bodyPr>
          <a:lstStyle/>
          <a:p>
            <a:pPr marL="285750" indent="-285750">
              <a:buFontTx/>
              <a:buChar char="-"/>
            </a:pPr>
            <a:r>
              <a:rPr lang="en-GB" sz="1400" dirty="0"/>
              <a:t>Lag-based models use selected past samples explicitly;</a:t>
            </a:r>
          </a:p>
          <a:p>
            <a:pPr marL="285750" indent="-285750">
              <a:buFontTx/>
              <a:buChar char="-"/>
            </a:pPr>
            <a:r>
              <a:rPr lang="en-GB" sz="1400" dirty="0"/>
              <a:t>Feature-based ML may additionally summarize or transform the history into engineered descriptors.</a:t>
            </a:r>
            <a:endParaRPr lang="en-GB"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EA998F-CF01-9FF9-A2C0-E8230B430F6F}"/>
              </a:ext>
            </a:extLst>
          </p:cNvPr>
          <p:cNvSpPr>
            <a:spLocks noGrp="1"/>
          </p:cNvSpPr>
          <p:nvPr>
            <p:ph type="title"/>
          </p:nvPr>
        </p:nvSpPr>
        <p:spPr/>
        <p:txBody>
          <a:bodyPr/>
          <a:lstStyle/>
          <a:p>
            <a:r>
              <a:rPr lang="it-IT" dirty="0" err="1"/>
              <a:t>Term</a:t>
            </a:r>
            <a:r>
              <a:rPr lang="it-IT" dirty="0"/>
              <a:t> e</a:t>
            </a:r>
            <a:r>
              <a:rPr lang="it-IT"/>
              <a:t>xplanation</a:t>
            </a:r>
            <a:r>
              <a:rPr lang="it-IT" dirty="0"/>
              <a:t> </a:t>
            </a:r>
            <a:r>
              <a:rPr lang="it-IT" dirty="0" err="1"/>
              <a:t>exercise</a:t>
            </a:r>
            <a:endParaRPr lang="en-GB" dirty="0"/>
          </a:p>
        </p:txBody>
      </p:sp>
      <p:sp>
        <p:nvSpPr>
          <p:cNvPr id="3" name="Segnaposto contenuto 2">
            <a:extLst>
              <a:ext uri="{FF2B5EF4-FFF2-40B4-BE49-F238E27FC236}">
                <a16:creationId xmlns:a16="http://schemas.microsoft.com/office/drawing/2014/main" id="{D3D2852E-1128-9633-EC88-329978ED17DD}"/>
              </a:ext>
            </a:extLst>
          </p:cNvPr>
          <p:cNvSpPr>
            <a:spLocks noGrp="1"/>
          </p:cNvSpPr>
          <p:nvPr>
            <p:ph idx="1"/>
          </p:nvPr>
        </p:nvSpPr>
        <p:spPr/>
        <p:txBody>
          <a:bodyPr>
            <a:normAutofit fontScale="77500" lnSpcReduction="20000"/>
          </a:bodyPr>
          <a:lstStyle/>
          <a:p>
            <a:r>
              <a:rPr lang="en-GB" b="1" dirty="0"/>
              <a:t>Prediction time</a:t>
            </a:r>
            <a:r>
              <a:rPr lang="en-GB" dirty="0"/>
              <a:t> — When exactly is the prediction made, and what information is available at that moment?</a:t>
            </a:r>
          </a:p>
          <a:p>
            <a:pPr lvl="1"/>
            <a:r>
              <a:rPr lang="en-GB" dirty="0"/>
              <a:t>Example: </a:t>
            </a:r>
            <a:r>
              <a:rPr lang="en-GB" i="1" dirty="0"/>
              <a:t>predict product quality at the end of a production cycle using measurements available up to 30 seconds before completion.</a:t>
            </a:r>
            <a:r>
              <a:rPr lang="en-GB" dirty="0"/>
              <a:t> </a:t>
            </a:r>
          </a:p>
          <a:p>
            <a:r>
              <a:rPr lang="en-GB" b="1" dirty="0"/>
              <a:t>Expected novelty</a:t>
            </a:r>
            <a:r>
              <a:rPr lang="en-GB" dirty="0"/>
              <a:t> — What is expected to be different at deployment compared with training?</a:t>
            </a:r>
          </a:p>
          <a:p>
            <a:pPr lvl="1"/>
            <a:r>
              <a:rPr lang="en-GB" dirty="0"/>
              <a:t>Example: </a:t>
            </a:r>
            <a:r>
              <a:rPr lang="en-GB" i="1" dirty="0"/>
              <a:t>future time periods, unseen machines, a new production site, or a new operating regime.</a:t>
            </a:r>
            <a:br>
              <a:rPr lang="en-GB" dirty="0"/>
            </a:br>
            <a:r>
              <a:rPr lang="en-GB" dirty="0"/>
              <a:t>This determines what type of generalization the evaluation should test. </a:t>
            </a:r>
          </a:p>
          <a:p>
            <a:r>
              <a:rPr lang="en-GB" b="1" dirty="0"/>
              <a:t>Operational unit</a:t>
            </a:r>
            <a:r>
              <a:rPr lang="en-GB" dirty="0"/>
              <a:t> — What real-world object or event receives one prediction?</a:t>
            </a:r>
          </a:p>
          <a:p>
            <a:pPr lvl="1"/>
            <a:r>
              <a:rPr lang="en-GB" dirty="0"/>
              <a:t>Example: </a:t>
            </a:r>
            <a:r>
              <a:rPr lang="en-GB" i="1" dirty="0"/>
              <a:t>one machine cycle, one patient episode, one turbine, one hour of operation.</a:t>
            </a:r>
            <a:br>
              <a:rPr lang="en-GB" dirty="0"/>
            </a:br>
            <a:r>
              <a:rPr lang="en-GB" dirty="0"/>
              <a:t>This helps determine how samples should be grouped and split. </a:t>
            </a:r>
          </a:p>
          <a:p>
            <a:r>
              <a:rPr lang="en-GB" b="1" dirty="0"/>
              <a:t>Validation strategy</a:t>
            </a:r>
            <a:r>
              <a:rPr lang="en-GB" dirty="0"/>
              <a:t> — How will model choices be made without using the test set?</a:t>
            </a:r>
          </a:p>
          <a:p>
            <a:pPr lvl="1"/>
            <a:r>
              <a:rPr lang="en-GB" dirty="0"/>
              <a:t>Example: </a:t>
            </a:r>
            <a:r>
              <a:rPr lang="en-GB" i="1" dirty="0"/>
              <a:t>a chronological validation period, rolling-origin validation, or leave-one-machine-out validation.</a:t>
            </a:r>
            <a:br>
              <a:rPr lang="en-GB" dirty="0"/>
            </a:br>
            <a:r>
              <a:rPr lang="en-GB" dirty="0"/>
              <a:t>It should resemble the intended deployment setting. </a:t>
            </a:r>
          </a:p>
          <a:p>
            <a:r>
              <a:rPr lang="en-GB" b="1" dirty="0"/>
              <a:t>Reported limitations</a:t>
            </a:r>
            <a:r>
              <a:rPr lang="en-GB" dirty="0"/>
              <a:t> — Which aspects of deployment are not fully represented by the </a:t>
            </a:r>
            <a:r>
              <a:rPr lang="en-GB"/>
              <a:t>evaluation?</a:t>
            </a:r>
          </a:p>
          <a:p>
            <a:pPr lvl="1"/>
            <a:r>
              <a:rPr lang="en-GB"/>
              <a:t>Example</a:t>
            </a:r>
            <a:r>
              <a:rPr lang="en-GB" dirty="0"/>
              <a:t>: </a:t>
            </a:r>
            <a:r>
              <a:rPr lang="en-GB" i="1" dirty="0"/>
              <a:t>only one site was tested, rare faults were underrepresented, or performance under major regime changes is unknown.</a:t>
            </a:r>
            <a:endParaRPr lang="en-GB" dirty="0"/>
          </a:p>
        </p:txBody>
      </p:sp>
    </p:spTree>
    <p:extLst>
      <p:ext uri="{BB962C8B-B14F-4D97-AF65-F5344CB8AC3E}">
        <p14:creationId xmlns:p14="http://schemas.microsoft.com/office/powerpoint/2010/main" val="261121351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47A1C1D-76BF-536D-714F-29CDD3DE35FA}"/>
              </a:ext>
            </a:extLst>
          </p:cNvPr>
          <p:cNvSpPr>
            <a:spLocks noGrp="1"/>
          </p:cNvSpPr>
          <p:nvPr>
            <p:ph type="title"/>
          </p:nvPr>
        </p:nvSpPr>
        <p:spPr/>
        <p:txBody>
          <a:bodyPr/>
          <a:lstStyle/>
          <a:p>
            <a:r>
              <a:rPr lang="it-IT" dirty="0"/>
              <a:t>Extreme </a:t>
            </a:r>
            <a:r>
              <a:rPr lang="it-IT" dirty="0" err="1"/>
              <a:t>summary</a:t>
            </a:r>
            <a:endParaRPr lang="en-GB" dirty="0"/>
          </a:p>
        </p:txBody>
      </p:sp>
      <p:sp>
        <p:nvSpPr>
          <p:cNvPr id="3" name="Segnaposto contenuto 2">
            <a:extLst>
              <a:ext uri="{FF2B5EF4-FFF2-40B4-BE49-F238E27FC236}">
                <a16:creationId xmlns:a16="http://schemas.microsoft.com/office/drawing/2014/main" id="{BEE21729-7452-80C5-CD64-444BF5950977}"/>
              </a:ext>
            </a:extLst>
          </p:cNvPr>
          <p:cNvSpPr>
            <a:spLocks noGrp="1"/>
          </p:cNvSpPr>
          <p:nvPr>
            <p:ph idx="1"/>
          </p:nvPr>
        </p:nvSpPr>
        <p:spPr/>
        <p:txBody>
          <a:bodyPr/>
          <a:lstStyle/>
          <a:p>
            <a:r>
              <a:rPr lang="it-IT" dirty="0"/>
              <a:t>See </a:t>
            </a:r>
            <a:r>
              <a:rPr lang="it-IT" dirty="0" err="1"/>
              <a:t>next</a:t>
            </a:r>
            <a:r>
              <a:rPr lang="it-IT" dirty="0"/>
              <a:t> slides</a:t>
            </a:r>
            <a:endParaRPr lang="en-GB" dirty="0"/>
          </a:p>
        </p:txBody>
      </p:sp>
    </p:spTree>
    <p:extLst>
      <p:ext uri="{BB962C8B-B14F-4D97-AF65-F5344CB8AC3E}">
        <p14:creationId xmlns:p14="http://schemas.microsoft.com/office/powerpoint/2010/main" val="114869092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84F0878-2FE3-6A07-DDC7-03A13BA76716}"/>
              </a:ext>
            </a:extLst>
          </p:cNvPr>
          <p:cNvSpPr>
            <a:spLocks noGrp="1"/>
          </p:cNvSpPr>
          <p:nvPr>
            <p:ph type="title"/>
          </p:nvPr>
        </p:nvSpPr>
        <p:spPr/>
        <p:txBody>
          <a:bodyPr/>
          <a:lstStyle/>
          <a:p>
            <a:r>
              <a:rPr lang="en-GB" dirty="0"/>
              <a:t>Training, validation and testing</a:t>
            </a:r>
          </a:p>
        </p:txBody>
      </p:sp>
      <p:sp>
        <p:nvSpPr>
          <p:cNvPr id="3" name="Segnaposto contenuto 2">
            <a:extLst>
              <a:ext uri="{FF2B5EF4-FFF2-40B4-BE49-F238E27FC236}">
                <a16:creationId xmlns:a16="http://schemas.microsoft.com/office/drawing/2014/main" id="{F6006D80-197A-0A83-DCD9-10DCD0A97372}"/>
              </a:ext>
            </a:extLst>
          </p:cNvPr>
          <p:cNvSpPr>
            <a:spLocks noGrp="1"/>
          </p:cNvSpPr>
          <p:nvPr>
            <p:ph idx="1"/>
          </p:nvPr>
        </p:nvSpPr>
        <p:spPr>
          <a:xfrm>
            <a:off x="677334" y="1637522"/>
            <a:ext cx="8596668" cy="3880773"/>
          </a:xfrm>
        </p:spPr>
        <p:txBody>
          <a:bodyPr/>
          <a:lstStyle/>
          <a:p>
            <a:pPr lvl="0"/>
            <a:r>
              <a:rPr lang="en-GB" dirty="0"/>
              <a:t>A validation set influences the final system through model selection. </a:t>
            </a:r>
          </a:p>
          <a:p>
            <a:pPr lvl="0"/>
            <a:r>
              <a:rPr lang="en-GB" dirty="0"/>
              <a:t>The test set should stay unused until the configuration is fixed. </a:t>
            </a:r>
          </a:p>
          <a:p>
            <a:pPr lvl="0"/>
            <a:r>
              <a:rPr lang="en-GB" dirty="0"/>
              <a:t>Repeatedly changing the system after inspecting test results makes those results part of development. </a:t>
            </a:r>
          </a:p>
          <a:p>
            <a:r>
              <a:rPr lang="en-GB" b="1" dirty="0"/>
              <a:t>A final evaluation then requires fresh held-out data.</a:t>
            </a:r>
            <a:endParaRPr lang="en-GB" dirty="0"/>
          </a:p>
          <a:p>
            <a:endParaRPr lang="en-GB" dirty="0"/>
          </a:p>
        </p:txBody>
      </p:sp>
      <p:graphicFrame>
        <p:nvGraphicFramePr>
          <p:cNvPr id="5" name="Tabella 4">
            <a:extLst>
              <a:ext uri="{FF2B5EF4-FFF2-40B4-BE49-F238E27FC236}">
                <a16:creationId xmlns:a16="http://schemas.microsoft.com/office/drawing/2014/main" id="{F695B45C-2489-F370-FE19-4F18CF3F450E}"/>
              </a:ext>
            </a:extLst>
          </p:cNvPr>
          <p:cNvGraphicFramePr>
            <a:graphicFrameLocks noGrp="1"/>
          </p:cNvGraphicFramePr>
          <p:nvPr>
            <p:extLst>
              <p:ext uri="{D42A27DB-BD31-4B8C-83A1-F6EECF244321}">
                <p14:modId xmlns:p14="http://schemas.microsoft.com/office/powerpoint/2010/main" val="3934064715"/>
              </p:ext>
            </p:extLst>
          </p:nvPr>
        </p:nvGraphicFramePr>
        <p:xfrm>
          <a:off x="677334" y="3711577"/>
          <a:ext cx="9138339" cy="2286000"/>
        </p:xfrm>
        <a:graphic>
          <a:graphicData uri="http://schemas.openxmlformats.org/drawingml/2006/table">
            <a:tbl>
              <a:tblPr>
                <a:tableStyleId>{5C22544A-7EE6-4342-B048-85BDC9FD1C3A}</a:tableStyleId>
              </a:tblPr>
              <a:tblGrid>
                <a:gridCol w="1580767">
                  <a:extLst>
                    <a:ext uri="{9D8B030D-6E8A-4147-A177-3AD203B41FA5}">
                      <a16:colId xmlns:a16="http://schemas.microsoft.com/office/drawing/2014/main" val="2177272034"/>
                    </a:ext>
                  </a:extLst>
                </a:gridCol>
                <a:gridCol w="2655065">
                  <a:extLst>
                    <a:ext uri="{9D8B030D-6E8A-4147-A177-3AD203B41FA5}">
                      <a16:colId xmlns:a16="http://schemas.microsoft.com/office/drawing/2014/main" val="3209021292"/>
                    </a:ext>
                  </a:extLst>
                </a:gridCol>
                <a:gridCol w="4902507">
                  <a:extLst>
                    <a:ext uri="{9D8B030D-6E8A-4147-A177-3AD203B41FA5}">
                      <a16:colId xmlns:a16="http://schemas.microsoft.com/office/drawing/2014/main" val="453546461"/>
                    </a:ext>
                  </a:extLst>
                </a:gridCol>
              </a:tblGrid>
              <a:tr h="0">
                <a:tc>
                  <a:txBody>
                    <a:bodyPr/>
                    <a:lstStyle/>
                    <a:p>
                      <a:pPr>
                        <a:buNone/>
                      </a:pPr>
                      <a:r>
                        <a:rPr lang="en-GB" b="1" dirty="0"/>
                        <a:t>Dataset</a:t>
                      </a:r>
                    </a:p>
                  </a:txBody>
                  <a:tcPr anchor="ctr"/>
                </a:tc>
                <a:tc>
                  <a:txBody>
                    <a:bodyPr/>
                    <a:lstStyle/>
                    <a:p>
                      <a:pPr>
                        <a:buNone/>
                      </a:pPr>
                      <a:r>
                        <a:rPr lang="en-GB" b="1"/>
                        <a:t>Purpose</a:t>
                      </a:r>
                    </a:p>
                  </a:txBody>
                  <a:tcPr anchor="ctr"/>
                </a:tc>
                <a:tc>
                  <a:txBody>
                    <a:bodyPr/>
                    <a:lstStyle/>
                    <a:p>
                      <a:pPr>
                        <a:buNone/>
                      </a:pPr>
                      <a:r>
                        <a:rPr lang="en-GB" b="1" dirty="0"/>
                        <a:t>Examples of permitted use</a:t>
                      </a:r>
                    </a:p>
                  </a:txBody>
                  <a:tcPr anchor="ctr"/>
                </a:tc>
                <a:extLst>
                  <a:ext uri="{0D108BD9-81ED-4DB2-BD59-A6C34878D82A}">
                    <a16:rowId xmlns:a16="http://schemas.microsoft.com/office/drawing/2014/main" val="213895692"/>
                  </a:ext>
                </a:extLst>
              </a:tr>
              <a:tr h="0">
                <a:tc>
                  <a:txBody>
                    <a:bodyPr/>
                    <a:lstStyle/>
                    <a:p>
                      <a:pPr>
                        <a:buNone/>
                      </a:pPr>
                      <a:r>
                        <a:rPr lang="en-GB"/>
                        <a:t>Training</a:t>
                      </a:r>
                    </a:p>
                  </a:txBody>
                  <a:tcPr anchor="ctr"/>
                </a:tc>
                <a:tc>
                  <a:txBody>
                    <a:bodyPr/>
                    <a:lstStyle/>
                    <a:p>
                      <a:pPr>
                        <a:buNone/>
                      </a:pPr>
                      <a:r>
                        <a:rPr lang="en-GB"/>
                        <a:t>Fit the model and preprocessing</a:t>
                      </a:r>
                    </a:p>
                  </a:txBody>
                  <a:tcPr anchor="ctr"/>
                </a:tc>
                <a:tc>
                  <a:txBody>
                    <a:bodyPr/>
                    <a:lstStyle/>
                    <a:p>
                      <a:pPr>
                        <a:buNone/>
                      </a:pPr>
                      <a:r>
                        <a:rPr lang="en-GB" dirty="0"/>
                        <a:t>Scaling parameters, model weights (or reference observations for instance-based methods)</a:t>
                      </a:r>
                    </a:p>
                  </a:txBody>
                  <a:tcPr anchor="ctr"/>
                </a:tc>
                <a:extLst>
                  <a:ext uri="{0D108BD9-81ED-4DB2-BD59-A6C34878D82A}">
                    <a16:rowId xmlns:a16="http://schemas.microsoft.com/office/drawing/2014/main" val="2969481281"/>
                  </a:ext>
                </a:extLst>
              </a:tr>
              <a:tr h="0">
                <a:tc>
                  <a:txBody>
                    <a:bodyPr/>
                    <a:lstStyle/>
                    <a:p>
                      <a:pPr>
                        <a:buNone/>
                      </a:pPr>
                      <a:r>
                        <a:rPr lang="en-GB"/>
                        <a:t>Validation</a:t>
                      </a:r>
                    </a:p>
                  </a:txBody>
                  <a:tcPr anchor="ctr"/>
                </a:tc>
                <a:tc>
                  <a:txBody>
                    <a:bodyPr/>
                    <a:lstStyle/>
                    <a:p>
                      <a:pPr>
                        <a:buNone/>
                      </a:pPr>
                      <a:r>
                        <a:rPr lang="en-GB"/>
                        <a:t>Select the configuration</a:t>
                      </a:r>
                    </a:p>
                  </a:txBody>
                  <a:tcPr anchor="ctr"/>
                </a:tc>
                <a:tc>
                  <a:txBody>
                    <a:bodyPr/>
                    <a:lstStyle/>
                    <a:p>
                      <a:pPr>
                        <a:buNone/>
                      </a:pPr>
                      <a:r>
                        <a:rPr lang="en-GB" dirty="0"/>
                        <a:t>Features, hyperparameters, models</a:t>
                      </a:r>
                    </a:p>
                  </a:txBody>
                  <a:tcPr anchor="ctr"/>
                </a:tc>
                <a:extLst>
                  <a:ext uri="{0D108BD9-81ED-4DB2-BD59-A6C34878D82A}">
                    <a16:rowId xmlns:a16="http://schemas.microsoft.com/office/drawing/2014/main" val="547055505"/>
                  </a:ext>
                </a:extLst>
              </a:tr>
              <a:tr h="0">
                <a:tc>
                  <a:txBody>
                    <a:bodyPr/>
                    <a:lstStyle/>
                    <a:p>
                      <a:pPr>
                        <a:buNone/>
                      </a:pPr>
                      <a:r>
                        <a:rPr lang="en-GB"/>
                        <a:t>Test</a:t>
                      </a:r>
                    </a:p>
                  </a:txBody>
                  <a:tcPr anchor="ctr"/>
                </a:tc>
                <a:tc>
                  <a:txBody>
                    <a:bodyPr/>
                    <a:lstStyle/>
                    <a:p>
                      <a:pPr>
                        <a:buNone/>
                      </a:pPr>
                      <a:r>
                        <a:rPr lang="en-GB"/>
                        <a:t>Estimate performance after selection</a:t>
                      </a:r>
                    </a:p>
                  </a:txBody>
                  <a:tcPr anchor="ctr"/>
                </a:tc>
                <a:tc>
                  <a:txBody>
                    <a:bodyPr/>
                    <a:lstStyle/>
                    <a:p>
                      <a:pPr>
                        <a:buNone/>
                      </a:pPr>
                      <a:r>
                        <a:rPr lang="en-GB" dirty="0"/>
                        <a:t>Final metrics and error analysis</a:t>
                      </a:r>
                    </a:p>
                  </a:txBody>
                  <a:tcPr anchor="ctr"/>
                </a:tc>
                <a:extLst>
                  <a:ext uri="{0D108BD9-81ED-4DB2-BD59-A6C34878D82A}">
                    <a16:rowId xmlns:a16="http://schemas.microsoft.com/office/drawing/2014/main" val="3955955630"/>
                  </a:ext>
                </a:extLst>
              </a:tr>
            </a:tbl>
          </a:graphicData>
        </a:graphic>
      </p:graphicFrame>
    </p:spTree>
    <p:extLst>
      <p:ext uri="{BB962C8B-B14F-4D97-AF65-F5344CB8AC3E}">
        <p14:creationId xmlns:p14="http://schemas.microsoft.com/office/powerpoint/2010/main" val="217846477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711D51E-ACCA-46FD-EB95-FEBA0A4F76C1}"/>
              </a:ext>
            </a:extLst>
          </p:cNvPr>
          <p:cNvSpPr>
            <a:spLocks noGrp="1"/>
          </p:cNvSpPr>
          <p:nvPr>
            <p:ph type="title"/>
          </p:nvPr>
        </p:nvSpPr>
        <p:spPr/>
        <p:txBody>
          <a:bodyPr/>
          <a:lstStyle/>
          <a:p>
            <a:r>
              <a:rPr lang="it-IT" dirty="0"/>
              <a:t>Train-</a:t>
            </a:r>
            <a:r>
              <a:rPr lang="it-IT" dirty="0" err="1"/>
              <a:t>validation</a:t>
            </a:r>
            <a:r>
              <a:rPr lang="it-IT" dirty="0"/>
              <a:t>-testing split</a:t>
            </a:r>
            <a:endParaRPr lang="en-GB" dirty="0"/>
          </a:p>
        </p:txBody>
      </p:sp>
      <p:sp>
        <p:nvSpPr>
          <p:cNvPr id="3" name="Segnaposto contenuto 2">
            <a:extLst>
              <a:ext uri="{FF2B5EF4-FFF2-40B4-BE49-F238E27FC236}">
                <a16:creationId xmlns:a16="http://schemas.microsoft.com/office/drawing/2014/main" id="{6144DAD7-55E0-C6F3-5C0C-2F4B559B4D66}"/>
              </a:ext>
            </a:extLst>
          </p:cNvPr>
          <p:cNvSpPr>
            <a:spLocks noGrp="1"/>
          </p:cNvSpPr>
          <p:nvPr>
            <p:ph idx="1"/>
          </p:nvPr>
        </p:nvSpPr>
        <p:spPr/>
        <p:txBody>
          <a:bodyPr/>
          <a:lstStyle/>
          <a:p>
            <a:r>
              <a:rPr lang="it-IT" dirty="0"/>
              <a:t>Always </a:t>
            </a:r>
            <a:r>
              <a:rPr lang="it-IT" dirty="0" err="1"/>
              <a:t>ask</a:t>
            </a:r>
            <a:r>
              <a:rPr lang="it-IT" dirty="0"/>
              <a:t> </a:t>
            </a:r>
            <a:r>
              <a:rPr lang="it-IT" dirty="0" err="1"/>
              <a:t>what</a:t>
            </a:r>
            <a:r>
              <a:rPr lang="it-IT" dirty="0"/>
              <a:t> </a:t>
            </a:r>
            <a:r>
              <a:rPr lang="it-IT" dirty="0" err="1"/>
              <a:t>you</a:t>
            </a:r>
            <a:r>
              <a:rPr lang="it-IT" dirty="0"/>
              <a:t> </a:t>
            </a:r>
            <a:r>
              <a:rPr lang="it-IT" dirty="0" err="1"/>
              <a:t>want</a:t>
            </a:r>
            <a:r>
              <a:rPr lang="it-IT" dirty="0"/>
              <a:t> to </a:t>
            </a:r>
            <a:r>
              <a:rPr lang="it-IT" dirty="0" err="1"/>
              <a:t>generalize</a:t>
            </a:r>
            <a:r>
              <a:rPr lang="it-IT" dirty="0"/>
              <a:t> to in </a:t>
            </a:r>
            <a:r>
              <a:rPr lang="it-IT" dirty="0" err="1"/>
              <a:t>your</a:t>
            </a:r>
            <a:r>
              <a:rPr lang="it-IT" dirty="0"/>
              <a:t> </a:t>
            </a:r>
            <a:r>
              <a:rPr lang="it-IT" dirty="0" err="1"/>
              <a:t>real</a:t>
            </a:r>
            <a:r>
              <a:rPr lang="it-IT" dirty="0"/>
              <a:t> world </a:t>
            </a:r>
            <a:r>
              <a:rPr lang="it-IT" dirty="0" err="1"/>
              <a:t>application</a:t>
            </a:r>
            <a:r>
              <a:rPr lang="it-IT" dirty="0"/>
              <a:t>:</a:t>
            </a:r>
          </a:p>
          <a:p>
            <a:pPr lvl="1"/>
            <a:r>
              <a:rPr lang="it-IT" dirty="0"/>
              <a:t>You </a:t>
            </a:r>
            <a:r>
              <a:rPr lang="it-IT" dirty="0" err="1"/>
              <a:t>will</a:t>
            </a:r>
            <a:r>
              <a:rPr lang="it-IT" dirty="0"/>
              <a:t> </a:t>
            </a:r>
            <a:r>
              <a:rPr lang="it-IT" dirty="0" err="1"/>
              <a:t>apply</a:t>
            </a:r>
            <a:r>
              <a:rPr lang="it-IT" dirty="0"/>
              <a:t> </a:t>
            </a:r>
            <a:r>
              <a:rPr lang="it-IT" dirty="0" err="1"/>
              <a:t>your</a:t>
            </a:r>
            <a:r>
              <a:rPr lang="it-IT" dirty="0"/>
              <a:t> model on </a:t>
            </a:r>
            <a:r>
              <a:rPr lang="it-IT"/>
              <a:t>future data?</a:t>
            </a:r>
            <a:endParaRPr lang="it-IT" dirty="0"/>
          </a:p>
          <a:p>
            <a:pPr lvl="1"/>
            <a:r>
              <a:rPr lang="it-IT" dirty="0" err="1"/>
              <a:t>What</a:t>
            </a:r>
            <a:r>
              <a:rPr lang="it-IT" dirty="0"/>
              <a:t> new </a:t>
            </a:r>
            <a:r>
              <a:rPr lang="it-IT" dirty="0" err="1"/>
              <a:t>factors</a:t>
            </a:r>
            <a:r>
              <a:rPr lang="it-IT" dirty="0"/>
              <a:t> </a:t>
            </a:r>
            <a:r>
              <a:rPr lang="it-IT" dirty="0" err="1"/>
              <a:t>may</a:t>
            </a:r>
            <a:r>
              <a:rPr lang="it-IT" dirty="0"/>
              <a:t> </a:t>
            </a:r>
            <a:r>
              <a:rPr lang="it-IT" dirty="0" err="1"/>
              <a:t>influence</a:t>
            </a:r>
            <a:r>
              <a:rPr lang="it-IT" dirty="0"/>
              <a:t> the performance of </a:t>
            </a:r>
            <a:r>
              <a:rPr lang="it-IT" dirty="0" err="1"/>
              <a:t>your</a:t>
            </a:r>
            <a:r>
              <a:rPr lang="it-IT" dirty="0"/>
              <a:t> system in the </a:t>
            </a:r>
            <a:r>
              <a:rPr lang="it-IT" dirty="0" err="1"/>
              <a:t>real</a:t>
            </a:r>
            <a:r>
              <a:rPr lang="it-IT" dirty="0"/>
              <a:t> world? New machines, users, </a:t>
            </a:r>
            <a:r>
              <a:rPr lang="it-IT" dirty="0" err="1"/>
              <a:t>environments</a:t>
            </a:r>
            <a:r>
              <a:rPr lang="it-IT" dirty="0"/>
              <a:t>, </a:t>
            </a:r>
            <a:r>
              <a:rPr lang="it-IT" dirty="0" err="1"/>
              <a:t>operating</a:t>
            </a:r>
            <a:r>
              <a:rPr lang="it-IT" dirty="0"/>
              <a:t> </a:t>
            </a:r>
            <a:r>
              <a:rPr lang="it-IT" dirty="0" err="1"/>
              <a:t>conditions</a:t>
            </a:r>
            <a:r>
              <a:rPr lang="it-IT" dirty="0"/>
              <a:t>?</a:t>
            </a:r>
          </a:p>
          <a:p>
            <a:pPr lvl="1"/>
            <a:r>
              <a:rPr lang="it-IT" dirty="0"/>
              <a:t>Split </a:t>
            </a:r>
            <a:r>
              <a:rPr lang="it-IT" dirty="0" err="1"/>
              <a:t>your</a:t>
            </a:r>
            <a:r>
              <a:rPr lang="it-IT" dirty="0"/>
              <a:t> dataset </a:t>
            </a:r>
            <a:r>
              <a:rPr lang="it-IT" dirty="0" err="1"/>
              <a:t>accordingly</a:t>
            </a:r>
            <a:endParaRPr lang="en-GB" dirty="0"/>
          </a:p>
        </p:txBody>
      </p:sp>
    </p:spTree>
    <p:extLst>
      <p:ext uri="{BB962C8B-B14F-4D97-AF65-F5344CB8AC3E}">
        <p14:creationId xmlns:p14="http://schemas.microsoft.com/office/powerpoint/2010/main" val="68576320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D7729D-8724-DEA0-C37E-D81841AE21C4}"/>
              </a:ext>
            </a:extLst>
          </p:cNvPr>
          <p:cNvSpPr>
            <a:spLocks noGrp="1"/>
          </p:cNvSpPr>
          <p:nvPr>
            <p:ph type="title"/>
          </p:nvPr>
        </p:nvSpPr>
        <p:spPr/>
        <p:txBody>
          <a:bodyPr/>
          <a:lstStyle/>
          <a:p>
            <a:r>
              <a:rPr lang="it-IT" dirty="0" err="1"/>
              <a:t>Example</a:t>
            </a:r>
            <a:r>
              <a:rPr lang="it-IT" dirty="0"/>
              <a:t> – driver </a:t>
            </a:r>
            <a:r>
              <a:rPr lang="it-IT" dirty="0" err="1"/>
              <a:t>distraction</a:t>
            </a:r>
            <a:r>
              <a:rPr lang="it-IT" dirty="0"/>
              <a:t> </a:t>
            </a:r>
            <a:r>
              <a:rPr lang="it-IT" dirty="0" err="1"/>
              <a:t>detection</a:t>
            </a:r>
            <a:endParaRPr lang="en-GB" dirty="0"/>
          </a:p>
        </p:txBody>
      </p:sp>
      <p:sp>
        <p:nvSpPr>
          <p:cNvPr id="3" name="Segnaposto contenuto 2">
            <a:extLst>
              <a:ext uri="{FF2B5EF4-FFF2-40B4-BE49-F238E27FC236}">
                <a16:creationId xmlns:a16="http://schemas.microsoft.com/office/drawing/2014/main" id="{A9FAF47D-CC07-552D-90E4-77796FBAFC81}"/>
              </a:ext>
            </a:extLst>
          </p:cNvPr>
          <p:cNvSpPr>
            <a:spLocks noGrp="1"/>
          </p:cNvSpPr>
          <p:nvPr>
            <p:ph idx="1"/>
          </p:nvPr>
        </p:nvSpPr>
        <p:spPr/>
        <p:txBody>
          <a:bodyPr>
            <a:normAutofit fontScale="92500" lnSpcReduction="20000"/>
          </a:bodyPr>
          <a:lstStyle/>
          <a:p>
            <a:r>
              <a:rPr lang="it-IT" dirty="0"/>
              <a:t>Input?</a:t>
            </a:r>
          </a:p>
          <a:p>
            <a:r>
              <a:rPr lang="en-GB" dirty="0"/>
              <a:t>Output?</a:t>
            </a:r>
          </a:p>
          <a:p>
            <a:r>
              <a:rPr lang="en-GB" dirty="0"/>
              <a:t>Shall we split train and test by trips?</a:t>
            </a:r>
          </a:p>
          <a:p>
            <a:pPr lvl="1"/>
            <a:r>
              <a:rPr lang="en-GB" dirty="0"/>
              <a:t>Probably yes, as we will predict in new trips, and we should not overfit the ones in the current dataset?</a:t>
            </a:r>
          </a:p>
          <a:p>
            <a:r>
              <a:rPr lang="en-GB" dirty="0"/>
              <a:t>What about type of car? (assuming that is a factor influencing the distraction process and its detection)</a:t>
            </a:r>
          </a:p>
          <a:p>
            <a:pPr lvl="1"/>
            <a:r>
              <a:rPr lang="en-GB" dirty="0"/>
              <a:t>If your dataset well representatively covers all the types of car that are expected in the ordinary working conditions of your systems (real world), you can just make sure that all the types are well represented in the training, validation and testing sets</a:t>
            </a:r>
          </a:p>
          <a:p>
            <a:pPr lvl="1"/>
            <a:r>
              <a:rPr lang="en-GB" dirty="0"/>
              <a:t>Type of car should be an input feature</a:t>
            </a:r>
          </a:p>
          <a:p>
            <a:pPr lvl="1"/>
            <a:r>
              <a:rPr lang="en-GB" dirty="0"/>
              <a:t>Otherwise, leave out from the dataset some types of cars and use them for the test set (and from validation as well), and do the tests (also – we assume that in the real world there will be also cars of the types in the training set) on them</a:t>
            </a:r>
          </a:p>
        </p:txBody>
      </p:sp>
    </p:spTree>
    <p:extLst>
      <p:ext uri="{BB962C8B-B14F-4D97-AF65-F5344CB8AC3E}">
        <p14:creationId xmlns:p14="http://schemas.microsoft.com/office/powerpoint/2010/main" val="250376094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89582-19A7-5AD2-C10C-C0131481261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A1BBECF-0E74-C49F-7BF5-D509F0C5612C}"/>
              </a:ext>
            </a:extLst>
          </p:cNvPr>
          <p:cNvSpPr>
            <a:spLocks noGrp="1"/>
          </p:cNvSpPr>
          <p:nvPr>
            <p:ph type="title"/>
          </p:nvPr>
        </p:nvSpPr>
        <p:spPr/>
        <p:txBody>
          <a:bodyPr/>
          <a:lstStyle/>
          <a:p>
            <a:r>
              <a:rPr lang="it-IT" dirty="0" err="1"/>
              <a:t>Example</a:t>
            </a:r>
            <a:r>
              <a:rPr lang="it-IT" dirty="0"/>
              <a:t> – driver </a:t>
            </a:r>
            <a:r>
              <a:rPr lang="it-IT" dirty="0" err="1"/>
              <a:t>distraction</a:t>
            </a:r>
            <a:r>
              <a:rPr lang="it-IT" dirty="0"/>
              <a:t> </a:t>
            </a:r>
            <a:r>
              <a:rPr lang="it-IT" dirty="0" err="1"/>
              <a:t>detection</a:t>
            </a:r>
            <a:endParaRPr lang="en-GB" dirty="0"/>
          </a:p>
        </p:txBody>
      </p:sp>
      <p:sp>
        <p:nvSpPr>
          <p:cNvPr id="3" name="Segnaposto contenuto 2">
            <a:extLst>
              <a:ext uri="{FF2B5EF4-FFF2-40B4-BE49-F238E27FC236}">
                <a16:creationId xmlns:a16="http://schemas.microsoft.com/office/drawing/2014/main" id="{5B2C5907-B5FA-4A2D-E563-ECFFA5AE7074}"/>
              </a:ext>
            </a:extLst>
          </p:cNvPr>
          <p:cNvSpPr>
            <a:spLocks noGrp="1"/>
          </p:cNvSpPr>
          <p:nvPr>
            <p:ph idx="1"/>
          </p:nvPr>
        </p:nvSpPr>
        <p:spPr/>
        <p:txBody>
          <a:bodyPr>
            <a:normAutofit/>
          </a:bodyPr>
          <a:lstStyle/>
          <a:p>
            <a:r>
              <a:rPr lang="en-GB" dirty="0"/>
              <a:t>What about drivers?</a:t>
            </a:r>
          </a:p>
          <a:p>
            <a:pPr lvl="1"/>
            <a:r>
              <a:rPr lang="en-GB" dirty="0"/>
              <a:t>If the system is influenced by the single person, split by users. Leave out some drivers for the assessment (test and validation), and evaluate performance only on them</a:t>
            </a:r>
          </a:p>
          <a:p>
            <a:pPr lvl="1"/>
            <a:r>
              <a:rPr lang="en-GB" dirty="0"/>
              <a:t>If it makes sense to consider categories of drivers (e.g. novice, cautious, professional, normal, aggressive). The same applies as types of cars.</a:t>
            </a:r>
          </a:p>
        </p:txBody>
      </p:sp>
    </p:spTree>
    <p:extLst>
      <p:ext uri="{BB962C8B-B14F-4D97-AF65-F5344CB8AC3E}">
        <p14:creationId xmlns:p14="http://schemas.microsoft.com/office/powerpoint/2010/main" val="3093451510"/>
      </p:ext>
    </p:extLst>
  </p:cSld>
  <p:clrMapOvr>
    <a:masterClrMapping/>
  </p:clrMapOvr>
</p:sld>
</file>

<file path=ppt/theme/theme1.xml><?xml version="1.0" encoding="utf-8"?>
<a:theme xmlns:a="http://schemas.openxmlformats.org/drawingml/2006/main" name="Sfaccettatura">
  <a:themeElements>
    <a:clrScheme name="Sfaccettatur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Sfaccettatur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faccettatur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Sfaccettatura</Template>
  <TotalTime>4982</TotalTime>
  <Words>11456</Words>
  <Application>Microsoft Office PowerPoint</Application>
  <PresentationFormat>Widescreen</PresentationFormat>
  <Paragraphs>2106</Paragraphs>
  <Slides>137</Slides>
  <Notes>36</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137</vt:i4>
      </vt:variant>
    </vt:vector>
  </HeadingPairs>
  <TitlesOfParts>
    <vt:vector size="145" baseType="lpstr">
      <vt:lpstr>Aptos</vt:lpstr>
      <vt:lpstr>Aptos Display</vt:lpstr>
      <vt:lpstr>Aptos Narrow</vt:lpstr>
      <vt:lpstr>Arial</vt:lpstr>
      <vt:lpstr>Courier New</vt:lpstr>
      <vt:lpstr>Trebuchet MS</vt:lpstr>
      <vt:lpstr>Wingdings 3</vt:lpstr>
      <vt:lpstr>Sfaccettatura</vt:lpstr>
      <vt:lpstr>2- Training, Validation, Test and Data Leakage</vt:lpstr>
      <vt:lpstr>Learning objectives</vt:lpstr>
      <vt:lpstr>Blocks in the lecture</vt:lpstr>
      <vt:lpstr>A. What Does the Test Set Represent?</vt:lpstr>
      <vt:lpstr>Training, validation and test have different roles</vt:lpstr>
      <vt:lpstr>Training, validation and test have different roles</vt:lpstr>
      <vt:lpstr>Presentazione standard di PowerPoint</vt:lpstr>
      <vt:lpstr>Presentazione standard di PowerPoint</vt:lpstr>
      <vt:lpstr>Generalization has multiple dimensions</vt:lpstr>
      <vt:lpstr>Generalization has multiple dimensions</vt:lpstr>
      <vt:lpstr>Presentazione standard di PowerPoint</vt:lpstr>
      <vt:lpstr>The test set should reproduce deployment conditions</vt:lpstr>
      <vt:lpstr>The test set should reproduce deployment conditions</vt:lpstr>
      <vt:lpstr>A high score may answer the wrong question</vt:lpstr>
      <vt:lpstr>A high score may answer the wrong question</vt:lpstr>
      <vt:lpstr>Presentazione standard di PowerPoint</vt:lpstr>
      <vt:lpstr>B. Splitting One Long Time Series</vt:lpstr>
      <vt:lpstr>Splitting One Long Time Series - Chronological holdout</vt:lpstr>
      <vt:lpstr>Splitting One Long Time Series - Chronological holdout</vt:lpstr>
      <vt:lpstr>Presentazione standard di PowerPoint</vt:lpstr>
      <vt:lpstr>Why random splitting can be misleading</vt:lpstr>
      <vt:lpstr>Why random splitting can be misleading</vt:lpstr>
      <vt:lpstr>1. Fixed-origin evaluation</vt:lpstr>
      <vt:lpstr>Presentazione standard di PowerPoint</vt:lpstr>
      <vt:lpstr>2. Expanding-window evaluation </vt:lpstr>
      <vt:lpstr>Expanding-window evaluation</vt:lpstr>
      <vt:lpstr>3. Sliding-window evaluation</vt:lpstr>
      <vt:lpstr>Sliding-window evaluation</vt:lpstr>
      <vt:lpstr>Expanding or sliding training window?</vt:lpstr>
      <vt:lpstr>Practical decision criteria </vt:lpstr>
      <vt:lpstr>Presentazione standard di PowerPoint</vt:lpstr>
      <vt:lpstr>Choosing temporal interval lengths</vt:lpstr>
      <vt:lpstr>Choosing temporal interval lengths</vt:lpstr>
      <vt:lpstr>Percentage splits are not sufficient descriptions</vt:lpstr>
      <vt:lpstr>Percentage splits should be accompanied by a clear description of how the data are partitioned</vt:lpstr>
      <vt:lpstr>2.C — Multiple Sequences, Groups and Entities</vt:lpstr>
      <vt:lpstr>Temporal datasets often have a grouped structure</vt:lpstr>
      <vt:lpstr>Example dataset </vt:lpstr>
      <vt:lpstr>Example dataset </vt:lpstr>
      <vt:lpstr>Presentazione standard di PowerPoint</vt:lpstr>
      <vt:lpstr>Window-level, sequence-level and entity-level splits – 1. Window-level split</vt:lpstr>
      <vt:lpstr>2. Sequence-level split</vt:lpstr>
      <vt:lpstr>3. Entity-level split</vt:lpstr>
      <vt:lpstr>Comparison</vt:lpstr>
      <vt:lpstr>Temporal generalization within known entities</vt:lpstr>
      <vt:lpstr>Example</vt:lpstr>
      <vt:lpstr>Presentazione standard di PowerPoint</vt:lpstr>
      <vt:lpstr>Generalization to unseen entities</vt:lpstr>
      <vt:lpstr>Example </vt:lpstr>
      <vt:lpstr>Presentazione standard di PowerPoint</vt:lpstr>
      <vt:lpstr>Combined temporal and entity generalization</vt:lpstr>
      <vt:lpstr>Possible test scenarios</vt:lpstr>
      <vt:lpstr>Combined temporal and entity generalization</vt:lpstr>
      <vt:lpstr>Presentazione standard di PowerPoint</vt:lpstr>
      <vt:lpstr>Sites, environments and acquisition systems</vt:lpstr>
      <vt:lpstr>Site-level holdout </vt:lpstr>
      <vt:lpstr>Presentazione standard di PowerPoint</vt:lpstr>
      <vt:lpstr>Documenting a grouped evaluation protocol</vt:lpstr>
      <vt:lpstr>Example of an adequate description </vt:lpstr>
      <vt:lpstr>D. Leakage Caused by Window Generation</vt:lpstr>
      <vt:lpstr>Overlapping windows are strongly dependent</vt:lpstr>
      <vt:lpstr>Presentazione standard di PowerPoint</vt:lpstr>
      <vt:lpstr>The incorrect workflow</vt:lpstr>
      <vt:lpstr>Example </vt:lpstr>
      <vt:lpstr>Presentazione standard di PowerPoint</vt:lpstr>
      <vt:lpstr>The correct split-before-windowing workflow</vt:lpstr>
      <vt:lpstr>Example</vt:lpstr>
      <vt:lpstr>Presentazione standard di PowerPoint</vt:lpstr>
      <vt:lpstr>Windows must not cross split boundaries</vt:lpstr>
      <vt:lpstr>Presentazione standard di PowerPoint</vt:lpstr>
      <vt:lpstr>Presentazione standard di PowerPoint</vt:lpstr>
      <vt:lpstr>Events can generate many correlated labels</vt:lpstr>
      <vt:lpstr>Correct principle</vt:lpstr>
      <vt:lpstr>Presentazione standard di PowerPoint</vt:lpstr>
      <vt:lpstr>When is a temporal gap required?</vt:lpstr>
      <vt:lpstr>Example</vt:lpstr>
      <vt:lpstr>Presentazione standard di PowerPoint</vt:lpstr>
      <vt:lpstr>How to determine safe window boundaries</vt:lpstr>
      <vt:lpstr>Validation sample condition </vt:lpstr>
      <vt:lpstr>Auditing</vt:lpstr>
      <vt:lpstr>Presentazione standard di PowerPoint</vt:lpstr>
      <vt:lpstr>Window count is not the effective sample size</vt:lpstr>
      <vt:lpstr>Better dataset summaries</vt:lpstr>
      <vt:lpstr>Presentazione standard di PowerPoint</vt:lpstr>
      <vt:lpstr>Presentazione standard di PowerPoint</vt:lpstr>
      <vt:lpstr>Block 2.E — Leakage from Preprocessing and Feature Construction</vt:lpstr>
      <vt:lpstr>Preprocessing can also leak information</vt:lpstr>
      <vt:lpstr>Correct workflow</vt:lpstr>
      <vt:lpstr>Presentazione standard di PowerPoint</vt:lpstr>
      <vt:lpstr>Example: standardization</vt:lpstr>
      <vt:lpstr>Why does this matter? </vt:lpstr>
      <vt:lpstr>Presentazione standard di PowerPoint</vt:lpstr>
      <vt:lpstr>Fitted transformations vs deterministic transformations</vt:lpstr>
      <vt:lpstr>However…</vt:lpstr>
      <vt:lpstr>Presentazione standard di PowerPoint</vt:lpstr>
      <vt:lpstr>Temporal feature leakage</vt:lpstr>
      <vt:lpstr>Other potential sources of leakage</vt:lpstr>
      <vt:lpstr>Presentazione standard di PowerPoint</vt:lpstr>
      <vt:lpstr>Known future information vs realized future information</vt:lpstr>
      <vt:lpstr>Example: demand forecasting</vt:lpstr>
      <vt:lpstr>Presentazione standard di PowerPoint</vt:lpstr>
      <vt:lpstr>Target leakage</vt:lpstr>
      <vt:lpstr>Proxy leakage</vt:lpstr>
      <vt:lpstr>Presentazione standard di PowerPoint</vt:lpstr>
      <vt:lpstr>Split first, fit preprocessing second</vt:lpstr>
      <vt:lpstr>Examples of pipeline components</vt:lpstr>
      <vt:lpstr>Presentazione standard di PowerPoint</vt:lpstr>
      <vt:lpstr>Block 2.F — Validation, Model Selection and Final Testing</vt:lpstr>
      <vt:lpstr>Validation is part of model development</vt:lpstr>
      <vt:lpstr>Example and consequence</vt:lpstr>
      <vt:lpstr>Presentazione standard di PowerPoint</vt:lpstr>
      <vt:lpstr>Repeated model selection can overfit the validation set</vt:lpstr>
      <vt:lpstr>Consequence </vt:lpstr>
      <vt:lpstr>Presentazione standard di PowerPoint</vt:lpstr>
      <vt:lpstr>The test set must stay untouched</vt:lpstr>
      <vt:lpstr>Presentazione standard di PowerPoint</vt:lpstr>
      <vt:lpstr>After model selection: can training and validation be combined?</vt:lpstr>
      <vt:lpstr>Why refit?</vt:lpstr>
      <vt:lpstr>Presentazione standard di PowerPoint</vt:lpstr>
      <vt:lpstr>Classification thresholds are model-selection parameters</vt:lpstr>
      <vt:lpstr>Example</vt:lpstr>
      <vt:lpstr>Presentazione standard di PowerPoint</vt:lpstr>
      <vt:lpstr>Final evaluation should report more than one number</vt:lpstr>
      <vt:lpstr>Final evaluation should report more than one number</vt:lpstr>
      <vt:lpstr>Presentazione standard di PowerPoint</vt:lpstr>
      <vt:lpstr>End-to-end evaluation workflow</vt:lpstr>
      <vt:lpstr>End-to-end evaluation workflow</vt:lpstr>
      <vt:lpstr>End-to-end evaluation workflow</vt:lpstr>
      <vt:lpstr>Presentazione standard di PowerPoint</vt:lpstr>
      <vt:lpstr>Transition to baselines</vt:lpstr>
      <vt:lpstr>Presentazione standard di PowerPoint</vt:lpstr>
      <vt:lpstr>Term explanation exercise</vt:lpstr>
      <vt:lpstr>Extreme summary</vt:lpstr>
      <vt:lpstr>Training, validation and testing</vt:lpstr>
      <vt:lpstr>Train-validation-testing split</vt:lpstr>
      <vt:lpstr>Example – driver distraction detection</vt:lpstr>
      <vt:lpstr>Example – driver distraction detection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Francesco Bellotti</dc:creator>
  <cp:lastModifiedBy>Francesco Bellotti</cp:lastModifiedBy>
  <cp:revision>1</cp:revision>
  <dcterms:created xsi:type="dcterms:W3CDTF">2026-08-05T08:43:00Z</dcterms:created>
  <dcterms:modified xsi:type="dcterms:W3CDTF">2026-10-22T13:07:57Z</dcterms:modified>
</cp:coreProperties>
</file>